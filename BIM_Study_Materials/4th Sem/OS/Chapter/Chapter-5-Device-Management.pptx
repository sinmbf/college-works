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48"/>
  </p:notesMasterIdLst>
  <p:sldIdLst>
    <p:sldId id="408" r:id="rId2"/>
    <p:sldId id="456" r:id="rId3"/>
    <p:sldId id="525" r:id="rId4"/>
    <p:sldId id="519" r:id="rId5"/>
    <p:sldId id="459" r:id="rId6"/>
    <p:sldId id="460" r:id="rId7"/>
    <p:sldId id="526" r:id="rId8"/>
    <p:sldId id="527" r:id="rId9"/>
    <p:sldId id="520" r:id="rId10"/>
    <p:sldId id="461" r:id="rId11"/>
    <p:sldId id="463" r:id="rId12"/>
    <p:sldId id="464" r:id="rId13"/>
    <p:sldId id="465" r:id="rId14"/>
    <p:sldId id="466" r:id="rId15"/>
    <p:sldId id="469" r:id="rId16"/>
    <p:sldId id="470" r:id="rId17"/>
    <p:sldId id="528" r:id="rId18"/>
    <p:sldId id="529" r:id="rId19"/>
    <p:sldId id="530" r:id="rId20"/>
    <p:sldId id="473" r:id="rId21"/>
    <p:sldId id="474" r:id="rId22"/>
    <p:sldId id="476" r:id="rId23"/>
    <p:sldId id="531" r:id="rId24"/>
    <p:sldId id="477" r:id="rId25"/>
    <p:sldId id="478" r:id="rId26"/>
    <p:sldId id="479" r:id="rId27"/>
    <p:sldId id="532" r:id="rId28"/>
    <p:sldId id="533" r:id="rId29"/>
    <p:sldId id="481" r:id="rId30"/>
    <p:sldId id="489" r:id="rId31"/>
    <p:sldId id="487" r:id="rId32"/>
    <p:sldId id="485" r:id="rId33"/>
    <p:sldId id="490" r:id="rId34"/>
    <p:sldId id="491" r:id="rId35"/>
    <p:sldId id="488" r:id="rId36"/>
    <p:sldId id="486" r:id="rId37"/>
    <p:sldId id="492" r:id="rId38"/>
    <p:sldId id="493" r:id="rId39"/>
    <p:sldId id="494" r:id="rId40"/>
    <p:sldId id="495" r:id="rId41"/>
    <p:sldId id="496" r:id="rId42"/>
    <p:sldId id="497" r:id="rId43"/>
    <p:sldId id="535" r:id="rId44"/>
    <p:sldId id="537" r:id="rId45"/>
    <p:sldId id="539" r:id="rId46"/>
    <p:sldId id="542"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79" autoAdjust="0"/>
    <p:restoredTop sz="94660"/>
  </p:normalViewPr>
  <p:slideViewPr>
    <p:cSldViewPr snapToGrid="0">
      <p:cViewPr varScale="1">
        <p:scale>
          <a:sx n="78" d="100"/>
          <a:sy n="78" d="100"/>
        </p:scale>
        <p:origin x="1632" y="62"/>
      </p:cViewPr>
      <p:guideLst>
        <p:guide orient="horz" pos="2160"/>
        <p:guide pos="2880"/>
      </p:guideLst>
    </p:cSldViewPr>
  </p:slideViewPr>
  <p:notesTextViewPr>
    <p:cViewPr>
      <p:scale>
        <a:sx n="3" d="2"/>
        <a:sy n="3" d="2"/>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a:p>
        </p:txBody>
      </p:sp>
    </p:spTree>
    <p:extLst>
      <p:ext uri="{BB962C8B-B14F-4D97-AF65-F5344CB8AC3E}">
        <p14:creationId xmlns:p14="http://schemas.microsoft.com/office/powerpoint/2010/main" val="362994408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smtClean="0">
                <a:solidFill>
                  <a:srgbClr val="000000"/>
                </a:solidFill>
                <a:latin typeface="Times New Roman"/>
                <a:ea typeface="Times New Roman"/>
                <a:cs typeface="Times New Roman"/>
                <a:sym typeface="Times New Roman"/>
              </a:rPr>
              <a:t>3</a:t>
            </a:fld>
            <a:endParaRPr lang="en-US"/>
          </a:p>
        </p:txBody>
      </p:sp>
    </p:spTree>
    <p:extLst>
      <p:ext uri="{BB962C8B-B14F-4D97-AF65-F5344CB8AC3E}">
        <p14:creationId xmlns:p14="http://schemas.microsoft.com/office/powerpoint/2010/main" val="2018743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smtClean="0">
                <a:solidFill>
                  <a:srgbClr val="000000"/>
                </a:solidFill>
                <a:latin typeface="Times New Roman"/>
                <a:ea typeface="Times New Roman"/>
                <a:cs typeface="Times New Roman"/>
                <a:sym typeface="Times New Roman"/>
              </a:rPr>
              <a:t>12</a:t>
            </a:fld>
            <a:endParaRPr lang="en-US"/>
          </a:p>
        </p:txBody>
      </p:sp>
    </p:spTree>
    <p:extLst>
      <p:ext uri="{BB962C8B-B14F-4D97-AF65-F5344CB8AC3E}">
        <p14:creationId xmlns:p14="http://schemas.microsoft.com/office/powerpoint/2010/main" val="1425547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1265541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15022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6114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1989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86103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7761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456696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15580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166941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42787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5402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63921885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C7EE85-5F60-41AB-BE21-CDF96E78BD6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a:t>
            </a:fld>
            <a:endParaRPr lang="en-US">
              <a:solidFill>
                <a:srgbClr val="000000"/>
              </a:solidFill>
            </a:endParaRPr>
          </a:p>
        </p:txBody>
      </p:sp>
      <p:sp>
        <p:nvSpPr>
          <p:cNvPr id="4" name="TextBox 3">
            <a:extLst>
              <a:ext uri="{FF2B5EF4-FFF2-40B4-BE49-F238E27FC236}">
                <a16:creationId xmlns:a16="http://schemas.microsoft.com/office/drawing/2014/main" id="{C9A5335A-45AA-4A1D-8E61-13B376BD6502}"/>
              </a:ext>
            </a:extLst>
          </p:cNvPr>
          <p:cNvSpPr txBox="1"/>
          <p:nvPr/>
        </p:nvSpPr>
        <p:spPr>
          <a:xfrm>
            <a:off x="2286000" y="3240817"/>
            <a:ext cx="4572000" cy="461665"/>
          </a:xfrm>
          <a:prstGeom prst="rect">
            <a:avLst/>
          </a:prstGeom>
          <a:noFill/>
        </p:spPr>
        <p:txBody>
          <a:bodyPr wrap="square">
            <a:spAutoFit/>
          </a:bodyPr>
          <a:lstStyle/>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I/O </a:t>
            </a:r>
            <a:r>
              <a:rPr lang="en-US" sz="2400" b="1">
                <a:effectLst/>
                <a:latin typeface="Times New Roman" panose="02020603050405020304" pitchFamily="18" charset="0"/>
                <a:ea typeface="Calibri" panose="020F0502020204030204" pitchFamily="34" charset="0"/>
                <a:cs typeface="Times New Roman" panose="02020603050405020304" pitchFamily="18" charset="0"/>
              </a:rPr>
              <a:t>device management </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7815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AA7947-9C44-4419-A891-A1E62E90DCF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a:t>
            </a:fld>
            <a:endParaRPr lang="en-US">
              <a:solidFill>
                <a:srgbClr val="000000"/>
              </a:solidFill>
            </a:endParaRPr>
          </a:p>
        </p:txBody>
      </p:sp>
      <p:sp>
        <p:nvSpPr>
          <p:cNvPr id="4" name="TextBox 3">
            <a:extLst>
              <a:ext uri="{FF2B5EF4-FFF2-40B4-BE49-F238E27FC236}">
                <a16:creationId xmlns:a16="http://schemas.microsoft.com/office/drawing/2014/main" id="{2ABCC1DA-99C1-4F9D-ACA2-D7039FB8A77A}"/>
              </a:ext>
            </a:extLst>
          </p:cNvPr>
          <p:cNvSpPr txBox="1"/>
          <p:nvPr/>
        </p:nvSpPr>
        <p:spPr>
          <a:xfrm>
            <a:off x="858129" y="1350498"/>
            <a:ext cx="7657221" cy="3768789"/>
          </a:xfrm>
          <a:prstGeom prst="rect">
            <a:avLst/>
          </a:prstGeom>
          <a:noFill/>
        </p:spPr>
        <p:txBody>
          <a:bodyPr wrap="square">
            <a:spAutoFit/>
          </a:bodyPr>
          <a:lstStyle/>
          <a:p>
            <a:pPr marL="285750" marR="0" indent="-285750" algn="just">
              <a:lnSpc>
                <a:spcPct val="150000"/>
              </a:lnSpc>
              <a:spcBef>
                <a:spcPts val="0"/>
              </a:spcBef>
              <a:spcAft>
                <a:spcPts val="135"/>
              </a:spcAft>
              <a:buFont typeface="Arial" panose="020B0604020202020204" pitchFamily="34" charset="0"/>
              <a:buChar char="•"/>
            </a:pPr>
            <a:r>
              <a:rPr lang="en-US" sz="2000" dirty="0">
                <a:solidFill>
                  <a:srgbClr val="000000"/>
                </a:solidFill>
                <a:effectLst/>
                <a:latin typeface="Times New Roman" panose="02020603050405020304" pitchFamily="18" charset="0"/>
                <a:ea typeface="Calibri" panose="020F0502020204030204" pitchFamily="34" charset="0"/>
              </a:rPr>
              <a:t>Classification of IO devices, Controllers, Memory Mapped IO, DMA Operation, Interrupts </a:t>
            </a:r>
          </a:p>
          <a:p>
            <a:pPr marL="285750" marR="0" indent="-285750" algn="just">
              <a:lnSpc>
                <a:spcPct val="150000"/>
              </a:lnSpc>
              <a:spcBef>
                <a:spcPts val="0"/>
              </a:spcBef>
              <a:spcAft>
                <a:spcPts val="135"/>
              </a:spcAft>
              <a:buFont typeface="Arial" panose="020B0604020202020204" pitchFamily="34" charset="0"/>
              <a:buChar char="•"/>
            </a:pPr>
            <a:r>
              <a:rPr lang="en-US" sz="2000" dirty="0">
                <a:solidFill>
                  <a:srgbClr val="000000"/>
                </a:solidFill>
                <a:effectLst/>
                <a:latin typeface="Times New Roman" panose="02020603050405020304" pitchFamily="18" charset="0"/>
                <a:ea typeface="Calibri" panose="020F0502020204030204" pitchFamily="34" charset="0"/>
              </a:rPr>
              <a:t>Goals of IO Software, </a:t>
            </a:r>
            <a:r>
              <a:rPr lang="en-US" sz="2000">
                <a:solidFill>
                  <a:srgbClr val="000000"/>
                </a:solidFill>
                <a:effectLst/>
                <a:latin typeface="Times New Roman" panose="02020603050405020304" pitchFamily="18" charset="0"/>
                <a:ea typeface="Calibri" panose="020F0502020204030204" pitchFamily="34" charset="0"/>
              </a:rPr>
              <a:t>Handling IO (</a:t>
            </a:r>
            <a:r>
              <a:rPr lang="en-US" sz="2000" dirty="0">
                <a:solidFill>
                  <a:srgbClr val="000000"/>
                </a:solidFill>
                <a:effectLst/>
                <a:latin typeface="Times New Roman" panose="02020603050405020304" pitchFamily="18" charset="0"/>
                <a:ea typeface="Calibri" panose="020F0502020204030204" pitchFamily="34" charset="0"/>
              </a:rPr>
              <a:t>Programmed IO, Interrupt Driven IO, IO using DMA), IO Software Layers (Interrupt Handlers, Device Drivers) </a:t>
            </a:r>
          </a:p>
          <a:p>
            <a:pPr marL="285750" indent="-285750" algn="just">
              <a:lnSpc>
                <a:spcPct val="150000"/>
              </a:lnSpc>
              <a:spcAft>
                <a:spcPts val="135"/>
              </a:spcAft>
              <a:buFont typeface="Arial" panose="020B0604020202020204" pitchFamily="34" charset="0"/>
              <a:buChar char="•"/>
            </a:pPr>
            <a:r>
              <a:rPr lang="en-US" sz="2000" dirty="0">
                <a:solidFill>
                  <a:srgbClr val="000000"/>
                </a:solidFill>
                <a:latin typeface="Times New Roman" panose="02020603050405020304" pitchFamily="18" charset="0"/>
                <a:ea typeface="Calibri" panose="020F0502020204030204" pitchFamily="34" charset="0"/>
              </a:rPr>
              <a:t>Disk Formatting (Cylinder Skew, Interleaving, Error handling), RAID </a:t>
            </a:r>
            <a:endParaRPr lang="en-US" sz="2000" dirty="0">
              <a:solidFill>
                <a:srgbClr val="000000"/>
              </a:solidFill>
              <a:effectLst/>
              <a:latin typeface="Times New Roman" panose="02020603050405020304" pitchFamily="18" charset="0"/>
              <a:ea typeface="Calibri" panose="020F0502020204030204" pitchFamily="34" charset="0"/>
            </a:endParaRPr>
          </a:p>
          <a:p>
            <a:pPr marL="285750" marR="0" indent="-285750" algn="just">
              <a:lnSpc>
                <a:spcPct val="150000"/>
              </a:lnSpc>
              <a:spcBef>
                <a:spcPts val="0"/>
              </a:spcBef>
              <a:spcAft>
                <a:spcPts val="135"/>
              </a:spcAft>
              <a:buFont typeface="Arial" panose="020B0604020202020204" pitchFamily="34" charset="0"/>
              <a:buChar char="•"/>
            </a:pPr>
            <a:r>
              <a:rPr lang="en-US" sz="2000" dirty="0">
                <a:solidFill>
                  <a:srgbClr val="000000"/>
                </a:solidFill>
                <a:effectLst/>
                <a:latin typeface="Times New Roman" panose="02020603050405020304" pitchFamily="18" charset="0"/>
                <a:ea typeface="Calibri" panose="020F0502020204030204" pitchFamily="34" charset="0"/>
              </a:rPr>
              <a:t>Disk Structure, Disk Scheduling (FCFS, SSTF, SCAN, CSCAN, LOOK, CLOOK)</a:t>
            </a:r>
          </a:p>
        </p:txBody>
      </p:sp>
      <p:sp>
        <p:nvSpPr>
          <p:cNvPr id="5" name="TextBox 4">
            <a:extLst>
              <a:ext uri="{FF2B5EF4-FFF2-40B4-BE49-F238E27FC236}">
                <a16:creationId xmlns:a16="http://schemas.microsoft.com/office/drawing/2014/main" id="{ACB6D3FE-CC3A-405C-A827-C49FE9ABD9F7}"/>
              </a:ext>
            </a:extLst>
          </p:cNvPr>
          <p:cNvSpPr txBox="1"/>
          <p:nvPr/>
        </p:nvSpPr>
        <p:spPr>
          <a:xfrm>
            <a:off x="858129" y="742043"/>
            <a:ext cx="444539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Contents</a:t>
            </a:r>
          </a:p>
        </p:txBody>
      </p:sp>
    </p:spTree>
    <p:extLst>
      <p:ext uri="{BB962C8B-B14F-4D97-AF65-F5344CB8AC3E}">
        <p14:creationId xmlns:p14="http://schemas.microsoft.com/office/powerpoint/2010/main" val="1848311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Introduction</a:t>
            </a:r>
            <a:r>
              <a:rPr lang="en-US" dirty="0"/>
              <a:t> </a:t>
            </a:r>
          </a:p>
        </p:txBody>
      </p:sp>
      <p:sp>
        <p:nvSpPr>
          <p:cNvPr id="4" name="Content Placeholder 3"/>
          <p:cNvSpPr>
            <a:spLocks noGrp="1"/>
          </p:cNvSpPr>
          <p:nvPr>
            <p:ph idx="1"/>
          </p:nvPr>
        </p:nvSpPr>
        <p:spPr>
          <a:xfrm>
            <a:off x="279734" y="1383631"/>
            <a:ext cx="8864266" cy="4324100"/>
          </a:xfrm>
        </p:spPr>
        <p:txBody>
          <a:bodyPr>
            <a:normAutofit/>
          </a:bodyPr>
          <a:lstStyle/>
          <a:p>
            <a:pPr algn="just"/>
            <a:r>
              <a:rPr lang="en-US" sz="2400" dirty="0">
                <a:latin typeface="Times New Roman" panose="02020603050405020304" pitchFamily="18" charset="0"/>
                <a:cs typeface="Times New Roman" panose="02020603050405020304" pitchFamily="18" charset="0"/>
              </a:rPr>
              <a:t>One of the important jobs of an Operating System is to manage various I/O devices including mouse, keyboards, touch pad, disk drives, display adapters, USB devices, Bit-mapped screen, LED, Analog-to-digital converter, On/off switch, network connections, audio I/O, printers etc. An I/O system is required to take an application I/O request and send it to the physical device, then take whatever response comes back from the device and send it to the application.</a:t>
            </a: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a:t>
            </a:fld>
            <a:endParaRPr lang="en-US">
              <a:solidFill>
                <a:srgbClr val="000000"/>
              </a:solidFill>
            </a:endParaRPr>
          </a:p>
        </p:txBody>
      </p:sp>
    </p:spTree>
    <p:extLst>
      <p:ext uri="{BB962C8B-B14F-4D97-AF65-F5344CB8AC3E}">
        <p14:creationId xmlns:p14="http://schemas.microsoft.com/office/powerpoint/2010/main" val="382103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a:t>
            </a:fld>
            <a:endParaRPr lang="en-US">
              <a:solidFill>
                <a:srgbClr val="000000"/>
              </a:solidFill>
            </a:endParaRPr>
          </a:p>
        </p:txBody>
      </p:sp>
      <p:sp>
        <p:nvSpPr>
          <p:cNvPr id="3" name="Rectangle 2"/>
          <p:cNvSpPr/>
          <p:nvPr/>
        </p:nvSpPr>
        <p:spPr>
          <a:xfrm>
            <a:off x="315331" y="682835"/>
            <a:ext cx="8513338" cy="5992474"/>
          </a:xfrm>
          <a:prstGeom prst="rect">
            <a:avLst/>
          </a:prstGeom>
        </p:spPr>
        <p:txBody>
          <a:bodyPr wrap="square">
            <a:spAutoFit/>
          </a:bodyPr>
          <a:lstStyle/>
          <a:p>
            <a:pPr marL="285750" indent="-285750" algn="just">
              <a:lnSpc>
                <a:spcPct val="150000"/>
              </a:lnSpc>
              <a:buFont typeface="Arial" pitchFamily="34" charset="0"/>
              <a:buChar char="•"/>
            </a:pPr>
            <a:r>
              <a:rPr lang="en-US" sz="2000" dirty="0">
                <a:latin typeface="Times New Roman" panose="02020603050405020304" pitchFamily="18" charset="0"/>
                <a:cs typeface="Times New Roman" pitchFamily="18" charset="0"/>
              </a:rPr>
              <a:t>I/O devices can be roughly divided into two categories: </a:t>
            </a:r>
          </a:p>
          <a:p>
            <a:pPr marL="742950" lvl="1" indent="-285750" algn="just">
              <a:lnSpc>
                <a:spcPct val="150000"/>
              </a:lnSpc>
              <a:buFont typeface="Arial" pitchFamily="34" charset="0"/>
              <a:buChar char="•"/>
            </a:pPr>
            <a:r>
              <a:rPr lang="en-US" sz="2000" b="1" dirty="0">
                <a:latin typeface="Times New Roman" panose="02020603050405020304" pitchFamily="18" charset="0"/>
                <a:cs typeface="Times New Roman" pitchFamily="18" charset="0"/>
              </a:rPr>
              <a:t>block devices </a:t>
            </a:r>
            <a:r>
              <a:rPr lang="en-US" sz="2000" dirty="0">
                <a:latin typeface="Times New Roman" panose="02020603050405020304" pitchFamily="18" charset="0"/>
                <a:cs typeface="Times New Roman" pitchFamily="18" charset="0"/>
              </a:rPr>
              <a:t>and</a:t>
            </a:r>
          </a:p>
          <a:p>
            <a:pPr marL="742950" lvl="1" indent="-285750" algn="just">
              <a:lnSpc>
                <a:spcPct val="150000"/>
              </a:lnSpc>
              <a:buFont typeface="Arial" pitchFamily="34" charset="0"/>
              <a:buChar char="•"/>
            </a:pPr>
            <a:r>
              <a:rPr lang="en-US" sz="2000" b="1" dirty="0">
                <a:latin typeface="Times New Roman" panose="02020603050405020304" pitchFamily="18" charset="0"/>
                <a:cs typeface="Times New Roman" pitchFamily="18" charset="0"/>
              </a:rPr>
              <a:t>character devices</a:t>
            </a:r>
            <a:r>
              <a:rPr lang="en-US" sz="2000" dirty="0">
                <a:latin typeface="Times New Roman" pitchFamily="18" charset="0"/>
                <a:cs typeface="Times New Roman" pitchFamily="18" charset="0"/>
              </a:rPr>
              <a:t>.</a:t>
            </a:r>
          </a:p>
          <a:p>
            <a:pPr marL="285750" indent="-285750" algn="just">
              <a:lnSpc>
                <a:spcPct val="150000"/>
              </a:lnSpc>
              <a:buFont typeface="Arial" pitchFamily="34" charset="0"/>
              <a:buChar char="•"/>
            </a:pPr>
            <a:r>
              <a:rPr lang="en-US" sz="2000" dirty="0">
                <a:latin typeface="Times New Roman" pitchFamily="18" charset="0"/>
                <a:cs typeface="Times New Roman" pitchFamily="18" charset="0"/>
              </a:rPr>
              <a:t>A </a:t>
            </a:r>
            <a:r>
              <a:rPr lang="en-US" sz="2000" b="1" dirty="0">
                <a:latin typeface="Times New Roman" panose="02020603050405020304" pitchFamily="18" charset="0"/>
                <a:cs typeface="Times New Roman" pitchFamily="18" charset="0"/>
              </a:rPr>
              <a:t>block device </a:t>
            </a:r>
            <a:r>
              <a:rPr lang="en-US" sz="2000" dirty="0">
                <a:latin typeface="Times New Roman" panose="02020603050405020304" pitchFamily="18" charset="0"/>
                <a:cs typeface="Times New Roman" pitchFamily="18" charset="0"/>
              </a:rPr>
              <a:t>is one that stores information in fixed-size blocks, each one with its own address. Common block sizes range from 512 to 65,536 bytes.</a:t>
            </a:r>
          </a:p>
          <a:p>
            <a:pPr marL="285750" indent="-285750" algn="just">
              <a:lnSpc>
                <a:spcPct val="150000"/>
              </a:lnSpc>
              <a:buFont typeface="Arial" pitchFamily="34" charset="0"/>
              <a:buChar char="•"/>
            </a:pPr>
            <a:r>
              <a:rPr lang="en-US" dirty="0">
                <a:latin typeface="Times New Roman" panose="02020603050405020304" pitchFamily="18" charset="0"/>
                <a:cs typeface="Times New Roman" panose="02020603050405020304" pitchFamily="18" charset="0"/>
              </a:rPr>
              <a:t>It is possible to read/write each and every block independently in case of block device.</a:t>
            </a:r>
            <a:endParaRPr lang="en-US" sz="2000"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sz="2000" dirty="0">
                <a:latin typeface="Times New Roman" pitchFamily="18" charset="0"/>
                <a:cs typeface="Times New Roman" pitchFamily="18" charset="0"/>
              </a:rPr>
              <a:t>Hard disks, Blu-ray discs, and USB sticks are common block devices.</a:t>
            </a:r>
          </a:p>
          <a:p>
            <a:pPr marL="285750" indent="-285750" algn="just">
              <a:lnSpc>
                <a:spcPct val="150000"/>
              </a:lnSpc>
              <a:buFont typeface="Arial" pitchFamily="34" charset="0"/>
              <a:buChar char="•"/>
            </a:pPr>
            <a:r>
              <a:rPr lang="en-US" sz="2000" dirty="0">
                <a:latin typeface="Times New Roman" pitchFamily="18" charset="0"/>
                <a:cs typeface="Times New Roman" pitchFamily="18" charset="0"/>
              </a:rPr>
              <a:t>A </a:t>
            </a:r>
            <a:r>
              <a:rPr lang="en-US" sz="2000" b="1" dirty="0">
                <a:latin typeface="Times New Roman" panose="02020603050405020304" pitchFamily="18" charset="0"/>
                <a:cs typeface="Times New Roman" pitchFamily="18" charset="0"/>
              </a:rPr>
              <a:t>character device </a:t>
            </a:r>
            <a:r>
              <a:rPr lang="en-US" sz="2000" dirty="0">
                <a:latin typeface="Times New Roman" pitchFamily="18" charset="0"/>
                <a:cs typeface="Times New Roman" pitchFamily="18" charset="0"/>
              </a:rPr>
              <a:t>delivers or accepts a stream of characters, without regard to any block structure. </a:t>
            </a:r>
          </a:p>
          <a:p>
            <a:pPr marL="285750" indent="-285750" algn="just">
              <a:lnSpc>
                <a:spcPct val="150000"/>
              </a:lnSpc>
              <a:buFont typeface="Arial" pitchFamily="34" charset="0"/>
              <a:buChar char="•"/>
            </a:pPr>
            <a:r>
              <a:rPr lang="en-US" sz="2000" dirty="0">
                <a:latin typeface="Times New Roman" pitchFamily="18" charset="0"/>
                <a:cs typeface="Times New Roman" pitchFamily="18" charset="0"/>
              </a:rPr>
              <a:t>It is not addressable and does not have any seek operation. </a:t>
            </a:r>
          </a:p>
          <a:p>
            <a:pPr marL="285750" indent="-285750" algn="just">
              <a:lnSpc>
                <a:spcPct val="150000"/>
              </a:lnSpc>
              <a:buFont typeface="Arial" pitchFamily="34" charset="0"/>
              <a:buChar char="•"/>
            </a:pPr>
            <a:r>
              <a:rPr lang="en-US" sz="2000" dirty="0">
                <a:latin typeface="Times New Roman" pitchFamily="18" charset="0"/>
                <a:cs typeface="Times New Roman" pitchFamily="18" charset="0"/>
              </a:rPr>
              <a:t>Printers, network interfaces, mice (for pointing), rats (for psychology lab experiments), and most other devices that are not disk-like can be seen as character devices</a:t>
            </a:r>
          </a:p>
        </p:txBody>
      </p:sp>
      <p:sp>
        <p:nvSpPr>
          <p:cNvPr id="4" name="Rectangle 3"/>
          <p:cNvSpPr/>
          <p:nvPr/>
        </p:nvSpPr>
        <p:spPr>
          <a:xfrm>
            <a:off x="-328245" y="49042"/>
            <a:ext cx="9472245" cy="646331"/>
          </a:xfrm>
          <a:prstGeom prst="rect">
            <a:avLst/>
          </a:prstGeom>
        </p:spPr>
        <p:txBody>
          <a:bodyPr wrap="square">
            <a:spAutoFit/>
          </a:bodyPr>
          <a:lstStyle/>
          <a:p>
            <a:pPr algn="ctr">
              <a:lnSpc>
                <a:spcPct val="150000"/>
              </a:lnSpc>
            </a:pPr>
            <a:r>
              <a:rPr lang="en-US" sz="2400" b="1" dirty="0">
                <a:latin typeface="Times New Roman" pitchFamily="18" charset="0"/>
                <a:cs typeface="Times New Roman" pitchFamily="18" charset="0"/>
              </a:rPr>
              <a:t>I/O Devices</a:t>
            </a:r>
          </a:p>
        </p:txBody>
      </p:sp>
    </p:spTree>
    <p:extLst>
      <p:ext uri="{BB962C8B-B14F-4D97-AF65-F5344CB8AC3E}">
        <p14:creationId xmlns:p14="http://schemas.microsoft.com/office/powerpoint/2010/main" val="3981292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5</a:t>
            </a:fld>
            <a:endParaRPr lang="en-US">
              <a:solidFill>
                <a:srgbClr val="00000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4676" y="244469"/>
            <a:ext cx="6541477" cy="5427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055077" y="5966266"/>
            <a:ext cx="7526215" cy="307777"/>
          </a:xfrm>
          <a:prstGeom prst="rect">
            <a:avLst/>
          </a:prstGeom>
        </p:spPr>
        <p:txBody>
          <a:bodyPr wrap="square">
            <a:spAutoFit/>
          </a:bodyPr>
          <a:lstStyle/>
          <a:p>
            <a:pPr algn="ctr"/>
            <a:r>
              <a:rPr lang="en-US" sz="1400" b="1" dirty="0">
                <a:latin typeface="Times New Roman" pitchFamily="18" charset="0"/>
                <a:cs typeface="Times New Roman" pitchFamily="18" charset="0"/>
              </a:rPr>
              <a:t>Figure 6-2. Some typical device, network, and bus data rates.</a:t>
            </a:r>
          </a:p>
        </p:txBody>
      </p:sp>
    </p:spTree>
    <p:extLst>
      <p:ext uri="{BB962C8B-B14F-4D97-AF65-F5344CB8AC3E}">
        <p14:creationId xmlns:p14="http://schemas.microsoft.com/office/powerpoint/2010/main" val="2643391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6</a:t>
            </a:fld>
            <a:endParaRPr lang="en-US">
              <a:solidFill>
                <a:srgbClr val="000000"/>
              </a:solidFill>
            </a:endParaRPr>
          </a:p>
        </p:txBody>
      </p:sp>
      <p:sp>
        <p:nvSpPr>
          <p:cNvPr id="3" name="Rectangle 2"/>
          <p:cNvSpPr/>
          <p:nvPr/>
        </p:nvSpPr>
        <p:spPr>
          <a:xfrm>
            <a:off x="1266092" y="304800"/>
            <a:ext cx="4003727" cy="461665"/>
          </a:xfrm>
          <a:prstGeom prst="rect">
            <a:avLst/>
          </a:prstGeom>
        </p:spPr>
        <p:txBody>
          <a:bodyPr wrap="square">
            <a:spAutoFit/>
          </a:bodyPr>
          <a:lstStyle/>
          <a:p>
            <a:pPr algn="ctr"/>
            <a:r>
              <a:rPr lang="en-US" sz="2400" b="1" dirty="0">
                <a:latin typeface="Times New Roman" pitchFamily="18" charset="0"/>
                <a:cs typeface="Times New Roman" pitchFamily="18" charset="0"/>
              </a:rPr>
              <a:t>Device Controllers</a:t>
            </a:r>
            <a:endParaRPr lang="en-US" sz="2400" dirty="0">
              <a:latin typeface="Times New Roman" pitchFamily="18" charset="0"/>
              <a:cs typeface="Times New Roman" pitchFamily="18" charset="0"/>
            </a:endParaRPr>
          </a:p>
        </p:txBody>
      </p:sp>
      <p:sp>
        <p:nvSpPr>
          <p:cNvPr id="4" name="Rectangle 3"/>
          <p:cNvSpPr/>
          <p:nvPr/>
        </p:nvSpPr>
        <p:spPr>
          <a:xfrm>
            <a:off x="514583" y="1006334"/>
            <a:ext cx="8436912" cy="6093976"/>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Device drivers are software modules that can be plugged into an OS to handle a particular device. Operating System takes help from device drivers to handle all I/O devices.</a:t>
            </a:r>
          </a:p>
          <a:p>
            <a:pPr algn="just">
              <a:lnSpc>
                <a:spcPct val="150000"/>
              </a:lnSpc>
            </a:pPr>
            <a:r>
              <a:rPr lang="en-US" sz="2000" dirty="0">
                <a:latin typeface="Times New Roman" panose="02020603050405020304" pitchFamily="18" charset="0"/>
                <a:cs typeface="Times New Roman" panose="02020603050405020304" pitchFamily="18" charset="0"/>
              </a:rPr>
              <a:t>The Device Controller works like an interface between a device and a device driver. I/O units (Keyboard, mouse, printer, etc.) typically consist of a mechanical component and an electronic component where electronic component is called the device controller.</a:t>
            </a:r>
          </a:p>
          <a:p>
            <a:pPr algn="just">
              <a:lnSpc>
                <a:spcPct val="150000"/>
              </a:lnSpc>
            </a:pPr>
            <a:r>
              <a:rPr lang="en-US" sz="2000" dirty="0">
                <a:latin typeface="Times New Roman" panose="02020603050405020304" pitchFamily="18" charset="0"/>
                <a:cs typeface="Times New Roman" panose="02020603050405020304" pitchFamily="18" charset="0"/>
              </a:rPr>
              <a:t>Any device connected to the computer is connected by a plug and socket, and the socket is connected to a device controller. Following is a model for connecting the CPU, memory, controllers, and I/O devices where CPU and device controllers all use a common bus for communication.</a:t>
            </a:r>
          </a:p>
          <a:p>
            <a:pPr algn="just">
              <a:lnSpc>
                <a:spcPct val="150000"/>
              </a:lnSpc>
            </a:pPr>
            <a:endParaRPr lang="en-US" sz="2000" dirty="0"/>
          </a:p>
          <a:p>
            <a:pPr algn="just">
              <a:lnSpc>
                <a:spcPct val="150000"/>
              </a:lnSpc>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44845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7</a:t>
            </a:fld>
            <a:endParaRPr lang="en-US">
              <a:solidFill>
                <a:srgbClr val="000000"/>
              </a:solidFill>
            </a:endParaRPr>
          </a:p>
        </p:txBody>
      </p:sp>
      <p:pic>
        <p:nvPicPr>
          <p:cNvPr id="1026" name="Picture 2" descr="Device Controll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8260" y="1096627"/>
            <a:ext cx="5715000" cy="3210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0190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0"/>
            <a:ext cx="7886700" cy="986589"/>
          </a:xfrm>
        </p:spPr>
        <p:txBody>
          <a:bodyPr>
            <a:normAutofit fontScale="90000"/>
          </a:bodyPr>
          <a:lstStyle/>
          <a:p>
            <a:r>
              <a:rPr lang="en-US" dirty="0"/>
              <a:t>Communication to I/O Devices</a:t>
            </a:r>
            <a:br>
              <a:rPr lang="en-US" dirty="0"/>
            </a:br>
            <a:endParaRPr lang="en-US" dirty="0"/>
          </a:p>
        </p:txBody>
      </p:sp>
      <p:sp>
        <p:nvSpPr>
          <p:cNvPr id="4" name="Content Placeholder 3"/>
          <p:cNvSpPr>
            <a:spLocks noGrp="1"/>
          </p:cNvSpPr>
          <p:nvPr>
            <p:ph idx="1"/>
          </p:nvPr>
        </p:nvSpPr>
        <p:spPr>
          <a:xfrm>
            <a:off x="327860" y="730752"/>
            <a:ext cx="8707855" cy="5990724"/>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The CPU must have a way to pass information to and from an I/O device. There are three approaches available to communicate with the CPU and Device.</a:t>
            </a:r>
          </a:p>
          <a:p>
            <a:pPr algn="just"/>
            <a:r>
              <a:rPr lang="en-US" sz="2400" dirty="0">
                <a:latin typeface="Times New Roman" panose="02020603050405020304" pitchFamily="18" charset="0"/>
                <a:cs typeface="Times New Roman" panose="02020603050405020304" pitchFamily="18" charset="0"/>
              </a:rPr>
              <a:t>Special Instruction I/O</a:t>
            </a:r>
          </a:p>
          <a:p>
            <a:pPr algn="just"/>
            <a:r>
              <a:rPr lang="en-US" sz="2400" dirty="0">
                <a:latin typeface="Times New Roman" panose="02020603050405020304" pitchFamily="18" charset="0"/>
                <a:cs typeface="Times New Roman" panose="02020603050405020304" pitchFamily="18" charset="0"/>
              </a:rPr>
              <a:t>Memory-mapped I/O</a:t>
            </a:r>
          </a:p>
          <a:p>
            <a:pPr algn="just"/>
            <a:r>
              <a:rPr lang="en-US" sz="2400" dirty="0">
                <a:latin typeface="Times New Roman" panose="02020603050405020304" pitchFamily="18" charset="0"/>
                <a:cs typeface="Times New Roman" panose="02020603050405020304" pitchFamily="18" charset="0"/>
              </a:rPr>
              <a:t>Direct memory access (DMA)</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Special Instruction I/O: </a:t>
            </a:r>
            <a:r>
              <a:rPr lang="en-US" sz="2400" dirty="0">
                <a:latin typeface="Times New Roman" panose="02020603050405020304" pitchFamily="18" charset="0"/>
                <a:cs typeface="Times New Roman" panose="02020603050405020304" pitchFamily="18" charset="0"/>
              </a:rPr>
              <a:t>This uses CPU instructions that are specifically made for controlling I/O devices. These instructions typically allow data to be sent to an I/O device or read from an I/O device.</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solidFill>
                <a:srgbClr val="000000"/>
              </a:solidFill>
            </a:endParaRPr>
          </a:p>
        </p:txBody>
      </p:sp>
    </p:spTree>
    <p:extLst>
      <p:ext uri="{BB962C8B-B14F-4D97-AF65-F5344CB8AC3E}">
        <p14:creationId xmlns:p14="http://schemas.microsoft.com/office/powerpoint/2010/main" val="368055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9</a:t>
            </a:fld>
            <a:endParaRPr lang="en-US">
              <a:solidFill>
                <a:srgbClr val="000000"/>
              </a:solidFill>
            </a:endParaRPr>
          </a:p>
        </p:txBody>
      </p:sp>
      <p:sp>
        <p:nvSpPr>
          <p:cNvPr id="4" name="TextBox 3">
            <a:extLst>
              <a:ext uri="{FF2B5EF4-FFF2-40B4-BE49-F238E27FC236}">
                <a16:creationId xmlns:a16="http://schemas.microsoft.com/office/drawing/2014/main" id="{BFC8F509-226F-4FC3-82FE-D599DF3A093D}"/>
              </a:ext>
            </a:extLst>
          </p:cNvPr>
          <p:cNvSpPr txBox="1"/>
          <p:nvPr/>
        </p:nvSpPr>
        <p:spPr>
          <a:xfrm>
            <a:off x="295420" y="937847"/>
            <a:ext cx="8721969" cy="5115311"/>
          </a:xfrm>
          <a:prstGeom prst="rect">
            <a:avLst/>
          </a:prstGeom>
          <a:noFill/>
        </p:spPr>
        <p:txBody>
          <a:bodyPr wrap="square">
            <a:spAutoFit/>
          </a:bodyPr>
          <a:lstStyle/>
          <a:p>
            <a:pPr marL="342900" indent="-342900" algn="just">
              <a:lnSpc>
                <a:spcPct val="150000"/>
              </a:lnSpc>
              <a:buFont typeface="Arial" pitchFamily="34" charset="0"/>
              <a:buChar char="•"/>
            </a:pPr>
            <a:r>
              <a:rPr lang="en-US" sz="2000" b="1" dirty="0">
                <a:latin typeface="Times New Roman" panose="02020603050405020304" pitchFamily="18" charset="0"/>
                <a:cs typeface="Times New Roman" panose="02020603050405020304" pitchFamily="18" charset="0"/>
              </a:rPr>
              <a:t>Memory</a:t>
            </a:r>
            <a:r>
              <a:rPr lang="en-US" sz="2000" dirty="0">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mapped I/O</a:t>
            </a:r>
            <a:r>
              <a:rPr lang="en-US" sz="2000" dirty="0">
                <a:latin typeface="Times New Roman" panose="02020603050405020304" pitchFamily="18" charset="0"/>
                <a:cs typeface="Times New Roman" panose="02020603050405020304" pitchFamily="18" charset="0"/>
              </a:rPr>
              <a:t> uses the same address space to address both </a:t>
            </a:r>
            <a:r>
              <a:rPr lang="en-US" sz="2000" b="1" dirty="0">
                <a:latin typeface="Times New Roman" panose="02020603050405020304" pitchFamily="18" charset="0"/>
                <a:cs typeface="Times New Roman" panose="02020603050405020304" pitchFamily="18" charset="0"/>
              </a:rPr>
              <a:t>memory</a:t>
            </a:r>
            <a:r>
              <a:rPr lang="en-US" sz="2000" dirty="0">
                <a:latin typeface="Times New Roman" panose="02020603050405020304" pitchFamily="18" charset="0"/>
                <a:cs typeface="Times New Roman" panose="02020603050405020304" pitchFamily="18" charset="0"/>
              </a:rPr>
              <a:t> and I/</a:t>
            </a:r>
            <a:r>
              <a:rPr lang="en-US" sz="2000" b="1" dirty="0">
                <a:latin typeface="Times New Roman" panose="02020603050405020304" pitchFamily="18" charset="0"/>
                <a:cs typeface="Times New Roman" panose="02020603050405020304" pitchFamily="18" charset="0"/>
              </a:rPr>
              <a:t>O</a:t>
            </a:r>
            <a:r>
              <a:rPr lang="en-US" sz="2000" dirty="0">
                <a:latin typeface="Times New Roman" panose="02020603050405020304" pitchFamily="18" charset="0"/>
                <a:cs typeface="Times New Roman" panose="02020603050405020304" pitchFamily="18" charset="0"/>
              </a:rPr>
              <a:t> devices. </a:t>
            </a:r>
          </a:p>
          <a:p>
            <a:pPr marL="342900" indent="-342900" algn="just">
              <a:lnSpc>
                <a:spcPct val="150000"/>
              </a:lnSpc>
              <a:buFont typeface="Arial"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memory</a:t>
            </a:r>
            <a:r>
              <a:rPr lang="en-US" sz="2000" dirty="0">
                <a:latin typeface="Times New Roman" panose="02020603050405020304" pitchFamily="18" charset="0"/>
                <a:cs typeface="Times New Roman" panose="02020603050405020304" pitchFamily="18" charset="0"/>
              </a:rPr>
              <a:t> and registers of the I/</a:t>
            </a:r>
            <a:r>
              <a:rPr lang="en-US" sz="2000" b="1" dirty="0">
                <a:latin typeface="Times New Roman" panose="02020603050405020304" pitchFamily="18" charset="0"/>
                <a:cs typeface="Times New Roman" panose="02020603050405020304" pitchFamily="18" charset="0"/>
              </a:rPr>
              <a:t>O</a:t>
            </a:r>
            <a:r>
              <a:rPr lang="en-US" sz="2000" dirty="0">
                <a:latin typeface="Times New Roman" panose="02020603050405020304" pitchFamily="18" charset="0"/>
                <a:cs typeface="Times New Roman" panose="02020603050405020304" pitchFamily="18" charset="0"/>
              </a:rPr>
              <a:t> devices are </a:t>
            </a:r>
            <a:r>
              <a:rPr lang="en-US" sz="2000" b="1" dirty="0">
                <a:latin typeface="Times New Roman" panose="02020603050405020304" pitchFamily="18" charset="0"/>
                <a:cs typeface="Times New Roman" panose="02020603050405020304" pitchFamily="18" charset="0"/>
              </a:rPr>
              <a:t>mapped</a:t>
            </a:r>
            <a:r>
              <a:rPr lang="en-US" sz="2000" dirty="0">
                <a:latin typeface="Times New Roman" panose="02020603050405020304" pitchFamily="18" charset="0"/>
                <a:cs typeface="Times New Roman" panose="02020603050405020304" pitchFamily="18" charset="0"/>
              </a:rPr>
              <a:t> to (associated with) address values. So when an address is accessed by the CPU, it may refer to a portion of physical </a:t>
            </a:r>
            <a:r>
              <a:rPr lang="en-US" sz="2000" b="1" dirty="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or it can instead refer to </a:t>
            </a:r>
            <a:r>
              <a:rPr lang="en-US" sz="2000" b="1" dirty="0">
                <a:latin typeface="Times New Roman" panose="02020603050405020304" pitchFamily="18" charset="0"/>
                <a:cs typeface="Times New Roman" panose="02020603050405020304" pitchFamily="18" charset="0"/>
              </a:rPr>
              <a:t>memory</a:t>
            </a:r>
            <a:r>
              <a:rPr lang="en-US" sz="2000" dirty="0">
                <a:latin typeface="Times New Roman" panose="02020603050405020304" pitchFamily="18" charset="0"/>
                <a:cs typeface="Times New Roman" panose="02020603050405020304" pitchFamily="18" charset="0"/>
              </a:rPr>
              <a:t> of the I/</a:t>
            </a:r>
            <a:r>
              <a:rPr lang="en-US" sz="2000" b="1" dirty="0">
                <a:latin typeface="Times New Roman" panose="02020603050405020304" pitchFamily="18" charset="0"/>
                <a:cs typeface="Times New Roman" panose="02020603050405020304" pitchFamily="18" charset="0"/>
              </a:rPr>
              <a:t>O</a:t>
            </a:r>
            <a:r>
              <a:rPr lang="en-US" sz="2000" dirty="0">
                <a:latin typeface="Times New Roman" panose="02020603050405020304" pitchFamily="18" charset="0"/>
                <a:cs typeface="Times New Roman" panose="02020603050405020304" pitchFamily="18" charset="0"/>
              </a:rPr>
              <a:t> device.</a:t>
            </a:r>
            <a:endParaRPr lang="en-US" sz="2000" b="0" i="0" u="none" strike="noStrike" baseline="0" dirty="0">
              <a:latin typeface="Times New Roman" panose="02020603050405020304" pitchFamily="18" charset="0"/>
              <a:cs typeface="Times New Roman" panose="02020603050405020304" pitchFamily="18" charset="0"/>
            </a:endParaRPr>
          </a:p>
          <a:p>
            <a:pPr marL="342900" indent="-342900" algn="just">
              <a:lnSpc>
                <a:spcPct val="150000"/>
              </a:lnSpc>
              <a:buFont typeface="Arial" pitchFamily="34" charset="0"/>
              <a:buChar char="•"/>
            </a:pPr>
            <a:r>
              <a:rPr lang="en-US" sz="2000" b="0" i="0" u="none" strike="noStrike" baseline="0" dirty="0">
                <a:latin typeface="Times New Roman" panose="02020603050405020304" pitchFamily="18" charset="0"/>
                <a:cs typeface="Times New Roman" panose="02020603050405020304" pitchFamily="18" charset="0"/>
              </a:rPr>
              <a:t>Each controller has a few registers that are used for communicating with the CPU. By writing into these registers, the operating system can command the device to deliver data, accept data, switch itself on or off, or otherwise perform some action. </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itchFamily="34" charset="0"/>
              <a:buChar char="•"/>
            </a:pPr>
            <a:r>
              <a:rPr lang="en-US" sz="2000" b="0" i="0" u="none" strike="noStrike" baseline="0" dirty="0">
                <a:latin typeface="Times New Roman" panose="02020603050405020304" pitchFamily="18" charset="0"/>
                <a:cs typeface="Times New Roman" panose="02020603050405020304" pitchFamily="18" charset="0"/>
              </a:rPr>
              <a:t>By reading from these registers, the operating system can learn what the</a:t>
            </a:r>
          </a:p>
          <a:p>
            <a:pPr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device’s state is, whether it is prepared to accept a new command, and so on.</a:t>
            </a:r>
          </a:p>
        </p:txBody>
      </p:sp>
      <p:sp>
        <p:nvSpPr>
          <p:cNvPr id="3" name="Rectangle 2"/>
          <p:cNvSpPr/>
          <p:nvPr/>
        </p:nvSpPr>
        <p:spPr>
          <a:xfrm>
            <a:off x="2306725" y="357880"/>
            <a:ext cx="3029997" cy="579967"/>
          </a:xfrm>
          <a:prstGeom prst="rect">
            <a:avLst/>
          </a:prstGeom>
        </p:spPr>
        <p:txBody>
          <a:bodyPr wrap="non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Memory-Mapped I/O</a:t>
            </a:r>
          </a:p>
        </p:txBody>
      </p:sp>
    </p:spTree>
    <p:extLst>
      <p:ext uri="{BB962C8B-B14F-4D97-AF65-F5344CB8AC3E}">
        <p14:creationId xmlns:p14="http://schemas.microsoft.com/office/powerpoint/2010/main" val="24918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solidFill>
                <a:srgbClr val="000000"/>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8" y="1914525"/>
            <a:ext cx="8277225" cy="302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33389" y="5147827"/>
            <a:ext cx="8499596" cy="307777"/>
          </a:xfrm>
          <a:prstGeom prst="rect">
            <a:avLst/>
          </a:prstGeom>
        </p:spPr>
        <p:txBody>
          <a:bodyPr wrap="square">
            <a:spAutoFit/>
          </a:bodyPr>
          <a:lstStyle/>
          <a:p>
            <a:pPr algn="ctr"/>
            <a:r>
              <a:rPr lang="en-US" sz="1400" b="1" dirty="0">
                <a:latin typeface="Times New Roman" pitchFamily="18" charset="0"/>
                <a:cs typeface="Times New Roman" pitchFamily="18" charset="0"/>
              </a:rPr>
              <a:t>Figure 6-3. (a) Separate I/O and memory space. (b) Memory-mapped I/O. (c) Hybrid.</a:t>
            </a:r>
          </a:p>
        </p:txBody>
      </p:sp>
    </p:spTree>
    <p:extLst>
      <p:ext uri="{BB962C8B-B14F-4D97-AF65-F5344CB8AC3E}">
        <p14:creationId xmlns:p14="http://schemas.microsoft.com/office/powerpoint/2010/main" val="4124020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11</a:t>
            </a:fld>
            <a:endParaRPr lang="en-US">
              <a:solidFill>
                <a:srgbClr val="000000"/>
              </a:solidFill>
            </a:endParaRPr>
          </a:p>
        </p:txBody>
      </p:sp>
      <p:sp>
        <p:nvSpPr>
          <p:cNvPr id="3" name="Rectangle 2"/>
          <p:cNvSpPr/>
          <p:nvPr/>
        </p:nvSpPr>
        <p:spPr>
          <a:xfrm>
            <a:off x="0" y="265605"/>
            <a:ext cx="9144000" cy="400110"/>
          </a:xfrm>
          <a:prstGeom prst="rect">
            <a:avLst/>
          </a:prstGeom>
        </p:spPr>
        <p:txBody>
          <a:bodyPr wrap="square">
            <a:spAutoFit/>
          </a:bodyPr>
          <a:lstStyle/>
          <a:p>
            <a:pPr algn="ctr"/>
            <a:r>
              <a:rPr lang="en-US" sz="2000" b="1" dirty="0">
                <a:latin typeface="Times New Roman" pitchFamily="18" charset="0"/>
                <a:cs typeface="Times New Roman" pitchFamily="18" charset="0"/>
              </a:rPr>
              <a:t>Direct Memory Access</a:t>
            </a:r>
            <a:endParaRPr lang="en-US"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790" y="2565461"/>
            <a:ext cx="8003332" cy="3681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9756" y="6247306"/>
            <a:ext cx="3335400" cy="307777"/>
          </a:xfrm>
          <a:prstGeom prst="rect">
            <a:avLst/>
          </a:prstGeom>
        </p:spPr>
        <p:txBody>
          <a:bodyPr wrap="none">
            <a:spAutoFit/>
          </a:bodyPr>
          <a:lstStyle/>
          <a:p>
            <a:pPr algn="ctr"/>
            <a:r>
              <a:rPr lang="en-US" sz="1400" b="1" dirty="0">
                <a:latin typeface="Times New Roman" pitchFamily="18" charset="0"/>
                <a:cs typeface="Times New Roman" pitchFamily="18" charset="0"/>
              </a:rPr>
              <a:t>Figure 6-5. Operation of a DMA transfer.</a:t>
            </a:r>
          </a:p>
        </p:txBody>
      </p:sp>
      <p:sp>
        <p:nvSpPr>
          <p:cNvPr id="5" name="Rectangle 4"/>
          <p:cNvSpPr/>
          <p:nvPr/>
        </p:nvSpPr>
        <p:spPr>
          <a:xfrm>
            <a:off x="407963" y="970671"/>
            <a:ext cx="8417381" cy="1421992"/>
          </a:xfrm>
          <a:prstGeom prst="rect">
            <a:avLst/>
          </a:prstGeom>
        </p:spPr>
        <p:txBody>
          <a:bodyPr wrap="square">
            <a:spAutoFit/>
          </a:bodyPr>
          <a:lstStyle/>
          <a:p>
            <a:pPr marL="285750" indent="-285750" algn="just">
              <a:lnSpc>
                <a:spcPct val="150000"/>
              </a:lnSpc>
              <a:buFont typeface="Arial" pitchFamily="34" charset="0"/>
              <a:buChar char="•"/>
            </a:pPr>
            <a:r>
              <a:rPr lang="en-US" sz="2000" dirty="0">
                <a:latin typeface="Times New Roman" pitchFamily="18" charset="0"/>
                <a:cs typeface="Times New Roman" pitchFamily="18" charset="0"/>
              </a:rPr>
              <a:t>The CPU can request data from an I/O controller one byte at a time, but doing so wastes the CPU’s time, so a different scheme, called </a:t>
            </a:r>
            <a:r>
              <a:rPr lang="en-US" sz="2000" b="1" dirty="0">
                <a:latin typeface="Times New Roman" pitchFamily="18" charset="0"/>
                <a:cs typeface="Times New Roman" pitchFamily="18" charset="0"/>
              </a:rPr>
              <a:t>DMA </a:t>
            </a:r>
            <a:r>
              <a:rPr lang="en-US" sz="2000" dirty="0">
                <a:latin typeface="Times New Roman" pitchFamily="18" charset="0"/>
                <a:cs typeface="Times New Roman" pitchFamily="18" charset="0"/>
              </a:rPr>
              <a:t>(</a:t>
            </a:r>
            <a:r>
              <a:rPr lang="en-US" sz="2000" b="1" dirty="0">
                <a:latin typeface="Times New Roman" pitchFamily="18" charset="0"/>
                <a:cs typeface="Times New Roman" pitchFamily="18" charset="0"/>
              </a:rPr>
              <a:t>Direct Memory Access</a:t>
            </a:r>
            <a:r>
              <a:rPr lang="en-US" sz="2000" dirty="0">
                <a:latin typeface="Times New Roman" pitchFamily="18" charset="0"/>
                <a:cs typeface="Times New Roman" pitchFamily="18" charset="0"/>
              </a:rPr>
              <a:t>) is often used.</a:t>
            </a:r>
          </a:p>
        </p:txBody>
      </p:sp>
    </p:spTree>
    <p:extLst>
      <p:ext uri="{BB962C8B-B14F-4D97-AF65-F5344CB8AC3E}">
        <p14:creationId xmlns:p14="http://schemas.microsoft.com/office/powerpoint/2010/main" val="240201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a:solidFill>
                <a:srgbClr val="000000"/>
              </a:solidFill>
            </a:endParaRPr>
          </a:p>
        </p:txBody>
      </p:sp>
      <p:sp>
        <p:nvSpPr>
          <p:cNvPr id="3" name="Rectangle 2"/>
          <p:cNvSpPr/>
          <p:nvPr/>
        </p:nvSpPr>
        <p:spPr>
          <a:xfrm>
            <a:off x="554181" y="512617"/>
            <a:ext cx="8003665" cy="5632311"/>
          </a:xfrm>
          <a:prstGeom prst="rect">
            <a:avLst/>
          </a:prstGeom>
        </p:spPr>
        <p:txBody>
          <a:bodyPr wrap="square">
            <a:spAutoFit/>
          </a:bodyPr>
          <a:lstStyle/>
          <a:p>
            <a:pPr marL="285750" indent="-285750" algn="just">
              <a:lnSpc>
                <a:spcPct val="150000"/>
              </a:lnSpc>
              <a:buFont typeface="Arial" pitchFamily="34" charset="0"/>
              <a:buChar char="•"/>
            </a:pPr>
            <a:r>
              <a:rPr lang="en-US" sz="2000" dirty="0">
                <a:latin typeface="Times New Roman" pitchFamily="18" charset="0"/>
                <a:cs typeface="Times New Roman" pitchFamily="18" charset="0"/>
              </a:rPr>
              <a:t>The operating system can use only DMA if the hardware has a DMA controller, which most systems do. </a:t>
            </a:r>
          </a:p>
          <a:p>
            <a:pPr marL="285750" indent="-285750" algn="just">
              <a:lnSpc>
                <a:spcPct val="150000"/>
              </a:lnSpc>
              <a:buFont typeface="Arial" pitchFamily="34" charset="0"/>
              <a:buChar char="•"/>
            </a:pPr>
            <a:r>
              <a:rPr lang="en-US" sz="2000" dirty="0">
                <a:latin typeface="Times New Roman" pitchFamily="18" charset="0"/>
                <a:cs typeface="Times New Roman" pitchFamily="18" charset="0"/>
              </a:rPr>
              <a:t>Sometimes this controller is integrated into disk controllers and other controllers, but such a design requires a separate DMA controller for each device.</a:t>
            </a:r>
          </a:p>
          <a:p>
            <a:pPr marL="342900" indent="-342900" algn="just">
              <a:lnSpc>
                <a:spcPct val="150000"/>
              </a:lnSpc>
              <a:buFont typeface="Arial" pitchFamily="34" charset="0"/>
              <a:buChar char="•"/>
            </a:pPr>
            <a:r>
              <a:rPr lang="en-US" sz="2000" dirty="0">
                <a:latin typeface="Times New Roman" pitchFamily="18" charset="0"/>
                <a:cs typeface="Times New Roman" pitchFamily="18" charset="0"/>
              </a:rPr>
              <a:t>DMA contains several registers  that can be written and read by the CPU. These include a memory address register, a byte count register, and one or more control registers. </a:t>
            </a:r>
          </a:p>
          <a:p>
            <a:pPr marL="342900" indent="-342900" algn="just">
              <a:lnSpc>
                <a:spcPct val="150000"/>
              </a:lnSpc>
              <a:buFont typeface="Arial" pitchFamily="34" charset="0"/>
              <a:buChar char="•"/>
            </a:pPr>
            <a:r>
              <a:rPr lang="en-US" sz="2000" dirty="0">
                <a:latin typeface="Times New Roman" pitchFamily="18" charset="0"/>
                <a:cs typeface="Times New Roman" pitchFamily="18" charset="0"/>
              </a:rPr>
              <a:t>The control registers specify the I/O port to use, the direction of the transfer (reading from the I/O device or writing to the I/O device), the transfer unit (byte at a time or word at a time), and the number of bytes to transfer in one burst.</a:t>
            </a:r>
          </a:p>
        </p:txBody>
      </p:sp>
    </p:spTree>
    <p:extLst>
      <p:ext uri="{BB962C8B-B14F-4D97-AF65-F5344CB8AC3E}">
        <p14:creationId xmlns:p14="http://schemas.microsoft.com/office/powerpoint/2010/main" val="2000959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a:solidFill>
                <a:srgbClr val="000000"/>
              </a:solidFill>
            </a:endParaRPr>
          </a:p>
        </p:txBody>
      </p:sp>
      <p:sp>
        <p:nvSpPr>
          <p:cNvPr id="3" name="Rectangle 2"/>
          <p:cNvSpPr/>
          <p:nvPr/>
        </p:nvSpPr>
        <p:spPr>
          <a:xfrm>
            <a:off x="0" y="430796"/>
            <a:ext cx="9144000" cy="430887"/>
          </a:xfrm>
          <a:prstGeom prst="rect">
            <a:avLst/>
          </a:prstGeom>
        </p:spPr>
        <p:txBody>
          <a:bodyPr wrap="square">
            <a:spAutoFit/>
          </a:bodyPr>
          <a:lstStyle/>
          <a:p>
            <a:pPr algn="ctr"/>
            <a:r>
              <a:rPr lang="en-US" sz="2200" b="1" dirty="0">
                <a:latin typeface="Times New Roman" panose="02020603050405020304" pitchFamily="18" charset="0"/>
                <a:cs typeface="Times New Roman" panose="02020603050405020304" pitchFamily="18" charset="0"/>
              </a:rPr>
              <a:t>Interrupts Revisited</a:t>
            </a:r>
          </a:p>
        </p:txBody>
      </p:sp>
      <p:pic>
        <p:nvPicPr>
          <p:cNvPr id="4" name="Picture 3">
            <a:extLst>
              <a:ext uri="{FF2B5EF4-FFF2-40B4-BE49-F238E27FC236}">
                <a16:creationId xmlns:a16="http://schemas.microsoft.com/office/drawing/2014/main" id="{4E3F6A2E-7494-40F5-8AC0-D437DB8D4BDF}"/>
              </a:ext>
            </a:extLst>
          </p:cNvPr>
          <p:cNvPicPr>
            <a:picLocks noChangeAspect="1"/>
          </p:cNvPicPr>
          <p:nvPr/>
        </p:nvPicPr>
        <p:blipFill>
          <a:blip r:embed="rId2"/>
          <a:stretch>
            <a:fillRect/>
          </a:stretch>
        </p:blipFill>
        <p:spPr>
          <a:xfrm>
            <a:off x="366712" y="1757362"/>
            <a:ext cx="8410575" cy="3343275"/>
          </a:xfrm>
          <a:prstGeom prst="rect">
            <a:avLst/>
          </a:prstGeom>
        </p:spPr>
      </p:pic>
      <p:sp>
        <p:nvSpPr>
          <p:cNvPr id="5" name="Rectangle 4">
            <a:extLst>
              <a:ext uri="{FF2B5EF4-FFF2-40B4-BE49-F238E27FC236}">
                <a16:creationId xmlns:a16="http://schemas.microsoft.com/office/drawing/2014/main" id="{0882B89E-747D-4F9D-B652-580A006AA79A}"/>
              </a:ext>
            </a:extLst>
          </p:cNvPr>
          <p:cNvSpPr/>
          <p:nvPr/>
        </p:nvSpPr>
        <p:spPr>
          <a:xfrm>
            <a:off x="606815" y="5430128"/>
            <a:ext cx="7805665" cy="738664"/>
          </a:xfrm>
          <a:prstGeom prst="rect">
            <a:avLst/>
          </a:prstGeom>
        </p:spPr>
        <p:txBody>
          <a:bodyPr wrap="square">
            <a:spAutoFit/>
          </a:bodyPr>
          <a:lstStyle/>
          <a:p>
            <a:pPr algn="ctr">
              <a:lnSpc>
                <a:spcPct val="150000"/>
              </a:lnSpc>
            </a:pPr>
            <a:r>
              <a:rPr lang="en-US" sz="1400" b="1" dirty="0">
                <a:latin typeface="Times New Roman" panose="02020603050405020304" pitchFamily="18" charset="0"/>
                <a:cs typeface="Times New Roman" panose="02020603050405020304" pitchFamily="18" charset="0"/>
              </a:rPr>
              <a:t>Figure 6-6. How an interrupt happens. The connections between the devices and the controller actually use interrupt lines on the bus rather than dedicated wires.</a:t>
            </a:r>
          </a:p>
        </p:txBody>
      </p:sp>
    </p:spTree>
    <p:extLst>
      <p:ext uri="{BB962C8B-B14F-4D97-AF65-F5344CB8AC3E}">
        <p14:creationId xmlns:p14="http://schemas.microsoft.com/office/powerpoint/2010/main" val="86543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14</a:t>
            </a:fld>
            <a:endParaRPr lang="en-US">
              <a:solidFill>
                <a:srgbClr val="000000"/>
              </a:solidFill>
            </a:endParaRPr>
          </a:p>
        </p:txBody>
      </p:sp>
      <p:sp>
        <p:nvSpPr>
          <p:cNvPr id="3" name="Rectangle 2">
            <a:extLst>
              <a:ext uri="{FF2B5EF4-FFF2-40B4-BE49-F238E27FC236}">
                <a16:creationId xmlns:a16="http://schemas.microsoft.com/office/drawing/2014/main" id="{9BD1B1D2-8F78-4AB6-88E8-69AE41A89ACD}"/>
              </a:ext>
            </a:extLst>
          </p:cNvPr>
          <p:cNvSpPr/>
          <p:nvPr/>
        </p:nvSpPr>
        <p:spPr>
          <a:xfrm>
            <a:off x="1" y="492368"/>
            <a:ext cx="9144000" cy="2708434"/>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An alternative scheme for dealing with I/O is the interrupt-driven method. An interrupt is a signal to the microprocessor from a device that requires attention.</a:t>
            </a:r>
          </a:p>
          <a:p>
            <a:pPr algn="just"/>
            <a:r>
              <a:rPr lang="en-US" sz="2000" dirty="0">
                <a:latin typeface="Times New Roman" panose="02020603050405020304" pitchFamily="18" charset="0"/>
                <a:cs typeface="Times New Roman" panose="02020603050405020304" pitchFamily="18" charset="0"/>
              </a:rPr>
              <a:t>A device controller puts an interrupt signal on the bus when it needs CPU’s attention when CPU receives an interrupt, It saves its current state and invokes the appropriate interrupt handler using the interrupt vector (addresses of OS routines to handle various events). When the interrupting device has been dealt with, the CPU continues with its original task as if it had never been interrupted.</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877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15</a:t>
            </a:fld>
            <a:endParaRPr lang="en-US">
              <a:solidFill>
                <a:srgbClr val="000000"/>
              </a:solidFill>
            </a:endParaRPr>
          </a:p>
        </p:txBody>
      </p:sp>
      <p:sp>
        <p:nvSpPr>
          <p:cNvPr id="3" name="Rectangle 2">
            <a:extLst>
              <a:ext uri="{FF2B5EF4-FFF2-40B4-BE49-F238E27FC236}">
                <a16:creationId xmlns:a16="http://schemas.microsoft.com/office/drawing/2014/main" id="{4C29CEAE-F411-4F2A-A223-08A47B84C40F}"/>
              </a:ext>
            </a:extLst>
          </p:cNvPr>
          <p:cNvSpPr/>
          <p:nvPr/>
        </p:nvSpPr>
        <p:spPr>
          <a:xfrm>
            <a:off x="2761617" y="515202"/>
            <a:ext cx="3604705"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Principles of I/O Software</a:t>
            </a:r>
            <a:endParaRPr lang="en-US"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A2C8C63-2B6B-4B58-A41B-0F176C1FBD20}"/>
              </a:ext>
            </a:extLst>
          </p:cNvPr>
          <p:cNvSpPr/>
          <p:nvPr/>
        </p:nvSpPr>
        <p:spPr>
          <a:xfrm>
            <a:off x="628650" y="976867"/>
            <a:ext cx="8229600" cy="6500306"/>
          </a:xfrm>
          <a:prstGeom prst="rect">
            <a:avLst/>
          </a:prstGeom>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Goals of the I/O Software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key concept in the design of I/O software is known as </a:t>
            </a:r>
            <a:r>
              <a:rPr lang="en-US" sz="2000" b="1" dirty="0">
                <a:latin typeface="Times New Roman" panose="02020603050405020304" pitchFamily="18" charset="0"/>
                <a:cs typeface="Times New Roman" panose="02020603050405020304" pitchFamily="18" charset="0"/>
              </a:rPr>
              <a:t>device independence.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Device independence is the goal of </a:t>
            </a:r>
            <a:r>
              <a:rPr lang="en-US" sz="2000" b="1" dirty="0">
                <a:latin typeface="Times New Roman" panose="02020603050405020304" pitchFamily="18" charset="0"/>
                <a:cs typeface="Times New Roman" panose="02020603050405020304" pitchFamily="18" charset="0"/>
              </a:rPr>
              <a:t>uniform naming</a:t>
            </a:r>
            <a:r>
              <a:rPr lang="en-US" sz="2000" dirty="0">
                <a:latin typeface="Times New Roman" panose="02020603050405020304" pitchFamily="18" charset="0"/>
                <a:cs typeface="Times New Roman" panose="02020603050405020304" pitchFamily="18" charset="0"/>
              </a:rPr>
              <a:t>. The name of a file or a device should simply be a string or an integer and not depend on the device in any way.</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issue for I/O software :</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Error handling</a:t>
            </a:r>
            <a:r>
              <a:rPr lang="en-US" sz="20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Synchronous </a:t>
            </a:r>
            <a:r>
              <a:rPr lang="en-US" sz="2000" dirty="0">
                <a:latin typeface="Times New Roman" panose="02020603050405020304" pitchFamily="18" charset="0"/>
                <a:cs typeface="Times New Roman" panose="02020603050405020304" pitchFamily="18" charset="0"/>
              </a:rPr>
              <a:t>(blocking) vs. </a:t>
            </a:r>
            <a:r>
              <a:rPr lang="en-US" sz="2000" b="1" dirty="0">
                <a:latin typeface="Times New Roman" panose="02020603050405020304" pitchFamily="18" charset="0"/>
                <a:cs typeface="Times New Roman" panose="02020603050405020304" pitchFamily="18" charset="0"/>
              </a:rPr>
              <a:t>asynchronous </a:t>
            </a:r>
            <a:r>
              <a:rPr lang="en-US" sz="2000" dirty="0">
                <a:latin typeface="Times New Roman" panose="02020603050405020304" pitchFamily="18" charset="0"/>
                <a:cs typeface="Times New Roman" panose="02020603050405020304" pitchFamily="18" charset="0"/>
              </a:rPr>
              <a:t>(interrupt-driven) transfers.</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Buffering</a:t>
            </a:r>
            <a:r>
              <a:rPr lang="en-US" sz="20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sharable vs. dedicated devices: Some I/O devices, such as disks, can be used by many users at the same time. No problems are caused by multiple users having open files on the same disk at the same time. Other devices, such as printers, have to be dedicated to a single user until that user is finished.</a:t>
            </a:r>
          </a:p>
        </p:txBody>
      </p:sp>
    </p:spTree>
    <p:extLst>
      <p:ext uri="{BB962C8B-B14F-4D97-AF65-F5344CB8AC3E}">
        <p14:creationId xmlns:p14="http://schemas.microsoft.com/office/powerpoint/2010/main" val="3070172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16</a:t>
            </a:fld>
            <a:endParaRPr lang="en-US">
              <a:solidFill>
                <a:srgbClr val="000000"/>
              </a:solidFill>
            </a:endParaRPr>
          </a:p>
        </p:txBody>
      </p:sp>
      <p:sp>
        <p:nvSpPr>
          <p:cNvPr id="3" name="Rectangle 2">
            <a:extLst>
              <a:ext uri="{FF2B5EF4-FFF2-40B4-BE49-F238E27FC236}">
                <a16:creationId xmlns:a16="http://schemas.microsoft.com/office/drawing/2014/main" id="{06A9BA45-FBB6-417E-8797-4CD04E8D063B}"/>
              </a:ext>
            </a:extLst>
          </p:cNvPr>
          <p:cNvSpPr/>
          <p:nvPr/>
        </p:nvSpPr>
        <p:spPr>
          <a:xfrm>
            <a:off x="0" y="136524"/>
            <a:ext cx="9144000" cy="6093976"/>
          </a:xfrm>
          <a:prstGeom prst="rect">
            <a:avLst/>
          </a:prstGeom>
        </p:spPr>
        <p:txBody>
          <a:bodyPr wrap="square">
            <a:spAutoFit/>
          </a:bodyPr>
          <a:lstStyle/>
          <a:p>
            <a:pPr algn="just">
              <a:lnSpc>
                <a:spcPct val="150000"/>
              </a:lnSpc>
            </a:pP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50000"/>
              </a:lnSpc>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Handling I/O:</a:t>
            </a:r>
          </a:p>
          <a:p>
            <a:pPr algn="just">
              <a:lnSpc>
                <a:spcPct val="150000"/>
              </a:lnSpc>
            </a:pPr>
            <a:r>
              <a:rPr lang="en-US" sz="2000" dirty="0">
                <a:latin typeface="Times New Roman" panose="02020603050405020304" pitchFamily="18" charset="0"/>
                <a:cs typeface="Times New Roman" panose="02020603050405020304" pitchFamily="18" charset="0"/>
              </a:rPr>
              <a:t>Data transfer between the CPU and I/O devices can be done in variety of modes.</a:t>
            </a:r>
            <a:endParaRPr 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50000"/>
              </a:lnSpc>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Programmed I/O:</a:t>
            </a:r>
          </a:p>
          <a:p>
            <a:pPr algn="just">
              <a:lnSpc>
                <a:spcPct val="150000"/>
              </a:lnSpc>
            </a:pPr>
            <a:r>
              <a:rPr lang="en-US" sz="2000" dirty="0">
                <a:latin typeface="Times New Roman" panose="02020603050405020304" pitchFamily="18" charset="0"/>
                <a:cs typeface="Times New Roman" panose="02020603050405020304" pitchFamily="18" charset="0"/>
              </a:rPr>
              <a:t>In this mode the data transfer is initiated by the instructions written in a computer program. An input instruction is required to store the data from the device to the CPU and a store instruction is required to transfer the data from the CPU to the device.</a:t>
            </a:r>
          </a:p>
          <a:p>
            <a:pPr algn="just">
              <a:lnSpc>
                <a:spcPct val="150000"/>
              </a:lnSpc>
            </a:pPr>
            <a:r>
              <a:rPr lang="en-US" sz="2000" dirty="0">
                <a:latin typeface="Times New Roman" panose="02020603050405020304" pitchFamily="18" charset="0"/>
                <a:cs typeface="Times New Roman" panose="02020603050405020304" pitchFamily="18" charset="0"/>
              </a:rPr>
              <a:t>Data transfer through this mode requires constant monitoring of the peripheral device by the CPU and also monitor the possibility of new transfer once the transfer has been initiated. Thus CPU stays in a loop until the I/O device indicates that it is ready for data transfer. Thus programmed I/O is a time consuming process that keeps the processor busy needlessly and leads to wastage of the CPU cycles. </a:t>
            </a:r>
            <a:endParaRPr 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5987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6"/>
            <a:ext cx="7886700" cy="753811"/>
          </a:xfrm>
        </p:spPr>
        <p:txBody>
          <a:bodyPr>
            <a:normAutofit/>
          </a:bodyPr>
          <a:lstStyle/>
          <a:p>
            <a:r>
              <a:rPr lang="en-US" sz="3200" dirty="0">
                <a:latin typeface="Times New Roman" panose="02020603050405020304" pitchFamily="18" charset="0"/>
                <a:cs typeface="Times New Roman" panose="02020603050405020304" pitchFamily="18" charset="0"/>
              </a:rPr>
              <a:t>Programmed I/O Mode Input Data Transfer</a:t>
            </a: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17</a:t>
            </a:fld>
            <a:endParaRPr lang="en-US">
              <a:solidFill>
                <a:srgbClr val="000000"/>
              </a:solidFill>
            </a:endParaRPr>
          </a:p>
        </p:txBody>
      </p:sp>
      <p:pic>
        <p:nvPicPr>
          <p:cNvPr id="1026" name="Picture 2" descr="Pic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1" y="1122690"/>
            <a:ext cx="7886700" cy="4219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758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0" y="365126"/>
            <a:ext cx="7886700" cy="753811"/>
          </a:xfrm>
        </p:spPr>
        <p:txBody>
          <a:bodyPr>
            <a:normAutofit/>
          </a:bodyPr>
          <a:lstStyle/>
          <a:p>
            <a:r>
              <a:rPr lang="en-US" sz="3200" dirty="0">
                <a:latin typeface="Times New Roman" panose="02020603050405020304" pitchFamily="18" charset="0"/>
                <a:cs typeface="Times New Roman" panose="02020603050405020304" pitchFamily="18" charset="0"/>
              </a:rPr>
              <a:t>Programmed I/O Mode Input Data Transfer</a:t>
            </a: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18</a:t>
            </a:fld>
            <a:endParaRPr lang="en-US">
              <a:solidFill>
                <a:srgbClr val="000000"/>
              </a:solidFill>
            </a:endParaRPr>
          </a:p>
        </p:txBody>
      </p:sp>
      <p:sp>
        <p:nvSpPr>
          <p:cNvPr id="4" name="Content Placeholder 3"/>
          <p:cNvSpPr>
            <a:spLocks noGrp="1"/>
          </p:cNvSpPr>
          <p:nvPr>
            <p:ph idx="1"/>
          </p:nvPr>
        </p:nvSpPr>
        <p:spPr>
          <a:xfrm>
            <a:off x="180474" y="1118937"/>
            <a:ext cx="8334876" cy="5058026"/>
          </a:xfrm>
        </p:spPr>
        <p:txBody>
          <a:bodyPr/>
          <a:lstStyle/>
          <a:p>
            <a:pPr algn="just"/>
            <a:r>
              <a:rPr lang="en-US" sz="2000" dirty="0">
                <a:latin typeface="Times New Roman" panose="02020603050405020304" pitchFamily="18" charset="0"/>
                <a:cs typeface="Times New Roman" panose="02020603050405020304" pitchFamily="18" charset="0"/>
              </a:rPr>
              <a:t>Each input is read after first testing whether the device is ready with the input (a state reflected by a bit in a status register).</a:t>
            </a:r>
          </a:p>
          <a:p>
            <a:pPr algn="just"/>
            <a:r>
              <a:rPr lang="en-US" sz="2000" dirty="0">
                <a:latin typeface="Times New Roman" panose="02020603050405020304" pitchFamily="18" charset="0"/>
                <a:cs typeface="Times New Roman" panose="02020603050405020304" pitchFamily="18" charset="0"/>
              </a:rPr>
              <a:t>The program waits for the ready status by repeatedly testing the status bit and till all targeted bytes are read from the input device.</a:t>
            </a:r>
          </a:p>
          <a:p>
            <a:pPr algn="just"/>
            <a:r>
              <a:rPr lang="en-US" sz="2000" dirty="0">
                <a:latin typeface="Times New Roman" panose="02020603050405020304" pitchFamily="18" charset="0"/>
                <a:cs typeface="Times New Roman" panose="02020603050405020304" pitchFamily="18" charset="0"/>
              </a:rPr>
              <a:t>The program is in busy (non-waiting) state only after the device gets ready else in wait state.</a:t>
            </a:r>
          </a:p>
          <a:p>
            <a:pPr marL="0" indent="0">
              <a:buNone/>
            </a:pPr>
            <a:endParaRPr lang="en-US" dirty="0"/>
          </a:p>
        </p:txBody>
      </p:sp>
    </p:spTree>
    <p:extLst>
      <p:ext uri="{BB962C8B-B14F-4D97-AF65-F5344CB8AC3E}">
        <p14:creationId xmlns:p14="http://schemas.microsoft.com/office/powerpoint/2010/main" val="4258696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213891530"/>
              </p:ext>
            </p:extLst>
          </p:nvPr>
        </p:nvGraphicFramePr>
        <p:xfrm>
          <a:off x="1087049" y="0"/>
          <a:ext cx="5807045" cy="1066800"/>
        </p:xfrm>
        <a:graphic>
          <a:graphicData uri="http://schemas.openxmlformats.org/drawingml/2006/table">
            <a:tbl>
              <a:tblPr/>
              <a:tblGrid>
                <a:gridCol w="5807045">
                  <a:extLst>
                    <a:ext uri="{9D8B030D-6E8A-4147-A177-3AD203B41FA5}">
                      <a16:colId xmlns:a16="http://schemas.microsoft.com/office/drawing/2014/main" val="20000"/>
                    </a:ext>
                  </a:extLst>
                </a:gridCol>
              </a:tblGrid>
              <a:tr h="822960">
                <a:tc>
                  <a:txBody>
                    <a:bodyPr/>
                    <a:lstStyle/>
                    <a:p>
                      <a:pPr algn="l"/>
                      <a:r>
                        <a:rPr lang="en-US" sz="3200" b="0" i="0" dirty="0">
                          <a:effectLst/>
                          <a:latin typeface="Times New Roman" panose="02020603050405020304" pitchFamily="18" charset="0"/>
                          <a:cs typeface="Times New Roman" panose="02020603050405020304" pitchFamily="18" charset="0"/>
                        </a:rPr>
                        <a:t>Programmed I/O Mode Output Data Transfer</a:t>
                      </a:r>
                    </a:p>
                  </a:txBody>
                  <a:tcPr marL="142875" marR="142875" anchor="ctr">
                    <a:lnL>
                      <a:noFill/>
                    </a:lnL>
                    <a:lnR>
                      <a:noFill/>
                    </a:lnR>
                    <a:lnT>
                      <a:noFill/>
                    </a:lnT>
                    <a:lnB>
                      <a:noFill/>
                    </a:lnB>
                    <a:solidFill>
                      <a:srgbClr val="FFFFFF"/>
                    </a:solidFill>
                  </a:tcPr>
                </a:tc>
                <a:extLst>
                  <a:ext uri="{0D108BD9-81ED-4DB2-BD59-A6C34878D82A}">
                    <a16:rowId xmlns:a16="http://schemas.microsoft.com/office/drawing/2014/main" val="10000"/>
                  </a:ext>
                </a:extLst>
              </a:tr>
            </a:tbl>
          </a:graphicData>
        </a:graphic>
      </p:graphicFrame>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6" name="Rectangle 1"/>
          <p:cNvSpPr>
            <a:spLocks noGrp="1" noChangeArrowheads="1"/>
          </p:cNvSpPr>
          <p:nvPr>
            <p:ph type="title"/>
          </p:nvPr>
        </p:nvSpPr>
        <p:spPr bwMode="auto">
          <a:xfrm>
            <a:off x="-442161" y="-2656472"/>
            <a:ext cx="948545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6"/>
          <p:cNvSpPr/>
          <p:nvPr/>
        </p:nvSpPr>
        <p:spPr>
          <a:xfrm>
            <a:off x="397042" y="1462298"/>
            <a:ext cx="8646249" cy="2862322"/>
          </a:xfrm>
          <a:prstGeom prst="rect">
            <a:avLst/>
          </a:prstGeom>
        </p:spPr>
        <p:txBody>
          <a:bodyPr wrap="square">
            <a:spAutoFit/>
          </a:bodyPr>
          <a:lstStyle/>
          <a:p>
            <a:pPr algn="just">
              <a:buFont typeface="+mj-lt"/>
              <a:buAutoNum type="arabicPeriod"/>
            </a:pPr>
            <a:r>
              <a:rPr lang="en-US" sz="2000" dirty="0">
                <a:solidFill>
                  <a:srgbClr val="000000"/>
                </a:solidFill>
                <a:latin typeface="Times New Roman" panose="02020603050405020304" pitchFamily="18" charset="0"/>
                <a:cs typeface="Times New Roman" panose="02020603050405020304" pitchFamily="18" charset="0"/>
              </a:rPr>
              <a:t>Each output written after first testing whether the device is ready to accept the byte at its output register or output buffer is empty.</a:t>
            </a:r>
          </a:p>
          <a:p>
            <a:pPr algn="just">
              <a:buFont typeface="+mj-lt"/>
              <a:buAutoNum type="arabicPeriod"/>
            </a:pPr>
            <a:r>
              <a:rPr lang="en-US" sz="2000" dirty="0">
                <a:solidFill>
                  <a:srgbClr val="000000"/>
                </a:solidFill>
                <a:latin typeface="Times New Roman" panose="02020603050405020304" pitchFamily="18" charset="0"/>
                <a:cs typeface="Times New Roman" panose="02020603050405020304" pitchFamily="18" charset="0"/>
              </a:rPr>
              <a:t>The program waits for the ready status by repeatedly testing the status bit(s) and till all the targeted bytes are written to the device.</a:t>
            </a:r>
          </a:p>
          <a:p>
            <a:pPr algn="just">
              <a:buFont typeface="+mj-lt"/>
              <a:buAutoNum type="arabicPeriod"/>
            </a:pPr>
            <a:r>
              <a:rPr lang="en-US" sz="2000" dirty="0">
                <a:solidFill>
                  <a:srgbClr val="000000"/>
                </a:solidFill>
                <a:latin typeface="Times New Roman" panose="02020603050405020304" pitchFamily="18" charset="0"/>
                <a:cs typeface="Times New Roman" panose="02020603050405020304" pitchFamily="18" charset="0"/>
              </a:rPr>
              <a:t>The program in busy (non-waiting) state only after the device gets ready else wait state.</a:t>
            </a:r>
          </a:p>
          <a:p>
            <a:pPr algn="just"/>
            <a:endParaRPr lang="en-US" sz="2000" dirty="0">
              <a:solidFill>
                <a:srgbClr val="000000"/>
              </a:solidFill>
              <a:latin typeface="Times New Roman" panose="02020603050405020304" pitchFamily="18" charset="0"/>
              <a:cs typeface="Times New Roman" panose="02020603050405020304" pitchFamily="18" charset="0"/>
            </a:endParaRPr>
          </a:p>
          <a:p>
            <a:pPr algn="just"/>
            <a:endParaRPr lang="en-US" sz="2000" dirty="0">
              <a:solidFill>
                <a:srgbClr val="000000"/>
              </a:solidFill>
              <a:latin typeface="Times New Roman" panose="02020603050405020304" pitchFamily="18" charset="0"/>
              <a:cs typeface="Times New Roman" panose="02020603050405020304" pitchFamily="18" charset="0"/>
            </a:endParaRPr>
          </a:p>
          <a:p>
            <a:pPr algn="just"/>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sp>
        <p:nvSpPr>
          <p:cNvPr id="8" name="AutoShape 3" descr="Picture"/>
          <p:cNvSpPr>
            <a:spLocks noChangeAspect="1" noChangeArrowheads="1"/>
          </p:cNvSpPr>
          <p:nvPr/>
        </p:nvSpPr>
        <p:spPr bwMode="auto">
          <a:xfrm>
            <a:off x="3175" y="473158"/>
            <a:ext cx="304800" cy="5736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5" descr="Pictu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5" name="Picture 7" descr="Pi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1126" y="3343851"/>
            <a:ext cx="6737685" cy="301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912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20</a:t>
            </a:fld>
            <a:endParaRPr lang="en-US">
              <a:solidFill>
                <a:srgbClr val="000000"/>
              </a:solidFill>
            </a:endParaRPr>
          </a:p>
        </p:txBody>
      </p:sp>
      <p:sp>
        <p:nvSpPr>
          <p:cNvPr id="3" name="Rectangle 2">
            <a:extLst>
              <a:ext uri="{FF2B5EF4-FFF2-40B4-BE49-F238E27FC236}">
                <a16:creationId xmlns:a16="http://schemas.microsoft.com/office/drawing/2014/main" id="{2C4059D9-6C4F-49C1-ACF0-E57D986F9724}"/>
              </a:ext>
            </a:extLst>
          </p:cNvPr>
          <p:cNvSpPr/>
          <p:nvPr/>
        </p:nvSpPr>
        <p:spPr>
          <a:xfrm>
            <a:off x="351692" y="267286"/>
            <a:ext cx="8124825" cy="3730317"/>
          </a:xfrm>
          <a:prstGeom prst="rect">
            <a:avLst/>
          </a:prstGeom>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I/O using DMA</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Disadvantage of interrupt-driven I/O is that an interrupt occurs on every character. Interrupts take time, so this scheme wastes a certain amount of CPU time. A solution is to use DMA.</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DMA is programmed I/O, only with the DMA controller doing all the work, instead of the main CPU. This strategy requires special hardware (the DMA controller) but frees up the CPU during the I/O to do other work.</a:t>
            </a:r>
          </a:p>
        </p:txBody>
      </p:sp>
    </p:spTree>
    <p:extLst>
      <p:ext uri="{BB962C8B-B14F-4D97-AF65-F5344CB8AC3E}">
        <p14:creationId xmlns:p14="http://schemas.microsoft.com/office/powerpoint/2010/main" val="3050058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21</a:t>
            </a:fld>
            <a:endParaRPr lang="en-US">
              <a:solidFill>
                <a:srgbClr val="000000"/>
              </a:solidFill>
            </a:endParaRPr>
          </a:p>
        </p:txBody>
      </p:sp>
      <p:pic>
        <p:nvPicPr>
          <p:cNvPr id="3" name="Picture 2">
            <a:extLst>
              <a:ext uri="{FF2B5EF4-FFF2-40B4-BE49-F238E27FC236}">
                <a16:creationId xmlns:a16="http://schemas.microsoft.com/office/drawing/2014/main" id="{23BFBB7E-98F1-464C-B076-CF96196858B8}"/>
              </a:ext>
            </a:extLst>
          </p:cNvPr>
          <p:cNvPicPr>
            <a:picLocks noChangeAspect="1"/>
          </p:cNvPicPr>
          <p:nvPr/>
        </p:nvPicPr>
        <p:blipFill>
          <a:blip r:embed="rId2"/>
          <a:stretch>
            <a:fillRect/>
          </a:stretch>
        </p:blipFill>
        <p:spPr>
          <a:xfrm>
            <a:off x="909637" y="2769696"/>
            <a:ext cx="7324725" cy="2809875"/>
          </a:xfrm>
          <a:prstGeom prst="rect">
            <a:avLst/>
          </a:prstGeom>
        </p:spPr>
      </p:pic>
      <p:sp>
        <p:nvSpPr>
          <p:cNvPr id="4" name="Rectangle 3">
            <a:extLst>
              <a:ext uri="{FF2B5EF4-FFF2-40B4-BE49-F238E27FC236}">
                <a16:creationId xmlns:a16="http://schemas.microsoft.com/office/drawing/2014/main" id="{97732379-1EFD-4719-B32F-60CD237C60DE}"/>
              </a:ext>
            </a:extLst>
          </p:cNvPr>
          <p:cNvSpPr/>
          <p:nvPr/>
        </p:nvSpPr>
        <p:spPr>
          <a:xfrm>
            <a:off x="2172583" y="6048574"/>
            <a:ext cx="3765390" cy="307777"/>
          </a:xfrm>
          <a:prstGeom prst="rect">
            <a:avLst/>
          </a:prstGeom>
        </p:spPr>
        <p:txBody>
          <a:bodyPr wrap="none">
            <a:spAutoFit/>
          </a:bodyPr>
          <a:lstStyle/>
          <a:p>
            <a:r>
              <a:rPr lang="en-US" sz="1400" b="1" dirty="0">
                <a:latin typeface="Times New Roman" panose="02020603050405020304" pitchFamily="18" charset="0"/>
                <a:cs typeface="Times New Roman" panose="02020603050405020304" pitchFamily="18" charset="0"/>
              </a:rPr>
              <a:t>Figure 6-12. Layers of the I/O software system.</a:t>
            </a:r>
          </a:p>
        </p:txBody>
      </p:sp>
      <p:sp>
        <p:nvSpPr>
          <p:cNvPr id="5" name="Rectangle 4">
            <a:extLst>
              <a:ext uri="{FF2B5EF4-FFF2-40B4-BE49-F238E27FC236}">
                <a16:creationId xmlns:a16="http://schemas.microsoft.com/office/drawing/2014/main" id="{625E34EC-967A-4095-A2C1-54AC19407D6F}"/>
              </a:ext>
            </a:extLst>
          </p:cNvPr>
          <p:cNvSpPr/>
          <p:nvPr/>
        </p:nvSpPr>
        <p:spPr>
          <a:xfrm>
            <a:off x="0" y="501648"/>
            <a:ext cx="9143999" cy="461665"/>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I/O Software layers</a:t>
            </a:r>
            <a:endParaRPr lang="en-US" sz="24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A40A71B5-2932-46F6-B00D-73F195C42D2A}"/>
              </a:ext>
            </a:extLst>
          </p:cNvPr>
          <p:cNvSpPr/>
          <p:nvPr/>
        </p:nvSpPr>
        <p:spPr>
          <a:xfrm>
            <a:off x="468923" y="1055076"/>
            <a:ext cx="8046427" cy="142199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I/O software is typically organized in four layers, as shown in Fig. 5-11. Each layer has a well-defined function to perform and a well-defined interface to the adjacent layers.</a:t>
            </a:r>
          </a:p>
        </p:txBody>
      </p:sp>
    </p:spTree>
    <p:extLst>
      <p:ext uri="{BB962C8B-B14F-4D97-AF65-F5344CB8AC3E}">
        <p14:creationId xmlns:p14="http://schemas.microsoft.com/office/powerpoint/2010/main" val="2086819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22</a:t>
            </a:fld>
            <a:endParaRPr lang="en-US">
              <a:solidFill>
                <a:srgbClr val="000000"/>
              </a:solidFill>
            </a:endParaRPr>
          </a:p>
        </p:txBody>
      </p:sp>
      <p:sp>
        <p:nvSpPr>
          <p:cNvPr id="3" name="Rectangle 2">
            <a:extLst>
              <a:ext uri="{FF2B5EF4-FFF2-40B4-BE49-F238E27FC236}">
                <a16:creationId xmlns:a16="http://schemas.microsoft.com/office/drawing/2014/main" id="{B9B32F88-FDCE-4C5E-92BB-98491642DED9}"/>
              </a:ext>
            </a:extLst>
          </p:cNvPr>
          <p:cNvSpPr/>
          <p:nvPr/>
        </p:nvSpPr>
        <p:spPr>
          <a:xfrm>
            <a:off x="422031" y="323557"/>
            <a:ext cx="4970065"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Device Drivers</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14A1E02-2574-4BE1-9955-19C388D149A6}"/>
              </a:ext>
            </a:extLst>
          </p:cNvPr>
          <p:cNvPicPr>
            <a:picLocks noChangeAspect="1"/>
          </p:cNvPicPr>
          <p:nvPr/>
        </p:nvPicPr>
        <p:blipFill>
          <a:blip r:embed="rId2"/>
          <a:stretch>
            <a:fillRect/>
          </a:stretch>
        </p:blipFill>
        <p:spPr>
          <a:xfrm>
            <a:off x="1571625" y="714375"/>
            <a:ext cx="6000750" cy="5429250"/>
          </a:xfrm>
          <a:prstGeom prst="rect">
            <a:avLst/>
          </a:prstGeom>
        </p:spPr>
      </p:pic>
      <p:sp>
        <p:nvSpPr>
          <p:cNvPr id="5" name="Rectangle 4">
            <a:extLst>
              <a:ext uri="{FF2B5EF4-FFF2-40B4-BE49-F238E27FC236}">
                <a16:creationId xmlns:a16="http://schemas.microsoft.com/office/drawing/2014/main" id="{5024FEB0-CE80-49B3-AF53-AD4EE4CAF277}"/>
              </a:ext>
            </a:extLst>
          </p:cNvPr>
          <p:cNvSpPr/>
          <p:nvPr/>
        </p:nvSpPr>
        <p:spPr>
          <a:xfrm>
            <a:off x="1174652" y="6143625"/>
            <a:ext cx="7491046" cy="523220"/>
          </a:xfrm>
          <a:prstGeom prst="rect">
            <a:avLst/>
          </a:prstGeom>
        </p:spPr>
        <p:txBody>
          <a:bodyPr wrap="square">
            <a:spAutoFit/>
          </a:bodyPr>
          <a:lstStyle/>
          <a:p>
            <a:pPr algn="ctr"/>
            <a:r>
              <a:rPr lang="en-US" sz="1400" b="1" dirty="0">
                <a:latin typeface="Times New Roman" panose="02020603050405020304" pitchFamily="18" charset="0"/>
                <a:cs typeface="Times New Roman" panose="02020603050405020304" pitchFamily="18" charset="0"/>
              </a:rPr>
              <a:t>Figure 6-13. Logical positioning of device drivers. In reality all communication between drivers and device controllers goes over the bus.</a:t>
            </a:r>
          </a:p>
        </p:txBody>
      </p:sp>
    </p:spTree>
    <p:extLst>
      <p:ext uri="{BB962C8B-B14F-4D97-AF65-F5344CB8AC3E}">
        <p14:creationId xmlns:p14="http://schemas.microsoft.com/office/powerpoint/2010/main" val="2323940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23</a:t>
            </a:fld>
            <a:endParaRPr lang="en-US">
              <a:solidFill>
                <a:srgbClr val="000000"/>
              </a:solidFill>
            </a:endParaRPr>
          </a:p>
        </p:txBody>
      </p:sp>
      <p:sp>
        <p:nvSpPr>
          <p:cNvPr id="3" name="Rectangle 2"/>
          <p:cNvSpPr/>
          <p:nvPr/>
        </p:nvSpPr>
        <p:spPr>
          <a:xfrm>
            <a:off x="577516" y="270899"/>
            <a:ext cx="8566484" cy="2246769"/>
          </a:xfrm>
          <a:prstGeom prst="rect">
            <a:avLst/>
          </a:prstGeom>
        </p:spPr>
        <p:txBody>
          <a:bodyPr wrap="square">
            <a:spAutoFit/>
          </a:bodyPr>
          <a:lstStyle/>
          <a:p>
            <a:pPr algn="just"/>
            <a:r>
              <a:rPr lang="en-US" sz="2000" dirty="0">
                <a:solidFill>
                  <a:srgbClr val="333333"/>
                </a:solidFill>
                <a:latin typeface="Times New Roman" panose="02020603050405020304" pitchFamily="18" charset="0"/>
                <a:cs typeface="Times New Roman" panose="02020603050405020304" pitchFamily="18" charset="0"/>
              </a:rPr>
              <a:t>A device driver is a piece of software that allows your computer's operating system to communicate with a hardware device the driver is written for. Generally, a driver communicates with the device through the </a:t>
            </a:r>
            <a:r>
              <a:rPr lang="en-US" sz="2000" b="1" i="1" dirty="0">
                <a:solidFill>
                  <a:srgbClr val="333333"/>
                </a:solidFill>
                <a:latin typeface="Times New Roman" panose="02020603050405020304" pitchFamily="18" charset="0"/>
                <a:cs typeface="Times New Roman" panose="02020603050405020304" pitchFamily="18" charset="0"/>
              </a:rPr>
              <a:t>computer bus</a:t>
            </a:r>
            <a:r>
              <a:rPr lang="en-US" sz="2000" dirty="0">
                <a:solidFill>
                  <a:srgbClr val="333333"/>
                </a:solidFill>
                <a:latin typeface="Times New Roman" panose="02020603050405020304" pitchFamily="18" charset="0"/>
                <a:cs typeface="Times New Roman" panose="02020603050405020304" pitchFamily="18" charset="0"/>
              </a:rPr>
              <a:t>, which connects the device with the computer. Device Drivers depend upon the Operating System's instruction to access the device and performing any particular action. After the action, they also show their reactions by delivering output or message from the hardware device to the Operating system.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2829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24</a:t>
            </a:fld>
            <a:endParaRPr lang="en-US">
              <a:solidFill>
                <a:srgbClr val="000000"/>
              </a:solidFill>
            </a:endParaRPr>
          </a:p>
        </p:txBody>
      </p:sp>
      <p:sp>
        <p:nvSpPr>
          <p:cNvPr id="3" name="Rectangle 2">
            <a:extLst>
              <a:ext uri="{FF2B5EF4-FFF2-40B4-BE49-F238E27FC236}">
                <a16:creationId xmlns:a16="http://schemas.microsoft.com/office/drawing/2014/main" id="{8FF169CC-D244-4D7F-8B29-95B190EB4A83}"/>
              </a:ext>
            </a:extLst>
          </p:cNvPr>
          <p:cNvSpPr/>
          <p:nvPr/>
        </p:nvSpPr>
        <p:spPr>
          <a:xfrm>
            <a:off x="464079" y="318254"/>
            <a:ext cx="3489097"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Device-Independent I/O Software</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AC5D522-2263-4D0A-950E-4672698F0286}"/>
              </a:ext>
            </a:extLst>
          </p:cNvPr>
          <p:cNvPicPr>
            <a:picLocks noChangeAspect="1"/>
          </p:cNvPicPr>
          <p:nvPr/>
        </p:nvPicPr>
        <p:blipFill>
          <a:blip r:embed="rId2"/>
          <a:stretch>
            <a:fillRect/>
          </a:stretch>
        </p:blipFill>
        <p:spPr>
          <a:xfrm>
            <a:off x="937552" y="1661011"/>
            <a:ext cx="7310039" cy="2756244"/>
          </a:xfrm>
          <a:prstGeom prst="rect">
            <a:avLst/>
          </a:prstGeom>
        </p:spPr>
      </p:pic>
      <p:sp>
        <p:nvSpPr>
          <p:cNvPr id="5" name="Rectangle 4">
            <a:extLst>
              <a:ext uri="{FF2B5EF4-FFF2-40B4-BE49-F238E27FC236}">
                <a16:creationId xmlns:a16="http://schemas.microsoft.com/office/drawing/2014/main" id="{CC1459D2-980D-4379-BF50-2F44226CBF2F}"/>
              </a:ext>
            </a:extLst>
          </p:cNvPr>
          <p:cNvSpPr/>
          <p:nvPr/>
        </p:nvSpPr>
        <p:spPr>
          <a:xfrm>
            <a:off x="994701" y="4709553"/>
            <a:ext cx="7087479" cy="307777"/>
          </a:xfrm>
          <a:prstGeom prst="rect">
            <a:avLst/>
          </a:prstGeom>
        </p:spPr>
        <p:txBody>
          <a:bodyPr wrap="square">
            <a:spAutoFit/>
          </a:bodyPr>
          <a:lstStyle/>
          <a:p>
            <a:pPr algn="ctr"/>
            <a:r>
              <a:rPr lang="en-US" sz="1400" b="1" dirty="0">
                <a:latin typeface="Times New Roman" panose="02020603050405020304" pitchFamily="18" charset="0"/>
                <a:cs typeface="Times New Roman" panose="02020603050405020304" pitchFamily="18" charset="0"/>
              </a:rPr>
              <a:t>Figure 6-14. Functions of the device-independent I/O software.</a:t>
            </a:r>
          </a:p>
        </p:txBody>
      </p:sp>
    </p:spTree>
    <p:extLst>
      <p:ext uri="{BB962C8B-B14F-4D97-AF65-F5344CB8AC3E}">
        <p14:creationId xmlns:p14="http://schemas.microsoft.com/office/powerpoint/2010/main" val="8294690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25</a:t>
            </a:fld>
            <a:endParaRPr lang="en-US">
              <a:solidFill>
                <a:srgbClr val="000000"/>
              </a:solidFill>
            </a:endParaRPr>
          </a:p>
        </p:txBody>
      </p:sp>
      <p:pic>
        <p:nvPicPr>
          <p:cNvPr id="3" name="Picture 2">
            <a:extLst>
              <a:ext uri="{FF2B5EF4-FFF2-40B4-BE49-F238E27FC236}">
                <a16:creationId xmlns:a16="http://schemas.microsoft.com/office/drawing/2014/main" id="{3D1F307C-5186-4C53-8ACC-AD70A38866CE}"/>
              </a:ext>
            </a:extLst>
          </p:cNvPr>
          <p:cNvPicPr>
            <a:picLocks noChangeAspect="1"/>
          </p:cNvPicPr>
          <p:nvPr/>
        </p:nvPicPr>
        <p:blipFill>
          <a:blip r:embed="rId2"/>
          <a:stretch>
            <a:fillRect/>
          </a:stretch>
        </p:blipFill>
        <p:spPr>
          <a:xfrm>
            <a:off x="1453662" y="1383323"/>
            <a:ext cx="6803669" cy="4075107"/>
          </a:xfrm>
          <a:prstGeom prst="rect">
            <a:avLst/>
          </a:prstGeom>
        </p:spPr>
      </p:pic>
      <p:sp>
        <p:nvSpPr>
          <p:cNvPr id="4" name="Rectangle 3">
            <a:extLst>
              <a:ext uri="{FF2B5EF4-FFF2-40B4-BE49-F238E27FC236}">
                <a16:creationId xmlns:a16="http://schemas.microsoft.com/office/drawing/2014/main" id="{5B8C4E2A-EC34-48C8-9035-F56CC9362DC0}"/>
              </a:ext>
            </a:extLst>
          </p:cNvPr>
          <p:cNvSpPr/>
          <p:nvPr/>
        </p:nvSpPr>
        <p:spPr>
          <a:xfrm>
            <a:off x="0" y="5896788"/>
            <a:ext cx="8792308" cy="307777"/>
          </a:xfrm>
          <a:prstGeom prst="rect">
            <a:avLst/>
          </a:prstGeom>
        </p:spPr>
        <p:txBody>
          <a:bodyPr wrap="square">
            <a:spAutoFit/>
          </a:bodyPr>
          <a:lstStyle/>
          <a:p>
            <a:pPr algn="ctr"/>
            <a:r>
              <a:rPr lang="en-US" sz="1400" b="1" dirty="0">
                <a:latin typeface="Times New Roman" panose="02020603050405020304" pitchFamily="18" charset="0"/>
                <a:cs typeface="Times New Roman" panose="02020603050405020304" pitchFamily="18" charset="0"/>
              </a:rPr>
              <a:t>Figure 6-15. Layers of the I/O system and the main functions of each layer.</a:t>
            </a:r>
          </a:p>
        </p:txBody>
      </p:sp>
      <p:sp>
        <p:nvSpPr>
          <p:cNvPr id="5" name="Rectangle 4">
            <a:extLst>
              <a:ext uri="{FF2B5EF4-FFF2-40B4-BE49-F238E27FC236}">
                <a16:creationId xmlns:a16="http://schemas.microsoft.com/office/drawing/2014/main" id="{8831230C-D4C5-484F-8EB7-4040D5518C30}"/>
              </a:ext>
            </a:extLst>
          </p:cNvPr>
          <p:cNvSpPr/>
          <p:nvPr/>
        </p:nvSpPr>
        <p:spPr>
          <a:xfrm>
            <a:off x="424367" y="468769"/>
            <a:ext cx="2621295"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User-Space I/O Software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989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26</a:t>
            </a:fld>
            <a:endParaRPr lang="en-US">
              <a:solidFill>
                <a:srgbClr val="000000"/>
              </a:solidFill>
            </a:endParaRPr>
          </a:p>
        </p:txBody>
      </p:sp>
      <p:sp>
        <p:nvSpPr>
          <p:cNvPr id="3" name="Rectangle 2">
            <a:extLst>
              <a:ext uri="{FF2B5EF4-FFF2-40B4-BE49-F238E27FC236}">
                <a16:creationId xmlns:a16="http://schemas.microsoft.com/office/drawing/2014/main" id="{619FEB3E-58F3-41A8-B016-E4B2162F4728}"/>
              </a:ext>
            </a:extLst>
          </p:cNvPr>
          <p:cNvSpPr/>
          <p:nvPr/>
        </p:nvSpPr>
        <p:spPr>
          <a:xfrm>
            <a:off x="3118338" y="234462"/>
            <a:ext cx="1892243" cy="461665"/>
          </a:xfrm>
          <a:prstGeom prst="rect">
            <a:avLst/>
          </a:prstGeom>
        </p:spPr>
        <p:txBody>
          <a:bodyPr wrap="square">
            <a:spAutoFit/>
          </a:bodyPr>
          <a:lstStyle/>
          <a:p>
            <a:pPr algn="ctr"/>
            <a:r>
              <a:rPr lang="en-US" sz="2400" b="1" dirty="0">
                <a:latin typeface="Times New Roman" panose="02020603050405020304" pitchFamily="18" charset="0"/>
                <a:cs typeface="Times New Roman" panose="02020603050405020304" pitchFamily="18" charset="0"/>
              </a:rPr>
              <a:t>Disks</a:t>
            </a:r>
            <a:endParaRPr lang="en-US"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3A4A165-1143-41ED-830F-58FBB5C7C17D}"/>
              </a:ext>
            </a:extLst>
          </p:cNvPr>
          <p:cNvSpPr/>
          <p:nvPr/>
        </p:nvSpPr>
        <p:spPr>
          <a:xfrm>
            <a:off x="422031" y="1055077"/>
            <a:ext cx="8346831" cy="3016210"/>
          </a:xfrm>
          <a:prstGeom prst="rect">
            <a:avLst/>
          </a:prstGeom>
        </p:spPr>
        <p:txBody>
          <a:bodyPr wrap="square">
            <a:spAutoFit/>
          </a:bodyPr>
          <a:lstStyle/>
          <a:p>
            <a:pPr algn="just">
              <a:lnSpc>
                <a:spcPct val="150000"/>
              </a:lnSpc>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Disk Hardware</a:t>
            </a:r>
          </a:p>
          <a:p>
            <a:pPr marL="285750" indent="-285750" algn="just">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Disks come in a variety of types. The most common ones are the magnetic hard disks. They are characterized by the fact that reads and writes are equally fast, which makes them suitable as secondary memory (paging, file systems, etc.).</a:t>
            </a:r>
          </a:p>
          <a:p>
            <a:pPr marL="285750" indent="-285750" algn="just">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For distribution of programs, data, and movies, optical disks (DVDs and Blu-ray) are also important.</a:t>
            </a:r>
          </a:p>
        </p:txBody>
      </p:sp>
    </p:spTree>
    <p:extLst>
      <p:ext uri="{BB962C8B-B14F-4D97-AF65-F5344CB8AC3E}">
        <p14:creationId xmlns:p14="http://schemas.microsoft.com/office/powerpoint/2010/main" val="512746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27</a:t>
            </a:fld>
            <a:endParaRPr lang="en-US">
              <a:solidFill>
                <a:srgbClr val="000000"/>
              </a:solidFill>
            </a:endParaRPr>
          </a:p>
        </p:txBody>
      </p:sp>
      <p:pic>
        <p:nvPicPr>
          <p:cNvPr id="1026" name="Picture 2" descr="https://www.cs.uic.edu/~jbell/CourseNotes/OperatingSystems/images/Chapter10/10_01_DiskMechani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745" y="428480"/>
            <a:ext cx="7564582" cy="4305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335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28</a:t>
            </a:fld>
            <a:endParaRPr lang="en-US">
              <a:solidFill>
                <a:srgbClr val="000000"/>
              </a:solidFill>
            </a:endParaRPr>
          </a:p>
        </p:txBody>
      </p:sp>
      <p:sp>
        <p:nvSpPr>
          <p:cNvPr id="3" name="Rectangle 2"/>
          <p:cNvSpPr/>
          <p:nvPr/>
        </p:nvSpPr>
        <p:spPr>
          <a:xfrm>
            <a:off x="124691" y="1319104"/>
            <a:ext cx="9019309" cy="2308324"/>
          </a:xfrm>
          <a:prstGeom prst="rect">
            <a:avLst/>
          </a:prstGeom>
        </p:spPr>
        <p:txBody>
          <a:bodyPr wrap="square">
            <a:spAutoFit/>
          </a:bodyPr>
          <a:lstStyle/>
          <a:p>
            <a:pPr fontAlgn="base">
              <a:buFont typeface="+mj-lt"/>
              <a:buAutoNum type="arabicPeriod"/>
            </a:pPr>
            <a:r>
              <a:rPr lang="en-US" b="1" dirty="0">
                <a:solidFill>
                  <a:srgbClr val="273239"/>
                </a:solidFill>
                <a:latin typeface="urw-din"/>
              </a:rPr>
              <a:t>Seek time –</a:t>
            </a:r>
            <a:r>
              <a:rPr lang="en-US" dirty="0">
                <a:solidFill>
                  <a:srgbClr val="273239"/>
                </a:solidFill>
                <a:latin typeface="urw-din"/>
              </a:rPr>
              <a:t> The time taken by the R-W head to reach the desired track from its current position.</a:t>
            </a:r>
          </a:p>
          <a:p>
            <a:pPr fontAlgn="base">
              <a:buFont typeface="+mj-lt"/>
              <a:buAutoNum type="arabicPeriod"/>
            </a:pPr>
            <a:r>
              <a:rPr lang="en-US" b="1" dirty="0">
                <a:solidFill>
                  <a:srgbClr val="273239"/>
                </a:solidFill>
                <a:latin typeface="urw-din"/>
              </a:rPr>
              <a:t>Rotational latency –</a:t>
            </a:r>
            <a:r>
              <a:rPr lang="en-US" dirty="0">
                <a:solidFill>
                  <a:srgbClr val="273239"/>
                </a:solidFill>
                <a:latin typeface="urw-din"/>
              </a:rPr>
              <a:t> Time is taken by the sector to come under the R-W head.</a:t>
            </a:r>
          </a:p>
          <a:p>
            <a:pPr fontAlgn="base">
              <a:buFont typeface="+mj-lt"/>
              <a:buAutoNum type="arabicPeriod"/>
            </a:pPr>
            <a:r>
              <a:rPr lang="en-US" b="1" dirty="0">
                <a:solidFill>
                  <a:srgbClr val="273239"/>
                </a:solidFill>
                <a:latin typeface="urw-din"/>
              </a:rPr>
              <a:t>Data transfer time –</a:t>
            </a:r>
            <a:r>
              <a:rPr lang="en-US" dirty="0">
                <a:solidFill>
                  <a:srgbClr val="273239"/>
                </a:solidFill>
                <a:latin typeface="urw-din"/>
              </a:rPr>
              <a:t> Time is taken to transfer the required amount of data. It depends upon the rotational speed.</a:t>
            </a:r>
          </a:p>
          <a:p>
            <a:pPr fontAlgn="base">
              <a:buFont typeface="+mj-lt"/>
              <a:buAutoNum type="arabicPeriod"/>
            </a:pPr>
            <a:r>
              <a:rPr lang="en-US" b="1" dirty="0">
                <a:solidFill>
                  <a:srgbClr val="273239"/>
                </a:solidFill>
                <a:latin typeface="urw-din"/>
              </a:rPr>
              <a:t>Controller time –</a:t>
            </a:r>
            <a:r>
              <a:rPr lang="en-US" dirty="0">
                <a:solidFill>
                  <a:srgbClr val="273239"/>
                </a:solidFill>
                <a:latin typeface="urw-din"/>
              </a:rPr>
              <a:t> The processing time taken by the controller.</a:t>
            </a:r>
          </a:p>
          <a:p>
            <a:pPr fontAlgn="base">
              <a:buFont typeface="+mj-lt"/>
              <a:buAutoNum type="arabicPeriod"/>
            </a:pPr>
            <a:r>
              <a:rPr lang="en-US" b="1" dirty="0">
                <a:solidFill>
                  <a:srgbClr val="273239"/>
                </a:solidFill>
                <a:latin typeface="urw-din"/>
              </a:rPr>
              <a:t>Average Access time –</a:t>
            </a:r>
            <a:r>
              <a:rPr lang="en-US" dirty="0">
                <a:solidFill>
                  <a:srgbClr val="273239"/>
                </a:solidFill>
                <a:latin typeface="urw-din"/>
              </a:rPr>
              <a:t> seek time + Average Rotational latency + data transfer time + controller time.</a:t>
            </a:r>
            <a:endParaRPr lang="en-US" b="0" i="0" dirty="0">
              <a:solidFill>
                <a:srgbClr val="273239"/>
              </a:solidFill>
              <a:effectLst/>
              <a:latin typeface="urw-din"/>
            </a:endParaRPr>
          </a:p>
        </p:txBody>
      </p:sp>
    </p:spTree>
    <p:extLst>
      <p:ext uri="{BB962C8B-B14F-4D97-AF65-F5344CB8AC3E}">
        <p14:creationId xmlns:p14="http://schemas.microsoft.com/office/powerpoint/2010/main" val="3581472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29</a:t>
            </a:fld>
            <a:endParaRPr lang="en-US">
              <a:solidFill>
                <a:srgbClr val="000000"/>
              </a:solidFill>
            </a:endParaRPr>
          </a:p>
        </p:txBody>
      </p:sp>
      <p:sp>
        <p:nvSpPr>
          <p:cNvPr id="3" name="Rectangle 2">
            <a:extLst>
              <a:ext uri="{FF2B5EF4-FFF2-40B4-BE49-F238E27FC236}">
                <a16:creationId xmlns:a16="http://schemas.microsoft.com/office/drawing/2014/main" id="{CA3DE782-0423-4F30-B96B-8C334D607F34}"/>
              </a:ext>
            </a:extLst>
          </p:cNvPr>
          <p:cNvSpPr/>
          <p:nvPr/>
        </p:nvSpPr>
        <p:spPr>
          <a:xfrm>
            <a:off x="688732" y="1516259"/>
            <a:ext cx="7887139" cy="280698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 long it takes to read or write a disk block. The time required is determined by three factors:</a:t>
            </a:r>
          </a:p>
          <a:p>
            <a:pPr algn="just">
              <a:lnSpc>
                <a:spcPct val="150000"/>
              </a:lnSpc>
            </a:pPr>
            <a:r>
              <a:rPr lang="en-US" sz="2000" dirty="0">
                <a:latin typeface="Times New Roman" panose="02020603050405020304" pitchFamily="18" charset="0"/>
                <a:cs typeface="Times New Roman" panose="02020603050405020304" pitchFamily="18" charset="0"/>
              </a:rPr>
              <a:t>1. Seek time (the time to move the arm to the proper cylinder).</a:t>
            </a:r>
          </a:p>
          <a:p>
            <a:pPr algn="just">
              <a:lnSpc>
                <a:spcPct val="150000"/>
              </a:lnSpc>
            </a:pPr>
            <a:r>
              <a:rPr lang="en-US" sz="2000" dirty="0">
                <a:latin typeface="Times New Roman" panose="02020603050405020304" pitchFamily="18" charset="0"/>
                <a:cs typeface="Times New Roman" panose="02020603050405020304" pitchFamily="18" charset="0"/>
              </a:rPr>
              <a:t>2. Rotational delay (how long for the proper sector to appear under the reading head).</a:t>
            </a:r>
          </a:p>
          <a:p>
            <a:pPr algn="just">
              <a:lnSpc>
                <a:spcPct val="150000"/>
              </a:lnSpc>
            </a:pPr>
            <a:r>
              <a:rPr lang="en-US" sz="2000" dirty="0">
                <a:latin typeface="Times New Roman" panose="02020603050405020304" pitchFamily="18" charset="0"/>
                <a:cs typeface="Times New Roman" panose="02020603050405020304" pitchFamily="18" charset="0"/>
              </a:rPr>
              <a:t>3. Actual data transfer time.</a:t>
            </a:r>
          </a:p>
        </p:txBody>
      </p:sp>
      <p:sp>
        <p:nvSpPr>
          <p:cNvPr id="4" name="Rectangle 3">
            <a:extLst>
              <a:ext uri="{FF2B5EF4-FFF2-40B4-BE49-F238E27FC236}">
                <a16:creationId xmlns:a16="http://schemas.microsoft.com/office/drawing/2014/main" id="{788BC729-012E-407E-A00A-46CA08DDA239}"/>
              </a:ext>
            </a:extLst>
          </p:cNvPr>
          <p:cNvSpPr/>
          <p:nvPr/>
        </p:nvSpPr>
        <p:spPr>
          <a:xfrm>
            <a:off x="0" y="478300"/>
            <a:ext cx="9144000" cy="430887"/>
          </a:xfrm>
          <a:prstGeom prst="rect">
            <a:avLst/>
          </a:prstGeom>
        </p:spPr>
        <p:txBody>
          <a:bodyPr wrap="square">
            <a:spAutoFit/>
          </a:bodyPr>
          <a:lstStyle/>
          <a:p>
            <a:pPr algn="ctr"/>
            <a:r>
              <a:rPr lang="en-US" sz="2200" b="1" dirty="0">
                <a:latin typeface="Times New Roman" panose="02020603050405020304" pitchFamily="18" charset="0"/>
                <a:cs typeface="Times New Roman" panose="02020603050405020304" pitchFamily="18" charset="0"/>
              </a:rPr>
              <a:t>Disk Arm Scheduling Algorithms </a:t>
            </a:r>
          </a:p>
        </p:txBody>
      </p:sp>
    </p:spTree>
    <p:extLst>
      <p:ext uri="{BB962C8B-B14F-4D97-AF65-F5344CB8AC3E}">
        <p14:creationId xmlns:p14="http://schemas.microsoft.com/office/powerpoint/2010/main" val="2921021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30</a:t>
            </a:fld>
            <a:endParaRPr lang="en-US">
              <a:solidFill>
                <a:srgbClr val="000000"/>
              </a:solidFill>
            </a:endParaRPr>
          </a:p>
        </p:txBody>
      </p:sp>
      <p:sp>
        <p:nvSpPr>
          <p:cNvPr id="3" name="Rectangle 2">
            <a:extLst>
              <a:ext uri="{FF2B5EF4-FFF2-40B4-BE49-F238E27FC236}">
                <a16:creationId xmlns:a16="http://schemas.microsoft.com/office/drawing/2014/main" id="{85509768-4948-47B4-9067-35D08196E4A7}"/>
              </a:ext>
            </a:extLst>
          </p:cNvPr>
          <p:cNvSpPr/>
          <p:nvPr/>
        </p:nvSpPr>
        <p:spPr>
          <a:xfrm>
            <a:off x="548639" y="548640"/>
            <a:ext cx="8074855" cy="3730317"/>
          </a:xfrm>
          <a:prstGeom prst="rect">
            <a:avLst/>
          </a:prstGeom>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Disk Scheduling Algorithms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FCFS Algorithm</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SSTF Algorithm</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SCAN Algorithm</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C-SCAN Algorithm</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LOOK Algorithm</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C-LOOK Algorithm</a:t>
            </a:r>
          </a:p>
          <a:p>
            <a:pPr>
              <a:lnSpc>
                <a:spcPct val="150000"/>
              </a:lnSpc>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05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31</a:t>
            </a:fld>
            <a:endParaRPr lang="en-US">
              <a:solidFill>
                <a:srgbClr val="000000"/>
              </a:solidFill>
            </a:endParaRPr>
          </a:p>
        </p:txBody>
      </p:sp>
      <p:sp>
        <p:nvSpPr>
          <p:cNvPr id="3" name="Rectangle 2">
            <a:extLst>
              <a:ext uri="{FF2B5EF4-FFF2-40B4-BE49-F238E27FC236}">
                <a16:creationId xmlns:a16="http://schemas.microsoft.com/office/drawing/2014/main" id="{80CB5F11-195E-4E0D-856A-62EB6C7A5D28}"/>
              </a:ext>
            </a:extLst>
          </p:cNvPr>
          <p:cNvSpPr/>
          <p:nvPr/>
        </p:nvSpPr>
        <p:spPr>
          <a:xfrm>
            <a:off x="0" y="492370"/>
            <a:ext cx="9144000" cy="430887"/>
          </a:xfrm>
          <a:prstGeom prst="rect">
            <a:avLst/>
          </a:prstGeom>
        </p:spPr>
        <p:txBody>
          <a:bodyPr wrap="square">
            <a:spAutoFit/>
          </a:bodyPr>
          <a:lstStyle/>
          <a:p>
            <a:pPr algn="ctr"/>
            <a:r>
              <a:rPr lang="en-US" sz="2200" b="1" dirty="0">
                <a:latin typeface="Times New Roman" panose="02020603050405020304" pitchFamily="18" charset="0"/>
                <a:cs typeface="Times New Roman" panose="02020603050405020304" pitchFamily="18" charset="0"/>
              </a:rPr>
              <a:t>FCFS Scheduling</a:t>
            </a:r>
          </a:p>
        </p:txBody>
      </p:sp>
      <p:sp>
        <p:nvSpPr>
          <p:cNvPr id="4" name="Rectangle 3">
            <a:extLst>
              <a:ext uri="{FF2B5EF4-FFF2-40B4-BE49-F238E27FC236}">
                <a16:creationId xmlns:a16="http://schemas.microsoft.com/office/drawing/2014/main" id="{73F135E0-9580-4DFB-903E-2D3ED88C71BD}"/>
              </a:ext>
            </a:extLst>
          </p:cNvPr>
          <p:cNvSpPr/>
          <p:nvPr/>
        </p:nvSpPr>
        <p:spPr>
          <a:xfrm>
            <a:off x="618979" y="1420837"/>
            <a:ext cx="8032652" cy="377648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It stands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first-come first-served</a:t>
            </a:r>
          </a:p>
          <a:p>
            <a:pPr marL="285750" indent="-285750" algn="just">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Simplest</a:t>
            </a:r>
          </a:p>
          <a:p>
            <a:pPr marL="285750" indent="-285750" algn="just">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It services the IO requests in the order in which they arrive</a:t>
            </a:r>
          </a:p>
          <a:p>
            <a:pPr marL="285750" indent="-285750" algn="just">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No </a:t>
            </a: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starvation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every request is serviced</a:t>
            </a:r>
          </a:p>
          <a:p>
            <a:pPr marL="285750" indent="-285750" algn="just">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Doesn’t provide fastest service: does not optimize the seek time.</a:t>
            </a:r>
          </a:p>
          <a:p>
            <a:pPr marL="285750" indent="-285750" algn="just">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request may come from different processes therefore there is the possibility of inappropriate movement of the head.</a:t>
            </a:r>
          </a:p>
          <a:p>
            <a:pPr marL="285750" indent="-285750" algn="just">
              <a:lnSpc>
                <a:spcPct val="150000"/>
              </a:lnSpc>
              <a:buFont typeface="Arial" panose="020B0604020202020204" pitchFamily="34" charset="0"/>
              <a:buChar char="•"/>
            </a:pP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69707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32</a:t>
            </a:fld>
            <a:endParaRPr lang="en-US">
              <a:solidFill>
                <a:srgbClr val="000000"/>
              </a:solidFill>
            </a:endParaRPr>
          </a:p>
        </p:txBody>
      </p:sp>
      <p:sp>
        <p:nvSpPr>
          <p:cNvPr id="6" name="Rectangle 5">
            <a:extLst>
              <a:ext uri="{FF2B5EF4-FFF2-40B4-BE49-F238E27FC236}">
                <a16:creationId xmlns:a16="http://schemas.microsoft.com/office/drawing/2014/main" id="{BCD21947-4750-4A44-BFEF-13412BCE182D}"/>
              </a:ext>
            </a:extLst>
          </p:cNvPr>
          <p:cNvSpPr/>
          <p:nvPr/>
        </p:nvSpPr>
        <p:spPr>
          <a:xfrm>
            <a:off x="548640" y="351692"/>
            <a:ext cx="8091125" cy="1421992"/>
          </a:xfrm>
          <a:prstGeom prst="rect">
            <a:avLst/>
          </a:prstGeom>
        </p:spPr>
        <p:txBody>
          <a:bodyPr wrap="square">
            <a:spAutoFit/>
          </a:bodyPr>
          <a:lstStyle/>
          <a:p>
            <a:pPr algn="just">
              <a:lnSpc>
                <a:spcPct val="150000"/>
              </a:lnSpc>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Q. A disk contains 200 cylinders ,the track sequence is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98, 183, 41, 122, 14, 124, 65, 67</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and current position of  R/W head is 53 calculate total no of arm movement of head.</a:t>
            </a:r>
          </a:p>
        </p:txBody>
      </p:sp>
      <p:pic>
        <p:nvPicPr>
          <p:cNvPr id="2050" name="Picture 2">
            <a:extLst>
              <a:ext uri="{FF2B5EF4-FFF2-40B4-BE49-F238E27FC236}">
                <a16:creationId xmlns:a16="http://schemas.microsoft.com/office/drawing/2014/main" id="{E98A8B9F-7CE0-48A1-ABBA-9F543DAAB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5543" y="2090999"/>
            <a:ext cx="6292875" cy="2892754"/>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0DDEA294-389B-4231-95E8-B74B1F4D9092}"/>
              </a:ext>
            </a:extLst>
          </p:cNvPr>
          <p:cNvSpPr/>
          <p:nvPr/>
        </p:nvSpPr>
        <p:spPr>
          <a:xfrm>
            <a:off x="420930" y="4974343"/>
            <a:ext cx="8497987" cy="1883657"/>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sz="2000" dirty="0">
                <a:solidFill>
                  <a:schemeClr val="tx1">
                    <a:lumMod val="95000"/>
                    <a:lumOff val="5000"/>
                  </a:schemeClr>
                </a:solidFill>
                <a:latin typeface="Times New Roman" panose="02020603050405020304" pitchFamily="18" charset="0"/>
                <a:cs typeface="Times New Roman" panose="02020603050405020304" pitchFamily="18" charset="0"/>
              </a:rPr>
              <a:t>Total head movements incurred while servicing these requests</a:t>
            </a:r>
          </a:p>
          <a:p>
            <a:pPr lvl="0" algn="just" defTabSz="914400" eaLnBrk="0" fontAlgn="base" hangingPunct="0">
              <a:lnSpc>
                <a:spcPct val="150000"/>
              </a:lnSpc>
              <a:spcBef>
                <a:spcPct val="0"/>
              </a:spcBef>
              <a:spcAft>
                <a:spcPct val="0"/>
              </a:spcAft>
            </a:pPr>
            <a:r>
              <a:rPr lang="en-US" altLang="en-US" sz="2000" dirty="0">
                <a:solidFill>
                  <a:schemeClr val="tx1">
                    <a:lumMod val="95000"/>
                    <a:lumOff val="5000"/>
                  </a:schemeClr>
                </a:solidFill>
                <a:latin typeface="Times New Roman" panose="02020603050405020304" pitchFamily="18" charset="0"/>
                <a:cs typeface="Times New Roman" panose="02020603050405020304" pitchFamily="18" charset="0"/>
              </a:rPr>
              <a:t>= (98 – 53) + (183 – 98) + (183 – 41) + (122 – 41) + (122 – 14) + (124 – 14) + (124 – 65) + (67 – 65)= 45 + 85 + 142 + 81 + 108 + 110 + 59 + 2</a:t>
            </a:r>
          </a:p>
          <a:p>
            <a:pPr lvl="0" algn="just" defTabSz="914400" eaLnBrk="0" fontAlgn="base" hangingPunct="0">
              <a:lnSpc>
                <a:spcPct val="150000"/>
              </a:lnSpc>
              <a:spcBef>
                <a:spcPct val="0"/>
              </a:spcBef>
              <a:spcAft>
                <a:spcPct val="0"/>
              </a:spcAft>
            </a:pPr>
            <a:r>
              <a:rPr lang="en-US" altLang="en-US" sz="2000" dirty="0">
                <a:solidFill>
                  <a:schemeClr val="tx1">
                    <a:lumMod val="95000"/>
                    <a:lumOff val="5000"/>
                  </a:schemeClr>
                </a:solidFill>
                <a:latin typeface="Times New Roman" panose="02020603050405020304" pitchFamily="18" charset="0"/>
                <a:cs typeface="Times New Roman" panose="02020603050405020304" pitchFamily="18" charset="0"/>
              </a:rPr>
              <a:t>= 632</a:t>
            </a:r>
          </a:p>
        </p:txBody>
      </p:sp>
    </p:spTree>
    <p:extLst>
      <p:ext uri="{BB962C8B-B14F-4D97-AF65-F5344CB8AC3E}">
        <p14:creationId xmlns:p14="http://schemas.microsoft.com/office/powerpoint/2010/main" val="2710153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33</a:t>
            </a:fld>
            <a:endParaRPr lang="en-US">
              <a:solidFill>
                <a:srgbClr val="000000"/>
              </a:solidFill>
            </a:endParaRPr>
          </a:p>
        </p:txBody>
      </p:sp>
      <p:sp>
        <p:nvSpPr>
          <p:cNvPr id="3" name="Rectangle 2">
            <a:extLst>
              <a:ext uri="{FF2B5EF4-FFF2-40B4-BE49-F238E27FC236}">
                <a16:creationId xmlns:a16="http://schemas.microsoft.com/office/drawing/2014/main" id="{FB4DE857-1C21-4939-94FC-EC0947B04FE1}"/>
              </a:ext>
            </a:extLst>
          </p:cNvPr>
          <p:cNvSpPr/>
          <p:nvPr/>
        </p:nvSpPr>
        <p:spPr>
          <a:xfrm>
            <a:off x="0" y="281354"/>
            <a:ext cx="9144000" cy="400110"/>
          </a:xfrm>
          <a:prstGeom prst="rect">
            <a:avLst/>
          </a:prstGeom>
        </p:spPr>
        <p:txBody>
          <a:bodyPr wrap="square">
            <a:spAutoFit/>
          </a:bodyPr>
          <a:lstStyle/>
          <a:p>
            <a:pPr algn="ctr"/>
            <a:r>
              <a:rPr lang="en-US" sz="2000" b="1" dirty="0">
                <a:latin typeface="Times New Roman" panose="02020603050405020304" pitchFamily="18" charset="0"/>
                <a:cs typeface="Times New Roman" panose="02020603050405020304" pitchFamily="18" charset="0"/>
              </a:rPr>
              <a:t>SSTF Scheduling</a:t>
            </a:r>
          </a:p>
        </p:txBody>
      </p:sp>
      <p:sp>
        <p:nvSpPr>
          <p:cNvPr id="4" name="Rectangle 3">
            <a:extLst>
              <a:ext uri="{FF2B5EF4-FFF2-40B4-BE49-F238E27FC236}">
                <a16:creationId xmlns:a16="http://schemas.microsoft.com/office/drawing/2014/main" id="{C9075CC8-61AD-4306-9B71-739E693016CB}"/>
              </a:ext>
            </a:extLst>
          </p:cNvPr>
          <p:cNvSpPr/>
          <p:nvPr/>
        </p:nvSpPr>
        <p:spPr>
          <a:xfrm>
            <a:off x="628650" y="712242"/>
            <a:ext cx="8332469" cy="6009234"/>
          </a:xfrm>
          <a:prstGeom prst="rect">
            <a:avLst/>
          </a:prstGeom>
        </p:spPr>
        <p:txBody>
          <a:bodyPr wrap="square">
            <a:spAutoFit/>
          </a:bodyPr>
          <a:lstStyle/>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SSTF stands for </a:t>
            </a:r>
            <a:r>
              <a:rPr lang="en-US" sz="2000" b="1" dirty="0">
                <a:latin typeface="Times New Roman" panose="02020603050405020304" pitchFamily="18" charset="0"/>
                <a:cs typeface="Times New Roman" panose="02020603050405020304" pitchFamily="18" charset="0"/>
              </a:rPr>
              <a:t>Shortest Seek Time First</a:t>
            </a:r>
            <a:r>
              <a:rPr lang="en-US" sz="2000" dirty="0">
                <a:latin typeface="Times New Roman" panose="02020603050405020304" pitchFamily="18" charset="0"/>
                <a:cs typeface="Times New Roman" panose="02020603050405020304" pitchFamily="18" charset="0"/>
              </a:rPr>
              <a:t>.</a:t>
            </a:r>
          </a:p>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algorithm services that request next which requires least number of head movements from its current position regardless of the direction.</a:t>
            </a:r>
          </a:p>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breaks the tie in the direction of head movement.</a:t>
            </a:r>
          </a:p>
          <a:p>
            <a:pPr algn="just" fontAlgn="base">
              <a:lnSpc>
                <a:spcPct val="150000"/>
              </a:lnSpc>
            </a:pPr>
            <a:r>
              <a:rPr lang="en-US" sz="2000" b="1" dirty="0">
                <a:latin typeface="Times New Roman" panose="02020603050405020304" pitchFamily="18" charset="0"/>
                <a:cs typeface="Times New Roman" panose="02020603050405020304" pitchFamily="18" charset="0"/>
              </a:rPr>
              <a:t>Advantages:</a:t>
            </a:r>
            <a:endParaRPr lang="en-US" sz="2000" dirty="0">
              <a:latin typeface="Times New Roman" panose="02020603050405020304" pitchFamily="18" charset="0"/>
              <a:cs typeface="Times New Roman" panose="02020603050405020304" pitchFamily="18" charset="0"/>
            </a:endParaRPr>
          </a:p>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reduces the total seek time as compared to </a:t>
            </a:r>
            <a:r>
              <a:rPr lang="en-US" sz="2000" b="1" dirty="0">
                <a:latin typeface="Times New Roman" panose="02020603050405020304" pitchFamily="18" charset="0"/>
                <a:cs typeface="Times New Roman" panose="02020603050405020304" pitchFamily="18" charset="0"/>
              </a:rPr>
              <a:t>FCFS.</a:t>
            </a:r>
          </a:p>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provides increased throughput.</a:t>
            </a:r>
          </a:p>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provides less average response time and waiting time.</a:t>
            </a:r>
          </a:p>
          <a:p>
            <a:pPr algn="just" fontAlgn="base">
              <a:lnSpc>
                <a:spcPct val="150000"/>
              </a:lnSpc>
            </a:pPr>
            <a:r>
              <a:rPr lang="en-US" sz="2000" b="1" dirty="0">
                <a:latin typeface="Times New Roman" panose="02020603050405020304" pitchFamily="18" charset="0"/>
                <a:cs typeface="Times New Roman" panose="02020603050405020304" pitchFamily="18" charset="0"/>
              </a:rPr>
              <a:t>Disadvantages:</a:t>
            </a:r>
            <a:endParaRPr lang="en-US" sz="2000" dirty="0">
              <a:latin typeface="Times New Roman" panose="02020603050405020304" pitchFamily="18" charset="0"/>
              <a:cs typeface="Times New Roman" panose="02020603050405020304" pitchFamily="18" charset="0"/>
            </a:endParaRPr>
          </a:p>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an overhead of finding out the closest request.</a:t>
            </a:r>
          </a:p>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requests which are far from the head might starve for the CPU.</a:t>
            </a:r>
          </a:p>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provides high variance in response time and waiting time.</a:t>
            </a:r>
          </a:p>
          <a:p>
            <a:pPr marL="342900" indent="-342900" algn="just" fontAlgn="base">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Switching the direction of head frequently slows down the algorithm.</a:t>
            </a:r>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82152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34</a:t>
            </a:fld>
            <a:endParaRPr lang="en-US">
              <a:solidFill>
                <a:srgbClr val="000000"/>
              </a:solidFill>
            </a:endParaRPr>
          </a:p>
        </p:txBody>
      </p:sp>
      <p:pic>
        <p:nvPicPr>
          <p:cNvPr id="3074" name="Picture 2">
            <a:extLst>
              <a:ext uri="{FF2B5EF4-FFF2-40B4-BE49-F238E27FC236}">
                <a16:creationId xmlns:a16="http://schemas.microsoft.com/office/drawing/2014/main" id="{0B7CEC54-A47F-410B-98D4-EFCB1AFD8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635" y="2188162"/>
            <a:ext cx="6727752" cy="309266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13B9C5A-C12C-4778-B0C8-622109516EFA}"/>
              </a:ext>
            </a:extLst>
          </p:cNvPr>
          <p:cNvSpPr/>
          <p:nvPr/>
        </p:nvSpPr>
        <p:spPr>
          <a:xfrm>
            <a:off x="393896" y="5400985"/>
            <a:ext cx="8356208" cy="1200329"/>
          </a:xfrm>
          <a:prstGeom prst="rect">
            <a:avLst/>
          </a:prstGeom>
        </p:spPr>
        <p:txBody>
          <a:bodyPr wrap="square">
            <a:spAutoFit/>
          </a:bodyPr>
          <a:lstStyle/>
          <a:p>
            <a:pPr lvl="0" defTabSz="914400" eaLnBrk="0" fontAlgn="base" hangingPunct="0">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Total head movements incurred while servicing these requests</a:t>
            </a:r>
          </a:p>
          <a:p>
            <a:pPr lvl="0" defTabSz="914400" eaLnBrk="0" fontAlgn="base" hangingPunct="0">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(65 – 53) + (67 – 65) + (67 – 41) + (41 – 14) + (98 – 14) + (122 – 98) + (124 – 122) + (183 – 124)= 12 + 2 + 26 + 27 + 84 + 24 + 2 + 59</a:t>
            </a:r>
          </a:p>
          <a:p>
            <a:pPr lvl="0" defTabSz="914400" eaLnBrk="0" fontAlgn="base" hangingPunct="0">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236</a:t>
            </a:r>
          </a:p>
        </p:txBody>
      </p:sp>
      <p:sp>
        <p:nvSpPr>
          <p:cNvPr id="5" name="Rectangle 4">
            <a:extLst>
              <a:ext uri="{FF2B5EF4-FFF2-40B4-BE49-F238E27FC236}">
                <a16:creationId xmlns:a16="http://schemas.microsoft.com/office/drawing/2014/main" id="{E01A8431-03F3-48FA-AB30-6D9B70B35174}"/>
              </a:ext>
            </a:extLst>
          </p:cNvPr>
          <p:cNvSpPr/>
          <p:nvPr/>
        </p:nvSpPr>
        <p:spPr>
          <a:xfrm>
            <a:off x="492369" y="256686"/>
            <a:ext cx="8356209" cy="1704569"/>
          </a:xfrm>
          <a:prstGeom prst="rect">
            <a:avLst/>
          </a:prstGeom>
        </p:spPr>
        <p:txBody>
          <a:bodyPr wrap="square">
            <a:spAutoFit/>
          </a:bodyPr>
          <a:lstStyle/>
          <a:p>
            <a:pPr algn="just">
              <a:lnSpc>
                <a:spcPct val="150000"/>
              </a:lnSpc>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Q. Suppose that a disk drive has the cylinder numbered from 0 to 199. The head is currently at cylinder number 53. The queue for services of cylinder is as 98, 183, 41, 122, 14, 124, 65, and 67. What is the total head movement in each of the following disk algorithm to satisfy the requests?</a:t>
            </a:r>
          </a:p>
        </p:txBody>
      </p:sp>
    </p:spTree>
    <p:extLst>
      <p:ext uri="{BB962C8B-B14F-4D97-AF65-F5344CB8AC3E}">
        <p14:creationId xmlns:p14="http://schemas.microsoft.com/office/powerpoint/2010/main" val="2116821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35</a:t>
            </a:fld>
            <a:endParaRPr lang="en-US">
              <a:solidFill>
                <a:srgbClr val="000000"/>
              </a:solidFill>
            </a:endParaRPr>
          </a:p>
        </p:txBody>
      </p:sp>
      <p:sp>
        <p:nvSpPr>
          <p:cNvPr id="3" name="Rectangle 2">
            <a:extLst>
              <a:ext uri="{FF2B5EF4-FFF2-40B4-BE49-F238E27FC236}">
                <a16:creationId xmlns:a16="http://schemas.microsoft.com/office/drawing/2014/main" id="{BFF6DC65-E3DC-4786-9B39-27EBFA8D3096}"/>
              </a:ext>
            </a:extLst>
          </p:cNvPr>
          <p:cNvSpPr/>
          <p:nvPr/>
        </p:nvSpPr>
        <p:spPr>
          <a:xfrm>
            <a:off x="0" y="436098"/>
            <a:ext cx="9144000" cy="400110"/>
          </a:xfrm>
          <a:prstGeom prst="rect">
            <a:avLst/>
          </a:prstGeom>
        </p:spPr>
        <p:txBody>
          <a:bodyPr wrap="square">
            <a:spAutoFit/>
          </a:bodyPr>
          <a:lstStyle/>
          <a:p>
            <a:pPr algn="ctr"/>
            <a:r>
              <a:rPr lang="en-US" sz="2000" b="1" dirty="0">
                <a:latin typeface="Times New Roman" panose="02020603050405020304" pitchFamily="18" charset="0"/>
                <a:cs typeface="Times New Roman" panose="02020603050405020304" pitchFamily="18" charset="0"/>
              </a:rPr>
              <a:t>SCAN/Elevator Scheduling </a:t>
            </a:r>
          </a:p>
        </p:txBody>
      </p:sp>
      <p:sp>
        <p:nvSpPr>
          <p:cNvPr id="4" name="Rectangle 3">
            <a:extLst>
              <a:ext uri="{FF2B5EF4-FFF2-40B4-BE49-F238E27FC236}">
                <a16:creationId xmlns:a16="http://schemas.microsoft.com/office/drawing/2014/main" id="{EA083509-85BB-4242-AE2D-189824D3B578}"/>
              </a:ext>
            </a:extLst>
          </p:cNvPr>
          <p:cNvSpPr/>
          <p:nvPr/>
        </p:nvSpPr>
        <p:spPr>
          <a:xfrm>
            <a:off x="506437" y="914400"/>
            <a:ext cx="8008913" cy="511531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Also called the elevator algorithm.</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This algorithm scans all the cylinders of the disk back and forth.</a:t>
            </a:r>
          </a:p>
          <a:p>
            <a:pPr marL="285750" indent="-285750" algn="just">
              <a:lnSpc>
                <a:spcPct val="150000"/>
              </a:lnSpc>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The disk arm moves into a particular direction till the end, satisfying all the requests coming in its path and then it turns back and moves in the reverse direction satisfying requests coming in its path.</a:t>
            </a:r>
          </a:p>
          <a:p>
            <a:pPr marL="285750" indent="-285750" algn="just">
              <a:lnSpc>
                <a:spcPct val="150000"/>
              </a:lnSpc>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It works in the way an elevator works, elevator moves in a direction completely till the last floor of that direction and then turns back.</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throughput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variance of response time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Average response time</a:t>
            </a:r>
            <a:endParaRPr lang="en-US" sz="2000" dirty="0">
              <a:solidFill>
                <a:srgbClr val="0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Long waiting time for requests for locations just visited by disk arm</a:t>
            </a:r>
          </a:p>
        </p:txBody>
      </p:sp>
    </p:spTree>
    <p:extLst>
      <p:ext uri="{BB962C8B-B14F-4D97-AF65-F5344CB8AC3E}">
        <p14:creationId xmlns:p14="http://schemas.microsoft.com/office/powerpoint/2010/main" val="3529848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5B9150-2C70-4721-BC25-30FAF450F3D0}"/>
              </a:ext>
            </a:extLst>
          </p:cNvPr>
          <p:cNvSpPr/>
          <p:nvPr/>
        </p:nvSpPr>
        <p:spPr>
          <a:xfrm>
            <a:off x="661182" y="365760"/>
            <a:ext cx="7891975" cy="1704569"/>
          </a:xfrm>
          <a:prstGeom prst="rect">
            <a:avLst/>
          </a:prstGeom>
        </p:spPr>
        <p:txBody>
          <a:bodyPr wrap="square">
            <a:spAutoFit/>
          </a:bodyPr>
          <a:lstStyle/>
          <a:p>
            <a:pPr algn="just">
              <a:lnSpc>
                <a:spcPct val="150000"/>
              </a:lnSpc>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Q. Consider a disk queue with requests for I/O to blocks on cylinders 98, 183, 41, 122, 14, 124, 65, 67. The head is initially at cylinder number 53 moving towards larger cylinder numbers on its servicing pass. The cylinders are numbered from 0 to 199.</a:t>
            </a:r>
          </a:p>
        </p:txBody>
      </p:sp>
      <p:pic>
        <p:nvPicPr>
          <p:cNvPr id="1026" name="Picture 2">
            <a:extLst>
              <a:ext uri="{FF2B5EF4-FFF2-40B4-BE49-F238E27FC236}">
                <a16:creationId xmlns:a16="http://schemas.microsoft.com/office/drawing/2014/main" id="{269BEA4F-BB1F-4BD3-95E5-5713C08E6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199" y="1975393"/>
            <a:ext cx="6006905" cy="333958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E2A8CB84-7C61-48F6-8AC5-0F2B962EFEB4}"/>
              </a:ext>
            </a:extLst>
          </p:cNvPr>
          <p:cNvSpPr/>
          <p:nvPr/>
        </p:nvSpPr>
        <p:spPr>
          <a:xfrm>
            <a:off x="351691" y="5153431"/>
            <a:ext cx="8503920" cy="1704569"/>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Total head movements incurred while servicing these requests = (65 – 53) + (67 – 65) + (98 – 67) + (122 – 98) + (124 – 122) + (183 – 124) + (199 – 183) + (199 – 41) + (41 – 14) = 12 + 2 + 31 + 24 + 2 + 59 + 16 + 158 + 27</a:t>
            </a:r>
          </a:p>
          <a:p>
            <a:pPr lvl="0" algn="just" defTabSz="914400" eaLnBrk="0" fontAlgn="base" hangingPunct="0">
              <a:lnSpc>
                <a:spcPct val="150000"/>
              </a:lnSpc>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331</a:t>
            </a:r>
          </a:p>
        </p:txBody>
      </p:sp>
    </p:spTree>
    <p:extLst>
      <p:ext uri="{BB962C8B-B14F-4D97-AF65-F5344CB8AC3E}">
        <p14:creationId xmlns:p14="http://schemas.microsoft.com/office/powerpoint/2010/main" val="1659725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37</a:t>
            </a:fld>
            <a:endParaRPr lang="en-US">
              <a:solidFill>
                <a:srgbClr val="000000"/>
              </a:solidFill>
            </a:endParaRPr>
          </a:p>
        </p:txBody>
      </p:sp>
      <p:sp>
        <p:nvSpPr>
          <p:cNvPr id="3" name="Rectangle 2">
            <a:extLst>
              <a:ext uri="{FF2B5EF4-FFF2-40B4-BE49-F238E27FC236}">
                <a16:creationId xmlns:a16="http://schemas.microsoft.com/office/drawing/2014/main" id="{F9232DAE-4625-4D76-B520-BD15DB5705CA}"/>
              </a:ext>
            </a:extLst>
          </p:cNvPr>
          <p:cNvSpPr/>
          <p:nvPr/>
        </p:nvSpPr>
        <p:spPr>
          <a:xfrm>
            <a:off x="0" y="295422"/>
            <a:ext cx="9144000" cy="400110"/>
          </a:xfrm>
          <a:prstGeom prst="rect">
            <a:avLst/>
          </a:prstGeom>
        </p:spPr>
        <p:txBody>
          <a:bodyPr wrap="square">
            <a:spAutoFit/>
          </a:bodyPr>
          <a:lstStyle/>
          <a:p>
            <a:pPr algn="ctr" fontAlgn="base"/>
            <a:r>
              <a:rPr lang="en-US" sz="2000" b="1" dirty="0">
                <a:latin typeface="Times New Roman" panose="02020603050405020304" pitchFamily="18" charset="0"/>
                <a:cs typeface="Times New Roman" panose="02020603050405020304" pitchFamily="18" charset="0"/>
              </a:rPr>
              <a:t>C-SCAN Scheduling</a:t>
            </a:r>
            <a:endParaRPr lang="en-US" sz="2000" b="1" i="0" dirty="0">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8BEB84E-78A0-44C3-8538-5E0AC14DA26E}"/>
              </a:ext>
            </a:extLst>
          </p:cNvPr>
          <p:cNvSpPr/>
          <p:nvPr/>
        </p:nvSpPr>
        <p:spPr>
          <a:xfrm>
            <a:off x="203981" y="695532"/>
            <a:ext cx="8736037" cy="6275051"/>
          </a:xfrm>
          <a:prstGeom prst="rect">
            <a:avLst/>
          </a:prstGeom>
        </p:spPr>
        <p:txBody>
          <a:bodyPr wrap="square">
            <a:spAutoFit/>
          </a:bodyPr>
          <a:lstStyle/>
          <a:p>
            <a:pPr marL="285750" indent="-285750" algn="just" fontAlgn="base">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Circular-SCAN Algorithm is an improved version of the </a:t>
            </a:r>
            <a:r>
              <a:rPr lang="en-US" b="1" dirty="0">
                <a:latin typeface="Times New Roman" panose="02020603050405020304" pitchFamily="18" charset="0"/>
                <a:cs typeface="Times New Roman" panose="02020603050405020304" pitchFamily="18" charset="0"/>
              </a:rPr>
              <a:t>SCAN Algorithm</a:t>
            </a:r>
            <a:r>
              <a:rPr lang="en-US" dirty="0">
                <a:latin typeface="Times New Roman" panose="02020603050405020304" pitchFamily="18" charset="0"/>
                <a:cs typeface="Times New Roman" panose="02020603050405020304" pitchFamily="18" charset="0"/>
              </a:rPr>
              <a:t>.</a:t>
            </a:r>
          </a:p>
          <a:p>
            <a:pPr marL="285750" indent="-285750" algn="just" fontAlgn="base">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Head starts from one end of the disk and move towards the other end servicing all the requests in between.</a:t>
            </a:r>
          </a:p>
          <a:p>
            <a:pPr marL="285750" indent="-285750" algn="just" fontAlgn="base">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After reaching the other end, head reverses its direction.</a:t>
            </a:r>
          </a:p>
          <a:p>
            <a:pPr marL="285750" indent="-285750" algn="just" fontAlgn="base">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then returns to the starting end without servicing any request in between. The same process repeats.</a:t>
            </a:r>
          </a:p>
          <a:p>
            <a:pPr algn="just" fontAlgn="base">
              <a:lnSpc>
                <a:spcPct val="150000"/>
              </a:lnSpc>
            </a:pPr>
            <a:r>
              <a:rPr lang="en-US" b="1"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pPr marL="285750" indent="-285750" algn="just" fontAlgn="base">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waiting time for the cylinders just visited by the head is reduced as compared to the SCAN Algorithm.</a:t>
            </a:r>
          </a:p>
          <a:p>
            <a:pPr marL="285750" indent="-285750" algn="just" fontAlgn="base">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provides uniform waiting time.</a:t>
            </a:r>
          </a:p>
          <a:p>
            <a:pPr marL="285750" indent="-285750" algn="just" fontAlgn="base">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provides better response time.</a:t>
            </a:r>
          </a:p>
          <a:p>
            <a:pPr algn="just" fontAlgn="base">
              <a:lnSpc>
                <a:spcPct val="150000"/>
              </a:lnSpc>
            </a:pPr>
            <a:r>
              <a:rPr lang="en-US" b="1"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a:p>
            <a:pPr marL="285750" indent="-285750" algn="just" fontAlgn="base">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causes more seek movements as compared to SCAN Algorithm.</a:t>
            </a:r>
          </a:p>
          <a:p>
            <a:pPr marL="285750" indent="-285750" algn="just" fontAlgn="base">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causes the head to move till the end of the disk even if there are no requests to be serviced.</a:t>
            </a:r>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39822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38</a:t>
            </a:fld>
            <a:endParaRPr lang="en-US">
              <a:solidFill>
                <a:srgbClr val="000000"/>
              </a:solidFill>
            </a:endParaRPr>
          </a:p>
        </p:txBody>
      </p:sp>
      <p:sp>
        <p:nvSpPr>
          <p:cNvPr id="3" name="Rectangle 2">
            <a:extLst>
              <a:ext uri="{FF2B5EF4-FFF2-40B4-BE49-F238E27FC236}">
                <a16:creationId xmlns:a16="http://schemas.microsoft.com/office/drawing/2014/main" id="{AE7E527D-EEB3-409D-BD84-8F2784963079}"/>
              </a:ext>
            </a:extLst>
          </p:cNvPr>
          <p:cNvSpPr/>
          <p:nvPr/>
        </p:nvSpPr>
        <p:spPr>
          <a:xfrm>
            <a:off x="379828" y="267286"/>
            <a:ext cx="8271803" cy="212006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Q. Suppose that a disk drive has the cylinder numbered from 0 to 199. The head is currently at cylinder number 53 </a:t>
            </a:r>
            <a:r>
              <a:rPr lang="en-US" b="0" i="0" dirty="0">
                <a:effectLst/>
                <a:latin typeface="Times New Roman" panose="02020603050405020304" pitchFamily="18" charset="0"/>
                <a:cs typeface="Times New Roman" panose="02020603050405020304" pitchFamily="18" charset="0"/>
              </a:rPr>
              <a:t>moving towards larger cylinder numbers on its servicing pass</a:t>
            </a:r>
            <a:r>
              <a:rPr lang="en-US" dirty="0">
                <a:latin typeface="Times New Roman" panose="02020603050405020304" pitchFamily="18" charset="0"/>
                <a:cs typeface="Times New Roman" panose="02020603050405020304" pitchFamily="18" charset="0"/>
              </a:rPr>
              <a:t>. The queue for services of cylinder is as 98, 183, 41, 122, 14, 124, 65 and 67. What is the total head movement in each of the following disk algorithm to satisfy the requests?</a:t>
            </a:r>
          </a:p>
        </p:txBody>
      </p:sp>
      <p:pic>
        <p:nvPicPr>
          <p:cNvPr id="4098" name="Picture 2">
            <a:extLst>
              <a:ext uri="{FF2B5EF4-FFF2-40B4-BE49-F238E27FC236}">
                <a16:creationId xmlns:a16="http://schemas.microsoft.com/office/drawing/2014/main" id="{3A0B8E6B-D8F1-4E29-ABA5-1D8B5E9491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003" y="2063367"/>
            <a:ext cx="6020972" cy="349230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7348F44-682F-42F2-BF8C-9687A2BE273D}"/>
              </a:ext>
            </a:extLst>
          </p:cNvPr>
          <p:cNvSpPr/>
          <p:nvPr/>
        </p:nvSpPr>
        <p:spPr>
          <a:xfrm>
            <a:off x="338063" y="5380672"/>
            <a:ext cx="8524583" cy="1477328"/>
          </a:xfrm>
          <a:prstGeom prst="rect">
            <a:avLst/>
          </a:prstGeom>
        </p:spPr>
        <p:txBody>
          <a:bodyPr wrap="square">
            <a:spAutoFit/>
          </a:bodyPr>
          <a:lstStyle/>
          <a:p>
            <a:pPr lvl="0" algn="just" defTabSz="914400" eaLnBrk="0" fontAlgn="base" hangingPunct="0">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Total head movements incurred while servicing these requests</a:t>
            </a:r>
          </a:p>
          <a:p>
            <a:pPr lvl="0" algn="just" defTabSz="914400" eaLnBrk="0" fontAlgn="base" hangingPunct="0">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(65 – 53) + (67 – 65) + (98 – 67) + (122 – 98) + (124 – 122) + (183 – 124) + (199 –183) + (199 – 0) + (14 – 0) + (41 – 14)</a:t>
            </a:r>
          </a:p>
          <a:p>
            <a:pPr lvl="0" algn="just" defTabSz="914400" eaLnBrk="0" fontAlgn="base" hangingPunct="0">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12 + 2 + 31 + 24 + 2 + 59 + 16 + 199 + 14 + 27</a:t>
            </a:r>
          </a:p>
          <a:p>
            <a:pPr lvl="0" algn="just" defTabSz="914400" eaLnBrk="0" fontAlgn="base" hangingPunct="0">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386</a:t>
            </a:r>
          </a:p>
        </p:txBody>
      </p:sp>
    </p:spTree>
    <p:extLst>
      <p:ext uri="{BB962C8B-B14F-4D97-AF65-F5344CB8AC3E}">
        <p14:creationId xmlns:p14="http://schemas.microsoft.com/office/powerpoint/2010/main" val="21562540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39</a:t>
            </a:fld>
            <a:endParaRPr lang="en-US">
              <a:solidFill>
                <a:srgbClr val="000000"/>
              </a:solidFill>
            </a:endParaRPr>
          </a:p>
        </p:txBody>
      </p:sp>
      <p:sp>
        <p:nvSpPr>
          <p:cNvPr id="3" name="Rectangle 2">
            <a:extLst>
              <a:ext uri="{FF2B5EF4-FFF2-40B4-BE49-F238E27FC236}">
                <a16:creationId xmlns:a16="http://schemas.microsoft.com/office/drawing/2014/main" id="{6961BFDF-0CFA-43A2-A3D4-0E5737B1B3B5}"/>
              </a:ext>
            </a:extLst>
          </p:cNvPr>
          <p:cNvSpPr/>
          <p:nvPr/>
        </p:nvSpPr>
        <p:spPr>
          <a:xfrm>
            <a:off x="414997" y="950845"/>
            <a:ext cx="8314006" cy="5931496"/>
          </a:xfrm>
          <a:prstGeom prst="rect">
            <a:avLst/>
          </a:prstGeom>
        </p:spPr>
        <p:txBody>
          <a:bodyPr wrap="square">
            <a:spAutoFit/>
          </a:bodyPr>
          <a:lstStyle/>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LOOK Algorithm is an improved version of the </a:t>
            </a:r>
            <a:r>
              <a:rPr lang="en-US" sz="1700" b="1" dirty="0">
                <a:solidFill>
                  <a:schemeClr val="tx1">
                    <a:lumMod val="95000"/>
                    <a:lumOff val="5000"/>
                  </a:schemeClr>
                </a:solidFill>
                <a:latin typeface="Times New Roman" panose="02020603050405020304" pitchFamily="18" charset="0"/>
                <a:cs typeface="Times New Roman" panose="02020603050405020304" pitchFamily="18" charset="0"/>
              </a:rPr>
              <a:t>SCAN Algorithm.</a:t>
            </a:r>
            <a:endParaRPr lang="en-US" sz="17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Head starts from the first request at one end of the disk and moves towards the last request at the other end servicing all the requests in between.</a:t>
            </a: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After reaching the last request at the other end, head reverses its direction.</a:t>
            </a: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It then returns to the first request at the starting end servicing all the requests in between.</a:t>
            </a: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The same process repeats.</a:t>
            </a:r>
          </a:p>
          <a:p>
            <a:pPr algn="just" fontAlgn="base">
              <a:lnSpc>
                <a:spcPct val="150000"/>
              </a:lnSpc>
            </a:pPr>
            <a:r>
              <a:rPr lang="en-US" sz="1700" b="1" dirty="0">
                <a:solidFill>
                  <a:schemeClr val="tx1">
                    <a:lumMod val="95000"/>
                    <a:lumOff val="5000"/>
                  </a:schemeClr>
                </a:solidFill>
                <a:latin typeface="Times New Roman" panose="02020603050405020304" pitchFamily="18" charset="0"/>
                <a:cs typeface="Times New Roman" panose="02020603050405020304" pitchFamily="18" charset="0"/>
              </a:rPr>
              <a:t>Advantages:</a:t>
            </a:r>
            <a:endParaRPr lang="en-US" sz="17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It does not causes the head to move till the ends of the disk when there are no requests to be serviced.</a:t>
            </a: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It provides better performance as compared to SCAN Algorithm.</a:t>
            </a: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It does not lead to starvation.</a:t>
            </a: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It provides low variance in response time and waiting time.</a:t>
            </a:r>
          </a:p>
          <a:p>
            <a:pPr algn="just" fontAlgn="base">
              <a:lnSpc>
                <a:spcPct val="150000"/>
              </a:lnSpc>
            </a:pPr>
            <a:r>
              <a:rPr lang="en-US" sz="1700" b="1" dirty="0">
                <a:solidFill>
                  <a:schemeClr val="tx1">
                    <a:lumMod val="95000"/>
                    <a:lumOff val="5000"/>
                  </a:schemeClr>
                </a:solidFill>
                <a:latin typeface="Times New Roman" panose="02020603050405020304" pitchFamily="18" charset="0"/>
                <a:cs typeface="Times New Roman" panose="02020603050405020304" pitchFamily="18" charset="0"/>
              </a:rPr>
              <a:t>Disadvantages:</a:t>
            </a: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There is an overhead of finding the end requests.</a:t>
            </a:r>
          </a:p>
          <a:p>
            <a:pPr marL="285750" indent="-285750" algn="just" fontAlgn="base">
              <a:lnSpc>
                <a:spcPct val="150000"/>
              </a:lnSpc>
              <a:buFont typeface="Arial" panose="020B0604020202020204" pitchFamily="34" charset="0"/>
              <a:buChar char="•"/>
            </a:pPr>
            <a:r>
              <a:rPr lang="en-US" sz="1700" dirty="0">
                <a:solidFill>
                  <a:schemeClr val="tx1">
                    <a:lumMod val="95000"/>
                    <a:lumOff val="5000"/>
                  </a:schemeClr>
                </a:solidFill>
                <a:latin typeface="Times New Roman" panose="02020603050405020304" pitchFamily="18" charset="0"/>
                <a:cs typeface="Times New Roman" panose="02020603050405020304" pitchFamily="18" charset="0"/>
              </a:rPr>
              <a:t>It causes long waiting time for the cylinders just visited by the head.</a:t>
            </a:r>
          </a:p>
        </p:txBody>
      </p:sp>
      <p:sp>
        <p:nvSpPr>
          <p:cNvPr id="4" name="Rectangle 3">
            <a:extLst>
              <a:ext uri="{FF2B5EF4-FFF2-40B4-BE49-F238E27FC236}">
                <a16:creationId xmlns:a16="http://schemas.microsoft.com/office/drawing/2014/main" id="{C1FCA53C-4D1B-49A9-BB22-483AEB781E58}"/>
              </a:ext>
            </a:extLst>
          </p:cNvPr>
          <p:cNvSpPr/>
          <p:nvPr/>
        </p:nvSpPr>
        <p:spPr>
          <a:xfrm>
            <a:off x="0" y="290118"/>
            <a:ext cx="9144000" cy="400110"/>
          </a:xfrm>
          <a:prstGeom prst="rect">
            <a:avLst/>
          </a:prstGeom>
        </p:spPr>
        <p:txBody>
          <a:bodyPr wrap="square">
            <a:spAutoFit/>
          </a:bodyPr>
          <a:lstStyle/>
          <a:p>
            <a:pPr algn="ctr" fontAlgn="base"/>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LOOK Scheduling</a:t>
            </a:r>
          </a:p>
        </p:txBody>
      </p:sp>
    </p:spTree>
    <p:extLst>
      <p:ext uri="{BB962C8B-B14F-4D97-AF65-F5344CB8AC3E}">
        <p14:creationId xmlns:p14="http://schemas.microsoft.com/office/powerpoint/2010/main" val="3813421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40</a:t>
            </a:fld>
            <a:endParaRPr lang="en-US">
              <a:solidFill>
                <a:srgbClr val="000000"/>
              </a:solidFill>
            </a:endParaRPr>
          </a:p>
        </p:txBody>
      </p:sp>
      <p:sp>
        <p:nvSpPr>
          <p:cNvPr id="3" name="Rectangle 2">
            <a:extLst>
              <a:ext uri="{FF2B5EF4-FFF2-40B4-BE49-F238E27FC236}">
                <a16:creationId xmlns:a16="http://schemas.microsoft.com/office/drawing/2014/main" id="{D8641C08-0120-48A5-92C8-CAB23C39D698}"/>
              </a:ext>
            </a:extLst>
          </p:cNvPr>
          <p:cNvSpPr/>
          <p:nvPr/>
        </p:nvSpPr>
        <p:spPr>
          <a:xfrm>
            <a:off x="351692" y="379828"/>
            <a:ext cx="8553157" cy="1289071"/>
          </a:xfrm>
          <a:prstGeom prst="rect">
            <a:avLst/>
          </a:prstGeom>
        </p:spPr>
        <p:txBody>
          <a:bodyPr wrap="square">
            <a:spAutoFit/>
          </a:bodyPr>
          <a:lstStyle/>
          <a:p>
            <a:pPr algn="just">
              <a:lnSpc>
                <a:spcPct val="150000"/>
              </a:lnSpc>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Q. Consider a disk queue with requests for I/O to blocks on cylinders 98, 183, 41, 122, 14, 124, 65, 67. The head is initially at cylinder number 53 moving towards larger cylinder numbers on its servicing pass. The cylinders are numbered from 0 to 199.</a:t>
            </a:r>
          </a:p>
        </p:txBody>
      </p:sp>
      <p:pic>
        <p:nvPicPr>
          <p:cNvPr id="5122" name="Picture 2">
            <a:extLst>
              <a:ext uri="{FF2B5EF4-FFF2-40B4-BE49-F238E27FC236}">
                <a16:creationId xmlns:a16="http://schemas.microsoft.com/office/drawing/2014/main" id="{89B5F5F5-DF07-497A-A113-35F8A6215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5998" y="1869071"/>
            <a:ext cx="6290652" cy="319453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0779A50-4D99-42E0-86E2-643363937995}"/>
              </a:ext>
            </a:extLst>
          </p:cNvPr>
          <p:cNvSpPr/>
          <p:nvPr/>
        </p:nvSpPr>
        <p:spPr>
          <a:xfrm>
            <a:off x="590844" y="5016907"/>
            <a:ext cx="8553156" cy="1704569"/>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Total head movements incurred while servicing these requests</a:t>
            </a:r>
            <a:endParaRPr lang="en-US" altLang="en-US" sz="11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(183 – 53) + (183 – 14)</a:t>
            </a:r>
            <a:endParaRPr lang="en-US" altLang="en-US" sz="11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130 + 169</a:t>
            </a:r>
            <a:endParaRPr lang="en-US" altLang="en-US" sz="110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 299</a:t>
            </a:r>
            <a:endParaRPr lang="en-US" altLang="en-US" sz="11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3689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41</a:t>
            </a:fld>
            <a:endParaRPr lang="en-US">
              <a:solidFill>
                <a:srgbClr val="000000"/>
              </a:solidFill>
            </a:endParaRPr>
          </a:p>
        </p:txBody>
      </p:sp>
      <p:sp>
        <p:nvSpPr>
          <p:cNvPr id="3" name="Rectangle 2">
            <a:extLst>
              <a:ext uri="{FF2B5EF4-FFF2-40B4-BE49-F238E27FC236}">
                <a16:creationId xmlns:a16="http://schemas.microsoft.com/office/drawing/2014/main" id="{EA34E5D4-0216-40C4-8F62-68EAA612F94F}"/>
              </a:ext>
            </a:extLst>
          </p:cNvPr>
          <p:cNvSpPr/>
          <p:nvPr/>
        </p:nvSpPr>
        <p:spPr>
          <a:xfrm>
            <a:off x="0" y="295422"/>
            <a:ext cx="9144000" cy="430887"/>
          </a:xfrm>
          <a:prstGeom prst="rect">
            <a:avLst/>
          </a:prstGeom>
        </p:spPr>
        <p:txBody>
          <a:bodyPr wrap="square">
            <a:spAutoFit/>
          </a:bodyPr>
          <a:lstStyle/>
          <a:p>
            <a:pPr algn="ctr" fontAlgn="base"/>
            <a:r>
              <a:rPr lang="en-US" sz="2200" b="1" dirty="0">
                <a:latin typeface="Times New Roman" panose="02020603050405020304" pitchFamily="18" charset="0"/>
                <a:cs typeface="Times New Roman" panose="02020603050405020304" pitchFamily="18" charset="0"/>
              </a:rPr>
              <a:t>C-LOOK Scheduling</a:t>
            </a:r>
            <a:endParaRPr lang="en-US" sz="2200" b="1" i="0" dirty="0">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104CCEA-542B-4F35-9B03-D994DEB8DC5C}"/>
              </a:ext>
            </a:extLst>
          </p:cNvPr>
          <p:cNvSpPr/>
          <p:nvPr/>
        </p:nvSpPr>
        <p:spPr>
          <a:xfrm>
            <a:off x="330590" y="613768"/>
            <a:ext cx="8482819" cy="6323911"/>
          </a:xfrm>
          <a:prstGeom prst="rect">
            <a:avLst/>
          </a:prstGeom>
        </p:spPr>
        <p:txBody>
          <a:bodyPr wrap="square">
            <a:spAutoFit/>
          </a:bodyPr>
          <a:lstStyle/>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Circular-LOOK Algorithm is an improved version of the </a:t>
            </a:r>
            <a:r>
              <a:rPr lang="en-US" sz="1700" b="1" dirty="0">
                <a:latin typeface="Times New Roman" panose="02020603050405020304" pitchFamily="18" charset="0"/>
                <a:cs typeface="Times New Roman" panose="02020603050405020304" pitchFamily="18" charset="0"/>
              </a:rPr>
              <a:t>LOOK Algorithm.</a:t>
            </a:r>
            <a:endParaRPr lang="en-US" sz="1700" dirty="0">
              <a:latin typeface="Times New Roman" panose="02020603050405020304" pitchFamily="18" charset="0"/>
              <a:cs typeface="Times New Roman" panose="02020603050405020304" pitchFamily="18" charset="0"/>
            </a:endParaRP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Head starts from the first request at one end of the disk and moves towards the last request at the other end servicing all the requests in between.</a:t>
            </a: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After reaching the last request at the other end, head reverses its direction.</a:t>
            </a: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It then returns to the first request at the starting end without servicing any request in between.</a:t>
            </a: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same process repeats.</a:t>
            </a:r>
          </a:p>
          <a:p>
            <a:pPr algn="just" fontAlgn="base">
              <a:lnSpc>
                <a:spcPct val="150000"/>
              </a:lnSpc>
            </a:pPr>
            <a:r>
              <a:rPr lang="en-US" sz="1700" b="1" dirty="0">
                <a:latin typeface="Times New Roman" panose="02020603050405020304" pitchFamily="18" charset="0"/>
                <a:cs typeface="Times New Roman" panose="02020603050405020304" pitchFamily="18" charset="0"/>
              </a:rPr>
              <a:t>Advantages:</a:t>
            </a:r>
            <a:endParaRPr lang="en-US" sz="1700" dirty="0">
              <a:latin typeface="Times New Roman" panose="02020603050405020304" pitchFamily="18" charset="0"/>
              <a:cs typeface="Times New Roman" panose="02020603050405020304" pitchFamily="18" charset="0"/>
            </a:endParaRP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It does not causes the head to move till the ends of the disk when there are no requests to be serviced.</a:t>
            </a: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It reduces the waiting time for the cylinders just visited by the head.</a:t>
            </a: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It provides better performance as compared to LOOK Algorithm.</a:t>
            </a: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It does not lead to starvation.</a:t>
            </a: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It provides low variance in response time and waiting time.</a:t>
            </a:r>
          </a:p>
          <a:p>
            <a:pPr algn="just" fontAlgn="base">
              <a:lnSpc>
                <a:spcPct val="150000"/>
              </a:lnSpc>
            </a:pPr>
            <a:r>
              <a:rPr lang="en-US" sz="1700" b="1" dirty="0">
                <a:latin typeface="Times New Roman" panose="02020603050405020304" pitchFamily="18" charset="0"/>
                <a:cs typeface="Times New Roman" panose="02020603050405020304" pitchFamily="18" charset="0"/>
              </a:rPr>
              <a:t>Disadvantages:</a:t>
            </a:r>
            <a:endParaRPr lang="en-US" sz="1700" dirty="0">
              <a:latin typeface="Times New Roman" panose="02020603050405020304" pitchFamily="18" charset="0"/>
              <a:cs typeface="Times New Roman" panose="02020603050405020304" pitchFamily="18" charset="0"/>
            </a:endParaRPr>
          </a:p>
          <a:p>
            <a:pPr marL="285750" indent="-285750" algn="just" fontAlgn="base">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There is an overhead of finding the end requests.</a:t>
            </a:r>
            <a:endParaRPr lang="en-US" sz="17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7661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61BADB-43D2-415D-85D2-6AC961EC61F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42</a:t>
            </a:fld>
            <a:endParaRPr lang="en-US">
              <a:solidFill>
                <a:srgbClr val="000000"/>
              </a:solidFill>
            </a:endParaRPr>
          </a:p>
        </p:txBody>
      </p:sp>
      <p:sp>
        <p:nvSpPr>
          <p:cNvPr id="3" name="Rectangle 2">
            <a:extLst>
              <a:ext uri="{FF2B5EF4-FFF2-40B4-BE49-F238E27FC236}">
                <a16:creationId xmlns:a16="http://schemas.microsoft.com/office/drawing/2014/main" id="{3EE50BDB-DFC1-462E-9957-816EF3C394EF}"/>
              </a:ext>
            </a:extLst>
          </p:cNvPr>
          <p:cNvSpPr/>
          <p:nvPr/>
        </p:nvSpPr>
        <p:spPr>
          <a:xfrm>
            <a:off x="351692" y="351693"/>
            <a:ext cx="8482819" cy="1289071"/>
          </a:xfrm>
          <a:prstGeom prst="rect">
            <a:avLst/>
          </a:prstGeom>
        </p:spPr>
        <p:txBody>
          <a:bodyPr wrap="square">
            <a:spAutoFit/>
          </a:bodyPr>
          <a:lstStyle/>
          <a:p>
            <a:pPr algn="just">
              <a:lnSpc>
                <a:spcPct val="150000"/>
              </a:lnSpc>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Q. Consider a disk queue with requests for I/O to blocks on cylinders 98, 183, 41, 122, 14, 124, 65, 67. The head is initially at cylinder number 53 moving towards larger cylinder numbers on its servicing pass. The cylinders are numbered from 0 to 199.</a:t>
            </a:r>
          </a:p>
        </p:txBody>
      </p:sp>
      <p:pic>
        <p:nvPicPr>
          <p:cNvPr id="6146" name="Picture 2">
            <a:extLst>
              <a:ext uri="{FF2B5EF4-FFF2-40B4-BE49-F238E27FC236}">
                <a16:creationId xmlns:a16="http://schemas.microsoft.com/office/drawing/2014/main" id="{5158908B-F582-4D3E-B9C0-E3B148B206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535" y="1846842"/>
            <a:ext cx="6271772" cy="348683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B74553C-3BDA-40C7-9BEA-EA11475B4BCB}"/>
              </a:ext>
            </a:extLst>
          </p:cNvPr>
          <p:cNvSpPr/>
          <p:nvPr/>
        </p:nvSpPr>
        <p:spPr>
          <a:xfrm>
            <a:off x="351692" y="5429699"/>
            <a:ext cx="8482819" cy="1195754"/>
          </a:xfrm>
          <a:prstGeom prst="rect">
            <a:avLst/>
          </a:prstGeom>
        </p:spPr>
        <p:txBody>
          <a:bodyPr wrap="square">
            <a:spAutoFit/>
          </a:bodyPr>
          <a:lstStyle/>
          <a:p>
            <a:pPr lvl="0" defTabSz="914400" eaLnBrk="0" fontAlgn="base" hangingPunct="0">
              <a:spcBef>
                <a:spcPct val="0"/>
              </a:spcBef>
              <a:spcAft>
                <a:spcPct val="0"/>
              </a:spcAft>
            </a:pPr>
            <a:r>
              <a:rPr lang="en-US" altLang="en-US" dirty="0">
                <a:solidFill>
                  <a:srgbClr val="303030"/>
                </a:solidFill>
                <a:latin typeface="Times New Roman" panose="02020603050405020304" pitchFamily="18" charset="0"/>
                <a:cs typeface="Times New Roman" panose="02020603050405020304" pitchFamily="18" charset="0"/>
              </a:rPr>
              <a:t>Total head movements incurred while servicing these requests</a:t>
            </a:r>
            <a:endParaRPr lang="en-US" altLang="en-US"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dirty="0">
                <a:solidFill>
                  <a:srgbClr val="303030"/>
                </a:solidFill>
                <a:latin typeface="Times New Roman" panose="02020603050405020304" pitchFamily="18" charset="0"/>
                <a:cs typeface="Times New Roman" panose="02020603050405020304" pitchFamily="18" charset="0"/>
              </a:rPr>
              <a:t>= (183 – 53) + (183 – 14) + (41 – 14)</a:t>
            </a:r>
            <a:endParaRPr lang="en-US" altLang="en-US"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dirty="0">
                <a:solidFill>
                  <a:srgbClr val="303030"/>
                </a:solidFill>
                <a:latin typeface="Times New Roman" panose="02020603050405020304" pitchFamily="18" charset="0"/>
                <a:cs typeface="Times New Roman" panose="02020603050405020304" pitchFamily="18" charset="0"/>
              </a:rPr>
              <a:t>= 130 + 169 + 27</a:t>
            </a:r>
            <a:endParaRPr lang="en-US" altLang="en-US"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dirty="0">
                <a:solidFill>
                  <a:srgbClr val="303030"/>
                </a:solidFill>
                <a:latin typeface="Times New Roman" panose="02020603050405020304" pitchFamily="18" charset="0"/>
                <a:cs typeface="Times New Roman" panose="02020603050405020304" pitchFamily="18" charset="0"/>
              </a:rPr>
              <a:t>= 326</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5016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2396" y="53325"/>
            <a:ext cx="7886700" cy="979199"/>
          </a:xfrm>
        </p:spPr>
        <p:txBody>
          <a:bodyPr/>
          <a:lstStyle/>
          <a:p>
            <a:r>
              <a:rPr lang="en-US" dirty="0"/>
              <a:t>Disk hardware </a:t>
            </a:r>
          </a:p>
        </p:txBody>
      </p:sp>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43</a:t>
            </a:fld>
            <a:endParaRPr lang="en-US">
              <a:solidFill>
                <a:srgbClr val="000000"/>
              </a:solidFill>
            </a:endParaRPr>
          </a:p>
        </p:txBody>
      </p:sp>
      <p:pic>
        <p:nvPicPr>
          <p:cNvPr id="3074" name="Picture 2" descr="5-1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7818" y="2216150"/>
            <a:ext cx="8686800" cy="4392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005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1690689"/>
          </a:xfrm>
        </p:spPr>
        <p:txBody>
          <a:bodyPr>
            <a:normAutofit fontScale="90000"/>
          </a:bodyPr>
          <a:lstStyle/>
          <a:p>
            <a:r>
              <a:rPr lang="en-US" b="1" dirty="0"/>
              <a:t>RAID (redundant array of independent disks)</a:t>
            </a:r>
            <a:br>
              <a:rPr lang="en-US" b="1" dirty="0"/>
            </a:br>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pic>
        <p:nvPicPr>
          <p:cNvPr id="7" name="Content Placeholder 6"/>
          <p:cNvPicPr>
            <a:picLocks noGrp="1" noChangeAspect="1"/>
          </p:cNvPicPr>
          <p:nvPr>
            <p:ph idx="1"/>
          </p:nvPr>
        </p:nvPicPr>
        <p:blipFill>
          <a:blip r:embed="rId2"/>
          <a:stretch>
            <a:fillRect/>
          </a:stretch>
        </p:blipFill>
        <p:spPr>
          <a:xfrm>
            <a:off x="387927" y="1354138"/>
            <a:ext cx="8127423" cy="5002213"/>
          </a:xfrm>
          <a:prstGeom prst="rect">
            <a:avLst/>
          </a:prstGeom>
        </p:spPr>
      </p:pic>
    </p:spTree>
    <p:extLst>
      <p:ext uri="{BB962C8B-B14F-4D97-AF65-F5344CB8AC3E}">
        <p14:creationId xmlns:p14="http://schemas.microsoft.com/office/powerpoint/2010/main" val="18435100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Disk hardware </a:t>
            </a:r>
          </a:p>
        </p:txBody>
      </p:sp>
      <p:pic>
        <p:nvPicPr>
          <p:cNvPr id="5" name="Content Placeholder 4"/>
          <p:cNvPicPr>
            <a:picLocks noGrp="1" noChangeAspect="1"/>
          </p:cNvPicPr>
          <p:nvPr>
            <p:ph idx="1"/>
          </p:nvPr>
        </p:nvPicPr>
        <p:blipFill>
          <a:blip r:embed="rId2"/>
          <a:stretch>
            <a:fillRect/>
          </a:stretch>
        </p:blipFill>
        <p:spPr>
          <a:xfrm>
            <a:off x="110836" y="1847851"/>
            <a:ext cx="8631382" cy="4774622"/>
          </a:xfrm>
          <a:prstGeom prst="rect">
            <a:avLst/>
          </a:prstGeom>
        </p:spPr>
      </p:pic>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3081164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3F41F-D8A3-9623-85BE-B046A7C919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E3FF0D-0BF0-E49C-95AB-779854201594}"/>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941E308E-4FC1-DFF6-D812-5AE45BEC4F7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extLst>
      <p:ext uri="{BB962C8B-B14F-4D97-AF65-F5344CB8AC3E}">
        <p14:creationId xmlns:p14="http://schemas.microsoft.com/office/powerpoint/2010/main" val="2254924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9420</TotalTime>
  <Words>3626</Words>
  <Application>Microsoft Office PowerPoint</Application>
  <PresentationFormat>On-screen Show (4:3)</PresentationFormat>
  <Paragraphs>253</Paragraphs>
  <Slides>46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urw-din</vt:lpstr>
      <vt:lpstr>Calibri Light</vt:lpstr>
      <vt:lpstr>Calibri</vt:lpstr>
      <vt:lpstr>Arial</vt:lpstr>
      <vt:lpstr>Times New Roman</vt:lpstr>
      <vt:lpstr>Office Theme</vt:lpstr>
      <vt:lpstr>PowerPoint Presentation</vt:lpstr>
      <vt:lpstr>PowerPoint Presentation</vt:lpstr>
      <vt:lpstr>Introduction </vt:lpstr>
      <vt:lpstr>PowerPoint Presentation</vt:lpstr>
      <vt:lpstr>PowerPoint Presentation</vt:lpstr>
      <vt:lpstr>PowerPoint Presentation</vt:lpstr>
      <vt:lpstr>PowerPoint Presentation</vt:lpstr>
      <vt:lpstr>Communication to I/O Devices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Programmed I/O Mode Input Data Transfer</vt:lpstr>
      <vt:lpstr>Programmed I/O Mode Input Data Transfer</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Disk hardware </vt:lpstr>
      <vt:lpstr>RAID (redundant array of independent disks) </vt:lpstr>
      <vt:lpstr>Disk hardware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Nabaraj</dc:creator>
  <cp:lastModifiedBy>Arjun Gautam</cp:lastModifiedBy>
  <cp:revision>3591</cp:revision>
  <dcterms:modified xsi:type="dcterms:W3CDTF">2025-08-21T07:57:49Z</dcterms:modified>
</cp:coreProperties>
</file>