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23"/>
  </p:notesMasterIdLst>
  <p:sldIdLst>
    <p:sldId id="408" r:id="rId2"/>
    <p:sldId id="460" r:id="rId3"/>
    <p:sldId id="467" r:id="rId4"/>
    <p:sldId id="468" r:id="rId5"/>
    <p:sldId id="463" r:id="rId6"/>
    <p:sldId id="464" r:id="rId7"/>
    <p:sldId id="465" r:id="rId8"/>
    <p:sldId id="466" r:id="rId9"/>
    <p:sldId id="469" r:id="rId10"/>
    <p:sldId id="471" r:id="rId11"/>
    <p:sldId id="472" r:id="rId12"/>
    <p:sldId id="473" r:id="rId13"/>
    <p:sldId id="339" r:id="rId14"/>
    <p:sldId id="458" r:id="rId15"/>
    <p:sldId id="340" r:id="rId16"/>
    <p:sldId id="457" r:id="rId17"/>
    <p:sldId id="346" r:id="rId18"/>
    <p:sldId id="350" r:id="rId19"/>
    <p:sldId id="351" r:id="rId20"/>
    <p:sldId id="353" r:id="rId21"/>
    <p:sldId id="354" r:id="rId22"/>
  </p:sldIdLst>
  <p:sldSz cx="9144000" cy="6858000" type="screen4x3"/>
  <p:notesSz cx="6858000" cy="9144000"/>
  <p:embeddedFontLst>
    <p:embeddedFont>
      <p:font typeface="Helvetica" panose="020B0604020202020204" pitchFamily="34" charset="0"/>
      <p:regular r:id="rId24"/>
      <p:bold r:id="rId25"/>
      <p:italic r:id="rId26"/>
      <p:boldItalic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79" autoAdjust="0"/>
    <p:restoredTop sz="94660"/>
  </p:normalViewPr>
  <p:slideViewPr>
    <p:cSldViewPr snapToGrid="0">
      <p:cViewPr varScale="1">
        <p:scale>
          <a:sx n="78" d="100"/>
          <a:sy n="78" d="100"/>
        </p:scale>
        <p:origin x="1632" y="6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a:p>
        </p:txBody>
      </p:sp>
    </p:spTree>
    <p:extLst>
      <p:ext uri="{BB962C8B-B14F-4D97-AF65-F5344CB8AC3E}">
        <p14:creationId xmlns:p14="http://schemas.microsoft.com/office/powerpoint/2010/main" val="40309001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F6E16FBC-3CD9-4DE5-8948-8170E07DDF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ED80DF-1F42-4316-A17A-AA783EE83356}" type="slidenum">
              <a:rPr lang="en-US" altLang="en-US" sz="1300">
                <a:latin typeface="Helvetica" panose="020B0604020202020204" pitchFamily="34" charset="0"/>
              </a:rPr>
              <a:pPr/>
              <a:t>13</a:t>
            </a:fld>
            <a:endParaRPr lang="en-US" altLang="en-US" sz="1300">
              <a:latin typeface="Helvetica" panose="020B0604020202020204" pitchFamily="34" charset="0"/>
            </a:endParaRPr>
          </a:p>
        </p:txBody>
      </p:sp>
      <p:sp>
        <p:nvSpPr>
          <p:cNvPr id="68611" name="Rectangle 2">
            <a:extLst>
              <a:ext uri="{FF2B5EF4-FFF2-40B4-BE49-F238E27FC236}">
                <a16:creationId xmlns:a16="http://schemas.microsoft.com/office/drawing/2014/main" id="{E9F6A5AE-ACF3-43EC-8AEE-9BB032042838}"/>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C318A5BA-19C9-43C7-ADF5-3F48BB307B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76173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9FF922B6-E930-4C67-96F7-CF1E674467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5408F67-C48F-42B8-BD54-DF9802510215}" type="slidenum">
              <a:rPr lang="en-US" altLang="en-US" sz="1300">
                <a:latin typeface="Helvetica" panose="020B0604020202020204" pitchFamily="34" charset="0"/>
              </a:rPr>
              <a:pPr/>
              <a:t>17</a:t>
            </a:fld>
            <a:endParaRPr lang="en-US" altLang="en-US" sz="1300">
              <a:latin typeface="Helvetica" panose="020B0604020202020204" pitchFamily="34" charset="0"/>
            </a:endParaRPr>
          </a:p>
        </p:txBody>
      </p:sp>
      <p:sp>
        <p:nvSpPr>
          <p:cNvPr id="73731" name="Rectangle 2">
            <a:extLst>
              <a:ext uri="{FF2B5EF4-FFF2-40B4-BE49-F238E27FC236}">
                <a16:creationId xmlns:a16="http://schemas.microsoft.com/office/drawing/2014/main" id="{245E4D24-A321-47DC-BEE8-5DF0C7889AA0}"/>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2A484B63-B28A-413F-9C89-1C99B978A3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79052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7269B8EE-D066-43B4-99C1-6655E213E8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9C46549-C1EB-47ED-829A-13A77823D6AC}" type="slidenum">
              <a:rPr lang="en-US" altLang="en-US" sz="1300">
                <a:latin typeface="Helvetica" panose="020B0604020202020204" pitchFamily="34" charset="0"/>
              </a:rPr>
              <a:pPr/>
              <a:t>18</a:t>
            </a:fld>
            <a:endParaRPr lang="en-US" altLang="en-US" sz="1300">
              <a:latin typeface="Helvetica" panose="020B0604020202020204" pitchFamily="34" charset="0"/>
            </a:endParaRPr>
          </a:p>
        </p:txBody>
      </p:sp>
      <p:sp>
        <p:nvSpPr>
          <p:cNvPr id="76803" name="Rectangle 2">
            <a:extLst>
              <a:ext uri="{FF2B5EF4-FFF2-40B4-BE49-F238E27FC236}">
                <a16:creationId xmlns:a16="http://schemas.microsoft.com/office/drawing/2014/main" id="{B78B8A7C-CB83-436A-A16A-D9722E6593BE}"/>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730427EA-96A6-4787-8171-39280DA7DF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579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1C1B504E-6EA0-4A32-B064-E77A5BDE01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274B27A-BAE6-4348-95C1-755101ED6A30}" type="slidenum">
              <a:rPr lang="en-US" altLang="en-US" sz="1300">
                <a:latin typeface="Helvetica" panose="020B0604020202020204" pitchFamily="34" charset="0"/>
              </a:rPr>
              <a:pPr/>
              <a:t>19</a:t>
            </a:fld>
            <a:endParaRPr lang="en-US" altLang="en-US" sz="1300">
              <a:latin typeface="Helvetica" panose="020B0604020202020204" pitchFamily="34" charset="0"/>
            </a:endParaRPr>
          </a:p>
        </p:txBody>
      </p:sp>
      <p:sp>
        <p:nvSpPr>
          <p:cNvPr id="77827" name="Rectangle 2">
            <a:extLst>
              <a:ext uri="{FF2B5EF4-FFF2-40B4-BE49-F238E27FC236}">
                <a16:creationId xmlns:a16="http://schemas.microsoft.com/office/drawing/2014/main" id="{4D401F89-86FE-4FD5-B215-5AB358A016EF}"/>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D5B94988-0B0B-4F82-BE40-793E4D5333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68707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1265541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15022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6114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1989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86103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7761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456696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15580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166941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42787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5402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solidFill>
                <a:srgbClr val="000000"/>
              </a:solidFill>
            </a:endParaRPr>
          </a:p>
        </p:txBody>
      </p:sp>
    </p:spTree>
    <p:extLst>
      <p:ext uri="{BB962C8B-B14F-4D97-AF65-F5344CB8AC3E}">
        <p14:creationId xmlns:p14="http://schemas.microsoft.com/office/powerpoint/2010/main" val="63921885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C7EE85-5F60-41AB-BE21-CDF96E78BD6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a:t>
            </a:fld>
            <a:endParaRPr lang="en-US">
              <a:solidFill>
                <a:srgbClr val="000000"/>
              </a:solidFill>
            </a:endParaRPr>
          </a:p>
        </p:txBody>
      </p:sp>
      <p:sp>
        <p:nvSpPr>
          <p:cNvPr id="4" name="TextBox 3">
            <a:extLst>
              <a:ext uri="{FF2B5EF4-FFF2-40B4-BE49-F238E27FC236}">
                <a16:creationId xmlns:a16="http://schemas.microsoft.com/office/drawing/2014/main" id="{C9A5335A-45AA-4A1D-8E61-13B376BD6502}"/>
              </a:ext>
            </a:extLst>
          </p:cNvPr>
          <p:cNvSpPr txBox="1"/>
          <p:nvPr/>
        </p:nvSpPr>
        <p:spPr>
          <a:xfrm>
            <a:off x="2286000" y="3240817"/>
            <a:ext cx="4572000" cy="461665"/>
          </a:xfrm>
          <a:prstGeom prst="rect">
            <a:avLst/>
          </a:prstGeom>
          <a:noFill/>
        </p:spPr>
        <p:txBody>
          <a:bodyPr wrap="square">
            <a:spAutoFit/>
          </a:bodyPr>
          <a:lstStyle/>
          <a:p>
            <a:pPr algn="ct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Security  Management</a:t>
            </a: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7815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B1B1A2-C7F1-43A8-A872-147E1EEB84C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a:t>
            </a:fld>
            <a:endParaRPr lang="en-US">
              <a:solidFill>
                <a:srgbClr val="000000"/>
              </a:solidFill>
            </a:endParaRPr>
          </a:p>
        </p:txBody>
      </p:sp>
      <p:sp>
        <p:nvSpPr>
          <p:cNvPr id="4" name="TextBox 3">
            <a:extLst>
              <a:ext uri="{FF2B5EF4-FFF2-40B4-BE49-F238E27FC236}">
                <a16:creationId xmlns:a16="http://schemas.microsoft.com/office/drawing/2014/main" id="{79A9F296-2B57-41C5-8167-1BA4FA99C3AE}"/>
              </a:ext>
            </a:extLst>
          </p:cNvPr>
          <p:cNvSpPr txBox="1"/>
          <p:nvPr/>
        </p:nvSpPr>
        <p:spPr>
          <a:xfrm>
            <a:off x="787791" y="1167618"/>
            <a:ext cx="7863840" cy="465364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 </a:t>
            </a:r>
            <a:r>
              <a:rPr lang="en-US" sz="2000" b="1" i="0" dirty="0">
                <a:effectLst/>
                <a:latin typeface="Times New Roman" panose="02020603050405020304" pitchFamily="18" charset="0"/>
                <a:cs typeface="Times New Roman" panose="02020603050405020304" pitchFamily="18" charset="0"/>
              </a:rPr>
              <a:t>security management</a:t>
            </a:r>
            <a:r>
              <a:rPr lang="en-US" sz="2000" b="0" i="0" dirty="0">
                <a:effectLst/>
                <a:latin typeface="Times New Roman" panose="02020603050405020304" pitchFamily="18" charset="0"/>
                <a:cs typeface="Times New Roman" panose="02020603050405020304" pitchFamily="18" charset="0"/>
              </a:rPr>
              <a:t> function of an </a:t>
            </a:r>
            <a:r>
              <a:rPr lang="en-US" sz="2000" b="1" i="0" dirty="0">
                <a:effectLst/>
                <a:latin typeface="Times New Roman" panose="02020603050405020304" pitchFamily="18" charset="0"/>
                <a:cs typeface="Times New Roman" panose="02020603050405020304" pitchFamily="18" charset="0"/>
              </a:rPr>
              <a:t>operating system</a:t>
            </a:r>
            <a:r>
              <a:rPr lang="en-US" sz="2000" b="0" i="0" dirty="0">
                <a:effectLst/>
                <a:latin typeface="Times New Roman" panose="02020603050405020304" pitchFamily="18" charset="0"/>
                <a:cs typeface="Times New Roman" panose="02020603050405020304" pitchFamily="18" charset="0"/>
              </a:rPr>
              <a:t> helps in implementing mechanisms that </a:t>
            </a:r>
            <a:r>
              <a:rPr lang="en-US" sz="2000" b="1" i="0" dirty="0">
                <a:effectLst/>
                <a:latin typeface="Times New Roman" panose="02020603050405020304" pitchFamily="18" charset="0"/>
                <a:cs typeface="Times New Roman" panose="02020603050405020304" pitchFamily="18" charset="0"/>
              </a:rPr>
              <a:t>secure</a:t>
            </a:r>
            <a:r>
              <a:rPr lang="en-US" sz="2000" b="0" i="0" dirty="0">
                <a:effectLst/>
                <a:latin typeface="Times New Roman" panose="02020603050405020304" pitchFamily="18" charset="0"/>
                <a:cs typeface="Times New Roman" panose="02020603050405020304" pitchFamily="18" charset="0"/>
              </a:rPr>
              <a:t> and protect the computer </a:t>
            </a:r>
            <a:r>
              <a:rPr lang="en-US" sz="2000" b="1" i="0" dirty="0">
                <a:effectLst/>
                <a:latin typeface="Times New Roman" panose="02020603050405020304" pitchFamily="18" charset="0"/>
                <a:cs typeface="Times New Roman" panose="02020603050405020304" pitchFamily="18" charset="0"/>
              </a:rPr>
              <a:t>system</a:t>
            </a:r>
            <a:r>
              <a:rPr lang="en-US" sz="2000" b="0" i="0" dirty="0">
                <a:effectLst/>
                <a:latin typeface="Times New Roman" panose="02020603050405020304" pitchFamily="18" charset="0"/>
                <a:cs typeface="Times New Roman" panose="02020603050405020304" pitchFamily="18" charset="0"/>
              </a:rPr>
              <a:t> internally as well as externally. </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Security refers to providing a protection system to computer system resources such as CPU, memory, disk, software programs  and most importantly data/information stored in the computer system. </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a computer program is run by unauthorized user then he/she may cause severe damage to computer or data stored in it.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 a computer system must be protected against unauthorized access, malicious access to system memory, viruses, worms etc.</a:t>
            </a:r>
          </a:p>
        </p:txBody>
      </p:sp>
      <p:sp>
        <p:nvSpPr>
          <p:cNvPr id="6" name="TextBox 5">
            <a:extLst>
              <a:ext uri="{FF2B5EF4-FFF2-40B4-BE49-F238E27FC236}">
                <a16:creationId xmlns:a16="http://schemas.microsoft.com/office/drawing/2014/main" id="{9B42A549-3B77-4BD1-92A7-3A4C9B35F8E8}"/>
              </a:ext>
            </a:extLst>
          </p:cNvPr>
          <p:cNvSpPr txBox="1"/>
          <p:nvPr/>
        </p:nvSpPr>
        <p:spPr>
          <a:xfrm>
            <a:off x="0" y="377952"/>
            <a:ext cx="9144000" cy="579967"/>
          </a:xfrm>
          <a:prstGeom prst="rect">
            <a:avLst/>
          </a:prstGeom>
          <a:noFill/>
        </p:spPr>
        <p:txBody>
          <a:bodyPr wrap="square">
            <a:spAutoFit/>
          </a:bodyPr>
          <a:lstStyle/>
          <a:p>
            <a:pPr algn="ctr">
              <a:lnSpc>
                <a:spcPct val="150000"/>
              </a:lnSpc>
            </a:pPr>
            <a:r>
              <a:rPr lang="en-US" sz="2400" b="1" i="0" dirty="0">
                <a:solidFill>
                  <a:srgbClr val="202124"/>
                </a:solidFill>
                <a:effectLst/>
                <a:latin typeface="Times New Roman" panose="02020603050405020304" pitchFamily="18" charset="0"/>
                <a:cs typeface="Times New Roman" panose="02020603050405020304" pitchFamily="18" charset="0"/>
              </a:rPr>
              <a:t>Security Management</a:t>
            </a:r>
            <a:r>
              <a:rPr lang="en-US" sz="2400" b="0" i="0" dirty="0">
                <a:solidFill>
                  <a:srgbClr val="202124"/>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451735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085103-D372-4442-8C1A-37930108605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a:t>
            </a:fld>
            <a:endParaRPr lang="en-US">
              <a:solidFill>
                <a:srgbClr val="000000"/>
              </a:solidFill>
            </a:endParaRPr>
          </a:p>
        </p:txBody>
      </p:sp>
      <p:sp>
        <p:nvSpPr>
          <p:cNvPr id="6" name="TextBox 5">
            <a:extLst>
              <a:ext uri="{FF2B5EF4-FFF2-40B4-BE49-F238E27FC236}">
                <a16:creationId xmlns:a16="http://schemas.microsoft.com/office/drawing/2014/main" id="{55B773C2-ADCA-4169-9730-62B09BB3F853}"/>
              </a:ext>
            </a:extLst>
          </p:cNvPr>
          <p:cNvSpPr txBox="1"/>
          <p:nvPr/>
        </p:nvSpPr>
        <p:spPr>
          <a:xfrm>
            <a:off x="379827" y="723891"/>
            <a:ext cx="8525021" cy="617996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900" b="0" u="none" strike="noStrike" baseline="0" dirty="0">
                <a:latin typeface="Times New Roman" panose="02020603050405020304" pitchFamily="18" charset="0"/>
              </a:rPr>
              <a:t>The operating system can allow users to protect their resources. We say that a system is secure if its resources art used and accessed as intended under all circumstances.</a:t>
            </a:r>
          </a:p>
          <a:p>
            <a:pPr marL="285750" indent="-285750" algn="just">
              <a:lnSpc>
                <a:spcPct val="150000"/>
              </a:lnSpc>
              <a:buFont typeface="Arial" panose="020B0604020202020204" pitchFamily="34" charset="0"/>
              <a:buChar char="•"/>
            </a:pPr>
            <a:r>
              <a:rPr lang="en-US" sz="1900" b="0" u="none" strike="noStrike" baseline="0" dirty="0">
                <a:latin typeface="Times New Roman" panose="02020603050405020304" pitchFamily="18" charset="0"/>
              </a:rPr>
              <a:t>Unfortunately, it is not generally possible to achieve total security. </a:t>
            </a:r>
          </a:p>
          <a:p>
            <a:pPr marL="285750" indent="-285750" algn="just">
              <a:lnSpc>
                <a:spcPct val="150000"/>
              </a:lnSpc>
              <a:buFont typeface="Arial" panose="020B0604020202020204" pitchFamily="34" charset="0"/>
              <a:buChar char="•"/>
            </a:pPr>
            <a:r>
              <a:rPr lang="en-US" sz="1900" b="0" u="none" strike="noStrike" baseline="0" dirty="0">
                <a:latin typeface="Times New Roman" panose="02020603050405020304" pitchFamily="18" charset="0"/>
              </a:rPr>
              <a:t>Security violations of the system can be categorized as being either intentional (malicious) or accidental. </a:t>
            </a:r>
            <a:endParaRPr lang="en-US" sz="1900" b="1" u="none" strike="noStrike" baseline="0" dirty="0">
              <a:latin typeface="Times New Roman" panose="02020603050405020304" pitchFamily="18" charset="0"/>
              <a:cs typeface="Times New Roman" panose="02020603050405020304" pitchFamily="18" charset="0"/>
            </a:endParaRPr>
          </a:p>
          <a:p>
            <a:pPr algn="just">
              <a:lnSpc>
                <a:spcPct val="150000"/>
              </a:lnSpc>
            </a:pPr>
            <a:r>
              <a:rPr lang="en-US" sz="1900" b="1" u="none" strike="noStrike" baseline="0" dirty="0">
                <a:latin typeface="Times New Roman" panose="02020603050405020304" pitchFamily="18" charset="0"/>
              </a:rPr>
              <a:t>Common types of violations</a:t>
            </a:r>
            <a:endParaRPr lang="en-US" sz="1900" b="1" u="none" strike="noStrike" baseline="0" dirty="0">
              <a:latin typeface="Times New Roman" panose="02020603050405020304" pitchFamily="18" charset="0"/>
              <a:cs typeface="Times New Roman" panose="02020603050405020304" pitchFamily="18" charset="0"/>
            </a:endParaRPr>
          </a:p>
          <a:p>
            <a:pPr algn="just">
              <a:lnSpc>
                <a:spcPct val="150000"/>
              </a:lnSpc>
            </a:pPr>
            <a:r>
              <a:rPr lang="en-US" sz="1900" b="1" u="none" strike="noStrike" baseline="0" dirty="0">
                <a:latin typeface="Times New Roman" panose="02020603050405020304" pitchFamily="18" charset="0"/>
                <a:cs typeface="Times New Roman" panose="02020603050405020304" pitchFamily="18" charset="0"/>
              </a:rPr>
              <a:t>Breach of </a:t>
            </a:r>
            <a:r>
              <a:rPr lang="en-US" sz="1900" b="1" dirty="0">
                <a:latin typeface="Times New Roman" panose="02020603050405020304" pitchFamily="18" charset="0"/>
                <a:cs typeface="Times New Roman" panose="02020603050405020304" pitchFamily="18" charset="0"/>
              </a:rPr>
              <a:t>C</a:t>
            </a:r>
            <a:r>
              <a:rPr lang="en-US" sz="1900" b="1" u="none" strike="noStrike" baseline="0" dirty="0">
                <a:latin typeface="Times New Roman" panose="02020603050405020304" pitchFamily="18" charset="0"/>
                <a:cs typeface="Times New Roman" panose="02020603050405020304" pitchFamily="18" charset="0"/>
              </a:rPr>
              <a:t>onfidentiality: </a:t>
            </a:r>
            <a:r>
              <a:rPr lang="en-US" sz="1900" b="0" u="none" strike="noStrike" baseline="0" dirty="0">
                <a:latin typeface="Times New Roman" panose="02020603050405020304" pitchFamily="18" charset="0"/>
              </a:rPr>
              <a:t>Theft of private or confidential information, such as credit-card numbers, trade secrets, patents, secret formulas, manufacturing procedures, medical information, financial information, etc. </a:t>
            </a:r>
            <a:endParaRPr lang="en-US" sz="1900" b="1" u="none" strike="noStrike" baseline="0" dirty="0">
              <a:latin typeface="Times New Roman" panose="02020603050405020304" pitchFamily="18" charset="0"/>
              <a:cs typeface="Times New Roman" panose="02020603050405020304" pitchFamily="18" charset="0"/>
            </a:endParaRPr>
          </a:p>
          <a:p>
            <a:pPr algn="just">
              <a:lnSpc>
                <a:spcPct val="150000"/>
              </a:lnSpc>
            </a:pPr>
            <a:r>
              <a:rPr lang="en-US" sz="1900" b="1" u="none" strike="noStrike" baseline="0" dirty="0">
                <a:latin typeface="Times New Roman" panose="02020603050405020304" pitchFamily="18" charset="0"/>
                <a:cs typeface="Times New Roman" panose="02020603050405020304" pitchFamily="18" charset="0"/>
              </a:rPr>
              <a:t>Breach of </a:t>
            </a:r>
            <a:r>
              <a:rPr lang="en-US" sz="1900" b="1" dirty="0">
                <a:latin typeface="Times New Roman" panose="02020603050405020304" pitchFamily="18" charset="0"/>
                <a:cs typeface="Times New Roman" panose="02020603050405020304" pitchFamily="18" charset="0"/>
              </a:rPr>
              <a:t>I</a:t>
            </a:r>
            <a:r>
              <a:rPr lang="en-US" sz="1900" b="1" u="none" strike="noStrike" baseline="0" dirty="0">
                <a:latin typeface="Times New Roman" panose="02020603050405020304" pitchFamily="18" charset="0"/>
                <a:cs typeface="Times New Roman" panose="02020603050405020304" pitchFamily="18" charset="0"/>
              </a:rPr>
              <a:t>ntegrity: </a:t>
            </a:r>
            <a:r>
              <a:rPr lang="en-US" sz="1900" b="0" u="none" strike="noStrike" baseline="0" dirty="0">
                <a:latin typeface="Times New Roman" panose="02020603050405020304" pitchFamily="18" charset="0"/>
              </a:rPr>
              <a:t>Unauthorized </a:t>
            </a:r>
            <a:r>
              <a:rPr lang="en-US" sz="1900" b="1" u="none" strike="noStrike" baseline="0" dirty="0">
                <a:latin typeface="Times New Roman" panose="02020603050405020304" pitchFamily="18" charset="0"/>
              </a:rPr>
              <a:t>modification </a:t>
            </a:r>
            <a:r>
              <a:rPr lang="en-US" sz="1900" b="0" u="none" strike="noStrike" baseline="0" dirty="0">
                <a:latin typeface="Times New Roman" panose="02020603050405020304" pitchFamily="18" charset="0"/>
              </a:rPr>
              <a:t>of data, which may have serious indirect consequences. For example a popular game or other program's source code could be modified to open up security holes on users systems before being released to the public. </a:t>
            </a:r>
            <a:endParaRPr lang="en-US" sz="1900" b="1" u="none" strike="noStrike" baseline="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8D40746-84F6-4C3E-B6C7-552CFEA6B4A7}"/>
              </a:ext>
            </a:extLst>
          </p:cNvPr>
          <p:cNvSpPr txBox="1"/>
          <p:nvPr/>
        </p:nvSpPr>
        <p:spPr>
          <a:xfrm>
            <a:off x="239151" y="262226"/>
            <a:ext cx="5999871" cy="461665"/>
          </a:xfrm>
          <a:prstGeom prst="rect">
            <a:avLst/>
          </a:prstGeom>
          <a:noFill/>
        </p:spPr>
        <p:txBody>
          <a:bodyPr wrap="square">
            <a:spAutoFit/>
          </a:bodyPr>
          <a:lstStyle/>
          <a:p>
            <a:r>
              <a:rPr lang="en-US" sz="2400" b="1" i="0" u="none" strike="noStrike" baseline="0" dirty="0">
                <a:solidFill>
                  <a:srgbClr val="000000"/>
                </a:solidFill>
                <a:latin typeface="Times New Roman" panose="02020603050405020304" pitchFamily="18" charset="0"/>
              </a:rPr>
              <a:t>Security Problem </a:t>
            </a:r>
            <a:endParaRPr lang="en-US" sz="2400" b="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292316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22E32F-2AC8-4CBB-8564-7709C365091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a:t>
            </a:fld>
            <a:endParaRPr lang="en-US">
              <a:solidFill>
                <a:srgbClr val="000000"/>
              </a:solidFill>
            </a:endParaRPr>
          </a:p>
        </p:txBody>
      </p:sp>
      <p:sp>
        <p:nvSpPr>
          <p:cNvPr id="4" name="TextBox 3">
            <a:extLst>
              <a:ext uri="{FF2B5EF4-FFF2-40B4-BE49-F238E27FC236}">
                <a16:creationId xmlns:a16="http://schemas.microsoft.com/office/drawing/2014/main" id="{01018AF5-4503-4907-95E0-4AD4F571F001}"/>
              </a:ext>
            </a:extLst>
          </p:cNvPr>
          <p:cNvSpPr txBox="1"/>
          <p:nvPr/>
        </p:nvSpPr>
        <p:spPr>
          <a:xfrm>
            <a:off x="211014" y="164659"/>
            <a:ext cx="8693835" cy="650030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1" u="none" strike="noStrike" baseline="0" dirty="0">
                <a:latin typeface="Times New Roman" panose="02020603050405020304" pitchFamily="18" charset="0"/>
                <a:cs typeface="Times New Roman" panose="02020603050405020304" pitchFamily="18" charset="0"/>
              </a:rPr>
              <a:t>Breach of </a:t>
            </a:r>
            <a:r>
              <a:rPr lang="en-US" sz="2000" b="1" dirty="0">
                <a:latin typeface="Times New Roman" panose="02020603050405020304" pitchFamily="18" charset="0"/>
                <a:cs typeface="Times New Roman" panose="02020603050405020304" pitchFamily="18" charset="0"/>
              </a:rPr>
              <a:t>A</a:t>
            </a:r>
            <a:r>
              <a:rPr lang="en-US" sz="2000" b="1" u="none" strike="noStrike" baseline="0" dirty="0">
                <a:latin typeface="Times New Roman" panose="02020603050405020304" pitchFamily="18" charset="0"/>
                <a:cs typeface="Times New Roman" panose="02020603050405020304" pitchFamily="18" charset="0"/>
              </a:rPr>
              <a:t>vailability: </a:t>
            </a:r>
            <a:r>
              <a:rPr lang="en-US" sz="2000" b="0" u="none" strike="noStrike" baseline="0" dirty="0">
                <a:latin typeface="Times New Roman" panose="02020603050405020304" pitchFamily="18" charset="0"/>
              </a:rPr>
              <a:t>Unauthorized </a:t>
            </a:r>
            <a:r>
              <a:rPr lang="en-US" sz="2000" b="1" u="none" strike="noStrike" baseline="0" dirty="0">
                <a:latin typeface="Times New Roman" panose="02020603050405020304" pitchFamily="18" charset="0"/>
              </a:rPr>
              <a:t>destruction </a:t>
            </a:r>
            <a:r>
              <a:rPr lang="en-US" sz="2000" b="0" u="none" strike="noStrike" baseline="0" dirty="0">
                <a:latin typeface="Times New Roman" panose="02020603050405020304" pitchFamily="18" charset="0"/>
              </a:rPr>
              <a:t>of data, often just for the "fun" of causing havoc and for bragging rites. Vandalism of web sites is a common form of this violation. </a:t>
            </a:r>
            <a:endParaRPr lang="en-US" sz="2000" b="1" u="none" strike="noStrike" baseline="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b="1" u="none" strike="noStrike" baseline="0" dirty="0">
                <a:latin typeface="Times New Roman" panose="02020603050405020304" pitchFamily="18" charset="0"/>
                <a:cs typeface="Times New Roman" panose="02020603050405020304" pitchFamily="18" charset="0"/>
              </a:rPr>
              <a:t>Theft of Service: </a:t>
            </a:r>
            <a:r>
              <a:rPr lang="en-US" sz="2000" b="0" u="none" strike="noStrike" baseline="0" dirty="0">
                <a:latin typeface="Times New Roman" panose="02020603050405020304" pitchFamily="18" charset="0"/>
              </a:rPr>
              <a:t>Unauthorized use of resources, such as theft of CPU cycles, installation of daemons running an unauthorized file server, or tapping into the target's telephone or networking services. </a:t>
            </a:r>
            <a:endParaRPr lang="en-US" sz="2000" b="1" u="none" strike="noStrike" baseline="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b="1" u="none" strike="noStrike" baseline="0" dirty="0">
                <a:latin typeface="Times New Roman" panose="02020603050405020304" pitchFamily="18" charset="0"/>
                <a:cs typeface="Times New Roman" panose="02020603050405020304" pitchFamily="18" charset="0"/>
              </a:rPr>
              <a:t>Denial of Service: </a:t>
            </a:r>
            <a:r>
              <a:rPr lang="en-US" sz="2000" b="0" u="none" strike="noStrike" baseline="0" dirty="0">
                <a:latin typeface="Times New Roman" panose="02020603050405020304" pitchFamily="18" charset="0"/>
              </a:rPr>
              <a:t>Preventing legitimate users from using the system, often by overloading and overwhelming the system with an excess of requests for service. </a:t>
            </a:r>
            <a:endParaRPr lang="en-US" sz="2000" dirty="0">
              <a:latin typeface="Times New Roman" panose="02020603050405020304" pitchFamily="18" charset="0"/>
            </a:endParaRPr>
          </a:p>
          <a:p>
            <a:pPr marL="285750" indent="-285750" algn="just">
              <a:lnSpc>
                <a:spcPct val="150000"/>
              </a:lnSpc>
              <a:buFont typeface="Arial" panose="020B0604020202020204" pitchFamily="34" charset="0"/>
              <a:buChar char="•"/>
            </a:pPr>
            <a:r>
              <a:rPr lang="en-US" sz="2000" b="0" dirty="0">
                <a:effectLst/>
                <a:latin typeface="Times New Roman" panose="02020603050405020304" pitchFamily="18" charset="0"/>
              </a:rPr>
              <a:t>One common attack is </a:t>
            </a:r>
            <a:r>
              <a:rPr lang="en-US" sz="2000" b="1" dirty="0">
                <a:effectLst/>
                <a:latin typeface="Times New Roman" panose="02020603050405020304" pitchFamily="18" charset="0"/>
              </a:rPr>
              <a:t>masquerading, </a:t>
            </a:r>
            <a:r>
              <a:rPr lang="en-US" sz="2000" b="0" dirty="0">
                <a:effectLst/>
                <a:latin typeface="Times New Roman" panose="02020603050405020304" pitchFamily="18" charset="0"/>
              </a:rPr>
              <a:t>in which the attacker pretends to be a trusted third party. A variation of this is the </a:t>
            </a:r>
            <a:r>
              <a:rPr lang="en-US" sz="2000" b="1" dirty="0">
                <a:effectLst/>
                <a:latin typeface="Times New Roman" panose="02020603050405020304" pitchFamily="18" charset="0"/>
              </a:rPr>
              <a:t>man-in-the-middle, </a:t>
            </a:r>
            <a:r>
              <a:rPr lang="en-US" sz="2000" b="0" dirty="0">
                <a:effectLst/>
                <a:latin typeface="Times New Roman" panose="02020603050405020304" pitchFamily="18" charset="0"/>
              </a:rPr>
              <a:t>in which the attacker masquerades as both ends of the conversation to two targets.</a:t>
            </a:r>
          </a:p>
          <a:p>
            <a:pPr marL="285750" indent="-285750" algn="just">
              <a:lnSpc>
                <a:spcPct val="150000"/>
              </a:lnSpc>
              <a:buFont typeface="Arial" panose="020B0604020202020204" pitchFamily="34" charset="0"/>
              <a:buChar char="•"/>
            </a:pPr>
            <a:r>
              <a:rPr lang="en-US" sz="2000" b="0" dirty="0">
                <a:effectLst/>
                <a:latin typeface="Times New Roman" panose="02020603050405020304" pitchFamily="18" charset="0"/>
              </a:rPr>
              <a:t>A </a:t>
            </a:r>
            <a:r>
              <a:rPr lang="en-US" sz="2000" b="1" dirty="0">
                <a:effectLst/>
                <a:latin typeface="Times New Roman" panose="02020603050405020304" pitchFamily="18" charset="0"/>
              </a:rPr>
              <a:t>replay attack</a:t>
            </a:r>
            <a:r>
              <a:rPr lang="en-US" sz="2000" b="0" dirty="0">
                <a:effectLst/>
                <a:latin typeface="Times New Roman" panose="02020603050405020304" pitchFamily="18" charset="0"/>
              </a:rPr>
              <a:t> involves repeating a valid transmission. Sometimes this can be the entire attack, ( such as repeating a request for a money transfer ), or other times the content of the original message is replaced with malicious content.</a:t>
            </a:r>
          </a:p>
        </p:txBody>
      </p:sp>
    </p:spTree>
    <p:extLst>
      <p:ext uri="{BB962C8B-B14F-4D97-AF65-F5344CB8AC3E}">
        <p14:creationId xmlns:p14="http://schemas.microsoft.com/office/powerpoint/2010/main" val="2964883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6EB252-55EF-4FFE-A60F-7CB9C572911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5</a:t>
            </a:fld>
            <a:endParaRPr lang="en-US">
              <a:solidFill>
                <a:srgbClr val="000000"/>
              </a:solidFill>
            </a:endParaRPr>
          </a:p>
        </p:txBody>
      </p:sp>
      <p:sp>
        <p:nvSpPr>
          <p:cNvPr id="4" name="TextBox 3">
            <a:extLst>
              <a:ext uri="{FF2B5EF4-FFF2-40B4-BE49-F238E27FC236}">
                <a16:creationId xmlns:a16="http://schemas.microsoft.com/office/drawing/2014/main" id="{1E103FBF-B90B-4123-AFB4-E1D392FCE388}"/>
              </a:ext>
            </a:extLst>
          </p:cNvPr>
          <p:cNvSpPr txBox="1"/>
          <p:nvPr/>
        </p:nvSpPr>
        <p:spPr>
          <a:xfrm>
            <a:off x="323557" y="998805"/>
            <a:ext cx="8426548" cy="557697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A major security problem for operating systems is the authentication problem. The protection system depends on an ability to identify the programs and processes that are executing. </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Authentication is based on one or more of three items: </a:t>
            </a:r>
          </a:p>
          <a:p>
            <a:pPr marL="742950" lvl="1"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user possession (a key or card), </a:t>
            </a:r>
          </a:p>
          <a:p>
            <a:pPr marL="742950" lvl="1"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user knowledge (a user identifier and password),</a:t>
            </a:r>
          </a:p>
          <a:p>
            <a:pPr marL="742950" lvl="1"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user attribute (fingerprint) retina pattern, or signature). </a:t>
            </a:r>
          </a:p>
          <a:p>
            <a:pPr algn="just">
              <a:lnSpc>
                <a:spcPct val="150000"/>
              </a:lnSpc>
            </a:pPr>
            <a:r>
              <a:rPr lang="en-US" sz="2000" b="1" i="0" dirty="0">
                <a:effectLst/>
                <a:latin typeface="Times New Roman" panose="02020603050405020304" pitchFamily="18" charset="0"/>
                <a:cs typeface="Times New Roman" panose="02020603050405020304" pitchFamily="18" charset="0"/>
              </a:rPr>
              <a:t>Password</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A password is a word or string of characters used for user authentication to prove identity or access approval to gain access to a resource (example: an access code is a type of password), which should be kept secret from those not allowed access.</a:t>
            </a:r>
            <a:endParaRPr lang="en-US"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B4A1A80-4F46-4361-AB5A-D4CE5F5002A4}"/>
              </a:ext>
            </a:extLst>
          </p:cNvPr>
          <p:cNvSpPr txBox="1"/>
          <p:nvPr/>
        </p:nvSpPr>
        <p:spPr>
          <a:xfrm>
            <a:off x="0" y="427279"/>
            <a:ext cx="9143999" cy="461665"/>
          </a:xfrm>
          <a:prstGeom prst="rect">
            <a:avLst/>
          </a:prstGeom>
          <a:noFill/>
        </p:spPr>
        <p:txBody>
          <a:bodyPr wrap="square">
            <a:spAutoFit/>
          </a:bodyPr>
          <a:lstStyle/>
          <a:p>
            <a:pPr algn="ctr"/>
            <a:r>
              <a:rPr lang="en-US" sz="2400" b="1" i="0" u="none" strike="noStrike" baseline="0" dirty="0">
                <a:solidFill>
                  <a:srgbClr val="000000"/>
                </a:solidFill>
                <a:latin typeface="Times New Roman" panose="02020603050405020304" pitchFamily="18" charset="0"/>
              </a:rPr>
              <a:t>Authentication </a:t>
            </a:r>
            <a:endParaRPr lang="en-US" sz="2400" b="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196552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1F7A22-EB5F-4B2F-AD42-AAA7BD9BB3F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6</a:t>
            </a:fld>
            <a:endParaRPr lang="en-US">
              <a:solidFill>
                <a:srgbClr val="000000"/>
              </a:solidFill>
            </a:endParaRPr>
          </a:p>
        </p:txBody>
      </p:sp>
      <p:sp>
        <p:nvSpPr>
          <p:cNvPr id="4" name="TextBox 3">
            <a:extLst>
              <a:ext uri="{FF2B5EF4-FFF2-40B4-BE49-F238E27FC236}">
                <a16:creationId xmlns:a16="http://schemas.microsoft.com/office/drawing/2014/main" id="{27947AEF-98E0-459E-A02B-09EFB7439293}"/>
              </a:ext>
            </a:extLst>
          </p:cNvPr>
          <p:cNvSpPr txBox="1"/>
          <p:nvPr/>
        </p:nvSpPr>
        <p:spPr>
          <a:xfrm>
            <a:off x="478302" y="309489"/>
            <a:ext cx="8173328" cy="6500306"/>
          </a:xfrm>
          <a:prstGeom prst="rect">
            <a:avLst/>
          </a:prstGeom>
          <a:noFill/>
        </p:spPr>
        <p:txBody>
          <a:bodyPr wrap="square">
            <a:spAutoFit/>
          </a:bodyPr>
          <a:lstStyle/>
          <a:p>
            <a:pPr algn="just">
              <a:lnSpc>
                <a:spcPct val="150000"/>
              </a:lnSpc>
            </a:pPr>
            <a:r>
              <a:rPr lang="en-US" sz="2000" b="1" dirty="0">
                <a:effectLst/>
                <a:latin typeface="Times New Roman" panose="02020603050405020304" pitchFamily="18" charset="0"/>
                <a:cs typeface="Times New Roman" panose="02020603050405020304" pitchFamily="18" charset="0"/>
              </a:rPr>
              <a:t>Password Vulnerabilities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t>
            </a:r>
            <a:r>
              <a:rPr lang="en-US" sz="2000" b="0" dirty="0">
                <a:effectLst/>
                <a:latin typeface="Times New Roman" panose="02020603050405020304" pitchFamily="18" charset="0"/>
                <a:cs typeface="Times New Roman" panose="02020603050405020304" pitchFamily="18" charset="0"/>
              </a:rPr>
              <a:t>he combination of a user ID and a password is usually adequate to avoid hacks. </a:t>
            </a:r>
          </a:p>
          <a:p>
            <a:pPr marL="342900" indent="-342900" algn="just">
              <a:lnSpc>
                <a:spcPct val="150000"/>
              </a:lnSpc>
              <a:buFont typeface="Arial" panose="020B0604020202020204" pitchFamily="34" charset="0"/>
              <a:buChar char="•"/>
            </a:pPr>
            <a:r>
              <a:rPr lang="en-US" sz="2000" b="0" dirty="0">
                <a:effectLst/>
                <a:latin typeface="Times New Roman" panose="02020603050405020304" pitchFamily="18" charset="0"/>
                <a:cs typeface="Times New Roman" panose="02020603050405020304" pitchFamily="18" charset="0"/>
              </a:rPr>
              <a:t>However, passwords give a false sense of security. The bad guys know this and attempt to crack passwords as a step toward breaking into computer systems.</a:t>
            </a:r>
          </a:p>
          <a:p>
            <a:pPr algn="just">
              <a:lnSpc>
                <a:spcPct val="150000"/>
              </a:lnSpc>
            </a:pPr>
            <a:r>
              <a:rPr lang="en-US" sz="2000" b="0" dirty="0">
                <a:effectLst/>
                <a:latin typeface="Times New Roman" panose="02020603050405020304" pitchFamily="18" charset="0"/>
                <a:cs typeface="Times New Roman" panose="02020603050405020304" pitchFamily="18" charset="0"/>
              </a:rPr>
              <a:t>Here are the two general classifications of password vulnerabilities:</a:t>
            </a:r>
          </a:p>
          <a:p>
            <a:pPr algn="just">
              <a:lnSpc>
                <a:spcPct val="150000"/>
              </a:lnSpc>
            </a:pPr>
            <a:r>
              <a:rPr lang="en-US" sz="2000" b="1" dirty="0">
                <a:effectLst/>
                <a:latin typeface="Times New Roman" panose="02020603050405020304" pitchFamily="18" charset="0"/>
                <a:cs typeface="Times New Roman" panose="02020603050405020304" pitchFamily="18" charset="0"/>
              </a:rPr>
              <a:t>1. Organizational or</a:t>
            </a:r>
            <a:r>
              <a:rPr lang="en-US" sz="2000" b="0" dirty="0">
                <a:effectLst/>
                <a:latin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cs typeface="Times New Roman" panose="02020603050405020304" pitchFamily="18" charset="0"/>
              </a:rPr>
              <a:t>user vulnerabilities: </a:t>
            </a:r>
            <a:r>
              <a:rPr lang="en-US" sz="2000" b="0" dirty="0">
                <a:effectLst/>
                <a:latin typeface="Times New Roman" panose="02020603050405020304" pitchFamily="18" charset="0"/>
                <a:cs typeface="Times New Roman" panose="02020603050405020304" pitchFamily="18" charset="0"/>
              </a:rPr>
              <a:t>This includes lack of password policies that are enforced within the organization and lack of security awareness on the part of users.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people just focus on the easy-to-remember part. </a:t>
            </a:r>
          </a:p>
          <a:p>
            <a:pPr marL="285750" indent="-285750" algn="just">
              <a:lnSpc>
                <a:spcPct val="150000"/>
              </a:lnSpc>
              <a:buFont typeface="Arial" panose="020B0604020202020204" pitchFamily="34" charset="0"/>
              <a:buChar char="•"/>
            </a:pPr>
            <a:r>
              <a:rPr lang="en-US" sz="2000" b="0" u="none" strike="noStrike" baseline="0" dirty="0">
                <a:latin typeface="Times New Roman" panose="02020603050405020304" pitchFamily="18" charset="0"/>
                <a:cs typeface="Times New Roman" panose="02020603050405020304" pitchFamily="18" charset="0"/>
              </a:rPr>
              <a:t>The most popular password was ‘‘password’’. The second most popular was ‘‘123456’’ (‘‘1234’’, ‘‘12345’’, and ‘‘12345678’’ were also in the top 10)</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0893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57563-88FE-4FED-9FD8-851268B3050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7</a:t>
            </a:fld>
            <a:endParaRPr lang="en-US">
              <a:solidFill>
                <a:srgbClr val="000000"/>
              </a:solidFill>
            </a:endParaRPr>
          </a:p>
        </p:txBody>
      </p:sp>
      <p:sp>
        <p:nvSpPr>
          <p:cNvPr id="4" name="TextBox 3">
            <a:extLst>
              <a:ext uri="{FF2B5EF4-FFF2-40B4-BE49-F238E27FC236}">
                <a16:creationId xmlns:a16="http://schemas.microsoft.com/office/drawing/2014/main" id="{7CF0112A-5C68-4F23-B75A-FF44904F8CA5}"/>
              </a:ext>
            </a:extLst>
          </p:cNvPr>
          <p:cNvSpPr txBox="1"/>
          <p:nvPr/>
        </p:nvSpPr>
        <p:spPr>
          <a:xfrm>
            <a:off x="576775" y="365760"/>
            <a:ext cx="8145194" cy="557697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Unless users are educated and reminded about using strong passwords, their passwords usually are</a:t>
            </a:r>
          </a:p>
          <a:p>
            <a:pPr algn="just">
              <a:lnSpc>
                <a:spcPct val="150000"/>
              </a:lnSpc>
            </a:pPr>
            <a:r>
              <a:rPr lang="en-US" sz="2000" dirty="0">
                <a:latin typeface="Times New Roman" panose="02020603050405020304" pitchFamily="18" charset="0"/>
                <a:cs typeface="Times New Roman" panose="02020603050405020304" pitchFamily="18" charset="0"/>
              </a:rPr>
              <a:t>a) Easy to guess.</a:t>
            </a:r>
          </a:p>
          <a:p>
            <a:pPr algn="just">
              <a:lnSpc>
                <a:spcPct val="150000"/>
              </a:lnSpc>
              <a:buNone/>
            </a:pPr>
            <a:r>
              <a:rPr lang="en-US" sz="2000" dirty="0">
                <a:latin typeface="Times New Roman" panose="02020603050405020304" pitchFamily="18" charset="0"/>
                <a:cs typeface="Times New Roman" panose="02020603050405020304" pitchFamily="18" charset="0"/>
              </a:rPr>
              <a:t>b) Seldom changed.</a:t>
            </a:r>
          </a:p>
          <a:p>
            <a:pPr algn="just">
              <a:lnSpc>
                <a:spcPct val="150000"/>
              </a:lnSpc>
              <a:buNone/>
            </a:pPr>
            <a:r>
              <a:rPr lang="en-US" sz="2000" dirty="0">
                <a:latin typeface="Times New Roman" panose="02020603050405020304" pitchFamily="18" charset="0"/>
                <a:cs typeface="Times New Roman" panose="02020603050405020304" pitchFamily="18" charset="0"/>
              </a:rPr>
              <a:t>c) Reused for many security points. When bad guys crack one password, they can often access other systems with that same password and username.</a:t>
            </a:r>
          </a:p>
          <a:p>
            <a:pPr algn="just">
              <a:lnSpc>
                <a:spcPct val="150000"/>
              </a:lnSpc>
              <a:buNone/>
            </a:pPr>
            <a:r>
              <a:rPr lang="en-US" sz="2000" i="0" dirty="0">
                <a:effectLst/>
                <a:latin typeface="Times New Roman" panose="02020603050405020304" pitchFamily="18" charset="0"/>
                <a:cs typeface="Times New Roman" panose="02020603050405020304" pitchFamily="18" charset="0"/>
              </a:rPr>
              <a:t>d) Written down in unsecure places. </a:t>
            </a:r>
            <a:r>
              <a:rPr lang="en-US" sz="2000" b="0" i="0" dirty="0">
                <a:effectLst/>
                <a:latin typeface="Times New Roman" panose="02020603050405020304" pitchFamily="18" charset="0"/>
                <a:cs typeface="Times New Roman" panose="02020603050405020304" pitchFamily="18" charset="0"/>
              </a:rPr>
              <a:t>The more complex a password is, the more difficult it is to crack. However, when users create complex passwords, they’re more likely to write them down. External attackers and malicious insiders can find these passwords and use them against you and your business.</a:t>
            </a:r>
            <a:endParaRPr lang="en-US" sz="2000" b="1" dirty="0">
              <a:latin typeface="Times New Roman" panose="02020603050405020304" pitchFamily="18" charset="0"/>
              <a:cs typeface="Times New Roman" panose="02020603050405020304" pitchFamily="18" charset="0"/>
            </a:endParaRPr>
          </a:p>
          <a:p>
            <a:pPr algn="just">
              <a:lnSpc>
                <a:spcPct val="150000"/>
              </a:lnSpc>
              <a:buNone/>
            </a:pPr>
            <a:r>
              <a:rPr lang="en-US" sz="2000" b="1" i="0" dirty="0">
                <a:effectLst/>
                <a:latin typeface="Times New Roman" panose="02020603050405020304" pitchFamily="18" charset="0"/>
                <a:cs typeface="Times New Roman" panose="02020603050405020304" pitchFamily="18" charset="0"/>
              </a:rPr>
              <a:t>2. Technical vulnerabilities:</a:t>
            </a:r>
            <a:r>
              <a:rPr lang="en-US" sz="2000" b="0" i="0" dirty="0">
                <a:effectLst/>
                <a:latin typeface="Times New Roman" panose="02020603050405020304" pitchFamily="18" charset="0"/>
                <a:cs typeface="Times New Roman" panose="02020603050405020304" pitchFamily="18" charset="0"/>
              </a:rPr>
              <a:t> This includes weak encryption methods and unsecure storage of passwords on computer systems.</a:t>
            </a:r>
          </a:p>
        </p:txBody>
      </p:sp>
    </p:spTree>
    <p:extLst>
      <p:ext uri="{BB962C8B-B14F-4D97-AF65-F5344CB8AC3E}">
        <p14:creationId xmlns:p14="http://schemas.microsoft.com/office/powerpoint/2010/main" val="1442899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020B7C-EFD1-4D48-B726-98D01D4F947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solidFill>
                <a:srgbClr val="000000"/>
              </a:solidFill>
            </a:endParaRPr>
          </a:p>
        </p:txBody>
      </p:sp>
      <p:sp>
        <p:nvSpPr>
          <p:cNvPr id="4" name="TextBox 3">
            <a:extLst>
              <a:ext uri="{FF2B5EF4-FFF2-40B4-BE49-F238E27FC236}">
                <a16:creationId xmlns:a16="http://schemas.microsoft.com/office/drawing/2014/main" id="{1E871C6D-4E59-43A8-B16C-60E78E3E2088}"/>
              </a:ext>
            </a:extLst>
          </p:cNvPr>
          <p:cNvSpPr txBox="1"/>
          <p:nvPr/>
        </p:nvSpPr>
        <p:spPr>
          <a:xfrm>
            <a:off x="216131" y="282633"/>
            <a:ext cx="8495607" cy="4191981"/>
          </a:xfrm>
          <a:prstGeom prst="rect">
            <a:avLst/>
          </a:prstGeom>
          <a:noFill/>
        </p:spPr>
        <p:txBody>
          <a:bodyPr wrap="square">
            <a:spAutoFit/>
          </a:bodyPr>
          <a:lstStyle/>
          <a:p>
            <a:pPr algn="just">
              <a:lnSpc>
                <a:spcPct val="150000"/>
              </a:lnSpc>
            </a:pPr>
            <a:r>
              <a:rPr lang="en-US" sz="2000" b="0" i="0" dirty="0">
                <a:effectLst/>
                <a:latin typeface="Times New Roman" panose="02020603050405020304" pitchFamily="18" charset="0"/>
                <a:cs typeface="Times New Roman" panose="02020603050405020304" pitchFamily="18" charset="0"/>
              </a:rPr>
              <a:t>You can often find these serious technical vulnerabilities after exploiting organizational password vulnerabilities:</a:t>
            </a:r>
          </a:p>
          <a:p>
            <a:pPr marL="285750" indent="-285750" algn="just">
              <a:lnSpc>
                <a:spcPct val="150000"/>
              </a:lnSpc>
              <a:buFont typeface="Arial" panose="020B0604020202020204" pitchFamily="34" charset="0"/>
              <a:buChar char="•"/>
            </a:pPr>
            <a:r>
              <a:rPr lang="en-US" sz="2000" i="0" dirty="0">
                <a:effectLst/>
                <a:latin typeface="Times New Roman" panose="02020603050405020304" pitchFamily="18" charset="0"/>
                <a:cs typeface="Times New Roman" panose="02020603050405020304" pitchFamily="18" charset="0"/>
              </a:rPr>
              <a:t>Weak password encryption schemes. </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i="0" dirty="0">
                <a:effectLst/>
                <a:latin typeface="Times New Roman" panose="02020603050405020304" pitchFamily="18" charset="0"/>
                <a:cs typeface="Times New Roman" panose="02020603050405020304" pitchFamily="18" charset="0"/>
              </a:rPr>
              <a:t>Programs that store their passwords in memory, unsecured files, and easily accessed databases.</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i="0" dirty="0">
                <a:effectLst/>
                <a:latin typeface="Times New Roman" panose="02020603050405020304" pitchFamily="18" charset="0"/>
                <a:cs typeface="Times New Roman" panose="02020603050405020304" pitchFamily="18" charset="0"/>
              </a:rPr>
              <a:t>Unencrypted databases that provide direct access to sensitive information to anyone with database access, regardless of whether they have a business need to know.</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i="0" dirty="0">
                <a:effectLst/>
                <a:latin typeface="Times New Roman" panose="02020603050405020304" pitchFamily="18" charset="0"/>
                <a:cs typeface="Times New Roman" panose="02020603050405020304" pitchFamily="18" charset="0"/>
              </a:rPr>
              <a:t>User applications that display passwords on the screen while the user is typing.</a:t>
            </a:r>
          </a:p>
        </p:txBody>
      </p:sp>
    </p:spTree>
    <p:extLst>
      <p:ext uri="{BB962C8B-B14F-4D97-AF65-F5344CB8AC3E}">
        <p14:creationId xmlns:p14="http://schemas.microsoft.com/office/powerpoint/2010/main" val="2974751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6905F2-4C5F-44AA-8A22-37890E568BE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9</a:t>
            </a:fld>
            <a:endParaRPr lang="en-US">
              <a:solidFill>
                <a:srgbClr val="000000"/>
              </a:solidFill>
            </a:endParaRPr>
          </a:p>
        </p:txBody>
      </p:sp>
      <p:sp>
        <p:nvSpPr>
          <p:cNvPr id="4" name="TextBox 3">
            <a:extLst>
              <a:ext uri="{FF2B5EF4-FFF2-40B4-BE49-F238E27FC236}">
                <a16:creationId xmlns:a16="http://schemas.microsoft.com/office/drawing/2014/main" id="{207A53A3-7160-4624-AD70-83E5CBED6A37}"/>
              </a:ext>
            </a:extLst>
          </p:cNvPr>
          <p:cNvSpPr txBox="1"/>
          <p:nvPr/>
        </p:nvSpPr>
        <p:spPr>
          <a:xfrm>
            <a:off x="393895" y="409679"/>
            <a:ext cx="8022981" cy="6038641"/>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Encryption Password</a:t>
            </a:r>
            <a:endParaRPr lang="en-US" sz="2000" b="0" i="0" u="none" strike="noStrike" baseline="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The purpose of cryptography is to take a message or file, called the </a:t>
            </a:r>
            <a:r>
              <a:rPr lang="en-US" sz="2000" b="1" i="0" u="none" strike="noStrike" baseline="0" dirty="0">
                <a:latin typeface="Times New Roman" panose="02020603050405020304" pitchFamily="18" charset="0"/>
                <a:cs typeface="Times New Roman" panose="02020603050405020304" pitchFamily="18" charset="0"/>
              </a:rPr>
              <a:t>plaintext</a:t>
            </a:r>
            <a:r>
              <a:rPr lang="en-US" sz="2000" b="0" i="0" u="none" strike="noStrike" baseline="0" dirty="0">
                <a:latin typeface="Times New Roman" panose="02020603050405020304" pitchFamily="18" charset="0"/>
                <a:cs typeface="Times New Roman" panose="02020603050405020304" pitchFamily="18" charset="0"/>
              </a:rPr>
              <a:t>, and encrypt it into </a:t>
            </a:r>
            <a:r>
              <a:rPr lang="en-US" sz="2000" b="1" i="0" u="none" strike="noStrike" baseline="0" dirty="0">
                <a:latin typeface="Times New Roman" panose="02020603050405020304" pitchFamily="18" charset="0"/>
                <a:cs typeface="Times New Roman" panose="02020603050405020304" pitchFamily="18" charset="0"/>
              </a:rPr>
              <a:t>ciphertext </a:t>
            </a:r>
            <a:r>
              <a:rPr lang="en-US" sz="2000" b="0" i="0" u="none" strike="noStrike" baseline="0" dirty="0">
                <a:latin typeface="Times New Roman" panose="02020603050405020304" pitchFamily="18" charset="0"/>
                <a:cs typeface="Times New Roman" panose="02020603050405020304" pitchFamily="18" charset="0"/>
              </a:rPr>
              <a:t>in such a way that only authorized people know how to convert it back to plaintext.</a:t>
            </a:r>
            <a:endParaRPr lang="en-US" sz="2000" dirty="0">
              <a:solidFill>
                <a:srgbClr val="000000"/>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cs typeface="Times New Roman" panose="02020603050405020304" pitchFamily="18" charset="0"/>
              </a:rPr>
              <a:t>An authentication algorithm consists of following components: </a:t>
            </a:r>
          </a:p>
          <a:p>
            <a:pPr marL="742950" lvl="1" indent="-285750" algn="just">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cs typeface="Times New Roman" panose="02020603050405020304" pitchFamily="18" charset="0"/>
              </a:rPr>
              <a:t>A set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K </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of keys. </a:t>
            </a:r>
          </a:p>
          <a:p>
            <a:pPr marL="742950" lvl="1" indent="-285750" algn="just">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cs typeface="Times New Roman" panose="02020603050405020304" pitchFamily="18" charset="0"/>
              </a:rPr>
              <a:t>A set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M </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of messages. </a:t>
            </a:r>
          </a:p>
          <a:p>
            <a:pPr marL="742950" lvl="1" indent="-285750" algn="just">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cs typeface="Times New Roman" panose="02020603050405020304" pitchFamily="18" charset="0"/>
              </a:rPr>
              <a:t>A set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A </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of authenticators. </a:t>
            </a:r>
            <a:endParaRPr lang="en-US" sz="2000" dirty="0">
              <a:solidFill>
                <a:srgbClr val="000000"/>
              </a:solidFill>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cs typeface="Times New Roman" panose="02020603050405020304" pitchFamily="18" charset="0"/>
              </a:rPr>
              <a:t>A function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S </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K </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M</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A</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a:t>
            </a:r>
          </a:p>
          <a:p>
            <a:pPr marL="1200150" lvl="2" indent="-285750" algn="just">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cs typeface="Times New Roman" panose="02020603050405020304" pitchFamily="18" charset="0"/>
              </a:rPr>
              <a:t>That is, for each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k</a:t>
            </a:r>
            <a:r>
              <a:rPr lang="en-US" sz="2000" dirty="0">
                <a:latin typeface="Times New Roman" panose="02020603050405020304" pitchFamily="18" charset="0"/>
                <a:cs typeface="Times New Roman" panose="02020603050405020304" pitchFamily="18" charset="0"/>
              </a:rPr>
              <a:t>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 K</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S</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k</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is a function for generating authenticators from messages. </a:t>
            </a:r>
          </a:p>
          <a:p>
            <a:pPr marL="1200150" lvl="2" indent="-285750" algn="just">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cs typeface="Times New Roman" panose="02020603050405020304" pitchFamily="18" charset="0"/>
              </a:rPr>
              <a:t>Both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S </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and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S</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k</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 for any </a:t>
            </a:r>
            <a:r>
              <a:rPr lang="en-US" sz="2000" b="0" i="1" u="none" strike="noStrike" baseline="0" dirty="0">
                <a:solidFill>
                  <a:srgbClr val="000000"/>
                </a:solidFill>
                <a:latin typeface="Times New Roman" panose="02020603050405020304" pitchFamily="18" charset="0"/>
                <a:cs typeface="Times New Roman" panose="02020603050405020304" pitchFamily="18" charset="0"/>
              </a:rPr>
              <a:t>k </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should be efficiently computable functions. </a:t>
            </a:r>
          </a:p>
        </p:txBody>
      </p:sp>
    </p:spTree>
    <p:extLst>
      <p:ext uri="{BB962C8B-B14F-4D97-AF65-F5344CB8AC3E}">
        <p14:creationId xmlns:p14="http://schemas.microsoft.com/office/powerpoint/2010/main" val="3811487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0CF6E5-B2D1-4D38-93A7-69D3A1153B2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a:solidFill>
                <a:srgbClr val="000000"/>
              </a:solidFill>
            </a:endParaRPr>
          </a:p>
        </p:txBody>
      </p:sp>
      <p:sp>
        <p:nvSpPr>
          <p:cNvPr id="4" name="TextBox 3">
            <a:extLst>
              <a:ext uri="{FF2B5EF4-FFF2-40B4-BE49-F238E27FC236}">
                <a16:creationId xmlns:a16="http://schemas.microsoft.com/office/drawing/2014/main" id="{F0B4D283-C057-4900-9927-C9F6D8FF9006}"/>
              </a:ext>
            </a:extLst>
          </p:cNvPr>
          <p:cNvSpPr txBox="1"/>
          <p:nvPr/>
        </p:nvSpPr>
        <p:spPr>
          <a:xfrm>
            <a:off x="225083" y="136524"/>
            <a:ext cx="8679766" cy="6275051"/>
          </a:xfrm>
          <a:prstGeom prst="rect">
            <a:avLst/>
          </a:prstGeom>
          <a:noFill/>
        </p:spPr>
        <p:txBody>
          <a:bodyPr wrap="square">
            <a:spAutoFit/>
          </a:bodyPr>
          <a:lstStyle/>
          <a:p>
            <a:pPr algn="just">
              <a:lnSpc>
                <a:spcPct val="150000"/>
              </a:lnSpc>
            </a:pPr>
            <a:r>
              <a:rPr lang="en-US" b="1" i="0" dirty="0">
                <a:effectLst/>
                <a:latin typeface="Times New Roman" panose="02020603050405020304" pitchFamily="18" charset="0"/>
                <a:cs typeface="Times New Roman" panose="02020603050405020304" pitchFamily="18" charset="0"/>
              </a:rPr>
              <a:t>One Time passwords</a:t>
            </a:r>
          </a:p>
          <a:p>
            <a:pPr marL="285750" indent="-285750" algn="just">
              <a:lnSpc>
                <a:spcPct val="150000"/>
              </a:lnSpc>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One-time passwords provide additional security along with normal authentication. </a:t>
            </a:r>
          </a:p>
          <a:p>
            <a:pPr marL="285750" indent="-285750" algn="just">
              <a:lnSpc>
                <a:spcPct val="150000"/>
              </a:lnSpc>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In One-Time Password system, a unique password is required every time user tries to login into the system. Once a one-time password is used, then it cannot be used again.</a:t>
            </a:r>
          </a:p>
          <a:p>
            <a:pPr marL="285750" indent="-285750" algn="just">
              <a:lnSpc>
                <a:spcPct val="150000"/>
              </a:lnSpc>
              <a:buFont typeface="Arial" panose="020B0604020202020204" pitchFamily="34" charset="0"/>
              <a:buChar char="•"/>
            </a:pPr>
            <a:r>
              <a:rPr lang="en-US" u="none" strike="noStrike" baseline="0" dirty="0">
                <a:solidFill>
                  <a:srgbClr val="000000"/>
                </a:solidFill>
                <a:latin typeface="Times New Roman" panose="02020603050405020304" pitchFamily="18" charset="0"/>
                <a:cs typeface="Times New Roman" panose="02020603050405020304" pitchFamily="18" charset="0"/>
              </a:rPr>
              <a:t>N</a:t>
            </a:r>
            <a:r>
              <a:rPr lang="en-US" b="0" i="0" u="none" strike="noStrike" baseline="0" dirty="0">
                <a:latin typeface="Times New Roman" panose="02020603050405020304" pitchFamily="18" charset="0"/>
                <a:cs typeface="Times New Roman" panose="02020603050405020304" pitchFamily="18" charset="0"/>
              </a:rPr>
              <a:t>o secrets have to be stored in the file system of either the server or the user’s PC. The method is sometimes called a </a:t>
            </a:r>
            <a:r>
              <a:rPr lang="en-US" b="1" i="0" u="none" strike="noStrike" baseline="0" dirty="0">
                <a:latin typeface="Times New Roman" panose="02020603050405020304" pitchFamily="18" charset="0"/>
                <a:cs typeface="Times New Roman" panose="02020603050405020304" pitchFamily="18" charset="0"/>
              </a:rPr>
              <a:t>one-way hash chain</a:t>
            </a:r>
            <a:r>
              <a:rPr lang="en-US" b="0" i="0" u="none" strike="noStrike" baseline="0" dirty="0">
                <a:latin typeface="Times New Roman" panose="02020603050405020304" pitchFamily="18" charset="0"/>
                <a:cs typeface="Times New Roman" panose="02020603050405020304" pitchFamily="18" charset="0"/>
              </a:rPr>
              <a:t>.</a:t>
            </a:r>
            <a:endParaRPr lang="en-US" b="0" i="0" dirty="0">
              <a:solidFill>
                <a:srgbClr val="000000"/>
              </a:solidFill>
              <a:effectLst/>
              <a:latin typeface="Times New Roman" panose="02020603050405020304" pitchFamily="18" charset="0"/>
              <a:cs typeface="Times New Roman" panose="02020603050405020304" pitchFamily="18" charset="0"/>
            </a:endParaRPr>
          </a:p>
          <a:p>
            <a:pPr algn="just">
              <a:lnSpc>
                <a:spcPct val="150000"/>
              </a:lnSpc>
            </a:pPr>
            <a:r>
              <a:rPr lang="en-US" b="0" i="0" dirty="0">
                <a:solidFill>
                  <a:srgbClr val="000000"/>
                </a:solidFill>
                <a:effectLst/>
                <a:latin typeface="Times New Roman" panose="02020603050405020304" pitchFamily="18" charset="0"/>
                <a:cs typeface="Times New Roman" panose="02020603050405020304" pitchFamily="18" charset="0"/>
              </a:rPr>
              <a:t>One-time password are implemented in various ways.</a:t>
            </a:r>
          </a:p>
          <a:p>
            <a:pPr marL="285750" indent="-285750" algn="just">
              <a:lnSpc>
                <a:spcPct val="150000"/>
              </a:lnSpc>
              <a:buFont typeface="Arial" panose="020B0604020202020204" pitchFamily="34" charset="0"/>
              <a:buChar char="•"/>
            </a:pPr>
            <a:r>
              <a:rPr lang="en-US" b="1" i="0" dirty="0">
                <a:solidFill>
                  <a:srgbClr val="000000"/>
                </a:solidFill>
                <a:effectLst/>
                <a:latin typeface="Times New Roman" panose="02020603050405020304" pitchFamily="18" charset="0"/>
                <a:cs typeface="Times New Roman" panose="02020603050405020304" pitchFamily="18" charset="0"/>
              </a:rPr>
              <a:t>Random numbers</a:t>
            </a:r>
            <a:r>
              <a:rPr lang="en-US" dirty="0">
                <a:solidFill>
                  <a:srgbClr val="000000"/>
                </a:solidFill>
                <a:latin typeface="Times New Roman" panose="02020603050405020304" pitchFamily="18" charset="0"/>
                <a:cs typeface="Times New Roman" panose="02020603050405020304" pitchFamily="18" charset="0"/>
              </a:rPr>
              <a:t>: </a:t>
            </a:r>
            <a:r>
              <a:rPr lang="en-US" b="0" i="0" dirty="0">
                <a:solidFill>
                  <a:srgbClr val="000000"/>
                </a:solidFill>
                <a:effectLst/>
                <a:latin typeface="Times New Roman" panose="02020603050405020304" pitchFamily="18" charset="0"/>
                <a:cs typeface="Times New Roman" panose="02020603050405020304" pitchFamily="18" charset="0"/>
              </a:rPr>
              <a:t>Users are provided cards having numbers printed along with corresponding alphabets. System asks for numbers corresponding to few alphabets randomly chosen.</a:t>
            </a:r>
          </a:p>
          <a:p>
            <a:pPr marL="285750" indent="-285750" algn="just">
              <a:lnSpc>
                <a:spcPct val="150000"/>
              </a:lnSpc>
              <a:buFont typeface="Arial" panose="020B0604020202020204" pitchFamily="34" charset="0"/>
              <a:buChar char="•"/>
            </a:pPr>
            <a:r>
              <a:rPr lang="en-US" b="1" i="0" dirty="0">
                <a:solidFill>
                  <a:srgbClr val="000000"/>
                </a:solidFill>
                <a:effectLst/>
                <a:latin typeface="Times New Roman" panose="02020603050405020304" pitchFamily="18" charset="0"/>
                <a:cs typeface="Times New Roman" panose="02020603050405020304" pitchFamily="18" charset="0"/>
              </a:rPr>
              <a:t>Secret key</a:t>
            </a:r>
            <a:r>
              <a:rPr lang="en-US" b="0" i="0" dirty="0">
                <a:solidFill>
                  <a:srgbClr val="000000"/>
                </a:solidFill>
                <a:effectLst/>
                <a:latin typeface="Times New Roman" panose="02020603050405020304" pitchFamily="18" charset="0"/>
                <a:cs typeface="Times New Roman" panose="02020603050405020304" pitchFamily="18" charset="0"/>
              </a:rPr>
              <a:t> : User are provided a hardware device which can create a secret id mapped with user id. System asks for such secret id which is to be generated every time prior to login.</a:t>
            </a:r>
          </a:p>
          <a:p>
            <a:pPr marL="285750" indent="-285750" algn="just">
              <a:lnSpc>
                <a:spcPct val="150000"/>
              </a:lnSpc>
              <a:buFont typeface="Arial" panose="020B0604020202020204" pitchFamily="34" charset="0"/>
              <a:buChar char="•"/>
            </a:pPr>
            <a:r>
              <a:rPr lang="en-US" b="1" i="0" dirty="0">
                <a:solidFill>
                  <a:srgbClr val="000000"/>
                </a:solidFill>
                <a:effectLst/>
                <a:latin typeface="Times New Roman" panose="02020603050405020304" pitchFamily="18" charset="0"/>
                <a:cs typeface="Times New Roman" panose="02020603050405020304" pitchFamily="18" charset="0"/>
              </a:rPr>
              <a:t>Network password</a:t>
            </a:r>
            <a:r>
              <a:rPr lang="en-US" b="0" i="0" dirty="0">
                <a:solidFill>
                  <a:srgbClr val="000000"/>
                </a:solidFill>
                <a:effectLst/>
                <a:latin typeface="Times New Roman" panose="02020603050405020304" pitchFamily="18" charset="0"/>
                <a:cs typeface="Times New Roman" panose="02020603050405020304" pitchFamily="18" charset="0"/>
              </a:rPr>
              <a:t> : Some commercial applications send one-time passwords to user on registered mobile/ email which is required to be entered prior to login.</a:t>
            </a:r>
          </a:p>
        </p:txBody>
      </p:sp>
    </p:spTree>
    <p:extLst>
      <p:ext uri="{BB962C8B-B14F-4D97-AF65-F5344CB8AC3E}">
        <p14:creationId xmlns:p14="http://schemas.microsoft.com/office/powerpoint/2010/main" val="3794702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6D0A00-86CD-4E27-9FFC-355900556C6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11</a:t>
            </a:fld>
            <a:endParaRPr lang="en-US">
              <a:solidFill>
                <a:srgbClr val="000000"/>
              </a:solidFill>
            </a:endParaRPr>
          </a:p>
        </p:txBody>
      </p:sp>
      <p:sp>
        <p:nvSpPr>
          <p:cNvPr id="4" name="TextBox 3">
            <a:extLst>
              <a:ext uri="{FF2B5EF4-FFF2-40B4-BE49-F238E27FC236}">
                <a16:creationId xmlns:a16="http://schemas.microsoft.com/office/drawing/2014/main" id="{ECB4D28B-D5F7-4AA3-969A-10270D502B62}"/>
              </a:ext>
            </a:extLst>
          </p:cNvPr>
          <p:cNvSpPr txBox="1"/>
          <p:nvPr/>
        </p:nvSpPr>
        <p:spPr>
          <a:xfrm>
            <a:off x="337625" y="136524"/>
            <a:ext cx="8454683" cy="6500306"/>
          </a:xfrm>
          <a:prstGeom prst="rect">
            <a:avLst/>
          </a:prstGeom>
          <a:noFill/>
        </p:spPr>
        <p:txBody>
          <a:bodyPr wrap="square">
            <a:spAutoFit/>
          </a:bodyPr>
          <a:lstStyle/>
          <a:p>
            <a:pPr algn="just">
              <a:lnSpc>
                <a:spcPct val="150000"/>
              </a:lnSpc>
              <a:buNone/>
            </a:pPr>
            <a:r>
              <a:rPr lang="en-US" sz="2000" b="1" dirty="0">
                <a:latin typeface="Times New Roman" panose="02020603050405020304" pitchFamily="18" charset="0"/>
                <a:cs typeface="Times New Roman" panose="02020603050405020304" pitchFamily="18" charset="0"/>
              </a:rPr>
              <a:t>Biometric Password</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measures physical characteristics of the user that are hard to forge.</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For example, a fingerprint or voiceprint reader hooked up to the computer could verify the user’s identity.</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A typical biometrics system has two parts: </a:t>
            </a:r>
            <a:r>
              <a:rPr lang="en-US" sz="2000" b="1" i="0" u="none" strike="noStrike" baseline="0" dirty="0">
                <a:latin typeface="Times New Roman" panose="02020603050405020304" pitchFamily="18" charset="0"/>
                <a:cs typeface="Times New Roman" panose="02020603050405020304" pitchFamily="18" charset="0"/>
              </a:rPr>
              <a:t>enrollment </a:t>
            </a:r>
            <a:r>
              <a:rPr lang="en-US" sz="2000" i="0" u="none" strike="noStrike" baseline="0" dirty="0">
                <a:latin typeface="Times New Roman" panose="02020603050405020304" pitchFamily="18" charset="0"/>
                <a:cs typeface="Times New Roman" panose="02020603050405020304" pitchFamily="18" charset="0"/>
              </a:rPr>
              <a:t>and</a:t>
            </a:r>
            <a:r>
              <a:rPr lang="en-US" sz="2000" b="1" i="0" u="none" strike="noStrike" baseline="0" dirty="0">
                <a:latin typeface="Times New Roman" panose="02020603050405020304" pitchFamily="18" charset="0"/>
                <a:cs typeface="Times New Roman" panose="02020603050405020304" pitchFamily="18" charset="0"/>
              </a:rPr>
              <a:t> identification. </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During enrollment, the user’s characteristics are measured and the results digitized. Then significant features are extracted and stored in a record associated with the user. </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The record can be kept in a central database (e.g., for logging in to a remote computer), or stored on a smart card that the user carries around and inserts into a remote reader (e.g., at an ATM machine). </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The other part is identification. The user shows up and provides a login name. Then the system makes the measurement again. If the new values match the ones sampled at enrollment time, the login is accepted; otherwise it is rejected.</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2052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206029-5FAD-483A-93BD-69F8B581121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12</a:t>
            </a:fld>
            <a:endParaRPr lang="en-US">
              <a:solidFill>
                <a:srgbClr val="000000"/>
              </a:solidFill>
            </a:endParaRPr>
          </a:p>
        </p:txBody>
      </p:sp>
      <p:sp>
        <p:nvSpPr>
          <p:cNvPr id="4" name="TextBox 3">
            <a:extLst>
              <a:ext uri="{FF2B5EF4-FFF2-40B4-BE49-F238E27FC236}">
                <a16:creationId xmlns:a16="http://schemas.microsoft.com/office/drawing/2014/main" id="{FB52EBAA-E481-4A1B-A2A4-F71BA9AF4609}"/>
              </a:ext>
            </a:extLst>
          </p:cNvPr>
          <p:cNvSpPr txBox="1"/>
          <p:nvPr/>
        </p:nvSpPr>
        <p:spPr>
          <a:xfrm>
            <a:off x="661182" y="436097"/>
            <a:ext cx="7854168" cy="419198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some of the biometrics that are in actual use.</a:t>
            </a:r>
          </a:p>
          <a:p>
            <a:pPr marL="285750" indent="-285750" algn="just">
              <a:lnSpc>
                <a:spcPct val="150000"/>
              </a:lnSpc>
              <a:buFont typeface="Arial" panose="020B0604020202020204" pitchFamily="34" charset="0"/>
              <a:buChar char="•"/>
            </a:pPr>
            <a:r>
              <a:rPr lang="en-US" sz="2000" b="1" i="0" u="none" strike="noStrike" baseline="0" dirty="0">
                <a:latin typeface="Times New Roman" panose="02020603050405020304" pitchFamily="18" charset="0"/>
                <a:cs typeface="Times New Roman" panose="02020603050405020304" pitchFamily="18" charset="0"/>
              </a:rPr>
              <a:t>Finger-length</a:t>
            </a:r>
            <a:r>
              <a:rPr lang="en-US" sz="2000" b="0" i="0" u="none" strike="noStrike" baseline="0" dirty="0">
                <a:latin typeface="Times New Roman" panose="02020603050405020304" pitchFamily="18" charset="0"/>
                <a:cs typeface="Times New Roman" panose="02020603050405020304" pitchFamily="18" charset="0"/>
              </a:rPr>
              <a:t> analysis is surprisingly practical. Finger-length measurements are not perfect, however. The system can be attacked with hand molds made out of plaster of Paris or some other material, possibly with adjustable fingers to allow some experimentation.</a:t>
            </a:r>
          </a:p>
          <a:p>
            <a:pPr marL="285750" indent="-285750" algn="just">
              <a:lnSpc>
                <a:spcPct val="150000"/>
              </a:lnSpc>
              <a:buFont typeface="Arial" panose="020B0604020202020204" pitchFamily="34" charset="0"/>
              <a:buChar char="•"/>
            </a:pPr>
            <a:r>
              <a:rPr lang="en-US" sz="2000" b="0" i="0" u="none" strike="noStrike" baseline="0" dirty="0">
                <a:latin typeface="Times New Roman" panose="02020603050405020304" pitchFamily="18" charset="0"/>
                <a:cs typeface="Times New Roman" panose="02020603050405020304" pitchFamily="18" charset="0"/>
              </a:rPr>
              <a:t>Another biometric that is in widespread commercial use is </a:t>
            </a:r>
            <a:r>
              <a:rPr lang="en-US" sz="2000" b="1" i="0" u="none" strike="noStrike" baseline="0" dirty="0">
                <a:latin typeface="Times New Roman" panose="02020603050405020304" pitchFamily="18" charset="0"/>
                <a:cs typeface="Times New Roman" panose="02020603050405020304" pitchFamily="18" charset="0"/>
              </a:rPr>
              <a:t>iris recognition</a:t>
            </a:r>
            <a:r>
              <a:rPr lang="en-US" sz="2000" b="0" i="0" u="none" strike="noStrike" baseline="0" dirty="0">
                <a:latin typeface="Times New Roman" panose="02020603050405020304" pitchFamily="18" charset="0"/>
                <a:cs typeface="Times New Roman" panose="02020603050405020304" pitchFamily="18" charset="0"/>
              </a:rPr>
              <a:t>. No two people have the same patterns (even identical twins), so iris recognition is as good as fingerprint recognition and more easily automated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628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F89CD514-DED1-466D-8F12-D4BE2A131072}"/>
              </a:ext>
            </a:extLst>
          </p:cNvPr>
          <p:cNvSpPr>
            <a:spLocks noGrp="1" noChangeArrowheads="1"/>
          </p:cNvSpPr>
          <p:nvPr>
            <p:ph type="title"/>
          </p:nvPr>
        </p:nvSpPr>
        <p:spPr>
          <a:xfrm>
            <a:off x="457200" y="186530"/>
            <a:ext cx="8229600" cy="576263"/>
          </a:xfrm>
        </p:spPr>
        <p:txBody>
          <a:bodyPr>
            <a:normAutofit/>
          </a:bodyPr>
          <a:lstStyle/>
          <a:p>
            <a:pPr algn="ctr" eaLnBrk="1" hangingPunct="1"/>
            <a:r>
              <a:rPr lang="en-US" altLang="en-US" sz="2400" b="1" dirty="0">
                <a:latin typeface="Times New Roman" panose="02020603050405020304" pitchFamily="18" charset="0"/>
                <a:cs typeface="Times New Roman" panose="02020603050405020304" pitchFamily="18" charset="0"/>
              </a:rPr>
              <a:t>Program Threats</a:t>
            </a:r>
          </a:p>
        </p:txBody>
      </p:sp>
      <p:sp>
        <p:nvSpPr>
          <p:cNvPr id="11267" name="Rectangle 3">
            <a:extLst>
              <a:ext uri="{FF2B5EF4-FFF2-40B4-BE49-F238E27FC236}">
                <a16:creationId xmlns:a16="http://schemas.microsoft.com/office/drawing/2014/main" id="{843AE6E1-213C-46C6-B95C-DA1D8A97F198}"/>
              </a:ext>
            </a:extLst>
          </p:cNvPr>
          <p:cNvSpPr>
            <a:spLocks noGrp="1" noChangeArrowheads="1"/>
          </p:cNvSpPr>
          <p:nvPr>
            <p:ph type="body" idx="1"/>
          </p:nvPr>
        </p:nvSpPr>
        <p:spPr>
          <a:xfrm>
            <a:off x="647115" y="762794"/>
            <a:ext cx="7906042" cy="5792752"/>
          </a:xfrm>
        </p:spPr>
        <p:txBody>
          <a:bodyPr>
            <a:noAutofit/>
          </a:bodyPr>
          <a:lstStyle/>
          <a:p>
            <a:pPr marL="0" indent="0" algn="just">
              <a:lnSpc>
                <a:spcPct val="150000"/>
              </a:lnSpc>
              <a:buNone/>
            </a:pPr>
            <a:r>
              <a:rPr lang="en-US" altLang="en-US" sz="2000" b="1" dirty="0">
                <a:latin typeface="Times New Roman" panose="02020603050405020304" pitchFamily="18" charset="0"/>
                <a:cs typeface="Times New Roman" panose="02020603050405020304" pitchFamily="18" charset="0"/>
              </a:rPr>
              <a:t>Trojan Horse</a:t>
            </a:r>
          </a:p>
          <a:p>
            <a:pPr algn="just">
              <a:lnSpc>
                <a:spcPct val="150000"/>
              </a:lnSpc>
            </a:pPr>
            <a:r>
              <a:rPr lang="en-US" altLang="en-US" sz="2000" dirty="0">
                <a:latin typeface="Times New Roman" panose="02020603050405020304" pitchFamily="18" charset="0"/>
                <a:cs typeface="Times New Roman" panose="02020603050405020304" pitchFamily="18" charset="0"/>
              </a:rPr>
              <a:t>Code segment that misuses its environment</a:t>
            </a:r>
          </a:p>
          <a:p>
            <a:pPr algn="just">
              <a:lnSpc>
                <a:spcPct val="150000"/>
              </a:lnSpc>
            </a:pPr>
            <a:r>
              <a:rPr lang="en-US" altLang="en-US" sz="2000" dirty="0">
                <a:latin typeface="Times New Roman" panose="02020603050405020304" pitchFamily="18" charset="0"/>
                <a:cs typeface="Times New Roman" panose="02020603050405020304" pitchFamily="18" charset="0"/>
              </a:rPr>
              <a:t>Exploits mechanisms for allowing programs written by users to be executed by other users</a:t>
            </a:r>
          </a:p>
          <a:p>
            <a:pPr algn="just">
              <a:lnSpc>
                <a:spcPct val="150000"/>
              </a:lnSpc>
            </a:pPr>
            <a:r>
              <a:rPr lang="en-US" sz="2000" b="1" dirty="0">
                <a:effectLst/>
                <a:latin typeface="Times New Roman" panose="02020603050405020304" pitchFamily="18" charset="0"/>
              </a:rPr>
              <a:t>Spyware</a:t>
            </a:r>
            <a:r>
              <a:rPr lang="en-US" sz="2000" b="0" dirty="0">
                <a:effectLst/>
                <a:latin typeface="Times New Roman" panose="02020603050405020304" pitchFamily="18" charset="0"/>
              </a:rPr>
              <a:t> is a version of a Trojan Horse that is often included in "free" software downloaded off the Internet. </a:t>
            </a:r>
          </a:p>
          <a:p>
            <a:pPr algn="just">
              <a:lnSpc>
                <a:spcPct val="150000"/>
              </a:lnSpc>
            </a:pPr>
            <a:r>
              <a:rPr lang="en-US" sz="2000" b="0" dirty="0">
                <a:effectLst/>
                <a:latin typeface="Times New Roman" panose="02020603050405020304" pitchFamily="18" charset="0"/>
              </a:rPr>
              <a:t>Spyware programs generate pop-up browser windows, and may also accumulate information about the user and deliver it to some central site. (This is an example of </a:t>
            </a:r>
            <a:r>
              <a:rPr lang="en-US" sz="2000" b="1" dirty="0">
                <a:effectLst/>
                <a:latin typeface="Times New Roman" panose="02020603050405020304" pitchFamily="18" charset="0"/>
              </a:rPr>
              <a:t>covert channels, </a:t>
            </a:r>
            <a:r>
              <a:rPr lang="en-US" sz="2000" b="0" dirty="0">
                <a:effectLst/>
                <a:latin typeface="Times New Roman" panose="02020603050405020304" pitchFamily="18" charset="0"/>
              </a:rPr>
              <a:t>in which surreptitious communications occur.)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2B9B2A-F9C3-44CE-8BF4-DA0252917C6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8" name="TextBox 7">
            <a:extLst>
              <a:ext uri="{FF2B5EF4-FFF2-40B4-BE49-F238E27FC236}">
                <a16:creationId xmlns:a16="http://schemas.microsoft.com/office/drawing/2014/main" id="{3302D26C-F06E-438F-A215-226F24672348}"/>
              </a:ext>
            </a:extLst>
          </p:cNvPr>
          <p:cNvSpPr txBox="1"/>
          <p:nvPr/>
        </p:nvSpPr>
        <p:spPr>
          <a:xfrm>
            <a:off x="562709" y="506437"/>
            <a:ext cx="8356208" cy="280698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rPr>
              <a:t>Another common task of spyware is to send out spam e-mail messages, which then purportedly come from the infected user.</a:t>
            </a:r>
          </a:p>
          <a:p>
            <a:pPr marL="285750" indent="-285750" algn="just">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Up to 80% of spam delivered by spyware-infected systems</a:t>
            </a:r>
          </a:p>
          <a:p>
            <a:pPr marL="285750" indent="-285750" algn="just">
              <a:lnSpc>
                <a:spcPct val="150000"/>
              </a:lnSpc>
              <a:buFont typeface="Arial" panose="020B0604020202020204" pitchFamily="34" charset="0"/>
              <a:buChar char="•"/>
            </a:pPr>
            <a:r>
              <a:rPr lang="en-US" sz="2000" b="0" i="0" dirty="0">
                <a:effectLst/>
                <a:latin typeface="Times New Roman" panose="02020603050405020304" pitchFamily="18" charset="0"/>
              </a:rPr>
              <a:t>Two solutions to Trojan Horses are to have the system print usage statistics on logouts, and to require the typing of non-trappable key sequences such as Control-Alt-Delete in order to log in.</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5776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a:extLst>
              <a:ext uri="{FF2B5EF4-FFF2-40B4-BE49-F238E27FC236}">
                <a16:creationId xmlns:a16="http://schemas.microsoft.com/office/drawing/2014/main" id="{4205031E-F8AB-4686-87D5-C4BB70A46E55}"/>
              </a:ext>
            </a:extLst>
          </p:cNvPr>
          <p:cNvSpPr>
            <a:spLocks noGrp="1"/>
          </p:cNvSpPr>
          <p:nvPr>
            <p:ph idx="1"/>
          </p:nvPr>
        </p:nvSpPr>
        <p:spPr>
          <a:xfrm>
            <a:off x="414997" y="527539"/>
            <a:ext cx="8314006" cy="6077243"/>
          </a:xfrm>
        </p:spPr>
        <p:txBody>
          <a:bodyPr>
            <a:noAutofit/>
          </a:bodyPr>
          <a:lstStyle/>
          <a:p>
            <a:pPr marL="0" indent="0" algn="just">
              <a:lnSpc>
                <a:spcPct val="150000"/>
              </a:lnSpc>
              <a:buNone/>
            </a:pPr>
            <a:r>
              <a:rPr lang="en-US" altLang="en-US" sz="2000" b="1" dirty="0">
                <a:latin typeface="Times New Roman" panose="02020603050405020304" pitchFamily="18" charset="0"/>
                <a:cs typeface="Times New Roman" panose="02020603050405020304" pitchFamily="18" charset="0"/>
              </a:rPr>
              <a:t>Trap Door</a:t>
            </a:r>
          </a:p>
          <a:p>
            <a:pPr algn="just">
              <a:lnSpc>
                <a:spcPct val="150000"/>
              </a:lnSpc>
              <a:buFont typeface="Arial" panose="020B0604020202020204" pitchFamily="34" charset="0"/>
              <a:buChar char="•"/>
            </a:pPr>
            <a:r>
              <a:rPr lang="en-US" sz="2000" b="0" dirty="0">
                <a:solidFill>
                  <a:srgbClr val="000000"/>
                </a:solidFill>
                <a:effectLst/>
                <a:latin typeface="Times New Roman" panose="02020603050405020304" pitchFamily="18" charset="0"/>
              </a:rPr>
              <a:t>A</a:t>
            </a:r>
            <a:r>
              <a:rPr lang="en-US" sz="2000" b="1" dirty="0">
                <a:solidFill>
                  <a:srgbClr val="000000"/>
                </a:solidFill>
                <a:effectLst/>
                <a:latin typeface="Times New Roman" panose="02020603050405020304" pitchFamily="18" charset="0"/>
              </a:rPr>
              <a:t> Trap Door </a:t>
            </a:r>
            <a:r>
              <a:rPr lang="en-US" sz="2000" b="0" dirty="0">
                <a:solidFill>
                  <a:srgbClr val="000000"/>
                </a:solidFill>
                <a:effectLst/>
                <a:latin typeface="Times New Roman" panose="02020603050405020304" pitchFamily="18" charset="0"/>
              </a:rPr>
              <a:t>is when a designer or a programmer ( or hacker ) deliberately inserts a security hole that they can use later to access the system.</a:t>
            </a:r>
          </a:p>
          <a:p>
            <a:pPr algn="just">
              <a:lnSpc>
                <a:spcPct val="150000"/>
              </a:lnSpc>
              <a:buFont typeface="Arial" panose="020B0604020202020204" pitchFamily="34" charset="0"/>
              <a:buChar char="•"/>
            </a:pPr>
            <a:r>
              <a:rPr lang="en-US" sz="2000" b="0" dirty="0">
                <a:solidFill>
                  <a:srgbClr val="000000"/>
                </a:solidFill>
                <a:effectLst/>
                <a:latin typeface="Times New Roman" panose="02020603050405020304" pitchFamily="18" charset="0"/>
              </a:rPr>
              <a:t>Because of the possibility of trap doors, once a system has been in an untrustworthy state, that system can never be trusted again. Even the backup tapes may contain a copy of some cleverly hidden back door.</a:t>
            </a:r>
          </a:p>
          <a:p>
            <a:pPr algn="just">
              <a:lnSpc>
                <a:spcPct val="150000"/>
              </a:lnSpc>
              <a:buFont typeface="Arial" panose="020B0604020202020204" pitchFamily="34" charset="0"/>
              <a:buChar char="•"/>
            </a:pPr>
            <a:r>
              <a:rPr lang="en-US" sz="2000" b="0" dirty="0">
                <a:solidFill>
                  <a:srgbClr val="000000"/>
                </a:solidFill>
                <a:effectLst/>
                <a:latin typeface="Times New Roman" panose="02020603050405020304" pitchFamily="18" charset="0"/>
              </a:rPr>
              <a:t>A clever trap door could be inserted into a compiler, so that any programs compiled with that compiler would contain a security hole. This is especially dangerous, because inspection of the code being compiled would not reveal any problems.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5F9AEF-D296-4468-916C-76D0807F7E3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6" name="TextBox 5">
            <a:extLst>
              <a:ext uri="{FF2B5EF4-FFF2-40B4-BE49-F238E27FC236}">
                <a16:creationId xmlns:a16="http://schemas.microsoft.com/office/drawing/2014/main" id="{8A22D308-2B49-47B2-B4AB-0515E5E19366}"/>
              </a:ext>
            </a:extLst>
          </p:cNvPr>
          <p:cNvSpPr txBox="1"/>
          <p:nvPr/>
        </p:nvSpPr>
        <p:spPr>
          <a:xfrm>
            <a:off x="344658" y="238133"/>
            <a:ext cx="8306973" cy="6261141"/>
          </a:xfrm>
          <a:prstGeom prst="rect">
            <a:avLst/>
          </a:prstGeom>
          <a:noFill/>
        </p:spPr>
        <p:txBody>
          <a:bodyPr wrap="square">
            <a:spAutoFit/>
          </a:bodyPr>
          <a:lstStyle/>
          <a:p>
            <a:pPr algn="just">
              <a:lnSpc>
                <a:spcPct val="150000"/>
              </a:lnSpc>
            </a:pPr>
            <a:r>
              <a:rPr lang="en-US" altLang="en-US" sz="2000" b="1" dirty="0">
                <a:latin typeface="Times New Roman" panose="02020603050405020304" pitchFamily="18" charset="0"/>
                <a:cs typeface="Times New Roman" panose="02020603050405020304" pitchFamily="18" charset="0"/>
              </a:rPr>
              <a:t>Logic Bomb</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rPr>
              <a:t>A</a:t>
            </a:r>
            <a:r>
              <a:rPr lang="en-US" sz="2000" b="1" i="1" dirty="0">
                <a:effectLst/>
                <a:latin typeface="Times New Roman" panose="02020603050405020304" pitchFamily="18" charset="0"/>
              </a:rPr>
              <a:t> Logic Bomb </a:t>
            </a:r>
            <a:r>
              <a:rPr lang="en-US" sz="2000" b="0" i="0" dirty="0">
                <a:effectLst/>
                <a:latin typeface="Times New Roman" panose="02020603050405020304" pitchFamily="18" charset="0"/>
              </a:rPr>
              <a:t>is code that is not designed to cause havoc all the time, but only when a certain set of circumstances occurs, such as when a particular date or time is reached or some other noticeable event.</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rPr>
              <a:t>A classic example is the </a:t>
            </a:r>
            <a:r>
              <a:rPr lang="en-US" sz="2000" b="1" i="1" dirty="0">
                <a:effectLst/>
                <a:latin typeface="Times New Roman" panose="02020603050405020304" pitchFamily="18" charset="0"/>
              </a:rPr>
              <a:t>Dead-Man Switch</a:t>
            </a:r>
            <a:r>
              <a:rPr lang="en-US" sz="2000" b="0" i="0" dirty="0">
                <a:effectLst/>
                <a:latin typeface="Times New Roman" panose="02020603050405020304" pitchFamily="18" charset="0"/>
              </a:rPr>
              <a:t>, which is designed to check whether a certain person ( e.g. the author ) is logging in every day, and if they don't log in for a long time ( presumably because they've been fired ), then the logic bomb goes off and either opens up security holes or causes other problems.</a:t>
            </a:r>
            <a:endParaRPr lang="en-US" altLang="en-US" sz="2000" b="1" dirty="0">
              <a:latin typeface="Times New Roman" panose="02020603050405020304" pitchFamily="18" charset="0"/>
              <a:cs typeface="Times New Roman" panose="02020603050405020304" pitchFamily="18" charset="0"/>
            </a:endParaRPr>
          </a:p>
          <a:p>
            <a:pPr algn="just">
              <a:lnSpc>
                <a:spcPct val="150000"/>
              </a:lnSpc>
            </a:pPr>
            <a:r>
              <a:rPr lang="en-US" altLang="en-US" sz="2000" b="1" dirty="0">
                <a:latin typeface="Times New Roman" panose="02020603050405020304" pitchFamily="18" charset="0"/>
                <a:cs typeface="Times New Roman" panose="02020603050405020304" pitchFamily="18" charset="0"/>
              </a:rPr>
              <a:t>Stack and Buffer Overflow</a:t>
            </a:r>
          </a:p>
          <a:p>
            <a:pPr marL="342900" indent="-342900" algn="just">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Exploits a bug in a program (overflow either the stack or memory buffers)</a:t>
            </a:r>
          </a:p>
          <a:p>
            <a:pPr marL="342900" indent="-342900" algn="just">
              <a:lnSpc>
                <a:spcPct val="150000"/>
              </a:lnSpc>
              <a:buFont typeface="Arial" panose="020B0604020202020204" pitchFamily="34" charset="0"/>
              <a:buChar char="•"/>
            </a:pPr>
            <a:r>
              <a:rPr lang="en-US" sz="2000" b="0" i="0" dirty="0">
                <a:effectLst/>
                <a:latin typeface="Times New Roman" panose="02020603050405020304" pitchFamily="18" charset="0"/>
              </a:rPr>
              <a:t>Consider what happens in the following code, for example, if </a:t>
            </a:r>
            <a:r>
              <a:rPr lang="en-US" sz="2000" b="0" i="0" dirty="0" err="1">
                <a:effectLst/>
                <a:latin typeface="Times New Roman" panose="02020603050405020304" pitchFamily="18" charset="0"/>
              </a:rPr>
              <a:t>argv</a:t>
            </a:r>
            <a:r>
              <a:rPr lang="en-US" sz="2000" b="0" i="0" dirty="0">
                <a:effectLst/>
                <a:latin typeface="Times New Roman" panose="02020603050405020304" pitchFamily="18" charset="0"/>
              </a:rPr>
              <a:t>[ 1 ] exceeds 256 characters:</a:t>
            </a:r>
          </a:p>
        </p:txBody>
      </p:sp>
    </p:spTree>
    <p:extLst>
      <p:ext uri="{BB962C8B-B14F-4D97-AF65-F5344CB8AC3E}">
        <p14:creationId xmlns:p14="http://schemas.microsoft.com/office/powerpoint/2010/main" val="2451858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id="{822AFAF1-1314-4759-9883-303A2948062C}"/>
              </a:ext>
            </a:extLst>
          </p:cNvPr>
          <p:cNvSpPr>
            <a:spLocks noGrp="1" noChangeArrowheads="1"/>
          </p:cNvSpPr>
          <p:nvPr>
            <p:ph type="body" idx="1"/>
          </p:nvPr>
        </p:nvSpPr>
        <p:spPr>
          <a:xfrm>
            <a:off x="464235" y="295422"/>
            <a:ext cx="7765366" cy="6246055"/>
          </a:xfrm>
        </p:spPr>
        <p:txBody>
          <a:bodyPr>
            <a:noAutofit/>
          </a:bodyPr>
          <a:lstStyle/>
          <a:p>
            <a:pPr marL="0" indent="0" algn="just">
              <a:lnSpc>
                <a:spcPct val="150000"/>
              </a:lnSpc>
              <a:buNone/>
            </a:pPr>
            <a:r>
              <a:rPr lang="en-US" altLang="en-US" sz="2000" b="1" dirty="0">
                <a:latin typeface="Times New Roman" panose="02020603050405020304" pitchFamily="18" charset="0"/>
                <a:cs typeface="Times New Roman" panose="02020603050405020304" pitchFamily="18" charset="0"/>
              </a:rPr>
              <a:t>Viruses</a:t>
            </a:r>
          </a:p>
          <a:p>
            <a:pPr lvl="1" algn="just">
              <a:lnSpc>
                <a:spcPct val="150000"/>
              </a:lnSpc>
            </a:pPr>
            <a:r>
              <a:rPr lang="en-US" altLang="en-US" sz="2000" dirty="0">
                <a:latin typeface="Times New Roman" panose="02020603050405020304" pitchFamily="18" charset="0"/>
                <a:cs typeface="Times New Roman" panose="02020603050405020304" pitchFamily="18" charset="0"/>
              </a:rPr>
              <a:t>Code fragment embedded in legitimate program</a:t>
            </a:r>
          </a:p>
          <a:p>
            <a:pPr lvl="1" algn="just">
              <a:lnSpc>
                <a:spcPct val="150000"/>
              </a:lnSpc>
            </a:pPr>
            <a:r>
              <a:rPr lang="en-US" altLang="en-US" sz="2000" dirty="0">
                <a:latin typeface="Times New Roman" panose="02020603050405020304" pitchFamily="18" charset="0"/>
                <a:cs typeface="Times New Roman" panose="02020603050405020304" pitchFamily="18" charset="0"/>
              </a:rPr>
              <a:t>Self-replicating, designed to infect other computers</a:t>
            </a:r>
          </a:p>
          <a:p>
            <a:pPr lvl="1" algn="just">
              <a:lnSpc>
                <a:spcPct val="150000"/>
              </a:lnSpc>
            </a:pPr>
            <a:r>
              <a:rPr lang="en-US" altLang="en-US" sz="2000" dirty="0">
                <a:latin typeface="Times New Roman" panose="02020603050405020304" pitchFamily="18" charset="0"/>
                <a:cs typeface="Times New Roman" panose="02020603050405020304" pitchFamily="18" charset="0"/>
              </a:rPr>
              <a:t>Very specific to CPU architecture, operating system, applications</a:t>
            </a:r>
          </a:p>
          <a:p>
            <a:pPr lvl="1" algn="just">
              <a:lnSpc>
                <a:spcPct val="150000"/>
              </a:lnSpc>
            </a:pPr>
            <a:r>
              <a:rPr lang="en-US" sz="2000" b="0" i="0" u="none" strike="noStrike" baseline="0" dirty="0">
                <a:latin typeface="Times New Roman" panose="02020603050405020304" pitchFamily="18" charset="0"/>
                <a:cs typeface="Times New Roman" panose="02020603050405020304" pitchFamily="18" charset="0"/>
              </a:rPr>
              <a:t>usually some form of a Trojan Horse, and usually via e-mail or unsafe downloads. </a:t>
            </a:r>
          </a:p>
          <a:p>
            <a:pPr marL="457200" lvl="1" indent="0" algn="just">
              <a:lnSpc>
                <a:spcPct val="150000"/>
              </a:lnSpc>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C0B2C5C-7EB8-4EC5-A0A5-DAE6360E467C}"/>
              </a:ext>
            </a:extLst>
          </p:cNvPr>
          <p:cNvSpPr>
            <a:spLocks noGrp="1" noChangeArrowheads="1"/>
          </p:cNvSpPr>
          <p:nvPr>
            <p:ph type="title"/>
          </p:nvPr>
        </p:nvSpPr>
        <p:spPr>
          <a:xfrm>
            <a:off x="827088" y="141288"/>
            <a:ext cx="7859712" cy="576262"/>
          </a:xfrm>
        </p:spPr>
        <p:txBody>
          <a:bodyPr>
            <a:noAutofit/>
          </a:bodyPr>
          <a:lstStyle/>
          <a:p>
            <a:pPr algn="ctr" eaLnBrk="1" hangingPunct="1"/>
            <a:r>
              <a:rPr lang="en-US" altLang="en-US" sz="2800" b="1" dirty="0">
                <a:latin typeface="Times New Roman" panose="02020603050405020304" pitchFamily="18" charset="0"/>
                <a:cs typeface="Times New Roman" panose="02020603050405020304" pitchFamily="18" charset="0"/>
              </a:rPr>
              <a:t>System Threats</a:t>
            </a:r>
          </a:p>
        </p:txBody>
      </p:sp>
      <p:sp>
        <p:nvSpPr>
          <p:cNvPr id="22531" name="Rectangle 3">
            <a:extLst>
              <a:ext uri="{FF2B5EF4-FFF2-40B4-BE49-F238E27FC236}">
                <a16:creationId xmlns:a16="http://schemas.microsoft.com/office/drawing/2014/main" id="{BAE2F18B-BD9B-417B-BF24-F9720E793917}"/>
              </a:ext>
            </a:extLst>
          </p:cNvPr>
          <p:cNvSpPr>
            <a:spLocks noGrp="1" noChangeArrowheads="1"/>
          </p:cNvSpPr>
          <p:nvPr>
            <p:ph type="body" idx="1"/>
          </p:nvPr>
        </p:nvSpPr>
        <p:spPr>
          <a:xfrm>
            <a:off x="847725" y="1138238"/>
            <a:ext cx="7859712" cy="3630709"/>
          </a:xfrm>
        </p:spPr>
        <p:txBody>
          <a:bodyPr>
            <a:normAutofit/>
          </a:bodyPr>
          <a:lstStyle/>
          <a:p>
            <a:pPr algn="just">
              <a:lnSpc>
                <a:spcPct val="150000"/>
              </a:lnSpc>
            </a:pPr>
            <a:r>
              <a:rPr lang="en-US" sz="2000" i="0" dirty="0">
                <a:solidFill>
                  <a:srgbClr val="202124"/>
                </a:solidFill>
                <a:effectLst/>
                <a:latin typeface="Times New Roman" panose="02020603050405020304" pitchFamily="18" charset="0"/>
                <a:cs typeface="Times New Roman" panose="02020603050405020304" pitchFamily="18" charset="0"/>
              </a:rPr>
              <a:t>System threats refers to misuse of system services and network connections to put user in trouble.</a:t>
            </a:r>
          </a:p>
          <a:p>
            <a:pPr algn="just">
              <a:lnSpc>
                <a:spcPct val="150000"/>
              </a:lnSpc>
            </a:pPr>
            <a:r>
              <a:rPr lang="en-US" sz="2000" i="0" dirty="0">
                <a:solidFill>
                  <a:srgbClr val="202124"/>
                </a:solidFill>
                <a:effectLst/>
                <a:latin typeface="Times New Roman" panose="02020603050405020304" pitchFamily="18" charset="0"/>
                <a:cs typeface="Times New Roman" panose="02020603050405020304" pitchFamily="18" charset="0"/>
              </a:rPr>
              <a:t>System threats can be used to launch program threats on a complete network called as program attack.</a:t>
            </a:r>
          </a:p>
          <a:p>
            <a:pPr algn="just">
              <a:lnSpc>
                <a:spcPct val="150000"/>
              </a:lnSpc>
            </a:pPr>
            <a:r>
              <a:rPr lang="en-US" sz="2000" i="0" dirty="0">
                <a:solidFill>
                  <a:srgbClr val="202124"/>
                </a:solidFill>
                <a:effectLst/>
                <a:latin typeface="Times New Roman" panose="02020603050405020304" pitchFamily="18" charset="0"/>
                <a:cs typeface="Times New Roman" panose="02020603050405020304" pitchFamily="18" charset="0"/>
              </a:rPr>
              <a:t>System threats creates such an environment that operating system resources/ user files are misused.</a:t>
            </a:r>
            <a:endParaRPr lang="en-US" altLang="en-US"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5B8E0C4F-01D5-4166-8E47-7C0EB718085A}"/>
              </a:ext>
            </a:extLst>
          </p:cNvPr>
          <p:cNvSpPr>
            <a:spLocks noGrp="1" noChangeArrowheads="1"/>
          </p:cNvSpPr>
          <p:nvPr>
            <p:ph type="body" idx="1"/>
          </p:nvPr>
        </p:nvSpPr>
        <p:spPr>
          <a:xfrm>
            <a:off x="590843" y="379828"/>
            <a:ext cx="7990449" cy="6217919"/>
          </a:xfrm>
        </p:spPr>
        <p:txBody>
          <a:bodyPr>
            <a:noAutofit/>
          </a:bodyPr>
          <a:lstStyle/>
          <a:p>
            <a:pPr marL="0" indent="0" algn="just">
              <a:lnSpc>
                <a:spcPct val="150000"/>
              </a:lnSpc>
              <a:buNone/>
            </a:pPr>
            <a:r>
              <a:rPr lang="en-US" altLang="en-US" sz="2000" b="1" dirty="0">
                <a:latin typeface="Times New Roman" panose="02020603050405020304" pitchFamily="18" charset="0"/>
                <a:cs typeface="Times New Roman" panose="02020603050405020304" pitchFamily="18" charset="0"/>
              </a:rPr>
              <a:t>Worms</a:t>
            </a:r>
            <a:r>
              <a:rPr lang="en-US" altLang="en-US" sz="2000" dirty="0">
                <a:latin typeface="Times New Roman" panose="02020603050405020304" pitchFamily="18" charset="0"/>
                <a:cs typeface="Times New Roman" panose="02020603050405020304" pitchFamily="18" charset="0"/>
              </a:rPr>
              <a:t> </a:t>
            </a:r>
          </a:p>
          <a:p>
            <a:pPr algn="just">
              <a:lnSpc>
                <a:spcPct val="150000"/>
              </a:lnSpc>
            </a:pPr>
            <a:r>
              <a:rPr lang="en-US" sz="2000" b="0" u="none" strike="noStrike" baseline="0" dirty="0">
                <a:latin typeface="Times New Roman" panose="02020603050405020304" pitchFamily="18" charset="0"/>
              </a:rPr>
              <a:t>A </a:t>
            </a:r>
            <a:r>
              <a:rPr lang="en-US" sz="2000" b="1" u="none" strike="noStrike" baseline="0" dirty="0">
                <a:latin typeface="Times New Roman" panose="02020603050405020304" pitchFamily="18" charset="0"/>
              </a:rPr>
              <a:t>worm </a:t>
            </a:r>
            <a:r>
              <a:rPr lang="en-US" sz="2000" b="0" u="none" strike="noStrike" baseline="0" dirty="0">
                <a:latin typeface="Times New Roman" panose="02020603050405020304" pitchFamily="18" charset="0"/>
              </a:rPr>
              <a:t>is a process that uses the </a:t>
            </a:r>
            <a:r>
              <a:rPr lang="en-US" sz="2000" b="1" u="none" strike="noStrike" baseline="0" dirty="0">
                <a:latin typeface="Times New Roman" panose="02020603050405020304" pitchFamily="18" charset="0"/>
              </a:rPr>
              <a:t>fork / spawn </a:t>
            </a:r>
            <a:r>
              <a:rPr lang="en-US" sz="2000" b="0" u="none" strike="noStrike" baseline="0" dirty="0">
                <a:latin typeface="Times New Roman" panose="02020603050405020304" pitchFamily="18" charset="0"/>
              </a:rPr>
              <a:t>process to make copies of itself in order to wreak havoc on a system. </a:t>
            </a:r>
          </a:p>
          <a:p>
            <a:pPr algn="just">
              <a:lnSpc>
                <a:spcPct val="150000"/>
              </a:lnSpc>
            </a:pPr>
            <a:r>
              <a:rPr lang="en-US" sz="2000" b="0" dirty="0">
                <a:effectLst/>
                <a:latin typeface="Times New Roman" panose="02020603050405020304" pitchFamily="18" charset="0"/>
              </a:rPr>
              <a:t>Worms consume system resources, often blocking out other, legitimate processes. Worms that propagate over networks can be especially problematic, as they can tie up vast amounts of network resources and bring down large-scale systems.</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0114C40-D261-4DFF-8BDD-44AFD14FEFC7}"/>
              </a:ext>
            </a:extLst>
          </p:cNvPr>
          <p:cNvSpPr txBox="1"/>
          <p:nvPr/>
        </p:nvSpPr>
        <p:spPr>
          <a:xfrm>
            <a:off x="407963" y="167450"/>
            <a:ext cx="8173330" cy="742511"/>
          </a:xfrm>
          <a:prstGeom prst="rect">
            <a:avLst/>
          </a:prstGeom>
          <a:noFill/>
        </p:spPr>
        <p:txBody>
          <a:bodyPr wrap="square">
            <a:spAutoFit/>
          </a:bodyPr>
          <a:lstStyle/>
          <a:p>
            <a:pPr marL="0" indent="0" algn="just">
              <a:lnSpc>
                <a:spcPct val="150000"/>
              </a:lnSpc>
              <a:buNone/>
            </a:pPr>
            <a:r>
              <a:rPr lang="en-US" sz="3200" b="0" dirty="0">
                <a:effectLst/>
                <a:latin typeface="Times New Roman" panose="02020603050405020304" pitchFamily="18" charset="0"/>
              </a:rPr>
              <a:t>                    viruses</a:t>
            </a:r>
          </a:p>
        </p:txBody>
      </p:sp>
      <p:sp>
        <p:nvSpPr>
          <p:cNvPr id="2" name="Rectangle 1"/>
          <p:cNvSpPr/>
          <p:nvPr/>
        </p:nvSpPr>
        <p:spPr>
          <a:xfrm>
            <a:off x="407962" y="1291212"/>
            <a:ext cx="8736037" cy="1631216"/>
          </a:xfrm>
          <a:prstGeom prst="rect">
            <a:avLst/>
          </a:prstGeom>
        </p:spPr>
        <p:txBody>
          <a:bodyPr wrap="square">
            <a:spAutoFit/>
          </a:bodyPr>
          <a:lstStyle/>
          <a:p>
            <a:pPr algn="just"/>
            <a:r>
              <a:rPr lang="en-US" sz="2000" dirty="0">
                <a:solidFill>
                  <a:srgbClr val="000000"/>
                </a:solidFill>
                <a:latin typeface="Times New Roman" panose="02020603050405020304" pitchFamily="18" charset="0"/>
                <a:cs typeface="Times New Roman" panose="02020603050405020304" pitchFamily="18" charset="0"/>
              </a:rPr>
              <a:t> Virus as name suggest can replicate themselves on computer system. They are highly dangerous and can modify/delete user files, crash systems. A virus is </a:t>
            </a:r>
            <a:r>
              <a:rPr lang="en-US" sz="2000" dirty="0" err="1">
                <a:solidFill>
                  <a:srgbClr val="000000"/>
                </a:solidFill>
                <a:latin typeface="Times New Roman" panose="02020603050405020304" pitchFamily="18" charset="0"/>
                <a:cs typeface="Times New Roman" panose="02020603050405020304" pitchFamily="18" charset="0"/>
              </a:rPr>
              <a:t>generatlly</a:t>
            </a:r>
            <a:r>
              <a:rPr lang="en-US" sz="2000" dirty="0">
                <a:solidFill>
                  <a:srgbClr val="000000"/>
                </a:solidFill>
                <a:latin typeface="Times New Roman" panose="02020603050405020304" pitchFamily="18" charset="0"/>
                <a:cs typeface="Times New Roman" panose="02020603050405020304" pitchFamily="18" charset="0"/>
              </a:rPr>
              <a:t> a small code embedded in a program. As user accesses the program, the virus starts getting embedded in other files/ programs and can make system unusable for user.</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Content Placeholder 2">
            <a:extLst>
              <a:ext uri="{FF2B5EF4-FFF2-40B4-BE49-F238E27FC236}">
                <a16:creationId xmlns:a16="http://schemas.microsoft.com/office/drawing/2014/main" id="{FF8D6B2E-76E5-43EC-9405-2D59C701C905}"/>
              </a:ext>
            </a:extLst>
          </p:cNvPr>
          <p:cNvSpPr>
            <a:spLocks noGrp="1"/>
          </p:cNvSpPr>
          <p:nvPr>
            <p:ph idx="1"/>
          </p:nvPr>
        </p:nvSpPr>
        <p:spPr>
          <a:xfrm>
            <a:off x="548640" y="256735"/>
            <a:ext cx="8046719" cy="6344529"/>
          </a:xfrm>
        </p:spPr>
        <p:txBody>
          <a:bodyPr>
            <a:noAutofit/>
          </a:bodyPr>
          <a:lstStyle/>
          <a:p>
            <a:pPr algn="just">
              <a:lnSpc>
                <a:spcPct val="150000"/>
              </a:lnSpc>
            </a:pPr>
            <a:r>
              <a:rPr lang="en-US" sz="2000" b="0" dirty="0">
                <a:effectLst/>
                <a:latin typeface="Times New Roman" panose="02020603050405020304" pitchFamily="18" charset="0"/>
              </a:rPr>
              <a:t>There are also port scanners available that administrators can use to check their own systems, which report any weaknesses found but which do not exploit the weaknesses or cause any problems. Two such systems are </a:t>
            </a:r>
            <a:r>
              <a:rPr lang="en-US" sz="2000" b="1" dirty="0" err="1">
                <a:effectLst/>
                <a:latin typeface="Times New Roman" panose="02020603050405020304" pitchFamily="18" charset="0"/>
              </a:rPr>
              <a:t>nmap</a:t>
            </a:r>
            <a:r>
              <a:rPr lang="en-US" sz="2000" b="1" dirty="0">
                <a:effectLst/>
                <a:latin typeface="Times New Roman" panose="02020603050405020304" pitchFamily="18" charset="0"/>
              </a:rPr>
              <a:t> </a:t>
            </a:r>
            <a:r>
              <a:rPr lang="en-US" sz="2000" b="0" dirty="0">
                <a:effectLst/>
                <a:latin typeface="Times New Roman" panose="02020603050405020304" pitchFamily="18" charset="0"/>
              </a:rPr>
              <a:t> and </a:t>
            </a:r>
            <a:r>
              <a:rPr lang="en-US" sz="2000" b="1" dirty="0" err="1">
                <a:effectLst/>
                <a:latin typeface="Times New Roman" panose="02020603050405020304" pitchFamily="18" charset="0"/>
              </a:rPr>
              <a:t>nessus</a:t>
            </a:r>
            <a:r>
              <a:rPr lang="en-US" sz="2000" b="0" dirty="0">
                <a:effectLst/>
                <a:latin typeface="Times New Roman" panose="02020603050405020304" pitchFamily="18" charset="0"/>
              </a:rPr>
              <a:t> .</a:t>
            </a:r>
            <a:endParaRPr lang="en-US" altLang="en-US" sz="20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altLang="en-US" sz="2000" b="1" dirty="0">
                <a:latin typeface="Times New Roman" panose="02020603050405020304" pitchFamily="18" charset="0"/>
                <a:cs typeface="Times New Roman" panose="02020603050405020304" pitchFamily="18" charset="0"/>
              </a:rPr>
              <a:t>Denial of Service</a:t>
            </a:r>
          </a:p>
          <a:p>
            <a:pPr algn="just">
              <a:lnSpc>
                <a:spcPct val="150000"/>
              </a:lnSpc>
            </a:pPr>
            <a:r>
              <a:rPr lang="en-US" sz="2000" b="0" i="0" dirty="0">
                <a:effectLst/>
                <a:latin typeface="Times New Roman" panose="02020603050405020304" pitchFamily="18" charset="0"/>
                <a:cs typeface="Times New Roman" panose="02020603050405020304" pitchFamily="18" charset="0"/>
              </a:rPr>
              <a:t>A </a:t>
            </a:r>
            <a:r>
              <a:rPr lang="en-US" sz="2000" b="1" i="0" dirty="0">
                <a:effectLst/>
                <a:latin typeface="Times New Roman" panose="02020603050405020304" pitchFamily="18" charset="0"/>
                <a:cs typeface="Times New Roman" panose="02020603050405020304" pitchFamily="18" charset="0"/>
              </a:rPr>
              <a:t>Denial-of-Service</a:t>
            </a:r>
            <a:r>
              <a:rPr lang="en-US" sz="2000" b="0" i="0" dirty="0">
                <a:effectLst/>
                <a:latin typeface="Times New Roman" panose="02020603050405020304" pitchFamily="18" charset="0"/>
                <a:cs typeface="Times New Roman" panose="02020603050405020304" pitchFamily="18" charset="0"/>
              </a:rPr>
              <a:t> (DoS) attack is an attack meant to shut down a machine or network, making it inaccessible to its intended users.</a:t>
            </a:r>
          </a:p>
          <a:p>
            <a:pPr algn="just">
              <a:lnSpc>
                <a:spcPct val="150000"/>
              </a:lnSpc>
            </a:pPr>
            <a:r>
              <a:rPr lang="en-US" altLang="en-US" sz="2000" dirty="0">
                <a:latin typeface="Times New Roman" panose="02020603050405020304" pitchFamily="18" charset="0"/>
                <a:cs typeface="Times New Roman" panose="02020603050405020304" pitchFamily="18" charset="0"/>
              </a:rPr>
              <a:t>Overload the targeted computer preventing it from doing any useful work</a:t>
            </a:r>
          </a:p>
          <a:p>
            <a:pPr algn="just">
              <a:lnSpc>
                <a:spcPct val="150000"/>
              </a:lnSpc>
            </a:pPr>
            <a:r>
              <a:rPr lang="en-US" sz="2000" b="0" i="0" dirty="0">
                <a:effectLst/>
                <a:latin typeface="Times New Roman" panose="02020603050405020304" pitchFamily="18" charset="0"/>
                <a:cs typeface="Times New Roman" panose="02020603050405020304" pitchFamily="18" charset="0"/>
              </a:rPr>
              <a:t>For example, a user may not be able to use internet if denial of service attacks browser's content settings.</a:t>
            </a:r>
            <a:endParaRPr lang="en-US" altLang="en-US" sz="2000" dirty="0">
              <a:latin typeface="Times New Roman" panose="02020603050405020304" pitchFamily="18" charset="0"/>
              <a:cs typeface="Times New Roman" panose="02020603050405020304" pitchFamily="18" charset="0"/>
            </a:endParaRPr>
          </a:p>
          <a:p>
            <a:pPr algn="just">
              <a:lnSpc>
                <a:spcPct val="150000"/>
              </a:lnSpc>
            </a:pPr>
            <a:r>
              <a:rPr lang="en-US" altLang="en-US" sz="2000" b="1" dirty="0">
                <a:latin typeface="Times New Roman" panose="02020603050405020304" pitchFamily="18" charset="0"/>
                <a:cs typeface="Times New Roman" panose="02020603050405020304" pitchFamily="18" charset="0"/>
              </a:rPr>
              <a:t>Distributed denial-of-service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DDOS</a:t>
            </a:r>
            <a:r>
              <a:rPr lang="en-US" altLang="en-US" sz="2000" dirty="0">
                <a:latin typeface="Times New Roman" panose="02020603050405020304" pitchFamily="18" charset="0"/>
                <a:cs typeface="Times New Roman" panose="02020603050405020304" pitchFamily="18" charset="0"/>
              </a:rPr>
              <a:t>) come from multiple sites at once</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8763</TotalTime>
  <Words>2202</Words>
  <Application>Microsoft Office PowerPoint</Application>
  <PresentationFormat>On-screen Show (4:3)</PresentationFormat>
  <Paragraphs>128</Paragraphs>
  <Slides>21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Times New Roman</vt:lpstr>
      <vt:lpstr>Calibri Light</vt:lpstr>
      <vt:lpstr>Helvetica</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 Threats</vt:lpstr>
      <vt:lpstr>PowerPoint Presentation</vt:lpstr>
      <vt:lpstr>PowerPoint Presentation</vt:lpstr>
      <vt:lpstr>PowerPoint Presentation</vt:lpstr>
      <vt:lpstr>PowerPoint Presentation</vt:lpstr>
      <vt:lpstr>System Threats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Nabaraj</dc:creator>
  <cp:lastModifiedBy>Arjun Gautam</cp:lastModifiedBy>
  <cp:revision>3343</cp:revision>
  <dcterms:modified xsi:type="dcterms:W3CDTF">2025-08-21T08:00:44Z</dcterms:modified>
</cp:coreProperties>
</file>