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43"/>
  </p:notesMasterIdLst>
  <p:sldIdLst>
    <p:sldId id="408" r:id="rId2"/>
    <p:sldId id="456" r:id="rId3"/>
    <p:sldId id="409" r:id="rId4"/>
    <p:sldId id="410" r:id="rId5"/>
    <p:sldId id="411" r:id="rId6"/>
    <p:sldId id="412" r:id="rId7"/>
    <p:sldId id="414" r:id="rId8"/>
    <p:sldId id="416" r:id="rId9"/>
    <p:sldId id="417" r:id="rId10"/>
    <p:sldId id="418" r:id="rId11"/>
    <p:sldId id="419" r:id="rId12"/>
    <p:sldId id="422" r:id="rId13"/>
    <p:sldId id="423" r:id="rId14"/>
    <p:sldId id="424" r:id="rId15"/>
    <p:sldId id="425" r:id="rId16"/>
    <p:sldId id="426" r:id="rId17"/>
    <p:sldId id="427" r:id="rId18"/>
    <p:sldId id="428" r:id="rId19"/>
    <p:sldId id="429" r:id="rId20"/>
    <p:sldId id="430" r:id="rId21"/>
    <p:sldId id="431" r:id="rId22"/>
    <p:sldId id="469" r:id="rId23"/>
    <p:sldId id="432" r:id="rId24"/>
    <p:sldId id="433" r:id="rId25"/>
    <p:sldId id="434" r:id="rId26"/>
    <p:sldId id="470" r:id="rId27"/>
    <p:sldId id="471" r:id="rId28"/>
    <p:sldId id="436" r:id="rId29"/>
    <p:sldId id="438" r:id="rId30"/>
    <p:sldId id="443" r:id="rId31"/>
    <p:sldId id="446" r:id="rId32"/>
    <p:sldId id="472" r:id="rId33"/>
    <p:sldId id="473" r:id="rId34"/>
    <p:sldId id="447" r:id="rId35"/>
    <p:sldId id="474" r:id="rId36"/>
    <p:sldId id="476" r:id="rId37"/>
    <p:sldId id="468" r:id="rId38"/>
    <p:sldId id="475" r:id="rId39"/>
    <p:sldId id="457" r:id="rId40"/>
    <p:sldId id="458" r:id="rId41"/>
    <p:sldId id="462" r:id="rId42"/>
  </p:sldIdLst>
  <p:sldSz cx="9144000" cy="6858000" type="screen4x3"/>
  <p:notesSz cx="6858000" cy="9144000"/>
  <p:embeddedFontLst>
    <p:embeddedFont>
      <p:font typeface="Calibri Light" panose="020F0302020204030204" pitchFamily="34" charset="0"/>
      <p:regular r:id="rId44"/>
      <p:italic r:id="rId45"/>
    </p:embeddedFont>
    <p:embeddedFont>
      <p:font typeface="Calibri" panose="020F0502020204030204" pitchFamily="34" charset="0"/>
      <p:regular r:id="rId46"/>
      <p:bold r:id="rId47"/>
      <p:italic r:id="rId48"/>
      <p:boldItalic r:id="rId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4660"/>
  </p:normalViewPr>
  <p:slideViewPr>
    <p:cSldViewPr snapToGrid="0">
      <p:cViewPr varScale="1">
        <p:scale>
          <a:sx n="69" d="100"/>
          <a:sy n="69" d="100"/>
        </p:scale>
        <p:origin x="822"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extLst>
      <p:ext uri="{BB962C8B-B14F-4D97-AF65-F5344CB8AC3E}">
        <p14:creationId xmlns:p14="http://schemas.microsoft.com/office/powerpoint/2010/main" val="40309001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endParaRPr/>
          </a:p>
        </p:txBody>
      </p:sp>
    </p:spTree>
    <p:extLst>
      <p:ext uri="{BB962C8B-B14F-4D97-AF65-F5344CB8AC3E}">
        <p14:creationId xmlns:p14="http://schemas.microsoft.com/office/powerpoint/2010/main" val="2181776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endParaRPr/>
          </a:p>
        </p:txBody>
      </p:sp>
    </p:spTree>
    <p:extLst>
      <p:ext uri="{BB962C8B-B14F-4D97-AF65-F5344CB8AC3E}">
        <p14:creationId xmlns:p14="http://schemas.microsoft.com/office/powerpoint/2010/main" val="3085352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endParaRPr/>
          </a:p>
        </p:txBody>
      </p:sp>
    </p:spTree>
    <p:extLst>
      <p:ext uri="{BB962C8B-B14F-4D97-AF65-F5344CB8AC3E}">
        <p14:creationId xmlns:p14="http://schemas.microsoft.com/office/powerpoint/2010/main" val="140211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889489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265541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15022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611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989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86103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76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45669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1558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6694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42787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5402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6392188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geeksforgeeks.org/data-structures/linked-list/singly-linked-list/"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geeksforgeeks.org/hashing-set-3-open-addressing/"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geeksforgeeks.org/access-lists-ac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DC7EE85-5F60-41AB-BE21-CDF96E78BD6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solidFill>
                <a:srgbClr val="000000"/>
              </a:solidFill>
            </a:endParaRPr>
          </a:p>
        </p:txBody>
      </p:sp>
      <p:sp>
        <p:nvSpPr>
          <p:cNvPr id="4" name="TextBox 3">
            <a:extLst>
              <a:ext uri="{FF2B5EF4-FFF2-40B4-BE49-F238E27FC236}">
                <a16:creationId xmlns="" xmlns:a16="http://schemas.microsoft.com/office/drawing/2014/main" id="{C9A5335A-45AA-4A1D-8E61-13B376BD6502}"/>
              </a:ext>
            </a:extLst>
          </p:cNvPr>
          <p:cNvSpPr txBox="1"/>
          <p:nvPr/>
        </p:nvSpPr>
        <p:spPr>
          <a:xfrm>
            <a:off x="2286000" y="3240817"/>
            <a:ext cx="4572000" cy="461665"/>
          </a:xfrm>
          <a:prstGeom prst="rect">
            <a:avLst/>
          </a:prstGeom>
          <a:noFill/>
        </p:spPr>
        <p:txBody>
          <a:bodyPr wrap="square">
            <a:spAutoFit/>
          </a:bodyPr>
          <a:lstStyle/>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File Management</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781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B8AA7947-9C44-4419-A891-A1E62E90DCF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solidFill>
                <a:srgbClr val="000000"/>
              </a:solidFill>
            </a:endParaRPr>
          </a:p>
        </p:txBody>
      </p:sp>
      <p:sp>
        <p:nvSpPr>
          <p:cNvPr id="4" name="TextBox 3">
            <a:extLst>
              <a:ext uri="{FF2B5EF4-FFF2-40B4-BE49-F238E27FC236}">
                <a16:creationId xmlns="" xmlns:a16="http://schemas.microsoft.com/office/drawing/2014/main" id="{2ABCC1DA-99C1-4F9D-ACA2-D7039FB8A77A}"/>
              </a:ext>
            </a:extLst>
          </p:cNvPr>
          <p:cNvSpPr txBox="1"/>
          <p:nvPr/>
        </p:nvSpPr>
        <p:spPr>
          <a:xfrm>
            <a:off x="506437" y="1775438"/>
            <a:ext cx="8131126" cy="3307124"/>
          </a:xfrm>
          <a:prstGeom prst="rect">
            <a:avLst/>
          </a:prstGeom>
          <a:noFill/>
        </p:spPr>
        <p:txBody>
          <a:bodyPr wrap="square">
            <a:spAutoFit/>
          </a:bodyPr>
          <a:lstStyle/>
          <a:p>
            <a:pPr marL="285750" marR="0" indent="-285750" algn="just">
              <a:lnSpc>
                <a:spcPct val="150000"/>
              </a:lnSpc>
              <a:spcBef>
                <a:spcPts val="0"/>
              </a:spcBef>
              <a:spcAft>
                <a:spcPts val="135"/>
              </a:spcAf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rPr>
              <a:t>File Overview: File Naming, File Structure, File Types, File Access, File Attributes, File Operations, Single Level, two Level and Hierarchical Directory Systems, File System Layout. </a:t>
            </a:r>
          </a:p>
          <a:p>
            <a:pPr marL="285750" marR="0" indent="-285750" algn="just">
              <a:lnSpc>
                <a:spcPct val="150000"/>
              </a:lnSpc>
              <a:spcBef>
                <a:spcPts val="0"/>
              </a:spcBef>
              <a:spcAft>
                <a:spcPts val="135"/>
              </a:spcAf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rPr>
              <a:t>Implementing Files: Contiguous allocation, Linked List Allocation, Linked List Allocation using Table in Memory, I-nodes. </a:t>
            </a:r>
          </a:p>
          <a:p>
            <a:pPr marL="285750" marR="0" indent="-285750" algn="just">
              <a:lnSpc>
                <a:spcPct val="150000"/>
              </a:lnSpc>
              <a:spcBef>
                <a:spcPts val="0"/>
              </a:spcBef>
              <a:spcAft>
                <a:spcPts val="135"/>
              </a:spcAf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rPr>
              <a:t>Directory Operations, Path Names, Directory Implementation, Shared Files </a:t>
            </a:r>
          </a:p>
          <a:p>
            <a:pPr marL="285750" marR="0" indent="-285750" algn="just">
              <a:lnSpc>
                <a:spcPct val="150000"/>
              </a:lnSpc>
              <a:spcBef>
                <a:spcPts val="0"/>
              </a:spcBef>
              <a:spcAft>
                <a:spcPts val="135"/>
              </a:spcAf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rPr>
              <a:t>Free Space Management: Bitmaps, Linked List </a:t>
            </a:r>
          </a:p>
        </p:txBody>
      </p:sp>
      <p:sp>
        <p:nvSpPr>
          <p:cNvPr id="5" name="TextBox 4">
            <a:extLst>
              <a:ext uri="{FF2B5EF4-FFF2-40B4-BE49-F238E27FC236}">
                <a16:creationId xmlns="" xmlns:a16="http://schemas.microsoft.com/office/drawing/2014/main" id="{ACB6D3FE-CC3A-405C-A827-C49FE9ABD9F7}"/>
              </a:ext>
            </a:extLst>
          </p:cNvPr>
          <p:cNvSpPr txBox="1"/>
          <p:nvPr/>
        </p:nvSpPr>
        <p:spPr>
          <a:xfrm>
            <a:off x="815926" y="1052532"/>
            <a:ext cx="444539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184831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solidFill>
                <a:srgbClr val="000000"/>
              </a:solidFill>
            </a:endParaRPr>
          </a:p>
        </p:txBody>
      </p:sp>
      <p:sp>
        <p:nvSpPr>
          <p:cNvPr id="4" name="TextBox 3">
            <a:extLst>
              <a:ext uri="{FF2B5EF4-FFF2-40B4-BE49-F238E27FC236}">
                <a16:creationId xmlns="" xmlns:a16="http://schemas.microsoft.com/office/drawing/2014/main" id="{D76FE8F5-3E0B-4FC2-BCF2-33F0FED4017E}"/>
              </a:ext>
            </a:extLst>
          </p:cNvPr>
          <p:cNvSpPr txBox="1"/>
          <p:nvPr/>
        </p:nvSpPr>
        <p:spPr>
          <a:xfrm>
            <a:off x="372794" y="682835"/>
            <a:ext cx="8398411" cy="603864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A file is a collection of correlated information which is recorded on secondary or non-volatile storage like magnetic disks, optical disks, and tapes. </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It is a method of data collection that is used as a medium for giving input and receiving output from that program.</a:t>
            </a:r>
          </a:p>
          <a:p>
            <a:pPr marL="285750" indent="-285750" algn="just">
              <a:lnSpc>
                <a:spcPct val="150000"/>
              </a:lnSpc>
              <a:buFont typeface="Arial" panose="020B0604020202020204" pitchFamily="34" charset="0"/>
              <a:buChar char="•"/>
            </a:pPr>
            <a:r>
              <a:rPr lang="en-US" sz="2000" u="none" strike="noStrike" baseline="0" dirty="0">
                <a:latin typeface="Times New Roman" panose="02020603050405020304" pitchFamily="18" charset="0"/>
                <a:cs typeface="Times New Roman" panose="02020603050405020304" pitchFamily="18" charset="0"/>
              </a:rPr>
              <a:t>T</a:t>
            </a:r>
            <a:r>
              <a:rPr lang="en-US" sz="2000" b="0" i="0" u="none" strike="noStrike" baseline="0" dirty="0">
                <a:latin typeface="Times New Roman" panose="02020603050405020304" pitchFamily="18" charset="0"/>
                <a:cs typeface="Times New Roman" panose="02020603050405020304" pitchFamily="18" charset="0"/>
              </a:rPr>
              <a:t>hree essential requirements for long-term information storage:</a:t>
            </a:r>
          </a:p>
          <a:p>
            <a:pPr lvl="1"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1. It must be possible to store a very large amount of information.</a:t>
            </a:r>
          </a:p>
          <a:p>
            <a:pPr lvl="1"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2. The information must survive the termination of the process using it.</a:t>
            </a:r>
          </a:p>
          <a:p>
            <a:pPr lvl="1"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3. Multiple processes must be able to access the information at once.</a:t>
            </a:r>
          </a:p>
          <a:p>
            <a:pPr marL="285750" indent="-285750" algn="just">
              <a:lnSpc>
                <a:spcPct val="150000"/>
              </a:lnSpc>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Files </a:t>
            </a:r>
            <a:r>
              <a:rPr lang="en-US" sz="2000" b="0" i="0" u="none" strike="noStrike" baseline="0" dirty="0">
                <a:latin typeface="Times New Roman" panose="02020603050405020304" pitchFamily="18" charset="0"/>
                <a:cs typeface="Times New Roman" panose="02020603050405020304" pitchFamily="18" charset="0"/>
              </a:rPr>
              <a:t>are logical units of information created by processes. A disk will usually contain thousands or even millions of them, each one independent of the others.</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Information stored in files must be </a:t>
            </a:r>
            <a:r>
              <a:rPr lang="en-US" sz="2000" b="1" i="0" u="none" strike="noStrike" baseline="0" dirty="0">
                <a:latin typeface="Times New Roman" panose="02020603050405020304" pitchFamily="18" charset="0"/>
                <a:cs typeface="Times New Roman" panose="02020603050405020304" pitchFamily="18" charset="0"/>
              </a:rPr>
              <a:t>persistent</a:t>
            </a:r>
            <a:r>
              <a:rPr lang="en-US" sz="2000" b="0" i="0" u="none" strike="noStrike" baseline="0" dirty="0">
                <a:latin typeface="Times New Roman" panose="02020603050405020304" pitchFamily="18" charset="0"/>
                <a:cs typeface="Times New Roman" panose="02020603050405020304" pitchFamily="18" charset="0"/>
              </a:rPr>
              <a:t>, that is, not be affected by process creation and termination.</a:t>
            </a:r>
            <a:endParaRPr lang="en-US"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D5344EB7-CEE8-4679-98D9-3B98444F7274}"/>
              </a:ext>
            </a:extLst>
          </p:cNvPr>
          <p:cNvSpPr txBox="1"/>
          <p:nvPr/>
        </p:nvSpPr>
        <p:spPr>
          <a:xfrm>
            <a:off x="1125415" y="253218"/>
            <a:ext cx="417810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120844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a:xfrm>
            <a:off x="6457950" y="6297396"/>
            <a:ext cx="2057400" cy="365125"/>
          </a:xfrm>
        </p:spPr>
        <p:txBody>
          <a:bodyPr/>
          <a:lstStyle/>
          <a:p>
            <a:pPr marL="0" lvl="0" indent="0" algn="r" rtl="0">
              <a:spcBef>
                <a:spcPts val="0"/>
              </a:spcBef>
              <a:spcAft>
                <a:spcPts val="0"/>
              </a:spcAft>
              <a:buNone/>
            </a:pPr>
            <a:fld id="{00000000-1234-1234-1234-123412341234}" type="slidenum">
              <a:rPr lang="en-US" smtClean="0"/>
              <a:t>4</a:t>
            </a:fld>
            <a:endParaRPr lang="en-US">
              <a:solidFill>
                <a:srgbClr val="000000"/>
              </a:solidFill>
            </a:endParaRPr>
          </a:p>
        </p:txBody>
      </p:sp>
      <p:sp>
        <p:nvSpPr>
          <p:cNvPr id="4" name="TextBox 3">
            <a:extLst>
              <a:ext uri="{FF2B5EF4-FFF2-40B4-BE49-F238E27FC236}">
                <a16:creationId xmlns="" xmlns:a16="http://schemas.microsoft.com/office/drawing/2014/main" id="{24298B19-A684-4E6B-B21E-9BDF1CBDD077}"/>
              </a:ext>
            </a:extLst>
          </p:cNvPr>
          <p:cNvSpPr txBox="1"/>
          <p:nvPr/>
        </p:nvSpPr>
        <p:spPr>
          <a:xfrm>
            <a:off x="1885950" y="378041"/>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File Naming</a:t>
            </a:r>
            <a:endParaRPr lang="en-US"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D3F1D2C3-28EB-4A06-900B-7FD2879C86E9}"/>
              </a:ext>
            </a:extLst>
          </p:cNvPr>
          <p:cNvPicPr>
            <a:picLocks noChangeAspect="1"/>
          </p:cNvPicPr>
          <p:nvPr/>
        </p:nvPicPr>
        <p:blipFill>
          <a:blip r:embed="rId2"/>
          <a:stretch>
            <a:fillRect/>
          </a:stretch>
        </p:blipFill>
        <p:spPr>
          <a:xfrm>
            <a:off x="997377" y="988780"/>
            <a:ext cx="7149246" cy="5097986"/>
          </a:xfrm>
          <a:prstGeom prst="rect">
            <a:avLst/>
          </a:prstGeom>
        </p:spPr>
      </p:pic>
      <p:sp>
        <p:nvSpPr>
          <p:cNvPr id="8" name="TextBox 7">
            <a:extLst>
              <a:ext uri="{FF2B5EF4-FFF2-40B4-BE49-F238E27FC236}">
                <a16:creationId xmlns="" xmlns:a16="http://schemas.microsoft.com/office/drawing/2014/main" id="{43D808A6-CE87-48B5-AD22-33BEA0B3EAEB}"/>
              </a:ext>
            </a:extLst>
          </p:cNvPr>
          <p:cNvSpPr txBox="1"/>
          <p:nvPr/>
        </p:nvSpPr>
        <p:spPr>
          <a:xfrm>
            <a:off x="1885950" y="6293189"/>
            <a:ext cx="4572000" cy="307777"/>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7-1. Some typical file extensions.</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6079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solidFill>
                <a:srgbClr val="000000"/>
              </a:solidFill>
            </a:endParaRPr>
          </a:p>
        </p:txBody>
      </p:sp>
      <p:sp>
        <p:nvSpPr>
          <p:cNvPr id="4" name="TextBox 3">
            <a:extLst>
              <a:ext uri="{FF2B5EF4-FFF2-40B4-BE49-F238E27FC236}">
                <a16:creationId xmlns="" xmlns:a16="http://schemas.microsoft.com/office/drawing/2014/main" id="{41E69673-0B7A-4BF8-A608-5C8D41BFBCD3}"/>
              </a:ext>
            </a:extLst>
          </p:cNvPr>
          <p:cNvSpPr txBox="1"/>
          <p:nvPr/>
        </p:nvSpPr>
        <p:spPr>
          <a:xfrm>
            <a:off x="2584939" y="413211"/>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File Structure</a:t>
            </a:r>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CC3BB4E5-781F-4288-93BA-286B42A83F71}"/>
              </a:ext>
            </a:extLst>
          </p:cNvPr>
          <p:cNvSpPr txBox="1"/>
          <p:nvPr/>
        </p:nvSpPr>
        <p:spPr>
          <a:xfrm>
            <a:off x="409575" y="874876"/>
            <a:ext cx="8299939" cy="96032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Files can be structured in any of several ways. Three common possibilities are depicted in Fig. 7-2.</a:t>
            </a:r>
            <a:endParaRPr lang="en-US"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 xmlns:a16="http://schemas.microsoft.com/office/drawing/2014/main" id="{80345500-0852-4541-9F59-C52DC68A5D06}"/>
              </a:ext>
            </a:extLst>
          </p:cNvPr>
          <p:cNvPicPr>
            <a:picLocks noChangeAspect="1"/>
          </p:cNvPicPr>
          <p:nvPr/>
        </p:nvPicPr>
        <p:blipFill>
          <a:blip r:embed="rId2"/>
          <a:stretch>
            <a:fillRect/>
          </a:stretch>
        </p:blipFill>
        <p:spPr>
          <a:xfrm>
            <a:off x="409575" y="1973099"/>
            <a:ext cx="8324850" cy="4010025"/>
          </a:xfrm>
          <a:prstGeom prst="rect">
            <a:avLst/>
          </a:prstGeom>
        </p:spPr>
      </p:pic>
      <p:sp>
        <p:nvSpPr>
          <p:cNvPr id="12" name="TextBox 11">
            <a:extLst>
              <a:ext uri="{FF2B5EF4-FFF2-40B4-BE49-F238E27FC236}">
                <a16:creationId xmlns="" xmlns:a16="http://schemas.microsoft.com/office/drawing/2014/main" id="{11E440FE-17BD-4F95-89B6-6541B32D7BDD}"/>
              </a:ext>
            </a:extLst>
          </p:cNvPr>
          <p:cNvSpPr txBox="1"/>
          <p:nvPr/>
        </p:nvSpPr>
        <p:spPr>
          <a:xfrm>
            <a:off x="409575" y="5894686"/>
            <a:ext cx="8505825" cy="307777"/>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7-2. Three kinds of files. (a) Byte sequence. (b) Record sequence.(c) Tree.</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763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solidFill>
                <a:srgbClr val="000000"/>
              </a:solidFill>
            </a:endParaRPr>
          </a:p>
        </p:txBody>
      </p:sp>
      <p:sp>
        <p:nvSpPr>
          <p:cNvPr id="4" name="TextBox 3">
            <a:extLst>
              <a:ext uri="{FF2B5EF4-FFF2-40B4-BE49-F238E27FC236}">
                <a16:creationId xmlns="" xmlns:a16="http://schemas.microsoft.com/office/drawing/2014/main" id="{038C623B-6E74-412F-99FA-FB871ED0168F}"/>
              </a:ext>
            </a:extLst>
          </p:cNvPr>
          <p:cNvSpPr txBox="1"/>
          <p:nvPr/>
        </p:nvSpPr>
        <p:spPr>
          <a:xfrm>
            <a:off x="404446" y="136524"/>
            <a:ext cx="8458200" cy="645770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file in Fig. 7-2(a) is an unstructured sequence of bytes. In effect, the operating system does not know or care what is in the file. All it sees are bytes.</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Both UNIX and Windows use this approach.</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Fig. 7-2(b), a file is a sequence of fixed-length records, each with some internal structure.</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No current general-purpose system uses this model as its primary file system any more, but back in the days of 80-column punched cards and 132-character line printer paper this was a common model on mainframe computers.</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Fig. 7-2(c), a file consists of a tree of records, not necessarily all the same length, each containing a </a:t>
            </a:r>
            <a:r>
              <a:rPr lang="en-US" sz="2000" b="1" i="0" u="none" strike="noStrike" baseline="0" dirty="0">
                <a:latin typeface="Times New Roman" panose="02020603050405020304" pitchFamily="18" charset="0"/>
                <a:cs typeface="Times New Roman" panose="02020603050405020304" pitchFamily="18" charset="0"/>
              </a:rPr>
              <a:t>key </a:t>
            </a:r>
            <a:r>
              <a:rPr lang="en-US" sz="2000" b="0" i="0" u="none" strike="noStrike" baseline="0" dirty="0">
                <a:latin typeface="Times New Roman" panose="02020603050405020304" pitchFamily="18" charset="0"/>
                <a:cs typeface="Times New Roman" panose="02020603050405020304" pitchFamily="18" charset="0"/>
              </a:rPr>
              <a:t>field in a fixed position in the record. The tree is sorted on the key field, to allow rapid searching for a particular key.</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It is used on some large mainframe computers for commercial data processing.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343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solidFill>
                <a:srgbClr val="000000"/>
              </a:solidFill>
            </a:endParaRPr>
          </a:p>
        </p:txBody>
      </p:sp>
      <p:sp>
        <p:nvSpPr>
          <p:cNvPr id="4" name="TextBox 3">
            <a:extLst>
              <a:ext uri="{FF2B5EF4-FFF2-40B4-BE49-F238E27FC236}">
                <a16:creationId xmlns="" xmlns:a16="http://schemas.microsoft.com/office/drawing/2014/main" id="{9C3DE998-5972-4F2F-96B3-2964115269F6}"/>
              </a:ext>
            </a:extLst>
          </p:cNvPr>
          <p:cNvSpPr txBox="1"/>
          <p:nvPr/>
        </p:nvSpPr>
        <p:spPr>
          <a:xfrm>
            <a:off x="342900" y="682835"/>
            <a:ext cx="8458200" cy="470898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Many operating systems support several types of files. UNIX and Windows, for example, have regular files and directories.</a:t>
            </a:r>
          </a:p>
          <a:p>
            <a:pPr marL="285750" indent="-285750" algn="just">
              <a:lnSpc>
                <a:spcPct val="150000"/>
              </a:lnSpc>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Regular files </a:t>
            </a:r>
            <a:r>
              <a:rPr lang="en-US" sz="2000" b="0" i="0" u="none" strike="noStrike" baseline="0" dirty="0">
                <a:latin typeface="Times New Roman" panose="02020603050405020304" pitchFamily="18" charset="0"/>
                <a:cs typeface="Times New Roman" panose="02020603050405020304" pitchFamily="18" charset="0"/>
              </a:rPr>
              <a:t>are the ones that contain user information. All the files of Fig. 5-2 are regular files. </a:t>
            </a:r>
          </a:p>
          <a:p>
            <a:pPr marL="285750" indent="-285750" algn="just">
              <a:lnSpc>
                <a:spcPct val="150000"/>
              </a:lnSpc>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Directories </a:t>
            </a:r>
            <a:r>
              <a:rPr lang="en-US" sz="2000" b="0" i="0" u="none" strike="noStrike" baseline="0" dirty="0">
                <a:latin typeface="Times New Roman" panose="02020603050405020304" pitchFamily="18" charset="0"/>
                <a:cs typeface="Times New Roman" panose="02020603050405020304" pitchFamily="18" charset="0"/>
              </a:rPr>
              <a:t>are system files for maintaining the structure of the file system. </a:t>
            </a:r>
          </a:p>
          <a:p>
            <a:pPr marL="285750" indent="-285750" algn="just">
              <a:lnSpc>
                <a:spcPct val="150000"/>
              </a:lnSpc>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Character special files </a:t>
            </a:r>
            <a:r>
              <a:rPr lang="en-US" sz="2000" b="0" i="0" u="none" strike="noStrike" baseline="0" dirty="0">
                <a:latin typeface="Times New Roman" panose="02020603050405020304" pitchFamily="18" charset="0"/>
                <a:cs typeface="Times New Roman" panose="02020603050405020304" pitchFamily="18" charset="0"/>
              </a:rPr>
              <a:t>are related to input/output and used to model serial I/O devices, such as terminals, printers, and networks. </a:t>
            </a:r>
          </a:p>
          <a:p>
            <a:pPr marL="285750" indent="-285750" algn="just">
              <a:lnSpc>
                <a:spcPct val="150000"/>
              </a:lnSpc>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Block special files </a:t>
            </a:r>
            <a:r>
              <a:rPr lang="en-US" sz="2000" b="0" i="0" u="none" strike="noStrike" baseline="0" dirty="0">
                <a:latin typeface="Times New Roman" panose="02020603050405020304" pitchFamily="18" charset="0"/>
                <a:cs typeface="Times New Roman" panose="02020603050405020304" pitchFamily="18" charset="0"/>
              </a:rPr>
              <a:t>are used to model disks.</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Regular files are generally either ASCII files or binary files. ASCII files consist of lines of text</a:t>
            </a:r>
            <a:r>
              <a:rPr lang="en-US" sz="2000" b="0" i="0" u="none" strike="noStrike" baseline="0" dirty="0" smtClean="0">
                <a:latin typeface="Times New Roman" panose="02020603050405020304" pitchFamily="18" charset="0"/>
                <a:cs typeface="Times New Roman" panose="02020603050405020304" pitchFamily="18" charset="0"/>
              </a:rPr>
              <a:t>.</a:t>
            </a:r>
            <a:endParaRPr lang="en-US" sz="2000" b="0" i="0" u="none" strike="noStrike" baseline="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05036F32-22BF-412F-91A2-CBAF4DE4ABEB}"/>
              </a:ext>
            </a:extLst>
          </p:cNvPr>
          <p:cNvSpPr txBox="1"/>
          <p:nvPr/>
        </p:nvSpPr>
        <p:spPr>
          <a:xfrm>
            <a:off x="2409093" y="290118"/>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File Types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3086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solidFill>
                <a:srgbClr val="000000"/>
              </a:solidFill>
            </a:endParaRPr>
          </a:p>
        </p:txBody>
      </p:sp>
      <p:sp>
        <p:nvSpPr>
          <p:cNvPr id="4" name="TextBox 3">
            <a:extLst>
              <a:ext uri="{FF2B5EF4-FFF2-40B4-BE49-F238E27FC236}">
                <a16:creationId xmlns="" xmlns:a16="http://schemas.microsoft.com/office/drawing/2014/main" id="{D4C43AD6-BAE4-4D81-B3F0-9A7E7069F107}"/>
              </a:ext>
            </a:extLst>
          </p:cNvPr>
          <p:cNvSpPr txBox="1"/>
          <p:nvPr/>
        </p:nvSpPr>
        <p:spPr>
          <a:xfrm>
            <a:off x="2039816" y="501134"/>
            <a:ext cx="4572000" cy="400110"/>
          </a:xfrm>
          <a:prstGeom prst="rect">
            <a:avLst/>
          </a:prstGeom>
          <a:noFill/>
        </p:spPr>
        <p:txBody>
          <a:bodyPr wrap="square">
            <a:spAutoFit/>
          </a:bodyPr>
          <a:lstStyle/>
          <a:p>
            <a:pPr algn="ctr"/>
            <a:r>
              <a:rPr lang="en-US" sz="2000" b="1" i="0" u="none" strike="noStrike" baseline="0" dirty="0">
                <a:latin typeface="Times New Roman" panose="02020603050405020304" pitchFamily="18" charset="0"/>
                <a:cs typeface="Times New Roman" panose="02020603050405020304" pitchFamily="18" charset="0"/>
              </a:rPr>
              <a:t>File Access</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77ACBCBF-FC7A-46FF-A1D4-CDB4B277C8A5}"/>
              </a:ext>
            </a:extLst>
          </p:cNvPr>
          <p:cNvSpPr txBox="1"/>
          <p:nvPr/>
        </p:nvSpPr>
        <p:spPr>
          <a:xfrm>
            <a:off x="545123" y="901244"/>
            <a:ext cx="8335108" cy="55769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File access is a process that determines the way that files are accessed and read into memory.</a:t>
            </a:r>
          </a:p>
          <a:p>
            <a:pPr marL="285750" indent="-285750" algn="just">
              <a:lnSpc>
                <a:spcPct val="150000"/>
              </a:lnSpc>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Sequential Access</a:t>
            </a:r>
            <a:r>
              <a:rPr lang="en-US" sz="2000" b="0" i="0" dirty="0">
                <a:effectLst/>
                <a:latin typeface="Times New Roman" panose="02020603050405020304" pitchFamily="18" charset="0"/>
                <a:cs typeface="Times New Roman" panose="02020603050405020304" pitchFamily="18" charset="0"/>
              </a:rPr>
              <a:t>, records are accessed in a certain pre-defined sequence, information stored in the file is also processed one by one.</a:t>
            </a:r>
          </a:p>
          <a:p>
            <a:pPr marL="285750" indent="-285750" algn="just">
              <a:lnSpc>
                <a:spcPct val="150000"/>
              </a:lnSpc>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Random Access </a:t>
            </a:r>
            <a:r>
              <a:rPr lang="en-US" sz="2000" b="0" i="0" dirty="0">
                <a:effectLst/>
                <a:latin typeface="Times New Roman" panose="02020603050405020304" pitchFamily="18" charset="0"/>
                <a:cs typeface="Times New Roman" panose="02020603050405020304" pitchFamily="18" charset="0"/>
              </a:rPr>
              <a:t>is also called direct random access. This method allow accessing the record directly. Each record has its own address on which can be directly accessed for reading and writing.</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Random access files are essential for many applications, for example, database systems.</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If an airline customer calls up and wants to reserve a seat on a particular flight, the reservation program must be able to access the record for that flight without having to read the records for thousands of other flights first.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56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solidFill>
                <a:srgbClr val="000000"/>
              </a:solidFill>
            </a:endParaRPr>
          </a:p>
        </p:txBody>
      </p:sp>
      <p:sp>
        <p:nvSpPr>
          <p:cNvPr id="4" name="TextBox 3">
            <a:extLst>
              <a:ext uri="{FF2B5EF4-FFF2-40B4-BE49-F238E27FC236}">
                <a16:creationId xmlns="" xmlns:a16="http://schemas.microsoft.com/office/drawing/2014/main" id="{23BD3678-8C2B-49FC-AA65-3A69728802F2}"/>
              </a:ext>
            </a:extLst>
          </p:cNvPr>
          <p:cNvSpPr txBox="1"/>
          <p:nvPr/>
        </p:nvSpPr>
        <p:spPr>
          <a:xfrm>
            <a:off x="2286000" y="192039"/>
            <a:ext cx="4572000" cy="400110"/>
          </a:xfrm>
          <a:prstGeom prst="rect">
            <a:avLst/>
          </a:prstGeom>
          <a:noFill/>
        </p:spPr>
        <p:txBody>
          <a:bodyPr wrap="square">
            <a:spAutoFit/>
          </a:bodyPr>
          <a:lstStyle/>
          <a:p>
            <a:pPr algn="ctr"/>
            <a:r>
              <a:rPr lang="en-US" sz="2000" b="1" i="0" u="none" strike="noStrike" baseline="0" dirty="0">
                <a:latin typeface="Times New Roman" panose="02020603050405020304" pitchFamily="18" charset="0"/>
                <a:cs typeface="Times New Roman" panose="02020603050405020304" pitchFamily="18" charset="0"/>
              </a:rPr>
              <a:t>File Attributes</a:t>
            </a: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DF802171-1D95-40D2-B4F1-838C90A2F236}"/>
              </a:ext>
            </a:extLst>
          </p:cNvPr>
          <p:cNvPicPr>
            <a:picLocks noChangeAspect="1"/>
          </p:cNvPicPr>
          <p:nvPr/>
        </p:nvPicPr>
        <p:blipFill>
          <a:blip r:embed="rId2"/>
          <a:stretch>
            <a:fillRect/>
          </a:stretch>
        </p:blipFill>
        <p:spPr>
          <a:xfrm>
            <a:off x="1387719" y="1892549"/>
            <a:ext cx="5070231" cy="4499830"/>
          </a:xfrm>
          <a:prstGeom prst="rect">
            <a:avLst/>
          </a:prstGeom>
        </p:spPr>
      </p:pic>
      <p:sp>
        <p:nvSpPr>
          <p:cNvPr id="8" name="TextBox 7">
            <a:extLst>
              <a:ext uri="{FF2B5EF4-FFF2-40B4-BE49-F238E27FC236}">
                <a16:creationId xmlns="" xmlns:a16="http://schemas.microsoft.com/office/drawing/2014/main" id="{1D6395F7-8599-44B1-BB35-0EAAE179D5F3}"/>
              </a:ext>
            </a:extLst>
          </p:cNvPr>
          <p:cNvSpPr txBox="1"/>
          <p:nvPr/>
        </p:nvSpPr>
        <p:spPr>
          <a:xfrm>
            <a:off x="2162908" y="6356351"/>
            <a:ext cx="4572000" cy="307777"/>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7-4. Some possible file attributes.</a:t>
            </a:r>
            <a:endParaRPr lang="en-US" sz="1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B1534FA6-5C2D-44B7-B378-4B1D37347E7A}"/>
              </a:ext>
            </a:extLst>
          </p:cNvPr>
          <p:cNvSpPr txBox="1"/>
          <p:nvPr/>
        </p:nvSpPr>
        <p:spPr>
          <a:xfrm>
            <a:off x="447675" y="525343"/>
            <a:ext cx="8485310" cy="12956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file has a name and data. Moreover, it also stores meta information like file creation date and time, current size, last modified date, etc. All this information is called the attributes of a file system.</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586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solidFill>
                <a:srgbClr val="000000"/>
              </a:solidFill>
            </a:endParaRPr>
          </a:p>
        </p:txBody>
      </p:sp>
      <p:sp>
        <p:nvSpPr>
          <p:cNvPr id="4" name="TextBox 3">
            <a:extLst>
              <a:ext uri="{FF2B5EF4-FFF2-40B4-BE49-F238E27FC236}">
                <a16:creationId xmlns="" xmlns:a16="http://schemas.microsoft.com/office/drawing/2014/main" id="{3620F400-D1FB-429C-BC50-5C4D78C723F7}"/>
              </a:ext>
            </a:extLst>
          </p:cNvPr>
          <p:cNvSpPr txBox="1"/>
          <p:nvPr/>
        </p:nvSpPr>
        <p:spPr>
          <a:xfrm>
            <a:off x="2286000" y="290118"/>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File Operations</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47AD6A61-845B-4D5B-B044-52E5D4E4F73A}"/>
              </a:ext>
            </a:extLst>
          </p:cNvPr>
          <p:cNvSpPr txBox="1"/>
          <p:nvPr/>
        </p:nvSpPr>
        <p:spPr>
          <a:xfrm>
            <a:off x="263769" y="931985"/>
            <a:ext cx="8528539" cy="603864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most common system calls relating to files:</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1. Create: The file is created with no data. </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2. Delete: When the file is no longer needed, it has to be deleted to free up disk space. </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3. Open: Before using a file, a process must open it.</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4. Close: When all the accesses are finished, the attributes and disk addresses are no longer needed, so the file should be closed to free up internal table space.</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5. Read</a:t>
            </a:r>
            <a:r>
              <a:rPr lang="en-US" sz="200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Data are read from file.</a:t>
            </a:r>
          </a:p>
          <a:p>
            <a:pPr algn="just">
              <a:lnSpc>
                <a:spcPct val="150000"/>
              </a:lnSpc>
            </a:pPr>
            <a:r>
              <a:rPr lang="en-US" sz="2000" dirty="0">
                <a:latin typeface="Times New Roman" panose="02020603050405020304" pitchFamily="18" charset="0"/>
                <a:cs typeface="Times New Roman" panose="02020603050405020304" pitchFamily="18" charset="0"/>
              </a:rPr>
              <a:t>6. </a:t>
            </a:r>
            <a:r>
              <a:rPr lang="en-US" sz="2000" b="0" i="0" u="none" strike="noStrike" baseline="0" dirty="0">
                <a:latin typeface="Times New Roman" panose="02020603050405020304" pitchFamily="18" charset="0"/>
                <a:cs typeface="Times New Roman" panose="02020603050405020304" pitchFamily="18" charset="0"/>
              </a:rPr>
              <a:t>Write</a:t>
            </a:r>
            <a:r>
              <a:rPr lang="en-US" sz="200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 Data are written to the file again, usually at the current position. </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7. Append</a:t>
            </a:r>
            <a:r>
              <a:rPr lang="en-US" sz="200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This call is a restricted form of write. It can add data only to the end of the file.</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8. Seek. For random-access files, a method is needed to specify from where to take the data.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9713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solidFill>
                <a:srgbClr val="000000"/>
              </a:solidFill>
            </a:endParaRPr>
          </a:p>
        </p:txBody>
      </p:sp>
      <p:sp>
        <p:nvSpPr>
          <p:cNvPr id="4" name="TextBox 3">
            <a:extLst>
              <a:ext uri="{FF2B5EF4-FFF2-40B4-BE49-F238E27FC236}">
                <a16:creationId xmlns="" xmlns:a16="http://schemas.microsoft.com/office/drawing/2014/main" id="{0540E077-1CDD-458C-BFB7-623427A2D73A}"/>
              </a:ext>
            </a:extLst>
          </p:cNvPr>
          <p:cNvSpPr txBox="1"/>
          <p:nvPr/>
        </p:nvSpPr>
        <p:spPr>
          <a:xfrm>
            <a:off x="738553" y="404446"/>
            <a:ext cx="7983415" cy="2345322"/>
          </a:xfrm>
          <a:prstGeom prst="rect">
            <a:avLst/>
          </a:prstGeom>
          <a:noFill/>
        </p:spPr>
        <p:txBody>
          <a:bodyPr wrap="square">
            <a:spAutoFit/>
          </a:bodyPr>
          <a:lstStyle/>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9. Get attributes</a:t>
            </a:r>
            <a:r>
              <a:rPr lang="en-US" sz="200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Processes often need to read file attributes to do their work.</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10. Set attributes : Some of the attributes are user settable and can be changed after the file has been created. This system call makes that possible.</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11. Rename : It frequently happens that a user needs to change the name of an existing file.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198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solidFill>
                <a:srgbClr val="000000"/>
              </a:solidFill>
            </a:endParaRPr>
          </a:p>
        </p:txBody>
      </p:sp>
      <p:sp>
        <p:nvSpPr>
          <p:cNvPr id="4" name="TextBox 3">
            <a:extLst>
              <a:ext uri="{FF2B5EF4-FFF2-40B4-BE49-F238E27FC236}">
                <a16:creationId xmlns="" xmlns:a16="http://schemas.microsoft.com/office/drawing/2014/main" id="{B5F0DA2E-7CE3-4BE8-B238-22294AADC09F}"/>
              </a:ext>
            </a:extLst>
          </p:cNvPr>
          <p:cNvSpPr txBox="1"/>
          <p:nvPr/>
        </p:nvSpPr>
        <p:spPr>
          <a:xfrm>
            <a:off x="439615" y="931986"/>
            <a:ext cx="8247185" cy="373031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To keep track of files, file systems normally have </a:t>
            </a:r>
            <a:r>
              <a:rPr lang="en-US" sz="2000" b="1" i="0" u="none" strike="noStrike" baseline="0" dirty="0">
                <a:latin typeface="Times New Roman" panose="02020603050405020304" pitchFamily="18" charset="0"/>
                <a:cs typeface="Times New Roman" panose="02020603050405020304" pitchFamily="18" charset="0"/>
              </a:rPr>
              <a:t>directories </a:t>
            </a:r>
            <a:r>
              <a:rPr lang="en-US" sz="2000" b="0" i="0" u="none" strike="noStrike" baseline="0" dirty="0">
                <a:latin typeface="Times New Roman" panose="02020603050405020304" pitchFamily="18" charset="0"/>
                <a:cs typeface="Times New Roman" panose="02020603050405020304" pitchFamily="18" charset="0"/>
              </a:rPr>
              <a:t>or </a:t>
            </a:r>
            <a:r>
              <a:rPr lang="en-US" sz="2000" b="1" i="0" u="none" strike="noStrike" baseline="0" dirty="0">
                <a:latin typeface="Times New Roman" panose="02020603050405020304" pitchFamily="18" charset="0"/>
                <a:cs typeface="Times New Roman" panose="02020603050405020304" pitchFamily="18" charset="0"/>
              </a:rPr>
              <a:t>folders</a:t>
            </a:r>
            <a:r>
              <a:rPr lang="en-US" sz="2000" b="0" i="0" u="none" strike="noStrike" baseline="0" dirty="0">
                <a:latin typeface="Times New Roman" panose="02020603050405020304" pitchFamily="18" charset="0"/>
                <a:cs typeface="Times New Roman" panose="02020603050405020304" pitchFamily="18" charset="0"/>
              </a:rPr>
              <a:t>, which are themselves files.</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There are several logical structures of a directory, these are given below.</a:t>
            </a:r>
            <a:endParaRPr lang="en-US" sz="2000" b="0" i="0"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sz="2000" b="1" i="0" u="none" strike="noStrike" baseline="0" dirty="0">
                <a:latin typeface="Times New Roman" panose="02020603050405020304" pitchFamily="18" charset="0"/>
                <a:cs typeface="Times New Roman" panose="02020603050405020304" pitchFamily="18" charset="0"/>
              </a:rPr>
              <a:t>1. Single-Level Directory Systems</a:t>
            </a:r>
          </a:p>
          <a:p>
            <a:pPr marL="285750" indent="-285750" algn="l">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simplest form of directory system</a:t>
            </a:r>
          </a:p>
          <a:p>
            <a:pPr algn="l">
              <a:lnSpc>
                <a:spcPct val="150000"/>
              </a:lnSpc>
            </a:pPr>
            <a:r>
              <a:rPr lang="en-US" sz="2000" b="0" i="0" u="none" strike="noStrike" baseline="0" dirty="0">
                <a:latin typeface="Times New Roman" panose="02020603050405020304" pitchFamily="18" charset="0"/>
                <a:cs typeface="Times New Roman" panose="02020603050405020304" pitchFamily="18" charset="0"/>
              </a:rPr>
              <a:t> is having one directory containing all</a:t>
            </a:r>
          </a:p>
          <a:p>
            <a:pPr algn="l">
              <a:lnSpc>
                <a:spcPct val="150000"/>
              </a:lnSpc>
            </a:pPr>
            <a:r>
              <a:rPr lang="en-US" sz="2000" b="0" i="0" u="none" strike="noStrike" baseline="0" dirty="0">
                <a:latin typeface="Times New Roman" panose="02020603050405020304" pitchFamily="18" charset="0"/>
                <a:cs typeface="Times New Roman" panose="02020603050405020304" pitchFamily="18" charset="0"/>
              </a:rPr>
              <a:t>the files. Sometimes it is called the </a:t>
            </a:r>
          </a:p>
          <a:p>
            <a:pPr algn="l">
              <a:lnSpc>
                <a:spcPct val="150000"/>
              </a:lnSpc>
            </a:pPr>
            <a:r>
              <a:rPr lang="en-US" sz="2000" b="1" i="0" u="none" strike="noStrike" baseline="0" dirty="0">
                <a:latin typeface="Times New Roman" panose="02020603050405020304" pitchFamily="18" charset="0"/>
                <a:cs typeface="Times New Roman" panose="02020603050405020304" pitchFamily="18" charset="0"/>
              </a:rPr>
              <a:t>root directory</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F7DD84C7-5B8C-41C3-8C85-B59521E59C4A}"/>
              </a:ext>
            </a:extLst>
          </p:cNvPr>
          <p:cNvSpPr txBox="1"/>
          <p:nvPr/>
        </p:nvSpPr>
        <p:spPr>
          <a:xfrm>
            <a:off x="2286000" y="316983"/>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Directories</a:t>
            </a:r>
            <a:endParaRPr lang="en-US"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 xmlns:a16="http://schemas.microsoft.com/office/drawing/2014/main" id="{522CCAC9-D896-4262-A33F-7DED806A0B53}"/>
              </a:ext>
            </a:extLst>
          </p:cNvPr>
          <p:cNvPicPr>
            <a:picLocks noChangeAspect="1"/>
          </p:cNvPicPr>
          <p:nvPr/>
        </p:nvPicPr>
        <p:blipFill>
          <a:blip r:embed="rId2"/>
          <a:stretch>
            <a:fillRect/>
          </a:stretch>
        </p:blipFill>
        <p:spPr>
          <a:xfrm>
            <a:off x="4563207" y="2374395"/>
            <a:ext cx="3763108" cy="3058269"/>
          </a:xfrm>
          <a:prstGeom prst="rect">
            <a:avLst/>
          </a:prstGeom>
        </p:spPr>
      </p:pic>
      <p:sp>
        <p:nvSpPr>
          <p:cNvPr id="12" name="TextBox 11">
            <a:extLst>
              <a:ext uri="{FF2B5EF4-FFF2-40B4-BE49-F238E27FC236}">
                <a16:creationId xmlns="" xmlns:a16="http://schemas.microsoft.com/office/drawing/2014/main" id="{4392D1E0-7F2E-467E-A5BF-E74C1D88B9F0}"/>
              </a:ext>
            </a:extLst>
          </p:cNvPr>
          <p:cNvSpPr txBox="1"/>
          <p:nvPr/>
        </p:nvSpPr>
        <p:spPr>
          <a:xfrm>
            <a:off x="4360984" y="5635854"/>
            <a:ext cx="4572000" cy="523220"/>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7-6. A single-level directory system containing four files.</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9130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solidFill>
                <a:srgbClr val="000000"/>
              </a:solidFill>
            </a:endParaRPr>
          </a:p>
        </p:txBody>
      </p:sp>
      <p:sp>
        <p:nvSpPr>
          <p:cNvPr id="4" name="TextBox 3">
            <a:extLst>
              <a:ext uri="{FF2B5EF4-FFF2-40B4-BE49-F238E27FC236}">
                <a16:creationId xmlns="" xmlns:a16="http://schemas.microsoft.com/office/drawing/2014/main" id="{0506EE91-E68A-4144-9C21-D54AC9492A07}"/>
              </a:ext>
            </a:extLst>
          </p:cNvPr>
          <p:cNvSpPr txBox="1"/>
          <p:nvPr/>
        </p:nvSpPr>
        <p:spPr>
          <a:xfrm>
            <a:off x="316523" y="298938"/>
            <a:ext cx="8198827" cy="3730317"/>
          </a:xfrm>
          <a:prstGeom prst="rect">
            <a:avLst/>
          </a:prstGeom>
          <a:noFill/>
        </p:spPr>
        <p:txBody>
          <a:bodyPr wrap="square">
            <a:spAutoFit/>
          </a:bodyPr>
          <a:lstStyle/>
          <a:p>
            <a:pPr algn="just">
              <a:lnSpc>
                <a:spcPct val="150000"/>
              </a:lnSpc>
            </a:pPr>
            <a:r>
              <a:rPr lang="en-US" sz="2000" b="1" i="0" strike="noStrike" baseline="0" dirty="0">
                <a:latin typeface="Times New Roman" panose="02020603050405020304" pitchFamily="18" charset="0"/>
                <a:cs typeface="Times New Roman" panose="02020603050405020304" pitchFamily="18" charset="0"/>
              </a:rPr>
              <a:t>2. Two-level directory systems</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 this two-level directory system, names chosen by one user don't interfere with names chosen by a different user and there is no any problem that is caused by the same name occurring in two or more than two </a:t>
            </a:r>
            <a:r>
              <a:rPr lang="en-US" sz="2000" b="0" i="0" strike="noStrike" dirty="0">
                <a:effectLst/>
                <a:latin typeface="Times New Roman" panose="02020603050405020304" pitchFamily="18" charset="0"/>
                <a:cs typeface="Times New Roman" panose="02020603050405020304" pitchFamily="18" charset="0"/>
              </a:rPr>
              <a:t>directories.</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two-level directory system even on a single-user PC, is inconvenient.</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Since it is common for the users, want to group their files together in logical ways.</a:t>
            </a:r>
          </a:p>
          <a:p>
            <a:pPr marL="285750" indent="-285750" algn="just">
              <a:lnSpc>
                <a:spcPct val="150000"/>
              </a:lnSpc>
              <a:buFont typeface="Arial" panose="020B0604020202020204" pitchFamily="34" charset="0"/>
              <a:buChar char="•"/>
            </a:pPr>
            <a:endParaRPr lang="en-US" sz="2000" b="1" i="0" strike="noStrike" baseline="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C0995EB2-473C-40ED-B56C-12B3588EF9BE}"/>
              </a:ext>
            </a:extLst>
          </p:cNvPr>
          <p:cNvPicPr>
            <a:picLocks noChangeAspect="1"/>
          </p:cNvPicPr>
          <p:nvPr/>
        </p:nvPicPr>
        <p:blipFill>
          <a:blip r:embed="rId2"/>
          <a:stretch>
            <a:fillRect/>
          </a:stretch>
        </p:blipFill>
        <p:spPr>
          <a:xfrm>
            <a:off x="3571875" y="3144045"/>
            <a:ext cx="4322194" cy="2565974"/>
          </a:xfrm>
          <a:prstGeom prst="rect">
            <a:avLst/>
          </a:prstGeom>
        </p:spPr>
      </p:pic>
      <p:sp>
        <p:nvSpPr>
          <p:cNvPr id="8" name="TextBox 7">
            <a:extLst>
              <a:ext uri="{FF2B5EF4-FFF2-40B4-BE49-F238E27FC236}">
                <a16:creationId xmlns="" xmlns:a16="http://schemas.microsoft.com/office/drawing/2014/main" id="{4C1E1EA5-98F6-4543-ADFA-33FFF134E0F3}"/>
              </a:ext>
            </a:extLst>
          </p:cNvPr>
          <p:cNvSpPr txBox="1"/>
          <p:nvPr/>
        </p:nvSpPr>
        <p:spPr>
          <a:xfrm>
            <a:off x="3411415" y="5892582"/>
            <a:ext cx="4572000" cy="523220"/>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a:t>
            </a:r>
            <a:r>
              <a:rPr lang="en-US" sz="1400" b="1" dirty="0">
                <a:latin typeface="Times New Roman" panose="02020603050405020304" pitchFamily="18" charset="0"/>
                <a:cs typeface="Times New Roman" panose="02020603050405020304" pitchFamily="18" charset="0"/>
              </a:rPr>
              <a:t>7</a:t>
            </a:r>
            <a:r>
              <a:rPr lang="en-US" sz="1400" b="1" i="0" u="none" strike="noStrike" baseline="0" dirty="0">
                <a:latin typeface="Times New Roman" panose="02020603050405020304" pitchFamily="18" charset="0"/>
                <a:cs typeface="Times New Roman" panose="02020603050405020304" pitchFamily="18" charset="0"/>
              </a:rPr>
              <a:t>-7. A single-level directory system containing four files.</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773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solidFill>
                <a:srgbClr val="000000"/>
              </a:solidFill>
            </a:endParaRPr>
          </a:p>
        </p:txBody>
      </p:sp>
      <p:sp>
        <p:nvSpPr>
          <p:cNvPr id="4" name="TextBox 3">
            <a:extLst>
              <a:ext uri="{FF2B5EF4-FFF2-40B4-BE49-F238E27FC236}">
                <a16:creationId xmlns="" xmlns:a16="http://schemas.microsoft.com/office/drawing/2014/main" id="{A76793CF-D8FF-4E7C-B7CB-DE4417F737F0}"/>
              </a:ext>
            </a:extLst>
          </p:cNvPr>
          <p:cNvSpPr txBox="1"/>
          <p:nvPr/>
        </p:nvSpPr>
        <p:spPr>
          <a:xfrm>
            <a:off x="281354" y="351691"/>
            <a:ext cx="8233996" cy="3268652"/>
          </a:xfrm>
          <a:prstGeom prst="rect">
            <a:avLst/>
          </a:prstGeom>
          <a:noFill/>
        </p:spPr>
        <p:txBody>
          <a:bodyPr wrap="square">
            <a:spAutoFit/>
          </a:bodyPr>
          <a:lstStyle/>
          <a:p>
            <a:pPr algn="just">
              <a:lnSpc>
                <a:spcPct val="150000"/>
              </a:lnSpc>
            </a:pPr>
            <a:r>
              <a:rPr lang="en-US" sz="2000" b="1" i="0" u="none" strike="noStrike" baseline="0" dirty="0">
                <a:latin typeface="Times New Roman" panose="02020603050405020304" pitchFamily="18" charset="0"/>
                <a:cs typeface="Times New Roman" panose="02020603050405020304" pitchFamily="18" charset="0"/>
              </a:rPr>
              <a:t>3. Hierarchical Directory Systems</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With hierarchical approach, each user on the computer system can have as many directories as are needed, so that files can be grouped together in natural ways.</a:t>
            </a:r>
            <a:endParaRPr lang="en-US" sz="2000" b="0" i="0" u="none" strike="noStrike" baseline="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Here, the directories </a:t>
            </a:r>
            <a:r>
              <a:rPr lang="en-US" sz="2000" b="0" i="1" u="none" strike="noStrike" baseline="0" dirty="0">
                <a:latin typeface="Times New Roman" panose="02020603050405020304" pitchFamily="18" charset="0"/>
                <a:cs typeface="Times New Roman" panose="02020603050405020304" pitchFamily="18" charset="0"/>
              </a:rPr>
              <a:t>A</a:t>
            </a:r>
            <a:r>
              <a:rPr lang="en-US" sz="2000" b="0" i="0" u="none" strike="noStrike" baseline="0" dirty="0">
                <a:latin typeface="Times New Roman" panose="02020603050405020304" pitchFamily="18" charset="0"/>
                <a:cs typeface="Times New Roman" panose="02020603050405020304" pitchFamily="18" charset="0"/>
              </a:rPr>
              <a:t>, </a:t>
            </a:r>
            <a:r>
              <a:rPr lang="en-US" sz="2000" b="0" i="1" u="none" strike="noStrike" baseline="0" dirty="0">
                <a:latin typeface="Times New Roman" panose="02020603050405020304" pitchFamily="18" charset="0"/>
                <a:cs typeface="Times New Roman" panose="02020603050405020304" pitchFamily="18" charset="0"/>
              </a:rPr>
              <a:t>B</a:t>
            </a:r>
            <a:r>
              <a:rPr lang="en-US" sz="2000" b="0" i="0" u="none" strike="noStrike" baseline="0" dirty="0">
                <a:latin typeface="Times New Roman" panose="02020603050405020304" pitchFamily="18" charset="0"/>
                <a:cs typeface="Times New Roman" panose="02020603050405020304" pitchFamily="18" charset="0"/>
              </a:rPr>
              <a:t>, and </a:t>
            </a:r>
            <a:r>
              <a:rPr lang="en-US" sz="2000" b="0" i="1" u="none" strike="noStrike" baseline="0" dirty="0">
                <a:latin typeface="Times New Roman" panose="02020603050405020304" pitchFamily="18" charset="0"/>
                <a:cs typeface="Times New Roman" panose="02020603050405020304" pitchFamily="18" charset="0"/>
              </a:rPr>
              <a:t>C </a:t>
            </a:r>
            <a:r>
              <a:rPr lang="en-US" sz="2000" b="0" i="0" u="none" strike="noStrike" baseline="0" dirty="0">
                <a:latin typeface="Times New Roman" panose="02020603050405020304" pitchFamily="18" charset="0"/>
                <a:cs typeface="Times New Roman" panose="02020603050405020304" pitchFamily="18" charset="0"/>
              </a:rPr>
              <a:t>contained in the root directory each belong to a different user, two of whom have created subdirectories for projects they are working on.</a:t>
            </a:r>
            <a:endParaRPr lang="en-US"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1A7EC37B-1044-492F-9EF1-75E5E7EB69C2}"/>
              </a:ext>
            </a:extLst>
          </p:cNvPr>
          <p:cNvPicPr>
            <a:picLocks noChangeAspect="1"/>
          </p:cNvPicPr>
          <p:nvPr/>
        </p:nvPicPr>
        <p:blipFill>
          <a:blip r:embed="rId2"/>
          <a:stretch>
            <a:fillRect/>
          </a:stretch>
        </p:blipFill>
        <p:spPr>
          <a:xfrm>
            <a:off x="3377711" y="3213006"/>
            <a:ext cx="5391150" cy="3181350"/>
          </a:xfrm>
          <a:prstGeom prst="rect">
            <a:avLst/>
          </a:prstGeom>
        </p:spPr>
      </p:pic>
      <p:sp>
        <p:nvSpPr>
          <p:cNvPr id="8" name="TextBox 7">
            <a:extLst>
              <a:ext uri="{FF2B5EF4-FFF2-40B4-BE49-F238E27FC236}">
                <a16:creationId xmlns="" xmlns:a16="http://schemas.microsoft.com/office/drawing/2014/main" id="{B7C70C2F-A325-4F70-9BB6-846B551A29AD}"/>
              </a:ext>
            </a:extLst>
          </p:cNvPr>
          <p:cNvSpPr txBox="1"/>
          <p:nvPr/>
        </p:nvSpPr>
        <p:spPr>
          <a:xfrm>
            <a:off x="3918439" y="6209690"/>
            <a:ext cx="4572000" cy="307777"/>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a:t>
            </a:r>
            <a:r>
              <a:rPr lang="en-US" sz="1400" b="1" dirty="0">
                <a:latin typeface="Times New Roman" panose="02020603050405020304" pitchFamily="18" charset="0"/>
                <a:cs typeface="Times New Roman" panose="02020603050405020304" pitchFamily="18" charset="0"/>
              </a:rPr>
              <a:t>7-8</a:t>
            </a:r>
            <a:r>
              <a:rPr lang="en-US" sz="1400" b="1" i="0" u="none" strike="noStrike" baseline="0" dirty="0">
                <a:latin typeface="Times New Roman" panose="02020603050405020304" pitchFamily="18" charset="0"/>
                <a:cs typeface="Times New Roman" panose="02020603050405020304" pitchFamily="18" charset="0"/>
              </a:rPr>
              <a:t>. A hierarchical directory system.</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4921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solidFill>
                <a:srgbClr val="000000"/>
              </a:solidFill>
            </a:endParaRPr>
          </a:p>
        </p:txBody>
      </p:sp>
      <p:sp>
        <p:nvSpPr>
          <p:cNvPr id="4" name="TextBox 3">
            <a:extLst>
              <a:ext uri="{FF2B5EF4-FFF2-40B4-BE49-F238E27FC236}">
                <a16:creationId xmlns="" xmlns:a16="http://schemas.microsoft.com/office/drawing/2014/main" id="{D6ABD2C9-AC0A-4C0D-AC65-A6A82964BF91}"/>
              </a:ext>
            </a:extLst>
          </p:cNvPr>
          <p:cNvSpPr txBox="1"/>
          <p:nvPr/>
        </p:nvSpPr>
        <p:spPr>
          <a:xfrm>
            <a:off x="1510145" y="282710"/>
            <a:ext cx="462915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Path Names</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D39D0786-03EA-462E-82DA-1F1E3BCD3BDE}"/>
              </a:ext>
            </a:extLst>
          </p:cNvPr>
          <p:cNvSpPr txBox="1"/>
          <p:nvPr/>
        </p:nvSpPr>
        <p:spPr>
          <a:xfrm>
            <a:off x="422031" y="598189"/>
            <a:ext cx="8299937" cy="603864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u="none" strike="noStrike" baseline="0" dirty="0">
                <a:latin typeface="Times New Roman" panose="02020603050405020304" pitchFamily="18" charset="0"/>
                <a:cs typeface="Times New Roman" panose="02020603050405020304" pitchFamily="18" charset="0"/>
              </a:rPr>
              <a:t>When the file system is organized as a directory tree, some way is needed for specifying file names.</a:t>
            </a:r>
          </a:p>
          <a:p>
            <a:pPr marL="285750" indent="-285750" algn="just">
              <a:lnSpc>
                <a:spcPct val="150000"/>
              </a:lnSpc>
              <a:buFont typeface="Arial" panose="020B0604020202020204" pitchFamily="34" charset="0"/>
              <a:buChar char="•"/>
            </a:pPr>
            <a:r>
              <a:rPr lang="en-US" sz="2000" b="0" u="none" strike="noStrike" baseline="0" dirty="0">
                <a:latin typeface="Times New Roman" panose="02020603050405020304" pitchFamily="18" charset="0"/>
                <a:cs typeface="Times New Roman" panose="02020603050405020304" pitchFamily="18" charset="0"/>
              </a:rPr>
              <a:t>Two different methods are commonly used.</a:t>
            </a:r>
            <a:endParaRPr lang="en-US" sz="2000" dirty="0">
              <a:latin typeface="Times New Roman" panose="02020603050405020304" pitchFamily="18" charset="0"/>
              <a:cs typeface="Times New Roman" panose="02020603050405020304" pitchFamily="18" charset="0"/>
            </a:endParaRPr>
          </a:p>
          <a:p>
            <a:pPr marL="914400" lvl="1" indent="-457200" algn="just">
              <a:lnSpc>
                <a:spcPct val="150000"/>
              </a:lnSpc>
              <a:buAutoNum type="arabicPeriod"/>
            </a:pPr>
            <a:r>
              <a:rPr lang="en-US" sz="2000" b="0" dirty="0">
                <a:effectLst/>
                <a:latin typeface="Times New Roman" panose="02020603050405020304" pitchFamily="18" charset="0"/>
                <a:cs typeface="Times New Roman" panose="02020603050405020304" pitchFamily="18" charset="0"/>
              </a:rPr>
              <a:t>Absolute path name</a:t>
            </a:r>
          </a:p>
          <a:p>
            <a:pPr marL="914400" lvl="1" indent="-457200" algn="just">
              <a:lnSpc>
                <a:spcPct val="150000"/>
              </a:lnSpc>
              <a:buAutoNum type="arabicPeriod"/>
            </a:pPr>
            <a:r>
              <a:rPr lang="en-US" sz="2000" b="0" dirty="0">
                <a:effectLst/>
                <a:latin typeface="Times New Roman" panose="02020603050405020304" pitchFamily="18" charset="0"/>
                <a:cs typeface="Times New Roman" panose="02020603050405020304" pitchFamily="18" charset="0"/>
              </a:rPr>
              <a:t>Relative path name</a:t>
            </a:r>
          </a:p>
          <a:p>
            <a:pPr marL="285750" indent="-285750" algn="just">
              <a:lnSpc>
                <a:spcPct val="150000"/>
              </a:lnSpc>
              <a:buFont typeface="Arial" panose="020B0604020202020204" pitchFamily="34" charset="0"/>
              <a:buChar char="•"/>
            </a:pPr>
            <a:r>
              <a:rPr lang="en-US" sz="2000" b="0" u="none" strike="noStrike" baseline="0" dirty="0">
                <a:latin typeface="Times New Roman" panose="02020603050405020304" pitchFamily="18" charset="0"/>
                <a:cs typeface="Times New Roman" panose="02020603050405020304" pitchFamily="18" charset="0"/>
              </a:rPr>
              <a:t>An </a:t>
            </a:r>
            <a:r>
              <a:rPr lang="en-US" sz="2000" b="1" u="none" strike="noStrike" baseline="0" dirty="0">
                <a:latin typeface="Times New Roman" panose="02020603050405020304" pitchFamily="18" charset="0"/>
                <a:cs typeface="Times New Roman" panose="02020603050405020304" pitchFamily="18" charset="0"/>
              </a:rPr>
              <a:t>absolute path name </a:t>
            </a:r>
            <a:r>
              <a:rPr lang="en-US" sz="2000" b="0" u="none" strike="noStrike" baseline="0" dirty="0">
                <a:latin typeface="Times New Roman" panose="02020603050405020304" pitchFamily="18" charset="0"/>
                <a:cs typeface="Times New Roman" panose="02020603050405020304" pitchFamily="18" charset="0"/>
              </a:rPr>
              <a:t>consisting of the path from the root directory to the file. As an example, the path /</a:t>
            </a:r>
            <a:r>
              <a:rPr lang="en-US" sz="2000" b="0" u="none" strike="noStrike" baseline="0" dirty="0" err="1">
                <a:latin typeface="Times New Roman" panose="02020603050405020304" pitchFamily="18" charset="0"/>
                <a:cs typeface="Times New Roman" panose="02020603050405020304" pitchFamily="18" charset="0"/>
              </a:rPr>
              <a:t>usr</a:t>
            </a:r>
            <a:r>
              <a:rPr lang="en-US" sz="2000" b="0" u="none" strike="noStrike" baseline="0" dirty="0">
                <a:latin typeface="Times New Roman" panose="02020603050405020304" pitchFamily="18" charset="0"/>
                <a:cs typeface="Times New Roman" panose="02020603050405020304" pitchFamily="18" charset="0"/>
              </a:rPr>
              <a:t>/</a:t>
            </a:r>
            <a:r>
              <a:rPr lang="en-US" sz="2000" b="0" u="none" strike="noStrike" baseline="0" dirty="0" err="1">
                <a:latin typeface="Times New Roman" panose="02020603050405020304" pitchFamily="18" charset="0"/>
                <a:cs typeface="Times New Roman" panose="02020603050405020304" pitchFamily="18" charset="0"/>
              </a:rPr>
              <a:t>ast</a:t>
            </a:r>
            <a:r>
              <a:rPr lang="en-US" sz="2000" b="0" u="none" strike="noStrike" baseline="0" dirty="0">
                <a:latin typeface="Times New Roman" panose="02020603050405020304" pitchFamily="18" charset="0"/>
                <a:cs typeface="Times New Roman" panose="02020603050405020304" pitchFamily="18" charset="0"/>
              </a:rPr>
              <a:t>/mailbox means that the root directory contains a subdirectory </a:t>
            </a:r>
            <a:r>
              <a:rPr lang="en-US" sz="2000" b="0" u="none" strike="noStrike" baseline="0" dirty="0" err="1">
                <a:latin typeface="Times New Roman" panose="02020603050405020304" pitchFamily="18" charset="0"/>
                <a:cs typeface="Times New Roman" panose="02020603050405020304" pitchFamily="18" charset="0"/>
              </a:rPr>
              <a:t>usr</a:t>
            </a:r>
            <a:r>
              <a:rPr lang="en-US" sz="2000" b="0" u="none" strike="noStrike" baseline="0" dirty="0">
                <a:latin typeface="Times New Roman" panose="02020603050405020304" pitchFamily="18" charset="0"/>
                <a:cs typeface="Times New Roman" panose="02020603050405020304" pitchFamily="18" charset="0"/>
              </a:rPr>
              <a:t>, which in turn contains a subdirectory </a:t>
            </a:r>
            <a:r>
              <a:rPr lang="en-US" sz="2000" b="0" u="none" strike="noStrike" baseline="0" dirty="0" err="1">
                <a:latin typeface="Times New Roman" panose="02020603050405020304" pitchFamily="18" charset="0"/>
                <a:cs typeface="Times New Roman" panose="02020603050405020304" pitchFamily="18" charset="0"/>
              </a:rPr>
              <a:t>ast</a:t>
            </a:r>
            <a:r>
              <a:rPr lang="en-US" sz="2000" b="0" u="none" strike="noStrike" baseline="0" dirty="0">
                <a:latin typeface="Times New Roman" panose="02020603050405020304" pitchFamily="18" charset="0"/>
                <a:cs typeface="Times New Roman" panose="02020603050405020304" pitchFamily="18" charset="0"/>
              </a:rPr>
              <a:t>, which contains the file mailbox. </a:t>
            </a:r>
          </a:p>
          <a:p>
            <a:pPr marL="285750" indent="-285750" algn="just">
              <a:lnSpc>
                <a:spcPct val="150000"/>
              </a:lnSpc>
              <a:buFont typeface="Arial" panose="020B0604020202020204" pitchFamily="34" charset="0"/>
              <a:buChar char="•"/>
            </a:pPr>
            <a:r>
              <a:rPr lang="en-US" sz="2000" b="0" u="none" strike="noStrike" baseline="0" dirty="0">
                <a:latin typeface="Times New Roman" panose="02020603050405020304" pitchFamily="18" charset="0"/>
                <a:cs typeface="Times New Roman" panose="02020603050405020304" pitchFamily="18" charset="0"/>
              </a:rPr>
              <a:t>Absolute path names always start at the root directory and are unique.</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Windows:	 \</a:t>
            </a:r>
            <a:r>
              <a:rPr lang="en-US" sz="2000" b="0" i="0" u="none" strike="noStrike" baseline="0" dirty="0" err="1">
                <a:latin typeface="Times New Roman" panose="02020603050405020304" pitchFamily="18" charset="0"/>
                <a:cs typeface="Times New Roman" panose="02020603050405020304" pitchFamily="18" charset="0"/>
              </a:rPr>
              <a:t>usr</a:t>
            </a:r>
            <a:r>
              <a:rPr lang="en-US" sz="2000" b="0"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err="1">
                <a:latin typeface="Times New Roman" panose="02020603050405020304" pitchFamily="18" charset="0"/>
                <a:cs typeface="Times New Roman" panose="02020603050405020304" pitchFamily="18" charset="0"/>
              </a:rPr>
              <a:t>ast</a:t>
            </a:r>
            <a:r>
              <a:rPr lang="en-US" sz="2000" b="0" i="0" u="none" strike="noStrike" baseline="0" dirty="0">
                <a:latin typeface="Times New Roman" panose="02020603050405020304" pitchFamily="18" charset="0"/>
                <a:cs typeface="Times New Roman" panose="02020603050405020304" pitchFamily="18" charset="0"/>
              </a:rPr>
              <a:t>\mailbox</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UNIX	: /</a:t>
            </a:r>
            <a:r>
              <a:rPr lang="en-US" sz="2000" b="0" i="0" u="none" strike="noStrike" baseline="0" dirty="0" err="1">
                <a:latin typeface="Times New Roman" panose="02020603050405020304" pitchFamily="18" charset="0"/>
                <a:cs typeface="Times New Roman" panose="02020603050405020304" pitchFamily="18" charset="0"/>
              </a:rPr>
              <a:t>usr</a:t>
            </a:r>
            <a:r>
              <a:rPr lang="en-US" sz="2000" b="0"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err="1">
                <a:latin typeface="Times New Roman" panose="02020603050405020304" pitchFamily="18" charset="0"/>
                <a:cs typeface="Times New Roman" panose="02020603050405020304" pitchFamily="18" charset="0"/>
              </a:rPr>
              <a:t>ast</a:t>
            </a:r>
            <a:r>
              <a:rPr lang="en-US" sz="2000" b="0" i="0" u="none" strike="noStrike" baseline="0" dirty="0">
                <a:latin typeface="Times New Roman" panose="02020603050405020304" pitchFamily="18" charset="0"/>
                <a:cs typeface="Times New Roman" panose="02020603050405020304" pitchFamily="18" charset="0"/>
              </a:rPr>
              <a:t>/mailbox</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MULTICS	: &gt;</a:t>
            </a:r>
            <a:r>
              <a:rPr lang="en-US" sz="2000" b="0" i="0" u="none" strike="noStrike" baseline="0" dirty="0" err="1">
                <a:latin typeface="Times New Roman" panose="02020603050405020304" pitchFamily="18" charset="0"/>
                <a:cs typeface="Times New Roman" panose="02020603050405020304" pitchFamily="18" charset="0"/>
              </a:rPr>
              <a:t>usr</a:t>
            </a:r>
            <a:r>
              <a:rPr lang="en-US" sz="2000" b="0" i="0" u="none" strike="noStrike" baseline="0" dirty="0">
                <a:latin typeface="Times New Roman" panose="02020603050405020304" pitchFamily="18" charset="0"/>
                <a:cs typeface="Times New Roman" panose="02020603050405020304" pitchFamily="18" charset="0"/>
              </a:rPr>
              <a:t>&gt;</a:t>
            </a:r>
            <a:r>
              <a:rPr lang="en-US" sz="2000" b="0" i="0" u="none" strike="noStrike" baseline="0" dirty="0" err="1">
                <a:latin typeface="Times New Roman" panose="02020603050405020304" pitchFamily="18" charset="0"/>
                <a:cs typeface="Times New Roman" panose="02020603050405020304" pitchFamily="18" charset="0"/>
              </a:rPr>
              <a:t>ast</a:t>
            </a:r>
            <a:r>
              <a:rPr lang="en-US" sz="2000" b="0" i="0" u="none" strike="noStrike" baseline="0" dirty="0">
                <a:latin typeface="Times New Roman" panose="02020603050405020304" pitchFamily="18" charset="0"/>
                <a:cs typeface="Times New Roman" panose="02020603050405020304" pitchFamily="18" charset="0"/>
              </a:rPr>
              <a:t>&gt;mailbox</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8985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solidFill>
                <a:srgbClr val="000000"/>
              </a:solidFill>
            </a:endParaRPr>
          </a:p>
        </p:txBody>
      </p:sp>
      <p:sp>
        <p:nvSpPr>
          <p:cNvPr id="8" name="TextBox 7">
            <a:extLst>
              <a:ext uri="{FF2B5EF4-FFF2-40B4-BE49-F238E27FC236}">
                <a16:creationId xmlns="" xmlns:a16="http://schemas.microsoft.com/office/drawing/2014/main" id="{1B0B6AFD-2F86-4CAE-8273-8EF053CCA854}"/>
              </a:ext>
            </a:extLst>
          </p:cNvPr>
          <p:cNvSpPr txBox="1"/>
          <p:nvPr/>
        </p:nvSpPr>
        <p:spPr>
          <a:xfrm>
            <a:off x="628649" y="448896"/>
            <a:ext cx="3943351" cy="170456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The </a:t>
            </a:r>
            <a:r>
              <a:rPr lang="en-US" b="1" i="0" u="none" strike="noStrike" baseline="0" dirty="0">
                <a:latin typeface="Times New Roman" panose="02020603050405020304" pitchFamily="18" charset="0"/>
                <a:cs typeface="Times New Roman" panose="02020603050405020304" pitchFamily="18" charset="0"/>
              </a:rPr>
              <a:t>relative path name</a:t>
            </a:r>
            <a:r>
              <a:rPr lang="en-US"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used in conjunction with the concept of the </a:t>
            </a:r>
            <a:r>
              <a:rPr lang="en-US" i="0" u="none" strike="noStrike" baseline="0" dirty="0">
                <a:latin typeface="Times New Roman" panose="02020603050405020304" pitchFamily="18" charset="0"/>
                <a:cs typeface="Times New Roman" panose="02020603050405020304" pitchFamily="18" charset="0"/>
              </a:rPr>
              <a:t>working directory (also called the current directory</a:t>
            </a:r>
            <a:r>
              <a:rPr lang="en-US" i="0" u="none" strike="noStrike" baseline="0" dirty="0" smtClean="0">
                <a:latin typeface="Times New Roman" panose="02020603050405020304" pitchFamily="18" charset="0"/>
                <a:cs typeface="Times New Roman" panose="02020603050405020304" pitchFamily="18" charset="0"/>
              </a:rPr>
              <a:t>).</a:t>
            </a:r>
            <a:endParaRPr lang="en-US"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77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a:solidFill>
                <a:srgbClr val="000000"/>
              </a:solidFill>
            </a:endParaRPr>
          </a:p>
        </p:txBody>
      </p:sp>
      <p:sp>
        <p:nvSpPr>
          <p:cNvPr id="4" name="TextBox 3">
            <a:extLst>
              <a:ext uri="{FF2B5EF4-FFF2-40B4-BE49-F238E27FC236}">
                <a16:creationId xmlns="" xmlns:a16="http://schemas.microsoft.com/office/drawing/2014/main" id="{592028C1-B7E5-431D-8150-21B9591754A9}"/>
              </a:ext>
            </a:extLst>
          </p:cNvPr>
          <p:cNvSpPr txBox="1"/>
          <p:nvPr/>
        </p:nvSpPr>
        <p:spPr>
          <a:xfrm>
            <a:off x="2286000" y="413211"/>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Directory Operations</a:t>
            </a:r>
            <a:endParaRPr lang="en-US"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CD15F170-694C-4AC8-98FA-3A73F3FB834A}"/>
              </a:ext>
            </a:extLst>
          </p:cNvPr>
          <p:cNvSpPr txBox="1"/>
          <p:nvPr/>
        </p:nvSpPr>
        <p:spPr>
          <a:xfrm>
            <a:off x="490171" y="1241040"/>
            <a:ext cx="8163658" cy="5115311"/>
          </a:xfrm>
          <a:prstGeom prst="rect">
            <a:avLst/>
          </a:prstGeom>
          <a:noFill/>
        </p:spPr>
        <p:txBody>
          <a:bodyPr wrap="square">
            <a:spAutoFit/>
          </a:bodyPr>
          <a:lstStyle/>
          <a:p>
            <a:pPr algn="just">
              <a:lnSpc>
                <a:spcPct val="150000"/>
              </a:lnSpc>
            </a:pPr>
            <a:r>
              <a:rPr lang="en-US" sz="2000" b="1" i="0" dirty="0">
                <a:effectLst/>
                <a:latin typeface="Times New Roman" panose="02020603050405020304" pitchFamily="18" charset="0"/>
                <a:cs typeface="Times New Roman" panose="02020603050405020304" pitchFamily="18" charset="0"/>
              </a:rPr>
              <a:t>Create: </a:t>
            </a:r>
            <a:r>
              <a:rPr lang="en-US" sz="2000" b="0" i="0" dirty="0">
                <a:effectLst/>
                <a:latin typeface="Times New Roman" panose="02020603050405020304" pitchFamily="18" charset="0"/>
                <a:cs typeface="Times New Roman" panose="02020603050405020304" pitchFamily="18" charset="0"/>
              </a:rPr>
              <a:t>A directory is created. It is empty except for dot and </a:t>
            </a:r>
            <a:r>
              <a:rPr lang="en-US" sz="2000" b="0" i="0" dirty="0" err="1">
                <a:effectLst/>
                <a:latin typeface="Times New Roman" panose="02020603050405020304" pitchFamily="18" charset="0"/>
                <a:cs typeface="Times New Roman" panose="02020603050405020304" pitchFamily="18" charset="0"/>
              </a:rPr>
              <a:t>dotdot</a:t>
            </a:r>
            <a:r>
              <a:rPr lang="en-US" sz="2000" b="0" i="0" dirty="0">
                <a:effectLst/>
                <a:latin typeface="Times New Roman" panose="02020603050405020304" pitchFamily="18" charset="0"/>
                <a:cs typeface="Times New Roman" panose="02020603050405020304" pitchFamily="18" charset="0"/>
              </a:rPr>
              <a:t>, which are put there automatically by the system.</a:t>
            </a:r>
          </a:p>
          <a:p>
            <a:pPr algn="just">
              <a:lnSpc>
                <a:spcPct val="150000"/>
              </a:lnSpc>
            </a:pPr>
            <a:r>
              <a:rPr lang="en-US" sz="2000" b="1" i="0" dirty="0">
                <a:effectLst/>
                <a:latin typeface="Times New Roman" panose="02020603050405020304" pitchFamily="18" charset="0"/>
                <a:cs typeface="Times New Roman" panose="02020603050405020304" pitchFamily="18" charset="0"/>
              </a:rPr>
              <a:t>Delete: </a:t>
            </a:r>
            <a:r>
              <a:rPr lang="en-US" sz="2000" b="0" i="0" dirty="0">
                <a:effectLst/>
                <a:latin typeface="Times New Roman" panose="02020603050405020304" pitchFamily="18" charset="0"/>
                <a:cs typeface="Times New Roman" panose="02020603050405020304" pitchFamily="18" charset="0"/>
              </a:rPr>
              <a:t>A directory is delete. Here, only those directory can be deleted which are empty.</a:t>
            </a:r>
          </a:p>
          <a:p>
            <a:pPr algn="just">
              <a:lnSpc>
                <a:spcPct val="150000"/>
              </a:lnSpc>
            </a:pPr>
            <a:r>
              <a:rPr lang="en-US" sz="2000" b="1" i="0" dirty="0" err="1">
                <a:effectLst/>
                <a:latin typeface="Times New Roman" panose="02020603050405020304" pitchFamily="18" charset="0"/>
                <a:cs typeface="Times New Roman" panose="02020603050405020304" pitchFamily="18" charset="0"/>
              </a:rPr>
              <a:t>Opendir</a:t>
            </a:r>
            <a:r>
              <a:rPr lang="en-US" sz="2000" b="1" i="0" dirty="0">
                <a:effectLst/>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Directories can be read. But before reading any directory, it must be opened first.</a:t>
            </a:r>
          </a:p>
          <a:p>
            <a:pPr algn="just">
              <a:lnSpc>
                <a:spcPct val="150000"/>
              </a:lnSpc>
            </a:pPr>
            <a:r>
              <a:rPr lang="en-US" sz="2000" b="0" i="0" dirty="0">
                <a:effectLst/>
                <a:latin typeface="Times New Roman" panose="02020603050405020304" pitchFamily="18" charset="0"/>
                <a:cs typeface="Times New Roman" panose="02020603050405020304" pitchFamily="18" charset="0"/>
              </a:rPr>
              <a:t>Therefore to list all the files present in a directory, a listing program opens that required directory to read out the name of all files that this directory contains.</a:t>
            </a:r>
          </a:p>
          <a:p>
            <a:pPr algn="just">
              <a:lnSpc>
                <a:spcPct val="150000"/>
              </a:lnSpc>
            </a:pPr>
            <a:r>
              <a:rPr lang="en-US" sz="2000" b="1" i="0" dirty="0" err="1">
                <a:effectLst/>
                <a:latin typeface="Times New Roman" panose="02020603050405020304" pitchFamily="18" charset="0"/>
                <a:cs typeface="Times New Roman" panose="02020603050405020304" pitchFamily="18" charset="0"/>
              </a:rPr>
              <a:t>Closedir</a:t>
            </a:r>
            <a:r>
              <a:rPr lang="en-US" sz="2000" b="1"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Directory should be closed just to free up the internal table space when it has been read.</a:t>
            </a:r>
          </a:p>
          <a:p>
            <a:pPr algn="just">
              <a:lnSpc>
                <a:spcPct val="150000"/>
              </a:lnSpc>
            </a:pPr>
            <a:r>
              <a:rPr lang="en-US" sz="2000" b="1" i="0" dirty="0" err="1">
                <a:effectLst/>
                <a:latin typeface="Times New Roman" panose="02020603050405020304" pitchFamily="18" charset="0"/>
                <a:cs typeface="Times New Roman" panose="02020603050405020304" pitchFamily="18" charset="0"/>
              </a:rPr>
              <a:t>Readdir</a:t>
            </a:r>
            <a:r>
              <a:rPr lang="en-US" sz="2000" b="1" i="0" dirty="0">
                <a:effectLst/>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This call returns the next entry in an open directory.</a:t>
            </a:r>
          </a:p>
        </p:txBody>
      </p:sp>
    </p:spTree>
    <p:extLst>
      <p:ext uri="{BB962C8B-B14F-4D97-AF65-F5344CB8AC3E}">
        <p14:creationId xmlns:p14="http://schemas.microsoft.com/office/powerpoint/2010/main" val="359350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a:solidFill>
                <a:srgbClr val="000000"/>
              </a:solidFill>
            </a:endParaRPr>
          </a:p>
        </p:txBody>
      </p:sp>
      <p:sp>
        <p:nvSpPr>
          <p:cNvPr id="4" name="TextBox 3">
            <a:extLst>
              <a:ext uri="{FF2B5EF4-FFF2-40B4-BE49-F238E27FC236}">
                <a16:creationId xmlns="" xmlns:a16="http://schemas.microsoft.com/office/drawing/2014/main" id="{C734FC26-AEE2-4AC8-81B5-506E3208F8C1}"/>
              </a:ext>
            </a:extLst>
          </p:cNvPr>
          <p:cNvSpPr txBox="1"/>
          <p:nvPr/>
        </p:nvSpPr>
        <p:spPr>
          <a:xfrm>
            <a:off x="580293" y="496563"/>
            <a:ext cx="8124092" cy="1889620"/>
          </a:xfrm>
          <a:prstGeom prst="rect">
            <a:avLst/>
          </a:prstGeom>
          <a:noFill/>
        </p:spPr>
        <p:txBody>
          <a:bodyPr wrap="square">
            <a:spAutoFit/>
          </a:bodyPr>
          <a:lstStyle/>
          <a:p>
            <a:pPr algn="just">
              <a:lnSpc>
                <a:spcPct val="150000"/>
              </a:lnSpc>
            </a:pPr>
            <a:r>
              <a:rPr lang="en-US" sz="2000" b="1" i="0" dirty="0">
                <a:effectLst/>
                <a:latin typeface="Times New Roman" panose="02020603050405020304" pitchFamily="18" charset="0"/>
                <a:cs typeface="Times New Roman" panose="02020603050405020304" pitchFamily="18" charset="0"/>
              </a:rPr>
              <a:t>Rename: </a:t>
            </a:r>
            <a:r>
              <a:rPr lang="en-US" sz="2000" b="0" i="0" dirty="0">
                <a:effectLst/>
                <a:latin typeface="Times New Roman" panose="02020603050405020304" pitchFamily="18" charset="0"/>
                <a:cs typeface="Times New Roman" panose="02020603050405020304" pitchFamily="18" charset="0"/>
              </a:rPr>
              <a:t>Directory can also be renamed just like the files.</a:t>
            </a:r>
          </a:p>
          <a:p>
            <a:pPr algn="just">
              <a:lnSpc>
                <a:spcPct val="150000"/>
              </a:lnSpc>
            </a:pPr>
            <a:r>
              <a:rPr lang="en-US" sz="2000" b="1" i="0" dirty="0">
                <a:effectLst/>
                <a:latin typeface="Times New Roman" panose="02020603050405020304" pitchFamily="18" charset="0"/>
                <a:cs typeface="Times New Roman" panose="02020603050405020304" pitchFamily="18" charset="0"/>
              </a:rPr>
              <a:t>Link: </a:t>
            </a:r>
            <a:r>
              <a:rPr lang="en-US" sz="2000" b="0" i="0" dirty="0">
                <a:effectLst/>
                <a:latin typeface="Times New Roman" panose="02020603050405020304" pitchFamily="18" charset="0"/>
                <a:cs typeface="Times New Roman" panose="02020603050405020304" pitchFamily="18" charset="0"/>
              </a:rPr>
              <a:t>Linking is a technique that allows a file to appear in more than one directory.</a:t>
            </a:r>
          </a:p>
          <a:p>
            <a:pPr algn="just">
              <a:lnSpc>
                <a:spcPct val="150000"/>
              </a:lnSpc>
            </a:pPr>
            <a:r>
              <a:rPr lang="en-US" sz="2000" b="1" i="0" dirty="0">
                <a:effectLst/>
                <a:latin typeface="Times New Roman" panose="02020603050405020304" pitchFamily="18" charset="0"/>
                <a:cs typeface="Times New Roman" panose="02020603050405020304" pitchFamily="18" charset="0"/>
              </a:rPr>
              <a:t>Unlink: </a:t>
            </a:r>
            <a:r>
              <a:rPr lang="en-US" sz="2000" b="0" i="0" dirty="0">
                <a:effectLst/>
                <a:latin typeface="Times New Roman" panose="02020603050405020304" pitchFamily="18" charset="0"/>
                <a:cs typeface="Times New Roman" panose="02020603050405020304" pitchFamily="18" charset="0"/>
              </a:rPr>
              <a:t>A directory entry is removed.</a:t>
            </a:r>
            <a:endParaRPr lang="en-US" sz="2000" dirty="0"/>
          </a:p>
        </p:txBody>
      </p:sp>
    </p:spTree>
    <p:extLst>
      <p:ext uri="{BB962C8B-B14F-4D97-AF65-F5344CB8AC3E}">
        <p14:creationId xmlns:p14="http://schemas.microsoft.com/office/powerpoint/2010/main" val="401608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a:solidFill>
                <a:srgbClr val="000000"/>
              </a:solidFill>
            </a:endParaRPr>
          </a:p>
        </p:txBody>
      </p:sp>
      <p:sp>
        <p:nvSpPr>
          <p:cNvPr id="4" name="TextBox 3">
            <a:extLst>
              <a:ext uri="{FF2B5EF4-FFF2-40B4-BE49-F238E27FC236}">
                <a16:creationId xmlns="" xmlns:a16="http://schemas.microsoft.com/office/drawing/2014/main" id="{F721AAC0-7D6F-4BDE-8BD5-9A514D55AB4A}"/>
              </a:ext>
            </a:extLst>
          </p:cNvPr>
          <p:cNvSpPr txBox="1"/>
          <p:nvPr/>
        </p:nvSpPr>
        <p:spPr>
          <a:xfrm>
            <a:off x="628650" y="975974"/>
            <a:ext cx="8251580" cy="557697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From now, we have only view the file system from the users point of view.</a:t>
            </a:r>
          </a:p>
          <a:p>
            <a:pPr marL="285750" indent="-285750" algn="l">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Now it's time to view the file system from the implementor point of view.</a:t>
            </a:r>
          </a:p>
          <a:p>
            <a:pPr marL="285750" indent="-285750"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t>
            </a:r>
            <a:r>
              <a:rPr lang="en-US" sz="2000" b="0" i="0" dirty="0">
                <a:effectLst/>
                <a:latin typeface="Times New Roman" panose="02020603050405020304" pitchFamily="18" charset="0"/>
                <a:cs typeface="Times New Roman" panose="02020603050405020304" pitchFamily="18" charset="0"/>
              </a:rPr>
              <a:t>ile system implementors are interested in how files and directories are stored, how disk space for file system is managed, and how to make everything work efficiently and reliably.</a:t>
            </a:r>
          </a:p>
          <a:p>
            <a:pPr algn="l">
              <a:lnSpc>
                <a:spcPct val="150000"/>
              </a:lnSpc>
            </a:pPr>
            <a:r>
              <a:rPr lang="en-US" sz="2000" b="1" i="0" u="none" strike="noStrike" baseline="0" dirty="0">
                <a:latin typeface="Times New Roman" panose="02020603050405020304" pitchFamily="18" charset="0"/>
                <a:cs typeface="Times New Roman" panose="02020603050405020304" pitchFamily="18" charset="0"/>
              </a:rPr>
              <a:t>File-System Layout</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File systems are stored on disks. Most disks can be divided up into one or more partitions, with independent file systems on each partition. Sector 0 of the disk is called the </a:t>
            </a:r>
            <a:r>
              <a:rPr lang="en-US" sz="2000" b="1" i="0" u="none" strike="noStrike" baseline="0" dirty="0">
                <a:latin typeface="Times New Roman" panose="02020603050405020304" pitchFamily="18" charset="0"/>
                <a:cs typeface="Times New Roman" panose="02020603050405020304" pitchFamily="18" charset="0"/>
              </a:rPr>
              <a:t>MBR </a:t>
            </a:r>
            <a:r>
              <a:rPr lang="en-US" sz="2000" b="0" i="0" u="none" strike="noStrike" baseline="0" dirty="0">
                <a:latin typeface="Times New Roman" panose="02020603050405020304" pitchFamily="18" charset="0"/>
                <a:cs typeface="Times New Roman" panose="02020603050405020304" pitchFamily="18" charset="0"/>
              </a:rPr>
              <a:t>(</a:t>
            </a:r>
            <a:r>
              <a:rPr lang="en-US" sz="2000" b="1" i="0" u="none" strike="noStrike" baseline="0" dirty="0">
                <a:latin typeface="Times New Roman" panose="02020603050405020304" pitchFamily="18" charset="0"/>
                <a:cs typeface="Times New Roman" panose="02020603050405020304" pitchFamily="18" charset="0"/>
              </a:rPr>
              <a:t>master boot record</a:t>
            </a:r>
            <a:r>
              <a:rPr lang="en-US" sz="2000" b="0" i="0" u="none" strike="noStrike" baseline="0" dirty="0">
                <a:latin typeface="Times New Roman" panose="02020603050405020304" pitchFamily="18" charset="0"/>
                <a:cs typeface="Times New Roman" panose="02020603050405020304" pitchFamily="18" charset="0"/>
              </a:rPr>
              <a:t>) and is used to boot the computer.</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a:t>
            </a:r>
            <a:r>
              <a:rPr lang="en-US" sz="2000" b="1" i="0" dirty="0">
                <a:effectLst/>
                <a:latin typeface="Times New Roman" panose="02020603050405020304" pitchFamily="18" charset="0"/>
                <a:cs typeface="Times New Roman" panose="02020603050405020304" pitchFamily="18" charset="0"/>
              </a:rPr>
              <a:t>partition table </a:t>
            </a:r>
            <a:r>
              <a:rPr lang="en-US" sz="2000" b="0" i="0" dirty="0">
                <a:effectLst/>
                <a:latin typeface="Times New Roman" panose="02020603050405020304" pitchFamily="18" charset="0"/>
                <a:cs typeface="Times New Roman" panose="02020603050405020304" pitchFamily="18" charset="0"/>
              </a:rPr>
              <a:t>gives the starting and ending addresses of each partition of the disk.</a:t>
            </a:r>
          </a:p>
        </p:txBody>
      </p:sp>
      <p:sp>
        <p:nvSpPr>
          <p:cNvPr id="6" name="TextBox 5">
            <a:extLst>
              <a:ext uri="{FF2B5EF4-FFF2-40B4-BE49-F238E27FC236}">
                <a16:creationId xmlns="" xmlns:a16="http://schemas.microsoft.com/office/drawing/2014/main" id="{838FC6A5-11B9-4DD6-85D7-2BA708E2D58E}"/>
              </a:ext>
            </a:extLst>
          </p:cNvPr>
          <p:cNvSpPr txBox="1"/>
          <p:nvPr/>
        </p:nvSpPr>
        <p:spPr>
          <a:xfrm>
            <a:off x="0" y="305050"/>
            <a:ext cx="9144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File-system implementation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10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20</a:t>
            </a:fld>
            <a:endParaRPr lang="en-US">
              <a:solidFill>
                <a:srgbClr val="000000"/>
              </a:solidFill>
            </a:endParaRPr>
          </a:p>
        </p:txBody>
      </p:sp>
      <p:sp>
        <p:nvSpPr>
          <p:cNvPr id="4" name="TextBox 3">
            <a:extLst>
              <a:ext uri="{FF2B5EF4-FFF2-40B4-BE49-F238E27FC236}">
                <a16:creationId xmlns="" xmlns:a16="http://schemas.microsoft.com/office/drawing/2014/main" id="{5977F56B-6440-4DB7-8C45-B2C675EBF745}"/>
              </a:ext>
            </a:extLst>
          </p:cNvPr>
          <p:cNvSpPr txBox="1"/>
          <p:nvPr/>
        </p:nvSpPr>
        <p:spPr>
          <a:xfrm>
            <a:off x="457200" y="263770"/>
            <a:ext cx="8405446" cy="373031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Whenever the computer system is booted up, the bios reads in and executes the master boot record.</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very first thing that the master boot record program does is, locate the active partition, read in its first block, that is called as the </a:t>
            </a:r>
            <a:r>
              <a:rPr lang="en-US" sz="2000" b="1" i="0" dirty="0">
                <a:effectLst/>
                <a:latin typeface="Times New Roman" panose="02020603050405020304" pitchFamily="18" charset="0"/>
                <a:cs typeface="Times New Roman" panose="02020603050405020304" pitchFamily="18" charset="0"/>
              </a:rPr>
              <a:t>boot block </a:t>
            </a:r>
            <a:r>
              <a:rPr lang="en-US" sz="2000" b="0" i="0" dirty="0">
                <a:effectLst/>
                <a:latin typeface="Times New Roman" panose="02020603050405020304" pitchFamily="18" charset="0"/>
                <a:cs typeface="Times New Roman" panose="02020603050405020304" pitchFamily="18" charset="0"/>
              </a:rPr>
              <a:t>and execute it.</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a:t>
            </a:r>
            <a:r>
              <a:rPr lang="en-US" sz="2000" b="1" i="0" u="none" strike="noStrike" baseline="0" dirty="0">
                <a:latin typeface="Times New Roman" panose="02020603050405020304" pitchFamily="18" charset="0"/>
                <a:cs typeface="Times New Roman" panose="02020603050405020304" pitchFamily="18" charset="0"/>
              </a:rPr>
              <a:t>superblock</a:t>
            </a:r>
            <a:r>
              <a:rPr lang="en-US" sz="2000" b="0" i="0" u="none" strike="noStrike" baseline="0" dirty="0">
                <a:latin typeface="Times New Roman" panose="02020603050405020304" pitchFamily="18" charset="0"/>
                <a:cs typeface="Times New Roman" panose="02020603050405020304" pitchFamily="18" charset="0"/>
              </a:rPr>
              <a:t> contains all the key parameters about the file system and is read into memory when the computer is booted or the file system is first touched.</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0D609A96-BA5B-4A9E-888F-09F15EC8DF1C}"/>
              </a:ext>
            </a:extLst>
          </p:cNvPr>
          <p:cNvSpPr txBox="1"/>
          <p:nvPr/>
        </p:nvSpPr>
        <p:spPr>
          <a:xfrm>
            <a:off x="2919046" y="6423027"/>
            <a:ext cx="4572000" cy="307777"/>
          </a:xfrm>
          <a:prstGeom prst="rect">
            <a:avLst/>
          </a:prstGeom>
          <a:noFill/>
        </p:spPr>
        <p:txBody>
          <a:bodyPr wrap="square">
            <a:spAutoFit/>
          </a:bodyPr>
          <a:lstStyle/>
          <a:p>
            <a:r>
              <a:rPr lang="en-US" sz="1400" b="1" i="0" u="none" strike="noStrike" baseline="0" dirty="0">
                <a:latin typeface="Times New Roman" panose="02020603050405020304" pitchFamily="18" charset="0"/>
                <a:cs typeface="Times New Roman" panose="02020603050405020304" pitchFamily="18" charset="0"/>
              </a:rPr>
              <a:t>Figure 7-10. A possible file-system layout.</a:t>
            </a:r>
            <a:endParaRPr lang="en-US" sz="1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DBD5CEB6-92E9-4A80-B3B6-7EC69D37573A}"/>
              </a:ext>
            </a:extLst>
          </p:cNvPr>
          <p:cNvPicPr>
            <a:picLocks noChangeAspect="1"/>
          </p:cNvPicPr>
          <p:nvPr/>
        </p:nvPicPr>
        <p:blipFill>
          <a:blip r:embed="rId2"/>
          <a:stretch>
            <a:fillRect/>
          </a:stretch>
        </p:blipFill>
        <p:spPr>
          <a:xfrm>
            <a:off x="1762125" y="3517902"/>
            <a:ext cx="6753225" cy="2905125"/>
          </a:xfrm>
          <a:prstGeom prst="rect">
            <a:avLst/>
          </a:prstGeom>
        </p:spPr>
      </p:pic>
    </p:spTree>
    <p:extLst>
      <p:ext uri="{BB962C8B-B14F-4D97-AF65-F5344CB8AC3E}">
        <p14:creationId xmlns:p14="http://schemas.microsoft.com/office/powerpoint/2010/main" val="924405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a:solidFill>
                <a:srgbClr val="000000"/>
              </a:solidFill>
            </a:endParaRPr>
          </a:p>
        </p:txBody>
      </p:sp>
      <p:sp>
        <p:nvSpPr>
          <p:cNvPr id="4" name="TextBox 3">
            <a:extLst>
              <a:ext uri="{FF2B5EF4-FFF2-40B4-BE49-F238E27FC236}">
                <a16:creationId xmlns="" xmlns:a16="http://schemas.microsoft.com/office/drawing/2014/main" id="{1FC41F5C-8796-40E8-8A05-A80CA4BF0CBE}"/>
              </a:ext>
            </a:extLst>
          </p:cNvPr>
          <p:cNvSpPr txBox="1"/>
          <p:nvPr/>
        </p:nvSpPr>
        <p:spPr>
          <a:xfrm>
            <a:off x="2162908" y="136524"/>
            <a:ext cx="4695092"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Implementing Files</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CCCB17BD-80E0-4435-A11D-1D071CD7736B}"/>
              </a:ext>
            </a:extLst>
          </p:cNvPr>
          <p:cNvSpPr txBox="1"/>
          <p:nvPr/>
        </p:nvSpPr>
        <p:spPr>
          <a:xfrm>
            <a:off x="545123" y="720968"/>
            <a:ext cx="8124092" cy="470898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most important issue in implementing file storage is keeping track of which disk blocks go with which file</a:t>
            </a:r>
            <a:r>
              <a:rPr lang="en-US" sz="2000" b="0" i="0" u="none" strike="noStrike" baseline="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2000" b="0" i="0" dirty="0" smtClean="0">
                <a:effectLst/>
                <a:latin typeface="Times New Roman" panose="02020603050405020304" pitchFamily="18" charset="0"/>
                <a:cs typeface="Times New Roman" panose="02020603050405020304" pitchFamily="18" charset="0"/>
              </a:rPr>
              <a:t>There are various types of file allocations method </a:t>
            </a:r>
            <a:r>
              <a:rPr lang="en-US" sz="2000" b="0" i="0" u="none" strike="noStrike" baseline="0" dirty="0" smtClean="0">
                <a:latin typeface="Times New Roman" panose="02020603050405020304" pitchFamily="18" charset="0"/>
                <a:cs typeface="Times New Roman" panose="02020603050405020304" pitchFamily="18" charset="0"/>
              </a:rPr>
              <a:t>few of them are:</a:t>
            </a:r>
            <a:endParaRPr lang="en-US" sz="2000" b="0" i="0"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sz="2000" b="1" i="0" u="none" strike="noStrike" baseline="0" dirty="0" smtClean="0">
                <a:latin typeface="Times New Roman" panose="02020603050405020304" pitchFamily="18" charset="0"/>
                <a:cs typeface="Times New Roman" panose="02020603050405020304" pitchFamily="18" charset="0"/>
              </a:rPr>
              <a:t>Contiguous allocation:</a:t>
            </a:r>
            <a:endParaRPr lang="en-US" sz="2000" b="0" i="0"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single continuous set of blocks is allocated to a file at the time of file creation. Thus, this is a pre-allocation strategy, using variable size portions. The file allocation table needs just a single entry for each file, showing the starting block and the length of the file</a:t>
            </a:r>
            <a:r>
              <a:rPr lang="en-US" sz="2000" dirty="0" smtClean="0">
                <a:latin typeface="Times New Roman" panose="02020603050405020304" pitchFamily="18" charset="0"/>
                <a:cs typeface="Times New Roman" panose="02020603050405020304" pitchFamily="18" charset="0"/>
              </a:rPr>
              <a:t>.</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6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a:solidFill>
                <a:srgbClr val="000000"/>
              </a:solidFill>
            </a:endParaRPr>
          </a:p>
        </p:txBody>
      </p:sp>
      <p:pic>
        <p:nvPicPr>
          <p:cNvPr id="2050" name="Picture 2" descr="file_sys_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714" y="-76489"/>
            <a:ext cx="5048250" cy="6432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202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23</a:t>
            </a:fld>
            <a:endParaRPr lang="en-US">
              <a:solidFill>
                <a:srgbClr val="000000"/>
              </a:solidFill>
            </a:endParaRPr>
          </a:p>
        </p:txBody>
      </p:sp>
      <p:sp>
        <p:nvSpPr>
          <p:cNvPr id="4" name="TextBox 3">
            <a:extLst>
              <a:ext uri="{FF2B5EF4-FFF2-40B4-BE49-F238E27FC236}">
                <a16:creationId xmlns="" xmlns:a16="http://schemas.microsoft.com/office/drawing/2014/main" id="{BAA56FDF-78F6-4497-91CC-A5E82920A7A5}"/>
              </a:ext>
            </a:extLst>
          </p:cNvPr>
          <p:cNvSpPr txBox="1"/>
          <p:nvPr/>
        </p:nvSpPr>
        <p:spPr>
          <a:xfrm>
            <a:off x="351693" y="404447"/>
            <a:ext cx="8352692" cy="55769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Contiguous allocation requires that each file occupy a set of contiguous blocks on the disk. The word contiguous means continuous.</a:t>
            </a:r>
          </a:p>
          <a:p>
            <a:pPr algn="just">
              <a:lnSpc>
                <a:spcPct val="150000"/>
              </a:lnSpc>
            </a:pPr>
            <a:r>
              <a:rPr lang="en-US" sz="2000" b="1" i="0" dirty="0">
                <a:effectLst/>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 the contiguous allocation, sequential and direct access both are supported.</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This is very fast and the number of seeks is minimal in the contiguous allocation method.</a:t>
            </a:r>
          </a:p>
          <a:p>
            <a:pPr algn="just">
              <a:lnSpc>
                <a:spcPct val="150000"/>
              </a:lnSpc>
            </a:pPr>
            <a:r>
              <a:rPr lang="en-US" sz="2000" b="1" i="0" dirty="0">
                <a:effectLst/>
                <a:latin typeface="Times New Roman" panose="02020603050405020304" pitchFamily="18" charset="0"/>
                <a:cs typeface="Times New Roman" panose="02020603050405020304" pitchFamily="18" charset="0"/>
              </a:rPr>
              <a:t>Disadvantages:</a:t>
            </a:r>
            <a:endParaRPr lang="en-US" sz="2000" b="0" i="0" dirty="0">
              <a:effectLst/>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Contiguous allocation method suffers internal as well as external fragmentation.</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 terms of memory utilization, this method is inefficient.</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It is difficult to increase the file size because it depends on the availability of contiguous memory.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1691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solidFill>
                <a:srgbClr val="000000"/>
              </a:solidFill>
            </a:endParaRPr>
          </a:p>
        </p:txBody>
      </p:sp>
      <p:sp>
        <p:nvSpPr>
          <p:cNvPr id="4" name="TextBox 3">
            <a:extLst>
              <a:ext uri="{FF2B5EF4-FFF2-40B4-BE49-F238E27FC236}">
                <a16:creationId xmlns="" xmlns:a16="http://schemas.microsoft.com/office/drawing/2014/main" id="{D143337E-1A5C-49F9-8940-A88348FEA1DB}"/>
              </a:ext>
            </a:extLst>
          </p:cNvPr>
          <p:cNvSpPr txBox="1"/>
          <p:nvPr/>
        </p:nvSpPr>
        <p:spPr>
          <a:xfrm>
            <a:off x="0" y="166254"/>
            <a:ext cx="8317523" cy="3323987"/>
          </a:xfrm>
          <a:prstGeom prst="rect">
            <a:avLst/>
          </a:prstGeom>
          <a:noFill/>
        </p:spPr>
        <p:txBody>
          <a:bodyPr wrap="square">
            <a:spAutoFit/>
          </a:bodyPr>
          <a:lstStyle/>
          <a:p>
            <a:pPr algn="just">
              <a:lnSpc>
                <a:spcPct val="150000"/>
              </a:lnSpc>
            </a:pPr>
            <a:r>
              <a:rPr lang="en-US" sz="2000" b="1" i="0" u="none" strike="noStrike" baseline="0" dirty="0">
                <a:latin typeface="Times New Roman" panose="02020603050405020304" pitchFamily="18" charset="0"/>
                <a:cs typeface="Times New Roman" panose="02020603050405020304" pitchFamily="18" charset="0"/>
              </a:rPr>
              <a:t>Linked-List Allocation</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Linked List allocation solves all problems of contiguous allocation. In linked list allocation, each file is considered as the linked list of disk blocks.</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Each disk block allocated to a file contains a pointer which points to the next disk block allocated to the same file</a:t>
            </a:r>
            <a:r>
              <a:rPr lang="en-US" sz="2000" b="0" i="0" dirty="0" smtClean="0">
                <a:effectLst/>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endParaRPr lang="en-US" sz="2000" b="0" i="0" dirty="0" smtClean="0">
              <a:effectLst/>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074" name="Picture 2" descr="link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564" y="3208339"/>
            <a:ext cx="6267249" cy="3513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235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DD4B8B0-69C2-4BE5-80CF-8A799E3D86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25</a:t>
            </a:fld>
            <a:endParaRPr lang="en-US">
              <a:solidFill>
                <a:srgbClr val="000000"/>
              </a:solidFill>
            </a:endParaRPr>
          </a:p>
        </p:txBody>
      </p:sp>
      <p:sp>
        <p:nvSpPr>
          <p:cNvPr id="4" name="TextBox 3">
            <a:extLst>
              <a:ext uri="{FF2B5EF4-FFF2-40B4-BE49-F238E27FC236}">
                <a16:creationId xmlns="" xmlns:a16="http://schemas.microsoft.com/office/drawing/2014/main" id="{C8785431-25F4-4204-9D1F-774A3A3788F1}"/>
              </a:ext>
            </a:extLst>
          </p:cNvPr>
          <p:cNvSpPr txBox="1"/>
          <p:nvPr/>
        </p:nvSpPr>
        <p:spPr>
          <a:xfrm>
            <a:off x="720969" y="612845"/>
            <a:ext cx="7948246" cy="4191981"/>
          </a:xfrm>
          <a:prstGeom prst="rect">
            <a:avLst/>
          </a:prstGeom>
          <a:noFill/>
        </p:spPr>
        <p:txBody>
          <a:bodyPr wrap="square">
            <a:spAutoFit/>
          </a:bodyPr>
          <a:lstStyle/>
          <a:p>
            <a:pPr algn="just">
              <a:lnSpc>
                <a:spcPct val="150000"/>
              </a:lnSpc>
            </a:pPr>
            <a:r>
              <a:rPr lang="en-US" sz="2000" b="1" i="0" dirty="0">
                <a:effectLst/>
                <a:latin typeface="Times New Roman" panose="02020603050405020304" pitchFamily="18" charset="0"/>
                <a:cs typeface="Times New Roman" panose="02020603050405020304" pitchFamily="18" charset="0"/>
              </a:rPr>
              <a:t>Advantages:</a:t>
            </a:r>
            <a:endParaRPr lang="en-US" sz="2000" b="0" i="0" dirty="0">
              <a:effectLst/>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 terms of the file size, this scheme is very flexible.</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We can easily increase or decrease the file size</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There is no external fragmentation with linked allocation.</a:t>
            </a:r>
          </a:p>
          <a:p>
            <a:pPr algn="just">
              <a:lnSpc>
                <a:spcPct val="150000"/>
              </a:lnSpc>
            </a:pPr>
            <a:r>
              <a:rPr lang="en-US" sz="2000" b="1" i="0" dirty="0">
                <a:effectLst/>
                <a:latin typeface="Times New Roman" panose="02020603050405020304" pitchFamily="18" charset="0"/>
                <a:cs typeface="Times New Roman" panose="02020603050405020304" pitchFamily="18" charset="0"/>
              </a:rPr>
              <a:t>Disadvantages:</a:t>
            </a:r>
            <a:endParaRPr lang="en-US" sz="2000" b="0" i="0" dirty="0">
              <a:effectLst/>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Random Access is not provided.</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Linked allocation is comparatively slower than contiguous allocation.</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Pointers require some space in the disk blocks.</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pointer is extra overhead on the system due to the linked list.</a:t>
            </a:r>
          </a:p>
        </p:txBody>
      </p:sp>
    </p:spTree>
    <p:extLst>
      <p:ext uri="{BB962C8B-B14F-4D97-AF65-F5344CB8AC3E}">
        <p14:creationId xmlns:p14="http://schemas.microsoft.com/office/powerpoint/2010/main" val="956582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507710"/>
          </a:xfrm>
        </p:spPr>
        <p:txBody>
          <a:bodyPr>
            <a:normAutofit fontScale="90000"/>
          </a:bodyPr>
          <a:lstStyle/>
          <a:p>
            <a:r>
              <a:rPr lang="en-US" dirty="0" smtClean="0">
                <a:latin typeface="Times New Roman" panose="02020603050405020304" pitchFamily="18" charset="0"/>
                <a:cs typeface="Times New Roman" panose="02020603050405020304" pitchFamily="18" charset="0"/>
              </a:rPr>
              <a:t>Index allocation</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71450" y="872837"/>
            <a:ext cx="8861714"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In this scheme, a special block known as the </a:t>
            </a:r>
            <a:r>
              <a:rPr lang="en-US" sz="2000" b="1" dirty="0">
                <a:latin typeface="Times New Roman" panose="02020603050405020304" pitchFamily="18" charset="0"/>
                <a:cs typeface="Times New Roman" panose="02020603050405020304" pitchFamily="18" charset="0"/>
              </a:rPr>
              <a:t>Index block</a:t>
            </a:r>
            <a:r>
              <a:rPr lang="en-US" sz="2000" dirty="0">
                <a:latin typeface="Times New Roman" panose="02020603050405020304" pitchFamily="18" charset="0"/>
                <a:cs typeface="Times New Roman" panose="02020603050405020304" pitchFamily="18" charset="0"/>
              </a:rPr>
              <a:t> contains the pointers to all the blocks occupied by a file. Each file has its own index block. The </a:t>
            </a:r>
            <a:r>
              <a:rPr lang="en-US" sz="2000" dirty="0" err="1">
                <a:latin typeface="Times New Roman" panose="02020603050405020304" pitchFamily="18" charset="0"/>
                <a:cs typeface="Times New Roman" panose="02020603050405020304" pitchFamily="18" charset="0"/>
              </a:rPr>
              <a:t>ith</a:t>
            </a:r>
            <a:r>
              <a:rPr lang="en-US" sz="2000" dirty="0">
                <a:latin typeface="Times New Roman" panose="02020603050405020304" pitchFamily="18" charset="0"/>
                <a:cs typeface="Times New Roman" panose="02020603050405020304" pitchFamily="18" charset="0"/>
              </a:rPr>
              <a:t> entry in the index block contains the disk address of the </a:t>
            </a:r>
            <a:r>
              <a:rPr lang="en-US" sz="2000" dirty="0" err="1" smtClean="0">
                <a:latin typeface="Times New Roman" panose="02020603050405020304" pitchFamily="18" charset="0"/>
                <a:cs typeface="Times New Roman" panose="02020603050405020304" pitchFamily="18" charset="0"/>
              </a:rPr>
              <a:t>Ith</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 </a:t>
            </a:r>
            <a:r>
              <a:rPr lang="en-US" sz="2000" dirty="0" smtClean="0">
                <a:latin typeface="Times New Roman" panose="02020603050405020304" pitchFamily="18" charset="0"/>
                <a:cs typeface="Times New Roman" panose="02020603050405020304" pitchFamily="18" charset="0"/>
              </a:rPr>
              <a:t>block.</a:t>
            </a: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26</a:t>
            </a:fld>
            <a:endParaRPr lang="en-US">
              <a:solidFill>
                <a:srgbClr val="000000"/>
              </a:solidFill>
            </a:endParaRPr>
          </a:p>
        </p:txBody>
      </p:sp>
      <p:pic>
        <p:nvPicPr>
          <p:cNvPr id="4098" name="Picture 2" descr="index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41550"/>
            <a:ext cx="7509163"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776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507710"/>
          </a:xfrm>
        </p:spPr>
        <p:txBody>
          <a:bodyPr>
            <a:normAutofit fontScale="90000"/>
          </a:bodyPr>
          <a:lstStyle/>
          <a:p>
            <a:r>
              <a:rPr lang="en-US" dirty="0" smtClean="0">
                <a:latin typeface="Times New Roman" panose="02020603050405020304" pitchFamily="18" charset="0"/>
                <a:cs typeface="Times New Roman" panose="02020603050405020304" pitchFamily="18" charset="0"/>
              </a:rPr>
              <a:t>Index allocation</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71450" y="872837"/>
            <a:ext cx="8861714" cy="4351338"/>
          </a:xfrm>
        </p:spPr>
        <p:txBody>
          <a:bodyPr>
            <a:normAutofit/>
          </a:bodyPr>
          <a:lstStyle/>
          <a:p>
            <a:pPr fontAlgn="base"/>
            <a:r>
              <a:rPr lang="en-US" sz="2000" b="1" dirty="0"/>
              <a:t>Advantages:</a:t>
            </a:r>
            <a:endParaRPr lang="en-US" sz="2000" dirty="0"/>
          </a:p>
          <a:p>
            <a:pPr fontAlgn="base"/>
            <a:r>
              <a:rPr lang="en-US" sz="2000" dirty="0"/>
              <a:t>This supports direct access to the blocks occupied by the file and therefore provides fast access to the file blocks.</a:t>
            </a:r>
          </a:p>
          <a:p>
            <a:pPr fontAlgn="base"/>
            <a:r>
              <a:rPr lang="en-US" sz="2000" dirty="0"/>
              <a:t>It overcomes the problem of external fragmentation.</a:t>
            </a:r>
          </a:p>
          <a:p>
            <a:pPr fontAlgn="base"/>
            <a:r>
              <a:rPr lang="en-US" sz="2000" b="1" dirty="0"/>
              <a:t>Disadvantages:</a:t>
            </a:r>
            <a:endParaRPr lang="en-US" sz="2000" dirty="0"/>
          </a:p>
          <a:p>
            <a:pPr algn="just" fontAlgn="base"/>
            <a:r>
              <a:rPr lang="en-US" sz="2000" dirty="0">
                <a:latin typeface="Times New Roman" panose="02020603050405020304" pitchFamily="18" charset="0"/>
                <a:cs typeface="Times New Roman" panose="02020603050405020304" pitchFamily="18" charset="0"/>
              </a:rPr>
              <a:t>The pointer overhead for indexed allocation is greater than linked allocation.</a:t>
            </a:r>
          </a:p>
          <a:p>
            <a:pPr algn="just" fontAlgn="base"/>
            <a:r>
              <a:rPr lang="en-US" sz="2000" dirty="0">
                <a:latin typeface="Times New Roman" panose="02020603050405020304" pitchFamily="18" charset="0"/>
                <a:cs typeface="Times New Roman" panose="02020603050405020304" pitchFamily="18" charset="0"/>
              </a:rPr>
              <a:t>For very small files, say files that expand only 2-3 blocks, the indexed allocation would keep one entire block (index block) for the pointers which is inefficient in terms of memory utilization. However, in linked allocation we lose the space of only 1 pointer per block.</a:t>
            </a:r>
          </a:p>
          <a:p>
            <a:pPr marL="0" indent="0" fontAlgn="base">
              <a:buNone/>
            </a:pPr>
            <a:endParaRPr lang="en-US" sz="2000" dirty="0"/>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27</a:t>
            </a:fld>
            <a:endParaRPr lang="en-US">
              <a:solidFill>
                <a:srgbClr val="000000"/>
              </a:solidFill>
            </a:endParaRPr>
          </a:p>
        </p:txBody>
      </p:sp>
    </p:spTree>
    <p:extLst>
      <p:ext uri="{BB962C8B-B14F-4D97-AF65-F5344CB8AC3E}">
        <p14:creationId xmlns:p14="http://schemas.microsoft.com/office/powerpoint/2010/main" val="1609576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10A2994-A1DD-4B8C-8423-FCD953FA1B0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28</a:t>
            </a:fld>
            <a:endParaRPr lang="en-US">
              <a:solidFill>
                <a:srgbClr val="000000"/>
              </a:solidFill>
            </a:endParaRPr>
          </a:p>
        </p:txBody>
      </p:sp>
      <p:sp>
        <p:nvSpPr>
          <p:cNvPr id="4" name="TextBox 3">
            <a:extLst>
              <a:ext uri="{FF2B5EF4-FFF2-40B4-BE49-F238E27FC236}">
                <a16:creationId xmlns="" xmlns:a16="http://schemas.microsoft.com/office/drawing/2014/main" id="{35CD30C0-6994-4F2D-8B2D-A23BE6749DA4}"/>
              </a:ext>
            </a:extLst>
          </p:cNvPr>
          <p:cNvSpPr txBox="1"/>
          <p:nvPr/>
        </p:nvSpPr>
        <p:spPr>
          <a:xfrm>
            <a:off x="562708" y="281299"/>
            <a:ext cx="7952641" cy="1883657"/>
          </a:xfrm>
          <a:prstGeom prst="rect">
            <a:avLst/>
          </a:prstGeom>
          <a:noFill/>
        </p:spPr>
        <p:txBody>
          <a:bodyPr wrap="square">
            <a:spAutoFit/>
          </a:bodyPr>
          <a:lstStyle/>
          <a:p>
            <a:pPr algn="just">
              <a:lnSpc>
                <a:spcPct val="150000"/>
              </a:lnSpc>
            </a:pPr>
            <a:r>
              <a:rPr lang="en-US" sz="2000" b="1" i="0" u="none" strike="noStrike" baseline="0" dirty="0">
                <a:latin typeface="Times New Roman" panose="02020603050405020304" pitchFamily="18" charset="0"/>
                <a:cs typeface="Times New Roman" panose="02020603050405020304" pitchFamily="18" charset="0"/>
              </a:rPr>
              <a:t>I-nodes </a:t>
            </a:r>
            <a:r>
              <a:rPr lang="en-US" sz="2000" b="0" i="0" u="none" strike="noStrike" baseline="0" dirty="0">
                <a:latin typeface="Times New Roman" panose="02020603050405020304" pitchFamily="18" charset="0"/>
                <a:cs typeface="Times New Roman" panose="02020603050405020304" pitchFamily="18" charset="0"/>
              </a:rPr>
              <a:t>(</a:t>
            </a:r>
            <a:r>
              <a:rPr lang="en-US" sz="2000" b="1" i="0" u="none" strike="noStrike" baseline="0" dirty="0">
                <a:latin typeface="Times New Roman" panose="02020603050405020304" pitchFamily="18" charset="0"/>
                <a:cs typeface="Times New Roman" panose="02020603050405020304" pitchFamily="18" charset="0"/>
              </a:rPr>
              <a:t>index-node</a:t>
            </a:r>
            <a:r>
              <a:rPr lang="en-US" sz="2000" b="0" i="0" u="none" strike="noStrike" baseline="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To keeping track of which blocks belong to which file is to associate with each file a data structure called an </a:t>
            </a:r>
            <a:r>
              <a:rPr lang="en-US" sz="2000" b="1" i="0" u="none" strike="noStrike" baseline="0" dirty="0" err="1">
                <a:latin typeface="Times New Roman" panose="02020603050405020304" pitchFamily="18" charset="0"/>
                <a:cs typeface="Times New Roman" panose="02020603050405020304" pitchFamily="18" charset="0"/>
              </a:rPr>
              <a:t>i</a:t>
            </a:r>
            <a:r>
              <a:rPr lang="en-US" sz="2000" b="1" i="0" u="none" strike="noStrike" baseline="0" dirty="0">
                <a:latin typeface="Times New Roman" panose="02020603050405020304" pitchFamily="18" charset="0"/>
                <a:cs typeface="Times New Roman" panose="02020603050405020304" pitchFamily="18" charset="0"/>
              </a:rPr>
              <a:t>-node </a:t>
            </a:r>
            <a:r>
              <a:rPr lang="en-US" sz="2000" b="0" i="0" u="none" strike="noStrike" baseline="0" dirty="0">
                <a:latin typeface="Times New Roman" panose="02020603050405020304" pitchFamily="18" charset="0"/>
                <a:cs typeface="Times New Roman" panose="02020603050405020304" pitchFamily="18" charset="0"/>
              </a:rPr>
              <a:t>(</a:t>
            </a:r>
            <a:r>
              <a:rPr lang="en-US" sz="2000" b="1" i="0" u="none" strike="noStrike" baseline="0" dirty="0">
                <a:latin typeface="Times New Roman" panose="02020603050405020304" pitchFamily="18" charset="0"/>
                <a:cs typeface="Times New Roman" panose="02020603050405020304" pitchFamily="18" charset="0"/>
              </a:rPr>
              <a:t>index-node</a:t>
            </a:r>
            <a:r>
              <a:rPr lang="en-US" sz="2000" b="0" i="0" u="none" strike="noStrike" baseline="0" dirty="0">
                <a:latin typeface="Times New Roman" panose="02020603050405020304" pitchFamily="18" charset="0"/>
                <a:cs typeface="Times New Roman" panose="02020603050405020304" pitchFamily="18" charset="0"/>
              </a:rPr>
              <a:t>), which lists the attributes and disk addresses of the file’s blocks.</a:t>
            </a: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97CB52A0-C8C8-420A-A1E0-C0A49BE933FC}"/>
              </a:ext>
            </a:extLst>
          </p:cNvPr>
          <p:cNvPicPr>
            <a:picLocks noChangeAspect="1"/>
          </p:cNvPicPr>
          <p:nvPr/>
        </p:nvPicPr>
        <p:blipFill>
          <a:blip r:embed="rId2"/>
          <a:stretch>
            <a:fillRect/>
          </a:stretch>
        </p:blipFill>
        <p:spPr>
          <a:xfrm>
            <a:off x="5123752" y="2597521"/>
            <a:ext cx="3391597" cy="3510931"/>
          </a:xfrm>
          <a:prstGeom prst="rect">
            <a:avLst/>
          </a:prstGeom>
        </p:spPr>
      </p:pic>
      <p:sp>
        <p:nvSpPr>
          <p:cNvPr id="8" name="TextBox 7">
            <a:extLst>
              <a:ext uri="{FF2B5EF4-FFF2-40B4-BE49-F238E27FC236}">
                <a16:creationId xmlns="" xmlns:a16="http://schemas.microsoft.com/office/drawing/2014/main" id="{C6459C1C-8286-4BCB-B6BA-67A9AF23431B}"/>
              </a:ext>
            </a:extLst>
          </p:cNvPr>
          <p:cNvSpPr txBox="1"/>
          <p:nvPr/>
        </p:nvSpPr>
        <p:spPr>
          <a:xfrm>
            <a:off x="4503858" y="6207369"/>
            <a:ext cx="4572000" cy="307777"/>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a:t>
            </a:r>
            <a:r>
              <a:rPr lang="en-US" sz="1400" b="1" dirty="0">
                <a:latin typeface="Times New Roman" panose="02020603050405020304" pitchFamily="18" charset="0"/>
                <a:cs typeface="Times New Roman" panose="02020603050405020304" pitchFamily="18" charset="0"/>
              </a:rPr>
              <a:t>7</a:t>
            </a:r>
            <a:r>
              <a:rPr lang="en-US" sz="1400" b="1" i="0" u="none" strike="noStrike" baseline="0" dirty="0">
                <a:latin typeface="Times New Roman" panose="02020603050405020304" pitchFamily="18" charset="0"/>
                <a:cs typeface="Times New Roman" panose="02020603050405020304" pitchFamily="18" charset="0"/>
              </a:rPr>
              <a:t>-14. An example </a:t>
            </a:r>
            <a:r>
              <a:rPr lang="en-US" sz="1400" b="1" i="0" u="none" strike="noStrike" baseline="0" dirty="0" err="1">
                <a:latin typeface="Times New Roman" panose="02020603050405020304" pitchFamily="18" charset="0"/>
                <a:cs typeface="Times New Roman" panose="02020603050405020304" pitchFamily="18" charset="0"/>
              </a:rPr>
              <a:t>i</a:t>
            </a:r>
            <a:r>
              <a:rPr lang="en-US" sz="1400" b="1" i="0" u="none" strike="noStrike" baseline="0" dirty="0">
                <a:latin typeface="Times New Roman" panose="02020603050405020304" pitchFamily="18" charset="0"/>
                <a:cs typeface="Times New Roman" panose="02020603050405020304" pitchFamily="18" charset="0"/>
              </a:rPr>
              <a:t>-node.</a:t>
            </a:r>
            <a:endParaRPr lang="en-US" sz="1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C0DC225C-7843-4643-80EA-AA9EC67109B2}"/>
              </a:ext>
            </a:extLst>
          </p:cNvPr>
          <p:cNvSpPr txBox="1"/>
          <p:nvPr/>
        </p:nvSpPr>
        <p:spPr>
          <a:xfrm>
            <a:off x="611066" y="2061867"/>
            <a:ext cx="4512686" cy="465960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rPr>
              <a:t>I-node is a data structure which is used to identify which block belongs to which file. </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rPr>
              <a:t>It contains the attributes and disk addresses of the file's blocks. Unlike the in-memory table the </a:t>
            </a:r>
            <a:r>
              <a:rPr lang="en-US" sz="2000" b="0" i="0" dirty="0" err="1">
                <a:effectLst/>
                <a:latin typeface="Times New Roman" panose="02020603050405020304" pitchFamily="18" charset="0"/>
              </a:rPr>
              <a:t>i</a:t>
            </a:r>
            <a:r>
              <a:rPr lang="en-US" sz="2000" b="0" i="0" dirty="0">
                <a:effectLst/>
                <a:latin typeface="Times New Roman" panose="02020603050405020304" pitchFamily="18" charset="0"/>
              </a:rPr>
              <a:t>-node need to be in memory only when the corresponding file is open.</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rPr>
              <a:t>Extra disk blocks may be reserved to store the block addresses of a large file.</a:t>
            </a:r>
            <a:endParaRPr lang="en-US" sz="2000" dirty="0"/>
          </a:p>
        </p:txBody>
      </p:sp>
    </p:spTree>
    <p:extLst>
      <p:ext uri="{BB962C8B-B14F-4D97-AF65-F5344CB8AC3E}">
        <p14:creationId xmlns:p14="http://schemas.microsoft.com/office/powerpoint/2010/main" val="1226115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F5134088-A145-49FB-B19D-5322D68F4E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29</a:t>
            </a:fld>
            <a:endParaRPr lang="en-US">
              <a:solidFill>
                <a:srgbClr val="000000"/>
              </a:solidFill>
            </a:endParaRPr>
          </a:p>
        </p:txBody>
      </p:sp>
      <p:pic>
        <p:nvPicPr>
          <p:cNvPr id="1026" name="Picture 2" descr="os In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957" y="891164"/>
            <a:ext cx="7343775" cy="2771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261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30</a:t>
            </a:fld>
            <a:endParaRPr lang="en-US">
              <a:solidFill>
                <a:srgbClr val="000000"/>
              </a:solidFill>
            </a:endParaRPr>
          </a:p>
        </p:txBody>
      </p:sp>
      <p:sp>
        <p:nvSpPr>
          <p:cNvPr id="4" name="TextBox 3">
            <a:extLst>
              <a:ext uri="{FF2B5EF4-FFF2-40B4-BE49-F238E27FC236}">
                <a16:creationId xmlns="" xmlns:a16="http://schemas.microsoft.com/office/drawing/2014/main" id="{37CC57ED-0AD2-4EC6-ADFB-85ACA6879C57}"/>
              </a:ext>
            </a:extLst>
          </p:cNvPr>
          <p:cNvSpPr txBox="1"/>
          <p:nvPr/>
        </p:nvSpPr>
        <p:spPr>
          <a:xfrm>
            <a:off x="2514600" y="483549"/>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Shared Files</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84C65BF7-7248-4C96-9449-E614313FB9F9}"/>
              </a:ext>
            </a:extLst>
          </p:cNvPr>
          <p:cNvPicPr>
            <a:picLocks noChangeAspect="1"/>
          </p:cNvPicPr>
          <p:nvPr/>
        </p:nvPicPr>
        <p:blipFill>
          <a:blip r:embed="rId2"/>
          <a:stretch>
            <a:fillRect/>
          </a:stretch>
        </p:blipFill>
        <p:spPr>
          <a:xfrm>
            <a:off x="5698124" y="1459523"/>
            <a:ext cx="3094685" cy="4363256"/>
          </a:xfrm>
          <a:prstGeom prst="rect">
            <a:avLst/>
          </a:prstGeom>
        </p:spPr>
      </p:pic>
      <p:sp>
        <p:nvSpPr>
          <p:cNvPr id="8" name="TextBox 7">
            <a:extLst>
              <a:ext uri="{FF2B5EF4-FFF2-40B4-BE49-F238E27FC236}">
                <a16:creationId xmlns="" xmlns:a16="http://schemas.microsoft.com/office/drawing/2014/main" id="{48210794-E495-413E-8C33-A2CD168F8C36}"/>
              </a:ext>
            </a:extLst>
          </p:cNvPr>
          <p:cNvSpPr txBox="1"/>
          <p:nvPr/>
        </p:nvSpPr>
        <p:spPr>
          <a:xfrm>
            <a:off x="5922706" y="5846292"/>
            <a:ext cx="3094686" cy="523220"/>
          </a:xfrm>
          <a:prstGeom prst="rect">
            <a:avLst/>
          </a:prstGeom>
          <a:noFill/>
        </p:spPr>
        <p:txBody>
          <a:bodyPr wrap="square">
            <a:spAutoFit/>
          </a:bodyPr>
          <a:lstStyle/>
          <a:p>
            <a:pPr algn="ctr"/>
            <a:r>
              <a:rPr lang="en-US" sz="1400" b="1" i="0" u="none" strike="noStrike" baseline="0" dirty="0">
                <a:latin typeface="Times New Roman" panose="02020603050405020304" pitchFamily="18" charset="0"/>
                <a:cs typeface="Times New Roman" panose="02020603050405020304" pitchFamily="18" charset="0"/>
              </a:rPr>
              <a:t>Figure </a:t>
            </a:r>
            <a:r>
              <a:rPr lang="en-US" sz="1400" b="1" dirty="0">
                <a:latin typeface="Times New Roman" panose="02020603050405020304" pitchFamily="18" charset="0"/>
                <a:cs typeface="Times New Roman" panose="02020603050405020304" pitchFamily="18" charset="0"/>
              </a:rPr>
              <a:t>7</a:t>
            </a:r>
            <a:r>
              <a:rPr lang="en-US" sz="1400" b="1" i="0" u="none" strike="noStrike" baseline="0" dirty="0">
                <a:latin typeface="Times New Roman" panose="02020603050405020304" pitchFamily="18" charset="0"/>
                <a:cs typeface="Times New Roman" panose="02020603050405020304" pitchFamily="18" charset="0"/>
              </a:rPr>
              <a:t>-17. File system containing a shared file.</a:t>
            </a:r>
            <a:endParaRPr lang="en-US" sz="1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38BDAB40-ADDC-4F20-A603-A4A54A742A4B}"/>
              </a:ext>
            </a:extLst>
          </p:cNvPr>
          <p:cNvSpPr txBox="1"/>
          <p:nvPr/>
        </p:nvSpPr>
        <p:spPr>
          <a:xfrm>
            <a:off x="628650" y="1144500"/>
            <a:ext cx="5069474" cy="557697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When several users are working together on a project, they often need to share files. </a:t>
            </a:r>
          </a:p>
          <a:p>
            <a:pPr marL="342900" indent="-34290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As a result, it is often convenient for a shared file to appear simultaneously in different directories belonging to different users.</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rPr>
              <a:t>Sharing files is convenient but also introduces problems like if the original file or the shared file are appended with new features then it will not be updated in both the copies of the file, it is updated only at its original location.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586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31</a:t>
            </a:fld>
            <a:endParaRPr lang="en-US">
              <a:solidFill>
                <a:srgbClr val="000000"/>
              </a:solidFill>
            </a:endParaRPr>
          </a:p>
        </p:txBody>
      </p:sp>
      <p:sp>
        <p:nvSpPr>
          <p:cNvPr id="4" name="TextBox 3">
            <a:extLst>
              <a:ext uri="{FF2B5EF4-FFF2-40B4-BE49-F238E27FC236}">
                <a16:creationId xmlns="" xmlns:a16="http://schemas.microsoft.com/office/drawing/2014/main" id="{67C5B75A-0D17-4E32-B9B2-276C08AA46CC}"/>
              </a:ext>
            </a:extLst>
          </p:cNvPr>
          <p:cNvSpPr txBox="1"/>
          <p:nvPr/>
        </p:nvSpPr>
        <p:spPr>
          <a:xfrm>
            <a:off x="2553286" y="272534"/>
            <a:ext cx="4572000" cy="461665"/>
          </a:xfrm>
          <a:prstGeom prst="rect">
            <a:avLst/>
          </a:prstGeom>
          <a:noFill/>
        </p:spPr>
        <p:txBody>
          <a:bodyPr wrap="square">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Disk-Space Management</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0A8F60B7-3A89-4D74-BA45-140D268C36F6}"/>
              </a:ext>
            </a:extLst>
          </p:cNvPr>
          <p:cNvSpPr txBox="1"/>
          <p:nvPr/>
        </p:nvSpPr>
        <p:spPr>
          <a:xfrm>
            <a:off x="270803" y="678038"/>
            <a:ext cx="8602394" cy="617996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900" b="0" i="0" dirty="0">
                <a:effectLst/>
                <a:latin typeface="Times New Roman" panose="02020603050405020304" pitchFamily="18" charset="0"/>
              </a:rPr>
              <a:t>All the files are normally stored on disk one of the main concerns of file system is management of disk space.</a:t>
            </a:r>
            <a:endParaRPr lang="en-US" sz="1900" dirty="0">
              <a:latin typeface="Times New Roman" panose="02020603050405020304" pitchFamily="18" charset="0"/>
            </a:endParaRPr>
          </a:p>
          <a:p>
            <a:pPr algn="just">
              <a:lnSpc>
                <a:spcPct val="150000"/>
              </a:lnSpc>
            </a:pPr>
            <a:r>
              <a:rPr lang="en-US" sz="1900" b="1" i="0" dirty="0">
                <a:effectLst/>
                <a:latin typeface="Times New Roman" panose="02020603050405020304" pitchFamily="18" charset="0"/>
              </a:rPr>
              <a:t>Block Size</a:t>
            </a:r>
          </a:p>
          <a:p>
            <a:pPr marL="342900" indent="-342900" algn="just">
              <a:lnSpc>
                <a:spcPct val="150000"/>
              </a:lnSpc>
              <a:buFont typeface="Arial" panose="020B0604020202020204" pitchFamily="34" charset="0"/>
              <a:buChar char="•"/>
            </a:pPr>
            <a:r>
              <a:rPr lang="en-US" sz="1900" b="0" i="0" dirty="0">
                <a:effectLst/>
                <a:latin typeface="Times New Roman" panose="02020603050405020304" pitchFamily="18" charset="0"/>
              </a:rPr>
              <a:t>The main question that arises while storing files in a fixed-size blocks is the size of the block. </a:t>
            </a:r>
          </a:p>
          <a:p>
            <a:pPr marL="342900" indent="-342900" algn="just">
              <a:lnSpc>
                <a:spcPct val="150000"/>
              </a:lnSpc>
              <a:buFont typeface="Arial" panose="020B0604020202020204" pitchFamily="34" charset="0"/>
              <a:buChar char="•"/>
            </a:pPr>
            <a:r>
              <a:rPr lang="en-US" sz="1900" b="0" i="0" dirty="0">
                <a:effectLst/>
                <a:latin typeface="Times New Roman" panose="02020603050405020304" pitchFamily="18" charset="0"/>
              </a:rPr>
              <a:t>If the block is too large space gets wasted and if the block is too small time gets waste. So, to choose a correct block size some information about the file-size distribution is required.</a:t>
            </a:r>
          </a:p>
          <a:p>
            <a:pPr algn="just">
              <a:lnSpc>
                <a:spcPct val="150000"/>
              </a:lnSpc>
            </a:pPr>
            <a:r>
              <a:rPr lang="en-US" sz="1900" b="1" i="0" dirty="0">
                <a:effectLst/>
                <a:latin typeface="Times New Roman" panose="02020603050405020304" pitchFamily="18" charset="0"/>
              </a:rPr>
              <a:t>Keeping track of free blocks</a:t>
            </a:r>
          </a:p>
          <a:p>
            <a:pPr marL="342900" indent="-342900" algn="just">
              <a:lnSpc>
                <a:spcPct val="150000"/>
              </a:lnSpc>
              <a:buFont typeface="Arial" panose="020B0604020202020204" pitchFamily="34" charset="0"/>
              <a:buChar char="•"/>
            </a:pPr>
            <a:r>
              <a:rPr lang="en-US" sz="1900" b="0" i="0" dirty="0">
                <a:effectLst/>
                <a:latin typeface="Times New Roman" panose="02020603050405020304" pitchFamily="18" charset="0"/>
              </a:rPr>
              <a:t>After a block size has been finalized the next issue that needs to be catered is how to keep track of the free blocks. In order to keep track there are two methods that are widely used:</a:t>
            </a:r>
          </a:p>
          <a:p>
            <a:pPr marL="342900" indent="-342900" algn="just">
              <a:lnSpc>
                <a:spcPct val="150000"/>
              </a:lnSpc>
              <a:buFont typeface="Arial" panose="020B0604020202020204" pitchFamily="34" charset="0"/>
              <a:buChar char="•"/>
            </a:pPr>
            <a:r>
              <a:rPr lang="en-US" sz="1900" b="1" i="0" dirty="0">
                <a:effectLst/>
                <a:latin typeface="Times New Roman" panose="02020603050405020304" pitchFamily="18" charset="0"/>
              </a:rPr>
              <a:t>Using a linked list: </a:t>
            </a:r>
            <a:r>
              <a:rPr lang="en-US" sz="1900" b="0" i="0" dirty="0">
                <a:effectLst/>
                <a:latin typeface="Times New Roman" panose="02020603050405020304" pitchFamily="18" charset="0"/>
              </a:rPr>
              <a:t>Using a linked list of disk blocks with each block holding as many free disk block numbers as will fit.</a:t>
            </a:r>
          </a:p>
        </p:txBody>
      </p:sp>
    </p:spTree>
    <p:extLst>
      <p:ext uri="{BB962C8B-B14F-4D97-AF65-F5344CB8AC3E}">
        <p14:creationId xmlns:p14="http://schemas.microsoft.com/office/powerpoint/2010/main" val="3147415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8540" y="0"/>
            <a:ext cx="7886700" cy="1646237"/>
          </a:xfrm>
        </p:spPr>
        <p:txBody>
          <a:bodyPr>
            <a:normAutofit fontScale="90000"/>
          </a:bodyPr>
          <a:lstStyle/>
          <a:p>
            <a:r>
              <a:rPr lang="en-US" sz="3600" b="1" dirty="0">
                <a:latin typeface="Times New Roman" panose="02020603050405020304" pitchFamily="18" charset="0"/>
                <a:cs typeface="Times New Roman" panose="02020603050405020304" pitchFamily="18" charset="0"/>
              </a:rPr>
              <a:t>Directory Implementation in Operating System</a:t>
            </a:r>
            <a:r>
              <a:rPr lang="en-US" b="1" dirty="0"/>
              <a:t/>
            </a:r>
            <a:br>
              <a:rPr lang="en-US" b="1" dirty="0"/>
            </a:br>
            <a:endParaRPr lang="en-US" dirty="0"/>
          </a:p>
        </p:txBody>
      </p:sp>
      <p:sp>
        <p:nvSpPr>
          <p:cNvPr id="4" name="Content Placeholder 3"/>
          <p:cNvSpPr>
            <a:spLocks noGrp="1"/>
          </p:cNvSpPr>
          <p:nvPr>
            <p:ph idx="1"/>
          </p:nvPr>
        </p:nvSpPr>
        <p:spPr>
          <a:xfrm>
            <a:off x="38100" y="898453"/>
            <a:ext cx="8737023" cy="5337174"/>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Directory implementation in the operating system can be done using Singly Linked List and Hash table. The efficiency, reliability, and performance of a file system are greatly affected by the selection of directory-allocation and directory-management </a:t>
            </a:r>
            <a:r>
              <a:rPr lang="en-US" sz="2400" dirty="0" smtClean="0">
                <a:latin typeface="Times New Roman" panose="02020603050405020304" pitchFamily="18" charset="0"/>
                <a:cs typeface="Times New Roman" panose="02020603050405020304" pitchFamily="18" charset="0"/>
              </a:rPr>
              <a:t>algorithms.</a:t>
            </a:r>
          </a:p>
          <a:p>
            <a:pPr marL="0" indent="0" algn="just">
              <a:buNone/>
            </a:pPr>
            <a:r>
              <a:rPr lang="en-US" sz="2400" b="1" dirty="0"/>
              <a:t>Directory Implementation using Singly Linked </a:t>
            </a:r>
            <a:r>
              <a:rPr lang="en-US" sz="2400" b="1" dirty="0" smtClean="0"/>
              <a:t>List</a:t>
            </a:r>
          </a:p>
          <a:p>
            <a:pPr marL="0" indent="0" algn="just">
              <a:buNone/>
            </a:pPr>
            <a:r>
              <a:rPr lang="en-US" sz="2400" dirty="0">
                <a:latin typeface="Times New Roman" panose="02020603050405020304" pitchFamily="18" charset="0"/>
                <a:cs typeface="Times New Roman" panose="02020603050405020304" pitchFamily="18" charset="0"/>
              </a:rPr>
              <a:t>The implementation of directories using a </a:t>
            </a:r>
            <a:r>
              <a:rPr lang="en-US" sz="2400" u="sng" dirty="0">
                <a:latin typeface="Times New Roman" panose="02020603050405020304" pitchFamily="18" charset="0"/>
                <a:cs typeface="Times New Roman" panose="02020603050405020304" pitchFamily="18" charset="0"/>
                <a:hlinkClick r:id="rId2"/>
              </a:rPr>
              <a:t>singly linked list</a:t>
            </a:r>
            <a:r>
              <a:rPr lang="en-US" sz="2400" dirty="0">
                <a:latin typeface="Times New Roman" panose="02020603050405020304" pitchFamily="18" charset="0"/>
                <a:cs typeface="Times New Roman" panose="02020603050405020304" pitchFamily="18" charset="0"/>
              </a:rPr>
              <a:t> is easy to program but is time-consuming to execute. Here we implement a directory by using a linear list of filenames with pointers to the data blocks</a:t>
            </a:r>
            <a:r>
              <a:rPr lang="en-US" sz="2400" dirty="0" smtClean="0">
                <a:latin typeface="Times New Roman" panose="02020603050405020304" pitchFamily="18" charset="0"/>
                <a:cs typeface="Times New Roman" panose="02020603050405020304" pitchFamily="18" charset="0"/>
              </a:rPr>
              <a:t>.</a:t>
            </a:r>
          </a:p>
          <a:p>
            <a:pPr fontAlgn="base"/>
            <a:r>
              <a:rPr lang="en-US" sz="2400" b="1" dirty="0"/>
              <a:t>Disadvantage</a:t>
            </a:r>
          </a:p>
          <a:p>
            <a:pPr fontAlgn="base"/>
            <a:r>
              <a:rPr lang="en-US" sz="2400" dirty="0"/>
              <a:t>The main disadvantage of using a linked list is that when the user needs to find a file the user has to do a linear search. </a:t>
            </a:r>
          </a:p>
          <a:p>
            <a:pPr marL="0" indent="0" algn="just">
              <a:buNone/>
            </a:pPr>
            <a:endParaRPr lang="en-US" sz="2400" dirty="0" smtClean="0"/>
          </a:p>
          <a:p>
            <a:pPr marL="0" indent="0" algn="just">
              <a:buNone/>
            </a:pPr>
            <a:endParaRPr lang="en-US" sz="2400" dirty="0" smtClean="0"/>
          </a:p>
          <a:p>
            <a:pPr marL="0" indent="0" algn="just">
              <a:buNone/>
            </a:pPr>
            <a:endParaRPr lang="en-US" sz="2400" b="1" dirty="0"/>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32</a:t>
            </a:fld>
            <a:endParaRPr lang="en-US">
              <a:solidFill>
                <a:srgbClr val="000000"/>
              </a:solidFill>
            </a:endParaRPr>
          </a:p>
        </p:txBody>
      </p:sp>
      <p:pic>
        <p:nvPicPr>
          <p:cNvPr id="2050" name="Picture 2" descr="Directory Implementation Using Singly Linked L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 y="4241223"/>
            <a:ext cx="8884227" cy="2297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58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6976" y="263237"/>
            <a:ext cx="7886700" cy="1646237"/>
          </a:xfrm>
        </p:spPr>
        <p:txBody>
          <a:bodyPr>
            <a:normAutofit fontScale="90000"/>
          </a:bodyPr>
          <a:lstStyle/>
          <a:p>
            <a:r>
              <a:rPr lang="en-US" sz="3600" b="1" dirty="0">
                <a:latin typeface="Times New Roman" panose="02020603050405020304" pitchFamily="18" charset="0"/>
                <a:cs typeface="Times New Roman" panose="02020603050405020304" pitchFamily="18" charset="0"/>
              </a:rPr>
              <a:t>Directory Implementation in Operating </a:t>
            </a:r>
            <a:r>
              <a:rPr lang="en-US" sz="3600" b="1" dirty="0" smtClean="0">
                <a:latin typeface="Times New Roman" panose="02020603050405020304" pitchFamily="18" charset="0"/>
                <a:cs typeface="Times New Roman" panose="02020603050405020304" pitchFamily="18" charset="0"/>
              </a:rPr>
              <a:t>System</a:t>
            </a:r>
            <a:br>
              <a:rPr lang="en-US" sz="3600" b="1" dirty="0" smtClean="0">
                <a:latin typeface="Times New Roman" panose="02020603050405020304" pitchFamily="18" charset="0"/>
                <a:cs typeface="Times New Roman" panose="02020603050405020304" pitchFamily="18" charset="0"/>
              </a:rPr>
            </a:br>
            <a:r>
              <a:rPr lang="en-US" b="1" dirty="0"/>
              <a:t/>
            </a:r>
            <a:br>
              <a:rPr lang="en-US" b="1" dirty="0"/>
            </a:br>
            <a:endParaRPr lang="en-US" dirty="0"/>
          </a:p>
        </p:txBody>
      </p:sp>
      <p:sp>
        <p:nvSpPr>
          <p:cNvPr id="4" name="Content Placeholder 3"/>
          <p:cNvSpPr>
            <a:spLocks noGrp="1"/>
          </p:cNvSpPr>
          <p:nvPr>
            <p:ph idx="1"/>
          </p:nvPr>
        </p:nvSpPr>
        <p:spPr>
          <a:xfrm>
            <a:off x="290943" y="1086355"/>
            <a:ext cx="8520337" cy="3735917"/>
          </a:xfrm>
        </p:spPr>
        <p:txBody>
          <a:bodyPr>
            <a:normAutofit/>
          </a:bodyPr>
          <a:lstStyle/>
          <a:p>
            <a:pPr marL="0" indent="0" algn="just">
              <a:buNone/>
            </a:pPr>
            <a:r>
              <a:rPr lang="en-US" sz="2400" b="1" dirty="0"/>
              <a:t>Directory Implementation using Hash </a:t>
            </a:r>
            <a:r>
              <a:rPr lang="en-US" sz="2400" b="1" dirty="0" smtClean="0"/>
              <a:t>Table:</a:t>
            </a:r>
          </a:p>
          <a:p>
            <a:pPr marL="0" indent="0" algn="just">
              <a:buNone/>
            </a:pPr>
            <a:r>
              <a:rPr lang="en-US" sz="2400" dirty="0">
                <a:latin typeface="Times New Roman" panose="02020603050405020304" pitchFamily="18" charset="0"/>
                <a:cs typeface="Times New Roman" panose="02020603050405020304" pitchFamily="18" charset="0"/>
              </a:rPr>
              <a:t>An alternative data structure that can be used for directory implementation is a </a:t>
            </a:r>
            <a:r>
              <a:rPr lang="en-US" sz="2400" u="sng" dirty="0">
                <a:latin typeface="Times New Roman" panose="02020603050405020304" pitchFamily="18" charset="0"/>
                <a:cs typeface="Times New Roman" panose="02020603050405020304" pitchFamily="18" charset="0"/>
                <a:hlinkClick r:id="rId2"/>
              </a:rPr>
              <a:t>hash table</a:t>
            </a:r>
            <a:r>
              <a:rPr lang="en-US" sz="2400" dirty="0">
                <a:latin typeface="Times New Roman" panose="02020603050405020304" pitchFamily="18" charset="0"/>
                <a:cs typeface="Times New Roman" panose="02020603050405020304" pitchFamily="18" charset="0"/>
              </a:rPr>
              <a:t>. It overcomes the major drawbacks of directory implementation using a linked list. In this method, we use a hash table along with the linked list. Here the linked list stores the directory entries, but a hash data structure is used in combination with the linked list.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33</a:t>
            </a:fld>
            <a:endParaRPr lang="en-US">
              <a:solidFill>
                <a:srgbClr val="000000"/>
              </a:solidFill>
            </a:endParaRPr>
          </a:p>
        </p:txBody>
      </p:sp>
      <p:pic>
        <p:nvPicPr>
          <p:cNvPr id="3076" name="Picture 4" descr="Directory Implementation Using Hash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209" y="7523017"/>
            <a:ext cx="9080788" cy="376540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irectory Implementation Using Hash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702" y="4100945"/>
            <a:ext cx="8572579" cy="2757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495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34</a:t>
            </a:fld>
            <a:endParaRPr lang="en-US">
              <a:solidFill>
                <a:srgbClr val="000000"/>
              </a:solidFill>
            </a:endParaRPr>
          </a:p>
        </p:txBody>
      </p:sp>
      <p:sp>
        <p:nvSpPr>
          <p:cNvPr id="3" name="Rectangle 2"/>
          <p:cNvSpPr/>
          <p:nvPr/>
        </p:nvSpPr>
        <p:spPr>
          <a:xfrm>
            <a:off x="0" y="279738"/>
            <a:ext cx="9144000" cy="1477328"/>
          </a:xfrm>
          <a:prstGeom prst="rect">
            <a:avLst/>
          </a:prstGeom>
        </p:spPr>
        <p:txBody>
          <a:bodyPr wrap="square">
            <a:spAutoFit/>
          </a:bodyPr>
          <a:lstStyle/>
          <a:p>
            <a:pPr algn="just" fontAlgn="base"/>
            <a:r>
              <a:rPr lang="en-US" b="1" dirty="0">
                <a:solidFill>
                  <a:srgbClr val="273239"/>
                </a:solidFill>
                <a:latin typeface="urw-din"/>
              </a:rPr>
              <a:t>Disadvantage:</a:t>
            </a:r>
          </a:p>
          <a:p>
            <a:pPr algn="just" fontAlgn="base"/>
            <a:r>
              <a:rPr lang="en-US" sz="2400" dirty="0">
                <a:solidFill>
                  <a:srgbClr val="273239"/>
                </a:solidFill>
                <a:latin typeface="Times New Roman" panose="02020603050405020304" pitchFamily="18" charset="0"/>
                <a:cs typeface="Times New Roman" panose="02020603050405020304" pitchFamily="18" charset="0"/>
              </a:rPr>
              <a:t>The major drawback of using the hash table is that generally, it has a fixed size and its dependency on size. But this method is usually faster than linear search through an entire directory using a linked </a:t>
            </a:r>
            <a:r>
              <a:rPr lang="en-US" sz="2400" dirty="0">
                <a:solidFill>
                  <a:srgbClr val="273239"/>
                </a:solidFill>
                <a:latin typeface="urw-din"/>
              </a:rPr>
              <a:t>list.</a:t>
            </a:r>
            <a:endParaRPr lang="en-US" sz="2400" b="0" i="0" dirty="0">
              <a:solidFill>
                <a:srgbClr val="273239"/>
              </a:solidFill>
              <a:effectLst/>
              <a:latin typeface="urw-din"/>
            </a:endParaRPr>
          </a:p>
        </p:txBody>
      </p:sp>
    </p:spTree>
    <p:extLst>
      <p:ext uri="{BB962C8B-B14F-4D97-AF65-F5344CB8AC3E}">
        <p14:creationId xmlns:p14="http://schemas.microsoft.com/office/powerpoint/2010/main" val="1397571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 y="115887"/>
            <a:ext cx="8908473" cy="1408113"/>
          </a:xfrm>
        </p:spPr>
        <p:txBody>
          <a:bodyPr>
            <a:normAutofit/>
          </a:bodyPr>
          <a:lstStyle/>
          <a:p>
            <a:r>
              <a:rPr lang="en-US" sz="2700" b="1" dirty="0">
                <a:latin typeface="Times New Roman" panose="02020603050405020304" pitchFamily="18" charset="0"/>
                <a:cs typeface="Times New Roman" panose="02020603050405020304" pitchFamily="18" charset="0"/>
              </a:rPr>
              <a:t>Free space management in Operating System</a:t>
            </a:r>
            <a:r>
              <a:rPr lang="en-US" b="1" dirty="0"/>
              <a:t/>
            </a:r>
            <a:br>
              <a:rPr lang="en-US" b="1" dirty="0"/>
            </a:br>
            <a:endParaRPr lang="en-US" dirty="0"/>
          </a:p>
        </p:txBody>
      </p:sp>
      <p:sp>
        <p:nvSpPr>
          <p:cNvPr id="4" name="Subtitle 3"/>
          <p:cNvSpPr>
            <a:spLocks noGrp="1"/>
          </p:cNvSpPr>
          <p:nvPr>
            <p:ph type="subTitle" idx="1"/>
          </p:nvPr>
        </p:nvSpPr>
        <p:spPr>
          <a:xfrm>
            <a:off x="-62346" y="819943"/>
            <a:ext cx="8970818" cy="3297526"/>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system keeps tracks of the free disk blocks for allocating space to files when they are created. Also, to reuse the space released from deleting the files, free space management becomes </a:t>
            </a:r>
            <a:r>
              <a:rPr lang="en-US" dirty="0" smtClean="0">
                <a:latin typeface="Times New Roman" panose="02020603050405020304" pitchFamily="18" charset="0"/>
                <a:cs typeface="Times New Roman" panose="02020603050405020304" pitchFamily="18" charset="0"/>
              </a:rPr>
              <a:t>crucial.</a:t>
            </a:r>
          </a:p>
          <a:p>
            <a:pPr algn="just"/>
            <a:r>
              <a:rPr lang="en-US" b="1" dirty="0">
                <a:latin typeface="Times New Roman" panose="02020603050405020304" pitchFamily="18" charset="0"/>
                <a:cs typeface="Times New Roman" panose="02020603050405020304" pitchFamily="18" charset="0"/>
              </a:rPr>
              <a:t>Bitmap or Bit </a:t>
            </a:r>
            <a:r>
              <a:rPr lang="en-US" b="1" dirty="0" smtClean="0">
                <a:latin typeface="Times New Roman" panose="02020603050405020304" pitchFamily="18" charset="0"/>
                <a:cs typeface="Times New Roman" panose="02020603050405020304" pitchFamily="18" charset="0"/>
              </a:rPr>
              <a:t>vector:</a:t>
            </a:r>
          </a:p>
          <a:p>
            <a:pPr algn="just"/>
            <a:r>
              <a:rPr lang="en-US" dirty="0">
                <a:latin typeface="Times New Roman" panose="02020603050405020304" pitchFamily="18" charset="0"/>
                <a:cs typeface="Times New Roman" panose="02020603050405020304" pitchFamily="18" charset="0"/>
              </a:rPr>
              <a:t>A Bitmap or Bit Vector is series or collection of bits where each bit corresponds to a disk block. The bit can take two values: 0 and 1: </a:t>
            </a:r>
            <a:r>
              <a:rPr lang="en-US" i="1" dirty="0">
                <a:latin typeface="Times New Roman" panose="02020603050405020304" pitchFamily="18" charset="0"/>
                <a:cs typeface="Times New Roman" panose="02020603050405020304" pitchFamily="18" charset="0"/>
              </a:rPr>
              <a:t>0 indicates that the block is allocated</a:t>
            </a:r>
            <a:r>
              <a:rPr lang="en-US" dirty="0">
                <a:latin typeface="Times New Roman" panose="02020603050405020304" pitchFamily="18" charset="0"/>
                <a:cs typeface="Times New Roman" panose="02020603050405020304" pitchFamily="18" charset="0"/>
              </a:rPr>
              <a:t> and 1 indicates a free block</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The given instance of disk blocks on the disk in </a:t>
            </a:r>
            <a:r>
              <a:rPr lang="en-US" i="1" dirty="0">
                <a:latin typeface="Times New Roman" panose="02020603050405020304" pitchFamily="18" charset="0"/>
                <a:cs typeface="Times New Roman" panose="02020603050405020304" pitchFamily="18" charset="0"/>
              </a:rPr>
              <a:t>Figure 1</a:t>
            </a:r>
            <a:r>
              <a:rPr lang="en-US" dirty="0">
                <a:latin typeface="Times New Roman" panose="02020603050405020304" pitchFamily="18" charset="0"/>
                <a:cs typeface="Times New Roman" panose="02020603050405020304" pitchFamily="18" charset="0"/>
              </a:rPr>
              <a:t> (where green blocks are allocated) can be represented by a bitmap of 16 bits as:</a:t>
            </a:r>
            <a:r>
              <a:rPr lang="en-US" b="1" dirty="0">
                <a:latin typeface="Times New Roman" panose="02020603050405020304" pitchFamily="18" charset="0"/>
                <a:cs typeface="Times New Roman" panose="02020603050405020304" pitchFamily="18" charset="0"/>
              </a:rPr>
              <a:t> 0000111000000110</a:t>
            </a:r>
            <a:r>
              <a:rPr lang="en-US" dirty="0" smtClean="0">
                <a:latin typeface="Times New Roman" panose="02020603050405020304" pitchFamily="18" charset="0"/>
                <a:cs typeface="Times New Roman" panose="02020603050405020304" pitchFamily="18" charset="0"/>
              </a:rPr>
              <a:t>.</a:t>
            </a:r>
          </a:p>
          <a:p>
            <a:pPr algn="just"/>
            <a:endParaRPr lang="en-US" dirty="0" smtClean="0"/>
          </a:p>
          <a:p>
            <a:pPr algn="just"/>
            <a:endParaRPr lang="en-US" dirty="0"/>
          </a:p>
          <a:p>
            <a:pPr algn="just"/>
            <a:endParaRPr lang="en-US" dirty="0" smtClean="0"/>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35</a:t>
            </a:fld>
            <a:endParaRPr lang="en-US">
              <a:solidFill>
                <a:srgbClr val="000000"/>
              </a:solidFill>
            </a:endParaRPr>
          </a:p>
        </p:txBody>
      </p:sp>
      <p:pic>
        <p:nvPicPr>
          <p:cNvPr id="4098" name="Picture 2" descr="https://media.geeksforgeeks.org/wp-content/uploads/1-26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6464" y="3823855"/>
            <a:ext cx="2825463" cy="3034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423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595" y="0"/>
            <a:ext cx="7886700" cy="896072"/>
          </a:xfrm>
        </p:spPr>
        <p:txBody>
          <a:bodyPr/>
          <a:lstStyle/>
          <a:p>
            <a:r>
              <a:rPr lang="en-US" sz="3200" b="1" dirty="0">
                <a:latin typeface="Times New Roman" panose="02020603050405020304" pitchFamily="18" charset="0"/>
                <a:cs typeface="Times New Roman" panose="02020603050405020304" pitchFamily="18" charset="0"/>
              </a:rPr>
              <a:t>Linked List</a:t>
            </a:r>
            <a:r>
              <a:rPr lang="en-US" b="1" dirty="0"/>
              <a:t> </a:t>
            </a:r>
            <a:endParaRPr lang="en-US" dirty="0"/>
          </a:p>
        </p:txBody>
      </p:sp>
      <p:sp>
        <p:nvSpPr>
          <p:cNvPr id="3" name="Content Placeholder 2"/>
          <p:cNvSpPr>
            <a:spLocks noGrp="1"/>
          </p:cNvSpPr>
          <p:nvPr>
            <p:ph idx="1"/>
          </p:nvPr>
        </p:nvSpPr>
        <p:spPr>
          <a:xfrm>
            <a:off x="0" y="822614"/>
            <a:ext cx="9047018" cy="603538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this approach, the free disk blocks are linked together i.e. a free block contains a pointer to the next free block. The block number of the very first disk block is stored at a separate location on disk and is also cached in memory</a:t>
            </a:r>
            <a:r>
              <a:rPr lang="en-US" sz="2400" dirty="0" smtClean="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pic>
        <p:nvPicPr>
          <p:cNvPr id="1026" name="Picture 2" descr="https://media.geeksforgeeks.org/wp-content/uploads/2-19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007" y="2794000"/>
            <a:ext cx="2895600" cy="3562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130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9815" y="0"/>
            <a:ext cx="8107387" cy="535206"/>
          </a:xfrm>
        </p:spPr>
        <p:txBody>
          <a:bodyPr>
            <a:normAutofit/>
          </a:bodyPr>
          <a:lstStyle/>
          <a:p>
            <a:pPr eaLnBrk="1" hangingPunct="1"/>
            <a:r>
              <a:rPr lang="en-US" sz="2400" b="1" dirty="0">
                <a:latin typeface="Times New Roman" pitchFamily="18" charset="0"/>
                <a:cs typeface="Times New Roman" pitchFamily="18" charset="0"/>
              </a:rPr>
              <a:t>Principles of Protection</a:t>
            </a:r>
          </a:p>
        </p:txBody>
      </p:sp>
      <p:sp>
        <p:nvSpPr>
          <p:cNvPr id="7171" name="Rectangle 3"/>
          <p:cNvSpPr>
            <a:spLocks noGrp="1" noChangeArrowheads="1"/>
          </p:cNvSpPr>
          <p:nvPr>
            <p:ph idx="1"/>
          </p:nvPr>
        </p:nvSpPr>
        <p:spPr>
          <a:xfrm>
            <a:off x="-1" y="535206"/>
            <a:ext cx="9047018" cy="7611267"/>
          </a:xfrm>
        </p:spPr>
        <p:txBody>
          <a:bodyPr>
            <a:normAutofit fontScale="25000" lnSpcReduction="20000"/>
          </a:bodyPr>
          <a:lstStyle/>
          <a:p>
            <a:pPr lvl="1" algn="just">
              <a:lnSpc>
                <a:spcPct val="150000"/>
              </a:lnSpc>
              <a:buFont typeface="Monotype Sorts" charset="2"/>
              <a:buNone/>
            </a:pPr>
            <a:r>
              <a:rPr lang="en-US" sz="7200" dirty="0" smtClean="0">
                <a:latin typeface="Times New Roman" panose="02020603050405020304" pitchFamily="18" charset="0"/>
                <a:cs typeface="Times New Roman" panose="02020603050405020304" pitchFamily="18" charset="0"/>
              </a:rPr>
              <a:t>  In </a:t>
            </a:r>
            <a:r>
              <a:rPr lang="en-US" sz="7200" dirty="0">
                <a:latin typeface="Times New Roman" panose="02020603050405020304" pitchFamily="18" charset="0"/>
                <a:cs typeface="Times New Roman" panose="02020603050405020304" pitchFamily="18" charset="0"/>
              </a:rPr>
              <a:t>computer systems, </a:t>
            </a:r>
            <a:r>
              <a:rPr lang="en-US" sz="7200" dirty="0" err="1">
                <a:latin typeface="Times New Roman" panose="02020603050405020304" pitchFamily="18" charset="0"/>
                <a:cs typeface="Times New Roman" panose="02020603050405020304" pitchFamily="18" charset="0"/>
              </a:rPr>
              <a:t>alot</a:t>
            </a:r>
            <a:r>
              <a:rPr lang="en-US" sz="7200" dirty="0">
                <a:latin typeface="Times New Roman" panose="02020603050405020304" pitchFamily="18" charset="0"/>
                <a:cs typeface="Times New Roman" panose="02020603050405020304" pitchFamily="18" charset="0"/>
              </a:rPr>
              <a:t> of user’s information is stored, the objective of the operating system is to keep safe the data of the user from the improper access to the system. Protection can be provided in number of ways. For a single laptop system, we might provide protection by locking the computer in a desk drawer or file cabinet</a:t>
            </a:r>
            <a:r>
              <a:rPr lang="en-US" sz="7200" dirty="0" smtClean="0">
                <a:latin typeface="Times New Roman" panose="02020603050405020304" pitchFamily="18" charset="0"/>
                <a:cs typeface="Times New Roman" panose="02020603050405020304" pitchFamily="18" charset="0"/>
              </a:rPr>
              <a:t>.</a:t>
            </a:r>
            <a:endParaRPr lang="en-US" sz="7200" dirty="0">
              <a:latin typeface="Times New Roman" panose="02020603050405020304" pitchFamily="18" charset="0"/>
              <a:cs typeface="Times New Roman" panose="02020603050405020304" pitchFamily="18" charset="0"/>
            </a:endParaRPr>
          </a:p>
          <a:p>
            <a:pPr lvl="1" algn="just">
              <a:lnSpc>
                <a:spcPct val="150000"/>
              </a:lnSpc>
              <a:buFont typeface="Monotype Sorts" charset="2"/>
              <a:buNone/>
            </a:pPr>
            <a:r>
              <a:rPr lang="en-US" sz="7200" b="1" dirty="0">
                <a:latin typeface="Times New Roman" panose="02020603050405020304" pitchFamily="18" charset="0"/>
                <a:cs typeface="Times New Roman" panose="02020603050405020304" pitchFamily="18" charset="0"/>
              </a:rPr>
              <a:t>Types of Access </a:t>
            </a:r>
            <a:r>
              <a:rPr lang="en-US" sz="7200" b="1" dirty="0" smtClean="0">
                <a:latin typeface="Times New Roman" panose="02020603050405020304" pitchFamily="18" charset="0"/>
                <a:cs typeface="Times New Roman" panose="02020603050405020304" pitchFamily="18" charset="0"/>
              </a:rPr>
              <a:t>:</a:t>
            </a:r>
            <a:r>
              <a:rPr lang="en-US" sz="7200" dirty="0">
                <a:latin typeface="Times New Roman" panose="02020603050405020304" pitchFamily="18" charset="0"/>
                <a:cs typeface="Times New Roman" panose="02020603050405020304" pitchFamily="18" charset="0"/>
              </a:rPr>
              <a:t>The files which have direct access of the any user have the need of protection. The files which are not accessible to other users doesn’t require any kind of protection. The mechanism of the protection provide the facility of the controlled </a:t>
            </a:r>
            <a:r>
              <a:rPr lang="en-US" sz="7200" dirty="0" smtClean="0">
                <a:latin typeface="Times New Roman" panose="02020603050405020304" pitchFamily="18" charset="0"/>
                <a:cs typeface="Times New Roman" panose="02020603050405020304" pitchFamily="18" charset="0"/>
              </a:rPr>
              <a:t>access.</a:t>
            </a:r>
          </a:p>
          <a:p>
            <a:pPr algn="just" fontAlgn="base"/>
            <a:r>
              <a:rPr lang="en-US" sz="7200" b="1" dirty="0">
                <a:latin typeface="Times New Roman" panose="02020603050405020304" pitchFamily="18" charset="0"/>
                <a:cs typeface="Times New Roman" panose="02020603050405020304" pitchFamily="18" charset="0"/>
              </a:rPr>
              <a:t>Read –</a:t>
            </a:r>
            <a:r>
              <a:rPr lang="en-US" sz="7200" dirty="0">
                <a:latin typeface="Times New Roman" panose="02020603050405020304" pitchFamily="18" charset="0"/>
                <a:cs typeface="Times New Roman" panose="02020603050405020304" pitchFamily="18" charset="0"/>
              </a:rPr>
              <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Reading from a file.</a:t>
            </a:r>
          </a:p>
          <a:p>
            <a:pPr algn="just" fontAlgn="base"/>
            <a:r>
              <a:rPr lang="en-US" sz="7200" b="1" dirty="0">
                <a:latin typeface="Times New Roman" panose="02020603050405020304" pitchFamily="18" charset="0"/>
                <a:cs typeface="Times New Roman" panose="02020603050405020304" pitchFamily="18" charset="0"/>
              </a:rPr>
              <a:t>Write –</a:t>
            </a:r>
            <a:r>
              <a:rPr lang="en-US" sz="7200" dirty="0">
                <a:latin typeface="Times New Roman" panose="02020603050405020304" pitchFamily="18" charset="0"/>
                <a:cs typeface="Times New Roman" panose="02020603050405020304" pitchFamily="18" charset="0"/>
              </a:rPr>
              <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Writing or rewriting the file.</a:t>
            </a:r>
          </a:p>
          <a:p>
            <a:pPr algn="just" fontAlgn="base"/>
            <a:r>
              <a:rPr lang="en-US" sz="7200" b="1" dirty="0">
                <a:latin typeface="Times New Roman" panose="02020603050405020304" pitchFamily="18" charset="0"/>
                <a:cs typeface="Times New Roman" panose="02020603050405020304" pitchFamily="18" charset="0"/>
              </a:rPr>
              <a:t>Execute –</a:t>
            </a:r>
            <a:r>
              <a:rPr lang="en-US" sz="7200" dirty="0">
                <a:latin typeface="Times New Roman" panose="02020603050405020304" pitchFamily="18" charset="0"/>
                <a:cs typeface="Times New Roman" panose="02020603050405020304" pitchFamily="18" charset="0"/>
              </a:rPr>
              <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Loading the file and after loading the execution process starts.</a:t>
            </a:r>
          </a:p>
          <a:p>
            <a:pPr algn="just" fontAlgn="base"/>
            <a:r>
              <a:rPr lang="en-US" sz="7200" b="1" dirty="0">
                <a:latin typeface="Times New Roman" panose="02020603050405020304" pitchFamily="18" charset="0"/>
                <a:cs typeface="Times New Roman" panose="02020603050405020304" pitchFamily="18" charset="0"/>
              </a:rPr>
              <a:t>Append –</a:t>
            </a:r>
            <a:r>
              <a:rPr lang="en-US" sz="7200" dirty="0">
                <a:latin typeface="Times New Roman" panose="02020603050405020304" pitchFamily="18" charset="0"/>
                <a:cs typeface="Times New Roman" panose="02020603050405020304" pitchFamily="18" charset="0"/>
              </a:rPr>
              <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Writing the new information to the already existing file, editing must be end at the end of the existing file.</a:t>
            </a:r>
          </a:p>
          <a:p>
            <a:pPr algn="just" fontAlgn="base"/>
            <a:r>
              <a:rPr lang="en-US" sz="7200" b="1" dirty="0">
                <a:latin typeface="Times New Roman" panose="02020603050405020304" pitchFamily="18" charset="0"/>
                <a:cs typeface="Times New Roman" panose="02020603050405020304" pitchFamily="18" charset="0"/>
              </a:rPr>
              <a:t>Delete –</a:t>
            </a:r>
            <a:r>
              <a:rPr lang="en-US" sz="7200" dirty="0">
                <a:latin typeface="Times New Roman" panose="02020603050405020304" pitchFamily="18" charset="0"/>
                <a:cs typeface="Times New Roman" panose="02020603050405020304" pitchFamily="18" charset="0"/>
              </a:rPr>
              <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Deleting the file which is of no use and using its space for the another data.</a:t>
            </a:r>
          </a:p>
          <a:p>
            <a:pPr algn="just" fontAlgn="base"/>
            <a:r>
              <a:rPr lang="en-US" sz="7200" b="1" dirty="0">
                <a:latin typeface="Times New Roman" panose="02020603050405020304" pitchFamily="18" charset="0"/>
                <a:cs typeface="Times New Roman" panose="02020603050405020304" pitchFamily="18" charset="0"/>
              </a:rPr>
              <a:t>List –</a:t>
            </a:r>
            <a:r>
              <a:rPr lang="en-US" sz="7200" dirty="0">
                <a:latin typeface="Times New Roman" panose="02020603050405020304" pitchFamily="18" charset="0"/>
                <a:cs typeface="Times New Roman" panose="02020603050405020304" pitchFamily="18" charset="0"/>
              </a:rPr>
              <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List the name and attributes of the file.</a:t>
            </a:r>
          </a:p>
          <a:p>
            <a:pPr lvl="1" algn="just">
              <a:lnSpc>
                <a:spcPct val="150000"/>
              </a:lnSpc>
              <a:buFont typeface="Monotype Sorts" charset="2"/>
              <a:buNone/>
            </a:pPr>
            <a:endParaRPr lang="en-US" sz="2600" dirty="0" smtClean="0">
              <a:latin typeface="Times New Roman" panose="02020603050405020304" pitchFamily="18" charset="0"/>
              <a:cs typeface="Times New Roman" panose="02020603050405020304" pitchFamily="18" charset="0"/>
            </a:endParaRPr>
          </a:p>
          <a:p>
            <a:pPr lvl="1" algn="just">
              <a:lnSpc>
                <a:spcPct val="150000"/>
              </a:lnSpc>
              <a:buFont typeface="Monotype Sorts" charset="2"/>
              <a:buNone/>
            </a:pPr>
            <a:endParaRPr lang="en-US" dirty="0">
              <a:latin typeface="Times New Roman" panose="02020603050405020304" pitchFamily="18" charset="0"/>
              <a:cs typeface="Times New Roman" panose="02020603050405020304" pitchFamily="18" charset="0"/>
            </a:endParaRPr>
          </a:p>
          <a:p>
            <a:pPr lvl="1" algn="just">
              <a:lnSpc>
                <a:spcPct val="150000"/>
              </a:lnSpc>
              <a:buFont typeface="Monotype Sorts" charset="2"/>
              <a:buNone/>
            </a:pPr>
            <a:endParaRPr lang="en-US" dirty="0" smtClean="0">
              <a:latin typeface="Times New Roman" panose="02020603050405020304" pitchFamily="18" charset="0"/>
              <a:cs typeface="Times New Roman" panose="02020603050405020304" pitchFamily="18" charset="0"/>
            </a:endParaRPr>
          </a:p>
          <a:p>
            <a:pPr lvl="1" algn="just">
              <a:lnSpc>
                <a:spcPct val="150000"/>
              </a:lnSpc>
              <a:buFont typeface="Monotype Sorts" charset="2"/>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20398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686" y="0"/>
            <a:ext cx="7886700" cy="678873"/>
          </a:xfrm>
        </p:spPr>
        <p:txBody>
          <a:bodyPr>
            <a:normAutofit/>
          </a:bodyPr>
          <a:lstStyle/>
          <a:p>
            <a:r>
              <a:rPr lang="en-US" sz="3200" b="1" dirty="0">
                <a:latin typeface="Times New Roman" panose="02020603050405020304" pitchFamily="18" charset="0"/>
                <a:cs typeface="Times New Roman" panose="02020603050405020304" pitchFamily="18" charset="0"/>
              </a:rPr>
              <a:t>Access Control </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9886" y="678873"/>
            <a:ext cx="9014114" cy="4351338"/>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There are different methods used by different users to access any file. The general way of protection is to associate </a:t>
            </a:r>
            <a:r>
              <a:rPr lang="en-US" sz="2400" i="1" dirty="0">
                <a:latin typeface="Times New Roman" panose="02020603050405020304" pitchFamily="18" charset="0"/>
                <a:cs typeface="Times New Roman" panose="02020603050405020304" pitchFamily="18" charset="0"/>
              </a:rPr>
              <a:t>identity-dependent access</a:t>
            </a:r>
            <a:r>
              <a:rPr lang="en-US" sz="2400" dirty="0">
                <a:latin typeface="Times New Roman" panose="02020603050405020304" pitchFamily="18" charset="0"/>
                <a:cs typeface="Times New Roman" panose="02020603050405020304" pitchFamily="18" charset="0"/>
              </a:rPr>
              <a:t> with all the files and directories an list called </a:t>
            </a:r>
            <a:r>
              <a:rPr lang="en-US" sz="2400" u="sng" dirty="0">
                <a:latin typeface="Times New Roman" panose="02020603050405020304" pitchFamily="18" charset="0"/>
                <a:cs typeface="Times New Roman" panose="02020603050405020304" pitchFamily="18" charset="0"/>
                <a:hlinkClick r:id="rId2"/>
              </a:rPr>
              <a:t>access-control list (ACL)</a:t>
            </a:r>
            <a:r>
              <a:rPr lang="en-US" sz="2400" dirty="0">
                <a:latin typeface="Times New Roman" panose="02020603050405020304" pitchFamily="18" charset="0"/>
                <a:cs typeface="Times New Roman" panose="02020603050405020304" pitchFamily="18" charset="0"/>
              </a:rPr>
              <a:t> which specify the names of the users and the types of access associate with each of the </a:t>
            </a:r>
            <a:r>
              <a:rPr lang="en-US" sz="2400" dirty="0" smtClean="0">
                <a:latin typeface="Times New Roman" panose="02020603050405020304" pitchFamily="18" charset="0"/>
                <a:cs typeface="Times New Roman" panose="02020603050405020304" pitchFamily="18" charset="0"/>
              </a:rPr>
              <a:t>user.</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3421634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sz="3200" b="1" dirty="0">
                <a:latin typeface="Times New Roman" pitchFamily="18" charset="0"/>
                <a:cs typeface="Times New Roman" pitchFamily="18" charset="0"/>
              </a:rPr>
              <a:t>Access Matrix</a:t>
            </a:r>
          </a:p>
        </p:txBody>
      </p:sp>
      <p:sp>
        <p:nvSpPr>
          <p:cNvPr id="12291" name="Rectangle 3"/>
          <p:cNvSpPr>
            <a:spLocks noGrp="1" noChangeArrowheads="1"/>
          </p:cNvSpPr>
          <p:nvPr>
            <p:ph idx="1"/>
          </p:nvPr>
        </p:nvSpPr>
        <p:spPr>
          <a:xfrm>
            <a:off x="628650" y="1491175"/>
            <a:ext cx="8065184" cy="4783016"/>
          </a:xfrm>
        </p:spPr>
        <p:txBody>
          <a:bodyPr>
            <a:normAutofit/>
          </a:bodyPr>
          <a:lstStyle/>
          <a:p>
            <a:pPr algn="just">
              <a:lnSpc>
                <a:spcPct val="150000"/>
              </a:lnSpc>
            </a:pPr>
            <a:r>
              <a:rPr lang="en-US" sz="2000" dirty="0">
                <a:latin typeface="Times New Roman" pitchFamily="18" charset="0"/>
                <a:cs typeface="Times New Roman" pitchFamily="18" charset="0"/>
              </a:rPr>
              <a:t>View protection as a matrix (</a:t>
            </a:r>
            <a:r>
              <a:rPr lang="en-US" sz="2000" i="1" dirty="0">
                <a:latin typeface="Times New Roman" pitchFamily="18" charset="0"/>
                <a:cs typeface="Times New Roman" pitchFamily="18" charset="0"/>
              </a:rPr>
              <a:t>access matrix</a:t>
            </a:r>
            <a:r>
              <a:rPr lang="en-US" sz="2000" dirty="0">
                <a:latin typeface="Times New Roman" pitchFamily="18" charset="0"/>
                <a:cs typeface="Times New Roman" pitchFamily="18" charset="0"/>
              </a:rPr>
              <a:t>)</a:t>
            </a:r>
          </a:p>
          <a:p>
            <a:pPr algn="just">
              <a:lnSpc>
                <a:spcPct val="150000"/>
              </a:lnSpc>
            </a:pPr>
            <a:r>
              <a:rPr lang="en-US" sz="2000" dirty="0">
                <a:latin typeface="Times New Roman" pitchFamily="18" charset="0"/>
                <a:cs typeface="Times New Roman" pitchFamily="18" charset="0"/>
              </a:rPr>
              <a:t>Rows represent domains</a:t>
            </a:r>
          </a:p>
          <a:p>
            <a:pPr algn="just">
              <a:lnSpc>
                <a:spcPct val="150000"/>
              </a:lnSpc>
            </a:pPr>
            <a:r>
              <a:rPr lang="en-US" sz="2000" dirty="0">
                <a:latin typeface="Times New Roman" pitchFamily="18" charset="0"/>
                <a:cs typeface="Times New Roman" pitchFamily="18" charset="0"/>
              </a:rPr>
              <a:t>Columns represent objects</a:t>
            </a:r>
          </a:p>
          <a:p>
            <a:pPr algn="just">
              <a:lnSpc>
                <a:spcPct val="150000"/>
              </a:lnSpc>
            </a:pPr>
            <a:r>
              <a:rPr lang="en-US" sz="2000" i="1" dirty="0">
                <a:latin typeface="Times New Roman" pitchFamily="18" charset="0"/>
                <a:cs typeface="Times New Roman" pitchFamily="18" charset="0"/>
              </a:rPr>
              <a:t>Access(</a:t>
            </a:r>
            <a:r>
              <a:rPr lang="en-US" sz="2000" i="1" dirty="0" err="1">
                <a:latin typeface="Times New Roman" pitchFamily="18" charset="0"/>
                <a:cs typeface="Times New Roman" pitchFamily="18" charset="0"/>
              </a:rPr>
              <a:t>i</a:t>
            </a:r>
            <a:r>
              <a:rPr lang="en-US" sz="2000" i="1" dirty="0">
                <a:latin typeface="Times New Roman" pitchFamily="18" charset="0"/>
                <a:cs typeface="Times New Roman" pitchFamily="18" charset="0"/>
              </a:rPr>
              <a:t>, j)</a:t>
            </a:r>
            <a:r>
              <a:rPr lang="en-US" sz="2000" dirty="0">
                <a:latin typeface="Times New Roman" pitchFamily="18" charset="0"/>
                <a:cs typeface="Times New Roman" pitchFamily="18" charset="0"/>
              </a:rPr>
              <a:t> is the set of operations that a process executing in </a:t>
            </a:r>
            <a:r>
              <a:rPr lang="en-US" sz="2000" dirty="0" err="1">
                <a:latin typeface="Times New Roman" pitchFamily="18" charset="0"/>
                <a:cs typeface="Times New Roman" pitchFamily="18" charset="0"/>
              </a:rPr>
              <a:t>Domain</a:t>
            </a:r>
            <a:r>
              <a:rPr lang="en-US" sz="2000" baseline="-25000" dirty="0" err="1">
                <a:latin typeface="Times New Roman" pitchFamily="18" charset="0"/>
                <a:cs typeface="Times New Roman" pitchFamily="18" charset="0"/>
              </a:rPr>
              <a:t>i</a:t>
            </a:r>
            <a:r>
              <a:rPr lang="en-US" sz="2000" dirty="0">
                <a:latin typeface="Times New Roman" pitchFamily="18" charset="0"/>
                <a:cs typeface="Times New Roman" pitchFamily="18" charset="0"/>
              </a:rPr>
              <a:t> can invoke on </a:t>
            </a:r>
            <a:r>
              <a:rPr lang="en-US" sz="2000" dirty="0" err="1">
                <a:latin typeface="Times New Roman" pitchFamily="18" charset="0"/>
                <a:cs typeface="Times New Roman" pitchFamily="18" charset="0"/>
              </a:rPr>
              <a:t>Object</a:t>
            </a:r>
            <a:r>
              <a:rPr lang="en-US" sz="2000" baseline="-25000" dirty="0" err="1">
                <a:latin typeface="Times New Roman" pitchFamily="18" charset="0"/>
                <a:cs typeface="Times New Roman" pitchFamily="18" charset="0"/>
              </a:rPr>
              <a:t>j</a:t>
            </a:r>
            <a:endParaRPr lang="en-US" sz="2000" baseline="-25000" dirty="0">
              <a:latin typeface="Times New Roman" pitchFamily="18" charset="0"/>
              <a:cs typeface="Times New Roman" pitchFamily="18" charset="0"/>
            </a:endParaRPr>
          </a:p>
        </p:txBody>
      </p:sp>
    </p:spTree>
    <p:extLst>
      <p:ext uri="{BB962C8B-B14F-4D97-AF65-F5344CB8AC3E}">
        <p14:creationId xmlns:p14="http://schemas.microsoft.com/office/powerpoint/2010/main" val="2068283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sz="2400" b="1" dirty="0">
                <a:latin typeface="Times New Roman" pitchFamily="18" charset="0"/>
                <a:cs typeface="Times New Roman" pitchFamily="18" charset="0"/>
              </a:rPr>
              <a:t>Access Matrix</a:t>
            </a:r>
          </a:p>
        </p:txBody>
      </p:sp>
      <p:pic>
        <p:nvPicPr>
          <p:cNvPr id="13315" name="Picture 12"/>
          <p:cNvPicPr>
            <a:picLocks noChangeAspect="1" noChangeArrowheads="1"/>
          </p:cNvPicPr>
          <p:nvPr/>
        </p:nvPicPr>
        <p:blipFill>
          <a:blip r:embed="rId3" cstate="print"/>
          <a:srcRect/>
          <a:stretch>
            <a:fillRect/>
          </a:stretch>
        </p:blipFill>
        <p:spPr bwMode="auto">
          <a:xfrm>
            <a:off x="990600" y="2133600"/>
            <a:ext cx="6904567" cy="4014788"/>
          </a:xfrm>
          <a:prstGeom prst="rect">
            <a:avLst/>
          </a:prstGeom>
          <a:noFill/>
          <a:ln w="9525">
            <a:noFill/>
            <a:miter lim="800000"/>
            <a:headEnd/>
            <a:tailEnd/>
          </a:ln>
        </p:spPr>
      </p:pic>
    </p:spTree>
    <p:extLst>
      <p:ext uri="{BB962C8B-B14F-4D97-AF65-F5344CB8AC3E}">
        <p14:creationId xmlns:p14="http://schemas.microsoft.com/office/powerpoint/2010/main" val="3148603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itchFamily="18" charset="0"/>
                <a:cs typeface="Times New Roman" pitchFamily="18" charset="0"/>
              </a:rPr>
              <a:t>Access Matrix Example</a:t>
            </a: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828800"/>
            <a:ext cx="4256088" cy="448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46797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8632</TotalTime>
  <Words>2964</Words>
  <Application>Microsoft Office PowerPoint</Application>
  <PresentationFormat>On-screen Show (4:3)</PresentationFormat>
  <Paragraphs>245</Paragraphs>
  <Slides>41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urw-din</vt:lpstr>
      <vt:lpstr>Times New Roman</vt:lpstr>
      <vt:lpstr>Calibri Light</vt:lpstr>
      <vt:lpstr>Arial</vt:lpstr>
      <vt:lpstr>Monotype Sorts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Index allocation</vt:lpstr>
      <vt:lpstr>Index allocation</vt:lpstr>
      <vt:lpstr>PowerPoint Presentation</vt:lpstr>
      <vt:lpstr>PowerPoint Presentation</vt:lpstr>
      <vt:lpstr>PowerPoint Presentation</vt:lpstr>
      <vt:lpstr>PowerPoint Presentation</vt:lpstr>
      <vt:lpstr>Directory Implementation in Operating System </vt:lpstr>
      <vt:lpstr>Directory Implementation in Operating System  </vt:lpstr>
      <vt:lpstr>PowerPoint Presentation</vt:lpstr>
      <vt:lpstr>Free space management in Operating System </vt:lpstr>
      <vt:lpstr>Linked List </vt:lpstr>
      <vt:lpstr>Principles of Protection</vt:lpstr>
      <vt:lpstr>Access Control </vt:lpstr>
      <vt:lpstr>Access Matrix</vt:lpstr>
      <vt:lpstr>Access Matrix</vt:lpstr>
      <vt:lpstr>Access Matrix Example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Nabaraj</dc:creator>
  <cp:lastModifiedBy>arjun</cp:lastModifiedBy>
  <cp:revision>3245</cp:revision>
  <dcterms:modified xsi:type="dcterms:W3CDTF">2022-03-16T03:16:39Z</dcterms:modified>
</cp:coreProperties>
</file>