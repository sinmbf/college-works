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00" r:id="rId14"/>
    <p:sldId id="301" r:id="rId15"/>
    <p:sldId id="302" r:id="rId16"/>
    <p:sldId id="303" r:id="rId17"/>
    <p:sldId id="268" r:id="rId18"/>
    <p:sldId id="269" r:id="rId19"/>
    <p:sldId id="270" r:id="rId20"/>
    <p:sldId id="276" r:id="rId21"/>
    <p:sldId id="285" r:id="rId22"/>
    <p:sldId id="286" r:id="rId23"/>
    <p:sldId id="287" r:id="rId24"/>
    <p:sldId id="288" r:id="rId25"/>
    <p:sldId id="289" r:id="rId26"/>
    <p:sldId id="294" r:id="rId27"/>
    <p:sldId id="295" r:id="rId28"/>
    <p:sldId id="296" r:id="rId29"/>
    <p:sldId id="297" r:id="rId30"/>
    <p:sldId id="298" r:id="rId31"/>
    <p:sldId id="299" r:id="rId32"/>
  </p:sldIdLst>
  <p:sldSz cx="9144000" cy="6858000" type="screen4x3"/>
  <p:notesSz cx="6858000" cy="9144000"/>
  <p:embeddedFontLst>
    <p:embeddedFont>
      <p:font typeface="Calibri Light" panose="020F0302020204030204" pitchFamily="34" charset="0"/>
      <p:regular r:id="rId34"/>
      <p:italic r:id="rId35"/>
    </p:embeddedFont>
    <p:embeddedFont>
      <p:font typeface="Calibri" panose="020F0502020204030204"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4660"/>
  </p:normalViewPr>
  <p:slideViewPr>
    <p:cSldViewPr snapToGrid="0">
      <p:cViewPr>
        <p:scale>
          <a:sx n="82" d="100"/>
          <a:sy n="82" d="100"/>
        </p:scale>
        <p:origin x="462" y="6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extLst>
      <p:ext uri="{BB962C8B-B14F-4D97-AF65-F5344CB8AC3E}">
        <p14:creationId xmlns:p14="http://schemas.microsoft.com/office/powerpoint/2010/main" val="40309001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265541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15022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611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989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86103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76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45669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1558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6694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42787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5402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6392188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design-issues-of-distributed-syste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2133600"/>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Distributed OS</a:t>
            </a:r>
            <a:endParaRPr lang="th-TH" sz="3200" dirty="0">
              <a:latin typeface="Times New Roman" panose="02020603050405020304" pitchFamily="18" charset="0"/>
            </a:endParaRPr>
          </a:p>
        </p:txBody>
      </p:sp>
    </p:spTree>
    <p:extLst>
      <p:ext uri="{BB962C8B-B14F-4D97-AF65-F5344CB8AC3E}">
        <p14:creationId xmlns:p14="http://schemas.microsoft.com/office/powerpoint/2010/main" val="20741557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endParaRPr lang="th-TH" sz="3600" dirty="0"/>
          </a:p>
        </p:txBody>
      </p:sp>
      <p:pic>
        <p:nvPicPr>
          <p:cNvPr id="1026" name="Picture 2"/>
          <p:cNvPicPr>
            <a:picLocks noGrp="1" noChangeAspect="1" noChangeArrowheads="1"/>
          </p:cNvPicPr>
          <p:nvPr>
            <p:ph idx="1"/>
          </p:nvPr>
        </p:nvPicPr>
        <p:blipFill>
          <a:blip r:embed="rId2"/>
          <a:srcRect/>
          <a:stretch>
            <a:fillRect/>
          </a:stretch>
        </p:blipFill>
        <p:spPr bwMode="auto">
          <a:xfrm>
            <a:off x="182880" y="351791"/>
            <a:ext cx="8534400" cy="6019799"/>
          </a:xfrm>
          <a:prstGeom prst="rect">
            <a:avLst/>
          </a:prstGeom>
          <a:noFill/>
          <a:ln w="9525">
            <a:noFill/>
            <a:miter lim="800000"/>
            <a:headEnd/>
            <a:tailEnd/>
          </a:ln>
          <a:effectLst/>
        </p:spPr>
      </p:pic>
    </p:spTree>
    <p:extLst>
      <p:ext uri="{BB962C8B-B14F-4D97-AF65-F5344CB8AC3E}">
        <p14:creationId xmlns:p14="http://schemas.microsoft.com/office/powerpoint/2010/main" val="2211187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304800" y="762000"/>
            <a:ext cx="8534400" cy="4267200"/>
          </a:xfrm>
          <a:prstGeom prst="rect">
            <a:avLst/>
          </a:prstGeom>
          <a:noFill/>
          <a:ln w="9525">
            <a:noFill/>
            <a:miter lim="800000"/>
            <a:headEnd/>
            <a:tailEnd/>
          </a:ln>
          <a:effectLst/>
        </p:spPr>
      </p:pic>
    </p:spTree>
    <p:extLst>
      <p:ext uri="{BB962C8B-B14F-4D97-AF65-F5344CB8AC3E}">
        <p14:creationId xmlns:p14="http://schemas.microsoft.com/office/powerpoint/2010/main" val="1725379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3" name="Picture 2"/>
          <p:cNvPicPr>
            <a:picLocks noChangeAspect="1" noChangeArrowheads="1"/>
          </p:cNvPicPr>
          <p:nvPr/>
        </p:nvPicPr>
        <p:blipFill>
          <a:blip r:embed="rId2"/>
          <a:srcRect/>
          <a:stretch>
            <a:fillRect/>
          </a:stretch>
        </p:blipFill>
        <p:spPr bwMode="auto">
          <a:xfrm>
            <a:off x="328598" y="305435"/>
            <a:ext cx="8458200" cy="6400800"/>
          </a:xfrm>
          <a:prstGeom prst="rect">
            <a:avLst/>
          </a:prstGeom>
          <a:noFill/>
          <a:ln w="9525">
            <a:noFill/>
            <a:miter lim="800000"/>
            <a:headEnd/>
            <a:tailEnd/>
          </a:ln>
          <a:effectLst/>
        </p:spPr>
      </p:pic>
    </p:spTree>
    <p:extLst>
      <p:ext uri="{BB962C8B-B14F-4D97-AF65-F5344CB8AC3E}">
        <p14:creationId xmlns:p14="http://schemas.microsoft.com/office/powerpoint/2010/main" val="783679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3" name="Picture 2"/>
          <p:cNvPicPr>
            <a:picLocks noChangeAspect="1" noChangeArrowheads="1"/>
          </p:cNvPicPr>
          <p:nvPr/>
        </p:nvPicPr>
        <p:blipFill>
          <a:blip r:embed="rId2"/>
          <a:srcRect/>
          <a:stretch>
            <a:fillRect/>
          </a:stretch>
        </p:blipFill>
        <p:spPr bwMode="auto">
          <a:xfrm>
            <a:off x="428596" y="228600"/>
            <a:ext cx="8458200" cy="5943599"/>
          </a:xfrm>
          <a:prstGeom prst="rect">
            <a:avLst/>
          </a:prstGeom>
          <a:noFill/>
          <a:ln w="9525">
            <a:noFill/>
            <a:miter lim="800000"/>
            <a:headEnd/>
            <a:tailEnd/>
          </a:ln>
          <a:effectLst/>
        </p:spPr>
      </p:pic>
    </p:spTree>
    <p:extLst>
      <p:ext uri="{BB962C8B-B14F-4D97-AF65-F5344CB8AC3E}">
        <p14:creationId xmlns:p14="http://schemas.microsoft.com/office/powerpoint/2010/main" val="17527109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3" name="Picture 2"/>
          <p:cNvPicPr>
            <a:picLocks noChangeAspect="1" noChangeArrowheads="1"/>
          </p:cNvPicPr>
          <p:nvPr/>
        </p:nvPicPr>
        <p:blipFill>
          <a:blip r:embed="rId2"/>
          <a:srcRect/>
          <a:stretch>
            <a:fillRect/>
          </a:stretch>
        </p:blipFill>
        <p:spPr bwMode="auto">
          <a:xfrm>
            <a:off x="214298" y="213995"/>
            <a:ext cx="8686800" cy="6477000"/>
          </a:xfrm>
          <a:prstGeom prst="rect">
            <a:avLst/>
          </a:prstGeom>
          <a:noFill/>
          <a:ln w="9525">
            <a:noFill/>
            <a:miter lim="800000"/>
            <a:headEnd/>
            <a:tailEnd/>
          </a:ln>
          <a:effectLst/>
        </p:spPr>
      </p:pic>
    </p:spTree>
    <p:extLst>
      <p:ext uri="{BB962C8B-B14F-4D97-AF65-F5344CB8AC3E}">
        <p14:creationId xmlns:p14="http://schemas.microsoft.com/office/powerpoint/2010/main" val="10600103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81000" y="533400"/>
            <a:ext cx="8399116" cy="5488692"/>
          </a:xfrm>
        </p:spPr>
        <p:txBody>
          <a:bodyPr>
            <a:normAutofit/>
          </a:bodyPr>
          <a:lstStyle/>
          <a:p>
            <a:pPr marL="0" indent="0" algn="just">
              <a:lnSpc>
                <a:spcPct val="150000"/>
              </a:lnSpc>
              <a:buNone/>
            </a:pPr>
            <a:r>
              <a:rPr lang="en-US" sz="2000" b="1" dirty="0" smtClean="0">
                <a:latin typeface="Times New Roman" panose="02020603050405020304" pitchFamily="18" charset="0"/>
                <a:cs typeface="Times New Roman" panose="02020603050405020304" pitchFamily="18" charset="0"/>
              </a:rPr>
              <a:t>Disadvantages of Distributed System</a:t>
            </a:r>
          </a:p>
          <a:p>
            <a:pPr algn="just">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Security problem due to sharing.</a:t>
            </a:r>
          </a:p>
          <a:p>
            <a:pPr algn="just">
              <a:lnSpc>
                <a:spcPct val="150000"/>
              </a:lnSpc>
              <a:buClr>
                <a:schemeClr val="tx1"/>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Some message can be lost in the network system.</a:t>
            </a:r>
          </a:p>
          <a:p>
            <a:pPr algn="just">
              <a:lnSpc>
                <a:spcPct val="150000"/>
              </a:lnSpc>
              <a:buClr>
                <a:schemeClr val="tx1"/>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Bandwidth is another problem if there is large data then all network wires to be replaced which tends to become expensive.</a:t>
            </a:r>
          </a:p>
          <a:p>
            <a:pPr algn="just">
              <a:lnSpc>
                <a:spcPct val="150000"/>
              </a:lnSpc>
              <a:buClr>
                <a:schemeClr val="tx1"/>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Overloading is another problem in distributed system.</a:t>
            </a:r>
          </a:p>
          <a:p>
            <a:pPr algn="just">
              <a:lnSpc>
                <a:spcPct val="150000"/>
              </a:lnSpc>
              <a:buClr>
                <a:schemeClr val="tx1"/>
              </a:buCl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If there is database connection on local system and many users accessing that database through remote or distributed way then performance become slow.</a:t>
            </a:r>
          </a:p>
        </p:txBody>
      </p:sp>
    </p:spTree>
    <p:extLst>
      <p:ext uri="{BB962C8B-B14F-4D97-AF65-F5344CB8AC3E}">
        <p14:creationId xmlns:p14="http://schemas.microsoft.com/office/powerpoint/2010/main" val="29083710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6146" name="Picture 2"/>
          <p:cNvPicPr>
            <a:picLocks noChangeAspect="1" noChangeArrowheads="1"/>
          </p:cNvPicPr>
          <p:nvPr/>
        </p:nvPicPr>
        <p:blipFill>
          <a:blip r:embed="rId2"/>
          <a:srcRect/>
          <a:stretch>
            <a:fillRect/>
          </a:stretch>
        </p:blipFill>
        <p:spPr bwMode="auto">
          <a:xfrm>
            <a:off x="328598" y="260351"/>
            <a:ext cx="8458200" cy="6096000"/>
          </a:xfrm>
          <a:prstGeom prst="rect">
            <a:avLst/>
          </a:prstGeom>
          <a:noFill/>
          <a:ln w="9525">
            <a:noFill/>
            <a:miter lim="800000"/>
            <a:headEnd/>
            <a:tailEnd/>
          </a:ln>
          <a:effectLst/>
        </p:spPr>
      </p:pic>
    </p:spTree>
    <p:extLst>
      <p:ext uri="{BB962C8B-B14F-4D97-AF65-F5344CB8AC3E}">
        <p14:creationId xmlns:p14="http://schemas.microsoft.com/office/powerpoint/2010/main" val="8772931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7171" name="Picture 3"/>
          <p:cNvPicPr>
            <a:picLocks noGrp="1" noChangeAspect="1" noChangeArrowheads="1"/>
          </p:cNvPicPr>
          <p:nvPr>
            <p:ph idx="1"/>
          </p:nvPr>
        </p:nvPicPr>
        <p:blipFill>
          <a:blip r:embed="rId2"/>
          <a:srcRect/>
          <a:stretch>
            <a:fillRect/>
          </a:stretch>
        </p:blipFill>
        <p:spPr bwMode="auto">
          <a:xfrm>
            <a:off x="328598" y="2743201"/>
            <a:ext cx="8458200" cy="4114799"/>
          </a:xfrm>
          <a:prstGeom prst="rect">
            <a:avLst/>
          </a:prstGeom>
          <a:noFill/>
          <a:ln w="9525">
            <a:noFill/>
            <a:miter lim="800000"/>
            <a:headEnd/>
            <a:tailEnd/>
          </a:ln>
          <a:effectLst/>
        </p:spPr>
      </p:pic>
      <p:pic>
        <p:nvPicPr>
          <p:cNvPr id="7170" name="Picture 2"/>
          <p:cNvPicPr>
            <a:picLocks noChangeAspect="1" noChangeArrowheads="1"/>
          </p:cNvPicPr>
          <p:nvPr/>
        </p:nvPicPr>
        <p:blipFill>
          <a:blip r:embed="rId3"/>
          <a:srcRect/>
          <a:stretch>
            <a:fillRect/>
          </a:stretch>
        </p:blipFill>
        <p:spPr bwMode="auto">
          <a:xfrm>
            <a:off x="252398" y="161912"/>
            <a:ext cx="8610600" cy="2819400"/>
          </a:xfrm>
          <a:prstGeom prst="rect">
            <a:avLst/>
          </a:prstGeom>
          <a:noFill/>
          <a:ln w="9525">
            <a:noFill/>
            <a:miter lim="800000"/>
            <a:headEnd/>
            <a:tailEnd/>
          </a:ln>
          <a:effectLst/>
        </p:spPr>
      </p:pic>
    </p:spTree>
    <p:extLst>
      <p:ext uri="{BB962C8B-B14F-4D97-AF65-F5344CB8AC3E}">
        <p14:creationId xmlns:p14="http://schemas.microsoft.com/office/powerpoint/2010/main" val="33450629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8194" name="Picture 2"/>
          <p:cNvPicPr>
            <a:picLocks noChangeAspect="1" noChangeArrowheads="1"/>
          </p:cNvPicPr>
          <p:nvPr/>
        </p:nvPicPr>
        <p:blipFill>
          <a:blip r:embed="rId2"/>
          <a:srcRect/>
          <a:stretch>
            <a:fillRect/>
          </a:stretch>
        </p:blipFill>
        <p:spPr bwMode="auto">
          <a:xfrm>
            <a:off x="290498" y="336233"/>
            <a:ext cx="8534399" cy="6172199"/>
          </a:xfrm>
          <a:prstGeom prst="rect">
            <a:avLst/>
          </a:prstGeom>
          <a:noFill/>
          <a:ln w="9525">
            <a:noFill/>
            <a:miter lim="800000"/>
            <a:headEnd/>
            <a:tailEnd/>
          </a:ln>
          <a:effectLst/>
        </p:spPr>
      </p:pic>
    </p:spTree>
    <p:extLst>
      <p:ext uri="{BB962C8B-B14F-4D97-AF65-F5344CB8AC3E}">
        <p14:creationId xmlns:p14="http://schemas.microsoft.com/office/powerpoint/2010/main" val="7965003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a:r>
            <a:br>
              <a:rPr lang="en-US" sz="3600" dirty="0" smtClean="0"/>
            </a:br>
            <a:r>
              <a:rPr lang="en-US" sz="3600" dirty="0" smtClean="0"/>
              <a:t> I</a:t>
            </a:r>
            <a:br>
              <a:rPr lang="en-US" sz="3600" dirty="0" smtClean="0"/>
            </a:br>
            <a:endParaRPr lang="th-TH" sz="3600" dirty="0"/>
          </a:p>
        </p:txBody>
      </p:sp>
      <p:pic>
        <p:nvPicPr>
          <p:cNvPr id="9218" name="Picture 2"/>
          <p:cNvPicPr>
            <a:picLocks noChangeAspect="1" noChangeArrowheads="1"/>
          </p:cNvPicPr>
          <p:nvPr/>
        </p:nvPicPr>
        <p:blipFill>
          <a:blip r:embed="rId2"/>
          <a:srcRect/>
          <a:stretch>
            <a:fillRect/>
          </a:stretch>
        </p:blipFill>
        <p:spPr bwMode="auto">
          <a:xfrm>
            <a:off x="91440" y="61912"/>
            <a:ext cx="8610600" cy="6477000"/>
          </a:xfrm>
          <a:prstGeom prst="rect">
            <a:avLst/>
          </a:prstGeom>
          <a:noFill/>
          <a:ln w="9525">
            <a:noFill/>
            <a:miter lim="800000"/>
            <a:headEnd/>
            <a:tailEnd/>
          </a:ln>
          <a:effectLst/>
        </p:spPr>
      </p:pic>
    </p:spTree>
    <p:extLst>
      <p:ext uri="{BB962C8B-B14F-4D97-AF65-F5344CB8AC3E}">
        <p14:creationId xmlns:p14="http://schemas.microsoft.com/office/powerpoint/2010/main" val="10538769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Grp="1" noChangeAspect="1" noChangeArrowheads="1"/>
          </p:cNvPicPr>
          <p:nvPr>
            <p:ph idx="1"/>
          </p:nvPr>
        </p:nvPicPr>
        <p:blipFill>
          <a:blip r:embed="rId2"/>
          <a:srcRect/>
          <a:stretch>
            <a:fillRect/>
          </a:stretch>
        </p:blipFill>
        <p:spPr bwMode="auto">
          <a:xfrm>
            <a:off x="274320" y="3330258"/>
            <a:ext cx="8305800" cy="3124200"/>
          </a:xfrm>
          <a:prstGeom prst="rect">
            <a:avLst/>
          </a:prstGeom>
          <a:noFill/>
          <a:ln w="9525">
            <a:noFill/>
            <a:miter lim="800000"/>
            <a:headEnd/>
            <a:tailEnd/>
          </a:ln>
          <a:effectLst/>
        </p:spPr>
      </p:pic>
      <p:pic>
        <p:nvPicPr>
          <p:cNvPr id="10242" name="Picture 2"/>
          <p:cNvPicPr>
            <a:picLocks noChangeAspect="1" noChangeArrowheads="1"/>
          </p:cNvPicPr>
          <p:nvPr/>
        </p:nvPicPr>
        <p:blipFill>
          <a:blip r:embed="rId3"/>
          <a:srcRect/>
          <a:stretch>
            <a:fillRect/>
          </a:stretch>
        </p:blipFill>
        <p:spPr bwMode="auto">
          <a:xfrm>
            <a:off x="289560" y="1029018"/>
            <a:ext cx="8382000" cy="2286000"/>
          </a:xfrm>
          <a:prstGeom prst="rect">
            <a:avLst/>
          </a:prstGeom>
          <a:noFill/>
          <a:ln w="9525">
            <a:noFill/>
            <a:miter lim="800000"/>
            <a:headEnd/>
            <a:tailEnd/>
          </a:ln>
          <a:effectLst/>
        </p:spPr>
      </p:pic>
    </p:spTree>
    <p:extLst>
      <p:ext uri="{BB962C8B-B14F-4D97-AF65-F5344CB8AC3E}">
        <p14:creationId xmlns:p14="http://schemas.microsoft.com/office/powerpoint/2010/main" val="833069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189" y="0"/>
            <a:ext cx="7886700" cy="914401"/>
          </a:xfrm>
        </p:spPr>
        <p:txBody>
          <a:bodyPr>
            <a:normAutofit fontScale="90000"/>
          </a:bodyPr>
          <a:lstStyle/>
          <a:p>
            <a:r>
              <a:rPr lang="en-US" sz="3600" dirty="0">
                <a:latin typeface="Times New Roman" panose="02020603050405020304" pitchFamily="18" charset="0"/>
                <a:cs typeface="Times New Roman" panose="02020603050405020304" pitchFamily="18" charset="0"/>
              </a:rPr>
              <a:t>Network operating system</a:t>
            </a:r>
            <a:r>
              <a:rPr lang="en-US" dirty="0"/>
              <a:t/>
            </a:r>
            <a:br>
              <a:rPr lang="en-US" dirty="0"/>
            </a:br>
            <a:endParaRPr lang="en-US" dirty="0"/>
          </a:p>
        </p:txBody>
      </p:sp>
      <p:sp>
        <p:nvSpPr>
          <p:cNvPr id="3" name="Content Placeholder 2"/>
          <p:cNvSpPr>
            <a:spLocks noGrp="1"/>
          </p:cNvSpPr>
          <p:nvPr>
            <p:ph idx="1"/>
          </p:nvPr>
        </p:nvSpPr>
        <p:spPr>
          <a:xfrm>
            <a:off x="0" y="457200"/>
            <a:ext cx="9144000" cy="5462954"/>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An Operating system, which includes software and associated protocols to communicate with other autonomous computers via a network conveniently and cost-effectively, is called Network Operating System. It allows devices like a disk, printers, etc., shared between </a:t>
            </a:r>
            <a:r>
              <a:rPr lang="en-US" sz="2400" dirty="0" smtClean="0">
                <a:latin typeface="Times New Roman" panose="02020603050405020304" pitchFamily="18" charset="0"/>
                <a:cs typeface="Times New Roman" panose="02020603050405020304" pitchFamily="18" charset="0"/>
              </a:rPr>
              <a:t>computers.</a:t>
            </a:r>
          </a:p>
          <a:p>
            <a:pPr marL="0" indent="0" algn="just">
              <a:buNone/>
            </a:pPr>
            <a:r>
              <a:rPr lang="en-US" sz="2400" b="1" dirty="0"/>
              <a:t>Client-Server Network Operating </a:t>
            </a:r>
            <a:r>
              <a:rPr lang="en-US" sz="2400" b="1" dirty="0" smtClean="0"/>
              <a:t>System</a:t>
            </a:r>
          </a:p>
          <a:p>
            <a:r>
              <a:rPr lang="en-US" sz="2400" dirty="0">
                <a:latin typeface="Times New Roman" panose="02020603050405020304" pitchFamily="18" charset="0"/>
                <a:cs typeface="Times New Roman" panose="02020603050405020304" pitchFamily="18" charset="0"/>
              </a:rPr>
              <a:t>In Client-Server systems, there are two broad categories of systems:</a:t>
            </a:r>
          </a:p>
          <a:p>
            <a:r>
              <a:rPr lang="en-US" sz="2400" dirty="0">
                <a:latin typeface="Times New Roman" panose="02020603050405020304" pitchFamily="18" charset="0"/>
                <a:cs typeface="Times New Roman" panose="02020603050405020304" pitchFamily="18" charset="0"/>
              </a:rPr>
              <a:t>The server is called the backend.</a:t>
            </a:r>
          </a:p>
          <a:p>
            <a:r>
              <a:rPr lang="en-US" sz="2400" dirty="0">
                <a:latin typeface="Times New Roman" panose="02020603050405020304" pitchFamily="18" charset="0"/>
                <a:cs typeface="Times New Roman" panose="02020603050405020304" pitchFamily="18" charset="0"/>
              </a:rPr>
              <a:t>A client called as frontend</a:t>
            </a:r>
            <a:r>
              <a:rPr lang="en-US" sz="2400" dirty="0" smtClean="0">
                <a:latin typeface="Times New Roman" panose="02020603050405020304" pitchFamily="18" charset="0"/>
                <a:cs typeface="Times New Roman" panose="02020603050405020304" pitchFamily="18" charset="0"/>
              </a:rPr>
              <a:t>.</a:t>
            </a: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pic>
        <p:nvPicPr>
          <p:cNvPr id="1026" name="Picture 2" descr="Network operat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5877" y="3188677"/>
            <a:ext cx="4822582" cy="3411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6156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189" y="0"/>
            <a:ext cx="7886700" cy="914401"/>
          </a:xfrm>
        </p:spPr>
        <p:txBody>
          <a:bodyPr>
            <a:normAutofit fontScale="90000"/>
          </a:bodyPr>
          <a:lstStyle/>
          <a:p>
            <a:r>
              <a:rPr lang="en-US" sz="3600" dirty="0">
                <a:latin typeface="Times New Roman" panose="02020603050405020304" pitchFamily="18" charset="0"/>
                <a:cs typeface="Times New Roman" panose="02020603050405020304" pitchFamily="18" charset="0"/>
              </a:rPr>
              <a:t>Network operating system</a:t>
            </a:r>
            <a:r>
              <a:rPr lang="en-US" dirty="0"/>
              <a:t/>
            </a:r>
            <a:br>
              <a:rPr lang="en-US" dirty="0"/>
            </a:br>
            <a:endParaRPr lang="en-US" dirty="0"/>
          </a:p>
        </p:txBody>
      </p:sp>
      <p:sp>
        <p:nvSpPr>
          <p:cNvPr id="3" name="Content Placeholder 2"/>
          <p:cNvSpPr>
            <a:spLocks noGrp="1"/>
          </p:cNvSpPr>
          <p:nvPr>
            <p:ph idx="1"/>
          </p:nvPr>
        </p:nvSpPr>
        <p:spPr>
          <a:xfrm>
            <a:off x="0" y="457200"/>
            <a:ext cx="9144000" cy="5462954"/>
          </a:xfrm>
        </p:spPr>
        <p:txBody>
          <a:bodyPr>
            <a:normAutofit/>
          </a:bodyPr>
          <a:lstStyle/>
          <a:p>
            <a:pPr marL="0" indent="0">
              <a:buNone/>
            </a:pPr>
            <a:r>
              <a:rPr lang="en-US" sz="2400" b="1" dirty="0"/>
              <a:t>Advantages of Client-Server Network Operating </a:t>
            </a:r>
            <a:r>
              <a:rPr lang="en-US" sz="2400" b="1" dirty="0" smtClean="0"/>
              <a:t>System</a:t>
            </a:r>
          </a:p>
          <a:p>
            <a:r>
              <a:rPr lang="en-US" sz="2400" b="1" dirty="0" smtClean="0"/>
              <a:t>The servers are highly stable and centralized</a:t>
            </a:r>
          </a:p>
          <a:p>
            <a:r>
              <a:rPr lang="en-US" sz="2400" b="1" dirty="0" smtClean="0"/>
              <a:t>Servers handle security concerns</a:t>
            </a:r>
          </a:p>
          <a:p>
            <a:r>
              <a:rPr lang="en-US" sz="2400" b="1" dirty="0" smtClean="0"/>
              <a:t>Up-gradation is easy </a:t>
            </a:r>
          </a:p>
          <a:p>
            <a:pPr marL="0" indent="0">
              <a:buNone/>
            </a:pPr>
            <a:r>
              <a:rPr lang="en-US" sz="2400" b="1" dirty="0" smtClean="0"/>
              <a:t>Disadvantages</a:t>
            </a:r>
          </a:p>
          <a:p>
            <a:r>
              <a:rPr lang="en-US" sz="2400" b="1" dirty="0" smtClean="0"/>
              <a:t>Costly servers</a:t>
            </a:r>
          </a:p>
          <a:p>
            <a:r>
              <a:rPr lang="en-US" sz="2400" b="1" dirty="0" smtClean="0"/>
              <a:t>Dependent on central location</a:t>
            </a:r>
          </a:p>
          <a:p>
            <a:r>
              <a:rPr lang="en-US" sz="2400" b="1" dirty="0" smtClean="0"/>
              <a:t>Regular update and maintenance require</a:t>
            </a:r>
          </a:p>
          <a:p>
            <a:endParaRPr lang="en-US" sz="2400" dirty="0"/>
          </a:p>
          <a:p>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09844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189" y="0"/>
            <a:ext cx="7886700" cy="914401"/>
          </a:xfrm>
        </p:spPr>
        <p:txBody>
          <a:bodyPr>
            <a:normAutofit fontScale="90000"/>
          </a:bodyPr>
          <a:lstStyle/>
          <a:p>
            <a:r>
              <a:rPr lang="en-US" sz="3600" dirty="0">
                <a:latin typeface="Times New Roman" panose="02020603050405020304" pitchFamily="18" charset="0"/>
                <a:cs typeface="Times New Roman" panose="02020603050405020304" pitchFamily="18" charset="0"/>
              </a:rPr>
              <a:t>Network operating system</a:t>
            </a:r>
            <a:r>
              <a:rPr lang="en-US" dirty="0"/>
              <a:t/>
            </a:r>
            <a:br>
              <a:rPr lang="en-US" dirty="0"/>
            </a:br>
            <a:endParaRPr lang="en-US" dirty="0"/>
          </a:p>
        </p:txBody>
      </p:sp>
      <p:sp>
        <p:nvSpPr>
          <p:cNvPr id="3" name="Content Placeholder 2"/>
          <p:cNvSpPr>
            <a:spLocks noGrp="1"/>
          </p:cNvSpPr>
          <p:nvPr>
            <p:ph idx="1"/>
          </p:nvPr>
        </p:nvSpPr>
        <p:spPr>
          <a:xfrm>
            <a:off x="0" y="304800"/>
            <a:ext cx="9144000" cy="5462954"/>
          </a:xfrm>
        </p:spPr>
        <p:txBody>
          <a:bodyPr>
            <a:normAutofit/>
          </a:bodyPr>
          <a:lstStyle/>
          <a:p>
            <a:pPr marL="0" indent="0">
              <a:buNone/>
            </a:pPr>
            <a:r>
              <a:rPr lang="en-US" sz="2400" b="1" dirty="0"/>
              <a:t>Peer-to-Peer Networks</a:t>
            </a:r>
          </a:p>
          <a:p>
            <a:pPr marL="0" indent="0">
              <a:buNone/>
            </a:pPr>
            <a:r>
              <a:rPr lang="en-US" sz="2400" dirty="0">
                <a:latin typeface="Times New Roman" panose="02020603050405020304" pitchFamily="18" charset="0"/>
                <a:cs typeface="Times New Roman" panose="02020603050405020304" pitchFamily="18" charset="0"/>
              </a:rPr>
              <a:t>In a peer to peer network each computer can not act as both a server and a client.</a:t>
            </a:r>
            <a:r>
              <a:rPr lang="en-US" sz="2400" b="1" dirty="0"/>
              <a:t>    </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pic>
        <p:nvPicPr>
          <p:cNvPr id="2050" name="Picture 2" descr="Peer to Peer Relationsh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281" y="1959219"/>
            <a:ext cx="4676775" cy="3409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1635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189" y="0"/>
            <a:ext cx="7886700" cy="914401"/>
          </a:xfrm>
        </p:spPr>
        <p:txBody>
          <a:bodyPr>
            <a:normAutofit fontScale="90000"/>
          </a:bodyPr>
          <a:lstStyle/>
          <a:p>
            <a:r>
              <a:rPr lang="en-US" sz="3600" dirty="0">
                <a:latin typeface="Times New Roman" panose="02020603050405020304" pitchFamily="18" charset="0"/>
                <a:cs typeface="Times New Roman" panose="02020603050405020304" pitchFamily="18" charset="0"/>
              </a:rPr>
              <a:t>Network operating system</a:t>
            </a:r>
            <a:r>
              <a:rPr lang="en-US" dirty="0"/>
              <a:t/>
            </a:r>
            <a:br>
              <a:rPr lang="en-US" dirty="0"/>
            </a:br>
            <a:endParaRPr lang="en-US" dirty="0"/>
          </a:p>
        </p:txBody>
      </p:sp>
      <p:sp>
        <p:nvSpPr>
          <p:cNvPr id="3" name="Content Placeholder 2"/>
          <p:cNvSpPr>
            <a:spLocks noGrp="1"/>
          </p:cNvSpPr>
          <p:nvPr>
            <p:ph idx="1"/>
          </p:nvPr>
        </p:nvSpPr>
        <p:spPr>
          <a:xfrm>
            <a:off x="0" y="304800"/>
            <a:ext cx="9144000" cy="5462954"/>
          </a:xfrm>
        </p:spPr>
        <p:txBody>
          <a:bodyPr>
            <a:normAutofit/>
          </a:bodyPr>
          <a:lstStyle/>
          <a:p>
            <a:pPr marL="0" indent="0">
              <a:buNone/>
            </a:pPr>
            <a:r>
              <a:rPr lang="en-US" sz="2400" b="1" dirty="0"/>
              <a:t>Advantages of Peer to Peer Networks </a:t>
            </a:r>
            <a:br>
              <a:rPr lang="en-US" sz="2400" b="1" dirty="0"/>
            </a:br>
            <a:endParaRPr lang="en-US" sz="2400" b="1" dirty="0"/>
          </a:p>
          <a:p>
            <a:r>
              <a:rPr lang="en-US" sz="2400" dirty="0"/>
              <a:t>Peer to peer networks have following </a:t>
            </a:r>
            <a:r>
              <a:rPr lang="en-US" sz="2400" dirty="0" smtClean="0"/>
              <a:t>advantages</a:t>
            </a:r>
            <a:endParaRPr lang="en-US" sz="2400" dirty="0"/>
          </a:p>
          <a:p>
            <a:r>
              <a:rPr lang="en-US" sz="2400" dirty="0"/>
              <a:t>1. Such networks are easy to set up and maintain as each computer manages itself.</a:t>
            </a:r>
          </a:p>
          <a:p>
            <a:r>
              <a:rPr lang="en-US" sz="2400" dirty="0"/>
              <a:t>2. It eliminates extra cost required in setting up the server.</a:t>
            </a:r>
          </a:p>
          <a:p>
            <a:r>
              <a:rPr lang="en-US" sz="2400" dirty="0"/>
              <a:t>3. Since each device is master of its own, they an: not dependent on other computers for their operations.</a:t>
            </a:r>
          </a:p>
          <a:p>
            <a:pPr marL="0" indent="0">
              <a:buNone/>
            </a:pPr>
            <a:endParaRPr lang="en-US" sz="2400" b="1" dirty="0"/>
          </a:p>
          <a:p>
            <a:pPr marL="0" indent="0">
              <a:buNone/>
            </a:pPr>
            <a:r>
              <a:rPr lang="en-US" sz="2400" b="1" dirty="0"/>
              <a:t>  </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035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2800" dirty="0" smtClean="0">
                <a:latin typeface="Times New Roman" panose="02020603050405020304" pitchFamily="18" charset="0"/>
                <a:cs typeface="Times New Roman" panose="02020603050405020304" pitchFamily="18" charset="0"/>
              </a:rPr>
              <a:t>Communication in Distributed System</a:t>
            </a:r>
            <a:endParaRPr lang="th-TH" sz="2800" dirty="0">
              <a:latin typeface="Times New Roman" panose="02020603050405020304" pitchFamily="18" charset="0"/>
            </a:endParaRPr>
          </a:p>
        </p:txBody>
      </p:sp>
      <p:pic>
        <p:nvPicPr>
          <p:cNvPr id="1026" name="Picture 2"/>
          <p:cNvPicPr>
            <a:picLocks noGrp="1" noChangeAspect="1" noChangeArrowheads="1"/>
          </p:cNvPicPr>
          <p:nvPr>
            <p:ph idx="1"/>
          </p:nvPr>
        </p:nvPicPr>
        <p:blipFill>
          <a:blip r:embed="rId2"/>
          <a:srcRect/>
          <a:stretch>
            <a:fillRect/>
          </a:stretch>
        </p:blipFill>
        <p:spPr bwMode="auto">
          <a:xfrm>
            <a:off x="519098" y="1661795"/>
            <a:ext cx="8077199" cy="5029200"/>
          </a:xfrm>
          <a:prstGeom prst="rect">
            <a:avLst/>
          </a:prstGeom>
          <a:noFill/>
          <a:ln w="9525">
            <a:noFill/>
            <a:miter lim="800000"/>
            <a:headEnd/>
            <a:tailEnd/>
          </a:ln>
          <a:effectLst/>
        </p:spPr>
      </p:pic>
    </p:spTree>
    <p:extLst>
      <p:ext uri="{BB962C8B-B14F-4D97-AF65-F5344CB8AC3E}">
        <p14:creationId xmlns:p14="http://schemas.microsoft.com/office/powerpoint/2010/main" val="32741105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2800" dirty="0" smtClean="0">
                <a:latin typeface="Times New Roman" panose="02020603050405020304" pitchFamily="18" charset="0"/>
                <a:cs typeface="Times New Roman" panose="02020603050405020304" pitchFamily="18" charset="0"/>
              </a:rPr>
              <a:t>Communication in Distributed System</a:t>
            </a:r>
            <a:endParaRPr lang="th-TH" sz="2800" dirty="0">
              <a:latin typeface="Times New Roman" panose="02020603050405020304" pitchFamily="18" charset="0"/>
            </a:endParaRPr>
          </a:p>
        </p:txBody>
      </p:sp>
      <p:pic>
        <p:nvPicPr>
          <p:cNvPr id="2050" name="Picture 2"/>
          <p:cNvPicPr>
            <a:picLocks noChangeAspect="1" noChangeArrowheads="1"/>
          </p:cNvPicPr>
          <p:nvPr/>
        </p:nvPicPr>
        <p:blipFill>
          <a:blip r:embed="rId2"/>
          <a:srcRect/>
          <a:stretch>
            <a:fillRect/>
          </a:stretch>
        </p:blipFill>
        <p:spPr bwMode="auto">
          <a:xfrm>
            <a:off x="443836" y="1437481"/>
            <a:ext cx="8458199" cy="4776787"/>
          </a:xfrm>
          <a:prstGeom prst="rect">
            <a:avLst/>
          </a:prstGeom>
          <a:noFill/>
          <a:ln w="9525">
            <a:noFill/>
            <a:miter lim="800000"/>
            <a:headEnd/>
            <a:tailEnd/>
          </a:ln>
          <a:effectLst/>
        </p:spPr>
      </p:pic>
    </p:spTree>
    <p:extLst>
      <p:ext uri="{BB962C8B-B14F-4D97-AF65-F5344CB8AC3E}">
        <p14:creationId xmlns:p14="http://schemas.microsoft.com/office/powerpoint/2010/main" val="21706210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2800" dirty="0" smtClean="0">
                <a:latin typeface="Times New Roman" panose="02020603050405020304" pitchFamily="18" charset="0"/>
                <a:cs typeface="Times New Roman" panose="02020603050405020304" pitchFamily="18" charset="0"/>
              </a:rPr>
              <a:t>Communication in Distributed System</a:t>
            </a:r>
            <a:endParaRPr lang="th-TH" sz="2800" dirty="0">
              <a:latin typeface="Times New Roman" panose="02020603050405020304" pitchFamily="18" charset="0"/>
            </a:endParaRPr>
          </a:p>
        </p:txBody>
      </p:sp>
      <p:pic>
        <p:nvPicPr>
          <p:cNvPr id="3074" name="Picture 2"/>
          <p:cNvPicPr>
            <a:picLocks noChangeAspect="1" noChangeArrowheads="1"/>
          </p:cNvPicPr>
          <p:nvPr/>
        </p:nvPicPr>
        <p:blipFill>
          <a:blip r:embed="rId2"/>
          <a:srcRect/>
          <a:stretch>
            <a:fillRect/>
          </a:stretch>
        </p:blipFill>
        <p:spPr bwMode="auto">
          <a:xfrm>
            <a:off x="290498" y="1327150"/>
            <a:ext cx="8534400" cy="5029200"/>
          </a:xfrm>
          <a:prstGeom prst="rect">
            <a:avLst/>
          </a:prstGeom>
          <a:noFill/>
          <a:ln w="9525">
            <a:noFill/>
            <a:miter lim="800000"/>
            <a:headEnd/>
            <a:tailEnd/>
          </a:ln>
          <a:effectLst/>
        </p:spPr>
      </p:pic>
    </p:spTree>
    <p:extLst>
      <p:ext uri="{BB962C8B-B14F-4D97-AF65-F5344CB8AC3E}">
        <p14:creationId xmlns:p14="http://schemas.microsoft.com/office/powerpoint/2010/main" val="22116033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3600" dirty="0" smtClean="0"/>
              <a:t>Communication in Distributed System</a:t>
            </a:r>
            <a:br>
              <a:rPr lang="en-US" sz="3600" dirty="0" smtClean="0"/>
            </a:br>
            <a:r>
              <a:rPr lang="en-US" sz="3600" dirty="0" smtClean="0"/>
              <a:t>IPC (Inter </a:t>
            </a:r>
            <a:r>
              <a:rPr lang="en-US" sz="3600" dirty="0" err="1" smtClean="0"/>
              <a:t>Processs</a:t>
            </a:r>
            <a:r>
              <a:rPr lang="en-US" sz="3600" dirty="0" smtClean="0"/>
              <a:t> Communication)</a:t>
            </a:r>
            <a:endParaRPr lang="th-TH" sz="3600" dirty="0"/>
          </a:p>
        </p:txBody>
      </p:sp>
      <p:pic>
        <p:nvPicPr>
          <p:cNvPr id="9219" name="Picture 3" descr="D:\books of Bsc.Csit\3rd sem\Mechi BCA OS\IPC in Distributed system\Capture2.JPG"/>
          <p:cNvPicPr>
            <a:picLocks noGrp="1" noChangeAspect="1" noChangeArrowheads="1"/>
          </p:cNvPicPr>
          <p:nvPr>
            <p:ph idx="1"/>
          </p:nvPr>
        </p:nvPicPr>
        <p:blipFill>
          <a:blip r:embed="rId2"/>
          <a:stretch>
            <a:fillRect/>
          </a:stretch>
        </p:blipFill>
        <p:spPr bwMode="auto">
          <a:xfrm>
            <a:off x="1709737" y="2153444"/>
            <a:ext cx="5724525" cy="3695700"/>
          </a:xfrm>
          <a:prstGeom prst="rect">
            <a:avLst/>
          </a:prstGeom>
          <a:noFill/>
        </p:spPr>
      </p:pic>
      <p:pic>
        <p:nvPicPr>
          <p:cNvPr id="9218" name="Picture 2" descr="D:\books of Bsc.Csit\3rd sem\Mechi BCA OS\IPC in Distributed system\Capture.JPG"/>
          <p:cNvPicPr>
            <a:picLocks noChangeAspect="1" noChangeArrowheads="1"/>
          </p:cNvPicPr>
          <p:nvPr/>
        </p:nvPicPr>
        <p:blipFill>
          <a:blip r:embed="rId3"/>
          <a:srcRect/>
          <a:stretch>
            <a:fillRect/>
          </a:stretch>
        </p:blipFill>
        <p:spPr bwMode="auto">
          <a:xfrm>
            <a:off x="459076" y="1295400"/>
            <a:ext cx="8305799" cy="2666999"/>
          </a:xfrm>
          <a:prstGeom prst="rect">
            <a:avLst/>
          </a:prstGeom>
          <a:noFill/>
        </p:spPr>
      </p:pic>
    </p:spTree>
    <p:extLst>
      <p:ext uri="{BB962C8B-B14F-4D97-AF65-F5344CB8AC3E}">
        <p14:creationId xmlns:p14="http://schemas.microsoft.com/office/powerpoint/2010/main" val="14807036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3600" dirty="0" smtClean="0"/>
              <a:t/>
            </a:r>
            <a:br>
              <a:rPr lang="en-US" sz="3600" dirty="0" smtClean="0"/>
            </a:br>
            <a:endParaRPr lang="th-TH" sz="3600" dirty="0"/>
          </a:p>
        </p:txBody>
      </p:sp>
      <p:pic>
        <p:nvPicPr>
          <p:cNvPr id="18434" name="Picture 2" descr="D:\books of Bsc.Csit\3rd sem\Mechi BCA OS\IPC in Distributed system\Message passsing\Capture.JPG"/>
          <p:cNvPicPr>
            <a:picLocks noChangeAspect="1" noChangeArrowheads="1"/>
          </p:cNvPicPr>
          <p:nvPr/>
        </p:nvPicPr>
        <p:blipFill>
          <a:blip r:embed="rId2"/>
          <a:srcRect/>
          <a:stretch>
            <a:fillRect/>
          </a:stretch>
        </p:blipFill>
        <p:spPr bwMode="auto">
          <a:xfrm>
            <a:off x="304800" y="854075"/>
            <a:ext cx="8382000" cy="5867400"/>
          </a:xfrm>
          <a:prstGeom prst="rect">
            <a:avLst/>
          </a:prstGeom>
          <a:noFill/>
        </p:spPr>
      </p:pic>
    </p:spTree>
    <p:extLst>
      <p:ext uri="{BB962C8B-B14F-4D97-AF65-F5344CB8AC3E}">
        <p14:creationId xmlns:p14="http://schemas.microsoft.com/office/powerpoint/2010/main" val="11462061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3600" dirty="0" smtClean="0"/>
              <a:t/>
            </a:r>
            <a:br>
              <a:rPr lang="en-US" sz="3600" dirty="0" smtClean="0"/>
            </a:br>
            <a:endParaRPr lang="th-TH" sz="3600" dirty="0"/>
          </a:p>
        </p:txBody>
      </p:sp>
      <p:pic>
        <p:nvPicPr>
          <p:cNvPr id="19458" name="Picture 2" descr="D:\books of Bsc.Csit\3rd sem\Mechi BCA OS\IPC in Distributed system\Message passsing\Capture2.JPG"/>
          <p:cNvPicPr>
            <a:picLocks noChangeAspect="1" noChangeArrowheads="1"/>
          </p:cNvPicPr>
          <p:nvPr/>
        </p:nvPicPr>
        <p:blipFill>
          <a:blip r:embed="rId2"/>
          <a:srcRect/>
          <a:stretch>
            <a:fillRect/>
          </a:stretch>
        </p:blipFill>
        <p:spPr bwMode="auto">
          <a:xfrm>
            <a:off x="328598" y="617220"/>
            <a:ext cx="8458200" cy="5867399"/>
          </a:xfrm>
          <a:prstGeom prst="rect">
            <a:avLst/>
          </a:prstGeom>
          <a:noFill/>
        </p:spPr>
      </p:pic>
    </p:spTree>
    <p:extLst>
      <p:ext uri="{BB962C8B-B14F-4D97-AF65-F5344CB8AC3E}">
        <p14:creationId xmlns:p14="http://schemas.microsoft.com/office/powerpoint/2010/main" val="29209625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3600" dirty="0" smtClean="0"/>
              <a:t/>
            </a:r>
            <a:br>
              <a:rPr lang="en-US" sz="3600" dirty="0" smtClean="0"/>
            </a:br>
            <a:endParaRPr lang="th-TH" sz="3600" dirty="0"/>
          </a:p>
        </p:txBody>
      </p:sp>
      <p:pic>
        <p:nvPicPr>
          <p:cNvPr id="20482" name="Picture 2" descr="D:\books of Bsc.Csit\3rd sem\Mechi BCA OS\IPC in Distributed system\Message passsing\Capture3.JPG"/>
          <p:cNvPicPr>
            <a:picLocks noChangeAspect="1" noChangeArrowheads="1"/>
          </p:cNvPicPr>
          <p:nvPr/>
        </p:nvPicPr>
        <p:blipFill>
          <a:blip r:embed="rId2"/>
          <a:srcRect/>
          <a:stretch>
            <a:fillRect/>
          </a:stretch>
        </p:blipFill>
        <p:spPr bwMode="auto">
          <a:xfrm>
            <a:off x="381000" y="930275"/>
            <a:ext cx="8305800" cy="5791200"/>
          </a:xfrm>
          <a:prstGeom prst="rect">
            <a:avLst/>
          </a:prstGeom>
          <a:noFill/>
        </p:spPr>
      </p:pic>
    </p:spTree>
    <p:extLst>
      <p:ext uri="{BB962C8B-B14F-4D97-AF65-F5344CB8AC3E}">
        <p14:creationId xmlns:p14="http://schemas.microsoft.com/office/powerpoint/2010/main" val="38066221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3600" dirty="0" smtClean="0"/>
              <a:t/>
            </a:r>
            <a:br>
              <a:rPr lang="en-US" sz="3600" dirty="0" smtClean="0"/>
            </a:br>
            <a:endParaRPr lang="th-TH" sz="3600" dirty="0"/>
          </a:p>
        </p:txBody>
      </p:sp>
      <p:pic>
        <p:nvPicPr>
          <p:cNvPr id="21506" name="Picture 2" descr="D:\books of Bsc.Csit\3rd sem\Mechi BCA OS\IPC in Distributed system\Message passsing\Capture4.JPG"/>
          <p:cNvPicPr>
            <a:picLocks noChangeAspect="1" noChangeArrowheads="1"/>
          </p:cNvPicPr>
          <p:nvPr/>
        </p:nvPicPr>
        <p:blipFill>
          <a:blip r:embed="rId2"/>
          <a:srcRect/>
          <a:stretch>
            <a:fillRect/>
          </a:stretch>
        </p:blipFill>
        <p:spPr bwMode="auto">
          <a:xfrm>
            <a:off x="413356" y="565150"/>
            <a:ext cx="8229600" cy="5791200"/>
          </a:xfrm>
          <a:prstGeom prst="rect">
            <a:avLst/>
          </a:prstGeom>
          <a:noFill/>
        </p:spPr>
      </p:pic>
    </p:spTree>
    <p:extLst>
      <p:ext uri="{BB962C8B-B14F-4D97-AF65-F5344CB8AC3E}">
        <p14:creationId xmlns:p14="http://schemas.microsoft.com/office/powerpoint/2010/main" val="17470288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295400"/>
          </a:xfrm>
        </p:spPr>
        <p:txBody>
          <a:bodyPr>
            <a:normAutofit/>
          </a:bodyPr>
          <a:lstStyle/>
          <a:p>
            <a:pPr algn="ctr"/>
            <a:r>
              <a:rPr lang="en-US" sz="3600" dirty="0" smtClean="0"/>
              <a:t/>
            </a:r>
            <a:br>
              <a:rPr lang="en-US" sz="3600" dirty="0" smtClean="0"/>
            </a:br>
            <a:endParaRPr lang="th-TH" sz="3600" dirty="0"/>
          </a:p>
        </p:txBody>
      </p:sp>
      <p:pic>
        <p:nvPicPr>
          <p:cNvPr id="22530" name="Picture 2" descr="D:\books of Bsc.Csit\3rd sem\Mechi BCA OS\IPC in Distributed system\Message passsing\Capture5.JPG"/>
          <p:cNvPicPr>
            <a:picLocks noChangeAspect="1" noChangeArrowheads="1"/>
          </p:cNvPicPr>
          <p:nvPr/>
        </p:nvPicPr>
        <p:blipFill>
          <a:blip r:embed="rId2"/>
          <a:srcRect/>
          <a:stretch>
            <a:fillRect/>
          </a:stretch>
        </p:blipFill>
        <p:spPr bwMode="auto">
          <a:xfrm>
            <a:off x="428596" y="838835"/>
            <a:ext cx="8458200" cy="5943600"/>
          </a:xfrm>
          <a:prstGeom prst="rect">
            <a:avLst/>
          </a:prstGeom>
          <a:noFill/>
        </p:spPr>
      </p:pic>
    </p:spTree>
    <p:extLst>
      <p:ext uri="{BB962C8B-B14F-4D97-AF65-F5344CB8AC3E}">
        <p14:creationId xmlns:p14="http://schemas.microsoft.com/office/powerpoint/2010/main" val="12152350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76200" y="670560"/>
            <a:ext cx="8610600" cy="6172200"/>
          </a:xfrm>
          <a:prstGeom prst="rect">
            <a:avLst/>
          </a:prstGeom>
          <a:noFill/>
          <a:ln w="9525">
            <a:noFill/>
            <a:miter lim="800000"/>
            <a:headEnd/>
            <a:tailEnd/>
          </a:ln>
          <a:effectLst/>
        </p:spPr>
      </p:pic>
    </p:spTree>
    <p:extLst>
      <p:ext uri="{BB962C8B-B14F-4D97-AF65-F5344CB8AC3E}">
        <p14:creationId xmlns:p14="http://schemas.microsoft.com/office/powerpoint/2010/main" val="10113021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457200" y="442912"/>
            <a:ext cx="8458200" cy="6096000"/>
          </a:xfrm>
          <a:prstGeom prst="rect">
            <a:avLst/>
          </a:prstGeom>
          <a:noFill/>
          <a:ln w="9525">
            <a:noFill/>
            <a:miter lim="800000"/>
            <a:headEnd/>
            <a:tailEnd/>
          </a:ln>
          <a:effectLst/>
        </p:spPr>
      </p:pic>
    </p:spTree>
    <p:extLst>
      <p:ext uri="{BB962C8B-B14F-4D97-AF65-F5344CB8AC3E}">
        <p14:creationId xmlns:p14="http://schemas.microsoft.com/office/powerpoint/2010/main" val="1541237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457200" y="685800"/>
            <a:ext cx="8458200" cy="6172200"/>
          </a:xfrm>
          <a:prstGeom prst="rect">
            <a:avLst/>
          </a:prstGeom>
          <a:noFill/>
          <a:ln w="9525">
            <a:noFill/>
            <a:miter lim="800000"/>
            <a:headEnd/>
            <a:tailEnd/>
          </a:ln>
          <a:effectLst/>
        </p:spPr>
      </p:pic>
    </p:spTree>
    <p:extLst>
      <p:ext uri="{BB962C8B-B14F-4D97-AF65-F5344CB8AC3E}">
        <p14:creationId xmlns:p14="http://schemas.microsoft.com/office/powerpoint/2010/main" val="11194950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533400" y="701675"/>
            <a:ext cx="8382000" cy="6019800"/>
          </a:xfrm>
          <a:prstGeom prst="rect">
            <a:avLst/>
          </a:prstGeom>
          <a:noFill/>
          <a:ln w="9525">
            <a:noFill/>
            <a:miter lim="800000"/>
            <a:headEnd/>
            <a:tailEnd/>
          </a:ln>
          <a:effectLst/>
        </p:spPr>
      </p:pic>
    </p:spTree>
    <p:extLst>
      <p:ext uri="{BB962C8B-B14F-4D97-AF65-F5344CB8AC3E}">
        <p14:creationId xmlns:p14="http://schemas.microsoft.com/office/powerpoint/2010/main" val="33168525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a:bodyPr>
          <a:lstStyle/>
          <a:p>
            <a:pPr algn="ctr"/>
            <a:r>
              <a:rPr lang="en-US" sz="3600" dirty="0" smtClean="0"/>
              <a:t>Clock Synchronization</a:t>
            </a:r>
            <a:endParaRPr lang="th-TH" sz="3600" dirty="0"/>
          </a:p>
        </p:txBody>
      </p:sp>
      <p:sp>
        <p:nvSpPr>
          <p:cNvPr id="6" name="Content Placeholder 5"/>
          <p:cNvSpPr>
            <a:spLocks noGrp="1"/>
          </p:cNvSpPr>
          <p:nvPr>
            <p:ph idx="1"/>
          </p:nvPr>
        </p:nvSpPr>
        <p:spPr>
          <a:xfrm>
            <a:off x="288680" y="934670"/>
            <a:ext cx="8855320" cy="5231667"/>
          </a:xfrm>
        </p:spPr>
        <p:txBody>
          <a:bodyPr>
            <a:normAutofit lnSpcReduction="10000"/>
          </a:bodyPr>
          <a:lstStyle/>
          <a:p>
            <a:pPr marL="0" indent="0" algn="just">
              <a:buNone/>
            </a:pPr>
            <a:r>
              <a:rPr lang="en-US" sz="2400" u="sng" dirty="0">
                <a:latin typeface="Times New Roman" panose="02020603050405020304" pitchFamily="18" charset="0"/>
                <a:cs typeface="Times New Roman" panose="02020603050405020304" pitchFamily="18" charset="0"/>
                <a:hlinkClick r:id="rId2"/>
              </a:rPr>
              <a:t>Distributed System</a:t>
            </a:r>
            <a:r>
              <a:rPr lang="en-US" sz="2400" dirty="0">
                <a:latin typeface="Times New Roman" panose="02020603050405020304" pitchFamily="18" charset="0"/>
                <a:cs typeface="Times New Roman" panose="02020603050405020304" pitchFamily="18" charset="0"/>
              </a:rPr>
              <a:t> is a collection of computers connected via the high speed communication network. In the distributed system, the hardware and software components communicate and coordinate their actions by message passing. Each node in distributed systems can share their resources with other nodes. So, there is need of proper allocation of resources to preserve the state of resources and help coordinate between the several </a:t>
            </a:r>
            <a:r>
              <a:rPr lang="en-US" sz="2400" dirty="0" smtClean="0">
                <a:latin typeface="Times New Roman" panose="02020603050405020304" pitchFamily="18" charset="0"/>
                <a:cs typeface="Times New Roman" panose="02020603050405020304" pitchFamily="18" charset="0"/>
              </a:rPr>
              <a:t>processes.</a:t>
            </a:r>
          </a:p>
          <a:p>
            <a:pPr algn="just" fontAlgn="base"/>
            <a:r>
              <a:rPr lang="en-US" sz="2400" dirty="0">
                <a:latin typeface="Times New Roman" panose="02020603050405020304" pitchFamily="18" charset="0"/>
                <a:cs typeface="Times New Roman" panose="02020603050405020304" pitchFamily="18" charset="0"/>
              </a:rPr>
              <a:t>The clock synchronization can be achieved by 2 ways: External and Internal Clock Synchronization.</a:t>
            </a:r>
          </a:p>
          <a:p>
            <a:pPr algn="just" fontAlgn="base"/>
            <a:r>
              <a:rPr lang="en-US" sz="2400" b="1" dirty="0">
                <a:latin typeface="Times New Roman" panose="02020603050405020304" pitchFamily="18" charset="0"/>
                <a:cs typeface="Times New Roman" panose="02020603050405020304" pitchFamily="18" charset="0"/>
              </a:rPr>
              <a:t>External clock synchronization</a:t>
            </a:r>
            <a:r>
              <a:rPr lang="en-US" sz="2400" dirty="0">
                <a:latin typeface="Times New Roman" panose="02020603050405020304" pitchFamily="18" charset="0"/>
                <a:cs typeface="Times New Roman" panose="02020603050405020304" pitchFamily="18" charset="0"/>
              </a:rPr>
              <a:t> is the one in which an external reference clock is present. It is used as a reference and the nodes in the system can set and adjust their time accordingly.</a:t>
            </a:r>
          </a:p>
          <a:p>
            <a:pPr algn="just" fontAlgn="base"/>
            <a:r>
              <a:rPr lang="en-US" sz="2400" b="1" dirty="0">
                <a:latin typeface="Times New Roman" panose="02020603050405020304" pitchFamily="18" charset="0"/>
                <a:cs typeface="Times New Roman" panose="02020603050405020304" pitchFamily="18" charset="0"/>
              </a:rPr>
              <a:t>Internal clock synchronization</a:t>
            </a:r>
            <a:r>
              <a:rPr lang="en-US" sz="2400" dirty="0">
                <a:latin typeface="Times New Roman" panose="02020603050405020304" pitchFamily="18" charset="0"/>
                <a:cs typeface="Times New Roman" panose="02020603050405020304" pitchFamily="18" charset="0"/>
              </a:rPr>
              <a:t> is the one in which each node shares its time with other nodes and all the nodes set and adjust their times accordingly.</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73997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58204" cy="1571612"/>
          </a:xfrm>
        </p:spPr>
        <p:txBody>
          <a:bodyPr>
            <a:normAutofit/>
          </a:bodyPr>
          <a:lstStyle/>
          <a:p>
            <a:pPr algn="ctr"/>
            <a:r>
              <a:rPr lang="en-US" sz="3600" dirty="0" smtClean="0"/>
              <a:t>Clock Synchronization</a:t>
            </a:r>
            <a:endParaRPr lang="th-TH" sz="3600" dirty="0"/>
          </a:p>
        </p:txBody>
      </p:sp>
      <p:sp>
        <p:nvSpPr>
          <p:cNvPr id="6" name="Content Placeholder 5"/>
          <p:cNvSpPr>
            <a:spLocks noGrp="1"/>
          </p:cNvSpPr>
          <p:nvPr>
            <p:ph idx="1"/>
          </p:nvPr>
        </p:nvSpPr>
        <p:spPr>
          <a:xfrm>
            <a:off x="288680" y="934670"/>
            <a:ext cx="8855320" cy="5231667"/>
          </a:xfrm>
        </p:spPr>
        <p:txBody>
          <a:bodyPr>
            <a:normAutofit/>
          </a:bodyPr>
          <a:lstStyle/>
          <a:p>
            <a:pPr algn="just" fontAlgn="base"/>
            <a:r>
              <a:rPr lang="en-US" sz="2400" b="1" dirty="0">
                <a:latin typeface="Times New Roman" panose="02020603050405020304" pitchFamily="18" charset="0"/>
                <a:cs typeface="Times New Roman" panose="02020603050405020304" pitchFamily="18" charset="0"/>
              </a:rPr>
              <a:t>Centralized</a:t>
            </a:r>
            <a:r>
              <a:rPr lang="en-US" sz="2400" dirty="0">
                <a:latin typeface="Times New Roman" panose="02020603050405020304" pitchFamily="18" charset="0"/>
                <a:cs typeface="Times New Roman" panose="02020603050405020304" pitchFamily="18" charset="0"/>
              </a:rPr>
              <a:t> is the one in which a time server is used as a reference. The single time server propagates its time to the nodes and all the nodes adjust the time accordingly. It is dependent on single time server so if that node fails, the whole system will lose synchronization. Examples of centralized are- Berkeley Algorithm, Passive Time Server, Active Time Server etc.</a:t>
            </a:r>
          </a:p>
          <a:p>
            <a:pPr algn="just" fontAlgn="base"/>
            <a:r>
              <a:rPr lang="en-US" sz="2400" b="1" dirty="0">
                <a:latin typeface="Times New Roman" panose="02020603050405020304" pitchFamily="18" charset="0"/>
                <a:cs typeface="Times New Roman" panose="02020603050405020304" pitchFamily="18" charset="0"/>
              </a:rPr>
              <a:t>Distributed</a:t>
            </a:r>
            <a:r>
              <a:rPr lang="en-US" sz="2400" dirty="0">
                <a:latin typeface="Times New Roman" panose="02020603050405020304" pitchFamily="18" charset="0"/>
                <a:cs typeface="Times New Roman" panose="02020603050405020304" pitchFamily="18" charset="0"/>
              </a:rPr>
              <a:t> is the one in which there is no centralized time server present. Instead the nodes adjust their time by using their local time and then, taking the average of the differences of time with other nodes. Distributed algorithms overcome the issue of centralized algorithms like the scalability and single point failure.</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4451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8717</TotalTime>
  <Words>243</Words>
  <Application>Microsoft Office PowerPoint</Application>
  <PresentationFormat>On-screen Show (4:3)</PresentationFormat>
  <Paragraphs>61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Angsana New</vt:lpstr>
      <vt:lpstr>Times New Roman</vt:lpstr>
      <vt:lpstr>Calibri Light</vt:lpstr>
      <vt:lpstr>Arial</vt:lpstr>
      <vt:lpstr>Calibri</vt:lpstr>
      <vt:lpstr>Office Theme</vt:lpstr>
      <vt:lpstr>Distributed OS</vt:lpstr>
      <vt:lpstr>               </vt:lpstr>
      <vt:lpstr>PowerPoint Presentation</vt:lpstr>
      <vt:lpstr>                           I </vt:lpstr>
      <vt:lpstr>                           I </vt:lpstr>
      <vt:lpstr>                           I </vt:lpstr>
      <vt:lpstr>PowerPoint Presentation</vt:lpstr>
      <vt:lpstr>                           I </vt:lpstr>
      <vt:lpstr>                           I </vt:lpstr>
      <vt:lpstr>                           I </vt:lpstr>
      <vt:lpstr>                           I </vt:lpstr>
      <vt:lpstr>PowerPoint Presentation</vt:lpstr>
      <vt:lpstr>Network operating system </vt:lpstr>
      <vt:lpstr>Network operating system </vt:lpstr>
      <vt:lpstr>Network operating system </vt:lpstr>
      <vt:lpstr>Network operating system </vt:lpstr>
      <vt:lpstr>Communication in Distributed System</vt:lpstr>
      <vt:lpstr>Communication in Distributed System</vt:lpstr>
      <vt:lpstr>Communication in Distributed System</vt:lpstr>
      <vt:lpstr>Communication in Distributed System IPC (Inter Processs Communication)</vt:lpstr>
      <vt:lpstr> </vt:lpstr>
      <vt:lpstr> </vt:lpstr>
      <vt:lpstr> </vt:lpstr>
      <vt:lpstr> </vt:lpstr>
      <vt:lpstr> </vt:lpstr>
      <vt:lpstr>PowerPoint Presentation</vt:lpstr>
      <vt:lpstr>PowerPoint Presentation</vt:lpstr>
      <vt:lpstr>PowerPoint Presentation</vt:lpstr>
      <vt:lpstr>PowerPoint Presentation</vt:lpstr>
      <vt:lpstr>Clock Synchronization</vt:lpstr>
      <vt:lpstr>Clock Synchronization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Nabaraj</dc:creator>
  <cp:lastModifiedBy>arjun</cp:lastModifiedBy>
  <cp:revision>3353</cp:revision>
  <dcterms:modified xsi:type="dcterms:W3CDTF">2022-03-26T14:00:30Z</dcterms:modified>
</cp:coreProperties>
</file>