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61" r:id="rId11"/>
    <p:sldId id="262" r:id="rId12"/>
    <p:sldId id="263" r:id="rId13"/>
    <p:sldId id="266" r:id="rId14"/>
    <p:sldId id="267" r:id="rId15"/>
    <p:sldId id="273" r:id="rId16"/>
    <p:sldId id="274" r:id="rId17"/>
    <p:sldId id="279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Unit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Knowledge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02A8-960B-FC53-8982-F45738D3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Knowledge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9BBD8-99A6-11D6-C21F-4538ACDCC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Knowledge</a:t>
            </a:r>
            <a:r>
              <a:rPr lang="en-US" dirty="0"/>
              <a:t> means understanding or information about something based on facts, experience, learning, and interpretation.</a:t>
            </a:r>
          </a:p>
          <a:p>
            <a:r>
              <a:rPr lang="en-US" dirty="0"/>
              <a:t>Knowledge is </a:t>
            </a:r>
            <a:r>
              <a:rPr lang="en-US" b="1" dirty="0"/>
              <a:t>not just raw information</a:t>
            </a:r>
            <a:r>
              <a:rPr lang="en-US" dirty="0"/>
              <a:t>.</a:t>
            </a:r>
          </a:p>
          <a:p>
            <a:r>
              <a:rPr lang="en-US" dirty="0"/>
              <a:t>It is information that has been </a:t>
            </a:r>
            <a:r>
              <a:rPr lang="en-US" b="1" dirty="0"/>
              <a:t>understood, organized, and used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Knowing “Kathmandu is the capital of Nepal” is knowledge.</a:t>
            </a:r>
          </a:p>
          <a:p>
            <a:r>
              <a:rPr lang="en-US" dirty="0"/>
              <a:t>Knowing </a:t>
            </a:r>
            <a:r>
              <a:rPr lang="en-US" i="1" dirty="0"/>
              <a:t>how to solve a math problem</a:t>
            </a:r>
            <a:r>
              <a:rPr lang="en-US" dirty="0"/>
              <a:t> is also knowledge.</a:t>
            </a:r>
          </a:p>
          <a:p>
            <a:pPr marL="0" indent="0">
              <a:buNone/>
            </a:pPr>
            <a:r>
              <a:rPr lang="en-US" b="1" dirty="0"/>
              <a:t> Knowledge in AI</a:t>
            </a:r>
          </a:p>
          <a:p>
            <a:r>
              <a:rPr lang="en-US" dirty="0"/>
              <a:t>In Artificial Intelligence, knowledge includes:</a:t>
            </a:r>
          </a:p>
          <a:p>
            <a:r>
              <a:rPr lang="en-US" dirty="0"/>
              <a:t>Facts</a:t>
            </a:r>
          </a:p>
          <a:p>
            <a:r>
              <a:rPr lang="en-US" dirty="0"/>
              <a:t>Concepts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Experience</a:t>
            </a:r>
          </a:p>
          <a:p>
            <a:r>
              <a:rPr lang="en-US" dirty="0"/>
              <a:t>AI systems use this knowledge to </a:t>
            </a:r>
            <a:r>
              <a:rPr lang="en-US" b="1" dirty="0"/>
              <a:t>reason, make decisions, and solve problems</a:t>
            </a:r>
            <a:r>
              <a:rPr lang="en-US" dirty="0"/>
              <a:t>, similar to how humans think.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43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4E7C-0320-003A-062E-06466E82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Why Knowledge is Needed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174B5-6009-3CB6-5808-94BDDF638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20" y="1446246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6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6400" b="1" dirty="0"/>
              <a:t>Decision Making - </a:t>
            </a:r>
            <a:r>
              <a:rPr lang="en-US" sz="6400" dirty="0"/>
              <a:t>Knowledge helps AI systems make logical and informed decisions. Example: Medical AI uses medical knowledge to suggest treatments.</a:t>
            </a:r>
          </a:p>
          <a:p>
            <a:pPr marL="0" indent="0">
              <a:buNone/>
            </a:pPr>
            <a:endParaRPr lang="en-US" sz="6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6400" b="1" dirty="0"/>
              <a:t>Efficiency - </a:t>
            </a:r>
            <a:r>
              <a:rPr lang="en-US" sz="6400" dirty="0"/>
              <a:t>Well-organized knowledge makes problem solving faster and more accurate. Example: Search engines quickly give results because knowledge is structured.</a:t>
            </a:r>
          </a:p>
          <a:p>
            <a:pPr marL="0" indent="0">
              <a:buNone/>
            </a:pPr>
            <a:endParaRPr lang="en-US" sz="6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6400" b="1" dirty="0"/>
              <a:t>Learning - </a:t>
            </a:r>
            <a:r>
              <a:rPr lang="en-US" sz="6400" dirty="0"/>
              <a:t>AI can improve by learning from existing knowledge and past experiences. Example: Recommendation systems learn from user behavior.</a:t>
            </a:r>
          </a:p>
          <a:p>
            <a:pPr marL="0" indent="0">
              <a:buNone/>
            </a:pPr>
            <a:endParaRPr lang="en-US" sz="6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6400" b="1" dirty="0"/>
              <a:t> Communication - </a:t>
            </a:r>
            <a:r>
              <a:rPr lang="en-US" sz="6400" dirty="0"/>
              <a:t>Knowledge helps machines understand human language and instructions. Example: Chatbots answering questions.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384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3FE2-45DF-B067-69D9-8786C30E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0B7B-0575-F1A5-041C-A9B75ACB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B3B6C-45D1-8548-845E-B3ECB468C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96" y="2554630"/>
            <a:ext cx="6215855" cy="3383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FB67B6-4AAC-55D6-2C83-E1676871AB89}"/>
              </a:ext>
            </a:extLst>
          </p:cNvPr>
          <p:cNvSpPr txBox="1"/>
          <p:nvPr/>
        </p:nvSpPr>
        <p:spPr>
          <a:xfrm>
            <a:off x="838200" y="1488333"/>
            <a:ext cx="8646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diagram shows how humans and computers work together to solve a problem using knowledge.</a:t>
            </a:r>
          </a:p>
        </p:txBody>
      </p:sp>
    </p:spTree>
    <p:extLst>
      <p:ext uri="{BB962C8B-B14F-4D97-AF65-F5344CB8AC3E}">
        <p14:creationId xmlns:p14="http://schemas.microsoft.com/office/powerpoint/2010/main" val="16581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D387-845E-7483-AE09-7E001C08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50A9-CE62-F219-963E-B3010863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EEA70-C727-06B5-6346-DCA8FA1D6502}"/>
              </a:ext>
            </a:extLst>
          </p:cNvPr>
          <p:cNvSpPr txBox="1"/>
          <p:nvPr/>
        </p:nvSpPr>
        <p:spPr>
          <a:xfrm>
            <a:off x="838200" y="1488333"/>
            <a:ext cx="864626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Problem (Informal Stage)</a:t>
            </a:r>
          </a:p>
          <a:p>
            <a:r>
              <a:rPr lang="en-US" dirty="0"/>
              <a:t>First, a human describes a problem in </a:t>
            </a:r>
            <a:r>
              <a:rPr lang="en-US" b="1" dirty="0"/>
              <a:t>normal spoken language</a:t>
            </a:r>
            <a:r>
              <a:rPr lang="en-US" dirty="0"/>
              <a:t>.</a:t>
            </a:r>
          </a:p>
          <a:p>
            <a:r>
              <a:rPr lang="en-US" dirty="0"/>
              <a:t>Example: “Find the shortest path to reach college.”</a:t>
            </a:r>
          </a:p>
          <a:p>
            <a:r>
              <a:rPr lang="en-US" dirty="0"/>
              <a:t> This is called </a:t>
            </a:r>
            <a:r>
              <a:rPr lang="en-US" b="1" dirty="0"/>
              <a:t>informal knowledge</a:t>
            </a:r>
            <a:r>
              <a:rPr lang="en-US" dirty="0"/>
              <a:t> because it is easy for humans but not for computers.</a:t>
            </a:r>
          </a:p>
          <a:p>
            <a:br>
              <a:rPr lang="en-US" dirty="0"/>
            </a:br>
            <a:r>
              <a:rPr lang="en-US" b="1" dirty="0"/>
              <a:t>2. Representation (Formal Stage)</a:t>
            </a:r>
          </a:p>
          <a:p>
            <a:r>
              <a:rPr lang="en-US" dirty="0"/>
              <a:t>The problem must be converted into a </a:t>
            </a:r>
            <a:r>
              <a:rPr lang="en-US" b="1" dirty="0"/>
              <a:t>formal language</a:t>
            </a:r>
            <a:r>
              <a:rPr lang="en-US" dirty="0"/>
              <a:t> (rules, logic, symbols, data structures) so that a computer can understand.</a:t>
            </a:r>
          </a:p>
          <a:p>
            <a:r>
              <a:rPr lang="en-US" dirty="0"/>
              <a:t>Example: Roads = nodes, Distance = numbers, Map = graph</a:t>
            </a:r>
          </a:p>
          <a:p>
            <a:r>
              <a:rPr lang="en-US" dirty="0"/>
              <a:t>This step is called </a:t>
            </a:r>
            <a:r>
              <a:rPr lang="en-US" b="1" dirty="0"/>
              <a:t>knowledge representation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Compute</a:t>
            </a:r>
          </a:p>
          <a:p>
            <a:r>
              <a:rPr lang="en-US" dirty="0"/>
              <a:t>After the problem is represented formally:</a:t>
            </a:r>
          </a:p>
          <a:p>
            <a:r>
              <a:rPr lang="en-US" dirty="0"/>
              <a:t>The computer uses </a:t>
            </a:r>
            <a:r>
              <a:rPr lang="en-US" b="1" dirty="0"/>
              <a:t>algorithms</a:t>
            </a:r>
            <a:r>
              <a:rPr lang="en-US" dirty="0"/>
              <a:t>.</a:t>
            </a:r>
          </a:p>
          <a:p>
            <a:r>
              <a:rPr lang="en-US" dirty="0"/>
              <a:t>It processes the knowledge.</a:t>
            </a:r>
          </a:p>
          <a:p>
            <a:r>
              <a:rPr lang="en-US" dirty="0"/>
              <a:t>It calculates an answer.</a:t>
            </a:r>
          </a:p>
          <a:p>
            <a:r>
              <a:rPr lang="en-US" dirty="0"/>
              <a:t>Example: AI runs a shortest-path algorithm.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56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E20B-C0FE-E676-0105-C45674083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EB56-DCF4-DDC7-4626-80C8D75A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6FCDA-5323-2D50-1822-633C2A3B6F27}"/>
              </a:ext>
            </a:extLst>
          </p:cNvPr>
          <p:cNvSpPr txBox="1"/>
          <p:nvPr/>
        </p:nvSpPr>
        <p:spPr>
          <a:xfrm>
            <a:off x="838200" y="1488333"/>
            <a:ext cx="8646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Output</a:t>
            </a:r>
          </a:p>
          <a:p>
            <a:r>
              <a:rPr lang="en-US" dirty="0"/>
              <a:t>The computer produces a result in formal form.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Path A → B → C with distance 5 km.</a:t>
            </a:r>
          </a:p>
          <a:p>
            <a:endParaRPr lang="en-US" dirty="0"/>
          </a:p>
          <a:p>
            <a:r>
              <a:rPr lang="en-US" b="1" dirty="0"/>
              <a:t>5. Interpret (Back to Informal)</a:t>
            </a:r>
          </a:p>
          <a:p>
            <a:r>
              <a:rPr lang="en-US" dirty="0"/>
              <a:t>Finally, the output is converted into </a:t>
            </a:r>
            <a:r>
              <a:rPr lang="en-US" b="1" dirty="0"/>
              <a:t>human-understandable language</a:t>
            </a:r>
            <a:r>
              <a:rPr lang="en-US" dirty="0"/>
              <a:t>.</a:t>
            </a:r>
          </a:p>
          <a:p>
            <a:r>
              <a:rPr lang="en-US" dirty="0"/>
              <a:t>Example: “Take this road; it is the fastest route.”</a:t>
            </a:r>
          </a:p>
          <a:p>
            <a:r>
              <a:rPr lang="en-US" dirty="0"/>
              <a:t>So, the full flow is:</a:t>
            </a:r>
          </a:p>
          <a:p>
            <a:r>
              <a:rPr lang="en-US" b="1" dirty="0"/>
              <a:t>Problem → Representation → Compute → Output →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53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1F7F-F72F-866D-0D46-01D46CA4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Why Computer Needs Well-Defined 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7A87-BA88-D44C-C2B5-73370D6B7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757" y="1468876"/>
            <a:ext cx="10595043" cy="4844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Computers cannot guess meanings like humans. They need:</a:t>
            </a:r>
          </a:p>
          <a:p>
            <a:r>
              <a:rPr lang="en-US" sz="1800" dirty="0"/>
              <a:t>Clear rules</a:t>
            </a:r>
          </a:p>
          <a:p>
            <a:r>
              <a:rPr lang="en-US" sz="1800" dirty="0"/>
              <a:t>Exact structure</a:t>
            </a:r>
          </a:p>
          <a:p>
            <a:r>
              <a:rPr lang="en-US" sz="1800" dirty="0"/>
              <a:t>Logical representation</a:t>
            </a:r>
          </a:p>
          <a:p>
            <a:r>
              <a:rPr lang="en-US" sz="1800" dirty="0"/>
              <a:t>That’s why we convert: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Informal knowledge (human thinking) </a:t>
            </a:r>
            <a:r>
              <a:rPr lang="en-US" sz="1800" dirty="0"/>
              <a:t>➡ into  </a:t>
            </a:r>
            <a:r>
              <a:rPr lang="en-US" sz="1800" b="1" dirty="0"/>
              <a:t>Formal knowledge (computer language)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This process is also called:</a:t>
            </a:r>
          </a:p>
          <a:p>
            <a:r>
              <a:rPr lang="en-US" sz="1800" dirty="0"/>
              <a:t>Conversion of </a:t>
            </a:r>
            <a:r>
              <a:rPr lang="en-US" sz="1800" b="1" dirty="0"/>
              <a:t>implicit knowledge</a:t>
            </a:r>
            <a:r>
              <a:rPr lang="en-US" sz="1800" dirty="0"/>
              <a:t> (inside human mind) ➡ to </a:t>
            </a:r>
            <a:r>
              <a:rPr lang="en-US" sz="1800" b="1" dirty="0"/>
              <a:t>explicit knowledge</a:t>
            </a:r>
            <a:r>
              <a:rPr lang="en-US" sz="1800" dirty="0"/>
              <a:t> (clearly defined for computer).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632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F9FD-0C1C-8404-BA8A-698328E4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Knowledge Represented in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B259-7382-3B19-0C98-F49B7AB1B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1. Object Knowledge</a:t>
            </a:r>
          </a:p>
          <a:p>
            <a:r>
              <a:rPr lang="en-US" sz="1800" dirty="0"/>
              <a:t>Facts about things in the world.</a:t>
            </a:r>
          </a:p>
          <a:p>
            <a:r>
              <a:rPr lang="en-US" sz="1800" dirty="0"/>
              <a:t>Example: “A car has wheels and an engine.”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 2. Events</a:t>
            </a:r>
          </a:p>
          <a:p>
            <a:r>
              <a:rPr lang="en-US" sz="1800" dirty="0"/>
              <a:t>Actions or happenings.</a:t>
            </a:r>
          </a:p>
          <a:p>
            <a:r>
              <a:rPr lang="en-US" sz="1800" dirty="0"/>
              <a:t>Example: Driving a car, Rain falling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3. Performance Knowledge</a:t>
            </a:r>
          </a:p>
          <a:p>
            <a:r>
              <a:rPr lang="en-US" sz="1800" dirty="0"/>
              <a:t>Knowledge about </a:t>
            </a:r>
            <a:r>
              <a:rPr lang="en-US" sz="1800" b="1" dirty="0"/>
              <a:t>how to do something</a:t>
            </a:r>
            <a:r>
              <a:rPr lang="en-US" sz="1800" dirty="0"/>
              <a:t> (behavior or skills).</a:t>
            </a:r>
          </a:p>
          <a:p>
            <a:r>
              <a:rPr lang="en-US" sz="1800" dirty="0"/>
              <a:t>Example: Steps to drive a car, Procedure to solve a problem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938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569A-F62A-F44E-164A-8B34D0C6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B40B-8E40-85BF-29D0-26AEB9C3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Knowledge Represented in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45A5-D989-1D92-295C-215EAD87C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4. Meta-Knowledge</a:t>
            </a:r>
          </a:p>
          <a:p>
            <a:r>
              <a:rPr lang="en-US" sz="1800" dirty="0"/>
              <a:t>Knowledge about knowledge itself.</a:t>
            </a:r>
          </a:p>
          <a:p>
            <a:r>
              <a:rPr lang="en-US" sz="1800" dirty="0"/>
              <a:t>Example: Knowing which strategy works best, Understanding what we know or don’t know.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5. Facts</a:t>
            </a:r>
          </a:p>
          <a:p>
            <a:r>
              <a:rPr lang="en-US" sz="1800" dirty="0"/>
              <a:t>True statements about reality.</a:t>
            </a:r>
          </a:p>
          <a:p>
            <a:r>
              <a:rPr lang="en-US" sz="1800" dirty="0"/>
              <a:t>Example: “Kathmandu is the capital of Nepal.”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192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422B-2303-7774-AD6A-002E31C8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77D8-DF43-A7C0-1DD9-A3BDFE2ED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Declarative Knowledge — “Knowing WHAT”</a:t>
            </a:r>
          </a:p>
          <a:p>
            <a:r>
              <a:rPr lang="en-US" dirty="0"/>
              <a:t>Facts and descriptions about the world.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Kathmandu is the capital of Nepal.</a:t>
            </a:r>
          </a:p>
          <a:p>
            <a:r>
              <a:rPr lang="en-US" dirty="0"/>
              <a:t>Water boils at 100°C.</a:t>
            </a:r>
          </a:p>
          <a:p>
            <a:r>
              <a:rPr lang="en-US" dirty="0"/>
              <a:t> It answers </a:t>
            </a:r>
            <a:r>
              <a:rPr lang="en-US" b="1" dirty="0"/>
              <a:t>What is true?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805BF-0CE7-811B-9132-0E989F13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530" y="2719656"/>
            <a:ext cx="4174057" cy="344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9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E9069-B90F-8237-6351-4A24367A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7544-957B-BD71-A241-2AC70A90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Types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4D3F3-3CDB-40E2-3655-47DA1947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Structural Knowledge — “Knowing RELATIONSHIPS”</a:t>
            </a:r>
          </a:p>
          <a:p>
            <a:r>
              <a:rPr lang="en-US" dirty="0"/>
              <a:t>Shows how concepts are connected.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Tree → Plant → Living Organism</a:t>
            </a:r>
          </a:p>
          <a:p>
            <a:r>
              <a:rPr lang="en-US" dirty="0"/>
              <a:t>Company organizational hierarchy</a:t>
            </a:r>
          </a:p>
          <a:p>
            <a:r>
              <a:rPr lang="en-US" dirty="0"/>
              <a:t>It explains </a:t>
            </a:r>
            <a:r>
              <a:rPr lang="en-US" b="1" dirty="0"/>
              <a:t>how things relate to each other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ED83F-8FFB-FD13-6ED7-1A06270EB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906" y="3006385"/>
            <a:ext cx="4221167" cy="348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1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AF51-EE86-C0DA-201B-C8E004D1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0AFC-8479-AE2A-FFA6-14160EE8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A81A-9449-4D9A-46DD-5267B1077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Procedural Knowledge — “Knowing HOW”</a:t>
            </a:r>
          </a:p>
          <a:p>
            <a:r>
              <a:rPr lang="en-US" dirty="0"/>
              <a:t>Steps, rules, or methods to do something.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Riding a bicycle</a:t>
            </a:r>
          </a:p>
          <a:p>
            <a:r>
              <a:rPr lang="en-US" dirty="0"/>
              <a:t>Baking a cake</a:t>
            </a:r>
          </a:p>
          <a:p>
            <a:r>
              <a:rPr lang="en-US" dirty="0"/>
              <a:t>Solving equations</a:t>
            </a:r>
          </a:p>
          <a:p>
            <a:r>
              <a:rPr lang="en-US" dirty="0"/>
              <a:t> It answers </a:t>
            </a:r>
            <a:r>
              <a:rPr lang="en-US" b="1" dirty="0"/>
              <a:t>How to perform a task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71F0A-1953-C394-6FCA-AF1D85B51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045" y="2828112"/>
            <a:ext cx="4437006" cy="366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6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754B2-6597-F107-A24B-A726AE51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3D5E-9CAA-FF44-23E2-B3BD8C49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B32C-FE0A-8DA4-D021-C9E8F9EE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4. Meta Knowledge — “Knowledge about Knowledge”</a:t>
            </a:r>
          </a:p>
          <a:p>
            <a:r>
              <a:rPr lang="en-US" sz="2400" dirty="0"/>
              <a:t>Understanding how knowledge itself works.</a:t>
            </a:r>
          </a:p>
          <a:p>
            <a:r>
              <a:rPr lang="en-US" sz="2400" dirty="0"/>
              <a:t>Examples:</a:t>
            </a:r>
          </a:p>
          <a:p>
            <a:r>
              <a:rPr lang="en-US" sz="2400" dirty="0"/>
              <a:t>Knowing which learning strategy is best</a:t>
            </a:r>
          </a:p>
          <a:p>
            <a:r>
              <a:rPr lang="en-US" sz="2400" dirty="0"/>
              <a:t>Managing a knowledge database</a:t>
            </a:r>
          </a:p>
          <a:p>
            <a:r>
              <a:rPr lang="en-US" sz="2400" dirty="0"/>
              <a:t>It helps decide </a:t>
            </a:r>
            <a:r>
              <a:rPr lang="en-US" sz="2400" b="1" dirty="0"/>
              <a:t>how to use knowledge effectively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39D5E-1212-9A88-EBA1-1A81D64AB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841" y="2782111"/>
            <a:ext cx="3797178" cy="31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12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AECE-2C21-38C1-7C82-9005AC02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72AF-D68C-2383-1425-7E00BA2A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B7B6-3690-59AA-B231-21C03DCD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Heuristic Knowledge — “Smart Shortcuts”</a:t>
            </a:r>
          </a:p>
          <a:p>
            <a:r>
              <a:rPr lang="en-US" dirty="0"/>
              <a:t>Experience-based rules that help solve problems faster.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Choose shorter path first.</a:t>
            </a:r>
          </a:p>
          <a:p>
            <a:r>
              <a:rPr lang="en-US" dirty="0"/>
              <a:t>Focus on important exam topics.</a:t>
            </a:r>
          </a:p>
          <a:p>
            <a:r>
              <a:rPr lang="en-US" dirty="0"/>
              <a:t>Not always perfect but very useful.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B115BF-C370-EA4B-553B-C966D52B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192" y="3501957"/>
            <a:ext cx="4197612" cy="346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48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19AA8-98C4-A6C4-4A8A-48360C25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BAFC-865D-E09C-4E35-53A9FCED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Knowledge Representation (KR) System and its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8EAE9-C718-8268-AB60-2E9A3F58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Knowledge Representation (KR) is a core area of Artificial Intelligence that focuses on how knowledge about the real world can be formally structured so that machines can understand and reason with it.</a:t>
            </a:r>
          </a:p>
          <a:p>
            <a:r>
              <a:rPr lang="en-US" sz="2400" dirty="0"/>
              <a:t>It defines how knowledge is encoded inside intelligent systems.</a:t>
            </a:r>
          </a:p>
          <a:p>
            <a:r>
              <a:rPr lang="en-US" sz="2400" dirty="0"/>
              <a:t>It allows machines to perform reasoning such as:</a:t>
            </a:r>
          </a:p>
          <a:p>
            <a:pPr lvl="1"/>
            <a:r>
              <a:rPr lang="en-US" dirty="0"/>
              <a:t>Deduction</a:t>
            </a:r>
          </a:p>
          <a:p>
            <a:pPr lvl="1"/>
            <a:r>
              <a:rPr lang="en-US" dirty="0"/>
              <a:t>Decision-making</a:t>
            </a:r>
          </a:p>
          <a:p>
            <a:pPr lvl="1"/>
            <a:r>
              <a:rPr lang="en-US" dirty="0"/>
              <a:t>Problem solving</a:t>
            </a:r>
          </a:p>
          <a:p>
            <a:pPr lvl="1"/>
            <a:r>
              <a:rPr lang="en-US" dirty="0"/>
              <a:t>Drawing conclusions</a:t>
            </a:r>
          </a:p>
          <a:p>
            <a:r>
              <a:rPr lang="en-US" sz="2400" dirty="0"/>
              <a:t>In simple terms, KR is the bridge between human knowledge and machine reasoning.</a:t>
            </a:r>
          </a:p>
        </p:txBody>
      </p:sp>
    </p:spTree>
    <p:extLst>
      <p:ext uri="{BB962C8B-B14F-4D97-AF65-F5344CB8AC3E}">
        <p14:creationId xmlns:p14="http://schemas.microsoft.com/office/powerpoint/2010/main" val="3557318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DFA3-D7E0-3585-8148-3AF4CE189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Knowledge-Based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7C04-F43F-2442-4998-1E4F461B2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knowledge-based agent is an AI system that uses stored knowledge to perform tasks intelligently.</a:t>
            </a:r>
          </a:p>
          <a:p>
            <a:pPr marL="0" indent="0">
              <a:buNone/>
            </a:pPr>
            <a:r>
              <a:rPr lang="en-US" b="1" dirty="0"/>
              <a:t>Example Uses</a:t>
            </a:r>
          </a:p>
          <a:p>
            <a:r>
              <a:rPr lang="en-US" dirty="0"/>
              <a:t>Medicine (diagnosis systems)</a:t>
            </a:r>
          </a:p>
          <a:p>
            <a:r>
              <a:rPr lang="en-US" dirty="0"/>
              <a:t>Engineering (design systems)</a:t>
            </a:r>
          </a:p>
          <a:p>
            <a:r>
              <a:rPr lang="en-US" dirty="0"/>
              <a:t>Finance (decision support systems)</a:t>
            </a:r>
          </a:p>
          <a:p>
            <a:r>
              <a:rPr lang="en-US" dirty="0"/>
              <a:t>These agents analyze available knowledge and make logical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27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D5C0-95A1-406C-E35A-26B43235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9033-F6E5-72A1-4CE1-4A41536E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Architecture of knowledge-based agent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8DF03-1EC6-FBEE-1CAF-5ED1E77A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05" y="1690688"/>
            <a:ext cx="7254869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5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8929-0ABC-E22D-7A01-321A9B68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Components of a 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D9205-66D7-3499-42B9-9A9142FFC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knowledge-based agent consists of two main parts:</a:t>
            </a:r>
          </a:p>
          <a:p>
            <a:pPr marL="0" indent="0">
              <a:buNone/>
            </a:pPr>
            <a:r>
              <a:rPr lang="en-US" b="1" dirty="0"/>
              <a:t>A. Knowledge Base (KB)</a:t>
            </a:r>
          </a:p>
          <a:p>
            <a:r>
              <a:rPr lang="en-US" dirty="0"/>
              <a:t>The knowledge base is a structured collection of information used by the agent.</a:t>
            </a:r>
          </a:p>
          <a:p>
            <a:r>
              <a:rPr lang="en-US" dirty="0"/>
              <a:t>It may contain:</a:t>
            </a:r>
          </a:p>
          <a:p>
            <a:r>
              <a:rPr lang="en-US" dirty="0"/>
              <a:t>Explicit knowledge</a:t>
            </a:r>
          </a:p>
          <a:p>
            <a:pPr lvl="1"/>
            <a:r>
              <a:rPr lang="en-US" dirty="0"/>
              <a:t>Facts</a:t>
            </a:r>
          </a:p>
          <a:p>
            <a:pPr lvl="1"/>
            <a:r>
              <a:rPr lang="en-US" dirty="0"/>
              <a:t>Rules</a:t>
            </a:r>
          </a:p>
          <a:p>
            <a:pPr lvl="1"/>
            <a:r>
              <a:rPr lang="en-US" dirty="0"/>
              <a:t>Statements</a:t>
            </a:r>
          </a:p>
          <a:p>
            <a:r>
              <a:rPr lang="en-US" dirty="0"/>
              <a:t>Implicit knowledge</a:t>
            </a:r>
          </a:p>
          <a:p>
            <a:pPr lvl="1"/>
            <a:r>
              <a:rPr lang="en-US" dirty="0"/>
              <a:t>Relationships</a:t>
            </a:r>
          </a:p>
          <a:p>
            <a:pPr lvl="1"/>
            <a:r>
              <a:rPr lang="en-US" dirty="0"/>
              <a:t>Patterns</a:t>
            </a:r>
          </a:p>
          <a:p>
            <a:r>
              <a:rPr lang="en-US" dirty="0"/>
              <a:t>The knowledge base is typically stored in: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Logic structures</a:t>
            </a:r>
          </a:p>
          <a:p>
            <a:r>
              <a:rPr lang="en-US" dirty="0"/>
              <a:t>Semantic networks or ontologies (structured frameworks that define the concepts, relationships, and rules within a specific domain to help computers understand, interpret, and reason about data.)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47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BF15-585A-43C9-7593-7266DE1A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EE67-F787-78B1-57D2-0A55D3DB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Knowledge-Based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2A59-C243-8C2E-E259-734EE750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689"/>
            <a:ext cx="10515600" cy="48442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B. Inference System</a:t>
            </a:r>
          </a:p>
          <a:p>
            <a:r>
              <a:rPr lang="en-US" dirty="0"/>
              <a:t>The inference system is responsible for reasoning using the stored knowledge.</a:t>
            </a:r>
          </a:p>
          <a:p>
            <a:r>
              <a:rPr lang="en-US" dirty="0"/>
              <a:t>It performs logical operations to generate new information from existing facts.</a:t>
            </a:r>
          </a:p>
          <a:p>
            <a:pPr marL="0" indent="0">
              <a:buNone/>
            </a:pPr>
            <a:r>
              <a:rPr lang="en-US" b="1" dirty="0"/>
              <a:t>Common Reasoning Methods</a:t>
            </a:r>
          </a:p>
          <a:p>
            <a:r>
              <a:rPr lang="en-US" b="1" dirty="0"/>
              <a:t>Deduction</a:t>
            </a:r>
            <a:r>
              <a:rPr lang="en-US" dirty="0"/>
              <a:t> – deriving certain conclusions from rules.</a:t>
            </a:r>
          </a:p>
          <a:p>
            <a:r>
              <a:rPr lang="en-US" b="1" dirty="0"/>
              <a:t>Induction</a:t>
            </a:r>
            <a:r>
              <a:rPr lang="en-US" dirty="0"/>
              <a:t> – forming general rules from examples.</a:t>
            </a:r>
          </a:p>
          <a:p>
            <a:r>
              <a:rPr lang="en-US" b="1" dirty="0"/>
              <a:t>Abduction</a:t>
            </a:r>
            <a:r>
              <a:rPr lang="en-US" dirty="0"/>
              <a:t> – finding the most likely explanation.</a:t>
            </a:r>
          </a:p>
          <a:p>
            <a:r>
              <a:rPr lang="en-US" dirty="0"/>
              <a:t>The inference system updates the knowledge base by generating new facts.</a:t>
            </a:r>
          </a:p>
          <a:p>
            <a:pPr marL="0" indent="0">
              <a:buNone/>
            </a:pPr>
            <a:r>
              <a:rPr lang="en-US" b="1" dirty="0"/>
              <a:t>Main Reasoning Strategies</a:t>
            </a:r>
          </a:p>
          <a:p>
            <a:r>
              <a:rPr lang="en-US" b="1" dirty="0"/>
              <a:t>Forward Chaining</a:t>
            </a:r>
            <a:endParaRPr lang="en-US" dirty="0"/>
          </a:p>
          <a:p>
            <a:pPr lvl="1"/>
            <a:r>
              <a:rPr lang="en-US" dirty="0"/>
              <a:t>Starts from known facts.</a:t>
            </a:r>
          </a:p>
          <a:p>
            <a:pPr lvl="1"/>
            <a:r>
              <a:rPr lang="en-US" dirty="0"/>
              <a:t>Applies rules to produce new conclusions.</a:t>
            </a:r>
          </a:p>
          <a:p>
            <a:pPr lvl="1"/>
            <a:r>
              <a:rPr lang="en-US" dirty="0"/>
              <a:t>Data-driven approach.</a:t>
            </a:r>
          </a:p>
          <a:p>
            <a:r>
              <a:rPr lang="en-US" b="1" dirty="0"/>
              <a:t>Backward Chaining</a:t>
            </a:r>
            <a:endParaRPr lang="en-US" dirty="0"/>
          </a:p>
          <a:p>
            <a:pPr lvl="1"/>
            <a:r>
              <a:rPr lang="en-US" dirty="0"/>
              <a:t>Starts from a goal or hypothesis.</a:t>
            </a:r>
          </a:p>
          <a:p>
            <a:pPr lvl="1"/>
            <a:r>
              <a:rPr lang="en-US" dirty="0"/>
              <a:t>Works backward to verify supporting facts.</a:t>
            </a:r>
          </a:p>
          <a:p>
            <a:pPr lvl="1"/>
            <a:r>
              <a:rPr lang="en-US" dirty="0"/>
              <a:t>Goal-driven approach.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96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B802-83C5-F4ED-E49C-148E5324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Requirements of a Good Knowledge Representation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C43EF-FAF1-8B5C-D2DA-6B8DAF389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 strong KR system must satisfy several important properties:</a:t>
            </a:r>
          </a:p>
          <a:p>
            <a:pPr marL="0" indent="0">
              <a:buNone/>
            </a:pPr>
            <a:r>
              <a:rPr lang="en-US" b="1" dirty="0"/>
              <a:t>1. Representational Accuracy</a:t>
            </a:r>
          </a:p>
          <a:p>
            <a:r>
              <a:rPr lang="en-US" dirty="0"/>
              <a:t>Ability to represent all necessary knowledge correctly.</a:t>
            </a:r>
          </a:p>
          <a:p>
            <a:r>
              <a:rPr lang="en-US" dirty="0"/>
              <a:t>Should capture real-world concepts clearly.</a:t>
            </a:r>
          </a:p>
          <a:p>
            <a:pPr marL="0" indent="0">
              <a:buNone/>
            </a:pPr>
            <a:r>
              <a:rPr lang="en-US" b="1" dirty="0"/>
              <a:t>2. Inferential Adequacy</a:t>
            </a:r>
          </a:p>
          <a:p>
            <a:r>
              <a:rPr lang="en-US" dirty="0"/>
              <a:t>Capability to generate new knowledge from existing structures.</a:t>
            </a:r>
          </a:p>
          <a:p>
            <a:r>
              <a:rPr lang="en-US" dirty="0"/>
              <a:t>Supports reasoning and logical conclusions.</a:t>
            </a:r>
          </a:p>
          <a:p>
            <a:pPr marL="0" indent="0">
              <a:buNone/>
            </a:pPr>
            <a:r>
              <a:rPr lang="en-US" b="1" dirty="0"/>
              <a:t>3. Inferential Efficiency</a:t>
            </a:r>
          </a:p>
          <a:p>
            <a:r>
              <a:rPr lang="en-US" dirty="0"/>
              <a:t>Helps the system reason efficiently.</a:t>
            </a:r>
          </a:p>
          <a:p>
            <a:r>
              <a:rPr lang="en-US" dirty="0"/>
              <a:t>Guides the inference process toward useful conclusions.</a:t>
            </a:r>
          </a:p>
          <a:p>
            <a:pPr marL="0" indent="0">
              <a:buNone/>
            </a:pPr>
            <a:r>
              <a:rPr lang="en-US" b="1" dirty="0"/>
              <a:t>4. Acquisitional Efficiency</a:t>
            </a:r>
          </a:p>
          <a:p>
            <a:r>
              <a:rPr lang="en-US" dirty="0"/>
              <a:t>Ability to easily acquire or learn new knowledge.</a:t>
            </a:r>
          </a:p>
          <a:p>
            <a:r>
              <a:rPr lang="en-US" dirty="0"/>
              <a:t>Supports automatic updates and learning mechanisms.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92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89D2-AFF8-C1F3-14F1-EB343325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64" y="365125"/>
            <a:ext cx="10663136" cy="880015"/>
          </a:xfrm>
        </p:spPr>
        <p:txBody>
          <a:bodyPr>
            <a:normAutofit/>
          </a:bodyPr>
          <a:lstStyle/>
          <a:p>
            <a:r>
              <a:rPr lang="en-US" sz="3600" b="1" dirty="0"/>
              <a:t>Issues in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9DB85-2092-9E75-28C9-FC45F68A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4" y="1128409"/>
            <a:ext cx="10663136" cy="5048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The main goal of KR is to support </a:t>
            </a:r>
            <a:r>
              <a:rPr lang="en-US" sz="2200" b="1" dirty="0"/>
              <a:t>effective inference</a:t>
            </a:r>
            <a:r>
              <a:rPr lang="en-US" sz="2200" dirty="0"/>
              <a:t>, but several challenges arise:</a:t>
            </a:r>
          </a:p>
          <a:p>
            <a:r>
              <a:rPr lang="en-US" sz="2200" b="1" dirty="0"/>
              <a:t>Important Attributes -</a:t>
            </a:r>
            <a:r>
              <a:rPr lang="en-US" sz="2200" dirty="0"/>
              <a:t>Identifying relevant properties of objects.</a:t>
            </a:r>
          </a:p>
          <a:p>
            <a:r>
              <a:rPr lang="en-US" sz="2200" b="1" dirty="0"/>
              <a:t>Relationship Between Attributes - </a:t>
            </a:r>
            <a:r>
              <a:rPr lang="en-US" sz="2200" dirty="0"/>
              <a:t>Understanding how different concepts connect.</a:t>
            </a:r>
          </a:p>
          <a:p>
            <a:r>
              <a:rPr lang="en-US" sz="2200" b="1" dirty="0"/>
              <a:t>Choosing Granularity -</a:t>
            </a:r>
            <a:r>
              <a:rPr lang="en-US" sz="2200" dirty="0"/>
              <a:t>Deciding how detailed the representation should be.</a:t>
            </a:r>
          </a:p>
          <a:p>
            <a:pPr lvl="1"/>
            <a:r>
              <a:rPr lang="en-US" sz="2200" dirty="0"/>
              <a:t>Too detailed → complex system.</a:t>
            </a:r>
          </a:p>
          <a:p>
            <a:pPr lvl="1"/>
            <a:r>
              <a:rPr lang="en-US" sz="2200" dirty="0"/>
              <a:t>Too simple → loss of important information.</a:t>
            </a:r>
          </a:p>
          <a:p>
            <a:r>
              <a:rPr lang="en-US" sz="2200" b="1" dirty="0"/>
              <a:t>Set of Objects - </a:t>
            </a:r>
            <a:r>
              <a:rPr lang="en-US" sz="2200" dirty="0"/>
              <a:t>Determining which objects should be included in the model.</a:t>
            </a:r>
          </a:p>
          <a:p>
            <a:r>
              <a:rPr lang="en-US" sz="2200" b="1" dirty="0"/>
              <a:t>Finding the Right Structures - </a:t>
            </a:r>
            <a:r>
              <a:rPr lang="en-US" sz="2200" dirty="0"/>
              <a:t>Selecting suitable KR models such as:</a:t>
            </a:r>
          </a:p>
          <a:p>
            <a:pPr lvl="1"/>
            <a:r>
              <a:rPr lang="en-US" sz="2200" dirty="0"/>
              <a:t>Logic representation</a:t>
            </a:r>
          </a:p>
          <a:p>
            <a:pPr lvl="1"/>
            <a:r>
              <a:rPr lang="en-US" sz="2200" dirty="0"/>
              <a:t>Frames</a:t>
            </a:r>
          </a:p>
          <a:p>
            <a:pPr lvl="1"/>
            <a:r>
              <a:rPr lang="en-US" sz="2200" dirty="0"/>
              <a:t>Semantic networks</a:t>
            </a:r>
          </a:p>
          <a:p>
            <a:pPr lvl="1"/>
            <a:r>
              <a:rPr lang="en-US" sz="2200" dirty="0"/>
              <a:t>Ontologies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37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2103-D671-48AE-2537-2BCC157E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Knowledge Representation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8E568-5063-54BF-57F7-0AD79EAFB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Knowledge Representation (KR) is the way an AI system stores knowledge so that it can understand, reason, and make decisions. Main KR techniques:</a:t>
            </a:r>
          </a:p>
          <a:p>
            <a:r>
              <a:rPr lang="en-US" dirty="0"/>
              <a:t>Logical Representation</a:t>
            </a:r>
          </a:p>
          <a:p>
            <a:r>
              <a:rPr lang="en-US" dirty="0"/>
              <a:t>Semantic Network</a:t>
            </a:r>
          </a:p>
          <a:p>
            <a:r>
              <a:rPr lang="en-US" dirty="0"/>
              <a:t>Frame</a:t>
            </a:r>
          </a:p>
          <a:p>
            <a:r>
              <a:rPr lang="en-US" dirty="0"/>
              <a:t>Conceptual Graph</a:t>
            </a:r>
          </a:p>
          <a:p>
            <a:r>
              <a:rPr lang="en-US" dirty="0"/>
              <a:t>Conceptual Dependency (CD)</a:t>
            </a:r>
          </a:p>
          <a:p>
            <a:r>
              <a:rPr lang="en-US" dirty="0"/>
              <a:t>Script</a:t>
            </a:r>
          </a:p>
          <a:p>
            <a:r>
              <a:rPr lang="en-US" dirty="0"/>
              <a:t>Production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02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242A-770C-EE13-316D-235C2DD6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4E7B-F7AD-96AF-B010-5F8C2F8C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BA395-E3C7-36BF-959D-4711C762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Logical representation uses </a:t>
            </a:r>
            <a:r>
              <a:rPr lang="en-US" sz="2400" b="1" dirty="0"/>
              <a:t>formal logic rules</a:t>
            </a:r>
            <a:r>
              <a:rPr lang="en-US" sz="2400" dirty="0"/>
              <a:t> to represent knowledge.</a:t>
            </a:r>
          </a:p>
          <a:p>
            <a:r>
              <a:rPr lang="en-US" sz="2400" dirty="0"/>
              <a:t>It works like mathematics — everything has:</a:t>
            </a:r>
          </a:p>
          <a:p>
            <a:r>
              <a:rPr lang="en-US" sz="2400" b="1" dirty="0"/>
              <a:t>Syntax</a:t>
            </a:r>
            <a:r>
              <a:rPr lang="en-US" sz="2400" dirty="0"/>
              <a:t> → structure of sentences. It decides how we can construct legal sentences in logic. It determines which symbol we can use in knowledge representation. Also, how to write those symbols.</a:t>
            </a:r>
          </a:p>
          <a:p>
            <a:r>
              <a:rPr lang="en-US" sz="2400" b="1" dirty="0"/>
              <a:t>Semantics</a:t>
            </a:r>
            <a:r>
              <a:rPr lang="en-US" sz="2400" dirty="0"/>
              <a:t> → meaning of sentences. Semantics are the rules by which we can interpret the sentence in the logic. It assigns a meaning to each sentence.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25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FE26-8B76-43AF-6A54-7A42F59D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DC4D-3F90-5FEA-5E8D-6BF02184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967-91E6-4000-238D-316D1532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843" y="1690688"/>
            <a:ext cx="10740957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Types of logic:</a:t>
            </a:r>
          </a:p>
          <a:p>
            <a:r>
              <a:rPr lang="en-US" dirty="0"/>
              <a:t>Propositional logic</a:t>
            </a:r>
          </a:p>
          <a:p>
            <a:r>
              <a:rPr lang="en-US" dirty="0"/>
              <a:t>Predicate logic</a:t>
            </a:r>
          </a:p>
          <a:p>
            <a:r>
              <a:rPr lang="en-US" dirty="0"/>
              <a:t>Temporal logic</a:t>
            </a:r>
          </a:p>
          <a:p>
            <a:r>
              <a:rPr lang="en-US" dirty="0"/>
              <a:t>Description logic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Good for reasoning</a:t>
            </a:r>
          </a:p>
          <a:p>
            <a:r>
              <a:rPr lang="en-US" dirty="0"/>
              <a:t>Very precise and clear</a:t>
            </a:r>
          </a:p>
          <a:p>
            <a:r>
              <a:rPr lang="en-US" dirty="0"/>
              <a:t>Basis of many programming languages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Hard to design</a:t>
            </a:r>
          </a:p>
          <a:p>
            <a:r>
              <a:rPr lang="en-US" dirty="0"/>
              <a:t>Not very natural like human thinking</a:t>
            </a:r>
          </a:p>
          <a:p>
            <a:r>
              <a:rPr lang="en-US" dirty="0"/>
              <a:t>Can be computationally expensive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874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5A07-5EFA-75A0-7F83-A03D8C3E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Semantic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EE85-7380-2393-0FA2-F73EAAA9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semantic network is a </a:t>
            </a:r>
            <a:r>
              <a:rPr lang="en-US" b="1" dirty="0"/>
              <a:t>graph-based representation</a:t>
            </a:r>
            <a:r>
              <a:rPr lang="en-US" dirty="0"/>
              <a:t>.</a:t>
            </a:r>
          </a:p>
          <a:p>
            <a:r>
              <a:rPr lang="en-US" dirty="0"/>
              <a:t>It uses:</a:t>
            </a:r>
          </a:p>
          <a:p>
            <a:r>
              <a:rPr lang="en-US" b="1" dirty="0"/>
              <a:t>Nodes</a:t>
            </a:r>
            <a:r>
              <a:rPr lang="en-US" dirty="0"/>
              <a:t> → objects/concepts</a:t>
            </a:r>
          </a:p>
          <a:p>
            <a:r>
              <a:rPr lang="en-US" b="1" dirty="0"/>
              <a:t>Arcs</a:t>
            </a:r>
            <a:r>
              <a:rPr lang="en-US" dirty="0"/>
              <a:t> → relationships</a:t>
            </a:r>
          </a:p>
          <a:p>
            <a:r>
              <a:rPr lang="en-US" dirty="0"/>
              <a:t>This representation consist of mainly two types of relations: </a:t>
            </a:r>
          </a:p>
          <a:p>
            <a:r>
              <a:rPr lang="en-US" dirty="0"/>
              <a:t> </a:t>
            </a:r>
            <a:r>
              <a:rPr lang="en-US" b="1" dirty="0"/>
              <a:t>IS-A relation (Inheritance) </a:t>
            </a:r>
          </a:p>
          <a:p>
            <a:r>
              <a:rPr lang="en-US" dirty="0"/>
              <a:t> </a:t>
            </a:r>
            <a:r>
              <a:rPr lang="en-US" b="1" dirty="0"/>
              <a:t>Kind-of-relation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14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82C6-A4B7-3F75-339A-B500F848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6590-F4C5-6653-A836-01075EAE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Semantic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0268-D8B2-A1F5-272E-53BD29356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970"/>
            <a:ext cx="10515600" cy="46399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Following are some statements which we need to represent in the form of nodes and arcs. </a:t>
            </a:r>
          </a:p>
          <a:p>
            <a:pPr marL="0" indent="0">
              <a:buNone/>
            </a:pPr>
            <a:r>
              <a:rPr lang="en-US" dirty="0"/>
              <a:t>Statements: </a:t>
            </a:r>
          </a:p>
          <a:p>
            <a:pPr marL="0" indent="0">
              <a:buNone/>
            </a:pPr>
            <a:r>
              <a:rPr lang="en-US" dirty="0"/>
              <a:t>• Jerry is a cat. </a:t>
            </a:r>
          </a:p>
          <a:p>
            <a:pPr marL="0" indent="0">
              <a:buNone/>
            </a:pPr>
            <a:r>
              <a:rPr lang="en-US" dirty="0"/>
              <a:t>• Jerry is a mammal </a:t>
            </a:r>
          </a:p>
          <a:p>
            <a:pPr marL="0" indent="0">
              <a:buNone/>
            </a:pPr>
            <a:r>
              <a:rPr lang="en-US" dirty="0"/>
              <a:t>• Jerry is owned by Priya. </a:t>
            </a:r>
          </a:p>
          <a:p>
            <a:pPr marL="0" indent="0">
              <a:buNone/>
            </a:pPr>
            <a:r>
              <a:rPr lang="en-US" dirty="0"/>
              <a:t>• Jerry is brown colored. </a:t>
            </a:r>
          </a:p>
          <a:p>
            <a:pPr marL="0" indent="0">
              <a:buNone/>
            </a:pPr>
            <a:r>
              <a:rPr lang="en-US" dirty="0"/>
              <a:t>• All Mammals are animal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C9614-8DB3-48AB-CB42-0A6711FD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887" y="2452707"/>
            <a:ext cx="5620780" cy="31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05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1EC6-99F8-957C-991A-2FA3B13D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2E10-0F74-B886-5BAA-7DB79161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Semantic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E6B3D-56EC-826B-7348-AEFEB29DC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970"/>
            <a:ext cx="10515600" cy="463999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Easy to visualize</a:t>
            </a:r>
          </a:p>
          <a:p>
            <a:r>
              <a:rPr lang="en-US" dirty="0"/>
              <a:t>Very natural way to represent knowledge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Slower computation</a:t>
            </a:r>
          </a:p>
          <a:p>
            <a:r>
              <a:rPr lang="en-US" dirty="0"/>
              <a:t>No strong logical quantifiers</a:t>
            </a:r>
          </a:p>
          <a:p>
            <a:r>
              <a:rPr lang="en-US" dirty="0"/>
              <a:t>Depends on designer</a:t>
            </a:r>
          </a:p>
        </p:txBody>
      </p:sp>
    </p:spTree>
    <p:extLst>
      <p:ext uri="{BB962C8B-B14F-4D97-AF65-F5344CB8AC3E}">
        <p14:creationId xmlns:p14="http://schemas.microsoft.com/office/powerpoint/2010/main" val="419236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1636</Words>
  <Application>Microsoft Office PowerPoint</Application>
  <PresentationFormat>Widescreen</PresentationFormat>
  <Paragraphs>250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Unit 4</vt:lpstr>
      <vt:lpstr>Knowledge</vt:lpstr>
      <vt:lpstr>Why Knowledge is Needed in AI</vt:lpstr>
      <vt:lpstr>Knowledge Representation Framework</vt:lpstr>
      <vt:lpstr>Knowledge Representation Framework</vt:lpstr>
      <vt:lpstr>Knowledge Representation Framework</vt:lpstr>
      <vt:lpstr>Why Computer Needs Well-Defined Problem Description</vt:lpstr>
      <vt:lpstr>Types of Knowledge Represented in AI Systems</vt:lpstr>
      <vt:lpstr>Types of Knowledge Represented in AI Systems</vt:lpstr>
      <vt:lpstr>Types of Knowledge</vt:lpstr>
      <vt:lpstr>Types of Knowledge</vt:lpstr>
      <vt:lpstr>Types of Knowledge</vt:lpstr>
      <vt:lpstr>Types of Knowledge</vt:lpstr>
      <vt:lpstr>Types of Knowledge</vt:lpstr>
      <vt:lpstr>Knowledge Representation (KR) System and its Properties</vt:lpstr>
      <vt:lpstr>Knowledge-Based Agents</vt:lpstr>
      <vt:lpstr>Architecture of knowledge-based agent</vt:lpstr>
      <vt:lpstr>Components of a Knowledge-Based Agent</vt:lpstr>
      <vt:lpstr>Components of a Knowledge-Based Agent</vt:lpstr>
      <vt:lpstr>Requirements of a Good Knowledge Representation System</vt:lpstr>
      <vt:lpstr>Issues in Knowledge Representation</vt:lpstr>
      <vt:lpstr>Types of Knowledge Representation Systems</vt:lpstr>
      <vt:lpstr>Logical Representation</vt:lpstr>
      <vt:lpstr>Logical Representation</vt:lpstr>
      <vt:lpstr>Semantic Network</vt:lpstr>
      <vt:lpstr>Semantic Network</vt:lpstr>
      <vt:lpstr>Semantic Network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Nischae Sarraf</cp:lastModifiedBy>
  <cp:revision>35</cp:revision>
  <dcterms:created xsi:type="dcterms:W3CDTF">2025-07-23T00:59:00Z</dcterms:created>
  <dcterms:modified xsi:type="dcterms:W3CDTF">2026-02-24T17:18:49Z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