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l+0Qe0bXDP4+vtnJ64NmgiQ8u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c3842b08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c3842b08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c3842b08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c3842b08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c3842b08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c3842b0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c3842b08c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c3842b08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c3842b08c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c3842b08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c3842b08c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c3842b08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c3842b08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c3842b08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c3842b08c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c3842b08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c3842b08c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c3842b08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c3842b08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c3842b08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c3842b08c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c3842b0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c3842b08c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c3842b08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c3842b08c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c3842b08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b9e6d768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b9e6d768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b9e6d768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b9e6d76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b9e6d768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b9e6d76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c3842b08c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c3842b08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9e6d768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b9e6d76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1368425"/>
            <a:ext cx="9144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BIM 6th Semester Project Guidelines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886200"/>
            <a:ext cx="90789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Tribhuvan University | Faculty of Management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IT 352: Project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601300" y="5369275"/>
            <a:ext cx="3941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300">
                <a:solidFill>
                  <a:schemeClr val="dk1"/>
                </a:solidFill>
              </a:rPr>
              <a:t>Sumit Ghising | NCCS</a:t>
            </a:r>
            <a:endParaRPr i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6c3842b08c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9200"/>
            <a:ext cx="9144000" cy="4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6c3842b08c_0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6c3842b08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300" y="0"/>
            <a:ext cx="5338875" cy="679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6c3842b08c_0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c3842b08c_0_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  <p:pic>
        <p:nvPicPr>
          <p:cNvPr id="104" name="Google Shape;104;g36c3842b08c_0_15" title="Screenshot 2025-07-01 at 22.07.19.png"/>
          <p:cNvPicPr preferRelativeResize="0"/>
          <p:nvPr/>
        </p:nvPicPr>
        <p:blipFill rotWithShape="1">
          <a:blip r:embed="rId3">
            <a:alphaModFix/>
          </a:blip>
          <a:srcRect b="18376" l="0" r="0" t="6401"/>
          <a:stretch/>
        </p:blipFill>
        <p:spPr>
          <a:xfrm>
            <a:off x="849295" y="0"/>
            <a:ext cx="724988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Description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Course: IT 352: Project (BIM 6th Semester)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Purpose: Apply theoretical and practical skills to develop a real-world software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Focus Areas: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Planning, analysis, design, and implementation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Technical and project management skills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Group Size: Up to 2 members per group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Project Freedom: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Choose an organization or develop your own innovative idea</a:t>
            </a:r>
            <a:endParaRPr/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Upon completion, students will be able to: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Develop a real-world software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Create a high-quality project report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Gain technical expertise in software development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Master time and resource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Build effective team skills</a:t>
            </a:r>
            <a:endParaRPr/>
          </a:p>
        </p:txBody>
      </p:sp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Phases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457200" y="1417650"/>
            <a:ext cx="8229600" cy="4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Proposal Defence: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Submit a proposal document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Present and get approval to proceed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Pre-Defence: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Submit and present a draft report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Approval needed for final defence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Final Defence: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Submit final report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Present to external examiners</a:t>
            </a:r>
            <a:endParaRPr/>
          </a:p>
          <a:p>
            <a:pPr indent="-3746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en-US"/>
              <a:t>Justify methods and conclusions</a:t>
            </a:r>
            <a:endParaRPr/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457200" y="46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Proposal Contents</a:t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457200" y="1189050"/>
            <a:ext cx="8229600" cy="5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/>
              <a:t>Key Sections:</a:t>
            </a:r>
            <a:endParaRPr b="1"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Title Page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Introduction &amp; Problem Statement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Objectives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Development Methodology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Requirement Identification &amp; Feasibility Study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Literature Review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Analysis and Design Tools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Implementation Tools (Front End, Back End)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Expected Outcome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 Schedule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References (APA 7th Style)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c3842b08c_0_27"/>
          <p:cNvSpPr txBox="1"/>
          <p:nvPr>
            <p:ph type="title"/>
          </p:nvPr>
        </p:nvSpPr>
        <p:spPr>
          <a:xfrm>
            <a:off x="457200" y="460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Report Contents</a:t>
            </a:r>
            <a:endParaRPr/>
          </a:p>
        </p:txBody>
      </p:sp>
      <p:sp>
        <p:nvSpPr>
          <p:cNvPr id="138" name="Google Shape;138;g36c3842b08c_0_27"/>
          <p:cNvSpPr txBox="1"/>
          <p:nvPr>
            <p:ph idx="1" type="body"/>
          </p:nvPr>
        </p:nvSpPr>
        <p:spPr>
          <a:xfrm>
            <a:off x="457200" y="1189050"/>
            <a:ext cx="8229600" cy="531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Structured Chapters: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Chapter I: Introduction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Background, Problem Statement, Objectives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Literature Review, Scope &amp; Limitations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Chapter II: System Development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Requirement Analysis, Feasibility Study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UI Design, Database/Object-Oriented Design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Tools, Module Description,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Chapter III: Conclusion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Summary, Conclusion, Recommendations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Additional Sections: Declaration, Acknowledgements, Abstract, References, Appendices</a:t>
            </a:r>
            <a:endParaRPr/>
          </a:p>
        </p:txBody>
      </p:sp>
      <p:sp>
        <p:nvSpPr>
          <p:cNvPr id="139" name="Google Shape;139;g36c3842b08c_0_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c3842b08c_0_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Breakdown</a:t>
            </a:r>
            <a:endParaRPr/>
          </a:p>
        </p:txBody>
      </p:sp>
      <p:sp>
        <p:nvSpPr>
          <p:cNvPr id="145" name="Google Shape;145;g36c3842b08c_0_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Marks Allocation: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Supervisor: 50% (20% Pre-Defence, 30% Final Defence)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Internal Examiner: 10% (5% Pre-Defence, 5% Final Defence)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Head/Program Coordinator: 10% (5% Pre-Defence, 5% Final Defence)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External Examiner(s): 30% (Final Defence)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Total: 100%</a:t>
            </a:r>
            <a:endParaRPr/>
          </a:p>
        </p:txBody>
      </p:sp>
      <p:sp>
        <p:nvSpPr>
          <p:cNvPr id="146" name="Google Shape;146;g36c3842b08c_0_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c3842b08c_0_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Report Format Guidelines</a:t>
            </a:r>
            <a:endParaRPr/>
          </a:p>
        </p:txBody>
      </p:sp>
      <p:sp>
        <p:nvSpPr>
          <p:cNvPr id="152" name="Google Shape;152;g36c3842b08c_0_39"/>
          <p:cNvSpPr txBox="1"/>
          <p:nvPr>
            <p:ph idx="1" type="body"/>
          </p:nvPr>
        </p:nvSpPr>
        <p:spPr>
          <a:xfrm>
            <a:off x="457200" y="1417650"/>
            <a:ext cx="8229600" cy="511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3432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Page Numbering: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Roman (ii) for prelim pages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Numeric (1) from Chapter 1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Paper Size &amp; Margins: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A4, 1" (Top, Bottom, Right), 1.5" (Left)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Paragraphs: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Times New Roman, 12pt, 1.15 line spacing, justified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Headings: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16pt (Chapter), 14pt (Section), 12pt (Subsection)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Figures/Tables: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Chapter-wise numbering (e.g., Figure 1.1)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Captions: Times New Roman, 12pt, bold, centered</a:t>
            </a:r>
            <a:endParaRPr/>
          </a:p>
        </p:txBody>
      </p:sp>
      <p:sp>
        <p:nvSpPr>
          <p:cNvPr id="153" name="Google Shape;153;g36c3842b08c_0_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c3842b08c_0_52"/>
          <p:cNvSpPr txBox="1"/>
          <p:nvPr>
            <p:ph type="title"/>
          </p:nvPr>
        </p:nvSpPr>
        <p:spPr>
          <a:xfrm>
            <a:off x="0" y="2976900"/>
            <a:ext cx="9144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Proposal Report Contents</a:t>
            </a:r>
            <a:endParaRPr/>
          </a:p>
        </p:txBody>
      </p:sp>
      <p:sp>
        <p:nvSpPr>
          <p:cNvPr id="159" name="Google Shape;159;g36c3842b08c_0_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c3842b08c_0_45"/>
          <p:cNvSpPr txBox="1"/>
          <p:nvPr>
            <p:ph idx="1" type="body"/>
          </p:nvPr>
        </p:nvSpPr>
        <p:spPr>
          <a:xfrm>
            <a:off x="457200" y="231850"/>
            <a:ext cx="8686800" cy="634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400"/>
              <a:t>Title Page  </a:t>
            </a:r>
            <a:endParaRPr sz="3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3400"/>
              <a:t>Introduction</a:t>
            </a:r>
            <a:endParaRPr sz="3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3000"/>
              <a:t>Introduction</a:t>
            </a:r>
            <a:endParaRPr sz="3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3000"/>
              <a:t>Problem Statement</a:t>
            </a:r>
            <a:endParaRPr sz="3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3000"/>
              <a:t>Objective</a:t>
            </a:r>
            <a:endParaRPr sz="30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3000"/>
              <a:t>Development Methodology(Like Waterfall, Incremental, etc)</a:t>
            </a:r>
            <a:endParaRPr sz="30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3400"/>
              <a:t>Methodology</a:t>
            </a:r>
            <a:endParaRPr sz="3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3000"/>
              <a:t>Requirement Identification and Feasibility Study</a:t>
            </a:r>
            <a:endParaRPr sz="30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AutoNum type="romanLcPeriod"/>
            </a:pPr>
            <a:r>
              <a:rPr lang="en-US" sz="2600"/>
              <a:t>Functional Requirements(with Use Case Diagram)</a:t>
            </a:r>
            <a:endParaRPr sz="26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AutoNum type="romanLcPeriod"/>
            </a:pPr>
            <a:r>
              <a:rPr lang="en-US" sz="2600"/>
              <a:t>Non-Functional Requirements</a:t>
            </a:r>
            <a:endParaRPr sz="26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AutoNum type="romanLcPeriod"/>
            </a:pPr>
            <a:r>
              <a:rPr lang="en-US" sz="2600"/>
              <a:t>Feasibility Study</a:t>
            </a:r>
            <a:endParaRPr sz="2600"/>
          </a:p>
          <a:p>
            <a:pPr indent="-288364" lvl="0" marL="1828800" rtl="0" algn="l">
              <a:spcBef>
                <a:spcPts val="0"/>
              </a:spcBef>
              <a:spcAft>
                <a:spcPts val="0"/>
              </a:spcAft>
              <a:buSzPts val="941"/>
              <a:buChar char="•"/>
            </a:pPr>
            <a:r>
              <a:rPr lang="en-US" sz="2341"/>
              <a:t>Technical</a:t>
            </a:r>
            <a:endParaRPr sz="2341"/>
          </a:p>
          <a:p>
            <a:pPr indent="-288364" lvl="0" marL="1828800" rtl="0" algn="l">
              <a:spcBef>
                <a:spcPts val="0"/>
              </a:spcBef>
              <a:spcAft>
                <a:spcPts val="0"/>
              </a:spcAft>
              <a:buSzPts val="941"/>
              <a:buChar char="•"/>
            </a:pPr>
            <a:r>
              <a:rPr lang="en-US" sz="2341"/>
              <a:t>Operational</a:t>
            </a:r>
            <a:endParaRPr sz="2341"/>
          </a:p>
          <a:p>
            <a:pPr indent="-288364" lvl="0" marL="1828800" rtl="0" algn="l">
              <a:spcBef>
                <a:spcPts val="0"/>
              </a:spcBef>
              <a:spcAft>
                <a:spcPts val="0"/>
              </a:spcAft>
              <a:buSzPts val="941"/>
              <a:buChar char="•"/>
            </a:pPr>
            <a:r>
              <a:rPr lang="en-US" sz="2341"/>
              <a:t>Economic</a:t>
            </a:r>
            <a:endParaRPr sz="3400"/>
          </a:p>
        </p:txBody>
      </p:sp>
      <p:sp>
        <p:nvSpPr>
          <p:cNvPr id="165" name="Google Shape;165;g36c3842b08c_0_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c3842b08c_0_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6c3842b08c_0_5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914400" rtl="0" algn="l">
              <a:spcBef>
                <a:spcPts val="36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US"/>
              <a:t>Related Work / Literature Review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US"/>
              <a:t>Analysis and Design Tools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US"/>
              <a:t>Implementation tools (Front End, Back End)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US"/>
              <a:t>Expected Outcome 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US"/>
              <a:t>Project Schedule (Gantt chart showing the project timeline)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US"/>
              <a:t>References(follow APA 7th Style)</a:t>
            </a:r>
            <a:endParaRPr/>
          </a:p>
        </p:txBody>
      </p:sp>
      <p:sp>
        <p:nvSpPr>
          <p:cNvPr id="172" name="Google Shape;172;g36c3842b08c_0_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c3842b08c_0_64"/>
          <p:cNvSpPr txBox="1"/>
          <p:nvPr>
            <p:ph type="title"/>
          </p:nvPr>
        </p:nvSpPr>
        <p:spPr>
          <a:xfrm>
            <a:off x="0" y="2976900"/>
            <a:ext cx="9144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Report Contents</a:t>
            </a:r>
            <a:endParaRPr/>
          </a:p>
        </p:txBody>
      </p:sp>
      <p:sp>
        <p:nvSpPr>
          <p:cNvPr id="178" name="Google Shape;178;g36c3842b08c_0_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c3842b08c_0_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6c3842b08c_0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  <p:sp>
        <p:nvSpPr>
          <p:cNvPr id="185" name="Google Shape;185;g36c3842b08c_0_6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Title Page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STUDENT DECLARATION 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SUPERVISOR’S RECOMMENDATION 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APPROVAL SHEET 	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ACKNOWLEDGEMENTS 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ABSTRACT			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LIST OF FIGURES 		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LIST OF TABLES  				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LIST OF ABBREVIATIONS						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c3842b08c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I: INTRODUCTION		</a:t>
            </a:r>
            <a:endParaRPr/>
          </a:p>
        </p:txBody>
      </p:sp>
      <p:sp>
        <p:nvSpPr>
          <p:cNvPr id="191" name="Google Shape;191;g36c3842b08c_0_93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1.1 Background of the Project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1.2 Problem Statement							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1.3 Objectives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1.4 Review of Related Work and Literature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1.5 Development Methodology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1.6 Scope and Limitations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1.6.1 Scope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1.6.2 Limitations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1.7 Report Organization</a:t>
            </a:r>
            <a:endParaRPr/>
          </a:p>
        </p:txBody>
      </p:sp>
      <p:sp>
        <p:nvSpPr>
          <p:cNvPr id="192" name="Google Shape;192;g36c3842b08c_0_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c3842b08c_0_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II: SYSTEM DEVELOPMENT PROCESS</a:t>
            </a:r>
            <a:endParaRPr/>
          </a:p>
        </p:txBody>
      </p:sp>
      <p:sp>
        <p:nvSpPr>
          <p:cNvPr id="198" name="Google Shape;198;g36c3842b08c_0_99"/>
          <p:cNvSpPr txBox="1"/>
          <p:nvPr>
            <p:ph idx="1" type="body"/>
          </p:nvPr>
        </p:nvSpPr>
        <p:spPr>
          <a:xfrm>
            <a:off x="457200" y="1600200"/>
            <a:ext cx="8229600" cy="49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2.1 Analysis (Requirement Analysis, Feasibility Study, Structured / Object- Oriented Modelling)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2.1.1 Requirement Analysis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i. Functional Requirement(Use case diagram showing functional Requirement)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ii. Non-Functional Requirement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2.1.2 Feasibility Study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i. Technical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ii. Operational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iii. Economic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	iv. Schedule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199" name="Google Shape;199;g36c3842b08c_0_9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b9e6d7681_0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6b9e6d7681_0_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2.1.3 System Modelling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structured approach: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modelling using ER Diagrams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Process modelling using DFD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object oriented approach: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Object modelling using Class and Object Diagrams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Dynamic modelling using State and Sequence Diagrams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Process modelling using Activity Diagrams </a:t>
            </a:r>
            <a:endParaRPr/>
          </a:p>
        </p:txBody>
      </p:sp>
      <p:sp>
        <p:nvSpPr>
          <p:cNvPr id="206" name="Google Shape;206;g36b9e6d7681_0_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b9e6d7681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6b9e6d7681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2.2 System Design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	If structured approach:</a:t>
            </a:r>
            <a:endParaRPr b="1"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2.2.1 Interface and Dialogue Design</a:t>
            </a:r>
            <a:endParaRPr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2.2.2 Database Design: Transformation of ER to relations and normalizations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If object oriented approach:</a:t>
            </a:r>
            <a:endParaRPr b="1"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2.2.1 Refinement of Classes and Object 2.2.2 Component Diagram </a:t>
            </a:r>
            <a:endParaRPr/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2.2.3 Deployment Diagram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6b9e6d7681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9e6d7681_0_12"/>
          <p:cNvSpPr txBox="1"/>
          <p:nvPr>
            <p:ph idx="1" type="body"/>
          </p:nvPr>
        </p:nvSpPr>
        <p:spPr>
          <a:xfrm>
            <a:off x="457200" y="1417650"/>
            <a:ext cx="8229600" cy="470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2.3 Implementation (Tools and Technologies Used, Module Description, Testing)</a:t>
            </a:r>
            <a:endParaRPr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2.3.1 Tools used (CASE tools, programming languages, database platforms) </a:t>
            </a:r>
            <a:endParaRPr/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2.3.2 Implementation details of modules (description of procedures/ functions/ classes/ methods)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2.3.3 Testing</a:t>
            </a:r>
            <a:endParaRPr/>
          </a:p>
          <a:p>
            <a:pPr indent="-342900" lvl="0" marL="914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Test cases for Unit Testing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Test cases for System Testing </a:t>
            </a:r>
            <a:endParaRPr/>
          </a:p>
        </p:txBody>
      </p:sp>
      <p:sp>
        <p:nvSpPr>
          <p:cNvPr id="219" name="Google Shape;219;g36b9e6d7681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6b9e6d7681_0_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c3842b08c_0_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CHAPTER III: CONCLUSION AND RECOMMENDATION </a:t>
            </a:r>
            <a:endParaRPr sz="3200"/>
          </a:p>
        </p:txBody>
      </p:sp>
      <p:sp>
        <p:nvSpPr>
          <p:cNvPr id="226" name="Google Shape;226;g36c3842b08c_0_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3.1 Summary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3.2 Conclusion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3.3 Recommendation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6c3842b08c_0_7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b9e6d7681_0_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6b9e6d7681_0_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REFERENCE (Follow APA 7 style)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APPENDIX </a:t>
            </a:r>
            <a:endParaRPr/>
          </a:p>
        </p:txBody>
      </p:sp>
      <p:sp>
        <p:nvSpPr>
          <p:cNvPr id="234" name="Google Shape;234;g36b9e6d7681_0_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2400"/>
              <a:t>‹#›</a:t>
            </a:fld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