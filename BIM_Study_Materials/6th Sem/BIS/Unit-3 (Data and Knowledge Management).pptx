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344"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86" d="100"/>
          <a:sy n="86" d="100"/>
        </p:scale>
        <p:origin x="33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AF10244-1957-4408-B8B7-22C5DAD84718}"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E1E2C6-1E53-4964-99A6-14F631661ADC}" type="slidenum">
              <a:rPr lang="en-US" smtClean="0"/>
              <a:t>‹#›</a:t>
            </a:fld>
            <a:endParaRPr lang="en-US"/>
          </a:p>
        </p:txBody>
      </p:sp>
    </p:spTree>
    <p:extLst>
      <p:ext uri="{BB962C8B-B14F-4D97-AF65-F5344CB8AC3E}">
        <p14:creationId xmlns:p14="http://schemas.microsoft.com/office/powerpoint/2010/main" val="2300455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F10244-1957-4408-B8B7-22C5DAD84718}"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E1E2C6-1E53-4964-99A6-14F631661ADC}" type="slidenum">
              <a:rPr lang="en-US" smtClean="0"/>
              <a:t>‹#›</a:t>
            </a:fld>
            <a:endParaRPr lang="en-US"/>
          </a:p>
        </p:txBody>
      </p:sp>
    </p:spTree>
    <p:extLst>
      <p:ext uri="{BB962C8B-B14F-4D97-AF65-F5344CB8AC3E}">
        <p14:creationId xmlns:p14="http://schemas.microsoft.com/office/powerpoint/2010/main" val="256479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AF10244-1957-4408-B8B7-22C5DAD84718}"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E1E2C6-1E53-4964-99A6-14F631661ADC}" type="slidenum">
              <a:rPr lang="en-US" smtClean="0"/>
              <a:t>‹#›</a:t>
            </a:fld>
            <a:endParaRPr lang="en-US"/>
          </a:p>
        </p:txBody>
      </p:sp>
    </p:spTree>
    <p:extLst>
      <p:ext uri="{BB962C8B-B14F-4D97-AF65-F5344CB8AC3E}">
        <p14:creationId xmlns:p14="http://schemas.microsoft.com/office/powerpoint/2010/main" val="734428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AF10244-1957-4408-B8B7-22C5DAD84718}"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E1E2C6-1E53-4964-99A6-14F631661ADC}" type="slidenum">
              <a:rPr lang="en-US" smtClean="0"/>
              <a:t>‹#›</a:t>
            </a:fld>
            <a:endParaRPr lang="en-US"/>
          </a:p>
        </p:txBody>
      </p:sp>
    </p:spTree>
    <p:extLst>
      <p:ext uri="{BB962C8B-B14F-4D97-AF65-F5344CB8AC3E}">
        <p14:creationId xmlns:p14="http://schemas.microsoft.com/office/powerpoint/2010/main" val="1785495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AF10244-1957-4408-B8B7-22C5DAD84718}" type="datetimeFigureOut">
              <a:rPr lang="en-US" smtClean="0"/>
              <a:t>7/29/2026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2E1E2C6-1E53-4964-99A6-14F631661ADC}" type="slidenum">
              <a:rPr lang="en-US" smtClean="0"/>
              <a:t>‹#›</a:t>
            </a:fld>
            <a:endParaRPr lang="en-US"/>
          </a:p>
        </p:txBody>
      </p:sp>
    </p:spTree>
    <p:extLst>
      <p:ext uri="{BB962C8B-B14F-4D97-AF65-F5344CB8AC3E}">
        <p14:creationId xmlns:p14="http://schemas.microsoft.com/office/powerpoint/2010/main" val="3649650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AF10244-1957-4408-B8B7-22C5DAD84718}" type="datetimeFigureOut">
              <a:rPr lang="en-US" smtClean="0"/>
              <a:t>7/29/2026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2E1E2C6-1E53-4964-99A6-14F631661ADC}" type="slidenum">
              <a:rPr lang="en-US" smtClean="0"/>
              <a:t>‹#›</a:t>
            </a:fld>
            <a:endParaRPr lang="en-US"/>
          </a:p>
        </p:txBody>
      </p:sp>
    </p:spTree>
    <p:extLst>
      <p:ext uri="{BB962C8B-B14F-4D97-AF65-F5344CB8AC3E}">
        <p14:creationId xmlns:p14="http://schemas.microsoft.com/office/powerpoint/2010/main" val="613498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F10244-1957-4408-B8B7-22C5DAD84718}" type="datetimeFigureOut">
              <a:rPr lang="en-US" smtClean="0"/>
              <a:t>7/29/2026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2E1E2C6-1E53-4964-99A6-14F631661ADC}" type="slidenum">
              <a:rPr lang="en-US" smtClean="0"/>
              <a:t>‹#›</a:t>
            </a:fld>
            <a:endParaRPr lang="en-US"/>
          </a:p>
        </p:txBody>
      </p:sp>
    </p:spTree>
    <p:extLst>
      <p:ext uri="{BB962C8B-B14F-4D97-AF65-F5344CB8AC3E}">
        <p14:creationId xmlns:p14="http://schemas.microsoft.com/office/powerpoint/2010/main" val="2329016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AF10244-1957-4408-B8B7-22C5DAD84718}"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E1E2C6-1E53-4964-99A6-14F631661ADC}" type="slidenum">
              <a:rPr lang="en-US" smtClean="0"/>
              <a:t>‹#›</a:t>
            </a:fld>
            <a:endParaRPr lang="en-US"/>
          </a:p>
        </p:txBody>
      </p:sp>
    </p:spTree>
    <p:extLst>
      <p:ext uri="{BB962C8B-B14F-4D97-AF65-F5344CB8AC3E}">
        <p14:creationId xmlns:p14="http://schemas.microsoft.com/office/powerpoint/2010/main" val="22296585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AF10244-1957-4408-B8B7-22C5DAD84718}"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E1E2C6-1E53-4964-99A6-14F631661ADC}" type="slidenum">
              <a:rPr lang="en-US" smtClean="0"/>
              <a:t>‹#›</a:t>
            </a:fld>
            <a:endParaRPr lang="en-US"/>
          </a:p>
        </p:txBody>
      </p:sp>
    </p:spTree>
    <p:extLst>
      <p:ext uri="{BB962C8B-B14F-4D97-AF65-F5344CB8AC3E}">
        <p14:creationId xmlns:p14="http://schemas.microsoft.com/office/powerpoint/2010/main" val="4258089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F10244-1957-4408-B8B7-22C5DAD84718}"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E1E2C6-1E53-4964-99A6-14F631661ADC}" type="slidenum">
              <a:rPr lang="en-US" smtClean="0"/>
              <a:t>‹#›</a:t>
            </a:fld>
            <a:endParaRPr lang="en-US"/>
          </a:p>
        </p:txBody>
      </p:sp>
    </p:spTree>
    <p:extLst>
      <p:ext uri="{BB962C8B-B14F-4D97-AF65-F5344CB8AC3E}">
        <p14:creationId xmlns:p14="http://schemas.microsoft.com/office/powerpoint/2010/main" val="29192855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F10244-1957-4408-B8B7-22C5DAD84718}"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E1E2C6-1E53-4964-99A6-14F631661ADC}" type="slidenum">
              <a:rPr lang="en-US" smtClean="0"/>
              <a:t>‹#›</a:t>
            </a:fld>
            <a:endParaRPr lang="en-US"/>
          </a:p>
        </p:txBody>
      </p:sp>
    </p:spTree>
    <p:extLst>
      <p:ext uri="{BB962C8B-B14F-4D97-AF65-F5344CB8AC3E}">
        <p14:creationId xmlns:p14="http://schemas.microsoft.com/office/powerpoint/2010/main" val="25931805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10244-1957-4408-B8B7-22C5DAD84718}" type="datetimeFigureOut">
              <a:rPr lang="en-US" smtClean="0"/>
              <a:t>7/29/2026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E1E2C6-1E53-4964-99A6-14F631661ADC}" type="slidenum">
              <a:rPr lang="en-US" smtClean="0"/>
              <a:t>‹#›</a:t>
            </a:fld>
            <a:endParaRPr lang="en-US"/>
          </a:p>
        </p:txBody>
      </p:sp>
    </p:spTree>
    <p:extLst>
      <p:ext uri="{BB962C8B-B14F-4D97-AF65-F5344CB8AC3E}">
        <p14:creationId xmlns:p14="http://schemas.microsoft.com/office/powerpoint/2010/main" val="32849617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Data and Knowledge Management</a:t>
            </a:r>
          </a:p>
        </p:txBody>
      </p:sp>
      <p:sp>
        <p:nvSpPr>
          <p:cNvPr id="3" name="Subtitle 2"/>
          <p:cNvSpPr>
            <a:spLocks noGrp="1"/>
          </p:cNvSpPr>
          <p:nvPr>
            <p:ph type="subTitle" idx="1"/>
          </p:nvPr>
        </p:nvSpPr>
        <p:spPr/>
        <p:txBody>
          <a:bodyPr/>
          <a:lstStyle/>
          <a:p>
            <a:r>
              <a:rPr lang="en-US" b="1" dirty="0"/>
              <a:t>Unit-3</a:t>
            </a:r>
          </a:p>
        </p:txBody>
      </p:sp>
    </p:spTree>
    <p:extLst>
      <p:ext uri="{BB962C8B-B14F-4D97-AF65-F5344CB8AC3E}">
        <p14:creationId xmlns:p14="http://schemas.microsoft.com/office/powerpoint/2010/main" val="136799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6271"/>
            <a:ext cx="10515600" cy="878884"/>
          </a:xfrm>
        </p:spPr>
        <p:txBody>
          <a:bodyPr/>
          <a:lstStyle/>
          <a:p>
            <a:r>
              <a:rPr lang="en-US" b="1" dirty="0"/>
              <a:t>Introduction</a:t>
            </a:r>
          </a:p>
        </p:txBody>
      </p:sp>
      <p:sp>
        <p:nvSpPr>
          <p:cNvPr id="3" name="Content Placeholder 2"/>
          <p:cNvSpPr>
            <a:spLocks noGrp="1"/>
          </p:cNvSpPr>
          <p:nvPr>
            <p:ph idx="1"/>
          </p:nvPr>
        </p:nvSpPr>
        <p:spPr>
          <a:xfrm>
            <a:off x="838200" y="1095155"/>
            <a:ext cx="10515600" cy="5081808"/>
          </a:xfrm>
        </p:spPr>
        <p:txBody>
          <a:bodyPr>
            <a:normAutofit fontScale="92500" lnSpcReduction="20000"/>
          </a:bodyPr>
          <a:lstStyle/>
          <a:p>
            <a:r>
              <a:rPr lang="en-US" dirty="0"/>
              <a:t>In today's information age, data is king. But simply having data isn't enough. Organizations need to effectively manage this data to extract valuable insights and knowledge. </a:t>
            </a:r>
          </a:p>
          <a:p>
            <a:r>
              <a:rPr lang="en-US" dirty="0"/>
              <a:t>This is where </a:t>
            </a:r>
            <a:r>
              <a:rPr lang="en-US" b="1" dirty="0"/>
              <a:t>Data and Knowledge Management (DKM) </a:t>
            </a:r>
            <a:r>
              <a:rPr lang="en-US" dirty="0"/>
              <a:t>come into play. DKM is a comprehensive approach to capturing, storing, organizing, and analyzing data to create usable knowledge that drives better decision-making and improves overall performance. </a:t>
            </a:r>
          </a:p>
          <a:p>
            <a:r>
              <a:rPr lang="en-US" dirty="0"/>
              <a:t>Data management focuses on the technical aspects of handling data, ensuring its accuracy, accessibility, and security throughout its lifecycle. </a:t>
            </a:r>
          </a:p>
          <a:p>
            <a:r>
              <a:rPr lang="en-US" dirty="0"/>
              <a:t>This includes tasks like data collection, storage, retrieval, and archiving. Knowledge management, on the other hand, deals with the human aspect of data. </a:t>
            </a:r>
          </a:p>
          <a:p>
            <a:r>
              <a:rPr lang="en-US" dirty="0"/>
              <a:t>It involves capturing the expertise and experience of employees, transforming data into usable knowledge, and sharing that knowledge effectively across the organization.</a:t>
            </a:r>
          </a:p>
        </p:txBody>
      </p:sp>
    </p:spTree>
    <p:extLst>
      <p:ext uri="{BB962C8B-B14F-4D97-AF65-F5344CB8AC3E}">
        <p14:creationId xmlns:p14="http://schemas.microsoft.com/office/powerpoint/2010/main" val="1806094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35665"/>
            <a:ext cx="10515600" cy="5241298"/>
          </a:xfrm>
        </p:spPr>
        <p:txBody>
          <a:bodyPr/>
          <a:lstStyle/>
          <a:p>
            <a:r>
              <a:rPr lang="en-US" dirty="0"/>
              <a:t>DKM offers a multitude of benefits for organizations. </a:t>
            </a:r>
          </a:p>
          <a:p>
            <a:r>
              <a:rPr lang="en-US" dirty="0"/>
              <a:t>By streamlining data management, businesses can improve data quality, reduce redundancy, and ensure compliance with regulations. </a:t>
            </a:r>
          </a:p>
          <a:p>
            <a:r>
              <a:rPr lang="en-US" dirty="0"/>
              <a:t>Effective knowledge management empowers employees to leverage the collective wisdom of the organization, fostering innovation and problem-solving. </a:t>
            </a:r>
          </a:p>
          <a:p>
            <a:r>
              <a:rPr lang="en-US" dirty="0"/>
              <a:t>Ultimately, a well-implemented DKM strategy leads to better-informed decisions, improved efficiency, and a competitive advantage.</a:t>
            </a:r>
          </a:p>
        </p:txBody>
      </p:sp>
    </p:spTree>
    <p:extLst>
      <p:ext uri="{BB962C8B-B14F-4D97-AF65-F5344CB8AC3E}">
        <p14:creationId xmlns:p14="http://schemas.microsoft.com/office/powerpoint/2010/main" val="3202348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Organizing data in traditional file environment</a:t>
            </a:r>
          </a:p>
        </p:txBody>
      </p:sp>
      <p:sp>
        <p:nvSpPr>
          <p:cNvPr id="3" name="Content Placeholder 2"/>
          <p:cNvSpPr>
            <a:spLocks noGrp="1"/>
          </p:cNvSpPr>
          <p:nvPr>
            <p:ph idx="1"/>
          </p:nvPr>
        </p:nvSpPr>
        <p:spPr/>
        <p:txBody>
          <a:bodyPr>
            <a:normAutofit lnSpcReduction="10000"/>
          </a:bodyPr>
          <a:lstStyle/>
          <a:p>
            <a:r>
              <a:rPr lang="en-US" dirty="0"/>
              <a:t>Nowadays businesses accumulate various types of data, such as financial information related to revenues and expenses and data about employees, customers, and vendors. </a:t>
            </a:r>
          </a:p>
          <a:p>
            <a:r>
              <a:rPr lang="en-US" dirty="0"/>
              <a:t>Those data need to be stored, organized, managed, and accessed in an effective way. </a:t>
            </a:r>
          </a:p>
          <a:p>
            <a:r>
              <a:rPr lang="en-US" dirty="0"/>
              <a:t>An effective information system in the organization helps to perform all these operations in a systematic way. Information should be reliable and accurate. </a:t>
            </a:r>
          </a:p>
          <a:p>
            <a:r>
              <a:rPr lang="en-US" dirty="0"/>
              <a:t>It is meaningful to the decision maker only when accurate information in the right format is made available to them at the right time.</a:t>
            </a:r>
          </a:p>
        </p:txBody>
      </p:sp>
    </p:spTree>
    <p:extLst>
      <p:ext uri="{BB962C8B-B14F-4D97-AF65-F5344CB8AC3E}">
        <p14:creationId xmlns:p14="http://schemas.microsoft.com/office/powerpoint/2010/main" val="3755698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20995"/>
            <a:ext cx="10515600" cy="5655968"/>
          </a:xfrm>
        </p:spPr>
        <p:txBody>
          <a:bodyPr>
            <a:normAutofit lnSpcReduction="10000"/>
          </a:bodyPr>
          <a:lstStyle/>
          <a:p>
            <a:r>
              <a:rPr lang="en-US" dirty="0"/>
              <a:t>But data loss has been a common risk, which is unnoticed by most of the businesses today. </a:t>
            </a:r>
          </a:p>
          <a:p>
            <a:r>
              <a:rPr lang="en-US" dirty="0"/>
              <a:t>Human errors, employee negligence, external factors such as hacking, natural disasters and the most common risk factors. </a:t>
            </a:r>
          </a:p>
          <a:p>
            <a:r>
              <a:rPr lang="en-US" dirty="0"/>
              <a:t>Likewise, many businesses are still lacking timely, accurate and reliable information due to the poorly designed data in their information system. </a:t>
            </a:r>
          </a:p>
          <a:p>
            <a:r>
              <a:rPr lang="en-US" dirty="0"/>
              <a:t>As the volume of data processed by organizations increases exponentially, an up-to-date data protection and recovery plan is also becoming increasingly important. </a:t>
            </a:r>
          </a:p>
          <a:p>
            <a:r>
              <a:rPr lang="en-US" dirty="0"/>
              <a:t>These are the reasons why data management is so essential. </a:t>
            </a:r>
          </a:p>
          <a:p>
            <a:r>
              <a:rPr lang="en-US" dirty="0"/>
              <a:t>We will now describe the file organization and the problems of traditional methods of file management.</a:t>
            </a:r>
          </a:p>
        </p:txBody>
      </p:sp>
    </p:spTree>
    <p:extLst>
      <p:ext uri="{BB962C8B-B14F-4D97-AF65-F5344CB8AC3E}">
        <p14:creationId xmlns:p14="http://schemas.microsoft.com/office/powerpoint/2010/main" val="1151608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75"/>
            <a:ext cx="10515600" cy="730028"/>
          </a:xfrm>
        </p:spPr>
        <p:txBody>
          <a:bodyPr/>
          <a:lstStyle/>
          <a:p>
            <a:r>
              <a:rPr lang="en-US" b="1" dirty="0"/>
              <a:t>File organization term and Concepts</a:t>
            </a:r>
            <a:endParaRPr lang="en-US" dirty="0"/>
          </a:p>
        </p:txBody>
      </p:sp>
      <p:sp>
        <p:nvSpPr>
          <p:cNvPr id="3" name="Content Placeholder 2"/>
          <p:cNvSpPr>
            <a:spLocks noGrp="1"/>
          </p:cNvSpPr>
          <p:nvPr>
            <p:ph idx="1"/>
          </p:nvPr>
        </p:nvSpPr>
        <p:spPr>
          <a:xfrm>
            <a:off x="253410" y="1070714"/>
            <a:ext cx="11685180" cy="1374774"/>
          </a:xfrm>
        </p:spPr>
        <p:txBody>
          <a:bodyPr>
            <a:normAutofit/>
          </a:bodyPr>
          <a:lstStyle/>
          <a:p>
            <a:r>
              <a:rPr lang="en-US" sz="2400" dirty="0"/>
              <a:t>To learn about files, we need to understand basic terms used to describe the file hierarchy.</a:t>
            </a:r>
          </a:p>
          <a:p>
            <a:r>
              <a:rPr lang="en-US" sz="2400" dirty="0"/>
              <a:t>The terms we shall cover are bits, bytes, fields and data items, records, file, and database.</a:t>
            </a:r>
          </a:p>
          <a:p>
            <a:r>
              <a:rPr lang="en-US" sz="2400" dirty="0"/>
              <a:t>The following figure illustrates the hierarchy of files: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0405" y="2445488"/>
            <a:ext cx="6071191" cy="4139695"/>
          </a:xfrm>
          <a:prstGeom prst="rect">
            <a:avLst/>
          </a:prstGeom>
        </p:spPr>
      </p:pic>
    </p:spTree>
    <p:extLst>
      <p:ext uri="{BB962C8B-B14F-4D97-AF65-F5344CB8AC3E}">
        <p14:creationId xmlns:p14="http://schemas.microsoft.com/office/powerpoint/2010/main" val="2411883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2772"/>
            <a:ext cx="10515600" cy="6400800"/>
          </a:xfrm>
        </p:spPr>
        <p:txBody>
          <a:bodyPr>
            <a:normAutofit/>
          </a:bodyPr>
          <a:lstStyle/>
          <a:p>
            <a:r>
              <a:rPr lang="en-US" b="1" dirty="0"/>
              <a:t>Bit: </a:t>
            </a:r>
          </a:p>
          <a:p>
            <a:pPr lvl="1"/>
            <a:r>
              <a:rPr lang="en-US" dirty="0"/>
              <a:t>A bit represents the smallest unit of the data that can be processed by a computer. </a:t>
            </a:r>
          </a:p>
          <a:p>
            <a:pPr lvl="1"/>
            <a:r>
              <a:rPr lang="en-US" dirty="0"/>
              <a:t>A bit has a single binary value, either 0 or 1.</a:t>
            </a:r>
          </a:p>
          <a:p>
            <a:r>
              <a:rPr lang="en-US" b="1" dirty="0"/>
              <a:t>Byte: </a:t>
            </a:r>
          </a:p>
          <a:p>
            <a:pPr lvl="1"/>
            <a:r>
              <a:rPr lang="en-US" dirty="0"/>
              <a:t>A byte is an arbitrary set of 8 bits that represent a character. </a:t>
            </a:r>
          </a:p>
          <a:p>
            <a:pPr lvl="1"/>
            <a:r>
              <a:rPr lang="en-US" dirty="0"/>
              <a:t>A byte is the unit most computers use to represent a character such as a letter, number, or typographic symbol (for example, "y", "7", or "?").</a:t>
            </a:r>
          </a:p>
          <a:p>
            <a:r>
              <a:rPr lang="en-US" b="1" dirty="0"/>
              <a:t>Fields and data items: </a:t>
            </a:r>
          </a:p>
          <a:p>
            <a:pPr lvl="1"/>
            <a:r>
              <a:rPr lang="en-US" dirty="0"/>
              <a:t>A field is a physical space in a disk or tape whereas the data item stored as the field. </a:t>
            </a:r>
          </a:p>
          <a:p>
            <a:pPr lvl="1"/>
            <a:r>
              <a:rPr lang="en-US" dirty="0"/>
              <a:t>One or more bytes are combined into a data item to describe an attribute of an object. </a:t>
            </a:r>
          </a:p>
          <a:p>
            <a:pPr lvl="1"/>
            <a:r>
              <a:rPr lang="en-US" dirty="0"/>
              <a:t>For example, if the object is a student, attributes may be </a:t>
            </a:r>
            <a:r>
              <a:rPr lang="en-US" dirty="0" err="1"/>
              <a:t>student_id</a:t>
            </a:r>
            <a:r>
              <a:rPr lang="en-US" dirty="0"/>
              <a:t>, name, address, faculty, batch and so on.</a:t>
            </a:r>
          </a:p>
        </p:txBody>
      </p:sp>
    </p:spTree>
    <p:extLst>
      <p:ext uri="{BB962C8B-B14F-4D97-AF65-F5344CB8AC3E}">
        <p14:creationId xmlns:p14="http://schemas.microsoft.com/office/powerpoint/2010/main" val="377348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2772"/>
            <a:ext cx="10515600" cy="6400800"/>
          </a:xfrm>
        </p:spPr>
        <p:txBody>
          <a:bodyPr>
            <a:normAutofit/>
          </a:bodyPr>
          <a:lstStyle/>
          <a:p>
            <a:r>
              <a:rPr lang="en-US" dirty="0"/>
              <a:t>Record: </a:t>
            </a:r>
          </a:p>
          <a:p>
            <a:pPr lvl="1"/>
            <a:r>
              <a:rPr lang="en-US" dirty="0"/>
              <a:t>The data items related to an object are combined in to a record. </a:t>
            </a:r>
          </a:p>
          <a:p>
            <a:pPr lvl="1"/>
            <a:r>
              <a:rPr lang="en-US" dirty="0"/>
              <a:t>An employee in the organization has a record with his </a:t>
            </a:r>
            <a:r>
              <a:rPr lang="en-US" dirty="0" err="1"/>
              <a:t>identification_number</a:t>
            </a:r>
            <a:r>
              <a:rPr lang="en-US" dirty="0"/>
              <a:t>, name, address, post, salary, </a:t>
            </a:r>
            <a:r>
              <a:rPr lang="en-US" dirty="0" err="1"/>
              <a:t>joined_date</a:t>
            </a:r>
            <a:r>
              <a:rPr lang="en-US" dirty="0"/>
              <a:t> etc. </a:t>
            </a:r>
          </a:p>
          <a:p>
            <a:pPr lvl="1"/>
            <a:r>
              <a:rPr lang="en-US" dirty="0"/>
              <a:t>Each record has a unique key or ID number, which can be used as an identifier for processing the record.</a:t>
            </a:r>
          </a:p>
          <a:p>
            <a:r>
              <a:rPr lang="en-US" dirty="0"/>
              <a:t>File: </a:t>
            </a:r>
          </a:p>
          <a:p>
            <a:pPr lvl="1"/>
            <a:r>
              <a:rPr lang="en-US" dirty="0"/>
              <a:t>A collection of related records makes up a file. </a:t>
            </a:r>
          </a:p>
          <a:p>
            <a:pPr lvl="1"/>
            <a:r>
              <a:rPr lang="en-US" dirty="0"/>
              <a:t>The size of the file is limited by the size of the memory and the size of the storage medium. </a:t>
            </a:r>
          </a:p>
          <a:p>
            <a:r>
              <a:rPr lang="en-US" dirty="0"/>
              <a:t>Database: </a:t>
            </a:r>
          </a:p>
          <a:p>
            <a:pPr lvl="1"/>
            <a:r>
              <a:rPr lang="en-US" dirty="0"/>
              <a:t>The highest level in the hierarchy is the database. </a:t>
            </a:r>
          </a:p>
          <a:p>
            <a:pPr lvl="1"/>
            <a:r>
              <a:rPr lang="en-US" dirty="0"/>
              <a:t>It is a set of interrelated records for real-time processing. </a:t>
            </a:r>
          </a:p>
          <a:p>
            <a:pPr lvl="1"/>
            <a:r>
              <a:rPr lang="en-US" dirty="0"/>
              <a:t>It contains the necessary data for problem solving and can be used by several users accessing data concurrently.</a:t>
            </a:r>
          </a:p>
        </p:txBody>
      </p:sp>
    </p:spTree>
    <p:extLst>
      <p:ext uri="{BB962C8B-B14F-4D97-AF65-F5344CB8AC3E}">
        <p14:creationId xmlns:p14="http://schemas.microsoft.com/office/powerpoint/2010/main" val="1747871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Problems with the traditional file environment</a:t>
            </a:r>
          </a:p>
        </p:txBody>
      </p:sp>
      <p:sp>
        <p:nvSpPr>
          <p:cNvPr id="3" name="Content Placeholder 2"/>
          <p:cNvSpPr>
            <a:spLocks noGrp="1"/>
          </p:cNvSpPr>
          <p:nvPr>
            <p:ph idx="1"/>
          </p:nvPr>
        </p:nvSpPr>
        <p:spPr/>
        <p:txBody>
          <a:bodyPr/>
          <a:lstStyle/>
          <a:p>
            <a:r>
              <a:rPr lang="en-US" dirty="0"/>
              <a:t>In a traditional approach to file processing, organizations maintain independent data records i.e. it encourages each functional area in a corporation to develop specialized applications. </a:t>
            </a:r>
          </a:p>
          <a:p>
            <a:r>
              <a:rPr lang="en-US" dirty="0"/>
              <a:t>Thus, an organization has to develop a number of distinct applications programs each with an associated application-specific data files. For instance, in an organization, information system for accounting, finance, inventory, human resources, manufacturing, sales and marketing would have their own data files.</a:t>
            </a:r>
          </a:p>
        </p:txBody>
      </p:sp>
    </p:spTree>
    <p:extLst>
      <p:ext uri="{BB962C8B-B14F-4D97-AF65-F5344CB8AC3E}">
        <p14:creationId xmlns:p14="http://schemas.microsoft.com/office/powerpoint/2010/main" val="2839565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6270"/>
            <a:ext cx="10515600" cy="740661"/>
          </a:xfrm>
        </p:spPr>
        <p:txBody>
          <a:bodyPr>
            <a:normAutofit/>
          </a:bodyPr>
          <a:lstStyle/>
          <a:p>
            <a:r>
              <a:rPr lang="en-US" sz="4000" b="1" dirty="0"/>
              <a:t>Data Processing System based on File Environment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30631" y="1108387"/>
            <a:ext cx="8130738" cy="5366287"/>
          </a:xfrm>
        </p:spPr>
      </p:pic>
    </p:spTree>
    <p:extLst>
      <p:ext uri="{BB962C8B-B14F-4D97-AF65-F5344CB8AC3E}">
        <p14:creationId xmlns:p14="http://schemas.microsoft.com/office/powerpoint/2010/main" val="3580473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Redundancy</a:t>
            </a:r>
          </a:p>
        </p:txBody>
      </p:sp>
      <p:sp>
        <p:nvSpPr>
          <p:cNvPr id="3" name="Content Placeholder 2"/>
          <p:cNvSpPr>
            <a:spLocks noGrp="1"/>
          </p:cNvSpPr>
          <p:nvPr>
            <p:ph idx="1"/>
          </p:nvPr>
        </p:nvSpPr>
        <p:spPr/>
        <p:txBody>
          <a:bodyPr>
            <a:normAutofit fontScale="92500" lnSpcReduction="10000"/>
          </a:bodyPr>
          <a:lstStyle/>
          <a:p>
            <a:r>
              <a:rPr lang="en-US" dirty="0"/>
              <a:t>Data redundancy is the presence of duplicate data items in more than one data file. </a:t>
            </a:r>
          </a:p>
          <a:p>
            <a:r>
              <a:rPr lang="en-US" dirty="0"/>
              <a:t>Data redundancy occurs when different functional areas in an organization store the same piece of data item independently. </a:t>
            </a:r>
          </a:p>
          <a:p>
            <a:r>
              <a:rPr lang="en-US" dirty="0"/>
              <a:t>For example, the record (i.e. employee-id, employee-name, employee-address) of an employee may appear in accounting, human resources as well as sales data files. </a:t>
            </a:r>
          </a:p>
          <a:p>
            <a:r>
              <a:rPr lang="en-US" dirty="0"/>
              <a:t>Consequently, storing the same data item in multiple data files takes up large amount of disk space. </a:t>
            </a:r>
          </a:p>
          <a:p>
            <a:r>
              <a:rPr lang="en-US" dirty="0"/>
              <a:t>Such types of data redundancy problems can be removed with the help of the database management system to a large extent.</a:t>
            </a:r>
          </a:p>
        </p:txBody>
      </p:sp>
    </p:spTree>
    <p:extLst>
      <p:ext uri="{BB962C8B-B14F-4D97-AF65-F5344CB8AC3E}">
        <p14:creationId xmlns:p14="http://schemas.microsoft.com/office/powerpoint/2010/main" val="5185963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Inconsistency</a:t>
            </a:r>
          </a:p>
        </p:txBody>
      </p:sp>
      <p:sp>
        <p:nvSpPr>
          <p:cNvPr id="3" name="Content Placeholder 2"/>
          <p:cNvSpPr>
            <a:spLocks noGrp="1"/>
          </p:cNvSpPr>
          <p:nvPr>
            <p:ph idx="1"/>
          </p:nvPr>
        </p:nvSpPr>
        <p:spPr/>
        <p:txBody>
          <a:bodyPr/>
          <a:lstStyle/>
          <a:p>
            <a:r>
              <a:rPr lang="en-US" dirty="0"/>
              <a:t>Data inconsistency is a condition that occurs between data files when similar data is kept in different formats in more than one location. </a:t>
            </a:r>
          </a:p>
          <a:p>
            <a:r>
              <a:rPr lang="en-US" dirty="0"/>
              <a:t>In fact, data redundancy leads to inconsistency of data. </a:t>
            </a:r>
          </a:p>
          <a:p>
            <a:r>
              <a:rPr lang="en-US" dirty="0"/>
              <a:t>Those duplicated data create unreliable information because the chances of having a value changed in one file are high, but on the other file the value remains the same. </a:t>
            </a:r>
          </a:p>
          <a:p>
            <a:r>
              <a:rPr lang="en-US" dirty="0"/>
              <a:t>This condition of inconsistency is often experienced when using the</a:t>
            </a:r>
            <a:br>
              <a:rPr lang="en-US" dirty="0"/>
            </a:br>
            <a:r>
              <a:rPr lang="en-US" dirty="0"/>
              <a:t>traditional file processing, and it is very expensive and difficult to rectify such inconsistencies.</a:t>
            </a:r>
          </a:p>
        </p:txBody>
      </p:sp>
    </p:spTree>
    <p:extLst>
      <p:ext uri="{BB962C8B-B14F-4D97-AF65-F5344CB8AC3E}">
        <p14:creationId xmlns:p14="http://schemas.microsoft.com/office/powerpoint/2010/main" val="2914980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12381"/>
            <a:ext cx="10515600" cy="5464582"/>
          </a:xfrm>
        </p:spPr>
        <p:txBody>
          <a:bodyPr/>
          <a:lstStyle/>
          <a:p>
            <a:r>
              <a:rPr lang="en-US" dirty="0"/>
              <a:t>For example, suppose the address of a student is changed and it is updated in the data file located at coordinator's office only. </a:t>
            </a:r>
          </a:p>
          <a:p>
            <a:r>
              <a:rPr lang="en-US" dirty="0"/>
              <a:t>Since the data files are maintained by other departments too, some data files may contain the old address, while others contain the new</a:t>
            </a:r>
            <a:br>
              <a:rPr lang="en-US" dirty="0"/>
            </a:br>
            <a:r>
              <a:rPr lang="en-US" dirty="0"/>
              <a:t>address. </a:t>
            </a:r>
          </a:p>
          <a:p>
            <a:r>
              <a:rPr lang="en-US" dirty="0"/>
              <a:t>Thus, data inconsistency arises because of partial updating of student's address.</a:t>
            </a:r>
          </a:p>
          <a:p>
            <a:r>
              <a:rPr lang="en-US" dirty="0"/>
              <a:t>The solution to this problem of inconsistency is the use of database, which is an integrated collection of files.</a:t>
            </a:r>
          </a:p>
        </p:txBody>
      </p:sp>
    </p:spTree>
    <p:extLst>
      <p:ext uri="{BB962C8B-B14F-4D97-AF65-F5344CB8AC3E}">
        <p14:creationId xmlns:p14="http://schemas.microsoft.com/office/powerpoint/2010/main" val="1510722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Isolation</a:t>
            </a:r>
          </a:p>
        </p:txBody>
      </p:sp>
      <p:sp>
        <p:nvSpPr>
          <p:cNvPr id="3" name="Content Placeholder 2"/>
          <p:cNvSpPr>
            <a:spLocks noGrp="1"/>
          </p:cNvSpPr>
          <p:nvPr>
            <p:ph idx="1"/>
          </p:nvPr>
        </p:nvSpPr>
        <p:spPr/>
        <p:txBody>
          <a:bodyPr>
            <a:normAutofit fontScale="92500" lnSpcReduction="10000"/>
          </a:bodyPr>
          <a:lstStyle/>
          <a:p>
            <a:r>
              <a:rPr lang="en-US" dirty="0"/>
              <a:t>In a traditional file environment, data is isolated in separate files. </a:t>
            </a:r>
          </a:p>
          <a:p>
            <a:r>
              <a:rPr lang="en-US" dirty="0"/>
              <a:t>It is difficult to access the desired information from data files. </a:t>
            </a:r>
          </a:p>
          <a:p>
            <a:r>
              <a:rPr lang="en-US" dirty="0"/>
              <a:t>For example, if the names of students are stored in one data file and examination marks of students are stored in another data file and now you need data from both files. </a:t>
            </a:r>
          </a:p>
          <a:p>
            <a:r>
              <a:rPr lang="en-US" dirty="0"/>
              <a:t>With the traditional approach to file processing, it is a tedious job. </a:t>
            </a:r>
          </a:p>
          <a:p>
            <a:r>
              <a:rPr lang="en-US" dirty="0"/>
              <a:t>The programmer must change the data files to extract the required data. </a:t>
            </a:r>
          </a:p>
          <a:p>
            <a:r>
              <a:rPr lang="en-US" dirty="0"/>
              <a:t>In such systems, it is very difficult to merge required data from two or more data files.</a:t>
            </a:r>
          </a:p>
          <a:p>
            <a:r>
              <a:rPr lang="en-US" dirty="0"/>
              <a:t>Database management system removes such problems.</a:t>
            </a:r>
          </a:p>
        </p:txBody>
      </p:sp>
    </p:spTree>
    <p:extLst>
      <p:ext uri="{BB962C8B-B14F-4D97-AF65-F5344CB8AC3E}">
        <p14:creationId xmlns:p14="http://schemas.microsoft.com/office/powerpoint/2010/main" val="882778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11962"/>
            <a:ext cx="10515600" cy="581173"/>
          </a:xfrm>
        </p:spPr>
        <p:txBody>
          <a:bodyPr>
            <a:normAutofit fontScale="90000"/>
          </a:bodyPr>
          <a:lstStyle/>
          <a:p>
            <a:r>
              <a:rPr lang="en-US" b="1" dirty="0"/>
              <a:t>Data Atomicity</a:t>
            </a:r>
          </a:p>
        </p:txBody>
      </p:sp>
      <p:sp>
        <p:nvSpPr>
          <p:cNvPr id="3" name="Content Placeholder 2"/>
          <p:cNvSpPr>
            <a:spLocks noGrp="1"/>
          </p:cNvSpPr>
          <p:nvPr>
            <p:ph idx="1"/>
          </p:nvPr>
        </p:nvSpPr>
        <p:spPr>
          <a:xfrm>
            <a:off x="838200" y="1212112"/>
            <a:ext cx="10515600" cy="5486400"/>
          </a:xfrm>
        </p:spPr>
        <p:txBody>
          <a:bodyPr>
            <a:normAutofit fontScale="92500" lnSpcReduction="20000"/>
          </a:bodyPr>
          <a:lstStyle/>
          <a:p>
            <a:r>
              <a:rPr lang="en-US" dirty="0"/>
              <a:t>Data atomicity means that either one transaction should take place as a whole or it should not take place at all. </a:t>
            </a:r>
          </a:p>
          <a:p>
            <a:r>
              <a:rPr lang="en-US" dirty="0"/>
              <a:t>For example, in case of traditional file processing system, the names of</a:t>
            </a:r>
            <a:br>
              <a:rPr lang="en-US" dirty="0"/>
            </a:br>
            <a:r>
              <a:rPr lang="en-US" dirty="0"/>
              <a:t>students who have paid their fees is maintained in one data file and the names of students who have not paid their fees is maintained in another data file. </a:t>
            </a:r>
          </a:p>
          <a:p>
            <a:r>
              <a:rPr lang="en-US" dirty="0"/>
              <a:t>If a student has paid his fee, his name is entered in the file that contains the names of students who have paid their fees. </a:t>
            </a:r>
          </a:p>
          <a:p>
            <a:r>
              <a:rPr lang="en-US" dirty="0"/>
              <a:t>It is possible that, for some reason, the name of student is not removed from the file that contains the names of the students who have not paid their fees. </a:t>
            </a:r>
          </a:p>
          <a:p>
            <a:r>
              <a:rPr lang="en-US" dirty="0"/>
              <a:t>Thus, the name of the student will appear in both the data files and the data will become inconsistent. </a:t>
            </a:r>
          </a:p>
          <a:p>
            <a:r>
              <a:rPr lang="en-US" dirty="0"/>
              <a:t>This is called the data atomicity problem. </a:t>
            </a:r>
          </a:p>
          <a:p>
            <a:r>
              <a:rPr lang="en-US" dirty="0"/>
              <a:t>Database management system guarantees automaticity of the execution of the transaction.</a:t>
            </a:r>
          </a:p>
        </p:txBody>
      </p:sp>
    </p:spTree>
    <p:extLst>
      <p:ext uri="{BB962C8B-B14F-4D97-AF65-F5344CB8AC3E}">
        <p14:creationId xmlns:p14="http://schemas.microsoft.com/office/powerpoint/2010/main" val="22670999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Integrity</a:t>
            </a:r>
          </a:p>
        </p:txBody>
      </p:sp>
      <p:sp>
        <p:nvSpPr>
          <p:cNvPr id="3" name="Content Placeholder 2"/>
          <p:cNvSpPr>
            <a:spLocks noGrp="1"/>
          </p:cNvSpPr>
          <p:nvPr>
            <p:ph idx="1"/>
          </p:nvPr>
        </p:nvSpPr>
        <p:spPr/>
        <p:txBody>
          <a:bodyPr/>
          <a:lstStyle/>
          <a:p>
            <a:r>
              <a:rPr lang="en-US" dirty="0"/>
              <a:t>Data integrity is a term used to refer to the accuracy and consistency of data. </a:t>
            </a:r>
          </a:p>
          <a:p>
            <a:r>
              <a:rPr lang="en-US" dirty="0"/>
              <a:t>Data must be complete, with no variations or compromises from the original, to be considered reliable and accurate. </a:t>
            </a:r>
          </a:p>
          <a:p>
            <a:r>
              <a:rPr lang="en-US" dirty="0"/>
              <a:t>Compromises to data integrity can happen in several ways. In organizations where data is handled, identifying, and addressing potential sources of damage to data is an important aspect of data security.</a:t>
            </a:r>
          </a:p>
          <a:p>
            <a:r>
              <a:rPr lang="en-US" dirty="0"/>
              <a:t>Integrity constraints are the conditions applied to the data.</a:t>
            </a:r>
          </a:p>
        </p:txBody>
      </p:sp>
    </p:spTree>
    <p:extLst>
      <p:ext uri="{BB962C8B-B14F-4D97-AF65-F5344CB8AC3E}">
        <p14:creationId xmlns:p14="http://schemas.microsoft.com/office/powerpoint/2010/main" val="40557714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9730"/>
            <a:ext cx="10515600" cy="6028661"/>
          </a:xfrm>
        </p:spPr>
        <p:txBody>
          <a:bodyPr>
            <a:normAutofit lnSpcReduction="10000"/>
          </a:bodyPr>
          <a:lstStyle/>
          <a:p>
            <a:r>
              <a:rPr lang="en-US" dirty="0"/>
              <a:t>For instance, if maximum salary in an organization is NRs. 175000 and we have the integrity constraint "Salary &lt;= 175000". </a:t>
            </a:r>
          </a:p>
          <a:p>
            <a:r>
              <a:rPr lang="en-US" dirty="0"/>
              <a:t>Integrity constrains the guard against accidental damage to a database, i.e. it prevents users from making mistakes. </a:t>
            </a:r>
          </a:p>
          <a:p>
            <a:r>
              <a:rPr lang="en-US" dirty="0"/>
              <a:t>Let us suppose if a user mistakenly enters NRs. 250000 in place of NRs. 25000 while transferring the salary of an employee in his/her</a:t>
            </a:r>
            <a:br>
              <a:rPr lang="en-US" dirty="0"/>
            </a:br>
            <a:r>
              <a:rPr lang="en-US" dirty="0"/>
              <a:t>account, specified integrity constraint is violated. </a:t>
            </a:r>
          </a:p>
          <a:p>
            <a:r>
              <a:rPr lang="en-US" dirty="0"/>
              <a:t>Hence the system prevents users from entering the amount NRs. 250000. </a:t>
            </a:r>
          </a:p>
          <a:p>
            <a:r>
              <a:rPr lang="en-US" dirty="0"/>
              <a:t>Unfortunately, traditional file system doesn't allow us to specify such integrity constraints and hence it's difficult to maintain reliability and</a:t>
            </a:r>
            <a:br>
              <a:rPr lang="en-US" dirty="0"/>
            </a:br>
            <a:r>
              <a:rPr lang="en-US" dirty="0"/>
              <a:t>correctness of data. </a:t>
            </a:r>
          </a:p>
          <a:p>
            <a:r>
              <a:rPr lang="en-US" dirty="0"/>
              <a:t>However, database management system allows us to specify integrity</a:t>
            </a:r>
            <a:br>
              <a:rPr lang="en-US" dirty="0"/>
            </a:br>
            <a:r>
              <a:rPr lang="en-US" dirty="0"/>
              <a:t>constrain in data so that the correctness of data is assured.</a:t>
            </a:r>
            <a:br>
              <a:rPr lang="en-US" dirty="0"/>
            </a:br>
            <a:endParaRPr lang="en-US" dirty="0"/>
          </a:p>
        </p:txBody>
      </p:sp>
    </p:spTree>
    <p:extLst>
      <p:ext uri="{BB962C8B-B14F-4D97-AF65-F5344CB8AC3E}">
        <p14:creationId xmlns:p14="http://schemas.microsoft.com/office/powerpoint/2010/main" val="9286384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80903"/>
          </a:xfrm>
        </p:spPr>
        <p:txBody>
          <a:bodyPr/>
          <a:lstStyle/>
          <a:p>
            <a:r>
              <a:rPr lang="en-US" b="1" dirty="0"/>
              <a:t>Program Data Dependency</a:t>
            </a:r>
          </a:p>
        </p:txBody>
      </p:sp>
      <p:sp>
        <p:nvSpPr>
          <p:cNvPr id="3" name="Content Placeholder 2"/>
          <p:cNvSpPr>
            <a:spLocks noGrp="1"/>
          </p:cNvSpPr>
          <p:nvPr>
            <p:ph idx="1"/>
          </p:nvPr>
        </p:nvSpPr>
        <p:spPr>
          <a:xfrm>
            <a:off x="838200" y="1573619"/>
            <a:ext cx="10515600" cy="4603344"/>
          </a:xfrm>
        </p:spPr>
        <p:txBody>
          <a:bodyPr>
            <a:normAutofit lnSpcReduction="10000"/>
          </a:bodyPr>
          <a:lstStyle/>
          <a:p>
            <a:r>
              <a:rPr lang="en-US" dirty="0"/>
              <a:t>In the traditional file environment, the data stored in a file depends upon the application program through which the file was created. </a:t>
            </a:r>
          </a:p>
          <a:p>
            <a:r>
              <a:rPr lang="en-US" dirty="0"/>
              <a:t>The physical structure of data files and format of the stored data depends on its application program. </a:t>
            </a:r>
          </a:p>
          <a:p>
            <a:r>
              <a:rPr lang="en-US" dirty="0"/>
              <a:t>And data files in different departments could have been created using different application programs so it is difficult to change the structure of those data files or records. </a:t>
            </a:r>
          </a:p>
          <a:p>
            <a:r>
              <a:rPr lang="en-US" dirty="0"/>
              <a:t>If you want to change the structure of the data file (or format of file), then you must modify the application program. </a:t>
            </a:r>
          </a:p>
          <a:p>
            <a:r>
              <a:rPr lang="en-US" dirty="0"/>
              <a:t>This characteristic of traditional file environment is known as program-data dependency.</a:t>
            </a:r>
          </a:p>
        </p:txBody>
      </p:sp>
    </p:spTree>
    <p:extLst>
      <p:ext uri="{BB962C8B-B14F-4D97-AF65-F5344CB8AC3E}">
        <p14:creationId xmlns:p14="http://schemas.microsoft.com/office/powerpoint/2010/main" val="29872713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Lack of flexibility</a:t>
            </a:r>
          </a:p>
        </p:txBody>
      </p:sp>
      <p:sp>
        <p:nvSpPr>
          <p:cNvPr id="3" name="Content Placeholder 2"/>
          <p:cNvSpPr>
            <a:spLocks noGrp="1"/>
          </p:cNvSpPr>
          <p:nvPr>
            <p:ph idx="1"/>
          </p:nvPr>
        </p:nvSpPr>
        <p:spPr/>
        <p:txBody>
          <a:bodyPr/>
          <a:lstStyle/>
          <a:p>
            <a:r>
              <a:rPr lang="en-US" dirty="0"/>
              <a:t>Traditional file system can provide only the scheduled reports but cannot generate ad hoc reports whenever needed. </a:t>
            </a:r>
          </a:p>
          <a:p>
            <a:r>
              <a:rPr lang="en-US" dirty="0"/>
              <a:t>Though the information related to ad hoc reports are stored</a:t>
            </a:r>
            <a:br>
              <a:rPr lang="en-US" dirty="0"/>
            </a:br>
            <a:r>
              <a:rPr lang="en-US" dirty="0"/>
              <a:t>somewhere else inside the system, it is costly, and it takes too much time to retrieve.</a:t>
            </a:r>
          </a:p>
          <a:p>
            <a:r>
              <a:rPr lang="en-US" dirty="0"/>
              <a:t>Programmers may have to work for several days to put together the required data items in a new file.</a:t>
            </a:r>
          </a:p>
        </p:txBody>
      </p:sp>
    </p:spTree>
    <p:extLst>
      <p:ext uri="{BB962C8B-B14F-4D97-AF65-F5344CB8AC3E}">
        <p14:creationId xmlns:p14="http://schemas.microsoft.com/office/powerpoint/2010/main" val="28385092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Insecurity</a:t>
            </a:r>
          </a:p>
        </p:txBody>
      </p:sp>
      <p:sp>
        <p:nvSpPr>
          <p:cNvPr id="3" name="Content Placeholder 2"/>
          <p:cNvSpPr>
            <a:spLocks noGrp="1"/>
          </p:cNvSpPr>
          <p:nvPr>
            <p:ph idx="1"/>
          </p:nvPr>
        </p:nvSpPr>
        <p:spPr/>
        <p:txBody>
          <a:bodyPr/>
          <a:lstStyle/>
          <a:p>
            <a:r>
              <a:rPr lang="en-US" dirty="0"/>
              <a:t>The computer file processing systems do not provide proper security against illegal access to data. </a:t>
            </a:r>
          </a:p>
          <a:p>
            <a:r>
              <a:rPr lang="en-US" dirty="0"/>
              <a:t>Anyone can easily change or delete valuable data stored in the data file, which cannot be easily identified by the management. </a:t>
            </a:r>
          </a:p>
          <a:p>
            <a:r>
              <a:rPr lang="en-US" dirty="0"/>
              <a:t>Since the application programs are added to the system in an ad hoc manner, enforcing security constraints in file processing system is</a:t>
            </a:r>
            <a:br>
              <a:rPr lang="en-US" dirty="0"/>
            </a:br>
            <a:r>
              <a:rPr lang="en-US" dirty="0"/>
              <a:t>very difficult. </a:t>
            </a:r>
          </a:p>
          <a:p>
            <a:r>
              <a:rPr lang="en-US" dirty="0"/>
              <a:t>It is the most critical problem of a file processing system.</a:t>
            </a:r>
          </a:p>
        </p:txBody>
      </p:sp>
    </p:spTree>
    <p:extLst>
      <p:ext uri="{BB962C8B-B14F-4D97-AF65-F5344CB8AC3E}">
        <p14:creationId xmlns:p14="http://schemas.microsoft.com/office/powerpoint/2010/main" val="20124654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Limited Data Sharing</a:t>
            </a:r>
          </a:p>
        </p:txBody>
      </p:sp>
      <p:sp>
        <p:nvSpPr>
          <p:cNvPr id="3" name="Content Placeholder 2"/>
          <p:cNvSpPr>
            <a:spLocks noGrp="1"/>
          </p:cNvSpPr>
          <p:nvPr>
            <p:ph idx="1"/>
          </p:nvPr>
        </p:nvSpPr>
        <p:spPr/>
        <p:txBody>
          <a:bodyPr/>
          <a:lstStyle/>
          <a:p>
            <a:r>
              <a:rPr lang="en-US" dirty="0"/>
              <a:t>In computer file processing systems, each application program uses its own private data files. </a:t>
            </a:r>
          </a:p>
          <a:p>
            <a:r>
              <a:rPr lang="en-US" dirty="0"/>
              <a:t>The computer file processing systems provide the limited facility to share data of a data file among multiple users on the network.</a:t>
            </a:r>
            <a:br>
              <a:rPr lang="en-US" dirty="0"/>
            </a:br>
            <a:endParaRPr lang="en-US" dirty="0"/>
          </a:p>
        </p:txBody>
      </p:sp>
    </p:spTree>
    <p:extLst>
      <p:ext uri="{BB962C8B-B14F-4D97-AF65-F5344CB8AC3E}">
        <p14:creationId xmlns:p14="http://schemas.microsoft.com/office/powerpoint/2010/main" val="11550498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Concurrent Access anomalies</a:t>
            </a:r>
          </a:p>
        </p:txBody>
      </p:sp>
      <p:sp>
        <p:nvSpPr>
          <p:cNvPr id="3" name="Content Placeholder 2"/>
          <p:cNvSpPr>
            <a:spLocks noGrp="1"/>
          </p:cNvSpPr>
          <p:nvPr>
            <p:ph idx="1"/>
          </p:nvPr>
        </p:nvSpPr>
        <p:spPr/>
        <p:txBody>
          <a:bodyPr/>
          <a:lstStyle/>
          <a:p>
            <a:r>
              <a:rPr lang="en-US" dirty="0"/>
              <a:t>If multiple users are updating the same data file shared in the network simultaneously it will result in inconsistent data state. </a:t>
            </a:r>
          </a:p>
          <a:p>
            <a:r>
              <a:rPr lang="en-US" dirty="0"/>
              <a:t>In a traditional file environment, it is very difficult to handle this using program code. </a:t>
            </a:r>
          </a:p>
          <a:p>
            <a:r>
              <a:rPr lang="en-US" dirty="0"/>
              <a:t>This results in concurrent access anomalies.</a:t>
            </a:r>
          </a:p>
        </p:txBody>
      </p:sp>
    </p:spTree>
    <p:extLst>
      <p:ext uri="{BB962C8B-B14F-4D97-AF65-F5344CB8AC3E}">
        <p14:creationId xmlns:p14="http://schemas.microsoft.com/office/powerpoint/2010/main" val="10761366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database approach to Data Management</a:t>
            </a:r>
            <a:endParaRPr lang="en-US" dirty="0"/>
          </a:p>
        </p:txBody>
      </p:sp>
      <p:sp>
        <p:nvSpPr>
          <p:cNvPr id="3" name="Content Placeholder 2"/>
          <p:cNvSpPr>
            <a:spLocks noGrp="1"/>
          </p:cNvSpPr>
          <p:nvPr>
            <p:ph idx="1"/>
          </p:nvPr>
        </p:nvSpPr>
        <p:spPr/>
        <p:txBody>
          <a:bodyPr>
            <a:normAutofit/>
          </a:bodyPr>
          <a:lstStyle/>
          <a:p>
            <a:r>
              <a:rPr lang="en-US" dirty="0"/>
              <a:t>The database system helps to remove almost all the problems created with traditional file environments in several ways. </a:t>
            </a:r>
          </a:p>
          <a:p>
            <a:r>
              <a:rPr lang="en-US" dirty="0"/>
              <a:t>Database is a collection of related data about a subject organized in a useful manner that provides a base or foundation for procedures such as retrieving, managing, updating those data. </a:t>
            </a:r>
          </a:p>
          <a:p>
            <a:r>
              <a:rPr lang="en-US" dirty="0"/>
              <a:t>It contains the necessary data for drawing conclusions, and making decisions and can be used by several users accessing data , concurrently.</a:t>
            </a:r>
          </a:p>
        </p:txBody>
      </p:sp>
    </p:spTree>
    <p:extLst>
      <p:ext uri="{BB962C8B-B14F-4D97-AF65-F5344CB8AC3E}">
        <p14:creationId xmlns:p14="http://schemas.microsoft.com/office/powerpoint/2010/main" val="5718116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9730"/>
            <a:ext cx="10515600" cy="5677233"/>
          </a:xfrm>
        </p:spPr>
        <p:txBody>
          <a:bodyPr>
            <a:normAutofit lnSpcReduction="10000"/>
          </a:bodyPr>
          <a:lstStyle/>
          <a:p>
            <a:r>
              <a:rPr lang="en-US" dirty="0"/>
              <a:t>Databases typically contain combinations of data records or files, such as sales transactions, product catalogs and inventories, and customer profiles. </a:t>
            </a:r>
          </a:p>
          <a:p>
            <a:r>
              <a:rPr lang="en-US" dirty="0"/>
              <a:t>Typically, a database manager provides users with the capabilities of controlling read/write access, specifying report generation, and analyzing usage. </a:t>
            </a:r>
          </a:p>
          <a:p>
            <a:r>
              <a:rPr lang="en-US" dirty="0"/>
              <a:t>Databases and database managers are prevalent in large mainframe systems but are also present in smaller distributed workstations and mid-range systems on personal computers. </a:t>
            </a:r>
          </a:p>
          <a:p>
            <a:r>
              <a:rPr lang="en-US" b="1" dirty="0"/>
              <a:t>SQL (Structured Query Language) </a:t>
            </a:r>
            <a:r>
              <a:rPr lang="en-US" dirty="0"/>
              <a:t>is a standard language for making interactive queries from and updating a database with the help of </a:t>
            </a:r>
            <a:r>
              <a:rPr lang="en-US" b="1" dirty="0"/>
              <a:t>Database Management System (DBMS) </a:t>
            </a:r>
            <a:r>
              <a:rPr lang="en-US" dirty="0"/>
              <a:t>such as IBM's DB2, Microsoft's SQL Server, Oracle Database &amp; MySQL by Oracle Corporation, and database products from Sybase.</a:t>
            </a:r>
          </a:p>
        </p:txBody>
      </p:sp>
    </p:spTree>
    <p:extLst>
      <p:ext uri="{BB962C8B-B14F-4D97-AF65-F5344CB8AC3E}">
        <p14:creationId xmlns:p14="http://schemas.microsoft.com/office/powerpoint/2010/main" val="82849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63526"/>
            <a:ext cx="10515600" cy="5613437"/>
          </a:xfrm>
        </p:spPr>
        <p:txBody>
          <a:bodyPr>
            <a:normAutofit fontScale="92500" lnSpcReduction="10000"/>
          </a:bodyPr>
          <a:lstStyle/>
          <a:p>
            <a:r>
              <a:rPr lang="en-US" dirty="0"/>
              <a:t>Most databases contain multiple tables, which may each include several different fields.</a:t>
            </a:r>
          </a:p>
          <a:p>
            <a:r>
              <a:rPr lang="en-US" dirty="0"/>
              <a:t>For example, a business firm's database may include tables for products, employees, and financial records. </a:t>
            </a:r>
          </a:p>
          <a:p>
            <a:r>
              <a:rPr lang="en-US" dirty="0"/>
              <a:t>Each of these tables would have different fields that are relevant to the</a:t>
            </a:r>
            <a:br>
              <a:rPr lang="en-US" dirty="0"/>
            </a:br>
            <a:r>
              <a:rPr lang="en-US" dirty="0"/>
              <a:t>information stored in the table. </a:t>
            </a:r>
          </a:p>
          <a:p>
            <a:r>
              <a:rPr lang="en-US" dirty="0"/>
              <a:t>Nearly all e-commerce sites use databases to store product, inventory, sales, and customer information. </a:t>
            </a:r>
          </a:p>
          <a:p>
            <a:r>
              <a:rPr lang="en-US" dirty="0"/>
              <a:t>These sites use DBMS, such as MSSQL, PostgreSQL, Oracle, or MySQL as the "backend" to the website. </a:t>
            </a:r>
          </a:p>
          <a:p>
            <a:r>
              <a:rPr lang="en-US" dirty="0"/>
              <a:t>By storing website data in a database, the data can be easily searched, sorted, and updated. </a:t>
            </a:r>
          </a:p>
          <a:p>
            <a:r>
              <a:rPr lang="en-US" dirty="0"/>
              <a:t>This flexibility is important for web applications such as e-commerce sites and other types of dynamic websites too.</a:t>
            </a:r>
          </a:p>
        </p:txBody>
      </p:sp>
    </p:spTree>
    <p:extLst>
      <p:ext uri="{BB962C8B-B14F-4D97-AF65-F5344CB8AC3E}">
        <p14:creationId xmlns:p14="http://schemas.microsoft.com/office/powerpoint/2010/main" val="37715965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Database Management System</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t>Database Management System (DBMS) </a:t>
            </a:r>
            <a:r>
              <a:rPr lang="en-US" dirty="0"/>
              <a:t>refers to the technology of storing and retrieving users' data, managing them efficiently, with efficiency along with safety and security features. </a:t>
            </a:r>
          </a:p>
          <a:p>
            <a:r>
              <a:rPr lang="en-US" dirty="0"/>
              <a:t>DBMS allows its users to create their own databases, which are relevant to the nature of work they want. </a:t>
            </a:r>
          </a:p>
          <a:p>
            <a:r>
              <a:rPr lang="en-US" dirty="0"/>
              <a:t>These databases are highly configurable and offer a bunch of options. </a:t>
            </a:r>
          </a:p>
          <a:p>
            <a:r>
              <a:rPr lang="en-US" dirty="0"/>
              <a:t>In other words, DBMS is the software package that is used to manage the</a:t>
            </a:r>
            <a:br>
              <a:rPr lang="en-US" dirty="0"/>
            </a:br>
            <a:r>
              <a:rPr lang="en-US" dirty="0"/>
              <a:t>database and run operations requested by the users. </a:t>
            </a:r>
          </a:p>
          <a:p>
            <a:r>
              <a:rPr lang="en-US" dirty="0"/>
              <a:t>The main goal of DBMS is to hide the internal complexities of data management from users and provide them with an easy interface to access the data.</a:t>
            </a:r>
          </a:p>
        </p:txBody>
      </p:sp>
    </p:spTree>
    <p:extLst>
      <p:ext uri="{BB962C8B-B14F-4D97-AF65-F5344CB8AC3E}">
        <p14:creationId xmlns:p14="http://schemas.microsoft.com/office/powerpoint/2010/main" val="33375832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42260"/>
            <a:ext cx="10515600" cy="5634703"/>
          </a:xfrm>
        </p:spPr>
        <p:txBody>
          <a:bodyPr>
            <a:normAutofit/>
          </a:bodyPr>
          <a:lstStyle/>
          <a:p>
            <a:r>
              <a:rPr lang="en-US" dirty="0"/>
              <a:t>The user's interaction with the system is simplified through different levels of data abstractions such as physical level, logical level, and view level. </a:t>
            </a:r>
          </a:p>
          <a:p>
            <a:r>
              <a:rPr lang="en-US" b="1" dirty="0"/>
              <a:t>Physical level</a:t>
            </a:r>
            <a:r>
              <a:rPr lang="en-US" dirty="0"/>
              <a:t>, which is the lowest level of data abstraction, describes how data are stored and organized in physical storage media, which the programmer and end users should not be worried about. </a:t>
            </a:r>
          </a:p>
          <a:p>
            <a:r>
              <a:rPr lang="en-US" dirty="0"/>
              <a:t>Similarly  </a:t>
            </a:r>
            <a:r>
              <a:rPr lang="en-US" b="1" dirty="0"/>
              <a:t>logical level</a:t>
            </a:r>
            <a:r>
              <a:rPr lang="en-US" dirty="0"/>
              <a:t>, the next higher level of data abstraction describes what data are stored in the database and what relationship exists among them. </a:t>
            </a:r>
          </a:p>
          <a:p>
            <a:r>
              <a:rPr lang="en-US" dirty="0"/>
              <a:t>Likewise </a:t>
            </a:r>
            <a:r>
              <a:rPr lang="en-US" b="1" dirty="0"/>
              <a:t>view level </a:t>
            </a:r>
            <a:r>
              <a:rPr lang="en-US" dirty="0"/>
              <a:t>the highest level of data abstraction, presents only the usable parts to the end user of the entire database. </a:t>
            </a:r>
          </a:p>
          <a:p>
            <a:r>
              <a:rPr lang="en-US" dirty="0"/>
              <a:t>This is how DBMS separates the underlying complexities from users.</a:t>
            </a:r>
          </a:p>
        </p:txBody>
      </p:sp>
    </p:spTree>
    <p:extLst>
      <p:ext uri="{BB962C8B-B14F-4D97-AF65-F5344CB8AC3E}">
        <p14:creationId xmlns:p14="http://schemas.microsoft.com/office/powerpoint/2010/main" val="26678042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42260"/>
            <a:ext cx="10515600" cy="6028661"/>
          </a:xfrm>
        </p:spPr>
        <p:txBody>
          <a:bodyPr>
            <a:normAutofit fontScale="92500" lnSpcReduction="10000"/>
          </a:bodyPr>
          <a:lstStyle/>
          <a:p>
            <a:r>
              <a:rPr lang="en-US" dirty="0"/>
              <a:t>A DBMS allows for concurrent access by multiple users, each with their own specific role.</a:t>
            </a:r>
          </a:p>
          <a:p>
            <a:r>
              <a:rPr lang="en-US" dirty="0"/>
              <a:t>Some users only need to view the data, some contribute to adding new data, while others design and manage the database - all at the same time. </a:t>
            </a:r>
          </a:p>
          <a:p>
            <a:r>
              <a:rPr lang="en-US" dirty="0"/>
              <a:t>For example, for the student's information database illustrated in figure 3.3, a librarian might require a view consisting of the student's Id, Name, Batch and Faculty to know issued books. </a:t>
            </a:r>
          </a:p>
          <a:p>
            <a:r>
              <a:rPr lang="en-US" dirty="0"/>
              <a:t>Similarly, users of the admin department might need data such as Name, Address, phone, and guardian's phone to communicate with students and guardians. </a:t>
            </a:r>
          </a:p>
          <a:p>
            <a:r>
              <a:rPr lang="en-US" dirty="0"/>
              <a:t>The data required for all these types of views are stored in a single database. </a:t>
            </a:r>
          </a:p>
          <a:p>
            <a:r>
              <a:rPr lang="en-US" dirty="0"/>
              <a:t>A single database provides many different views of data, depending upon the information needs of users. </a:t>
            </a:r>
          </a:p>
          <a:p>
            <a:r>
              <a:rPr lang="en-US" dirty="0"/>
              <a:t>Some DBMS examples include MySQL, PostgreSQL, SQL Server, Oracle, </a:t>
            </a:r>
            <a:r>
              <a:rPr lang="en-US" dirty="0" err="1"/>
              <a:t>dBASE</a:t>
            </a:r>
            <a:r>
              <a:rPr lang="en-US" dirty="0"/>
              <a:t> etc.</a:t>
            </a:r>
          </a:p>
        </p:txBody>
      </p:sp>
    </p:spTree>
    <p:extLst>
      <p:ext uri="{BB962C8B-B14F-4D97-AF65-F5344CB8AC3E}">
        <p14:creationId xmlns:p14="http://schemas.microsoft.com/office/powerpoint/2010/main" val="21960290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p:cNvGrpSpPr/>
          <p:nvPr/>
        </p:nvGrpSpPr>
        <p:grpSpPr>
          <a:xfrm>
            <a:off x="994144" y="957633"/>
            <a:ext cx="10203713" cy="4942735"/>
            <a:chOff x="460743" y="871871"/>
            <a:chExt cx="10203713" cy="4942735"/>
          </a:xfrm>
        </p:grpSpPr>
        <p:sp>
          <p:nvSpPr>
            <p:cNvPr id="4" name="Flowchart: Magnetic Disk 3"/>
            <p:cNvSpPr/>
            <p:nvPr/>
          </p:nvSpPr>
          <p:spPr>
            <a:xfrm>
              <a:off x="838200" y="871871"/>
              <a:ext cx="2381692" cy="3806456"/>
            </a:xfrm>
            <a:prstGeom prst="flowChartMagneticDisk">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solidFill>
                  <a:schemeClr val="tx1"/>
                </a:solidFill>
              </a:endParaRPr>
            </a:p>
            <a:p>
              <a:pPr algn="ctr"/>
              <a:r>
                <a:rPr lang="en-US" dirty="0" err="1">
                  <a:solidFill>
                    <a:schemeClr val="tx1"/>
                  </a:solidFill>
                </a:rPr>
                <a:t>Student_id</a:t>
              </a:r>
              <a:endParaRPr lang="en-US" dirty="0">
                <a:solidFill>
                  <a:schemeClr val="tx1"/>
                </a:solidFill>
              </a:endParaRPr>
            </a:p>
            <a:p>
              <a:pPr algn="ctr"/>
              <a:r>
                <a:rPr lang="en-US" dirty="0">
                  <a:solidFill>
                    <a:schemeClr val="tx1"/>
                  </a:solidFill>
                </a:rPr>
                <a:t>Name</a:t>
              </a:r>
            </a:p>
            <a:p>
              <a:pPr algn="ctr"/>
              <a:r>
                <a:rPr lang="en-US" dirty="0">
                  <a:solidFill>
                    <a:schemeClr val="tx1"/>
                  </a:solidFill>
                </a:rPr>
                <a:t>Gender</a:t>
              </a:r>
            </a:p>
            <a:p>
              <a:pPr algn="ctr"/>
              <a:r>
                <a:rPr lang="en-US" dirty="0">
                  <a:solidFill>
                    <a:schemeClr val="tx1"/>
                  </a:solidFill>
                </a:rPr>
                <a:t>Batch</a:t>
              </a:r>
            </a:p>
            <a:p>
              <a:pPr algn="ctr"/>
              <a:r>
                <a:rPr lang="en-US" dirty="0">
                  <a:solidFill>
                    <a:schemeClr val="tx1"/>
                  </a:solidFill>
                </a:rPr>
                <a:t>Faculty</a:t>
              </a:r>
            </a:p>
            <a:p>
              <a:pPr algn="ctr"/>
              <a:r>
                <a:rPr lang="en-US" dirty="0">
                  <a:solidFill>
                    <a:schemeClr val="tx1"/>
                  </a:solidFill>
                </a:rPr>
                <a:t>Address</a:t>
              </a:r>
            </a:p>
            <a:p>
              <a:pPr algn="ctr"/>
              <a:r>
                <a:rPr lang="en-US" dirty="0">
                  <a:solidFill>
                    <a:schemeClr val="tx1"/>
                  </a:solidFill>
                </a:rPr>
                <a:t>Phone</a:t>
              </a:r>
            </a:p>
            <a:p>
              <a:pPr algn="ctr"/>
              <a:r>
                <a:rPr lang="en-US" dirty="0" err="1">
                  <a:solidFill>
                    <a:schemeClr val="tx1"/>
                  </a:solidFill>
                </a:rPr>
                <a:t>Guardian_phone</a:t>
              </a:r>
              <a:endParaRPr lang="en-US" dirty="0">
                <a:solidFill>
                  <a:schemeClr val="tx1"/>
                </a:solidFill>
              </a:endParaRPr>
            </a:p>
          </p:txBody>
        </p:sp>
        <p:sp>
          <p:nvSpPr>
            <p:cNvPr id="5" name="Rectangle 4"/>
            <p:cNvSpPr/>
            <p:nvPr/>
          </p:nvSpPr>
          <p:spPr>
            <a:xfrm>
              <a:off x="4634908" y="2376378"/>
              <a:ext cx="2307265" cy="797442"/>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Database Management System</a:t>
              </a:r>
            </a:p>
          </p:txBody>
        </p:sp>
        <p:sp>
          <p:nvSpPr>
            <p:cNvPr id="6" name="Rectangle 5"/>
            <p:cNvSpPr/>
            <p:nvPr/>
          </p:nvSpPr>
          <p:spPr>
            <a:xfrm>
              <a:off x="8357191" y="1541726"/>
              <a:ext cx="2307265" cy="1158948"/>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err="1">
                  <a:solidFill>
                    <a:schemeClr val="tx1"/>
                  </a:solidFill>
                </a:rPr>
                <a:t>Student_id</a:t>
              </a:r>
              <a:endParaRPr lang="en-US" dirty="0">
                <a:solidFill>
                  <a:schemeClr val="tx1"/>
                </a:solidFill>
              </a:endParaRPr>
            </a:p>
            <a:p>
              <a:pPr algn="ctr"/>
              <a:r>
                <a:rPr lang="en-US" dirty="0">
                  <a:solidFill>
                    <a:schemeClr val="tx1"/>
                  </a:solidFill>
                </a:rPr>
                <a:t>Name</a:t>
              </a:r>
            </a:p>
            <a:p>
              <a:pPr algn="ctr"/>
              <a:r>
                <a:rPr lang="en-US" dirty="0">
                  <a:solidFill>
                    <a:schemeClr val="tx1"/>
                  </a:solidFill>
                </a:rPr>
                <a:t>Batch</a:t>
              </a:r>
            </a:p>
            <a:p>
              <a:pPr algn="ctr"/>
              <a:r>
                <a:rPr lang="en-US" dirty="0">
                  <a:solidFill>
                    <a:schemeClr val="tx1"/>
                  </a:solidFill>
                </a:rPr>
                <a:t>Faculty</a:t>
              </a:r>
            </a:p>
          </p:txBody>
        </p:sp>
        <p:sp>
          <p:nvSpPr>
            <p:cNvPr id="7" name="Rectangle 6"/>
            <p:cNvSpPr/>
            <p:nvPr/>
          </p:nvSpPr>
          <p:spPr>
            <a:xfrm>
              <a:off x="8357190" y="3009015"/>
              <a:ext cx="2307265" cy="1318435"/>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Name</a:t>
              </a:r>
            </a:p>
            <a:p>
              <a:pPr algn="ctr"/>
              <a:r>
                <a:rPr lang="en-US" dirty="0">
                  <a:solidFill>
                    <a:schemeClr val="tx1"/>
                  </a:solidFill>
                </a:rPr>
                <a:t>Gender</a:t>
              </a:r>
            </a:p>
            <a:p>
              <a:pPr algn="ctr"/>
              <a:r>
                <a:rPr lang="en-US" dirty="0">
                  <a:solidFill>
                    <a:schemeClr val="tx1"/>
                  </a:solidFill>
                </a:rPr>
                <a:t>Address</a:t>
              </a:r>
            </a:p>
            <a:p>
              <a:pPr algn="ctr"/>
              <a:r>
                <a:rPr lang="en-US" dirty="0">
                  <a:solidFill>
                    <a:schemeClr val="tx1"/>
                  </a:solidFill>
                </a:rPr>
                <a:t>Phone</a:t>
              </a:r>
            </a:p>
            <a:p>
              <a:pPr algn="ctr"/>
              <a:r>
                <a:rPr lang="en-US" dirty="0" err="1">
                  <a:solidFill>
                    <a:schemeClr val="tx1"/>
                  </a:solidFill>
                </a:rPr>
                <a:t>Guardian_phone</a:t>
              </a:r>
              <a:endParaRPr lang="en-US" dirty="0">
                <a:solidFill>
                  <a:schemeClr val="tx1"/>
                </a:solidFill>
              </a:endParaRPr>
            </a:p>
          </p:txBody>
        </p:sp>
        <p:cxnSp>
          <p:nvCxnSpPr>
            <p:cNvPr id="9" name="Straight Arrow Connector 8"/>
            <p:cNvCxnSpPr>
              <a:stCxn id="4" idx="4"/>
              <a:endCxn id="5" idx="1"/>
            </p:cNvCxnSpPr>
            <p:nvPr/>
          </p:nvCxnSpPr>
          <p:spPr>
            <a:xfrm>
              <a:off x="3219892" y="2775099"/>
              <a:ext cx="1415016"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p:cNvCxnSpPr>
              <a:stCxn id="5" idx="3"/>
              <a:endCxn id="6" idx="1"/>
            </p:cNvCxnSpPr>
            <p:nvPr/>
          </p:nvCxnSpPr>
          <p:spPr>
            <a:xfrm flipV="1">
              <a:off x="6942173" y="2121200"/>
              <a:ext cx="1415018" cy="6538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p:cNvCxnSpPr>
              <a:stCxn id="5" idx="3"/>
              <a:endCxn id="7" idx="1"/>
            </p:cNvCxnSpPr>
            <p:nvPr/>
          </p:nvCxnSpPr>
          <p:spPr>
            <a:xfrm>
              <a:off x="6942173" y="2775099"/>
              <a:ext cx="1415017" cy="8931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460743" y="4835305"/>
              <a:ext cx="3136605" cy="369332"/>
            </a:xfrm>
            <a:prstGeom prst="rect">
              <a:avLst/>
            </a:prstGeom>
            <a:noFill/>
          </p:spPr>
          <p:txBody>
            <a:bodyPr wrap="square" rtlCol="0">
              <a:spAutoFit/>
            </a:bodyPr>
            <a:lstStyle/>
            <a:p>
              <a:pPr algn="ctr"/>
              <a:r>
                <a:rPr lang="en-US" b="1" i="1" dirty="0"/>
                <a:t>Student information database</a:t>
              </a:r>
            </a:p>
          </p:txBody>
        </p:sp>
        <p:sp>
          <p:nvSpPr>
            <p:cNvPr id="15" name="TextBox 14"/>
            <p:cNvSpPr txBox="1"/>
            <p:nvPr/>
          </p:nvSpPr>
          <p:spPr>
            <a:xfrm>
              <a:off x="8638953" y="1097969"/>
              <a:ext cx="1743738" cy="369332"/>
            </a:xfrm>
            <a:prstGeom prst="rect">
              <a:avLst/>
            </a:prstGeom>
            <a:noFill/>
          </p:spPr>
          <p:txBody>
            <a:bodyPr wrap="square" rtlCol="0">
              <a:spAutoFit/>
            </a:bodyPr>
            <a:lstStyle/>
            <a:p>
              <a:pPr algn="ctr"/>
              <a:r>
                <a:rPr lang="en-US" b="1" i="1" dirty="0"/>
                <a:t>Library View</a:t>
              </a:r>
            </a:p>
          </p:txBody>
        </p:sp>
        <p:sp>
          <p:nvSpPr>
            <p:cNvPr id="16" name="TextBox 15"/>
            <p:cNvSpPr txBox="1"/>
            <p:nvPr/>
          </p:nvSpPr>
          <p:spPr>
            <a:xfrm>
              <a:off x="8638953" y="4421895"/>
              <a:ext cx="1743738" cy="369332"/>
            </a:xfrm>
            <a:prstGeom prst="rect">
              <a:avLst/>
            </a:prstGeom>
            <a:noFill/>
          </p:spPr>
          <p:txBody>
            <a:bodyPr wrap="square" rtlCol="0">
              <a:spAutoFit/>
            </a:bodyPr>
            <a:lstStyle/>
            <a:p>
              <a:pPr algn="ctr"/>
              <a:r>
                <a:rPr lang="en-US" b="1" i="1" dirty="0"/>
                <a:t>Admin View</a:t>
              </a:r>
            </a:p>
          </p:txBody>
        </p:sp>
        <p:sp>
          <p:nvSpPr>
            <p:cNvPr id="17" name="TextBox 16"/>
            <p:cNvSpPr txBox="1"/>
            <p:nvPr/>
          </p:nvSpPr>
          <p:spPr>
            <a:xfrm>
              <a:off x="2795030" y="5445274"/>
              <a:ext cx="5987019" cy="369332"/>
            </a:xfrm>
            <a:prstGeom prst="rect">
              <a:avLst/>
            </a:prstGeom>
            <a:noFill/>
          </p:spPr>
          <p:txBody>
            <a:bodyPr wrap="square" rtlCol="0">
              <a:spAutoFit/>
            </a:bodyPr>
            <a:lstStyle/>
            <a:p>
              <a:pPr algn="ctr"/>
              <a:r>
                <a:rPr lang="en-US" b="1" dirty="0"/>
                <a:t>Fig 3.3 – Students information database with multiple views</a:t>
              </a:r>
            </a:p>
          </p:txBody>
        </p:sp>
      </p:grpSp>
    </p:spTree>
    <p:extLst>
      <p:ext uri="{BB962C8B-B14F-4D97-AF65-F5344CB8AC3E}">
        <p14:creationId xmlns:p14="http://schemas.microsoft.com/office/powerpoint/2010/main" val="33116637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a DBMS solves the problems of traditional file environment</a:t>
            </a:r>
            <a:endParaRPr lang="en-US" dirty="0"/>
          </a:p>
        </p:txBody>
      </p:sp>
      <p:sp>
        <p:nvSpPr>
          <p:cNvPr id="3" name="Content Placeholder 2"/>
          <p:cNvSpPr>
            <a:spLocks noGrp="1"/>
          </p:cNvSpPr>
          <p:nvPr>
            <p:ph idx="1"/>
          </p:nvPr>
        </p:nvSpPr>
        <p:spPr/>
        <p:txBody>
          <a:bodyPr>
            <a:normAutofit fontScale="92500"/>
          </a:bodyPr>
          <a:lstStyle/>
          <a:p>
            <a:r>
              <a:rPr lang="en-US" dirty="0"/>
              <a:t>As we have already discussed, data redundancy and confusion, program-data dependence, lack of flexibility, poor security, and lack of data sharing and availability are major drawbacks of the traditional file environment. </a:t>
            </a:r>
          </a:p>
          <a:p>
            <a:r>
              <a:rPr lang="en-US" dirty="0"/>
              <a:t>DBMS reduces data redundancy and inconsistency by minimizing the isolated files containing repeated data. </a:t>
            </a:r>
          </a:p>
          <a:p>
            <a:r>
              <a:rPr lang="en-US" dirty="0"/>
              <a:t>In DBMS, all data of an organization is integrated into a single database file. </a:t>
            </a:r>
          </a:p>
          <a:p>
            <a:r>
              <a:rPr lang="en-US" dirty="0"/>
              <a:t>The DBMS also reduces redundancy to a minimum level; it enforces consistency, which means that when a data item appears more than once in the database and is updated, the DBMS automatically updates each occurrence of a data item in the database. </a:t>
            </a:r>
          </a:p>
        </p:txBody>
      </p:sp>
    </p:spTree>
    <p:extLst>
      <p:ext uri="{BB962C8B-B14F-4D97-AF65-F5344CB8AC3E}">
        <p14:creationId xmlns:p14="http://schemas.microsoft.com/office/powerpoint/2010/main" val="34544037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5424"/>
            <a:ext cx="10515600" cy="5581540"/>
          </a:xfrm>
        </p:spPr>
        <p:txBody>
          <a:bodyPr/>
          <a:lstStyle/>
          <a:p>
            <a:r>
              <a:rPr lang="en-US" dirty="0"/>
              <a:t>Sharing data is possible through DBMS. </a:t>
            </a:r>
          </a:p>
          <a:p>
            <a:r>
              <a:rPr lang="en-US" dirty="0"/>
              <a:t>The database administrator manages the data and gives individual rights to users to access the data. </a:t>
            </a:r>
          </a:p>
          <a:p>
            <a:r>
              <a:rPr lang="en-US" dirty="0"/>
              <a:t>Many users can be authorized to access the same piece of information simultaneously. </a:t>
            </a:r>
          </a:p>
          <a:p>
            <a:r>
              <a:rPr lang="en-US" dirty="0"/>
              <a:t>To store different categories of data in file environment it's compulsory to create separate files and their relationship can't be created but data integration facility of DBMS allow single database to contain multiple tables and relationships can also be created between tables. </a:t>
            </a:r>
          </a:p>
          <a:p>
            <a:r>
              <a:rPr lang="en-US" dirty="0"/>
              <a:t>The processing speed and responsiveness of DBMS is far better than the traditional file processing. </a:t>
            </a:r>
          </a:p>
        </p:txBody>
      </p:sp>
    </p:spTree>
    <p:extLst>
      <p:ext uri="{BB962C8B-B14F-4D97-AF65-F5344CB8AC3E}">
        <p14:creationId xmlns:p14="http://schemas.microsoft.com/office/powerpoint/2010/main" val="27148157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8586"/>
            <a:ext cx="10515600" cy="5528377"/>
          </a:xfrm>
        </p:spPr>
        <p:txBody>
          <a:bodyPr/>
          <a:lstStyle/>
          <a:p>
            <a:r>
              <a:rPr lang="en-US" dirty="0"/>
              <a:t>DBMS provides an individual architecture for the data and the programming code. </a:t>
            </a:r>
          </a:p>
          <a:p>
            <a:r>
              <a:rPr lang="en-US" dirty="0"/>
              <a:t>This separation allows backup of data to keep in one place and the programming code onto another. </a:t>
            </a:r>
          </a:p>
          <a:p>
            <a:r>
              <a:rPr lang="en-US" dirty="0"/>
              <a:t>With this, the structure of database can be changed without modifying the application program. </a:t>
            </a:r>
          </a:p>
          <a:p>
            <a:r>
              <a:rPr lang="en-US" dirty="0"/>
              <a:t>DBMS also provides protection against data loss with recovery and backup services. </a:t>
            </a:r>
          </a:p>
          <a:p>
            <a:r>
              <a:rPr lang="en-US" dirty="0"/>
              <a:t>Backup of DBMS stored in separate place protects against potential loss from natural disasters and protects against loss of data through computer error.</a:t>
            </a:r>
          </a:p>
          <a:p>
            <a:endParaRPr lang="en-US" dirty="0"/>
          </a:p>
        </p:txBody>
      </p:sp>
    </p:spTree>
    <p:extLst>
      <p:ext uri="{BB962C8B-B14F-4D97-AF65-F5344CB8AC3E}">
        <p14:creationId xmlns:p14="http://schemas.microsoft.com/office/powerpoint/2010/main" val="33862296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Capabilities of Database Management System</a:t>
            </a:r>
            <a:endParaRPr lang="en-US" dirty="0"/>
          </a:p>
        </p:txBody>
      </p:sp>
      <p:sp>
        <p:nvSpPr>
          <p:cNvPr id="3" name="Content Placeholder 2"/>
          <p:cNvSpPr>
            <a:spLocks noGrp="1"/>
          </p:cNvSpPr>
          <p:nvPr>
            <p:ph idx="1"/>
          </p:nvPr>
        </p:nvSpPr>
        <p:spPr/>
        <p:txBody>
          <a:bodyPr>
            <a:normAutofit/>
          </a:bodyPr>
          <a:lstStyle/>
          <a:p>
            <a:r>
              <a:rPr lang="en-US" dirty="0"/>
              <a:t>Database management systems are widely used in businesses to model and manage business objects within corporate databases. </a:t>
            </a:r>
          </a:p>
          <a:p>
            <a:r>
              <a:rPr lang="en-US" dirty="0"/>
              <a:t>Such systems provide several advantages to enable organizations to keep their business records secure, consistent, and relevant.</a:t>
            </a:r>
          </a:p>
          <a:p>
            <a:r>
              <a:rPr lang="en-US" dirty="0"/>
              <a:t>Although DBMS requires considerable investment in server infrastructure, maintenance and security, more and more organizations begin to deploy databases in their business</a:t>
            </a:r>
            <a:br>
              <a:rPr lang="en-US" dirty="0"/>
            </a:br>
            <a:r>
              <a:rPr lang="en-US" dirty="0"/>
              <a:t>environments to manage business documents and records. </a:t>
            </a:r>
          </a:p>
          <a:p>
            <a:r>
              <a:rPr lang="en-US" dirty="0"/>
              <a:t>And the following advantages confirm this tendency.</a:t>
            </a:r>
          </a:p>
        </p:txBody>
      </p:sp>
    </p:spTree>
    <p:extLst>
      <p:ext uri="{BB962C8B-B14F-4D97-AF65-F5344CB8AC3E}">
        <p14:creationId xmlns:p14="http://schemas.microsoft.com/office/powerpoint/2010/main" val="26789670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54912"/>
            <a:ext cx="10515600" cy="5422051"/>
          </a:xfrm>
        </p:spPr>
        <p:txBody>
          <a:bodyPr>
            <a:normAutofit/>
          </a:bodyPr>
          <a:lstStyle/>
          <a:p>
            <a:r>
              <a:rPr lang="en-US" b="1" dirty="0"/>
              <a:t>Data Availability: </a:t>
            </a:r>
          </a:p>
          <a:p>
            <a:pPr lvl="1"/>
            <a:r>
              <a:rPr lang="en-US" dirty="0"/>
              <a:t>One of the principal advantages is that the same business data can be made available to different employees anytime anywhere. </a:t>
            </a:r>
          </a:p>
          <a:p>
            <a:pPr lvl="1"/>
            <a:r>
              <a:rPr lang="en-US" dirty="0"/>
              <a:t>DBMS enables multiuser access to information that is available remotely and 24 hours a day, 7 days a week. </a:t>
            </a:r>
          </a:p>
          <a:p>
            <a:pPr lvl="1"/>
            <a:r>
              <a:rPr lang="en-US" dirty="0"/>
              <a:t>For example, authorized employees can access the company database any time (while the server is running and if the database is not blocked) and from any location over LAN or the Internet.</a:t>
            </a:r>
          </a:p>
          <a:p>
            <a:r>
              <a:rPr lang="en-US" b="1" dirty="0"/>
              <a:t>Minimized Redundancy: </a:t>
            </a:r>
          </a:p>
          <a:p>
            <a:pPr lvl="1"/>
            <a:r>
              <a:rPr lang="en-US" dirty="0"/>
              <a:t>Information in DBMS is kept concise and appears just once. </a:t>
            </a:r>
          </a:p>
          <a:p>
            <a:pPr lvl="1"/>
            <a:r>
              <a:rPr lang="en-US" dirty="0"/>
              <a:t>This capability reduces data redundancy. </a:t>
            </a:r>
          </a:p>
          <a:p>
            <a:pPr lvl="1"/>
            <a:r>
              <a:rPr lang="en-US" dirty="0"/>
              <a:t>For businesses, it means there is no need to repeat the same data repeatedly.</a:t>
            </a:r>
          </a:p>
          <a:p>
            <a:pPr lvl="1"/>
            <a:r>
              <a:rPr lang="en-US" dirty="0"/>
              <a:t>Companies are enabled to significantly reduce the cost of retaining business information on storage devices.</a:t>
            </a:r>
          </a:p>
        </p:txBody>
      </p:sp>
    </p:spTree>
    <p:extLst>
      <p:ext uri="{BB962C8B-B14F-4D97-AF65-F5344CB8AC3E}">
        <p14:creationId xmlns:p14="http://schemas.microsoft.com/office/powerpoint/2010/main" val="33635713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02020"/>
            <a:ext cx="10515600" cy="6379534"/>
          </a:xfrm>
        </p:spPr>
        <p:txBody>
          <a:bodyPr>
            <a:normAutofit lnSpcReduction="10000"/>
          </a:bodyPr>
          <a:lstStyle/>
          <a:p>
            <a:r>
              <a:rPr lang="en-US" b="1" dirty="0"/>
              <a:t>Data Integrity: </a:t>
            </a:r>
          </a:p>
          <a:p>
            <a:pPr lvl="1"/>
            <a:r>
              <a:rPr lang="en-US" dirty="0"/>
              <a:t>Data accuracy, consistent and relevant data is a sign of data integrity. </a:t>
            </a:r>
          </a:p>
          <a:p>
            <a:pPr lvl="1"/>
            <a:r>
              <a:rPr lang="en-US" dirty="0"/>
              <a:t>With the help of DBMS, companies can foster the integrity of their business records, because changes to the data only must be made in one place.</a:t>
            </a:r>
          </a:p>
          <a:p>
            <a:pPr lvl="1"/>
            <a:r>
              <a:rPr lang="en-US" dirty="0"/>
              <a:t>DBMS solutions also prevent errors and data losses.</a:t>
            </a:r>
          </a:p>
          <a:p>
            <a:r>
              <a:rPr lang="en-US" b="1" dirty="0"/>
              <a:t>Improved Data Security: </a:t>
            </a:r>
          </a:p>
          <a:p>
            <a:pPr lvl="1"/>
            <a:r>
              <a:rPr lang="en-US" dirty="0"/>
              <a:t>As stated above, database management systems let different users access the same data resources. </a:t>
            </a:r>
          </a:p>
          <a:p>
            <a:pPr lvl="1"/>
            <a:r>
              <a:rPr lang="en-US" dirty="0"/>
              <a:t>Although this capability is generally regarded as an advantage, there is a portion of risk that some data can be viewed and modified by unauthorized users. </a:t>
            </a:r>
          </a:p>
          <a:p>
            <a:pPr lvl="1"/>
            <a:r>
              <a:rPr lang="en-US" dirty="0"/>
              <a:t>That's why some sources of business information should be secured and accessed by selected individuals only. </a:t>
            </a:r>
          </a:p>
          <a:p>
            <a:pPr lvl="1"/>
            <a:r>
              <a:rPr lang="en-US" dirty="0"/>
              <a:t>DBMS allows user authentication through passwords. </a:t>
            </a:r>
          </a:p>
          <a:p>
            <a:pPr lvl="1"/>
            <a:r>
              <a:rPr lang="en-US" dirty="0"/>
              <a:t>Authorized users can access only the data for which they are granted privilege. </a:t>
            </a:r>
          </a:p>
          <a:p>
            <a:pPr lvl="1"/>
            <a:r>
              <a:rPr lang="en-US" dirty="0"/>
              <a:t>Thus, it provides a system of permissions to restrict user access to certain data resources.</a:t>
            </a:r>
          </a:p>
        </p:txBody>
      </p:sp>
    </p:spTree>
    <p:extLst>
      <p:ext uri="{BB962C8B-B14F-4D97-AF65-F5344CB8AC3E}">
        <p14:creationId xmlns:p14="http://schemas.microsoft.com/office/powerpoint/2010/main" val="9150188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04037"/>
            <a:ext cx="10515600" cy="6166884"/>
          </a:xfrm>
        </p:spPr>
        <p:txBody>
          <a:bodyPr>
            <a:normAutofit/>
          </a:bodyPr>
          <a:lstStyle/>
          <a:p>
            <a:r>
              <a:rPr lang="en-US" b="1" dirty="0"/>
              <a:t>Easiness in Data Management: </a:t>
            </a:r>
          </a:p>
          <a:p>
            <a:pPr lvl="1"/>
            <a:r>
              <a:rPr lang="en-US" dirty="0"/>
              <a:t>One more business advantage is that database management system enables easier data management because it provides users with simple yet powerful tools to enter, change and export business data. </a:t>
            </a:r>
          </a:p>
          <a:p>
            <a:pPr lvl="1"/>
            <a:r>
              <a:rPr lang="en-US" dirty="0"/>
              <a:t>DBMS also reduces the reliance of individual users on computer</a:t>
            </a:r>
            <a:br>
              <a:rPr lang="en-US" dirty="0"/>
            </a:br>
            <a:r>
              <a:rPr lang="en-US" dirty="0"/>
              <a:t>specialists and programmers to meet their specific needs through data</a:t>
            </a:r>
            <a:br>
              <a:rPr lang="en-US" dirty="0"/>
            </a:br>
            <a:r>
              <a:rPr lang="en-US" dirty="0"/>
              <a:t>customization.</a:t>
            </a:r>
          </a:p>
          <a:p>
            <a:r>
              <a:rPr lang="en-US" b="1" dirty="0"/>
              <a:t>Handling concurrent access anomalies: </a:t>
            </a:r>
          </a:p>
          <a:p>
            <a:pPr lvl="1"/>
            <a:r>
              <a:rPr lang="en-US" dirty="0"/>
              <a:t>Database management system prevents from accessing the data concurrently.</a:t>
            </a:r>
          </a:p>
          <a:p>
            <a:pPr lvl="1"/>
            <a:r>
              <a:rPr lang="en-US" dirty="0"/>
              <a:t>It is achieved through isolation, which guarantees that other operations cannot access data that are being processed or modified during the transaction until it is completed. </a:t>
            </a:r>
          </a:p>
          <a:p>
            <a:pPr lvl="1"/>
            <a:r>
              <a:rPr lang="en-US" dirty="0"/>
              <a:t>One transaction will never affect another transaction running at the same time. </a:t>
            </a:r>
          </a:p>
          <a:p>
            <a:pPr lvl="1"/>
            <a:r>
              <a:rPr lang="en-US" dirty="0"/>
              <a:t>Data modifications made by one transaction are isolated from data</a:t>
            </a:r>
            <a:br>
              <a:rPr lang="en-US" dirty="0"/>
            </a:br>
            <a:r>
              <a:rPr lang="en-US" dirty="0"/>
              <a:t>modifications made by other transactions.</a:t>
            </a:r>
          </a:p>
        </p:txBody>
      </p:sp>
    </p:spTree>
    <p:extLst>
      <p:ext uri="{BB962C8B-B14F-4D97-AF65-F5344CB8AC3E}">
        <p14:creationId xmlns:p14="http://schemas.microsoft.com/office/powerpoint/2010/main" val="40608331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2772"/>
            <a:ext cx="10515600" cy="5794191"/>
          </a:xfrm>
        </p:spPr>
        <p:txBody>
          <a:bodyPr>
            <a:normAutofit fontScale="92500"/>
          </a:bodyPr>
          <a:lstStyle/>
          <a:p>
            <a:r>
              <a:rPr lang="en-US" dirty="0"/>
              <a:t>Most DBMS systems are client/server based and operate over networks. </a:t>
            </a:r>
          </a:p>
          <a:p>
            <a:r>
              <a:rPr lang="en-US" dirty="0"/>
              <a:t>The DBMS is an engine that typically runs on a powerful server or cluster of servers, in a </a:t>
            </a:r>
            <a:r>
              <a:rPr lang="en-US" b="1" dirty="0"/>
              <a:t>SAN (Storage Area Network) </a:t>
            </a:r>
            <a:r>
              <a:rPr lang="en-US" dirty="0"/>
              <a:t>environment or mainframe with a high-performance channel to a large data store.</a:t>
            </a:r>
          </a:p>
          <a:p>
            <a:r>
              <a:rPr lang="en-US" dirty="0"/>
              <a:t>The DBMS accepts requests from clients that may require sorting and extracting data.</a:t>
            </a:r>
          </a:p>
          <a:p>
            <a:r>
              <a:rPr lang="en-US" dirty="0"/>
              <a:t>Once the server has processed the request, it returns the information to the client. </a:t>
            </a:r>
          </a:p>
          <a:p>
            <a:r>
              <a:rPr lang="en-US" dirty="0"/>
              <a:t>A DBMS includes capabilities and tools for organizing, managing, and accessing data in the database. </a:t>
            </a:r>
          </a:p>
          <a:p>
            <a:r>
              <a:rPr lang="en-US" dirty="0"/>
              <a:t>The most important are Data Definition Language (DDL), Data Manipulation Language (DML), Data Control Language (DCL), Transaction Control Language (TCL) and Data Dictionary.</a:t>
            </a:r>
            <a:br>
              <a:rPr lang="en-US" dirty="0"/>
            </a:br>
            <a:endParaRPr lang="en-US" dirty="0"/>
          </a:p>
        </p:txBody>
      </p:sp>
    </p:spTree>
    <p:extLst>
      <p:ext uri="{BB962C8B-B14F-4D97-AF65-F5344CB8AC3E}">
        <p14:creationId xmlns:p14="http://schemas.microsoft.com/office/powerpoint/2010/main" val="30655887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14670"/>
            <a:ext cx="10515600" cy="6156251"/>
          </a:xfrm>
        </p:spPr>
        <p:txBody>
          <a:bodyPr>
            <a:normAutofit fontScale="92500" lnSpcReduction="10000"/>
          </a:bodyPr>
          <a:lstStyle/>
          <a:p>
            <a:r>
              <a:rPr lang="en-US" dirty="0"/>
              <a:t>DDL is used to define the structure of the database. </a:t>
            </a:r>
          </a:p>
          <a:p>
            <a:r>
              <a:rPr lang="en-US" dirty="0"/>
              <a:t>DDL commands are preliminary used by database developers to create database tables, define indices, specify links between tables and impose constraints between them. </a:t>
            </a:r>
          </a:p>
          <a:p>
            <a:r>
              <a:rPr lang="en-US" dirty="0"/>
              <a:t>Likewise, DML is a language that enables database users to access and manipulate data stored in the database. </a:t>
            </a:r>
          </a:p>
          <a:p>
            <a:r>
              <a:rPr lang="en-US" dirty="0"/>
              <a:t>With DML operations such as retrieval of existing record(s) from the database, insertion of new record(s) into the database, modification of the existing record(s) in the database and deletion of existing record(s) from the database are performed. </a:t>
            </a:r>
          </a:p>
          <a:p>
            <a:r>
              <a:rPr lang="en-US" dirty="0"/>
              <a:t>DCL is used to create roles, permissions, and referential integrity as well as to control access to database by securing it. </a:t>
            </a:r>
          </a:p>
          <a:p>
            <a:r>
              <a:rPr lang="en-US" dirty="0"/>
              <a:t>DCL statements are used for providing security to database objects. </a:t>
            </a:r>
          </a:p>
          <a:p>
            <a:r>
              <a:rPr lang="en-US" dirty="0"/>
              <a:t>TCL statements are used to manage transactions in database and manage changes made by DML. </a:t>
            </a:r>
          </a:p>
          <a:p>
            <a:r>
              <a:rPr lang="en-US" dirty="0"/>
              <a:t>It also allows statements to be grouped into logical transactions.</a:t>
            </a:r>
          </a:p>
        </p:txBody>
      </p:sp>
    </p:spTree>
    <p:extLst>
      <p:ext uri="{BB962C8B-B14F-4D97-AF65-F5344CB8AC3E}">
        <p14:creationId xmlns:p14="http://schemas.microsoft.com/office/powerpoint/2010/main" val="12091275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t>The facilities and features with the above statements provided by DBMS are described as follows:</a:t>
            </a:r>
          </a:p>
        </p:txBody>
      </p:sp>
      <p:sp>
        <p:nvSpPr>
          <p:cNvPr id="3" name="Content Placeholder 2"/>
          <p:cNvSpPr>
            <a:spLocks noGrp="1"/>
          </p:cNvSpPr>
          <p:nvPr>
            <p:ph idx="1"/>
          </p:nvPr>
        </p:nvSpPr>
        <p:spPr/>
        <p:txBody>
          <a:bodyPr>
            <a:normAutofit fontScale="92500" lnSpcReduction="10000"/>
          </a:bodyPr>
          <a:lstStyle/>
          <a:p>
            <a:r>
              <a:rPr lang="en-US" b="1" dirty="0"/>
              <a:t>Data Structuring: </a:t>
            </a:r>
          </a:p>
          <a:p>
            <a:pPr lvl="1"/>
            <a:r>
              <a:rPr lang="en-US" dirty="0"/>
              <a:t>All information in a digital repository is organized into a clear structure with records, tables, or objects. </a:t>
            </a:r>
          </a:p>
          <a:p>
            <a:pPr lvl="1"/>
            <a:r>
              <a:rPr lang="en-US" dirty="0"/>
              <a:t>Every piece of information that you can add to your database will be organized in a kind of catalogue, so it will be easier for you to search and update your records later.</a:t>
            </a:r>
          </a:p>
          <a:p>
            <a:r>
              <a:rPr lang="en-US" dirty="0"/>
              <a:t> </a:t>
            </a:r>
            <a:r>
              <a:rPr lang="en-US" b="1" dirty="0"/>
              <a:t>Database Customization: </a:t>
            </a:r>
          </a:p>
          <a:p>
            <a:pPr lvl="1"/>
            <a:r>
              <a:rPr lang="en-US" dirty="0"/>
              <a:t>Along with default and necessary elements (records, tables, or objects) that compose a database's structure, there can be created custom elements that meet specific needs of users.</a:t>
            </a:r>
          </a:p>
          <a:p>
            <a:r>
              <a:rPr lang="en-US" b="1" dirty="0"/>
              <a:t>Data Retrieval: </a:t>
            </a:r>
          </a:p>
          <a:p>
            <a:pPr lvl="1"/>
            <a:r>
              <a:rPr lang="en-US" dirty="0"/>
              <a:t>DBMS database management system accepts data input from users and stores it. </a:t>
            </a:r>
          </a:p>
          <a:p>
            <a:pPr lvl="1"/>
            <a:r>
              <a:rPr lang="en-US" dirty="0"/>
              <a:t>Users can access the database later to retrieve their records as a file, printed, or viewed on the screen.</a:t>
            </a:r>
          </a:p>
        </p:txBody>
      </p:sp>
    </p:spTree>
    <p:extLst>
      <p:ext uri="{BB962C8B-B14F-4D97-AF65-F5344CB8AC3E}">
        <p14:creationId xmlns:p14="http://schemas.microsoft.com/office/powerpoint/2010/main" val="14615020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63526"/>
            <a:ext cx="10515600" cy="5773479"/>
          </a:xfrm>
        </p:spPr>
        <p:txBody>
          <a:bodyPr>
            <a:normAutofit/>
          </a:bodyPr>
          <a:lstStyle/>
          <a:p>
            <a:r>
              <a:rPr lang="en-US" b="1" dirty="0"/>
              <a:t>Query Languages: </a:t>
            </a:r>
          </a:p>
          <a:p>
            <a:pPr lvl="1"/>
            <a:r>
              <a:rPr lang="en-US" dirty="0"/>
              <a:t>A typical DBMS makes it possible to use query languages for collecting, searching, sorting, modifying and other activities that help users manipulate their records in the database.</a:t>
            </a:r>
          </a:p>
          <a:p>
            <a:r>
              <a:rPr lang="en-US" b="1" dirty="0"/>
              <a:t>Multi-user Access: </a:t>
            </a:r>
          </a:p>
          <a:p>
            <a:pPr lvl="1"/>
            <a:r>
              <a:rPr lang="en-US" dirty="0"/>
              <a:t>DBMS provides multiple users access to all types of information stored in one and the same data store. </a:t>
            </a:r>
          </a:p>
          <a:p>
            <a:pPr lvl="1"/>
            <a:r>
              <a:rPr lang="en-US" dirty="0"/>
              <a:t>There is also a security feature that prevents some users from viewing and/or modifying certain data types.</a:t>
            </a:r>
          </a:p>
          <a:p>
            <a:r>
              <a:rPr lang="en-US" b="1" dirty="0"/>
              <a:t>Data Integrity: </a:t>
            </a:r>
          </a:p>
          <a:p>
            <a:pPr lvl="1"/>
            <a:r>
              <a:rPr lang="en-US" dirty="0"/>
              <a:t>All information in a database is accessible by several or more users but only one user can change the same piece of data at a time. </a:t>
            </a:r>
          </a:p>
          <a:p>
            <a:pPr lvl="1"/>
            <a:r>
              <a:rPr lang="en-US" dirty="0"/>
              <a:t>This capability prevents database corruption and failure.</a:t>
            </a:r>
            <a:br>
              <a:rPr lang="en-US" dirty="0"/>
            </a:br>
            <a:endParaRPr lang="en-US" dirty="0"/>
          </a:p>
        </p:txBody>
      </p:sp>
    </p:spTree>
    <p:extLst>
      <p:ext uri="{BB962C8B-B14F-4D97-AF65-F5344CB8AC3E}">
        <p14:creationId xmlns:p14="http://schemas.microsoft.com/office/powerpoint/2010/main" val="5959271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37953"/>
            <a:ext cx="10515600" cy="5539010"/>
          </a:xfrm>
        </p:spPr>
        <p:txBody>
          <a:bodyPr>
            <a:normAutofit fontScale="92500" lnSpcReduction="20000"/>
          </a:bodyPr>
          <a:lstStyle/>
          <a:p>
            <a:r>
              <a:rPr lang="en-US" b="1" dirty="0"/>
              <a:t>Transaction Mechanism: </a:t>
            </a:r>
          </a:p>
          <a:p>
            <a:r>
              <a:rPr lang="en-US" dirty="0"/>
              <a:t>A database transaction mechanism ideally guarantees ACID (Atomicity, Consistency, Isolation and Durability) properties to ensure data integrity despite concurrent user accesses (Concurrency Control), and faults (Fault Tolerance). </a:t>
            </a:r>
          </a:p>
          <a:p>
            <a:r>
              <a:rPr lang="en-US" dirty="0"/>
              <a:t>ACID is a set of properties that guarantees that database transactions are processed successfully and reliably. </a:t>
            </a:r>
          </a:p>
          <a:p>
            <a:r>
              <a:rPr lang="en-US" dirty="0"/>
              <a:t>The DBMS can maintain the integrity of the database by not allowing more than one user to update the same record at the same time. </a:t>
            </a:r>
          </a:p>
          <a:p>
            <a:r>
              <a:rPr lang="en-US" dirty="0"/>
              <a:t>The DBMS can help prevent duplicate records via unique index constraints; for example, no two customers with the same customer numbers (key fields) can be entered into the database. </a:t>
            </a:r>
          </a:p>
          <a:p>
            <a:r>
              <a:rPr lang="en-US" dirty="0"/>
              <a:t>Likewise, it ensures that the database remains in a consistent state. </a:t>
            </a:r>
          </a:p>
          <a:p>
            <a:r>
              <a:rPr lang="en-US" dirty="0"/>
              <a:t>It makes sure that any transaction will take the database from one consistent state to another consistent state.</a:t>
            </a:r>
          </a:p>
        </p:txBody>
      </p:sp>
    </p:spTree>
    <p:extLst>
      <p:ext uri="{BB962C8B-B14F-4D97-AF65-F5344CB8AC3E}">
        <p14:creationId xmlns:p14="http://schemas.microsoft.com/office/powerpoint/2010/main" val="27029265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69851"/>
            <a:ext cx="10515600" cy="5507112"/>
          </a:xfrm>
        </p:spPr>
        <p:txBody>
          <a:bodyPr/>
          <a:lstStyle/>
          <a:p>
            <a:r>
              <a:rPr lang="en-US" b="1" dirty="0"/>
              <a:t>Query Ability: </a:t>
            </a:r>
          </a:p>
          <a:p>
            <a:pPr lvl="1"/>
            <a:r>
              <a:rPr lang="en-US" dirty="0"/>
              <a:t>Querying is the process of requesting attribute information from various perspectives and combinations of factors. </a:t>
            </a:r>
          </a:p>
          <a:p>
            <a:pPr lvl="1"/>
            <a:r>
              <a:rPr lang="en-US" dirty="0"/>
              <a:t>Example: "How many employees having salary greater than 50000 are working in branch '</a:t>
            </a:r>
            <a:r>
              <a:rPr lang="en-US" dirty="0" err="1"/>
              <a:t>Pokhara</a:t>
            </a:r>
            <a:r>
              <a:rPr lang="en-US" dirty="0"/>
              <a:t>'?“. </a:t>
            </a:r>
          </a:p>
          <a:p>
            <a:pPr lvl="1"/>
            <a:r>
              <a:rPr lang="en-US" dirty="0"/>
              <a:t>A database query language and report writer allow users to interactively interrogate the database, analyze its data and update it according to the users' privileges on data</a:t>
            </a:r>
            <a:r>
              <a:rPr lang="en-US"/>
              <a:t>. </a:t>
            </a:r>
            <a:endParaRPr lang="en-US" dirty="0"/>
          </a:p>
        </p:txBody>
      </p:sp>
    </p:spTree>
    <p:extLst>
      <p:ext uri="{BB962C8B-B14F-4D97-AF65-F5344CB8AC3E}">
        <p14:creationId xmlns:p14="http://schemas.microsoft.com/office/powerpoint/2010/main" val="41131195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89094"/>
            <a:ext cx="10515600" cy="6156251"/>
          </a:xfrm>
        </p:spPr>
        <p:txBody>
          <a:bodyPr>
            <a:normAutofit lnSpcReduction="10000"/>
          </a:bodyPr>
          <a:lstStyle/>
          <a:p>
            <a:r>
              <a:rPr lang="en-US" b="1" dirty="0"/>
              <a:t>Backup and Replication: </a:t>
            </a:r>
          </a:p>
          <a:p>
            <a:pPr lvl="1"/>
            <a:r>
              <a:rPr lang="en-US" dirty="0"/>
              <a:t>Copies of data items need to be made regularly in case primary disks or other equipment fails. </a:t>
            </a:r>
          </a:p>
          <a:p>
            <a:pPr lvl="1"/>
            <a:r>
              <a:rPr lang="en-US" dirty="0"/>
              <a:t>A periodic copy of data may also be created for a distant organization that cannot readily access the original DBMS usually provides utilities to facilitate the process of extracting and disseminating data sets. </a:t>
            </a:r>
          </a:p>
          <a:p>
            <a:pPr lvl="1"/>
            <a:r>
              <a:rPr lang="en-US" dirty="0"/>
              <a:t>When data is replicated between database servers, that the information remains consistent throughout the database system and users cannot tell or even know which server in the DBMS they are using, the system is said to exhibit replication transparency.</a:t>
            </a:r>
          </a:p>
          <a:p>
            <a:r>
              <a:rPr lang="en-US" b="1" dirty="0"/>
              <a:t>Rule Enforcement: </a:t>
            </a:r>
          </a:p>
          <a:p>
            <a:pPr lvl="1"/>
            <a:r>
              <a:rPr lang="en-US" dirty="0"/>
              <a:t>Often one wants to apply rules to attributes so that the attributes are clean and reliable. For example, we may have a rule that says each student can borrow at most four books from the library. </a:t>
            </a:r>
          </a:p>
          <a:p>
            <a:pPr lvl="1"/>
            <a:r>
              <a:rPr lang="en-US" dirty="0"/>
              <a:t>If somebody tries to get more than four books, we want the DBMS to deny such a request and display an error message. </a:t>
            </a:r>
          </a:p>
          <a:p>
            <a:pPr lvl="1"/>
            <a:r>
              <a:rPr lang="en-US" dirty="0"/>
              <a:t>Ideally such rules should be able to be added and removed as needed without significant data layout redesign.</a:t>
            </a:r>
          </a:p>
        </p:txBody>
      </p:sp>
    </p:spTree>
    <p:extLst>
      <p:ext uri="{BB962C8B-B14F-4D97-AF65-F5344CB8AC3E}">
        <p14:creationId xmlns:p14="http://schemas.microsoft.com/office/powerpoint/2010/main" val="1585956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31628"/>
            <a:ext cx="10515600" cy="5890437"/>
          </a:xfrm>
        </p:spPr>
        <p:txBody>
          <a:bodyPr>
            <a:normAutofit/>
          </a:bodyPr>
          <a:lstStyle/>
          <a:p>
            <a:r>
              <a:rPr lang="en-US" b="1" dirty="0"/>
              <a:t>Security: </a:t>
            </a:r>
          </a:p>
          <a:p>
            <a:pPr lvl="1"/>
            <a:r>
              <a:rPr lang="en-US" dirty="0"/>
              <a:t>Often it is desirable to limit who can see or change which attributes or groups of attributes. </a:t>
            </a:r>
          </a:p>
          <a:p>
            <a:pPr lvl="1"/>
            <a:r>
              <a:rPr lang="en-US" dirty="0"/>
              <a:t>This may be managed directly by an individual, or by the assignment of individuals and privileges to groups through the assignment of individuals and groups to roles, which are then granted access rights.</a:t>
            </a:r>
          </a:p>
          <a:p>
            <a:pPr lvl="1"/>
            <a:r>
              <a:rPr lang="en-US" dirty="0"/>
              <a:t>Thus, Data security prevents unauthorized users from viewing or updating the database. </a:t>
            </a:r>
          </a:p>
          <a:p>
            <a:pPr lvl="1"/>
            <a:r>
              <a:rPr lang="en-US" dirty="0"/>
              <a:t>Using passwords, users are allowed access to the entire database or subsets of it called subschemas. </a:t>
            </a:r>
          </a:p>
          <a:p>
            <a:pPr lvl="1"/>
            <a:r>
              <a:rPr lang="en-US" dirty="0"/>
              <a:t>For example, an employee database can contain all the data about an individual employee, but one group of users may be authorized to view only payroll data, while others are allowed access to only work history and medical data.</a:t>
            </a:r>
          </a:p>
        </p:txBody>
      </p:sp>
    </p:spTree>
    <p:extLst>
      <p:ext uri="{BB962C8B-B14F-4D97-AF65-F5344CB8AC3E}">
        <p14:creationId xmlns:p14="http://schemas.microsoft.com/office/powerpoint/2010/main" val="6136239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97712"/>
            <a:ext cx="10515600" cy="6400800"/>
          </a:xfrm>
        </p:spPr>
        <p:txBody>
          <a:bodyPr>
            <a:normAutofit/>
          </a:bodyPr>
          <a:lstStyle/>
          <a:p>
            <a:r>
              <a:rPr lang="en-US" b="1" dirty="0"/>
              <a:t>Computation: </a:t>
            </a:r>
          </a:p>
          <a:p>
            <a:pPr lvl="1"/>
            <a:r>
              <a:rPr lang="en-US" dirty="0"/>
              <a:t>There are common computations required on attributes such as counting, summing, averaging, sorting, grouping etc. </a:t>
            </a:r>
          </a:p>
          <a:p>
            <a:pPr lvl="1"/>
            <a:r>
              <a:rPr lang="en-US" dirty="0"/>
              <a:t>Rather than have each computer application implement these from scratch, they can rely on the DBMS to supply such calculations.</a:t>
            </a:r>
          </a:p>
          <a:p>
            <a:r>
              <a:rPr lang="en-US" b="1" dirty="0"/>
              <a:t>Change and access logging: </a:t>
            </a:r>
          </a:p>
          <a:p>
            <a:pPr lvl="1"/>
            <a:r>
              <a:rPr lang="en-US" dirty="0"/>
              <a:t>Often one wants to know who accessed which attributes, what was changed, and when it was changed. </a:t>
            </a:r>
          </a:p>
          <a:p>
            <a:pPr lvl="1"/>
            <a:r>
              <a:rPr lang="en-US" dirty="0"/>
              <a:t>Logging services allow this by keeping a record of access occurrences and changes.</a:t>
            </a:r>
          </a:p>
          <a:p>
            <a:r>
              <a:rPr lang="en-US" b="1" dirty="0"/>
              <a:t>Automated optimization: </a:t>
            </a:r>
          </a:p>
          <a:p>
            <a:pPr lvl="1"/>
            <a:r>
              <a:rPr lang="en-US" dirty="0"/>
              <a:t>If there are frequently occurring usage patterns or requests, some DBMS can adjust themselves to improve the speed of those interactions. </a:t>
            </a:r>
          </a:p>
          <a:p>
            <a:pPr lvl="1"/>
            <a:r>
              <a:rPr lang="en-US" dirty="0"/>
              <a:t>In some cases, the DBMS will merely provide tools to monitor performance, allowing a human expert to make the necessary adjustments after reviewing the statistics collected.</a:t>
            </a:r>
          </a:p>
        </p:txBody>
      </p:sp>
    </p:spTree>
    <p:extLst>
      <p:ext uri="{BB962C8B-B14F-4D97-AF65-F5344CB8AC3E}">
        <p14:creationId xmlns:p14="http://schemas.microsoft.com/office/powerpoint/2010/main" val="42442894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08075"/>
            <a:ext cx="10515600" cy="4561367"/>
          </a:xfrm>
        </p:spPr>
        <p:txBody>
          <a:bodyPr>
            <a:normAutofit/>
          </a:bodyPr>
          <a:lstStyle/>
          <a:p>
            <a:r>
              <a:rPr lang="en-US" b="1" dirty="0"/>
              <a:t>Meta-data repository: </a:t>
            </a:r>
          </a:p>
          <a:p>
            <a:pPr lvl="1"/>
            <a:r>
              <a:rPr lang="en-US" dirty="0"/>
              <a:t>Metadata is data describing data. </a:t>
            </a:r>
          </a:p>
          <a:p>
            <a:pPr lvl="1"/>
            <a:r>
              <a:rPr lang="en-US" dirty="0"/>
              <a:t>It is an integral part of a database, which holds information about the database and the data it stores. </a:t>
            </a:r>
          </a:p>
          <a:p>
            <a:pPr lvl="1"/>
            <a:r>
              <a:rPr lang="en-US" dirty="0"/>
              <a:t>Any well-designed database surely includes a metadata (Data Dictionary). </a:t>
            </a:r>
          </a:p>
          <a:p>
            <a:pPr lvl="1"/>
            <a:r>
              <a:rPr lang="en-US" dirty="0"/>
              <a:t>It provides database administrators and other users easy access to the type of data they expect to see in every table of database without accessing the database. </a:t>
            </a:r>
          </a:p>
          <a:p>
            <a:pPr lvl="1"/>
            <a:r>
              <a:rPr lang="en-US" dirty="0"/>
              <a:t>Thus, it contains a list of all files in the database, the number of records in each file and the names and types of each filed.</a:t>
            </a:r>
          </a:p>
        </p:txBody>
      </p:sp>
    </p:spTree>
    <p:extLst>
      <p:ext uri="{BB962C8B-B14F-4D97-AF65-F5344CB8AC3E}">
        <p14:creationId xmlns:p14="http://schemas.microsoft.com/office/powerpoint/2010/main" val="23999710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4372"/>
            <a:ext cx="10515600" cy="783191"/>
          </a:xfrm>
        </p:spPr>
        <p:txBody>
          <a:bodyPr/>
          <a:lstStyle/>
          <a:p>
            <a:r>
              <a:rPr lang="en-US" b="1" dirty="0"/>
              <a:t>Designing Database</a:t>
            </a:r>
          </a:p>
        </p:txBody>
      </p:sp>
      <p:sp>
        <p:nvSpPr>
          <p:cNvPr id="3" name="Content Placeholder 2"/>
          <p:cNvSpPr>
            <a:spLocks noGrp="1"/>
          </p:cNvSpPr>
          <p:nvPr>
            <p:ph idx="1"/>
          </p:nvPr>
        </p:nvSpPr>
        <p:spPr>
          <a:xfrm>
            <a:off x="838200" y="1360967"/>
            <a:ext cx="10515600" cy="4815996"/>
          </a:xfrm>
        </p:spPr>
        <p:txBody>
          <a:bodyPr>
            <a:normAutofit fontScale="92500" lnSpcReduction="10000"/>
          </a:bodyPr>
          <a:lstStyle/>
          <a:p>
            <a:r>
              <a:rPr lang="en-US" dirty="0"/>
              <a:t>Before designing a database, we must spend a lot of time to identify what type of data will be used, what relationship exists among those data, where the data originate from, how the data will be used and how the organizations will apply changes to manage data efficiently.</a:t>
            </a:r>
          </a:p>
          <a:p>
            <a:r>
              <a:rPr lang="en-US" dirty="0"/>
              <a:t>After the answers to these questions are found we should start with designing a conceptual database, which illustrates the logical structure of the database. </a:t>
            </a:r>
          </a:p>
          <a:p>
            <a:r>
              <a:rPr lang="en-US" dirty="0"/>
              <a:t>The logical design of a database is then translated into physical design, which is arranged on direct access storage devices. </a:t>
            </a:r>
          </a:p>
          <a:p>
            <a:r>
              <a:rPr lang="en-US" dirty="0"/>
              <a:t>Thus, logical design is more conceptual and abstract than physical design. </a:t>
            </a:r>
          </a:p>
          <a:p>
            <a:r>
              <a:rPr lang="en-US" dirty="0"/>
              <a:t>In the logical design, you look at the logical relationships among the objects. In physical design, you look at the most effective way of storing and retrieving objects.</a:t>
            </a:r>
          </a:p>
        </p:txBody>
      </p:sp>
    </p:spTree>
    <p:extLst>
      <p:ext uri="{BB962C8B-B14F-4D97-AF65-F5344CB8AC3E}">
        <p14:creationId xmlns:p14="http://schemas.microsoft.com/office/powerpoint/2010/main" val="14329743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4372"/>
            <a:ext cx="10515600" cy="751294"/>
          </a:xfrm>
        </p:spPr>
        <p:txBody>
          <a:bodyPr/>
          <a:lstStyle/>
          <a:p>
            <a:r>
              <a:rPr lang="en-US" b="1" dirty="0"/>
              <a:t>Logical Modeling</a:t>
            </a:r>
          </a:p>
        </p:txBody>
      </p:sp>
      <p:sp>
        <p:nvSpPr>
          <p:cNvPr id="3" name="Content Placeholder 2"/>
          <p:cNvSpPr>
            <a:spLocks noGrp="1"/>
          </p:cNvSpPr>
          <p:nvPr>
            <p:ph idx="1"/>
          </p:nvPr>
        </p:nvSpPr>
        <p:spPr>
          <a:xfrm>
            <a:off x="838200" y="1073888"/>
            <a:ext cx="10515600" cy="5486400"/>
          </a:xfrm>
        </p:spPr>
        <p:txBody>
          <a:bodyPr>
            <a:normAutofit fontScale="92500" lnSpcReduction="20000"/>
          </a:bodyPr>
          <a:lstStyle/>
          <a:p>
            <a:r>
              <a:rPr lang="en-US" dirty="0"/>
              <a:t>After all business requirements have been gathered for a proposed database, they must be modeled. </a:t>
            </a:r>
          </a:p>
          <a:p>
            <a:r>
              <a:rPr lang="en-US" dirty="0"/>
              <a:t>Models are created to visually represent the proposed database so that business requirements can easily be associated with database objects to ensure that all requirements have been completely and accurately gathered. </a:t>
            </a:r>
          </a:p>
          <a:p>
            <a:r>
              <a:rPr lang="en-US" dirty="0"/>
              <a:t>The logical model revolves around the needs of the business, not the database, although the needs of the business are used to establish the needs of the database. </a:t>
            </a:r>
          </a:p>
          <a:p>
            <a:r>
              <a:rPr lang="en-US" dirty="0"/>
              <a:t>Logical modeling involves gathering information about business processes, business entities (categories of data), and organizational units. </a:t>
            </a:r>
          </a:p>
          <a:p>
            <a:r>
              <a:rPr lang="en-US" dirty="0"/>
              <a:t>Logical modeling affects not only the direction of database design, but also indirectly affects the performance and administration of an implemented database. </a:t>
            </a:r>
          </a:p>
          <a:p>
            <a:r>
              <a:rPr lang="en-US" dirty="0"/>
              <a:t>When time is invested performing logical modeling, more options become available for planning the design of the physical database.</a:t>
            </a:r>
          </a:p>
        </p:txBody>
      </p:sp>
    </p:spTree>
    <p:extLst>
      <p:ext uri="{BB962C8B-B14F-4D97-AF65-F5344CB8AC3E}">
        <p14:creationId xmlns:p14="http://schemas.microsoft.com/office/powerpoint/2010/main" val="5364832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52893"/>
            <a:ext cx="10515600" cy="5624070"/>
          </a:xfrm>
        </p:spPr>
        <p:txBody>
          <a:bodyPr>
            <a:normAutofit fontScale="92500"/>
          </a:bodyPr>
          <a:lstStyle/>
          <a:p>
            <a:r>
              <a:rPr lang="en-US" dirty="0"/>
              <a:t>After this information is gathered, diagrams and reports are produced using Entity Relationship Diagrams (ERD). </a:t>
            </a:r>
          </a:p>
          <a:p>
            <a:r>
              <a:rPr lang="en-US" dirty="0"/>
              <a:t>ER Diagram is a diagrammatic representation of a database. It helps to organize data used by a system in a disciplined way. </a:t>
            </a:r>
          </a:p>
          <a:p>
            <a:r>
              <a:rPr lang="en-US" dirty="0"/>
              <a:t>The point of the initial ERD is to provide the development team with a picture of the different categories of data that exist, as well as the relationships between business processes and data. </a:t>
            </a:r>
          </a:p>
          <a:p>
            <a:r>
              <a:rPr lang="en-US" dirty="0"/>
              <a:t>Logical modeling should accurately render a visual representation of the activities and data relevant to a particular business.</a:t>
            </a:r>
          </a:p>
          <a:p>
            <a:r>
              <a:rPr lang="en-US" dirty="0"/>
              <a:t>ER diagrams use symbols to represent three different types of information. </a:t>
            </a:r>
          </a:p>
          <a:p>
            <a:r>
              <a:rPr lang="en-US" dirty="0"/>
              <a:t>Rectangular boxes are used to represent entities. </a:t>
            </a:r>
          </a:p>
          <a:p>
            <a:r>
              <a:rPr lang="en-US" dirty="0"/>
              <a:t>Diamonds are used to represent relationships and ovals are used to represent attributes.</a:t>
            </a:r>
          </a:p>
        </p:txBody>
      </p:sp>
    </p:spTree>
    <p:extLst>
      <p:ext uri="{BB962C8B-B14F-4D97-AF65-F5344CB8AC3E}">
        <p14:creationId xmlns:p14="http://schemas.microsoft.com/office/powerpoint/2010/main" val="30334637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0731" y="733647"/>
            <a:ext cx="10515600" cy="5369441"/>
          </a:xfrm>
        </p:spPr>
        <p:txBody>
          <a:bodyPr>
            <a:normAutofit/>
          </a:bodyPr>
          <a:lstStyle/>
          <a:p>
            <a:r>
              <a:rPr lang="en-US" b="1" dirty="0"/>
              <a:t>Entities: </a:t>
            </a:r>
          </a:p>
          <a:p>
            <a:pPr lvl="1"/>
            <a:r>
              <a:rPr lang="en-US" dirty="0"/>
              <a:t>Entities are the things or objects about which we collect information. </a:t>
            </a:r>
          </a:p>
          <a:p>
            <a:pPr lvl="1"/>
            <a:r>
              <a:rPr lang="en-US" dirty="0"/>
              <a:t>An entity is a person, place, thing, or event. It could be department, manager, employee, items, supplier, customer etc.</a:t>
            </a:r>
          </a:p>
          <a:p>
            <a:r>
              <a:rPr lang="en-US" b="1" dirty="0"/>
              <a:t>Attributes: </a:t>
            </a:r>
          </a:p>
          <a:p>
            <a:pPr lvl="1"/>
            <a:r>
              <a:rPr lang="en-US" dirty="0"/>
              <a:t>Attributes are the data we want to collect for an entity. </a:t>
            </a:r>
          </a:p>
          <a:p>
            <a:pPr lvl="1"/>
            <a:r>
              <a:rPr lang="en-US" dirty="0"/>
              <a:t>For example, if we have an entity called employee then its attributes may be id, name, address, gender, email, phone, post, salary etc.</a:t>
            </a:r>
          </a:p>
          <a:p>
            <a:r>
              <a:rPr lang="en-US" b="1" dirty="0"/>
              <a:t>Relationship: </a:t>
            </a:r>
          </a:p>
          <a:p>
            <a:pPr lvl="1"/>
            <a:r>
              <a:rPr lang="en-US" dirty="0"/>
              <a:t>Relationships describe the associations between the entities. </a:t>
            </a:r>
          </a:p>
          <a:p>
            <a:pPr lvl="1"/>
            <a:r>
              <a:rPr lang="en-US" dirty="0"/>
              <a:t>To be more precise, relationships illustrate how two entities share information in the database structure.</a:t>
            </a:r>
            <a:br>
              <a:rPr lang="en-US" dirty="0"/>
            </a:br>
            <a:endParaRPr lang="en-US" dirty="0"/>
          </a:p>
        </p:txBody>
      </p:sp>
    </p:spTree>
    <p:extLst>
      <p:ext uri="{BB962C8B-B14F-4D97-AF65-F5344CB8AC3E}">
        <p14:creationId xmlns:p14="http://schemas.microsoft.com/office/powerpoint/2010/main" val="13632115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8963"/>
            <a:ext cx="10515600" cy="2384864"/>
          </a:xfrm>
        </p:spPr>
        <p:txBody>
          <a:bodyPr/>
          <a:lstStyle/>
          <a:p>
            <a:r>
              <a:rPr lang="en-US" dirty="0"/>
              <a:t>In the following example the diagram illustrates the relationship between three entities employee, department, and manager. </a:t>
            </a:r>
          </a:p>
          <a:p>
            <a:r>
              <a:rPr lang="en-US" dirty="0"/>
              <a:t>It shows that an employee works in a department but there are many employees in the department, each department is managed by only one manager and each manager manages only one department.</a:t>
            </a:r>
          </a:p>
        </p:txBody>
      </p:sp>
      <p:grpSp>
        <p:nvGrpSpPr>
          <p:cNvPr id="37" name="Group 36"/>
          <p:cNvGrpSpPr/>
          <p:nvPr/>
        </p:nvGrpSpPr>
        <p:grpSpPr>
          <a:xfrm>
            <a:off x="630865" y="2868348"/>
            <a:ext cx="10733568" cy="701749"/>
            <a:chOff x="630865" y="3735570"/>
            <a:chExt cx="10733568" cy="701749"/>
          </a:xfrm>
        </p:grpSpPr>
        <p:sp>
          <p:nvSpPr>
            <p:cNvPr id="4" name="Rectangle 3"/>
            <p:cNvSpPr/>
            <p:nvPr/>
          </p:nvSpPr>
          <p:spPr>
            <a:xfrm>
              <a:off x="9865242" y="3767469"/>
              <a:ext cx="1499191" cy="637953"/>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MANAGER</a:t>
              </a:r>
            </a:p>
          </p:txBody>
        </p:sp>
        <p:sp>
          <p:nvSpPr>
            <p:cNvPr id="5" name="Rectangle 4"/>
            <p:cNvSpPr/>
            <p:nvPr/>
          </p:nvSpPr>
          <p:spPr>
            <a:xfrm>
              <a:off x="630865" y="3767469"/>
              <a:ext cx="1499191" cy="637953"/>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EMPLOYEE</a:t>
              </a:r>
            </a:p>
          </p:txBody>
        </p:sp>
        <p:sp>
          <p:nvSpPr>
            <p:cNvPr id="6" name="Rectangle 5"/>
            <p:cNvSpPr/>
            <p:nvPr/>
          </p:nvSpPr>
          <p:spPr>
            <a:xfrm>
              <a:off x="5159006" y="3767469"/>
              <a:ext cx="1499191" cy="637953"/>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DEPARTMENT</a:t>
              </a:r>
            </a:p>
          </p:txBody>
        </p:sp>
        <p:sp>
          <p:nvSpPr>
            <p:cNvPr id="7" name="Diamond 6"/>
            <p:cNvSpPr/>
            <p:nvPr/>
          </p:nvSpPr>
          <p:spPr>
            <a:xfrm>
              <a:off x="2674088" y="3735570"/>
              <a:ext cx="1940886" cy="701749"/>
            </a:xfrm>
            <a:prstGeom prst="diamond">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Work</a:t>
              </a:r>
            </a:p>
          </p:txBody>
        </p:sp>
        <p:sp>
          <p:nvSpPr>
            <p:cNvPr id="8" name="Diamond 7"/>
            <p:cNvSpPr/>
            <p:nvPr/>
          </p:nvSpPr>
          <p:spPr>
            <a:xfrm>
              <a:off x="7202229" y="3735570"/>
              <a:ext cx="2118979" cy="701749"/>
            </a:xfrm>
            <a:prstGeom prst="diamond">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Managed</a:t>
              </a:r>
            </a:p>
          </p:txBody>
        </p:sp>
        <p:cxnSp>
          <p:nvCxnSpPr>
            <p:cNvPr id="12" name="Straight Connector 11"/>
            <p:cNvCxnSpPr>
              <a:stCxn id="5" idx="3"/>
              <a:endCxn id="7" idx="1"/>
            </p:cNvCxnSpPr>
            <p:nvPr/>
          </p:nvCxnSpPr>
          <p:spPr>
            <a:xfrm flipV="1">
              <a:off x="2130056" y="4086445"/>
              <a:ext cx="544032"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7" idx="3"/>
              <a:endCxn id="6" idx="1"/>
            </p:cNvCxnSpPr>
            <p:nvPr/>
          </p:nvCxnSpPr>
          <p:spPr>
            <a:xfrm>
              <a:off x="4614974" y="4086445"/>
              <a:ext cx="544032"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6" idx="3"/>
              <a:endCxn id="8" idx="1"/>
            </p:cNvCxnSpPr>
            <p:nvPr/>
          </p:nvCxnSpPr>
          <p:spPr>
            <a:xfrm flipV="1">
              <a:off x="6658197" y="4086445"/>
              <a:ext cx="544032"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8" idx="3"/>
              <a:endCxn id="4" idx="1"/>
            </p:cNvCxnSpPr>
            <p:nvPr/>
          </p:nvCxnSpPr>
          <p:spPr>
            <a:xfrm>
              <a:off x="9321208" y="4086445"/>
              <a:ext cx="544034"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4880344" y="3923414"/>
              <a:ext cx="0" cy="29771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4997302" y="3923414"/>
              <a:ext cx="0" cy="329609"/>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6804837" y="3923414"/>
              <a:ext cx="0" cy="297712"/>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6943060" y="3923414"/>
              <a:ext cx="0" cy="297712"/>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9516140" y="3923414"/>
              <a:ext cx="0" cy="329609"/>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9643728" y="3923414"/>
              <a:ext cx="0" cy="329609"/>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2286000" y="3923414"/>
              <a:ext cx="0" cy="297712"/>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2130056" y="3923414"/>
              <a:ext cx="177209" cy="163031"/>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2130054" y="4086445"/>
              <a:ext cx="194934" cy="166578"/>
            </a:xfrm>
            <a:prstGeom prst="line">
              <a:avLst/>
            </a:prstGeom>
          </p:spPr>
          <p:style>
            <a:lnRef idx="1">
              <a:schemeClr val="accent1"/>
            </a:lnRef>
            <a:fillRef idx="0">
              <a:schemeClr val="accent1"/>
            </a:fillRef>
            <a:effectRef idx="0">
              <a:schemeClr val="accent1"/>
            </a:effectRef>
            <a:fontRef idx="minor">
              <a:schemeClr val="tx1"/>
            </a:fontRef>
          </p:style>
        </p:cxnSp>
      </p:grpSp>
      <p:sp>
        <p:nvSpPr>
          <p:cNvPr id="38" name="Content Placeholder 2"/>
          <p:cNvSpPr txBox="1">
            <a:spLocks/>
          </p:cNvSpPr>
          <p:nvPr/>
        </p:nvSpPr>
        <p:spPr>
          <a:xfrm>
            <a:off x="838200" y="4476689"/>
            <a:ext cx="10515600" cy="23848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If businesses do not get data model right, the system won't be able to serve the business well. </a:t>
            </a:r>
          </a:p>
          <a:p>
            <a:r>
              <a:rPr lang="en-US" dirty="0"/>
              <a:t>The company's system will not be as effective as it could be because they will have to work with data that may be inaccurate, incomplete, or difficult to retrieve.</a:t>
            </a:r>
          </a:p>
        </p:txBody>
      </p:sp>
      <p:sp>
        <p:nvSpPr>
          <p:cNvPr id="39" name="TextBox 38"/>
          <p:cNvSpPr txBox="1"/>
          <p:nvPr/>
        </p:nvSpPr>
        <p:spPr>
          <a:xfrm>
            <a:off x="2544726" y="3829933"/>
            <a:ext cx="7102548" cy="461665"/>
          </a:xfrm>
          <a:prstGeom prst="rect">
            <a:avLst/>
          </a:prstGeom>
          <a:noFill/>
        </p:spPr>
        <p:txBody>
          <a:bodyPr wrap="square" rtlCol="0">
            <a:spAutoFit/>
          </a:bodyPr>
          <a:lstStyle/>
          <a:p>
            <a:pPr algn="ctr"/>
            <a:r>
              <a:rPr lang="en-US" sz="2400" dirty="0"/>
              <a:t>Figure 3.4 - An Entity Relationship Diagram</a:t>
            </a:r>
          </a:p>
        </p:txBody>
      </p:sp>
    </p:spTree>
    <p:extLst>
      <p:ext uri="{BB962C8B-B14F-4D97-AF65-F5344CB8AC3E}">
        <p14:creationId xmlns:p14="http://schemas.microsoft.com/office/powerpoint/2010/main" val="38605128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5504"/>
            <a:ext cx="10515600" cy="676878"/>
          </a:xfrm>
        </p:spPr>
        <p:txBody>
          <a:bodyPr>
            <a:normAutofit/>
          </a:bodyPr>
          <a:lstStyle/>
          <a:p>
            <a:r>
              <a:rPr lang="en-US" sz="4000" b="1" dirty="0"/>
              <a:t>Normalization</a:t>
            </a:r>
          </a:p>
        </p:txBody>
      </p:sp>
      <p:sp>
        <p:nvSpPr>
          <p:cNvPr id="3" name="Content Placeholder 2"/>
          <p:cNvSpPr>
            <a:spLocks noGrp="1"/>
          </p:cNvSpPr>
          <p:nvPr>
            <p:ph idx="1"/>
          </p:nvPr>
        </p:nvSpPr>
        <p:spPr>
          <a:xfrm>
            <a:off x="287079" y="754903"/>
            <a:ext cx="11568223" cy="6018037"/>
          </a:xfrm>
        </p:spPr>
        <p:txBody>
          <a:bodyPr>
            <a:noAutofit/>
          </a:bodyPr>
          <a:lstStyle/>
          <a:p>
            <a:r>
              <a:rPr lang="en-US" sz="2100" dirty="0"/>
              <a:t>Normalization is another major factor to be considered while designing a database. </a:t>
            </a:r>
          </a:p>
          <a:p>
            <a:r>
              <a:rPr lang="en-US" sz="2100" dirty="0"/>
              <a:t>In relational design the process of organizing data to minimize redundancy and inconsistencies dependency is called normalization. </a:t>
            </a:r>
          </a:p>
          <a:p>
            <a:r>
              <a:rPr lang="en-US" sz="2100" dirty="0"/>
              <a:t>The goal of database normalization is to decompose relations having anomalies to produce smaller and well-structured relations (tables). </a:t>
            </a:r>
          </a:p>
          <a:p>
            <a:r>
              <a:rPr lang="en-US" sz="2100" dirty="0"/>
              <a:t>An anomaly is simply a thing or situation that is different from what is normal or expected. </a:t>
            </a:r>
          </a:p>
          <a:p>
            <a:r>
              <a:rPr lang="en-US" sz="2100" dirty="0"/>
              <a:t>A relational database anomaly is the violation of consistency and undesired effect in the relational database caused by various operations such as insert, update, and delete.</a:t>
            </a:r>
          </a:p>
          <a:p>
            <a:r>
              <a:rPr lang="en-US" sz="2100" dirty="0"/>
              <a:t>Normalization usually involves dividing large badly formed tables into smaller well-formed tables. Simply breaking a table is called normalization. </a:t>
            </a:r>
          </a:p>
          <a:p>
            <a:r>
              <a:rPr lang="en-US" sz="2100" dirty="0"/>
              <a:t>It depends upon the type of data and the number of data fields to decide up to which level the normalization is needed. </a:t>
            </a:r>
          </a:p>
          <a:p>
            <a:r>
              <a:rPr lang="en-US" sz="2100" dirty="0"/>
              <a:t>Thus, a relational table is set to be normal form if it satisfied certain set of constraints. Basically, there are six steps in normalization listed as: First Normal Form (1NF), Second Normal Form (2NF), Third Normal Form (3NF), Boyce Cod Normal Form (BCNF), Fourth Normal Form (4NF) and Fifth Normal Form (5NF). </a:t>
            </a:r>
          </a:p>
          <a:p>
            <a:r>
              <a:rPr lang="en-US" sz="2100" dirty="0"/>
              <a:t>Each successive normalization is stronger than the preceding one.</a:t>
            </a:r>
          </a:p>
        </p:txBody>
      </p:sp>
    </p:spTree>
    <p:extLst>
      <p:ext uri="{BB962C8B-B14F-4D97-AF65-F5344CB8AC3E}">
        <p14:creationId xmlns:p14="http://schemas.microsoft.com/office/powerpoint/2010/main" val="11508939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Physical Modeling</a:t>
            </a:r>
            <a:endParaRPr lang="en-US" dirty="0"/>
          </a:p>
        </p:txBody>
      </p:sp>
      <p:sp>
        <p:nvSpPr>
          <p:cNvPr id="3" name="Content Placeholder 2"/>
          <p:cNvSpPr>
            <a:spLocks noGrp="1"/>
          </p:cNvSpPr>
          <p:nvPr>
            <p:ph idx="1"/>
          </p:nvPr>
        </p:nvSpPr>
        <p:spPr/>
        <p:txBody>
          <a:bodyPr>
            <a:normAutofit/>
          </a:bodyPr>
          <a:lstStyle/>
          <a:p>
            <a:r>
              <a:rPr lang="en-US" dirty="0"/>
              <a:t>Physical modeling involves the actual design of a database according to the requirements that were established during logical modeling. </a:t>
            </a:r>
          </a:p>
          <a:p>
            <a:r>
              <a:rPr lang="en-US" dirty="0"/>
              <a:t>Logical modeling mainly involves gathering the requirements of the business, with the latter part of logical modeling directed toward</a:t>
            </a:r>
            <a:br>
              <a:rPr lang="en-US" dirty="0"/>
            </a:br>
            <a:r>
              <a:rPr lang="en-US" dirty="0"/>
              <a:t>the goals and requirements of the database. </a:t>
            </a:r>
          </a:p>
          <a:p>
            <a:r>
              <a:rPr lang="en-US" dirty="0"/>
              <a:t> Physical modeling deals with the conversion of the logical, or business model, into a relational database model. </a:t>
            </a:r>
          </a:p>
          <a:p>
            <a:r>
              <a:rPr lang="en-US" dirty="0"/>
              <a:t>When physical modeling occurs, objects are being defined at the schema level. A schema is a group of related objects in a database. </a:t>
            </a:r>
          </a:p>
        </p:txBody>
      </p:sp>
    </p:spTree>
    <p:extLst>
      <p:ext uri="{BB962C8B-B14F-4D97-AF65-F5344CB8AC3E}">
        <p14:creationId xmlns:p14="http://schemas.microsoft.com/office/powerpoint/2010/main" val="38638024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01749"/>
            <a:ext cx="10515600" cy="5475214"/>
          </a:xfrm>
        </p:spPr>
        <p:txBody>
          <a:bodyPr>
            <a:normAutofit lnSpcReduction="10000"/>
          </a:bodyPr>
          <a:lstStyle/>
          <a:p>
            <a:r>
              <a:rPr lang="en-US" dirty="0"/>
              <a:t>A database design effort is normally associated with one schema.</a:t>
            </a:r>
          </a:p>
          <a:p>
            <a:r>
              <a:rPr lang="en-US" dirty="0"/>
              <a:t>During physical modeling, objects such as tables and columns are created based on entities and attributes that were defined during logical modeling. </a:t>
            </a:r>
          </a:p>
          <a:p>
            <a:r>
              <a:rPr lang="en-US" dirty="0"/>
              <a:t>Constraints are also defined, including primary keys, foreign keys, other unique keys, and check constraints. </a:t>
            </a:r>
          </a:p>
          <a:p>
            <a:r>
              <a:rPr lang="en-US" dirty="0"/>
              <a:t>Views can be created from database tables to summarize data or to simply provide the user with another perspective of certain data. </a:t>
            </a:r>
          </a:p>
          <a:p>
            <a:r>
              <a:rPr lang="en-US" dirty="0"/>
              <a:t>Other objects such as indexes and snapshots can also be defined during physical modeling. </a:t>
            </a:r>
          </a:p>
          <a:p>
            <a:r>
              <a:rPr lang="en-US" dirty="0"/>
              <a:t>Physical modeling is when all the pieces come together to complete the process of defining a database for a business.</a:t>
            </a:r>
            <a:br>
              <a:rPr lang="en-US" dirty="0"/>
            </a:br>
            <a:endParaRPr lang="en-US" dirty="0"/>
          </a:p>
        </p:txBody>
      </p:sp>
    </p:spTree>
    <p:extLst>
      <p:ext uri="{BB962C8B-B14F-4D97-AF65-F5344CB8AC3E}">
        <p14:creationId xmlns:p14="http://schemas.microsoft.com/office/powerpoint/2010/main" val="3628985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69851"/>
            <a:ext cx="10515600" cy="5507112"/>
          </a:xfrm>
        </p:spPr>
        <p:txBody>
          <a:bodyPr/>
          <a:lstStyle/>
          <a:p>
            <a:r>
              <a:rPr lang="en-US" dirty="0"/>
              <a:t>Physical modeling is database software specific, meaning that the objects defined during physical modeling can vary depending on the relational database software being used. </a:t>
            </a:r>
          </a:p>
          <a:p>
            <a:r>
              <a:rPr lang="en-US" dirty="0"/>
              <a:t>For example, most relational database systems have variations with the way data types are represented and the way data is stored, although basic data types are conceptually the same among different implementations. </a:t>
            </a:r>
          </a:p>
          <a:p>
            <a:r>
              <a:rPr lang="en-US" dirty="0"/>
              <a:t>Additionally, some database systems have objects that are not available in other database systems.</a:t>
            </a:r>
          </a:p>
        </p:txBody>
      </p:sp>
    </p:spTree>
    <p:extLst>
      <p:ext uri="{BB962C8B-B14F-4D97-AF65-F5344CB8AC3E}">
        <p14:creationId xmlns:p14="http://schemas.microsoft.com/office/powerpoint/2010/main" val="36669729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6139"/>
            <a:ext cx="10515600" cy="613070"/>
          </a:xfrm>
        </p:spPr>
        <p:txBody>
          <a:bodyPr>
            <a:normAutofit fontScale="90000"/>
          </a:bodyPr>
          <a:lstStyle/>
          <a:p>
            <a:r>
              <a:rPr lang="en-US" b="1" dirty="0"/>
              <a:t>Implementation of the Physical Model</a:t>
            </a:r>
            <a:endParaRPr lang="en-US" dirty="0"/>
          </a:p>
        </p:txBody>
      </p:sp>
      <p:sp>
        <p:nvSpPr>
          <p:cNvPr id="3" name="Content Placeholder 2"/>
          <p:cNvSpPr>
            <a:spLocks noGrp="1"/>
          </p:cNvSpPr>
          <p:nvPr>
            <p:ph idx="1"/>
          </p:nvPr>
        </p:nvSpPr>
        <p:spPr>
          <a:xfrm>
            <a:off x="212651" y="808074"/>
            <a:ext cx="11695814" cy="5816010"/>
          </a:xfrm>
        </p:spPr>
        <p:txBody>
          <a:bodyPr>
            <a:normAutofit fontScale="92500" lnSpcReduction="10000"/>
          </a:bodyPr>
          <a:lstStyle/>
          <a:p>
            <a:r>
              <a:rPr lang="en-US" dirty="0"/>
              <a:t>The implementation of the physical model is dependent on the hardware and software being used by the company. </a:t>
            </a:r>
          </a:p>
          <a:p>
            <a:r>
              <a:rPr lang="en-US" dirty="0"/>
              <a:t>The hardware can determine what type of software can be used because software is normally developed according to common hardware and operating system platforms. </a:t>
            </a:r>
          </a:p>
          <a:p>
            <a:r>
              <a:rPr lang="en-US" dirty="0"/>
              <a:t>Some database software might only be available for Windows NT systems, whereas</a:t>
            </a:r>
            <a:br>
              <a:rPr lang="en-US" dirty="0"/>
            </a:br>
            <a:r>
              <a:rPr lang="en-US" dirty="0"/>
              <a:t>other software products such as Oracle are available on a wider range of operating system platforms, such as UNIX. </a:t>
            </a:r>
          </a:p>
          <a:p>
            <a:r>
              <a:rPr lang="en-US" dirty="0"/>
              <a:t>The available hardware is also important during the implementation of the physical model because data is physically distributed onto one or more physical disk drives. </a:t>
            </a:r>
          </a:p>
          <a:p>
            <a:r>
              <a:rPr lang="en-US" dirty="0"/>
              <a:t>Normally, the more physical drives available, the better the performance of the database after the implementation. </a:t>
            </a:r>
          </a:p>
          <a:p>
            <a:r>
              <a:rPr lang="en-US" dirty="0"/>
              <a:t>Some software products now are Java-based and can run on virtually any platform. </a:t>
            </a:r>
          </a:p>
          <a:p>
            <a:r>
              <a:rPr lang="en-US" dirty="0"/>
              <a:t>Typically, the decisions to use hardware, operating system platforms, and database software are made in conjunction with one another.</a:t>
            </a:r>
          </a:p>
        </p:txBody>
      </p:sp>
    </p:spTree>
    <p:extLst>
      <p:ext uri="{BB962C8B-B14F-4D97-AF65-F5344CB8AC3E}">
        <p14:creationId xmlns:p14="http://schemas.microsoft.com/office/powerpoint/2010/main" val="23876896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6987"/>
          </a:xfrm>
        </p:spPr>
        <p:txBody>
          <a:bodyPr/>
          <a:lstStyle/>
          <a:p>
            <a:r>
              <a:rPr lang="en-US" b="1" dirty="0"/>
              <a:t>Big Data</a:t>
            </a:r>
            <a:endParaRPr lang="en-US" dirty="0"/>
          </a:p>
        </p:txBody>
      </p:sp>
      <p:sp>
        <p:nvSpPr>
          <p:cNvPr id="3" name="Content Placeholder 2"/>
          <p:cNvSpPr>
            <a:spLocks noGrp="1"/>
          </p:cNvSpPr>
          <p:nvPr>
            <p:ph idx="1"/>
          </p:nvPr>
        </p:nvSpPr>
        <p:spPr>
          <a:xfrm>
            <a:off x="838200" y="1435395"/>
            <a:ext cx="10515600" cy="4741568"/>
          </a:xfrm>
        </p:spPr>
        <p:txBody>
          <a:bodyPr/>
          <a:lstStyle/>
          <a:p>
            <a:r>
              <a:rPr lang="en-US" dirty="0"/>
              <a:t>In today's data-driven environment, information flows at a rapid pace.</a:t>
            </a:r>
          </a:p>
          <a:p>
            <a:r>
              <a:rPr lang="en-US" dirty="0"/>
              <a:t>This flood of data, commonly referred to as "Big Data," poses both obstacles and enormous opportunity for businesses and organizations across industries. </a:t>
            </a:r>
          </a:p>
          <a:p>
            <a:r>
              <a:rPr lang="en-US" dirty="0"/>
              <a:t>Big Data isn't simply about having a large volume of data. </a:t>
            </a:r>
          </a:p>
          <a:p>
            <a:r>
              <a:rPr lang="en-US" dirty="0"/>
              <a:t>It's characterized by three key attributes in the form of 'Vs':</a:t>
            </a:r>
          </a:p>
        </p:txBody>
      </p:sp>
    </p:spTree>
    <p:extLst>
      <p:ext uri="{BB962C8B-B14F-4D97-AF65-F5344CB8AC3E}">
        <p14:creationId xmlns:p14="http://schemas.microsoft.com/office/powerpoint/2010/main" val="1813018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72140"/>
            <a:ext cx="10515600" cy="6124353"/>
          </a:xfrm>
        </p:spPr>
        <p:txBody>
          <a:bodyPr>
            <a:normAutofit lnSpcReduction="10000"/>
          </a:bodyPr>
          <a:lstStyle/>
          <a:p>
            <a:r>
              <a:rPr lang="en-US" b="1" dirty="0"/>
              <a:t>Volume: </a:t>
            </a:r>
          </a:p>
          <a:p>
            <a:pPr lvl="1"/>
            <a:r>
              <a:rPr lang="en-US" dirty="0"/>
              <a:t>Big Data refers to vast amounts of data, typically ranging from terabytes to petabytes and beyond. </a:t>
            </a:r>
          </a:p>
          <a:p>
            <a:pPr lvl="1"/>
            <a:r>
              <a:rPr lang="en-US" dirty="0"/>
              <a:t>The sheer amount of data generated today is staggering. </a:t>
            </a:r>
          </a:p>
          <a:p>
            <a:pPr lvl="1"/>
            <a:r>
              <a:rPr lang="en-US" dirty="0"/>
              <a:t>From social media interactions and sensor readings to financial transactions and customer records, the quantity of data is growing exponentially. </a:t>
            </a:r>
          </a:p>
          <a:p>
            <a:pPr lvl="1"/>
            <a:r>
              <a:rPr lang="en-US" dirty="0"/>
              <a:t>Streaming services like Netflix and YouTube are excellent examples of this. </a:t>
            </a:r>
          </a:p>
          <a:p>
            <a:pPr lvl="1"/>
            <a:r>
              <a:rPr lang="en-US" dirty="0"/>
              <a:t>These platforms serve millions of users that stream videos, resulting in massive amounts of data. </a:t>
            </a:r>
          </a:p>
          <a:p>
            <a:pPr lvl="1"/>
            <a:r>
              <a:rPr lang="en-US" dirty="0"/>
              <a:t>Netflix must retain not only this massive amount of streaming data, but also user preferences, search histories, and interactions. </a:t>
            </a:r>
          </a:p>
          <a:p>
            <a:pPr lvl="1"/>
            <a:r>
              <a:rPr lang="en-US" dirty="0"/>
              <a:t>The volume of data gathered enables Netflix to deploy advanced algorithms to recommend series and movies, resulting in a more personalized customer experience. </a:t>
            </a:r>
          </a:p>
          <a:p>
            <a:pPr lvl="1"/>
            <a:r>
              <a:rPr lang="en-US" dirty="0"/>
              <a:t>While the vast amount of data created allows for more focused consumer recommendations, assessing and managing this information necessitates improved storage and processing capabilities.</a:t>
            </a:r>
          </a:p>
        </p:txBody>
      </p:sp>
    </p:spTree>
    <p:extLst>
      <p:ext uri="{BB962C8B-B14F-4D97-AF65-F5344CB8AC3E}">
        <p14:creationId xmlns:p14="http://schemas.microsoft.com/office/powerpoint/2010/main" val="5522627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5935"/>
            <a:ext cx="10515600" cy="5741028"/>
          </a:xfrm>
        </p:spPr>
        <p:txBody>
          <a:bodyPr>
            <a:normAutofit lnSpcReduction="10000"/>
          </a:bodyPr>
          <a:lstStyle/>
          <a:p>
            <a:r>
              <a:rPr lang="en-US" b="1" dirty="0"/>
              <a:t>Variety: </a:t>
            </a:r>
          </a:p>
          <a:p>
            <a:pPr lvl="1"/>
            <a:r>
              <a:rPr lang="en-US" dirty="0"/>
              <a:t>Big Data comes in a multitude of formats, including structured data (databases, spreadsheets), semi-structured data (logs, emails, XML files and JSON documents), and unstructured data (social media posts, images, videos). </a:t>
            </a:r>
          </a:p>
          <a:p>
            <a:pPr lvl="1"/>
            <a:r>
              <a:rPr lang="en-US" dirty="0"/>
              <a:t>Managing and analyzing this variety of data types requires advanced technologies and techniques. </a:t>
            </a:r>
          </a:p>
          <a:p>
            <a:pPr lvl="1"/>
            <a:r>
              <a:rPr lang="en-US" dirty="0"/>
              <a:t>In health care, for example, patient data might comprise structured records like age, diagnosis, and treatment history, as well as unstructured data like medical notes, health photographs, and even genetic information. </a:t>
            </a:r>
          </a:p>
          <a:p>
            <a:pPr lvl="1"/>
            <a:r>
              <a:rPr lang="en-US" dirty="0"/>
              <a:t>When dealing with diverse big data, you must aggregate and analyze your data to keep its significance while producing more powerful insights. </a:t>
            </a:r>
          </a:p>
          <a:p>
            <a:pPr lvl="1"/>
            <a:r>
              <a:rPr lang="en-US" dirty="0"/>
              <a:t>You will need to use complex processing techniques and powerful analytics to do this. </a:t>
            </a:r>
          </a:p>
          <a:p>
            <a:pPr lvl="1"/>
            <a:r>
              <a:rPr lang="en-US" dirty="0"/>
              <a:t>While individual data points may have biases, the variety in big data provides various reference points on the issue of interest, allowing you to assemble a more complete picture.</a:t>
            </a:r>
          </a:p>
        </p:txBody>
      </p:sp>
    </p:spTree>
    <p:extLst>
      <p:ext uri="{BB962C8B-B14F-4D97-AF65-F5344CB8AC3E}">
        <p14:creationId xmlns:p14="http://schemas.microsoft.com/office/powerpoint/2010/main" val="24404063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67833"/>
            <a:ext cx="10515600" cy="5709130"/>
          </a:xfrm>
        </p:spPr>
        <p:txBody>
          <a:bodyPr>
            <a:normAutofit/>
          </a:bodyPr>
          <a:lstStyle/>
          <a:p>
            <a:r>
              <a:rPr lang="en-US" b="1" dirty="0"/>
              <a:t>Velocity: </a:t>
            </a:r>
          </a:p>
          <a:p>
            <a:pPr lvl="1"/>
            <a:r>
              <a:rPr lang="en-US" dirty="0"/>
              <a:t>The speed at which data is generated and needs to be processed is another defining characteristic. </a:t>
            </a:r>
          </a:p>
          <a:p>
            <a:pPr lvl="1"/>
            <a:r>
              <a:rPr lang="en-US" dirty="0"/>
              <a:t>Big Data streams in real-time, demanding agile analytical tools to extract value before it becomes obsolete. </a:t>
            </a:r>
          </a:p>
          <a:p>
            <a:pPr lvl="1"/>
            <a:r>
              <a:rPr lang="en-US" dirty="0"/>
              <a:t>This velocity presents challenges in terms of processing and analyzing data streams as they are generated. </a:t>
            </a:r>
          </a:p>
          <a:p>
            <a:pPr lvl="1"/>
            <a:r>
              <a:rPr lang="en-US" dirty="0"/>
              <a:t>For example, millions of postings are put out daily on social networking platforms like Facebook, X (formerly Twitter), Instagram, etc. while wearables such as Apple Watches regularly capture health data. </a:t>
            </a:r>
          </a:p>
          <a:p>
            <a:pPr lvl="1"/>
            <a:r>
              <a:rPr lang="en-US" dirty="0"/>
              <a:t>However, velocity is more than just a rapid arrival rate. In several industries, professionals make quick decisions as data arrives. </a:t>
            </a:r>
          </a:p>
          <a:p>
            <a:pPr lvl="1"/>
            <a:r>
              <a:rPr lang="en-US" dirty="0"/>
              <a:t>For example: financial firms trading on the stock market use high-speed data to make split- second choices worth millions of dollars.</a:t>
            </a:r>
          </a:p>
        </p:txBody>
      </p:sp>
    </p:spTree>
    <p:extLst>
      <p:ext uri="{BB962C8B-B14F-4D97-AF65-F5344CB8AC3E}">
        <p14:creationId xmlns:p14="http://schemas.microsoft.com/office/powerpoint/2010/main" val="13756875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Additionally, there are some more 'Vs' to describe Big Data as explained below:</a:t>
            </a:r>
          </a:p>
        </p:txBody>
      </p:sp>
      <p:sp>
        <p:nvSpPr>
          <p:cNvPr id="3" name="Content Placeholder 2"/>
          <p:cNvSpPr>
            <a:spLocks noGrp="1"/>
          </p:cNvSpPr>
          <p:nvPr>
            <p:ph idx="1"/>
          </p:nvPr>
        </p:nvSpPr>
        <p:spPr/>
        <p:txBody>
          <a:bodyPr>
            <a:normAutofit fontScale="92500"/>
          </a:bodyPr>
          <a:lstStyle/>
          <a:p>
            <a:r>
              <a:rPr lang="en-US" b="1" dirty="0"/>
              <a:t>Veracity: </a:t>
            </a:r>
          </a:p>
          <a:p>
            <a:pPr lvl="1"/>
            <a:r>
              <a:rPr lang="en-US" dirty="0"/>
              <a:t>The term "veracity" relates to the reliability and quality of data.</a:t>
            </a:r>
          </a:p>
          <a:p>
            <a:pPr lvl="1"/>
            <a:r>
              <a:rPr lang="en-US" dirty="0"/>
              <a:t>With so much data collected daily, it's still difficult to ensure that the data you</a:t>
            </a:r>
            <a:br>
              <a:rPr lang="en-US" dirty="0"/>
            </a:br>
            <a:r>
              <a:rPr lang="en-US" dirty="0"/>
              <a:t>work with is neutral and accurately represents what it's supposed to. </a:t>
            </a:r>
          </a:p>
          <a:p>
            <a:pPr lvl="1"/>
            <a:r>
              <a:rPr lang="en-US" dirty="0"/>
              <a:t>In this instance, checking and confirming your data at every stage of the collecting and analysis process is critical. Depending on the type of data, missing numbers,</a:t>
            </a:r>
            <a:br>
              <a:rPr lang="en-US" dirty="0"/>
            </a:br>
            <a:r>
              <a:rPr lang="en-US" dirty="0"/>
              <a:t>noise, model approximation, ambiguity, and bias can all have an impact on its</a:t>
            </a:r>
            <a:br>
              <a:rPr lang="en-US" dirty="0"/>
            </a:br>
            <a:r>
              <a:rPr lang="en-US" dirty="0"/>
              <a:t>authenticity. </a:t>
            </a:r>
          </a:p>
          <a:p>
            <a:pPr lvl="1"/>
            <a:r>
              <a:rPr lang="en-US" dirty="0"/>
              <a:t>The acceptable authenticity of the data will be determined by the</a:t>
            </a:r>
            <a:br>
              <a:rPr lang="en-US" dirty="0"/>
            </a:br>
            <a:r>
              <a:rPr lang="en-US" dirty="0"/>
              <a:t>type of data and its intended function. </a:t>
            </a:r>
          </a:p>
          <a:p>
            <a:pPr lvl="1"/>
            <a:r>
              <a:rPr lang="en-US" dirty="0"/>
              <a:t>For example, when it comes to medical data, the validity of data appropriate for research purposes differs significantly from the veracity of clinical conclusions.</a:t>
            </a:r>
          </a:p>
        </p:txBody>
      </p:sp>
    </p:spTree>
    <p:extLst>
      <p:ext uri="{BB962C8B-B14F-4D97-AF65-F5344CB8AC3E}">
        <p14:creationId xmlns:p14="http://schemas.microsoft.com/office/powerpoint/2010/main" val="18427161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06056"/>
            <a:ext cx="10515600" cy="5571460"/>
          </a:xfrm>
        </p:spPr>
        <p:txBody>
          <a:bodyPr>
            <a:normAutofit/>
          </a:bodyPr>
          <a:lstStyle/>
          <a:p>
            <a:r>
              <a:rPr lang="en-US" b="1" dirty="0"/>
              <a:t>Value: </a:t>
            </a:r>
          </a:p>
          <a:p>
            <a:pPr lvl="1"/>
            <a:r>
              <a:rPr lang="en-US" dirty="0"/>
              <a:t>The "value" of big data stems from the insights and patterns it can</a:t>
            </a:r>
            <a:br>
              <a:rPr lang="en-US" dirty="0"/>
            </a:br>
            <a:r>
              <a:rPr lang="en-US" dirty="0"/>
              <a:t>reveal. </a:t>
            </a:r>
          </a:p>
          <a:p>
            <a:pPr lvl="1"/>
            <a:r>
              <a:rPr lang="en-US" dirty="0"/>
              <a:t>Because big data integrates data from a variety of sources and formats, you can gain insights into key indicators such as customer behavior, market trends, business performance, and more. </a:t>
            </a:r>
          </a:p>
          <a:p>
            <a:pPr lvl="1"/>
            <a:r>
              <a:rPr lang="en-US" dirty="0"/>
              <a:t>For example, while structured data can indicate numerical trends and patterns, unstructured text data like social media posts or customer reviews can disclose attitudes and opinions that influence human behavior.</a:t>
            </a:r>
          </a:p>
        </p:txBody>
      </p:sp>
    </p:spTree>
    <p:extLst>
      <p:ext uri="{BB962C8B-B14F-4D97-AF65-F5344CB8AC3E}">
        <p14:creationId xmlns:p14="http://schemas.microsoft.com/office/powerpoint/2010/main" val="16502765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33647"/>
            <a:ext cx="10515600" cy="5443316"/>
          </a:xfrm>
        </p:spPr>
        <p:txBody>
          <a:bodyPr>
            <a:normAutofit/>
          </a:bodyPr>
          <a:lstStyle/>
          <a:p>
            <a:r>
              <a:rPr lang="en-US" dirty="0"/>
              <a:t>These characteristics of Big Data pose significant challenges for traditional data management techniques. </a:t>
            </a:r>
          </a:p>
          <a:p>
            <a:r>
              <a:rPr lang="en-US" dirty="0"/>
              <a:t>However, with the right tools and strategies, Big Data can be</a:t>
            </a:r>
            <a:br>
              <a:rPr lang="en-US" dirty="0"/>
            </a:br>
            <a:r>
              <a:rPr lang="en-US" dirty="0"/>
              <a:t>harnessed to unlock a wealth of insights. </a:t>
            </a:r>
          </a:p>
          <a:p>
            <a:r>
              <a:rPr lang="en-US" dirty="0"/>
              <a:t>While Big Data offers immense potential, managing it effectively presents several hurdles:</a:t>
            </a:r>
          </a:p>
          <a:p>
            <a:pPr lvl="1"/>
            <a:r>
              <a:rPr lang="en-US" b="1" dirty="0"/>
              <a:t>Data Storage and Processing</a:t>
            </a:r>
          </a:p>
          <a:p>
            <a:pPr lvl="1"/>
            <a:r>
              <a:rPr lang="en-US" b="1" dirty="0"/>
              <a:t>Data Integration and Analysis</a:t>
            </a:r>
          </a:p>
          <a:p>
            <a:pPr lvl="1"/>
            <a:r>
              <a:rPr lang="en-US" b="1" dirty="0"/>
              <a:t>Security and Privacy Concerns</a:t>
            </a:r>
          </a:p>
          <a:p>
            <a:pPr lvl="1"/>
            <a:r>
              <a:rPr lang="en-US" b="1" dirty="0"/>
              <a:t>Extracting Meaningful Insights</a:t>
            </a:r>
            <a:endParaRPr lang="en-US" dirty="0"/>
          </a:p>
          <a:p>
            <a:endParaRPr lang="en-US" dirty="0"/>
          </a:p>
        </p:txBody>
      </p:sp>
    </p:spTree>
    <p:extLst>
      <p:ext uri="{BB962C8B-B14F-4D97-AF65-F5344CB8AC3E}">
        <p14:creationId xmlns:p14="http://schemas.microsoft.com/office/powerpoint/2010/main" val="38818035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57200"/>
            <a:ext cx="10515600" cy="5719763"/>
          </a:xfrm>
        </p:spPr>
        <p:txBody>
          <a:bodyPr>
            <a:normAutofit/>
          </a:bodyPr>
          <a:lstStyle/>
          <a:p>
            <a:r>
              <a:rPr lang="en-US" b="1" dirty="0"/>
              <a:t>Data Storage and Processing: </a:t>
            </a:r>
            <a:r>
              <a:rPr lang="en-US" dirty="0"/>
              <a:t>Storing and processing massive datasets requires robust infrastructure and powerful computing capabilities.</a:t>
            </a:r>
          </a:p>
          <a:p>
            <a:r>
              <a:rPr lang="en-US" b="1" dirty="0"/>
              <a:t>Data Integration and Analysis: </a:t>
            </a:r>
            <a:r>
              <a:rPr lang="en-US" dirty="0"/>
              <a:t>Integrating data from diverse sources and formats necessitates sophisticated data wrangling and advanced analytics tools.</a:t>
            </a:r>
          </a:p>
          <a:p>
            <a:r>
              <a:rPr lang="en-US" b="1" dirty="0"/>
              <a:t>Security and Privacy Concerns: </a:t>
            </a:r>
            <a:r>
              <a:rPr lang="en-US" dirty="0"/>
              <a:t>Protecting sensitive customer information within Big Data sets is paramount, requiring robust cybersecurity measures.</a:t>
            </a:r>
          </a:p>
          <a:p>
            <a:r>
              <a:rPr lang="en-US" b="1" dirty="0"/>
              <a:t>Extracting Meaningful Insights: </a:t>
            </a:r>
            <a:r>
              <a:rPr lang="en-US" dirty="0"/>
              <a:t>Turning raw data into actionable insights requires skilled data scientists and analysts who can identify patterns and trends.</a:t>
            </a:r>
          </a:p>
          <a:p>
            <a:endParaRPr lang="en-US" dirty="0"/>
          </a:p>
        </p:txBody>
      </p:sp>
    </p:spTree>
    <p:extLst>
      <p:ext uri="{BB962C8B-B14F-4D97-AF65-F5344CB8AC3E}">
        <p14:creationId xmlns:p14="http://schemas.microsoft.com/office/powerpoint/2010/main" val="37043940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9936"/>
            <a:ext cx="10515600" cy="676866"/>
          </a:xfrm>
        </p:spPr>
        <p:txBody>
          <a:bodyPr>
            <a:noAutofit/>
          </a:bodyPr>
          <a:lstStyle/>
          <a:p>
            <a:r>
              <a:rPr lang="en-US" sz="3200" b="1" dirty="0"/>
              <a:t>Let's explore some real-world examples:</a:t>
            </a:r>
          </a:p>
        </p:txBody>
      </p:sp>
      <p:sp>
        <p:nvSpPr>
          <p:cNvPr id="3" name="Content Placeholder 2"/>
          <p:cNvSpPr>
            <a:spLocks noGrp="1"/>
          </p:cNvSpPr>
          <p:nvPr>
            <p:ph idx="1"/>
          </p:nvPr>
        </p:nvSpPr>
        <p:spPr>
          <a:xfrm>
            <a:off x="838200" y="882502"/>
            <a:ext cx="10515600" cy="5709684"/>
          </a:xfrm>
        </p:spPr>
        <p:txBody>
          <a:bodyPr>
            <a:normAutofit fontScale="92500"/>
          </a:bodyPr>
          <a:lstStyle/>
          <a:p>
            <a:r>
              <a:rPr lang="en-US" b="1" dirty="0"/>
              <a:t>Social Media Analytics: </a:t>
            </a:r>
          </a:p>
          <a:p>
            <a:pPr lvl="1"/>
            <a:r>
              <a:rPr lang="en-US" dirty="0"/>
              <a:t>Social media platforms like Facebook, Twitter, and Instagram generate massive amounts of data in the form of posts, comments, likes, shares, and more. </a:t>
            </a:r>
          </a:p>
          <a:p>
            <a:pPr lvl="1"/>
            <a:r>
              <a:rPr lang="en-US" dirty="0"/>
              <a:t>Organizations can analyze this data to gain insights into customer sentiment, brand perception, and market trends. </a:t>
            </a:r>
          </a:p>
          <a:p>
            <a:pPr lvl="1"/>
            <a:r>
              <a:rPr lang="en-US" dirty="0"/>
              <a:t>For example, a retail company may analyze social media conversations to understand customer preferences and tailor marketing campaigns accordingly.</a:t>
            </a:r>
          </a:p>
          <a:p>
            <a:endParaRPr lang="en-US" dirty="0"/>
          </a:p>
          <a:p>
            <a:r>
              <a:rPr lang="en-US" b="1" dirty="0" err="1"/>
              <a:t>IoT</a:t>
            </a:r>
            <a:r>
              <a:rPr lang="en-US" b="1" dirty="0"/>
              <a:t> Data: </a:t>
            </a:r>
          </a:p>
          <a:p>
            <a:pPr lvl="1"/>
            <a:r>
              <a:rPr lang="en-US" dirty="0"/>
              <a:t>The Internet of Things (</a:t>
            </a:r>
            <a:r>
              <a:rPr lang="en-US" dirty="0" err="1"/>
              <a:t>IoT</a:t>
            </a:r>
            <a:r>
              <a:rPr lang="en-US" dirty="0"/>
              <a:t>) involves the connection of various devices and sensors to collect and exchange data. </a:t>
            </a:r>
          </a:p>
          <a:p>
            <a:pPr lvl="1"/>
            <a:r>
              <a:rPr lang="en-US" dirty="0"/>
              <a:t>This data can include temperature readings, GPS coordinates, machine diagnostics, and more. </a:t>
            </a:r>
          </a:p>
          <a:p>
            <a:pPr lvl="1"/>
            <a:r>
              <a:rPr lang="en-US" dirty="0"/>
              <a:t>For instance, a smart city project might utilize </a:t>
            </a:r>
            <a:r>
              <a:rPr lang="en-US" dirty="0" err="1"/>
              <a:t>IoT</a:t>
            </a:r>
            <a:r>
              <a:rPr lang="en-US" dirty="0"/>
              <a:t> sensors to monitor traffic</a:t>
            </a:r>
            <a:br>
              <a:rPr lang="en-US" dirty="0"/>
            </a:br>
            <a:r>
              <a:rPr lang="en-US" dirty="0"/>
              <a:t>patterns, optimize energy consumption, and enhance public safety.</a:t>
            </a:r>
          </a:p>
        </p:txBody>
      </p:sp>
    </p:spTree>
    <p:extLst>
      <p:ext uri="{BB962C8B-B14F-4D97-AF65-F5344CB8AC3E}">
        <p14:creationId xmlns:p14="http://schemas.microsoft.com/office/powerpoint/2010/main" val="8745298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9730"/>
            <a:ext cx="10515600" cy="5677233"/>
          </a:xfrm>
        </p:spPr>
        <p:txBody>
          <a:bodyPr>
            <a:normAutofit/>
          </a:bodyPr>
          <a:lstStyle/>
          <a:p>
            <a:r>
              <a:rPr lang="en-US" b="1" dirty="0"/>
              <a:t>E-commerce Recommendations: </a:t>
            </a:r>
          </a:p>
          <a:p>
            <a:pPr lvl="1"/>
            <a:r>
              <a:rPr lang="en-US" dirty="0"/>
              <a:t>Online retailers like Amazon leverage Big Data analytics to provide personalized product recommendations to customers.</a:t>
            </a:r>
          </a:p>
          <a:p>
            <a:pPr lvl="1"/>
            <a:r>
              <a:rPr lang="en-US" dirty="0"/>
              <a:t>By analyzing past purchase history, browsing behavior, and demographic</a:t>
            </a:r>
            <a:br>
              <a:rPr lang="en-US" dirty="0"/>
            </a:br>
            <a:r>
              <a:rPr lang="en-US" dirty="0"/>
              <a:t>information, these companies can suggest products that are relevant and</a:t>
            </a:r>
            <a:br>
              <a:rPr lang="en-US" dirty="0"/>
            </a:br>
            <a:r>
              <a:rPr lang="en-US" dirty="0"/>
              <a:t>appealing to individual customers, thereby enhancing the shopping experience and increasing sales.</a:t>
            </a:r>
            <a:br>
              <a:rPr lang="en-US" dirty="0"/>
            </a:br>
            <a:endParaRPr lang="en-US" dirty="0"/>
          </a:p>
          <a:p>
            <a:r>
              <a:rPr lang="en-US" b="1" dirty="0"/>
              <a:t>Healthcare: </a:t>
            </a:r>
          </a:p>
          <a:p>
            <a:pPr lvl="1"/>
            <a:r>
              <a:rPr lang="en-US" dirty="0"/>
              <a:t>Hospitals and research institutions leverage Big Data to analyze</a:t>
            </a:r>
            <a:br>
              <a:rPr lang="en-US" dirty="0"/>
            </a:br>
            <a:r>
              <a:rPr lang="en-US" dirty="0"/>
              <a:t>patient data, identify disease outbreaks, personalize treatment plans, and develop new drugs. </a:t>
            </a:r>
          </a:p>
          <a:p>
            <a:pPr lvl="1"/>
            <a:r>
              <a:rPr lang="en-US" dirty="0"/>
              <a:t>For instance, analyzing medical records and wearable device data can help predict health risks and enable preventative measures.</a:t>
            </a:r>
          </a:p>
        </p:txBody>
      </p:sp>
    </p:spTree>
    <p:extLst>
      <p:ext uri="{BB962C8B-B14F-4D97-AF65-F5344CB8AC3E}">
        <p14:creationId xmlns:p14="http://schemas.microsoft.com/office/powerpoint/2010/main" val="25089486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50874"/>
            <a:ext cx="10515600" cy="6273210"/>
          </a:xfrm>
        </p:spPr>
        <p:txBody>
          <a:bodyPr>
            <a:normAutofit fontScale="92500"/>
          </a:bodyPr>
          <a:lstStyle/>
          <a:p>
            <a:r>
              <a:rPr lang="en-US" b="1" dirty="0"/>
              <a:t>Retail: </a:t>
            </a:r>
          </a:p>
          <a:p>
            <a:pPr lvl="1"/>
            <a:r>
              <a:rPr lang="en-US" dirty="0"/>
              <a:t>Retailers utilize Big Data to personalize customer experience, optimize inventory management, and predict shopping trends. </a:t>
            </a:r>
          </a:p>
          <a:p>
            <a:pPr lvl="1"/>
            <a:r>
              <a:rPr lang="en-US" dirty="0"/>
              <a:t>By analyzing customer purchase history and online behavior, retailers can offer targeted recommendations and promotions, leading to increased sales and customer satisfaction.</a:t>
            </a:r>
          </a:p>
          <a:p>
            <a:r>
              <a:rPr lang="en-US" b="1" dirty="0"/>
              <a:t>Finance: </a:t>
            </a:r>
          </a:p>
          <a:p>
            <a:pPr lvl="1"/>
            <a:r>
              <a:rPr lang="en-US" dirty="0"/>
              <a:t>Financial institutions use Big Data to detect fraudulent activities, manage risks, and personalize financial products for customers. </a:t>
            </a:r>
          </a:p>
          <a:p>
            <a:pPr lvl="1"/>
            <a:r>
              <a:rPr lang="en-US" dirty="0"/>
              <a:t>By analyzing customer data and transaction patterns, banks can identify anomalies that might indicate fraud attempts, protecting both the institution and</a:t>
            </a:r>
            <a:br>
              <a:rPr lang="en-US" dirty="0"/>
            </a:br>
            <a:r>
              <a:rPr lang="en-US" dirty="0"/>
              <a:t>customers.</a:t>
            </a:r>
          </a:p>
          <a:p>
            <a:r>
              <a:rPr lang="en-US" b="1" dirty="0"/>
              <a:t>Transportation: </a:t>
            </a:r>
          </a:p>
          <a:p>
            <a:pPr lvl="1"/>
            <a:r>
              <a:rPr lang="en-US" dirty="0"/>
              <a:t>Traffic management systems and ride-hailing apps leverage Big Data to analyze real-time traffic conditions, optimize routes, and predict demand for services. </a:t>
            </a:r>
          </a:p>
          <a:p>
            <a:pPr lvl="1"/>
            <a:r>
              <a:rPr lang="en-US" dirty="0"/>
              <a:t>This allows for dynamic pricing adjustments and improved efficiency in transportation networks.</a:t>
            </a:r>
          </a:p>
        </p:txBody>
      </p:sp>
    </p:spTree>
    <p:extLst>
      <p:ext uri="{BB962C8B-B14F-4D97-AF65-F5344CB8AC3E}">
        <p14:creationId xmlns:p14="http://schemas.microsoft.com/office/powerpoint/2010/main" val="299123108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89098"/>
            <a:ext cx="10515600" cy="5687865"/>
          </a:xfrm>
        </p:spPr>
        <p:txBody>
          <a:bodyPr>
            <a:normAutofit/>
          </a:bodyPr>
          <a:lstStyle/>
          <a:p>
            <a:r>
              <a:rPr lang="en-US" b="1" dirty="0"/>
              <a:t>Manufacturing: </a:t>
            </a:r>
          </a:p>
          <a:p>
            <a:pPr lvl="1"/>
            <a:r>
              <a:rPr lang="en-US" dirty="0"/>
              <a:t>Manufacturing companies utilize Big Data to monitor equipment performance, predict maintenance needs, and optimize production processes. </a:t>
            </a:r>
          </a:p>
          <a:p>
            <a:pPr lvl="1"/>
            <a:r>
              <a:rPr lang="en-US" dirty="0"/>
              <a:t>By analyzing sensor data from machines, manufacturers can identify potential issues before they cause downtime, leading to increased productivity and reduced costs.</a:t>
            </a:r>
          </a:p>
          <a:p>
            <a:endParaRPr lang="en-US" dirty="0"/>
          </a:p>
          <a:p>
            <a:r>
              <a:rPr lang="en-US" dirty="0"/>
              <a:t>These are just a few examples of how Big Data is revolutionizing various industries. </a:t>
            </a:r>
          </a:p>
          <a:p>
            <a:r>
              <a:rPr lang="en-US" dirty="0"/>
              <a:t>As technology continues to evolve and data collection becomes even more pervasive, the potential applications of Big Data are limitless. </a:t>
            </a:r>
          </a:p>
          <a:p>
            <a:r>
              <a:rPr lang="en-US" dirty="0"/>
              <a:t>The future of Big Data is bright.</a:t>
            </a:r>
          </a:p>
        </p:txBody>
      </p:sp>
    </p:spTree>
    <p:extLst>
      <p:ext uri="{BB962C8B-B14F-4D97-AF65-F5344CB8AC3E}">
        <p14:creationId xmlns:p14="http://schemas.microsoft.com/office/powerpoint/2010/main" val="168663113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3100"/>
            <a:ext cx="10515600" cy="857619"/>
          </a:xfrm>
        </p:spPr>
        <p:txBody>
          <a:bodyPr>
            <a:normAutofit/>
          </a:bodyPr>
          <a:lstStyle/>
          <a:p>
            <a:r>
              <a:rPr lang="en-US" sz="4000" b="1" dirty="0"/>
              <a:t>We can expect advancements in areas such as:</a:t>
            </a:r>
          </a:p>
        </p:txBody>
      </p:sp>
      <p:sp>
        <p:nvSpPr>
          <p:cNvPr id="3" name="Content Placeholder 2"/>
          <p:cNvSpPr>
            <a:spLocks noGrp="1"/>
          </p:cNvSpPr>
          <p:nvPr>
            <p:ph idx="1"/>
          </p:nvPr>
        </p:nvSpPr>
        <p:spPr>
          <a:xfrm>
            <a:off x="838200" y="1158949"/>
            <a:ext cx="10515600" cy="4774018"/>
          </a:xfrm>
        </p:spPr>
        <p:txBody>
          <a:bodyPr>
            <a:normAutofit/>
          </a:bodyPr>
          <a:lstStyle/>
          <a:p>
            <a:r>
              <a:rPr lang="en-US" b="1" dirty="0"/>
              <a:t>Artificial Intelligence (AI) and Machine Learning (ML): </a:t>
            </a:r>
          </a:p>
          <a:p>
            <a:pPr lvl="1"/>
            <a:r>
              <a:rPr lang="en-US" dirty="0"/>
              <a:t>Integrating AI and ML with Big Data analytics will further enhance the ability to identify patterns, predict trends, and generate actionable insights.</a:t>
            </a:r>
          </a:p>
          <a:p>
            <a:r>
              <a:rPr lang="en-US" b="1" dirty="0"/>
              <a:t>Real-time Analytics: </a:t>
            </a:r>
          </a:p>
          <a:p>
            <a:pPr lvl="1"/>
            <a:r>
              <a:rPr lang="en-US" dirty="0"/>
              <a:t>The ability to analyze data in real-time will become increasingly crucial for businesses to make informed decisions and respond to rapidly changing situations.</a:t>
            </a:r>
          </a:p>
          <a:p>
            <a:r>
              <a:rPr lang="en-US" b="1" dirty="0"/>
              <a:t>Improved Data Security and Privacy: </a:t>
            </a:r>
          </a:p>
          <a:p>
            <a:pPr lvl="1"/>
            <a:r>
              <a:rPr lang="en-US" dirty="0"/>
              <a:t>As the importance of data security grows, new technologies and regulations will emerge to ensure the responsible and ethical use of Big Data.</a:t>
            </a:r>
            <a:br>
              <a:rPr lang="en-US" dirty="0"/>
            </a:br>
            <a:endParaRPr lang="en-US" dirty="0"/>
          </a:p>
        </p:txBody>
      </p:sp>
    </p:spTree>
    <p:extLst>
      <p:ext uri="{BB962C8B-B14F-4D97-AF65-F5344CB8AC3E}">
        <p14:creationId xmlns:p14="http://schemas.microsoft.com/office/powerpoint/2010/main" val="126976827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06056"/>
            <a:ext cx="10515600" cy="5570907"/>
          </a:xfrm>
        </p:spPr>
        <p:txBody>
          <a:bodyPr>
            <a:normAutofit fontScale="92500" lnSpcReduction="20000"/>
          </a:bodyPr>
          <a:lstStyle/>
          <a:p>
            <a:r>
              <a:rPr lang="en-US" dirty="0"/>
              <a:t>To effectively harness the power of Big Data, organizations need robust infrastructure, advanced analytics tools, and skilled data scientists and analysts. </a:t>
            </a:r>
          </a:p>
          <a:p>
            <a:r>
              <a:rPr lang="en-US" dirty="0"/>
              <a:t>Additionally, they must prioritize data privacy, security, and compliance to maintain trust and transparency with customers and regulatory authorities. </a:t>
            </a:r>
          </a:p>
          <a:p>
            <a:r>
              <a:rPr lang="en-US" dirty="0"/>
              <a:t>By leveraging Big Data analytics, organizations can gain actionable insights, drive innovation, improve decision-making, and ultimately, gain a competitive edge in today's data-driven marketplace. </a:t>
            </a:r>
          </a:p>
          <a:p>
            <a:r>
              <a:rPr lang="en-US" dirty="0"/>
              <a:t>However, success in the Big Data era requires a strategic approach, continuous learning, and a commitment to adapt and evolve in response to changing technologies and market dynamics. </a:t>
            </a:r>
          </a:p>
          <a:p>
            <a:r>
              <a:rPr lang="en-US" dirty="0"/>
              <a:t>Big Data represents a paradigm shift in how organizations collect, manage, and analyze data. </a:t>
            </a:r>
          </a:p>
          <a:p>
            <a:r>
              <a:rPr lang="en-US" dirty="0"/>
              <a:t>By embracing Big Data and investing in the right tools and talent, organizations can unlock a competitive edge, improve decision-making, and drive innovation in a data-driven world.</a:t>
            </a:r>
          </a:p>
        </p:txBody>
      </p:sp>
    </p:spTree>
    <p:extLst>
      <p:ext uri="{BB962C8B-B14F-4D97-AF65-F5344CB8AC3E}">
        <p14:creationId xmlns:p14="http://schemas.microsoft.com/office/powerpoint/2010/main" val="70256245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93824"/>
          </a:xfrm>
        </p:spPr>
        <p:txBody>
          <a:bodyPr/>
          <a:lstStyle/>
          <a:p>
            <a:r>
              <a:rPr lang="en-US" b="1" dirty="0"/>
              <a:t>Data Warehouse</a:t>
            </a:r>
            <a:endParaRPr lang="en-US" dirty="0"/>
          </a:p>
        </p:txBody>
      </p:sp>
      <p:sp>
        <p:nvSpPr>
          <p:cNvPr id="3" name="Content Placeholder 2"/>
          <p:cNvSpPr>
            <a:spLocks noGrp="1"/>
          </p:cNvSpPr>
          <p:nvPr>
            <p:ph idx="1"/>
          </p:nvPr>
        </p:nvSpPr>
        <p:spPr>
          <a:xfrm>
            <a:off x="838200" y="1329072"/>
            <a:ext cx="10515600" cy="5061098"/>
          </a:xfrm>
        </p:spPr>
        <p:txBody>
          <a:bodyPr>
            <a:normAutofit/>
          </a:bodyPr>
          <a:lstStyle/>
          <a:p>
            <a:r>
              <a:rPr lang="en-US" dirty="0"/>
              <a:t>A data warehouse is a repository of current and historical data of an organization that is organized to facilitate reporting and analysis. </a:t>
            </a:r>
          </a:p>
          <a:p>
            <a:r>
              <a:rPr lang="en-US" dirty="0"/>
              <a:t>It is a collection of data from a variety of sources organized to provide useful guidelines to an organization’s decision makers. </a:t>
            </a:r>
          </a:p>
          <a:p>
            <a:r>
              <a:rPr lang="en-US" dirty="0"/>
              <a:t>Simply, a data warehouse is an information repository from which analysis and queries can be made.</a:t>
            </a:r>
          </a:p>
          <a:p>
            <a:r>
              <a:rPr lang="en-US" dirty="0"/>
              <a:t>Data warehousing provides architectures and tools for business activities to systematically organize, understand and use their data to make strategic decisions. </a:t>
            </a:r>
          </a:p>
          <a:p>
            <a:r>
              <a:rPr lang="en-US" dirty="0"/>
              <a:t>Many organizations have found that data warehouse systems are valuable tools in today's competitive and fast-growing world.</a:t>
            </a:r>
          </a:p>
        </p:txBody>
      </p:sp>
    </p:spTree>
    <p:extLst>
      <p:ext uri="{BB962C8B-B14F-4D97-AF65-F5344CB8AC3E}">
        <p14:creationId xmlns:p14="http://schemas.microsoft.com/office/powerpoint/2010/main" val="270468335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97712"/>
            <a:ext cx="10515600" cy="6422065"/>
          </a:xfrm>
        </p:spPr>
        <p:txBody>
          <a:bodyPr>
            <a:normAutofit fontScale="92500" lnSpcReduction="20000"/>
          </a:bodyPr>
          <a:lstStyle/>
          <a:p>
            <a:r>
              <a:rPr lang="en-US" dirty="0"/>
              <a:t>In the last several years, many business firms have spent millions of dollars on building enterprise-wide data warehouses. </a:t>
            </a:r>
          </a:p>
          <a:p>
            <a:r>
              <a:rPr lang="en-US" dirty="0"/>
              <a:t>Data warehouse has been a major marketing weapon, a way to keep customers by learning more about their needs. </a:t>
            </a:r>
          </a:p>
          <a:p>
            <a:r>
              <a:rPr lang="en-US" dirty="0"/>
              <a:t>A data warehouse refers to a database that is maintained separately from an organization's operational database. </a:t>
            </a:r>
          </a:p>
          <a:p>
            <a:r>
              <a:rPr lang="en-US" dirty="0"/>
              <a:t>Data warehouse systems allow for the integration of a variety of application systems. </a:t>
            </a:r>
          </a:p>
          <a:p>
            <a:r>
              <a:rPr lang="en-US" dirty="0"/>
              <a:t>They support information processing by providing a solid platform of consolidated historical data for analysis. </a:t>
            </a:r>
          </a:p>
          <a:p>
            <a:r>
              <a:rPr lang="en-US" dirty="0"/>
              <a:t>According to Will </a:t>
            </a:r>
            <a:r>
              <a:rPr lang="en-US" dirty="0" err="1"/>
              <a:t>Inmon</a:t>
            </a:r>
            <a:r>
              <a:rPr lang="en-US" dirty="0"/>
              <a:t>, a leading architect in construction of data warehouse systems, "a data warehouse is a subject oriented, integrated, time-variant, and non-volatile collection of data in support of organization's decision-making process." </a:t>
            </a:r>
          </a:p>
          <a:p>
            <a:r>
              <a:rPr lang="en-US" dirty="0"/>
              <a:t>This simple definition presents the major features of data warehouse. </a:t>
            </a:r>
          </a:p>
          <a:p>
            <a:r>
              <a:rPr lang="en-US" dirty="0"/>
              <a:t>The four main keywords, subject oriented, integrated, time-variant, and non-volatile distinguish data warehouse from other data repository systems such as relational database, TPS and file system.</a:t>
            </a:r>
          </a:p>
        </p:txBody>
      </p:sp>
    </p:spTree>
    <p:extLst>
      <p:ext uri="{BB962C8B-B14F-4D97-AF65-F5344CB8AC3E}">
        <p14:creationId xmlns:p14="http://schemas.microsoft.com/office/powerpoint/2010/main" val="17874307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6898"/>
            <a:ext cx="10515600" cy="613070"/>
          </a:xfrm>
        </p:spPr>
        <p:txBody>
          <a:bodyPr>
            <a:normAutofit fontScale="90000"/>
          </a:bodyPr>
          <a:lstStyle/>
          <a:p>
            <a:r>
              <a:rPr lang="en-US" b="1" dirty="0"/>
              <a:t>Data Mart</a:t>
            </a:r>
          </a:p>
        </p:txBody>
      </p:sp>
      <p:sp>
        <p:nvSpPr>
          <p:cNvPr id="3" name="Content Placeholder 2"/>
          <p:cNvSpPr>
            <a:spLocks noGrp="1"/>
          </p:cNvSpPr>
          <p:nvPr>
            <p:ph idx="1"/>
          </p:nvPr>
        </p:nvSpPr>
        <p:spPr>
          <a:xfrm>
            <a:off x="318977" y="1020726"/>
            <a:ext cx="11515060" cy="5720316"/>
          </a:xfrm>
        </p:spPr>
        <p:txBody>
          <a:bodyPr>
            <a:normAutofit fontScale="92500" lnSpcReduction="20000"/>
          </a:bodyPr>
          <a:lstStyle/>
          <a:p>
            <a:r>
              <a:rPr lang="en-US" dirty="0"/>
              <a:t>A data mart is a simple form of a data warehouse that is focused on a single subject (a functional area), such as Sales, Finance, or Marketing. </a:t>
            </a:r>
          </a:p>
          <a:p>
            <a:r>
              <a:rPr lang="en-US" dirty="0"/>
              <a:t>A data mart is basically a condensed and more focused version of a data warehouse that reflects the regulations and processes specifications of each business unit within an organization. </a:t>
            </a:r>
          </a:p>
          <a:p>
            <a:r>
              <a:rPr lang="en-US" dirty="0"/>
              <a:t>Each data mart is dedicated to a specific business function or region. </a:t>
            </a:r>
          </a:p>
          <a:p>
            <a:r>
              <a:rPr lang="en-US" dirty="0"/>
              <a:t>Data marts are often built and controlled by a single department within an organization. </a:t>
            </a:r>
          </a:p>
          <a:p>
            <a:r>
              <a:rPr lang="en-US" dirty="0"/>
              <a:t>Given their single-subject focus, data marts usually draw data from only a few sources. </a:t>
            </a:r>
          </a:p>
          <a:p>
            <a:r>
              <a:rPr lang="en-US" dirty="0"/>
              <a:t>The sources could be internal operational systems, a central data warehouse, or external data. </a:t>
            </a:r>
          </a:p>
          <a:p>
            <a:r>
              <a:rPr lang="en-US" dirty="0"/>
              <a:t>Data mart is designed to serve a particular community of knowledge workers. </a:t>
            </a:r>
          </a:p>
          <a:p>
            <a:r>
              <a:rPr lang="en-US" dirty="0"/>
              <a:t>Data marts improve end-user response time by allowing users to have access to the specific type of data they need to view most often by providing the data in a way that supports the collective view of a group of users.</a:t>
            </a:r>
          </a:p>
        </p:txBody>
      </p:sp>
    </p:spTree>
    <p:extLst>
      <p:ext uri="{BB962C8B-B14F-4D97-AF65-F5344CB8AC3E}">
        <p14:creationId xmlns:p14="http://schemas.microsoft.com/office/powerpoint/2010/main" val="368192726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0062"/>
            <a:ext cx="10515600" cy="793824"/>
          </a:xfrm>
        </p:spPr>
        <p:txBody>
          <a:bodyPr>
            <a:normAutofit/>
          </a:bodyPr>
          <a:lstStyle/>
          <a:p>
            <a:r>
              <a:rPr lang="en-US" sz="3600" b="1" dirty="0"/>
              <a:t>Differences between Data Warehouse and Data Mart</a:t>
            </a:r>
          </a:p>
        </p:txBody>
      </p:sp>
      <p:sp>
        <p:nvSpPr>
          <p:cNvPr id="3" name="Content Placeholder 2"/>
          <p:cNvSpPr>
            <a:spLocks noGrp="1"/>
          </p:cNvSpPr>
          <p:nvPr>
            <p:ph idx="1"/>
          </p:nvPr>
        </p:nvSpPr>
        <p:spPr>
          <a:xfrm>
            <a:off x="308343" y="1297172"/>
            <a:ext cx="11600121" cy="5114261"/>
          </a:xfrm>
        </p:spPr>
        <p:txBody>
          <a:bodyPr>
            <a:normAutofit/>
          </a:bodyPr>
          <a:lstStyle/>
          <a:p>
            <a:r>
              <a:rPr lang="en-US" b="1" dirty="0"/>
              <a:t>Data Warehouse</a:t>
            </a:r>
            <a:endParaRPr lang="en-US" dirty="0"/>
          </a:p>
          <a:p>
            <a:pPr lvl="1"/>
            <a:r>
              <a:rPr lang="en-US" dirty="0"/>
              <a:t>As discussed previously, a data warehouse, unlike a data mart, deals with multiple subject areas and is typically implemented and controlled by a central organizational unit such as the corporate Information Technology (IT) group. </a:t>
            </a:r>
          </a:p>
          <a:p>
            <a:pPr lvl="1"/>
            <a:r>
              <a:rPr lang="en-US" dirty="0"/>
              <a:t>Often, it is called a central or enterprise data warehouse. </a:t>
            </a:r>
          </a:p>
          <a:p>
            <a:pPr lvl="1"/>
            <a:r>
              <a:rPr lang="en-US" dirty="0"/>
              <a:t>Typically, a data warehouse assembles data from multiple source systems.</a:t>
            </a:r>
          </a:p>
          <a:p>
            <a:endParaRPr lang="en-US" dirty="0"/>
          </a:p>
          <a:p>
            <a:r>
              <a:rPr lang="en-US" b="1" dirty="0"/>
              <a:t>Data marts</a:t>
            </a:r>
          </a:p>
          <a:p>
            <a:pPr lvl="1"/>
            <a:r>
              <a:rPr lang="en-US" dirty="0"/>
              <a:t>Data marts, on the other hand, are typically smaller and less complex than data</a:t>
            </a:r>
            <a:br>
              <a:rPr lang="en-US" dirty="0"/>
            </a:br>
            <a:r>
              <a:rPr lang="en-US" dirty="0"/>
              <a:t>warehouses; hence, they are typically easier to build and maintain. </a:t>
            </a:r>
          </a:p>
          <a:p>
            <a:pPr lvl="1"/>
            <a:r>
              <a:rPr lang="en-US" dirty="0"/>
              <a:t>The following table summarizes the basic differences between a data warehouse and a data mart.</a:t>
            </a:r>
          </a:p>
          <a:p>
            <a:endParaRPr lang="en-US" dirty="0"/>
          </a:p>
        </p:txBody>
      </p:sp>
    </p:spTree>
    <p:extLst>
      <p:ext uri="{BB962C8B-B14F-4D97-AF65-F5344CB8AC3E}">
        <p14:creationId xmlns:p14="http://schemas.microsoft.com/office/powerpoint/2010/main" val="137303673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34065"/>
          </a:xfrm>
        </p:spPr>
        <p:txBody>
          <a:bodyPr>
            <a:normAutofit/>
          </a:bodyPr>
          <a:lstStyle/>
          <a:p>
            <a:r>
              <a:rPr lang="en-US" sz="3200" b="1" dirty="0"/>
              <a:t>Table- Differences Between a Data Warehouse and a Data Mart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89518111"/>
              </p:ext>
            </p:extLst>
          </p:nvPr>
        </p:nvGraphicFramePr>
        <p:xfrm>
          <a:off x="838200" y="1825621"/>
          <a:ext cx="10515600" cy="4032918"/>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3867905816"/>
                    </a:ext>
                  </a:extLst>
                </a:gridCol>
                <a:gridCol w="3505200">
                  <a:extLst>
                    <a:ext uri="{9D8B030D-6E8A-4147-A177-3AD203B41FA5}">
                      <a16:colId xmlns:a16="http://schemas.microsoft.com/office/drawing/2014/main" val="2986480221"/>
                    </a:ext>
                  </a:extLst>
                </a:gridCol>
                <a:gridCol w="3505200">
                  <a:extLst>
                    <a:ext uri="{9D8B030D-6E8A-4147-A177-3AD203B41FA5}">
                      <a16:colId xmlns:a16="http://schemas.microsoft.com/office/drawing/2014/main" val="2361268107"/>
                    </a:ext>
                  </a:extLst>
                </a:gridCol>
              </a:tblGrid>
              <a:tr h="672153">
                <a:tc>
                  <a:txBody>
                    <a:bodyPr/>
                    <a:lstStyle/>
                    <a:p>
                      <a:r>
                        <a:rPr lang="en-US" dirty="0"/>
                        <a:t>Category</a:t>
                      </a:r>
                    </a:p>
                  </a:txBody>
                  <a:tcPr/>
                </a:tc>
                <a:tc>
                  <a:txBody>
                    <a:bodyPr/>
                    <a:lstStyle/>
                    <a:p>
                      <a:r>
                        <a:rPr lang="en-US" dirty="0"/>
                        <a:t>Date Warehouse</a:t>
                      </a:r>
                    </a:p>
                  </a:txBody>
                  <a:tcPr/>
                </a:tc>
                <a:tc>
                  <a:txBody>
                    <a:bodyPr/>
                    <a:lstStyle/>
                    <a:p>
                      <a:r>
                        <a:rPr lang="en-US" dirty="0"/>
                        <a:t>Data</a:t>
                      </a:r>
                      <a:r>
                        <a:rPr lang="en-US" baseline="0" dirty="0"/>
                        <a:t> Mart</a:t>
                      </a:r>
                      <a:endParaRPr lang="en-US" dirty="0"/>
                    </a:p>
                  </a:txBody>
                  <a:tcPr/>
                </a:tc>
                <a:extLst>
                  <a:ext uri="{0D108BD9-81ED-4DB2-BD59-A6C34878D82A}">
                    <a16:rowId xmlns:a16="http://schemas.microsoft.com/office/drawing/2014/main" val="3880809783"/>
                  </a:ext>
                </a:extLst>
              </a:tr>
              <a:tr h="672153">
                <a:tc>
                  <a:txBody>
                    <a:bodyPr/>
                    <a:lstStyle/>
                    <a:p>
                      <a:r>
                        <a:rPr lang="en-US" dirty="0"/>
                        <a:t>Scope</a:t>
                      </a:r>
                    </a:p>
                  </a:txBody>
                  <a:tcPr/>
                </a:tc>
                <a:tc>
                  <a:txBody>
                    <a:bodyPr/>
                    <a:lstStyle/>
                    <a:p>
                      <a:r>
                        <a:rPr lang="en-US" dirty="0"/>
                        <a:t>Corporate</a:t>
                      </a:r>
                    </a:p>
                  </a:txBody>
                  <a:tcPr/>
                </a:tc>
                <a:tc>
                  <a:txBody>
                    <a:bodyPr/>
                    <a:lstStyle/>
                    <a:p>
                      <a:r>
                        <a:rPr lang="en-US" dirty="0"/>
                        <a:t>Line of Business (LOB)</a:t>
                      </a:r>
                    </a:p>
                  </a:txBody>
                  <a:tcPr/>
                </a:tc>
                <a:extLst>
                  <a:ext uri="{0D108BD9-81ED-4DB2-BD59-A6C34878D82A}">
                    <a16:rowId xmlns:a16="http://schemas.microsoft.com/office/drawing/2014/main" val="4077968262"/>
                  </a:ext>
                </a:extLst>
              </a:tr>
              <a:tr h="672153">
                <a:tc>
                  <a:txBody>
                    <a:bodyPr/>
                    <a:lstStyle/>
                    <a:p>
                      <a:r>
                        <a:rPr lang="en-US" dirty="0"/>
                        <a:t>Subject</a:t>
                      </a:r>
                    </a:p>
                  </a:txBody>
                  <a:tcPr/>
                </a:tc>
                <a:tc>
                  <a:txBody>
                    <a:bodyPr/>
                    <a:lstStyle/>
                    <a:p>
                      <a:r>
                        <a:rPr lang="en-US" dirty="0"/>
                        <a:t>Multiple</a:t>
                      </a:r>
                    </a:p>
                  </a:txBody>
                  <a:tcPr/>
                </a:tc>
                <a:tc>
                  <a:txBody>
                    <a:bodyPr/>
                    <a:lstStyle/>
                    <a:p>
                      <a:r>
                        <a:rPr lang="en-US" dirty="0"/>
                        <a:t>Single Subject</a:t>
                      </a:r>
                    </a:p>
                  </a:txBody>
                  <a:tcPr/>
                </a:tc>
                <a:extLst>
                  <a:ext uri="{0D108BD9-81ED-4DB2-BD59-A6C34878D82A}">
                    <a16:rowId xmlns:a16="http://schemas.microsoft.com/office/drawing/2014/main" val="1720763182"/>
                  </a:ext>
                </a:extLst>
              </a:tr>
              <a:tr h="672153">
                <a:tc>
                  <a:txBody>
                    <a:bodyPr/>
                    <a:lstStyle/>
                    <a:p>
                      <a:r>
                        <a:rPr lang="en-US" dirty="0"/>
                        <a:t>Data</a:t>
                      </a:r>
                      <a:r>
                        <a:rPr lang="en-US" baseline="0" dirty="0"/>
                        <a:t> Source</a:t>
                      </a:r>
                      <a:endParaRPr lang="en-US" dirty="0"/>
                    </a:p>
                  </a:txBody>
                  <a:tcPr/>
                </a:tc>
                <a:tc>
                  <a:txBody>
                    <a:bodyPr/>
                    <a:lstStyle/>
                    <a:p>
                      <a:r>
                        <a:rPr lang="en-US" dirty="0"/>
                        <a:t>Many</a:t>
                      </a:r>
                    </a:p>
                  </a:txBody>
                  <a:tcPr/>
                </a:tc>
                <a:tc>
                  <a:txBody>
                    <a:bodyPr/>
                    <a:lstStyle/>
                    <a:p>
                      <a:r>
                        <a:rPr lang="en-US" dirty="0"/>
                        <a:t>Few</a:t>
                      </a:r>
                    </a:p>
                  </a:txBody>
                  <a:tcPr/>
                </a:tc>
                <a:extLst>
                  <a:ext uri="{0D108BD9-81ED-4DB2-BD59-A6C34878D82A}">
                    <a16:rowId xmlns:a16="http://schemas.microsoft.com/office/drawing/2014/main" val="3889987266"/>
                  </a:ext>
                </a:extLst>
              </a:tr>
              <a:tr h="672153">
                <a:tc>
                  <a:txBody>
                    <a:bodyPr/>
                    <a:lstStyle/>
                    <a:p>
                      <a:r>
                        <a:rPr lang="en-US" dirty="0"/>
                        <a:t>Size</a:t>
                      </a:r>
                      <a:r>
                        <a:rPr lang="en-US" baseline="0" dirty="0"/>
                        <a:t> (Typical)</a:t>
                      </a:r>
                      <a:endParaRPr lang="en-US" dirty="0"/>
                    </a:p>
                  </a:txBody>
                  <a:tcPr/>
                </a:tc>
                <a:tc>
                  <a:txBody>
                    <a:bodyPr/>
                    <a:lstStyle/>
                    <a:p>
                      <a:r>
                        <a:rPr lang="en-US" dirty="0"/>
                        <a:t>100 GB to TB+</a:t>
                      </a:r>
                    </a:p>
                  </a:txBody>
                  <a:tcPr/>
                </a:tc>
                <a:tc>
                  <a:txBody>
                    <a:bodyPr/>
                    <a:lstStyle/>
                    <a:p>
                      <a:r>
                        <a:rPr lang="en-US" dirty="0"/>
                        <a:t>&lt;100GB </a:t>
                      </a:r>
                    </a:p>
                  </a:txBody>
                  <a:tcPr/>
                </a:tc>
                <a:extLst>
                  <a:ext uri="{0D108BD9-81ED-4DB2-BD59-A6C34878D82A}">
                    <a16:rowId xmlns:a16="http://schemas.microsoft.com/office/drawing/2014/main" val="514232013"/>
                  </a:ext>
                </a:extLst>
              </a:tr>
              <a:tr h="672153">
                <a:tc>
                  <a:txBody>
                    <a:bodyPr/>
                    <a:lstStyle/>
                    <a:p>
                      <a:r>
                        <a:rPr lang="en-US" dirty="0"/>
                        <a:t>Implementation Time</a:t>
                      </a:r>
                    </a:p>
                  </a:txBody>
                  <a:tcPr/>
                </a:tc>
                <a:tc>
                  <a:txBody>
                    <a:bodyPr/>
                    <a:lstStyle/>
                    <a:p>
                      <a:r>
                        <a:rPr lang="en-US" dirty="0"/>
                        <a:t>Months</a:t>
                      </a:r>
                      <a:r>
                        <a:rPr lang="en-US" baseline="0" dirty="0"/>
                        <a:t> to Years</a:t>
                      </a:r>
                      <a:endParaRPr lang="en-US" dirty="0"/>
                    </a:p>
                  </a:txBody>
                  <a:tcPr/>
                </a:tc>
                <a:tc>
                  <a:txBody>
                    <a:bodyPr/>
                    <a:lstStyle/>
                    <a:p>
                      <a:r>
                        <a:rPr lang="en-US" dirty="0"/>
                        <a:t>Months</a:t>
                      </a:r>
                    </a:p>
                  </a:txBody>
                  <a:tcPr/>
                </a:tc>
                <a:extLst>
                  <a:ext uri="{0D108BD9-81ED-4DB2-BD59-A6C34878D82A}">
                    <a16:rowId xmlns:a16="http://schemas.microsoft.com/office/drawing/2014/main" val="3182420429"/>
                  </a:ext>
                </a:extLst>
              </a:tr>
            </a:tbl>
          </a:graphicData>
        </a:graphic>
      </p:graphicFrame>
    </p:spTree>
    <p:extLst>
      <p:ext uri="{BB962C8B-B14F-4D97-AF65-F5344CB8AC3E}">
        <p14:creationId xmlns:p14="http://schemas.microsoft.com/office/powerpoint/2010/main" val="50503089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Knowledge Management</a:t>
            </a:r>
            <a:endParaRPr lang="en-US" dirty="0"/>
          </a:p>
        </p:txBody>
      </p:sp>
      <p:sp>
        <p:nvSpPr>
          <p:cNvPr id="3" name="Content Placeholder 2"/>
          <p:cNvSpPr>
            <a:spLocks noGrp="1"/>
          </p:cNvSpPr>
          <p:nvPr>
            <p:ph idx="1"/>
          </p:nvPr>
        </p:nvSpPr>
        <p:spPr/>
        <p:txBody>
          <a:bodyPr>
            <a:normAutofit fontScale="92500" lnSpcReduction="20000"/>
          </a:bodyPr>
          <a:lstStyle/>
          <a:p>
            <a:r>
              <a:rPr lang="en-US" dirty="0"/>
              <a:t>In the knowledge economy, information is readily available, but true knowledge – the ability to utilize information effectively – is a precious commodity. </a:t>
            </a:r>
          </a:p>
          <a:p>
            <a:r>
              <a:rPr lang="en-US" dirty="0"/>
              <a:t>This is where Knowledge Management (KM) steps in. </a:t>
            </a:r>
          </a:p>
          <a:p>
            <a:r>
              <a:rPr lang="en-US" dirty="0"/>
              <a:t>Knowledge Management encompasses a range of practices, processes, and technologies aimed at identifying, capturing, organizing, and sharing knowledge assets within an organization to achieve business goals. </a:t>
            </a:r>
          </a:p>
          <a:p>
            <a:r>
              <a:rPr lang="en-US" dirty="0"/>
              <a:t>It involves the creation of a supportive culture that encourages knowledge sharing and collaboration among employees, as well as the implementation of tools and systems to facilitate the storage, retrieval, and dissemination of knowledge. </a:t>
            </a:r>
          </a:p>
          <a:p>
            <a:r>
              <a:rPr lang="en-US" dirty="0"/>
              <a:t>It's about binding the collective wisdom of your workforce to drive innovation, improve decision-making, and gain a competitive edge.</a:t>
            </a:r>
          </a:p>
        </p:txBody>
      </p:sp>
    </p:spTree>
    <p:extLst>
      <p:ext uri="{BB962C8B-B14F-4D97-AF65-F5344CB8AC3E}">
        <p14:creationId xmlns:p14="http://schemas.microsoft.com/office/powerpoint/2010/main" val="184107835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884"/>
            <a:ext cx="10515600" cy="889517"/>
          </a:xfrm>
        </p:spPr>
        <p:txBody>
          <a:bodyPr/>
          <a:lstStyle/>
          <a:p>
            <a:r>
              <a:rPr lang="en-US" b="1" dirty="0"/>
              <a:t>Effective KM rests on following key pillars:</a:t>
            </a:r>
          </a:p>
        </p:txBody>
      </p:sp>
      <p:sp>
        <p:nvSpPr>
          <p:cNvPr id="3" name="Content Placeholder 2"/>
          <p:cNvSpPr>
            <a:spLocks noGrp="1"/>
          </p:cNvSpPr>
          <p:nvPr>
            <p:ph idx="1"/>
          </p:nvPr>
        </p:nvSpPr>
        <p:spPr>
          <a:xfrm>
            <a:off x="838200" y="1010093"/>
            <a:ext cx="10515600" cy="5518298"/>
          </a:xfrm>
        </p:spPr>
        <p:txBody>
          <a:bodyPr>
            <a:normAutofit lnSpcReduction="10000"/>
          </a:bodyPr>
          <a:lstStyle/>
          <a:p>
            <a:r>
              <a:rPr lang="en-US" b="1" dirty="0"/>
              <a:t>Knowledge Creation and Capture: </a:t>
            </a:r>
          </a:p>
          <a:p>
            <a:pPr lvl="1"/>
            <a:r>
              <a:rPr lang="en-US" dirty="0"/>
              <a:t>This involves identifying and collecting valuable knowledge from various sources through research, innovation, and learning activities within the organization. </a:t>
            </a:r>
          </a:p>
          <a:p>
            <a:pPr lvl="1"/>
            <a:r>
              <a:rPr lang="en-US" dirty="0"/>
              <a:t>This could include employee expertise, best practices, lessons learned, customer insights, and market research data. </a:t>
            </a:r>
          </a:p>
          <a:p>
            <a:pPr lvl="1"/>
            <a:r>
              <a:rPr lang="en-US" dirty="0"/>
              <a:t>Techniques for knowledge capture include documentation, interviews, surveys, and knowledge repositories.</a:t>
            </a:r>
          </a:p>
          <a:p>
            <a:r>
              <a:rPr lang="en-US" b="1" dirty="0"/>
              <a:t>Knowledge Sharing: </a:t>
            </a:r>
          </a:p>
          <a:p>
            <a:pPr lvl="1"/>
            <a:r>
              <a:rPr lang="en-US" dirty="0"/>
              <a:t>Once captured, knowledge needs to be disseminated effectively throughout the organization. </a:t>
            </a:r>
          </a:p>
          <a:p>
            <a:pPr lvl="1"/>
            <a:r>
              <a:rPr lang="en-US" dirty="0"/>
              <a:t>This can be achieved through various channels such as internal wikis, knowledge-sharing platforms, mentorship programs, and collaborative workspaces. </a:t>
            </a:r>
          </a:p>
          <a:p>
            <a:pPr lvl="1"/>
            <a:r>
              <a:rPr lang="en-US" dirty="0"/>
              <a:t>Creating a culture of open communication and knowledge sharing is critical for this pillar.</a:t>
            </a:r>
          </a:p>
        </p:txBody>
      </p:sp>
    </p:spTree>
    <p:extLst>
      <p:ext uri="{BB962C8B-B14F-4D97-AF65-F5344CB8AC3E}">
        <p14:creationId xmlns:p14="http://schemas.microsoft.com/office/powerpoint/2010/main" val="354712776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8465" y="467832"/>
            <a:ext cx="11142921" cy="6198782"/>
          </a:xfrm>
        </p:spPr>
        <p:txBody>
          <a:bodyPr>
            <a:normAutofit/>
          </a:bodyPr>
          <a:lstStyle/>
          <a:p>
            <a:r>
              <a:rPr lang="en-US" b="1" dirty="0"/>
              <a:t>Knowledge Sharing: </a:t>
            </a:r>
          </a:p>
          <a:p>
            <a:pPr lvl="1"/>
            <a:r>
              <a:rPr lang="en-US" dirty="0"/>
              <a:t>Facilitating the exchange of knowledge among employees through communication channels, collaboration platforms, and communities of practice.</a:t>
            </a:r>
          </a:p>
          <a:p>
            <a:r>
              <a:rPr lang="en-US" b="1" dirty="0"/>
              <a:t>Knowledge Utilization: </a:t>
            </a:r>
          </a:p>
          <a:p>
            <a:pPr lvl="1"/>
            <a:r>
              <a:rPr lang="en-US" dirty="0"/>
              <a:t>Leveraging knowledge assets to solve problems, make</a:t>
            </a:r>
            <a:br>
              <a:rPr lang="en-US" dirty="0"/>
            </a:br>
            <a:r>
              <a:rPr lang="en-US" dirty="0"/>
              <a:t>informed decisions, drive innovation, and improve organizational performance.</a:t>
            </a:r>
          </a:p>
          <a:p>
            <a:r>
              <a:rPr lang="en-US" b="1" dirty="0"/>
              <a:t>Knowledge Preservation: </a:t>
            </a:r>
          </a:p>
          <a:p>
            <a:pPr lvl="1"/>
            <a:r>
              <a:rPr lang="en-US" dirty="0"/>
              <a:t>Ensuring the long-term holding and accessibility of valuable knowledge assets, even as personnel change and technologies evolve.</a:t>
            </a:r>
          </a:p>
          <a:p>
            <a:r>
              <a:rPr lang="en-US" b="1" dirty="0"/>
              <a:t>Knowledge Application: </a:t>
            </a:r>
          </a:p>
          <a:p>
            <a:pPr lvl="1"/>
            <a:r>
              <a:rPr lang="en-US" dirty="0"/>
              <a:t>The goal of KM is to leverage captured knowledge to improve decision-making, solve problems, and drive innovation. </a:t>
            </a:r>
          </a:p>
          <a:p>
            <a:pPr lvl="1"/>
            <a:r>
              <a:rPr lang="en-US" dirty="0"/>
              <a:t>This involves empowering employees to access and utilize relevant knowledge to perform their jobs more effectively.</a:t>
            </a:r>
          </a:p>
        </p:txBody>
      </p:sp>
    </p:spTree>
    <p:extLst>
      <p:ext uri="{BB962C8B-B14F-4D97-AF65-F5344CB8AC3E}">
        <p14:creationId xmlns:p14="http://schemas.microsoft.com/office/powerpoint/2010/main" val="299876850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82077"/>
            <a:ext cx="10515600" cy="942680"/>
          </a:xfrm>
        </p:spPr>
        <p:txBody>
          <a:bodyPr>
            <a:normAutofit/>
          </a:bodyPr>
          <a:lstStyle/>
          <a:p>
            <a:r>
              <a:rPr lang="en-US" sz="4000" b="1" dirty="0"/>
              <a:t>Strategies for Effective Knowledge Management</a:t>
            </a:r>
            <a:endParaRPr lang="en-US" sz="4000" dirty="0"/>
          </a:p>
        </p:txBody>
      </p:sp>
      <p:sp>
        <p:nvSpPr>
          <p:cNvPr id="3" name="Content Placeholder 2"/>
          <p:cNvSpPr>
            <a:spLocks noGrp="1"/>
          </p:cNvSpPr>
          <p:nvPr>
            <p:ph idx="1"/>
          </p:nvPr>
        </p:nvSpPr>
        <p:spPr>
          <a:xfrm>
            <a:off x="838200" y="1626778"/>
            <a:ext cx="10515600" cy="5039838"/>
          </a:xfrm>
        </p:spPr>
        <p:txBody>
          <a:bodyPr>
            <a:normAutofit/>
          </a:bodyPr>
          <a:lstStyle/>
          <a:p>
            <a:r>
              <a:rPr lang="en-US" b="1" dirty="0"/>
              <a:t>Cultivate a Knowledge Sharing Culture: </a:t>
            </a:r>
          </a:p>
          <a:p>
            <a:pPr lvl="1"/>
            <a:r>
              <a:rPr lang="en-US" dirty="0"/>
              <a:t>Foster an environment where employees feel encouraged and rewarded for sharing their knowledge and expertise.</a:t>
            </a:r>
          </a:p>
          <a:p>
            <a:r>
              <a:rPr lang="en-US" b="1" dirty="0"/>
              <a:t>Invest in Technology: </a:t>
            </a:r>
          </a:p>
          <a:p>
            <a:pPr lvl="1"/>
            <a:r>
              <a:rPr lang="en-US" dirty="0"/>
              <a:t>Implement knowledge management systems, collaboration tools, and information repositories to facilitate knowledge sharing and retrieval.</a:t>
            </a:r>
          </a:p>
          <a:p>
            <a:r>
              <a:rPr lang="en-US" b="1" dirty="0"/>
              <a:t>Encourage Collaboration: </a:t>
            </a:r>
          </a:p>
          <a:p>
            <a:pPr lvl="1"/>
            <a:r>
              <a:rPr lang="en-US" dirty="0"/>
              <a:t>Promote cross-functional teamwork, communities of practice, and collaborative platforms to facilitate knowledge exchange and</a:t>
            </a:r>
            <a:br>
              <a:rPr lang="en-US" dirty="0"/>
            </a:br>
            <a:r>
              <a:rPr lang="en-US" dirty="0"/>
              <a:t>problem-solving.</a:t>
            </a:r>
          </a:p>
        </p:txBody>
      </p:sp>
    </p:spTree>
    <p:extLst>
      <p:ext uri="{BB962C8B-B14F-4D97-AF65-F5344CB8AC3E}">
        <p14:creationId xmlns:p14="http://schemas.microsoft.com/office/powerpoint/2010/main" val="115426366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20995"/>
            <a:ext cx="10515600" cy="6156252"/>
          </a:xfrm>
        </p:spPr>
        <p:txBody>
          <a:bodyPr>
            <a:normAutofit/>
          </a:bodyPr>
          <a:lstStyle/>
          <a:p>
            <a:r>
              <a:rPr lang="en-US" b="1" dirty="0"/>
              <a:t>Capture Tacit Knowledge: </a:t>
            </a:r>
          </a:p>
          <a:p>
            <a:pPr lvl="1"/>
            <a:r>
              <a:rPr lang="en-US" dirty="0"/>
              <a:t>Employ techniques such as mentorship storytelling, and knowledge transfer programs to capture valuable insights and expertise from experienced employees.</a:t>
            </a:r>
          </a:p>
          <a:p>
            <a:r>
              <a:rPr lang="en-US" b="1" dirty="0"/>
              <a:t>Provide Training and Learning Opportunities: </a:t>
            </a:r>
          </a:p>
          <a:p>
            <a:pPr lvl="1"/>
            <a:r>
              <a:rPr lang="en-US" dirty="0"/>
              <a:t>Offer training programs, workshops, and continuous learning initiatives to equip employees with the skills and knowledge they need to succeed.</a:t>
            </a:r>
          </a:p>
          <a:p>
            <a:r>
              <a:rPr lang="en-US" b="1" dirty="0"/>
              <a:t>Establish Knowledge Management Policies and Governance: </a:t>
            </a:r>
          </a:p>
          <a:p>
            <a:pPr lvl="1"/>
            <a:r>
              <a:rPr lang="en-US" dirty="0"/>
              <a:t>Develop clear guidelines, processes, and accountability mechanisms to ensure the effective management and use of knowledge assets.</a:t>
            </a:r>
          </a:p>
          <a:p>
            <a:r>
              <a:rPr lang="en-US" b="1" dirty="0"/>
              <a:t>Measure and Evaluate: </a:t>
            </a:r>
          </a:p>
          <a:p>
            <a:pPr lvl="1"/>
            <a:r>
              <a:rPr lang="en-US" dirty="0"/>
              <a:t>Implement metrics and Key Performance Indicators (KPIs) to assess the impact of knowledge management initiatives and identify areas for improvement.</a:t>
            </a:r>
          </a:p>
        </p:txBody>
      </p:sp>
    </p:spTree>
    <p:extLst>
      <p:ext uri="{BB962C8B-B14F-4D97-AF65-F5344CB8AC3E}">
        <p14:creationId xmlns:p14="http://schemas.microsoft.com/office/powerpoint/2010/main" val="80828316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Implementing a well-structured KM system offers a multitude of benefits for organizations:</a:t>
            </a:r>
          </a:p>
        </p:txBody>
      </p:sp>
      <p:sp>
        <p:nvSpPr>
          <p:cNvPr id="3" name="Content Placeholder 2"/>
          <p:cNvSpPr>
            <a:spLocks noGrp="1"/>
          </p:cNvSpPr>
          <p:nvPr>
            <p:ph idx="1"/>
          </p:nvPr>
        </p:nvSpPr>
        <p:spPr>
          <a:xfrm>
            <a:off x="838200" y="1825625"/>
            <a:ext cx="10515600" cy="4575176"/>
          </a:xfrm>
        </p:spPr>
        <p:txBody>
          <a:bodyPr>
            <a:normAutofit/>
          </a:bodyPr>
          <a:lstStyle/>
          <a:p>
            <a:r>
              <a:rPr lang="en-US" b="1" dirty="0"/>
              <a:t>Improved Decision-Making: </a:t>
            </a:r>
          </a:p>
          <a:p>
            <a:pPr lvl="1"/>
            <a:r>
              <a:rPr lang="en-US" dirty="0"/>
              <a:t>By providing employees with access to a centralized knowledge base, KM facilitates informed decision-making at all levels of the organization.</a:t>
            </a:r>
          </a:p>
          <a:p>
            <a:r>
              <a:rPr lang="en-US" b="1" dirty="0"/>
              <a:t>Enhanced Innovation: </a:t>
            </a:r>
          </a:p>
          <a:p>
            <a:pPr lvl="1"/>
            <a:r>
              <a:rPr lang="en-US" dirty="0"/>
              <a:t>Knowledge sharing fosters collaboration and cross pollination of ideas, leading to increased innovation and the development new products and services.</a:t>
            </a:r>
          </a:p>
          <a:p>
            <a:r>
              <a:rPr lang="en-US" b="1" dirty="0"/>
              <a:t>Increased Efficiency and Productivity: </a:t>
            </a:r>
          </a:p>
          <a:p>
            <a:pPr lvl="1"/>
            <a:r>
              <a:rPr lang="en-US" dirty="0"/>
              <a:t>Streamlining knowledge processes and reducing duplication of effort leads to greater efficiency and productivity.</a:t>
            </a:r>
          </a:p>
        </p:txBody>
      </p:sp>
    </p:spTree>
    <p:extLst>
      <p:ext uri="{BB962C8B-B14F-4D97-AF65-F5344CB8AC3E}">
        <p14:creationId xmlns:p14="http://schemas.microsoft.com/office/powerpoint/2010/main" val="7118379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0747"/>
            <a:ext cx="10515600" cy="6539024"/>
          </a:xfrm>
        </p:spPr>
        <p:txBody>
          <a:bodyPr>
            <a:normAutofit lnSpcReduction="10000"/>
          </a:bodyPr>
          <a:lstStyle/>
          <a:p>
            <a:r>
              <a:rPr lang="en-US" b="1" dirty="0"/>
              <a:t>Reduced Costs: </a:t>
            </a:r>
          </a:p>
          <a:p>
            <a:pPr lvl="1"/>
            <a:r>
              <a:rPr lang="en-US" dirty="0"/>
              <a:t>Having readily available knowledge reduces the need for repetitive training and rediscovering solutions. </a:t>
            </a:r>
          </a:p>
          <a:p>
            <a:pPr lvl="1"/>
            <a:r>
              <a:rPr lang="en-US" dirty="0"/>
              <a:t>This translates into improved efficiency and cost reduction.</a:t>
            </a:r>
          </a:p>
          <a:p>
            <a:r>
              <a:rPr lang="en-US" b="1" dirty="0"/>
              <a:t>Improved Customer Service: </a:t>
            </a:r>
          </a:p>
          <a:p>
            <a:pPr lvl="1"/>
            <a:r>
              <a:rPr lang="en-US" dirty="0"/>
              <a:t>Empowered employees with access to relevant customer knowledge can provide better service and resolve customer issues more effectively.</a:t>
            </a:r>
          </a:p>
          <a:p>
            <a:r>
              <a:rPr lang="en-US" b="1" dirty="0"/>
              <a:t>Talent Retention and Development: </a:t>
            </a:r>
          </a:p>
          <a:p>
            <a:pPr lvl="1"/>
            <a:r>
              <a:rPr lang="en-US" dirty="0"/>
              <a:t>Knowledge management initiatives contribute to employee satisfaction, engagement, and professional development, leading to higher retention rates and a more skilled workforce.</a:t>
            </a:r>
          </a:p>
          <a:p>
            <a:r>
              <a:rPr lang="en-US" b="1" dirty="0"/>
              <a:t>Organizational Agility: </a:t>
            </a:r>
          </a:p>
          <a:p>
            <a:pPr lvl="1"/>
            <a:r>
              <a:rPr lang="en-US" dirty="0"/>
              <a:t>A knowledge-driven organization is better equipped to adapt to changing market conditions, emerging technologies, and unforeseen challenges.</a:t>
            </a:r>
          </a:p>
          <a:p>
            <a:r>
              <a:rPr lang="en-US" b="1" dirty="0"/>
              <a:t>Competitive Advantage: </a:t>
            </a:r>
          </a:p>
          <a:p>
            <a:pPr lvl="1"/>
            <a:r>
              <a:rPr lang="en-US" dirty="0"/>
              <a:t>Effective KM fosters a culture of continuous learning and knowledge sharing, which can be a significant differentiator in today's competitive business landscape.</a:t>
            </a:r>
          </a:p>
        </p:txBody>
      </p:sp>
    </p:spTree>
    <p:extLst>
      <p:ext uri="{BB962C8B-B14F-4D97-AF65-F5344CB8AC3E}">
        <p14:creationId xmlns:p14="http://schemas.microsoft.com/office/powerpoint/2010/main" val="87663168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5517"/>
            <a:ext cx="10515600" cy="985210"/>
          </a:xfrm>
        </p:spPr>
        <p:txBody>
          <a:bodyPr>
            <a:normAutofit/>
          </a:bodyPr>
          <a:lstStyle/>
          <a:p>
            <a:r>
              <a:rPr lang="en-US" sz="3200" b="1" dirty="0"/>
              <a:t>Despite its potential benefits, Knowledge Management initiatives face several challenges, including:</a:t>
            </a:r>
          </a:p>
        </p:txBody>
      </p:sp>
      <p:sp>
        <p:nvSpPr>
          <p:cNvPr id="3" name="Content Placeholder 2"/>
          <p:cNvSpPr>
            <a:spLocks noGrp="1"/>
          </p:cNvSpPr>
          <p:nvPr>
            <p:ph idx="1"/>
          </p:nvPr>
        </p:nvSpPr>
        <p:spPr>
          <a:xfrm>
            <a:off x="838200" y="1020728"/>
            <a:ext cx="10515600" cy="5911700"/>
          </a:xfrm>
        </p:spPr>
        <p:txBody>
          <a:bodyPr>
            <a:normAutofit lnSpcReduction="10000"/>
          </a:bodyPr>
          <a:lstStyle/>
          <a:p>
            <a:r>
              <a:rPr lang="en-US" b="1" dirty="0"/>
              <a:t>Cultural Resistance: </a:t>
            </a:r>
          </a:p>
          <a:p>
            <a:pPr lvl="1"/>
            <a:r>
              <a:rPr lang="en-US" dirty="0"/>
              <a:t>Overcoming resistance to change and fostering a culture of knowledge sharing can be a significant obstacle for organizations.</a:t>
            </a:r>
          </a:p>
          <a:p>
            <a:r>
              <a:rPr lang="en-US" b="1" dirty="0"/>
              <a:t>Technology Adoption: </a:t>
            </a:r>
          </a:p>
          <a:p>
            <a:pPr lvl="1"/>
            <a:r>
              <a:rPr lang="en-US" dirty="0"/>
              <a:t>Selecting and implementing the right technology solutions that align with organizational needs and processes can be complex and costly.</a:t>
            </a:r>
          </a:p>
          <a:p>
            <a:r>
              <a:rPr lang="en-US" b="1" dirty="0"/>
              <a:t>Knowledge Silos: </a:t>
            </a:r>
          </a:p>
          <a:p>
            <a:pPr lvl="1"/>
            <a:r>
              <a:rPr lang="en-US" dirty="0"/>
              <a:t>Fragmentation of knowledge across departments, teams, and systems can hinder collaboration and knowledge sharing.</a:t>
            </a:r>
          </a:p>
          <a:p>
            <a:r>
              <a:rPr lang="en-US" b="1" dirty="0"/>
              <a:t>Quality Control: </a:t>
            </a:r>
          </a:p>
          <a:p>
            <a:pPr lvl="1"/>
            <a:r>
              <a:rPr lang="en-US" dirty="0"/>
              <a:t>Ensuring the accuracy, relevance, and reliability of knowledge assets requires ongoing monitoring and governance.</a:t>
            </a:r>
          </a:p>
          <a:p>
            <a:r>
              <a:rPr lang="en-US" b="1" dirty="0"/>
              <a:t>Knowledge Loss: </a:t>
            </a:r>
          </a:p>
          <a:p>
            <a:pPr lvl="1"/>
            <a:r>
              <a:rPr lang="en-US" dirty="0"/>
              <a:t>The departure of key employees or disruptions in business continuity can result in the loss of critical knowledge and expertise.</a:t>
            </a:r>
          </a:p>
        </p:txBody>
      </p:sp>
    </p:spTree>
    <p:extLst>
      <p:ext uri="{BB962C8B-B14F-4D97-AF65-F5344CB8AC3E}">
        <p14:creationId xmlns:p14="http://schemas.microsoft.com/office/powerpoint/2010/main" val="281226054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57200"/>
            <a:ext cx="10515600" cy="5922335"/>
          </a:xfrm>
        </p:spPr>
        <p:txBody>
          <a:bodyPr>
            <a:normAutofit/>
          </a:bodyPr>
          <a:lstStyle/>
          <a:p>
            <a:r>
              <a:rPr lang="en-US" dirty="0"/>
              <a:t>There's no one-size-fits-all approach to KM. </a:t>
            </a:r>
          </a:p>
          <a:p>
            <a:r>
              <a:rPr lang="en-US" dirty="0"/>
              <a:t>The optimal strategy depends on the specific needs and culture of the organization. Here are some common approaches:</a:t>
            </a:r>
          </a:p>
          <a:p>
            <a:r>
              <a:rPr lang="en-US" b="1" dirty="0"/>
              <a:t>Explicit Knowledge Management: </a:t>
            </a:r>
          </a:p>
          <a:p>
            <a:pPr lvl="1"/>
            <a:r>
              <a:rPr lang="en-US" dirty="0"/>
              <a:t>Focuses on capturing and codifying documented knowledge through manuals, databases, and knowledge repositories.</a:t>
            </a:r>
          </a:p>
          <a:p>
            <a:r>
              <a:rPr lang="en-US" b="1" dirty="0"/>
              <a:t>Tacit Knowledge Management: </a:t>
            </a:r>
          </a:p>
          <a:p>
            <a:pPr lvl="1"/>
            <a:r>
              <a:rPr lang="en-US" dirty="0"/>
              <a:t>Targets the often-undocumented knowledge and expertise residing within employees. This involves techniques like mentoring, storytelling, and knowledge cafes.</a:t>
            </a:r>
          </a:p>
          <a:p>
            <a:r>
              <a:rPr lang="en-US" b="1" dirty="0"/>
              <a:t>Community-Based Knowledge Management: </a:t>
            </a:r>
          </a:p>
          <a:p>
            <a:pPr lvl="1"/>
            <a:r>
              <a:rPr lang="en-US" dirty="0"/>
              <a:t>Leverages online communities and collaborative platforms to facilitate knowledge sharing and peer-to-peer learning.</a:t>
            </a:r>
          </a:p>
        </p:txBody>
      </p:sp>
    </p:spTree>
    <p:extLst>
      <p:ext uri="{BB962C8B-B14F-4D97-AF65-F5344CB8AC3E}">
        <p14:creationId xmlns:p14="http://schemas.microsoft.com/office/powerpoint/2010/main" val="22970301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42260"/>
            <a:ext cx="10515600" cy="6071191"/>
          </a:xfrm>
        </p:spPr>
        <p:txBody>
          <a:bodyPr>
            <a:normAutofit/>
          </a:bodyPr>
          <a:lstStyle/>
          <a:p>
            <a:r>
              <a:rPr lang="en-US" dirty="0"/>
              <a:t>Technology plays a crucial role in enabling effective KM. </a:t>
            </a:r>
          </a:p>
          <a:p>
            <a:r>
              <a:rPr lang="en-US" b="1" dirty="0"/>
              <a:t>Here are some key tools used in KM systems:</a:t>
            </a:r>
          </a:p>
          <a:p>
            <a:r>
              <a:rPr lang="en-US" b="1" dirty="0"/>
              <a:t>Knowledge Management Systems (KMS): </a:t>
            </a:r>
          </a:p>
          <a:p>
            <a:pPr lvl="1"/>
            <a:r>
              <a:rPr lang="en-US" dirty="0"/>
              <a:t>Software applications that facilitate knowledge capture, storage, retrieval, and collaboration.</a:t>
            </a:r>
          </a:p>
          <a:p>
            <a:r>
              <a:rPr lang="en-US" b="1" dirty="0"/>
              <a:t>Enterprise Content Management (ECM) Systems: </a:t>
            </a:r>
          </a:p>
          <a:p>
            <a:pPr lvl="1"/>
            <a:r>
              <a:rPr lang="en-US" dirty="0"/>
              <a:t>Manage and organize various forms of enterprise content, including documents, videos, and presentations.</a:t>
            </a:r>
          </a:p>
          <a:p>
            <a:r>
              <a:rPr lang="en-US" b="1" dirty="0"/>
              <a:t>Collaboration Platforms: </a:t>
            </a:r>
          </a:p>
          <a:p>
            <a:pPr lvl="1"/>
            <a:r>
              <a:rPr lang="en-US" dirty="0"/>
              <a:t>Provide online spaces for teams to share information, discuss ideas, and co-create documents.</a:t>
            </a:r>
          </a:p>
          <a:p>
            <a:r>
              <a:rPr lang="en-US" b="1" dirty="0"/>
              <a:t>Social Learning Platforms: </a:t>
            </a:r>
          </a:p>
          <a:p>
            <a:pPr lvl="1"/>
            <a:r>
              <a:rPr lang="en-US" dirty="0"/>
              <a:t>Enable employees to share knowledge, ask questions, and learn from each other in an interactive environment.</a:t>
            </a:r>
          </a:p>
        </p:txBody>
      </p:sp>
    </p:spTree>
    <p:extLst>
      <p:ext uri="{BB962C8B-B14F-4D97-AF65-F5344CB8AC3E}">
        <p14:creationId xmlns:p14="http://schemas.microsoft.com/office/powerpoint/2010/main" val="217288660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93405"/>
            <a:ext cx="10515600" cy="6188148"/>
          </a:xfrm>
        </p:spPr>
        <p:txBody>
          <a:bodyPr>
            <a:normAutofit/>
          </a:bodyPr>
          <a:lstStyle/>
          <a:p>
            <a:r>
              <a:rPr lang="en-US" dirty="0"/>
              <a:t>While technology is important, successful knowledge management is dependent on cultivating an organizational culture of information sharing. Here are a few key strategies:</a:t>
            </a:r>
          </a:p>
          <a:p>
            <a:r>
              <a:rPr lang="en-US" b="1" dirty="0"/>
              <a:t>Leadership Buy-in: </a:t>
            </a:r>
          </a:p>
          <a:p>
            <a:pPr lvl="1"/>
            <a:r>
              <a:rPr lang="en-US" dirty="0"/>
              <a:t>Strong leadership support is essential for KM initiatives to gain traction and secure necessary resources.</a:t>
            </a:r>
          </a:p>
          <a:p>
            <a:r>
              <a:rPr lang="en-US" b="1" dirty="0"/>
              <a:t>Recognition and Incentives: </a:t>
            </a:r>
          </a:p>
          <a:p>
            <a:pPr lvl="1"/>
            <a:r>
              <a:rPr lang="en-US" dirty="0"/>
              <a:t>Recognize and reward employees who actively share knowledge and contribute to the knowledge base.</a:t>
            </a:r>
          </a:p>
          <a:p>
            <a:r>
              <a:rPr lang="en-US" b="1" dirty="0"/>
              <a:t>Open Communication: </a:t>
            </a:r>
          </a:p>
          <a:p>
            <a:pPr lvl="1"/>
            <a:r>
              <a:rPr lang="en-US" dirty="0"/>
              <a:t>Encourage open communication and collaboration throughout the organization to break down silos and promote knowledge exchange.</a:t>
            </a:r>
          </a:p>
          <a:p>
            <a:r>
              <a:rPr lang="en-US" b="1" dirty="0"/>
              <a:t>Continuous Learning: </a:t>
            </a:r>
          </a:p>
          <a:p>
            <a:pPr lvl="1"/>
            <a:r>
              <a:rPr lang="en-US" dirty="0"/>
              <a:t>Foster a culture of continuous learning by providing employees with opportunities to develop their skills and knowledge.</a:t>
            </a:r>
          </a:p>
        </p:txBody>
      </p:sp>
    </p:spTree>
    <p:extLst>
      <p:ext uri="{BB962C8B-B14F-4D97-AF65-F5344CB8AC3E}">
        <p14:creationId xmlns:p14="http://schemas.microsoft.com/office/powerpoint/2010/main" val="236863411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838200" y="340242"/>
            <a:ext cx="10515600" cy="6411432"/>
          </a:xfrm>
        </p:spPr>
        <p:txBody>
          <a:bodyPr>
            <a:normAutofit lnSpcReduction="10000"/>
          </a:bodyPr>
          <a:lstStyle/>
          <a:p>
            <a:r>
              <a:rPr lang="en-US" dirty="0"/>
              <a:t>KM is not an industry-specific concept. </a:t>
            </a:r>
          </a:p>
          <a:p>
            <a:r>
              <a:rPr lang="en-US" dirty="0"/>
              <a:t>Here are some examples of how organizations across different sectors leverage KM:</a:t>
            </a:r>
          </a:p>
          <a:p>
            <a:endParaRPr lang="en-US" dirty="0"/>
          </a:p>
          <a:p>
            <a:r>
              <a:rPr lang="en-US" b="1" dirty="0"/>
              <a:t>Manufacturing: </a:t>
            </a:r>
          </a:p>
          <a:p>
            <a:pPr lvl="1"/>
            <a:r>
              <a:rPr lang="en-US" dirty="0"/>
              <a:t>A manufacturing company utilizes a knowledge management system to capture and share best practices for production processes, reducing errors and improving efficiency.</a:t>
            </a:r>
          </a:p>
          <a:p>
            <a:r>
              <a:rPr lang="en-US" b="1" dirty="0"/>
              <a:t>Healthcare: </a:t>
            </a:r>
          </a:p>
          <a:p>
            <a:pPr lvl="1"/>
            <a:r>
              <a:rPr lang="en-US" dirty="0"/>
              <a:t>A hospital creates a knowledge repository to document best practices for complex medical procedures, ensuring consistent and high-quality patient care.</a:t>
            </a:r>
          </a:p>
          <a:p>
            <a:r>
              <a:rPr lang="en-US" b="1" dirty="0"/>
              <a:t>Finance: </a:t>
            </a:r>
          </a:p>
          <a:p>
            <a:pPr lvl="1"/>
            <a:r>
              <a:rPr lang="en-US" dirty="0"/>
              <a:t>A financial services firm uses a collaboration platform to facilitate</a:t>
            </a:r>
            <a:br>
              <a:rPr lang="en-US" dirty="0"/>
            </a:br>
            <a:r>
              <a:rPr lang="en-US" dirty="0"/>
              <a:t>knowledge sharing between investment teams, leading to more informed</a:t>
            </a:r>
            <a:br>
              <a:rPr lang="en-US" dirty="0"/>
            </a:br>
            <a:r>
              <a:rPr lang="en-US" dirty="0"/>
              <a:t>investment decisions.</a:t>
            </a:r>
            <a:br>
              <a:rPr lang="en-US" dirty="0"/>
            </a:br>
            <a:endParaRPr lang="en-US" dirty="0"/>
          </a:p>
        </p:txBody>
      </p:sp>
    </p:spTree>
    <p:extLst>
      <p:ext uri="{BB962C8B-B14F-4D97-AF65-F5344CB8AC3E}">
        <p14:creationId xmlns:p14="http://schemas.microsoft.com/office/powerpoint/2010/main" val="293595198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08341"/>
            <a:ext cx="10515600" cy="6368902"/>
          </a:xfrm>
        </p:spPr>
        <p:txBody>
          <a:bodyPr>
            <a:normAutofit lnSpcReduction="10000"/>
          </a:bodyPr>
          <a:lstStyle/>
          <a:p>
            <a:r>
              <a:rPr lang="en-US" dirty="0"/>
              <a:t>Knowledge Management (KM) is a dynamic field constantly evolving alongside the ever-changing business landscape. </a:t>
            </a:r>
          </a:p>
          <a:p>
            <a:r>
              <a:rPr lang="en-US" dirty="0"/>
              <a:t>As technology advances and the way, we work continues to transform, the future of KM looks bright and full of exciting possibilities. </a:t>
            </a:r>
          </a:p>
          <a:p>
            <a:r>
              <a:rPr lang="en-US" dirty="0"/>
              <a:t>Here’s a glimpse into what lies ahead:</a:t>
            </a:r>
          </a:p>
          <a:p>
            <a:r>
              <a:rPr lang="en-US" b="1" dirty="0"/>
              <a:t>Focus on Agility and Adaptability: </a:t>
            </a:r>
          </a:p>
          <a:p>
            <a:pPr lvl="1"/>
            <a:r>
              <a:rPr lang="en-US" dirty="0"/>
              <a:t>The future of KM will emphasize agility and adaptability to keep pace with the rapid flow of information. </a:t>
            </a:r>
          </a:p>
          <a:p>
            <a:pPr lvl="1"/>
            <a:r>
              <a:rPr lang="en-US" dirty="0"/>
              <a:t>KM systems will need to be flexible and scalable to accommodate new technologies, changing business needs, and emerging workforce demographics.</a:t>
            </a:r>
          </a:p>
          <a:p>
            <a:r>
              <a:rPr lang="en-US" b="1" dirty="0"/>
              <a:t>Integration with Artificial Intelligence (AI): </a:t>
            </a:r>
          </a:p>
          <a:p>
            <a:pPr lvl="1"/>
            <a:r>
              <a:rPr lang="en-US" dirty="0"/>
              <a:t>AI will play an increasingly important role in KM. </a:t>
            </a:r>
          </a:p>
          <a:p>
            <a:pPr lvl="1"/>
            <a:r>
              <a:rPr lang="en-US" dirty="0"/>
              <a:t>AI-powered tools can automate knowledge capture from various sources, personalize knowledge delivery based on user needs, and identify knowledge gaps requiring attention.</a:t>
            </a:r>
          </a:p>
        </p:txBody>
      </p:sp>
    </p:spTree>
    <p:extLst>
      <p:ext uri="{BB962C8B-B14F-4D97-AF65-F5344CB8AC3E}">
        <p14:creationId xmlns:p14="http://schemas.microsoft.com/office/powerpoint/2010/main" val="209475383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1507" y="276447"/>
            <a:ext cx="11461898" cy="6411432"/>
          </a:xfrm>
        </p:spPr>
        <p:txBody>
          <a:bodyPr>
            <a:normAutofit fontScale="92500" lnSpcReduction="10000"/>
          </a:bodyPr>
          <a:lstStyle/>
          <a:p>
            <a:r>
              <a:rPr lang="en-US" b="1" dirty="0"/>
              <a:t>The Rise of Knowledge Automation: </a:t>
            </a:r>
          </a:p>
          <a:p>
            <a:pPr lvl="1"/>
            <a:r>
              <a:rPr lang="en-US" dirty="0"/>
              <a:t>Knowledge automation involves using AI and machine learning to automate routine knowledge-based tasks. </a:t>
            </a:r>
          </a:p>
          <a:p>
            <a:pPr lvl="1"/>
            <a:r>
              <a:rPr lang="en-US" dirty="0"/>
              <a:t>This can free up human employees to focus on more strategic work and complex problem-solving.</a:t>
            </a:r>
          </a:p>
          <a:p>
            <a:r>
              <a:rPr lang="en-US" b="1" dirty="0"/>
              <a:t>The Evolving Role of the KM Professional: </a:t>
            </a:r>
          </a:p>
          <a:p>
            <a:pPr lvl="1"/>
            <a:r>
              <a:rPr lang="en-US" dirty="0"/>
              <a:t>As AI takes over mundane tasks, the role of the KM professional will transform. </a:t>
            </a:r>
          </a:p>
          <a:p>
            <a:pPr lvl="1"/>
            <a:r>
              <a:rPr lang="en-US" dirty="0"/>
              <a:t>They will become knowledge strategists, focusing on designing and implementing knowledge ecosystems, fostering a culture of learning, and ensuring the ethical and responsible use of AI in KM practices.</a:t>
            </a:r>
          </a:p>
          <a:p>
            <a:r>
              <a:rPr lang="en-US" b="1" dirty="0"/>
              <a:t>The Democratization of Knowledge: </a:t>
            </a:r>
          </a:p>
          <a:p>
            <a:pPr lvl="1"/>
            <a:r>
              <a:rPr lang="en-US" dirty="0"/>
              <a:t>The future of KM will see a continued push towards democratization of knowledge. </a:t>
            </a:r>
          </a:p>
          <a:p>
            <a:pPr lvl="1"/>
            <a:r>
              <a:rPr lang="en-US" dirty="0"/>
              <a:t>Employees at all levels will have easier access to relevant knowledge, empowering them to contribute to innovation and problem-solving efforts.</a:t>
            </a:r>
          </a:p>
          <a:p>
            <a:r>
              <a:rPr lang="en-US" b="1" dirty="0"/>
              <a:t>Focus on User Experience (UX): </a:t>
            </a:r>
          </a:p>
          <a:p>
            <a:pPr lvl="1"/>
            <a:r>
              <a:rPr lang="en-US" dirty="0"/>
              <a:t>The user experience will become paramount in KM systems. </a:t>
            </a:r>
          </a:p>
          <a:p>
            <a:pPr lvl="1"/>
            <a:r>
              <a:rPr lang="en-US" dirty="0"/>
              <a:t>Intuitive interfaces, personalized recommendations, and gamified learning approaches will enhance user engagement and knowledge adoption.</a:t>
            </a:r>
          </a:p>
        </p:txBody>
      </p:sp>
    </p:spTree>
    <p:extLst>
      <p:ext uri="{BB962C8B-B14F-4D97-AF65-F5344CB8AC3E}">
        <p14:creationId xmlns:p14="http://schemas.microsoft.com/office/powerpoint/2010/main" val="42461656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229</TotalTime>
  <Words>10180</Words>
  <Application>Microsoft Office PowerPoint</Application>
  <PresentationFormat>Widescreen</PresentationFormat>
  <Paragraphs>633</Paragraphs>
  <Slides>89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89</vt:i4>
      </vt:variant>
    </vt:vector>
  </HeadingPairs>
  <TitlesOfParts>
    <vt:vector size="93" baseType="lpstr">
      <vt:lpstr>Arial</vt:lpstr>
      <vt:lpstr>Calibri</vt:lpstr>
      <vt:lpstr>Calibri Light</vt:lpstr>
      <vt:lpstr>Office Theme</vt:lpstr>
      <vt:lpstr>Data and Knowledge Management</vt:lpstr>
      <vt:lpstr>Introduction</vt:lpstr>
      <vt:lpstr>PowerPoint Presentation</vt:lpstr>
      <vt:lpstr>Organizing data in traditional file environment</vt:lpstr>
      <vt:lpstr>PowerPoint Presentation</vt:lpstr>
      <vt:lpstr>File organization term and Concepts</vt:lpstr>
      <vt:lpstr>PowerPoint Presentation</vt:lpstr>
      <vt:lpstr>PowerPoint Presentation</vt:lpstr>
      <vt:lpstr>Problems with the traditional file environment</vt:lpstr>
      <vt:lpstr>Data Processing System based on File Environment</vt:lpstr>
      <vt:lpstr>Data Redundancy</vt:lpstr>
      <vt:lpstr>Data Inconsistency</vt:lpstr>
      <vt:lpstr>PowerPoint Presentation</vt:lpstr>
      <vt:lpstr>Data Isolation</vt:lpstr>
      <vt:lpstr>Data Atomicity</vt:lpstr>
      <vt:lpstr>Data Integrity</vt:lpstr>
      <vt:lpstr>PowerPoint Presentation</vt:lpstr>
      <vt:lpstr>Program Data Dependency</vt:lpstr>
      <vt:lpstr>Lack of flexibility</vt:lpstr>
      <vt:lpstr>Data Insecurity</vt:lpstr>
      <vt:lpstr>Limited Data Sharing</vt:lpstr>
      <vt:lpstr>Concurrent Access anomalies</vt:lpstr>
      <vt:lpstr>The database approach to Data Management</vt:lpstr>
      <vt:lpstr>PowerPoint Presentation</vt:lpstr>
      <vt:lpstr>PowerPoint Presentation</vt:lpstr>
      <vt:lpstr>Database Management System</vt:lpstr>
      <vt:lpstr>PowerPoint Presentation</vt:lpstr>
      <vt:lpstr>PowerPoint Presentation</vt:lpstr>
      <vt:lpstr>PowerPoint Presentation</vt:lpstr>
      <vt:lpstr>How a DBMS solves the problems of traditional file environment</vt:lpstr>
      <vt:lpstr>PowerPoint Presentation</vt:lpstr>
      <vt:lpstr>PowerPoint Presentation</vt:lpstr>
      <vt:lpstr>Capabilities of Database Management System</vt:lpstr>
      <vt:lpstr>PowerPoint Presentation</vt:lpstr>
      <vt:lpstr>PowerPoint Presentation</vt:lpstr>
      <vt:lpstr>PowerPoint Presentation</vt:lpstr>
      <vt:lpstr>PowerPoint Presentation</vt:lpstr>
      <vt:lpstr>PowerPoint Presentation</vt:lpstr>
      <vt:lpstr>The facilities and features with the above statements provided by DBMS are described as follows: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Designing Database</vt:lpstr>
      <vt:lpstr>Logical Modeling</vt:lpstr>
      <vt:lpstr>PowerPoint Presentation</vt:lpstr>
      <vt:lpstr>PowerPoint Presentation</vt:lpstr>
      <vt:lpstr>PowerPoint Presentation</vt:lpstr>
      <vt:lpstr>Normalization</vt:lpstr>
      <vt:lpstr>Physical Modeling</vt:lpstr>
      <vt:lpstr>PowerPoint Presentation</vt:lpstr>
      <vt:lpstr>PowerPoint Presentation</vt:lpstr>
      <vt:lpstr>Implementation of the Physical Model</vt:lpstr>
      <vt:lpstr>Big Data</vt:lpstr>
      <vt:lpstr>PowerPoint Presentation</vt:lpstr>
      <vt:lpstr>PowerPoint Presentation</vt:lpstr>
      <vt:lpstr>PowerPoint Presentation</vt:lpstr>
      <vt:lpstr>Additionally, there are some more 'Vs' to describe Big Data as explained below:</vt:lpstr>
      <vt:lpstr>PowerPoint Presentation</vt:lpstr>
      <vt:lpstr>PowerPoint Presentation</vt:lpstr>
      <vt:lpstr>PowerPoint Presentation</vt:lpstr>
      <vt:lpstr>Let's explore some real-world examples:</vt:lpstr>
      <vt:lpstr>PowerPoint Presentation</vt:lpstr>
      <vt:lpstr>PowerPoint Presentation</vt:lpstr>
      <vt:lpstr>PowerPoint Presentation</vt:lpstr>
      <vt:lpstr>We can expect advancements in areas such as:</vt:lpstr>
      <vt:lpstr>PowerPoint Presentation</vt:lpstr>
      <vt:lpstr>Data Warehouse</vt:lpstr>
      <vt:lpstr>PowerPoint Presentation</vt:lpstr>
      <vt:lpstr>Data Mart</vt:lpstr>
      <vt:lpstr>Differences between Data Warehouse and Data Mart</vt:lpstr>
      <vt:lpstr>Table- Differences Between a Data Warehouse and a Data Mart</vt:lpstr>
      <vt:lpstr>Knowledge Management</vt:lpstr>
      <vt:lpstr>Effective KM rests on following key pillars:</vt:lpstr>
      <vt:lpstr>PowerPoint Presentation</vt:lpstr>
      <vt:lpstr>Strategies for Effective Knowledge Management</vt:lpstr>
      <vt:lpstr>PowerPoint Presentation</vt:lpstr>
      <vt:lpstr>Implementing a well-structured KM system offers a multitude of benefits for organizations:</vt:lpstr>
      <vt:lpstr>PowerPoint Presentation</vt:lpstr>
      <vt:lpstr>Despite its potential benefits, Knowledge Management initiatives face several challenges, including:</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and Knowledge Management</dc:title>
  <dc:creator>SUDIL</dc:creator>
  <cp:lastModifiedBy>Sudil</cp:lastModifiedBy>
  <cp:revision>78</cp:revision>
  <dcterms:created xsi:type="dcterms:W3CDTF">2024-12-01T15:59:29Z</dcterms:created>
  <dcterms:modified xsi:type="dcterms:W3CDTF">2026-07-29T05:15:04Z</dcterms:modified>
</cp:coreProperties>
</file>