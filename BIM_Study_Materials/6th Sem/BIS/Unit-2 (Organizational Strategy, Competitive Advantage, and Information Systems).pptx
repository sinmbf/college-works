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8" r:id="rId92"/>
    <p:sldId id="349" r:id="rId93"/>
    <p:sldId id="350" r:id="rId94"/>
    <p:sldId id="351" r:id="rId95"/>
    <p:sldId id="352" r:id="rId96"/>
    <p:sldId id="353" r:id="rId97"/>
    <p:sldId id="354" r:id="rId98"/>
    <p:sldId id="355" r:id="rId99"/>
    <p:sldId id="356" r:id="rId100"/>
    <p:sldId id="357" r:id="rId101"/>
    <p:sldId id="358" r:id="rId102"/>
    <p:sldId id="359" r:id="rId103"/>
    <p:sldId id="360" r:id="rId104"/>
    <p:sldId id="361" r:id="rId105"/>
    <p:sldId id="362" r:id="rId106"/>
    <p:sldId id="363" r:id="rId107"/>
    <p:sldId id="364" r:id="rId108"/>
    <p:sldId id="365" r:id="rId109"/>
    <p:sldId id="366" r:id="rId110"/>
    <p:sldId id="367" r:id="rId111"/>
    <p:sldId id="368" r:id="rId112"/>
    <p:sldId id="369" r:id="rId113"/>
    <p:sldId id="370" r:id="rId114"/>
    <p:sldId id="371" r:id="rId115"/>
    <p:sldId id="372" r:id="rId1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82" d="100"/>
          <a:sy n="82" d="100"/>
        </p:scale>
        <p:origin x="48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3A4E21-7E94-4E2D-99DF-125791B3BB76}" type="datetimeFigureOut">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083D06-18A9-4FBC-93BC-3257F6AF1FA3}" type="slidenum">
              <a:rPr lang="en-US" smtClean="0"/>
              <a:t>‹#›</a:t>
            </a:fld>
            <a:endParaRPr lang="en-US"/>
          </a:p>
        </p:txBody>
      </p:sp>
    </p:spTree>
    <p:extLst>
      <p:ext uri="{BB962C8B-B14F-4D97-AF65-F5344CB8AC3E}">
        <p14:creationId xmlns:p14="http://schemas.microsoft.com/office/powerpoint/2010/main" val="2493079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3A4E21-7E94-4E2D-99DF-125791B3BB76}" type="datetimeFigureOut">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083D06-18A9-4FBC-93BC-3257F6AF1FA3}" type="slidenum">
              <a:rPr lang="en-US" smtClean="0"/>
              <a:t>‹#›</a:t>
            </a:fld>
            <a:endParaRPr lang="en-US"/>
          </a:p>
        </p:txBody>
      </p:sp>
    </p:spTree>
    <p:extLst>
      <p:ext uri="{BB962C8B-B14F-4D97-AF65-F5344CB8AC3E}">
        <p14:creationId xmlns:p14="http://schemas.microsoft.com/office/powerpoint/2010/main" val="3131779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13A4E21-7E94-4E2D-99DF-125791B3BB76}" type="datetimeFigureOut">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083D06-18A9-4FBC-93BC-3257F6AF1FA3}" type="slidenum">
              <a:rPr lang="en-US" smtClean="0"/>
              <a:t>‹#›</a:t>
            </a:fld>
            <a:endParaRPr lang="en-US"/>
          </a:p>
        </p:txBody>
      </p:sp>
    </p:spTree>
    <p:extLst>
      <p:ext uri="{BB962C8B-B14F-4D97-AF65-F5344CB8AC3E}">
        <p14:creationId xmlns:p14="http://schemas.microsoft.com/office/powerpoint/2010/main" val="4054849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13A4E21-7E94-4E2D-99DF-125791B3BB76}" type="datetimeFigureOut">
              <a:rPr lang="en-US" smtClean="0"/>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083D06-18A9-4FBC-93BC-3257F6AF1FA3}" type="slidenum">
              <a:rPr lang="en-US" smtClean="0"/>
              <a:t>‹#›</a:t>
            </a:fld>
            <a:endParaRPr lang="en-US"/>
          </a:p>
        </p:txBody>
      </p:sp>
    </p:spTree>
    <p:extLst>
      <p:ext uri="{BB962C8B-B14F-4D97-AF65-F5344CB8AC3E}">
        <p14:creationId xmlns:p14="http://schemas.microsoft.com/office/powerpoint/2010/main" val="186427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13A4E21-7E94-4E2D-99DF-125791B3BB76}" type="datetimeFigureOut">
              <a:rPr lang="en-US" smtClean="0"/>
              <a:t>6/23/2025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083D06-18A9-4FBC-93BC-3257F6AF1FA3}" type="slidenum">
              <a:rPr lang="en-US" smtClean="0"/>
              <a:t>‹#›</a:t>
            </a:fld>
            <a:endParaRPr lang="en-US"/>
          </a:p>
        </p:txBody>
      </p:sp>
    </p:spTree>
    <p:extLst>
      <p:ext uri="{BB962C8B-B14F-4D97-AF65-F5344CB8AC3E}">
        <p14:creationId xmlns:p14="http://schemas.microsoft.com/office/powerpoint/2010/main" val="33551783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13A4E21-7E94-4E2D-99DF-125791B3BB76}" type="datetimeFigureOut">
              <a:rPr lang="en-US" smtClean="0"/>
              <a:t>6/23/2025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083D06-18A9-4FBC-93BC-3257F6AF1FA3}" type="slidenum">
              <a:rPr lang="en-US" smtClean="0"/>
              <a:t>‹#›</a:t>
            </a:fld>
            <a:endParaRPr lang="en-US"/>
          </a:p>
        </p:txBody>
      </p:sp>
    </p:spTree>
    <p:extLst>
      <p:ext uri="{BB962C8B-B14F-4D97-AF65-F5344CB8AC3E}">
        <p14:creationId xmlns:p14="http://schemas.microsoft.com/office/powerpoint/2010/main" val="3225063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3A4E21-7E94-4E2D-99DF-125791B3BB76}" type="datetimeFigureOut">
              <a:rPr lang="en-US" smtClean="0"/>
              <a:t>6/23/2025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083D06-18A9-4FBC-93BC-3257F6AF1FA3}" type="slidenum">
              <a:rPr lang="en-US" smtClean="0"/>
              <a:t>‹#›</a:t>
            </a:fld>
            <a:endParaRPr lang="en-US"/>
          </a:p>
        </p:txBody>
      </p:sp>
    </p:spTree>
    <p:extLst>
      <p:ext uri="{BB962C8B-B14F-4D97-AF65-F5344CB8AC3E}">
        <p14:creationId xmlns:p14="http://schemas.microsoft.com/office/powerpoint/2010/main" val="2524699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13A4E21-7E94-4E2D-99DF-125791B3BB76}" type="datetimeFigureOut">
              <a:rPr lang="en-US" smtClean="0"/>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083D06-18A9-4FBC-93BC-3257F6AF1FA3}" type="slidenum">
              <a:rPr lang="en-US" smtClean="0"/>
              <a:t>‹#›</a:t>
            </a:fld>
            <a:endParaRPr lang="en-US"/>
          </a:p>
        </p:txBody>
      </p:sp>
    </p:spTree>
    <p:extLst>
      <p:ext uri="{BB962C8B-B14F-4D97-AF65-F5344CB8AC3E}">
        <p14:creationId xmlns:p14="http://schemas.microsoft.com/office/powerpoint/2010/main" val="239681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13A4E21-7E94-4E2D-99DF-125791B3BB76}" type="datetimeFigureOut">
              <a:rPr lang="en-US" smtClean="0"/>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083D06-18A9-4FBC-93BC-3257F6AF1FA3}" type="slidenum">
              <a:rPr lang="en-US" smtClean="0"/>
              <a:t>‹#›</a:t>
            </a:fld>
            <a:endParaRPr lang="en-US"/>
          </a:p>
        </p:txBody>
      </p:sp>
    </p:spTree>
    <p:extLst>
      <p:ext uri="{BB962C8B-B14F-4D97-AF65-F5344CB8AC3E}">
        <p14:creationId xmlns:p14="http://schemas.microsoft.com/office/powerpoint/2010/main" val="2619120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3A4E21-7E94-4E2D-99DF-125791B3BB76}" type="datetimeFigureOut">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083D06-18A9-4FBC-93BC-3257F6AF1FA3}" type="slidenum">
              <a:rPr lang="en-US" smtClean="0"/>
              <a:t>‹#›</a:t>
            </a:fld>
            <a:endParaRPr lang="en-US"/>
          </a:p>
        </p:txBody>
      </p:sp>
    </p:spTree>
    <p:extLst>
      <p:ext uri="{BB962C8B-B14F-4D97-AF65-F5344CB8AC3E}">
        <p14:creationId xmlns:p14="http://schemas.microsoft.com/office/powerpoint/2010/main" val="2393860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3A4E21-7E94-4E2D-99DF-125791B3BB76}" type="datetimeFigureOut">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083D06-18A9-4FBC-93BC-3257F6AF1FA3}" type="slidenum">
              <a:rPr lang="en-US" smtClean="0"/>
              <a:t>‹#›</a:t>
            </a:fld>
            <a:endParaRPr lang="en-US"/>
          </a:p>
        </p:txBody>
      </p:sp>
    </p:spTree>
    <p:extLst>
      <p:ext uri="{BB962C8B-B14F-4D97-AF65-F5344CB8AC3E}">
        <p14:creationId xmlns:p14="http://schemas.microsoft.com/office/powerpoint/2010/main" val="2395559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3A4E21-7E94-4E2D-99DF-125791B3BB76}" type="datetimeFigureOut">
              <a:rPr lang="en-US" smtClean="0"/>
              <a:t>6/23/2025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083D06-18A9-4FBC-93BC-3257F6AF1FA3}" type="slidenum">
              <a:rPr lang="en-US" smtClean="0"/>
              <a:t>‹#›</a:t>
            </a:fld>
            <a:endParaRPr lang="en-US"/>
          </a:p>
        </p:txBody>
      </p:sp>
    </p:spTree>
    <p:extLst>
      <p:ext uri="{BB962C8B-B14F-4D97-AF65-F5344CB8AC3E}">
        <p14:creationId xmlns:p14="http://schemas.microsoft.com/office/powerpoint/2010/main" val="9546473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6600" b="1" dirty="0"/>
              <a:t>Organizational Strategy, Competitive Advantage and Information Systems</a:t>
            </a:r>
          </a:p>
        </p:txBody>
      </p:sp>
      <p:sp>
        <p:nvSpPr>
          <p:cNvPr id="3" name="Subtitle 2"/>
          <p:cNvSpPr>
            <a:spLocks noGrp="1"/>
          </p:cNvSpPr>
          <p:nvPr>
            <p:ph type="subTitle" idx="1"/>
          </p:nvPr>
        </p:nvSpPr>
        <p:spPr/>
        <p:txBody>
          <a:bodyPr>
            <a:normAutofit/>
          </a:bodyPr>
          <a:lstStyle/>
          <a:p>
            <a:r>
              <a:rPr lang="en-US" sz="3200" dirty="0"/>
              <a:t>Unit-2</a:t>
            </a:r>
          </a:p>
        </p:txBody>
      </p:sp>
    </p:spTree>
    <p:extLst>
      <p:ext uri="{BB962C8B-B14F-4D97-AF65-F5344CB8AC3E}">
        <p14:creationId xmlns:p14="http://schemas.microsoft.com/office/powerpoint/2010/main" val="1570354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a:t>
            </a:r>
          </a:p>
        </p:txBody>
      </p:sp>
      <p:sp>
        <p:nvSpPr>
          <p:cNvPr id="3" name="Content Placeholder 2"/>
          <p:cNvSpPr>
            <a:spLocks noGrp="1"/>
          </p:cNvSpPr>
          <p:nvPr>
            <p:ph idx="1"/>
          </p:nvPr>
        </p:nvSpPr>
        <p:spPr/>
        <p:txBody>
          <a:bodyPr>
            <a:normAutofit lnSpcReduction="10000"/>
          </a:bodyPr>
          <a:lstStyle/>
          <a:p>
            <a:r>
              <a:rPr lang="en-US" b="1" dirty="0"/>
              <a:t>Organizational strategy, competitive advantage, and information systems </a:t>
            </a:r>
            <a:r>
              <a:rPr lang="en-US" dirty="0"/>
              <a:t>are three interconnected pillars that underpin the success and sustainability of modern businesses.</a:t>
            </a:r>
          </a:p>
          <a:p>
            <a:r>
              <a:rPr lang="en-US" b="1" dirty="0"/>
              <a:t>Organizational strategy </a:t>
            </a:r>
            <a:r>
              <a:rPr lang="en-US" dirty="0"/>
              <a:t>encompasses the predominant plan formulated by a company’s leadership to achieve its long-term goals and objectives. </a:t>
            </a:r>
          </a:p>
          <a:p>
            <a:r>
              <a:rPr lang="en-US" dirty="0"/>
              <a:t>It involves decisions regarding resource allocation, market positioning, innovation, and operational effectiveness. </a:t>
            </a:r>
          </a:p>
          <a:p>
            <a:r>
              <a:rPr lang="en-US" dirty="0"/>
              <a:t>Organizational strategy provides a roadmap for navigating through challenges and capitalizing on opportunities in the dynamic business environment.</a:t>
            </a:r>
          </a:p>
        </p:txBody>
      </p:sp>
    </p:spTree>
    <p:extLst>
      <p:ext uri="{BB962C8B-B14F-4D97-AF65-F5344CB8AC3E}">
        <p14:creationId xmlns:p14="http://schemas.microsoft.com/office/powerpoint/2010/main" val="760116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8465"/>
            <a:ext cx="10515600" cy="5698498"/>
          </a:xfrm>
        </p:spPr>
        <p:txBody>
          <a:bodyPr/>
          <a:lstStyle/>
          <a:p>
            <a:r>
              <a:rPr lang="en-US" b="1" dirty="0"/>
              <a:t>Competitive advantage </a:t>
            </a:r>
            <a:r>
              <a:rPr lang="en-US" dirty="0"/>
              <a:t>refers to the unique strengths and capabilities that enable a company to outperform its rivals in the marketplace. </a:t>
            </a:r>
          </a:p>
          <a:p>
            <a:r>
              <a:rPr lang="en-US" dirty="0"/>
              <a:t>This advantage can stem from various sources, such as superior product quality, innovative technology, efficient operations, or</a:t>
            </a:r>
            <a:br>
              <a:rPr lang="en-US" dirty="0"/>
            </a:br>
            <a:r>
              <a:rPr lang="en-US" dirty="0"/>
              <a:t>exceptional customer service. </a:t>
            </a:r>
          </a:p>
          <a:p>
            <a:r>
              <a:rPr lang="en-US" dirty="0"/>
              <a:t>Establishing and sustaining a competitive advantage is crucial for businesses seeking to differentiate themselves and capture value in highly competitive industries.</a:t>
            </a:r>
          </a:p>
        </p:txBody>
      </p:sp>
    </p:spTree>
    <p:extLst>
      <p:ext uri="{BB962C8B-B14F-4D97-AF65-F5344CB8AC3E}">
        <p14:creationId xmlns:p14="http://schemas.microsoft.com/office/powerpoint/2010/main" val="3505875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89098"/>
            <a:ext cx="10515600" cy="5687865"/>
          </a:xfrm>
        </p:spPr>
        <p:txBody>
          <a:bodyPr>
            <a:normAutofit/>
          </a:bodyPr>
          <a:lstStyle/>
          <a:p>
            <a:r>
              <a:rPr lang="en-US" b="1" dirty="0"/>
              <a:t>Information systems </a:t>
            </a:r>
            <a:r>
              <a:rPr lang="en-US" dirty="0"/>
              <a:t>play a pivotal role in supporting organizational strategy and facilitating the attainment of competitive advantage. </a:t>
            </a:r>
          </a:p>
          <a:p>
            <a:r>
              <a:rPr lang="en-US" dirty="0"/>
              <a:t>Information systems encompass hardware, software, data, and processes that enable the collection, storage, analysis, and</a:t>
            </a:r>
            <a:br>
              <a:rPr lang="en-US" dirty="0"/>
            </a:br>
            <a:r>
              <a:rPr lang="en-US" dirty="0"/>
              <a:t>dissemination of information within an organization. </a:t>
            </a:r>
          </a:p>
          <a:p>
            <a:r>
              <a:rPr lang="en-US" dirty="0"/>
              <a:t>They provide decision-makers with timely and accurate data, enabling them to make informed choices and align actions with strategic objectives. </a:t>
            </a:r>
          </a:p>
          <a:p>
            <a:r>
              <a:rPr lang="en-US" dirty="0"/>
              <a:t>Additionally, information systems enhance organizational efficiency,</a:t>
            </a:r>
            <a:br>
              <a:rPr lang="en-US" dirty="0"/>
            </a:br>
            <a:r>
              <a:rPr lang="en-US" dirty="0"/>
              <a:t>streamline business processes, and foster collaboration among employees, thereby driving innovation and productivity.</a:t>
            </a:r>
          </a:p>
        </p:txBody>
      </p:sp>
    </p:spTree>
    <p:extLst>
      <p:ext uri="{BB962C8B-B14F-4D97-AF65-F5344CB8AC3E}">
        <p14:creationId xmlns:p14="http://schemas.microsoft.com/office/powerpoint/2010/main" val="3732881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Defining Business Processes</a:t>
            </a:r>
            <a:endParaRPr lang="en-US" dirty="0"/>
          </a:p>
        </p:txBody>
      </p:sp>
      <p:sp>
        <p:nvSpPr>
          <p:cNvPr id="3" name="Content Placeholder 2"/>
          <p:cNvSpPr>
            <a:spLocks noGrp="1"/>
          </p:cNvSpPr>
          <p:nvPr>
            <p:ph idx="1"/>
          </p:nvPr>
        </p:nvSpPr>
        <p:spPr/>
        <p:txBody>
          <a:bodyPr/>
          <a:lstStyle/>
          <a:p>
            <a:r>
              <a:rPr lang="en-US" dirty="0"/>
              <a:t>A business process is a collection of interrelated tasks or activities that, when performed in a specific sequence, deliver a service or product. These processes are designed to be repeatable and consistent, ensuring efficiency and quality in the organization’s operations.</a:t>
            </a:r>
          </a:p>
        </p:txBody>
      </p:sp>
    </p:spTree>
    <p:extLst>
      <p:ext uri="{BB962C8B-B14F-4D97-AF65-F5344CB8AC3E}">
        <p14:creationId xmlns:p14="http://schemas.microsoft.com/office/powerpoint/2010/main" val="4107480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aspects of a business process are described below:</a:t>
            </a:r>
          </a:p>
        </p:txBody>
      </p:sp>
      <p:sp>
        <p:nvSpPr>
          <p:cNvPr id="3" name="Content Placeholder 2"/>
          <p:cNvSpPr>
            <a:spLocks noGrp="1"/>
          </p:cNvSpPr>
          <p:nvPr>
            <p:ph idx="1"/>
          </p:nvPr>
        </p:nvSpPr>
        <p:spPr/>
        <p:txBody>
          <a:bodyPr>
            <a:normAutofit fontScale="92500" lnSpcReduction="10000"/>
          </a:bodyPr>
          <a:lstStyle/>
          <a:p>
            <a:r>
              <a:rPr lang="en-US" b="1" dirty="0"/>
              <a:t>Structured Activities: </a:t>
            </a:r>
            <a:r>
              <a:rPr lang="en-US" dirty="0"/>
              <a:t>A business process is not a random collection of tasks. It involves a well-defined sequence of steps, each contributing to the overall goal.</a:t>
            </a:r>
          </a:p>
          <a:p>
            <a:r>
              <a:rPr lang="en-US" b="1" dirty="0"/>
              <a:t>Performed by People or Equipment: </a:t>
            </a:r>
            <a:r>
              <a:rPr lang="en-US" dirty="0"/>
              <a:t>The tasks within a process can be carried out by individuals, teams, or even automated systems.</a:t>
            </a:r>
          </a:p>
          <a:p>
            <a:r>
              <a:rPr lang="en-US" b="1" dirty="0"/>
              <a:t>Specific Goal: </a:t>
            </a:r>
            <a:r>
              <a:rPr lang="en-US" dirty="0"/>
              <a:t>Each process has a clearly defined objective, which could be producing a good, delivering a service, or resolving a customer issue.</a:t>
            </a:r>
          </a:p>
          <a:p>
            <a:r>
              <a:rPr lang="en-US" b="1" dirty="0"/>
              <a:t>Customer Focus: </a:t>
            </a:r>
            <a:r>
              <a:rPr lang="en-US" dirty="0"/>
              <a:t>Although not all processes directly interact with customers, many are designed with the customer’s needs in mind. Streamlined processes lead to faster turnaround times and improved customer satisfaction.</a:t>
            </a:r>
          </a:p>
        </p:txBody>
      </p:sp>
    </p:spTree>
    <p:extLst>
      <p:ext uri="{BB962C8B-B14F-4D97-AF65-F5344CB8AC3E}">
        <p14:creationId xmlns:p14="http://schemas.microsoft.com/office/powerpoint/2010/main" val="383925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US" sz="4000" dirty="0"/>
              <a:t>Business process encompass a wide range of activities, including but not limited to:</a:t>
            </a:r>
          </a:p>
        </p:txBody>
      </p:sp>
      <p:sp>
        <p:nvSpPr>
          <p:cNvPr id="3" name="Content Placeholder 2"/>
          <p:cNvSpPr>
            <a:spLocks noGrp="1"/>
          </p:cNvSpPr>
          <p:nvPr>
            <p:ph idx="1"/>
          </p:nvPr>
        </p:nvSpPr>
        <p:spPr>
          <a:xfrm>
            <a:off x="838200" y="1325563"/>
            <a:ext cx="10515600" cy="5128400"/>
          </a:xfrm>
        </p:spPr>
        <p:txBody>
          <a:bodyPr>
            <a:normAutofit fontScale="92500" lnSpcReduction="10000"/>
          </a:bodyPr>
          <a:lstStyle/>
          <a:p>
            <a:r>
              <a:rPr lang="en-US" b="1" dirty="0"/>
              <a:t>Strategic Planning: </a:t>
            </a:r>
            <a:r>
              <a:rPr lang="en-US" dirty="0"/>
              <a:t>Defining long-term goals, setting objectives, and devising strategies to achieve them.</a:t>
            </a:r>
          </a:p>
          <a:p>
            <a:r>
              <a:rPr lang="en-US" b="1" dirty="0"/>
              <a:t>Operations: </a:t>
            </a:r>
            <a:r>
              <a:rPr lang="en-US" dirty="0"/>
              <a:t>Executing day-to-day tasks related to production, service delivery, and customer interactions.</a:t>
            </a:r>
          </a:p>
          <a:p>
            <a:r>
              <a:rPr lang="en-US" b="1" dirty="0"/>
              <a:t>Supply Chain Management: </a:t>
            </a:r>
            <a:r>
              <a:rPr lang="en-US" dirty="0"/>
              <a:t>Managing the flow of goods and services from suppliers to customers, encompassing procurement, logistics, and distribution.</a:t>
            </a:r>
          </a:p>
          <a:p>
            <a:r>
              <a:rPr lang="en-US" b="1" dirty="0"/>
              <a:t>Sales and Marketing: </a:t>
            </a:r>
            <a:r>
              <a:rPr lang="en-US" dirty="0"/>
              <a:t>Identifying target markets, promoting products or services, and generating revenue through customer acquisition.</a:t>
            </a:r>
          </a:p>
          <a:p>
            <a:r>
              <a:rPr lang="en-US" b="1" dirty="0"/>
              <a:t>Human Resources: </a:t>
            </a:r>
            <a:r>
              <a:rPr lang="en-US" dirty="0"/>
              <a:t>Recruiting, training, and managing personnel to ensure organizational effectiveness and employee satisfaction.</a:t>
            </a:r>
          </a:p>
          <a:p>
            <a:r>
              <a:rPr lang="en-US" b="1" dirty="0"/>
              <a:t>Finance and Accounting: </a:t>
            </a:r>
            <a:r>
              <a:rPr lang="en-US" dirty="0"/>
              <a:t>Managing financial transactions, budgeting, and financial reporting to support strategic decision-making.</a:t>
            </a:r>
          </a:p>
        </p:txBody>
      </p:sp>
    </p:spTree>
    <p:extLst>
      <p:ext uri="{BB962C8B-B14F-4D97-AF65-F5344CB8AC3E}">
        <p14:creationId xmlns:p14="http://schemas.microsoft.com/office/powerpoint/2010/main" val="800260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465" y="0"/>
            <a:ext cx="10515600" cy="719396"/>
          </a:xfrm>
        </p:spPr>
        <p:txBody>
          <a:bodyPr>
            <a:normAutofit/>
          </a:bodyPr>
          <a:lstStyle/>
          <a:p>
            <a:r>
              <a:rPr lang="en-US" sz="4000" b="1" dirty="0"/>
              <a:t>Why are Business Processes Important?</a:t>
            </a:r>
          </a:p>
        </p:txBody>
      </p:sp>
      <p:sp>
        <p:nvSpPr>
          <p:cNvPr id="3" name="Content Placeholder 2"/>
          <p:cNvSpPr>
            <a:spLocks noGrp="1"/>
          </p:cNvSpPr>
          <p:nvPr>
            <p:ph idx="1"/>
          </p:nvPr>
        </p:nvSpPr>
        <p:spPr>
          <a:xfrm>
            <a:off x="478465" y="719396"/>
            <a:ext cx="11238614" cy="5989748"/>
          </a:xfrm>
        </p:spPr>
        <p:txBody>
          <a:bodyPr>
            <a:normAutofit/>
          </a:bodyPr>
          <a:lstStyle/>
          <a:p>
            <a:r>
              <a:rPr lang="en-US" dirty="0"/>
              <a:t>Business processes are the foundation upon which organizations operate. Here’s why they hold such significance:</a:t>
            </a:r>
          </a:p>
          <a:p>
            <a:pPr lvl="1"/>
            <a:r>
              <a:rPr lang="en-US" b="1" dirty="0"/>
              <a:t>Efficiency and Productivity: </a:t>
            </a:r>
            <a:r>
              <a:rPr lang="en-US" dirty="0"/>
              <a:t>Well-defined processes eliminate redundancy and ensure tasks are completed in the most efficient manner. This translates to increased productivity and reduced operational costs.</a:t>
            </a:r>
          </a:p>
          <a:p>
            <a:pPr lvl="1"/>
            <a:r>
              <a:rPr lang="en-US" b="1" dirty="0"/>
              <a:t>Consistency and Quality: </a:t>
            </a:r>
            <a:r>
              <a:rPr lang="en-US" dirty="0"/>
              <a:t>Standardized processes ensure tasks are performed consistently, leading to a higher level of quality in the organization’s outputs, be it products or services.</a:t>
            </a:r>
          </a:p>
          <a:p>
            <a:pPr lvl="1"/>
            <a:r>
              <a:rPr lang="en-US" b="1" dirty="0"/>
              <a:t>Improved Communication and Collaboration: </a:t>
            </a:r>
            <a:r>
              <a:rPr lang="en-US" dirty="0"/>
              <a:t>Defined processes clarify roles and responsibilities, fostering better communication and collaboration among different departments within an organization.</a:t>
            </a:r>
          </a:p>
          <a:p>
            <a:pPr lvl="1"/>
            <a:r>
              <a:rPr lang="en-US" b="1" dirty="0"/>
              <a:t>Enhanced Customer Satisfaction: </a:t>
            </a:r>
            <a:r>
              <a:rPr lang="en-US" dirty="0"/>
              <a:t>Efficient processes lead to faster turnaround times and fewer errors, ultimately resulting in a more satisfied customer base.</a:t>
            </a:r>
          </a:p>
          <a:p>
            <a:pPr lvl="1"/>
            <a:r>
              <a:rPr lang="en-US" b="1" dirty="0"/>
              <a:t>Continuous Improvement: </a:t>
            </a:r>
            <a:r>
              <a:rPr lang="en-US" dirty="0"/>
              <a:t>By documenting and analyzing business processes, organizations can readily identify areas for improvement. This allows for continuous refinement and optimization of operations.</a:t>
            </a:r>
          </a:p>
        </p:txBody>
      </p:sp>
    </p:spTree>
    <p:extLst>
      <p:ext uri="{BB962C8B-B14F-4D97-AF65-F5344CB8AC3E}">
        <p14:creationId xmlns:p14="http://schemas.microsoft.com/office/powerpoint/2010/main" val="1192112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776" y="152475"/>
            <a:ext cx="11706447" cy="793824"/>
          </a:xfrm>
        </p:spPr>
        <p:txBody>
          <a:bodyPr>
            <a:normAutofit/>
          </a:bodyPr>
          <a:lstStyle/>
          <a:p>
            <a:pPr algn="ctr"/>
            <a:r>
              <a:rPr lang="en-US" sz="4000" b="1" dirty="0"/>
              <a:t>How businesses utilize processes to achieve their goals:</a:t>
            </a:r>
          </a:p>
        </p:txBody>
      </p:sp>
      <p:sp>
        <p:nvSpPr>
          <p:cNvPr id="3" name="Content Placeholder 2"/>
          <p:cNvSpPr>
            <a:spLocks noGrp="1"/>
          </p:cNvSpPr>
          <p:nvPr>
            <p:ph idx="1"/>
          </p:nvPr>
        </p:nvSpPr>
        <p:spPr>
          <a:xfrm>
            <a:off x="838200" y="1031358"/>
            <a:ext cx="10515600" cy="5145605"/>
          </a:xfrm>
        </p:spPr>
        <p:txBody>
          <a:bodyPr>
            <a:normAutofit fontScale="92500" lnSpcReduction="20000"/>
          </a:bodyPr>
          <a:lstStyle/>
          <a:p>
            <a:r>
              <a:rPr lang="en-US" b="1" dirty="0"/>
              <a:t>Food Delivery in Kathmandu: </a:t>
            </a:r>
            <a:r>
              <a:rPr lang="en-US" dirty="0"/>
              <a:t>A popular food delivery service in Kathmandu has a well-defined process for receiving orders, preparing, and packaging the food, and delivering it to the customer’s doorstep. This process involves tasks like order confirmation, kitchen operations, dispatch, and customer feedback.</a:t>
            </a:r>
          </a:p>
          <a:p>
            <a:r>
              <a:rPr lang="en-US" b="1" dirty="0"/>
              <a:t>Trekking Company in </a:t>
            </a:r>
            <a:r>
              <a:rPr lang="en-US" b="1" dirty="0" err="1"/>
              <a:t>Pokhara</a:t>
            </a:r>
            <a:r>
              <a:rPr lang="en-US" b="1" dirty="0"/>
              <a:t>: </a:t>
            </a:r>
            <a:r>
              <a:rPr lang="en-US" dirty="0"/>
              <a:t>An adventure travel company in </a:t>
            </a:r>
            <a:r>
              <a:rPr lang="en-US" dirty="0" err="1"/>
              <a:t>Pokhara</a:t>
            </a:r>
            <a:r>
              <a:rPr lang="en-US" dirty="0"/>
              <a:t> has a process for managing customer inquiries, booking logistics (permits &amp; accommodation), and guiding treks in the Himalayas. This process involves tasks like responding to inquiries, managing bookings and payments, coordinating with local partners, and ensuring the safety and satisfaction of trekkers.</a:t>
            </a:r>
          </a:p>
          <a:p>
            <a:r>
              <a:rPr lang="en-US" b="1" dirty="0"/>
              <a:t>Handicraft Production in </a:t>
            </a:r>
            <a:r>
              <a:rPr lang="en-US" b="1" dirty="0" err="1"/>
              <a:t>Patan</a:t>
            </a:r>
            <a:r>
              <a:rPr lang="en-US" b="1" dirty="0"/>
              <a:t>: </a:t>
            </a:r>
            <a:r>
              <a:rPr lang="en-US" dirty="0"/>
              <a:t>A family-run business producing traditional Nepali handicrafts in </a:t>
            </a:r>
            <a:r>
              <a:rPr lang="en-US" dirty="0" err="1"/>
              <a:t>Patan</a:t>
            </a:r>
            <a:r>
              <a:rPr lang="en-US" dirty="0"/>
              <a:t> has a process for sourcing raw materials, designing and creating the handicrafts, and selling them to local shops or online customers. This process involves tasks like material procurement, design and production, quality control, marketing, and sales.</a:t>
            </a:r>
          </a:p>
        </p:txBody>
      </p:sp>
    </p:spTree>
    <p:extLst>
      <p:ext uri="{BB962C8B-B14F-4D97-AF65-F5344CB8AC3E}">
        <p14:creationId xmlns:p14="http://schemas.microsoft.com/office/powerpoint/2010/main" val="3855799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2772" y="361507"/>
            <a:ext cx="11430000" cy="6018028"/>
          </a:xfrm>
        </p:spPr>
        <p:txBody>
          <a:bodyPr>
            <a:normAutofit fontScale="92500" lnSpcReduction="20000"/>
          </a:bodyPr>
          <a:lstStyle/>
          <a:p>
            <a:r>
              <a:rPr lang="en-US" b="1" dirty="0"/>
              <a:t>E-commerce Giant - Order Fulfillment: </a:t>
            </a:r>
            <a:r>
              <a:rPr lang="en-US" dirty="0"/>
              <a:t>A global e-commerce giant like Amazon relies on a complex yet efficient process for fulfilling customer orders. This process involves tasks like receiving orders, managing inventory across warehouses, picking, and packing items, and shipping them to customers. As one of the world’s largest e-commerce companies, Amazon has revolutionized the retail industry through its sophisticated logistics and supply chain management systems. From warehouse automation to predictive analytics for demand forecasting, Amazon’s business processes are designed to optimize every aspect of the customer journey, from browsing products online to doorstep delivery.</a:t>
            </a:r>
          </a:p>
          <a:p>
            <a:r>
              <a:rPr lang="en-US" b="1" dirty="0"/>
              <a:t>Automobile Manufacturer - Assembly Line: </a:t>
            </a:r>
            <a:r>
              <a:rPr lang="en-US" dirty="0"/>
              <a:t>Car manufacturers like Toyota have highly optimized assembly line processes that involve a series of tasks performed by robots and human workers. Each task contributes to the final</a:t>
            </a:r>
            <a:br>
              <a:rPr lang="en-US" dirty="0">
                <a:effectLst/>
              </a:rPr>
            </a:br>
            <a:r>
              <a:rPr lang="en-US" dirty="0">
                <a:effectLst/>
              </a:rPr>
              <a:t>assembly of a car, ensuring quality and efficiency. Toyota's renowned Toyota</a:t>
            </a:r>
            <a:br>
              <a:rPr lang="en-US" dirty="0">
                <a:effectLst/>
              </a:rPr>
            </a:br>
            <a:r>
              <a:rPr lang="en-US" dirty="0">
                <a:effectLst/>
              </a:rPr>
              <a:t>Production System (TPS) is a prime example of how effective business</a:t>
            </a:r>
            <a:br>
              <a:rPr lang="en-US" dirty="0">
                <a:effectLst/>
              </a:rPr>
            </a:br>
            <a:r>
              <a:rPr lang="en-US" dirty="0">
                <a:effectLst/>
              </a:rPr>
              <a:t>processes can drive operational excellence and continuous improvement. By</a:t>
            </a:r>
            <a:br>
              <a:rPr lang="en-US" dirty="0">
                <a:effectLst/>
              </a:rPr>
            </a:br>
            <a:r>
              <a:rPr lang="en-US" dirty="0">
                <a:effectLst/>
              </a:rPr>
              <a:t>focusing on principles such as Just-In-Time production, </a:t>
            </a:r>
            <a:r>
              <a:rPr lang="en-US" dirty="0" err="1">
                <a:effectLst/>
              </a:rPr>
              <a:t>Jidoka</a:t>
            </a:r>
            <a:r>
              <a:rPr lang="en-US" dirty="0">
                <a:effectLst/>
              </a:rPr>
              <a:t> (automation</a:t>
            </a:r>
            <a:br>
              <a:rPr lang="en-US" dirty="0">
                <a:effectLst/>
              </a:rPr>
            </a:br>
            <a:r>
              <a:rPr lang="en-US" dirty="0">
                <a:effectLst/>
              </a:rPr>
              <a:t>with a human touch), and Kaizen (continuous improvement), Toyota has</a:t>
            </a:r>
            <a:br>
              <a:rPr lang="en-US" dirty="0">
                <a:effectLst/>
              </a:rPr>
            </a:br>
            <a:r>
              <a:rPr lang="en-US" dirty="0">
                <a:effectLst/>
              </a:rPr>
              <a:t>established itself as a leader in lean manufacturing, achieving high levels of</a:t>
            </a:r>
            <a:br>
              <a:rPr lang="en-US" dirty="0">
                <a:effectLst/>
              </a:rPr>
            </a:br>
            <a:r>
              <a:rPr lang="en-US" dirty="0">
                <a:effectLst/>
              </a:rPr>
              <a:t>efficiency, quality, and flexibility in its production processes.</a:t>
            </a:r>
            <a:endParaRPr lang="en-US" dirty="0"/>
          </a:p>
        </p:txBody>
      </p:sp>
    </p:spTree>
    <p:extLst>
      <p:ext uri="{BB962C8B-B14F-4D97-AF65-F5344CB8AC3E}">
        <p14:creationId xmlns:p14="http://schemas.microsoft.com/office/powerpoint/2010/main" val="526638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2260"/>
            <a:ext cx="10515600" cy="5634703"/>
          </a:xfrm>
        </p:spPr>
        <p:txBody>
          <a:bodyPr>
            <a:normAutofit/>
          </a:bodyPr>
          <a:lstStyle/>
          <a:p>
            <a:r>
              <a:rPr lang="en-US" b="1" dirty="0"/>
              <a:t>Fast-Food Chain - Customer Service: </a:t>
            </a:r>
            <a:r>
              <a:rPr lang="en-US" dirty="0"/>
              <a:t>The fast-food giant McDonald's has perfected its business processes to deliver consistent quality and service across thousands of restaurants worldwide. McDonald's has standardized processes for taking orders, preparing food, and handling customer inquiries. From standardized food preparation procedures to efficient order fulfillment systems, McDonald's has enhanced its operations to ensure speed, accuracy, and customer satisfaction, making it a dominant force in the global fast-food</a:t>
            </a:r>
            <a:br>
              <a:rPr lang="en-US" dirty="0"/>
            </a:br>
            <a:r>
              <a:rPr lang="en-US" dirty="0"/>
              <a:t>industry.</a:t>
            </a:r>
          </a:p>
        </p:txBody>
      </p:sp>
    </p:spTree>
    <p:extLst>
      <p:ext uri="{BB962C8B-B14F-4D97-AF65-F5344CB8AC3E}">
        <p14:creationId xmlns:p14="http://schemas.microsoft.com/office/powerpoint/2010/main" val="4263921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Business Processes</a:t>
            </a:r>
          </a:p>
        </p:txBody>
      </p:sp>
      <p:sp>
        <p:nvSpPr>
          <p:cNvPr id="3" name="Content Placeholder 2"/>
          <p:cNvSpPr>
            <a:spLocks noGrp="1"/>
          </p:cNvSpPr>
          <p:nvPr>
            <p:ph idx="1"/>
          </p:nvPr>
        </p:nvSpPr>
        <p:spPr/>
        <p:txBody>
          <a:bodyPr>
            <a:normAutofit/>
          </a:bodyPr>
          <a:lstStyle/>
          <a:p>
            <a:r>
              <a:rPr lang="en-US" b="1" dirty="0"/>
              <a:t>Core Processes: </a:t>
            </a:r>
            <a:r>
              <a:rPr lang="en-US" dirty="0"/>
              <a:t>These are the essential processes directly tied to the</a:t>
            </a:r>
            <a:br>
              <a:rPr lang="en-US" dirty="0"/>
            </a:br>
            <a:r>
              <a:rPr lang="en-US" dirty="0"/>
              <a:t>organization's core business activities. Examples include production, order fulfillment, sales, and customer service.</a:t>
            </a:r>
          </a:p>
          <a:p>
            <a:r>
              <a:rPr lang="en-US" b="1" dirty="0"/>
              <a:t>Supporting Processes: </a:t>
            </a:r>
            <a:r>
              <a:rPr lang="en-US" dirty="0"/>
              <a:t>These processes indirectly support the core processes by providing essential services. Examples include human resources, accounting, IT support, and facilities management.</a:t>
            </a:r>
          </a:p>
          <a:p>
            <a:r>
              <a:rPr lang="en-US" b="1" dirty="0"/>
              <a:t>Management Processes: </a:t>
            </a:r>
            <a:r>
              <a:rPr lang="en-US" dirty="0"/>
              <a:t>These processes focus on planning, monitoring, and controlling the organization's overall performance. Examples include strategic planning, budgeting, performance evaluation, and risk management.</a:t>
            </a:r>
          </a:p>
        </p:txBody>
      </p:sp>
    </p:spTree>
    <p:extLst>
      <p:ext uri="{BB962C8B-B14F-4D97-AF65-F5344CB8AC3E}">
        <p14:creationId xmlns:p14="http://schemas.microsoft.com/office/powerpoint/2010/main" val="1924718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Technology's Impact on Business Processes</a:t>
            </a:r>
            <a:endParaRPr lang="en-US" dirty="0"/>
          </a:p>
        </p:txBody>
      </p:sp>
      <p:sp>
        <p:nvSpPr>
          <p:cNvPr id="3" name="Content Placeholder 2"/>
          <p:cNvSpPr>
            <a:spLocks noGrp="1"/>
          </p:cNvSpPr>
          <p:nvPr>
            <p:ph idx="1"/>
          </p:nvPr>
        </p:nvSpPr>
        <p:spPr/>
        <p:txBody>
          <a:bodyPr/>
          <a:lstStyle/>
          <a:p>
            <a:r>
              <a:rPr lang="en-US" b="1" dirty="0"/>
              <a:t>Automation: </a:t>
            </a:r>
            <a:r>
              <a:rPr lang="en-US" dirty="0"/>
              <a:t>Repetitive and manual tasks within a process can be automated using software and technology, leading to increased efficiency, and reduced human error.</a:t>
            </a:r>
          </a:p>
          <a:p>
            <a:r>
              <a:rPr lang="en-US" b="1" dirty="0"/>
              <a:t>Data Analytics: </a:t>
            </a:r>
            <a:r>
              <a:rPr lang="en-US" dirty="0"/>
              <a:t>Data collected throughout a process can be analyzed to identify bottlenecks, track performance metrics, and make data-driven decisions for process improvement.</a:t>
            </a:r>
          </a:p>
        </p:txBody>
      </p:sp>
    </p:spTree>
    <p:extLst>
      <p:ext uri="{BB962C8B-B14F-4D97-AF65-F5344CB8AC3E}">
        <p14:creationId xmlns:p14="http://schemas.microsoft.com/office/powerpoint/2010/main" val="1342795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5423"/>
            <a:ext cx="10515600" cy="5581540"/>
          </a:xfrm>
        </p:spPr>
        <p:txBody>
          <a:bodyPr/>
          <a:lstStyle/>
          <a:p>
            <a:r>
              <a:rPr lang="en-US" b="1" dirty="0"/>
              <a:t>Cloud Computing: </a:t>
            </a:r>
            <a:r>
              <a:rPr lang="en-US" dirty="0"/>
              <a:t>Cloud-based applications and platforms allow</a:t>
            </a:r>
            <a:br>
              <a:rPr lang="en-US" dirty="0"/>
            </a:br>
            <a:r>
              <a:rPr lang="en-US" dirty="0"/>
              <a:t>organizations to access and share process information seamlessly, improving collaboration and agility.</a:t>
            </a:r>
          </a:p>
          <a:p>
            <a:r>
              <a:rPr lang="en-US" b="1" dirty="0"/>
              <a:t>Business Process Management (BPM) Software: </a:t>
            </a:r>
            <a:r>
              <a:rPr lang="en-US" dirty="0"/>
              <a:t>Dedicated BPM software helps organizations model, document, analyze, and optimize their business processes, providing a holistic view of operations.</a:t>
            </a:r>
          </a:p>
        </p:txBody>
      </p:sp>
    </p:spTree>
    <p:extLst>
      <p:ext uri="{BB962C8B-B14F-4D97-AF65-F5344CB8AC3E}">
        <p14:creationId xmlns:p14="http://schemas.microsoft.com/office/powerpoint/2010/main" val="2126735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These technological advancements enable organizations to:</a:t>
            </a:r>
          </a:p>
        </p:txBody>
      </p:sp>
      <p:sp>
        <p:nvSpPr>
          <p:cNvPr id="3" name="Content Placeholder 2"/>
          <p:cNvSpPr>
            <a:spLocks noGrp="1"/>
          </p:cNvSpPr>
          <p:nvPr>
            <p:ph idx="1"/>
          </p:nvPr>
        </p:nvSpPr>
        <p:spPr/>
        <p:txBody>
          <a:bodyPr>
            <a:normAutofit/>
          </a:bodyPr>
          <a:lstStyle/>
          <a:p>
            <a:r>
              <a:rPr lang="en-US" b="1" dirty="0"/>
              <a:t>Streamline Workflows: </a:t>
            </a:r>
            <a:r>
              <a:rPr lang="en-US" dirty="0"/>
              <a:t>Automate repetitive tasks and create seamless handoffs between different stages of a process.</a:t>
            </a:r>
          </a:p>
          <a:p>
            <a:r>
              <a:rPr lang="en-US" b="1" dirty="0"/>
              <a:t>Improve Decision-Making: </a:t>
            </a:r>
            <a:r>
              <a:rPr lang="en-US" dirty="0"/>
              <a:t>Use data analytics to identify trends and make informed decisions about process optimization.</a:t>
            </a:r>
          </a:p>
          <a:p>
            <a:r>
              <a:rPr lang="en-US" b="1" dirty="0"/>
              <a:t>Enhance Transparency and Visibility: </a:t>
            </a:r>
            <a:r>
              <a:rPr lang="en-US" dirty="0"/>
              <a:t>Track the progress of tasks and gain real-time insights into process performance.</a:t>
            </a:r>
          </a:p>
          <a:p>
            <a:r>
              <a:rPr lang="en-US" b="1" dirty="0"/>
              <a:t>Increase Collaboration and Communication: </a:t>
            </a:r>
            <a:r>
              <a:rPr lang="en-US" dirty="0"/>
              <a:t>Facilitate better</a:t>
            </a:r>
            <a:br>
              <a:rPr lang="en-US" dirty="0"/>
            </a:br>
            <a:r>
              <a:rPr lang="en-US" dirty="0"/>
              <a:t>communication between teams and departments involved in the process.</a:t>
            </a:r>
          </a:p>
        </p:txBody>
      </p:sp>
    </p:spTree>
    <p:extLst>
      <p:ext uri="{BB962C8B-B14F-4D97-AF65-F5344CB8AC3E}">
        <p14:creationId xmlns:p14="http://schemas.microsoft.com/office/powerpoint/2010/main" val="1452934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6567"/>
            <a:ext cx="10515600" cy="5730396"/>
          </a:xfrm>
        </p:spPr>
        <p:txBody>
          <a:bodyPr>
            <a:normAutofit fontScale="92500"/>
          </a:bodyPr>
          <a:lstStyle/>
          <a:p>
            <a:r>
              <a:rPr lang="en-US" b="1" dirty="0"/>
              <a:t>Enhance Efficiency: </a:t>
            </a:r>
            <a:r>
              <a:rPr lang="en-US" dirty="0"/>
              <a:t>Streamlining processes reduces waste, minimizes</a:t>
            </a:r>
            <a:br>
              <a:rPr lang="en-US" dirty="0"/>
            </a:br>
            <a:r>
              <a:rPr lang="en-US" dirty="0"/>
              <a:t>delays, and improves resource utilization, leading to greater efficiency and cost- effectiveness.</a:t>
            </a:r>
          </a:p>
          <a:p>
            <a:r>
              <a:rPr lang="en-US" b="1" dirty="0"/>
              <a:t>Improve Quality: </a:t>
            </a:r>
            <a:r>
              <a:rPr lang="en-US" dirty="0"/>
              <a:t>Standardizing procedures and implementing quality control measures ensure consistency and reliability in product or service delivery, enhancing customer satisfaction and loyalty.</a:t>
            </a:r>
          </a:p>
          <a:p>
            <a:r>
              <a:rPr lang="en-US" b="1" dirty="0"/>
              <a:t>Enable Agility: </a:t>
            </a:r>
            <a:r>
              <a:rPr lang="en-US" dirty="0"/>
              <a:t>Flexible processes empower organizations to adapt quickly to changing market conditions, emerging trends, and customer preferences, enabling them to stay ahead of the competition and grab new opportunities.</a:t>
            </a:r>
          </a:p>
          <a:p>
            <a:r>
              <a:rPr lang="en-US" b="1" dirty="0"/>
              <a:t>Foster Innovation: </a:t>
            </a:r>
            <a:r>
              <a:rPr lang="en-US" dirty="0"/>
              <a:t>By analyzing and refining existing processes, businesses</a:t>
            </a:r>
            <a:br>
              <a:rPr lang="en-US" dirty="0"/>
            </a:br>
            <a:r>
              <a:rPr lang="en-US" dirty="0"/>
              <a:t>can identify areas for improvement and innovation, driving continuous</a:t>
            </a:r>
            <a:br>
              <a:rPr lang="en-US" dirty="0"/>
            </a:br>
            <a:r>
              <a:rPr lang="en-US" dirty="0"/>
              <a:t>evolution and differentiation in the marketplace.</a:t>
            </a:r>
            <a:br>
              <a:rPr lang="en-US" dirty="0"/>
            </a:br>
            <a:endParaRPr lang="en-US" dirty="0"/>
          </a:p>
        </p:txBody>
      </p:sp>
    </p:spTree>
    <p:extLst>
      <p:ext uri="{BB962C8B-B14F-4D97-AF65-F5344CB8AC3E}">
        <p14:creationId xmlns:p14="http://schemas.microsoft.com/office/powerpoint/2010/main" val="1452206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74"/>
            <a:ext cx="10515600" cy="719396"/>
          </a:xfrm>
        </p:spPr>
        <p:txBody>
          <a:bodyPr/>
          <a:lstStyle/>
          <a:p>
            <a:r>
              <a:rPr lang="en-US" b="1" dirty="0"/>
              <a:t>Business Process Improvement</a:t>
            </a:r>
          </a:p>
        </p:txBody>
      </p:sp>
      <p:sp>
        <p:nvSpPr>
          <p:cNvPr id="3" name="Content Placeholder 2"/>
          <p:cNvSpPr>
            <a:spLocks noGrp="1"/>
          </p:cNvSpPr>
          <p:nvPr>
            <p:ph idx="1"/>
          </p:nvPr>
        </p:nvSpPr>
        <p:spPr>
          <a:xfrm>
            <a:off x="838200" y="967563"/>
            <a:ext cx="10515600" cy="5603358"/>
          </a:xfrm>
        </p:spPr>
        <p:txBody>
          <a:bodyPr>
            <a:normAutofit lnSpcReduction="10000"/>
          </a:bodyPr>
          <a:lstStyle/>
          <a:p>
            <a:r>
              <a:rPr lang="en-US" dirty="0"/>
              <a:t>In a competitive business landscape, efficiency and effectiveness are vital requirements Organizations constantly strive to deliver better products and services faster, all while minimizing costs. </a:t>
            </a:r>
          </a:p>
          <a:p>
            <a:r>
              <a:rPr lang="en-US" dirty="0"/>
              <a:t>This is where </a:t>
            </a:r>
            <a:r>
              <a:rPr lang="en-US" b="1" dirty="0"/>
              <a:t>Business Process Improvement (BPI) </a:t>
            </a:r>
            <a:r>
              <a:rPr lang="en-US" dirty="0"/>
              <a:t>comes into play. In the relentless pursuit of organizational excellence and competitive advantage, businesses around the world are increasingly turning their focus towards enhancing the efficiency and effectiveness of their operations. </a:t>
            </a:r>
          </a:p>
          <a:p>
            <a:r>
              <a:rPr lang="en-US" dirty="0"/>
              <a:t>At the core of this endeavor lies the concept of </a:t>
            </a:r>
            <a:r>
              <a:rPr lang="en-US" b="1" dirty="0"/>
              <a:t>Business Process Improvement (BPI)</a:t>
            </a:r>
            <a:r>
              <a:rPr lang="en-US" dirty="0"/>
              <a:t>, a systematic approach to analyzing, redesigning, optimizing and transforming business processes to drive performance and achieve strategic goals. </a:t>
            </a:r>
          </a:p>
          <a:p>
            <a:r>
              <a:rPr lang="en-US" b="1" dirty="0"/>
              <a:t>BPI </a:t>
            </a:r>
            <a:r>
              <a:rPr lang="en-US" dirty="0"/>
              <a:t>isn't just a fancy term; it's a strategic approach with tangible benefits.</a:t>
            </a:r>
          </a:p>
        </p:txBody>
      </p:sp>
    </p:spTree>
    <p:extLst>
      <p:ext uri="{BB962C8B-B14F-4D97-AF65-F5344CB8AC3E}">
        <p14:creationId xmlns:p14="http://schemas.microsoft.com/office/powerpoint/2010/main" val="3868441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1749"/>
            <a:ext cx="10515600" cy="5475214"/>
          </a:xfrm>
        </p:spPr>
        <p:txBody>
          <a:bodyPr>
            <a:normAutofit/>
          </a:bodyPr>
          <a:lstStyle/>
          <a:p>
            <a:r>
              <a:rPr lang="en-US" b="1" dirty="0"/>
              <a:t>Business Process Improvement (BPI) </a:t>
            </a:r>
            <a:r>
              <a:rPr lang="en-US" dirty="0"/>
              <a:t>encompasses a range of methodologies and techniques aimed at enhancing the efficiency, quality, and agility of organizational processes.</a:t>
            </a:r>
          </a:p>
          <a:p>
            <a:r>
              <a:rPr lang="en-US" dirty="0"/>
              <a:t>It involves the systematic evaluation of existing workflows, identification of inefficiencies or bottlenecks, and implementation of targeted interventions to streamline operations and drive continuous improvement. </a:t>
            </a:r>
          </a:p>
          <a:p>
            <a:r>
              <a:rPr lang="en-US" b="1" dirty="0"/>
              <a:t>BPI</a:t>
            </a:r>
            <a:r>
              <a:rPr lang="en-US" dirty="0"/>
              <a:t> initiatives are driven by a commitment to delivering value to customers, reducing costs, and increasing productivity, ultimately leading to enhanced competitiveness and sustainability. </a:t>
            </a:r>
          </a:p>
        </p:txBody>
      </p:sp>
    </p:spTree>
    <p:extLst>
      <p:ext uri="{BB962C8B-B14F-4D97-AF65-F5344CB8AC3E}">
        <p14:creationId xmlns:p14="http://schemas.microsoft.com/office/powerpoint/2010/main" val="12946637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0098" y="1360966"/>
            <a:ext cx="10515600" cy="5124341"/>
          </a:xfrm>
        </p:spPr>
        <p:txBody>
          <a:bodyPr>
            <a:normAutofit fontScale="92500" lnSpcReduction="10000"/>
          </a:bodyPr>
          <a:lstStyle/>
          <a:p>
            <a:r>
              <a:rPr lang="en-US" b="1" dirty="0"/>
              <a:t>Enhanced Efficiency and Productivity: </a:t>
            </a:r>
            <a:r>
              <a:rPr lang="en-US" dirty="0"/>
              <a:t>By eliminating waste, reducing</a:t>
            </a:r>
            <a:br>
              <a:rPr lang="en-US" dirty="0"/>
            </a:br>
            <a:r>
              <a:rPr lang="en-US" dirty="0"/>
              <a:t>cycle times, and optimizing workflows, BPI enables organizations to accomplish more with fewer resources, leading to greater efficiency and productivity.</a:t>
            </a:r>
          </a:p>
          <a:p>
            <a:r>
              <a:rPr lang="en-US" b="1" dirty="0"/>
              <a:t>Improved Quality and Customer Satisfaction: </a:t>
            </a:r>
            <a:r>
              <a:rPr lang="en-US" dirty="0"/>
              <a:t>BPI initiatives result in</a:t>
            </a:r>
            <a:br>
              <a:rPr lang="en-US" dirty="0"/>
            </a:br>
            <a:r>
              <a:rPr lang="en-US" dirty="0"/>
              <a:t>higher-quality products and services, fewer defects or errors, and greater</a:t>
            </a:r>
            <a:br>
              <a:rPr lang="en-US" dirty="0"/>
            </a:br>
            <a:r>
              <a:rPr lang="en-US" dirty="0"/>
              <a:t>consistency in performance, enhancing customer satisfaction and loyalty. Faster service, fewer errors, and a more responsive organization all contribute to a more satisfied customer base.</a:t>
            </a:r>
          </a:p>
          <a:p>
            <a:r>
              <a:rPr lang="en-US" b="1" dirty="0"/>
              <a:t>Cost Reduction: </a:t>
            </a:r>
            <a:r>
              <a:rPr lang="en-US" dirty="0"/>
              <a:t>By identifying and eliminating inefficiencies, BPI helps</a:t>
            </a:r>
            <a:br>
              <a:rPr lang="en-US" dirty="0"/>
            </a:br>
            <a:r>
              <a:rPr lang="en-US" dirty="0"/>
              <a:t>organizations reduce costs associated with wasted resources, rework, and</a:t>
            </a:r>
            <a:br>
              <a:rPr lang="en-US" dirty="0"/>
            </a:br>
            <a:r>
              <a:rPr lang="en-US" dirty="0"/>
              <a:t>unnecessary complexity, leading to improved profitability and financial</a:t>
            </a:r>
            <a:br>
              <a:rPr lang="en-US" dirty="0"/>
            </a:br>
            <a:r>
              <a:rPr lang="en-US" dirty="0"/>
              <a:t>performance.</a:t>
            </a:r>
            <a:br>
              <a:rPr lang="en-US" dirty="0"/>
            </a:br>
            <a:endParaRPr lang="en-US" dirty="0"/>
          </a:p>
        </p:txBody>
      </p:sp>
      <p:sp>
        <p:nvSpPr>
          <p:cNvPr id="4" name="Rectangle 3"/>
          <p:cNvSpPr/>
          <p:nvPr/>
        </p:nvSpPr>
        <p:spPr>
          <a:xfrm>
            <a:off x="870098" y="352279"/>
            <a:ext cx="10435272" cy="707886"/>
          </a:xfrm>
          <a:prstGeom prst="rect">
            <a:avLst/>
          </a:prstGeom>
        </p:spPr>
        <p:txBody>
          <a:bodyPr wrap="square">
            <a:spAutoFit/>
          </a:bodyPr>
          <a:lstStyle/>
          <a:p>
            <a:r>
              <a:rPr lang="en-US" sz="4000" b="1" dirty="0"/>
              <a:t>Why BPI is crucial for businesses of all sizes:</a:t>
            </a:r>
            <a:endParaRPr lang="en-US" sz="4000" dirty="0"/>
          </a:p>
        </p:txBody>
      </p:sp>
    </p:spTree>
    <p:extLst>
      <p:ext uri="{BB962C8B-B14F-4D97-AF65-F5344CB8AC3E}">
        <p14:creationId xmlns:p14="http://schemas.microsoft.com/office/powerpoint/2010/main" val="4216687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5423"/>
            <a:ext cx="10515600" cy="5581540"/>
          </a:xfrm>
        </p:spPr>
        <p:txBody>
          <a:bodyPr>
            <a:normAutofit/>
          </a:bodyPr>
          <a:lstStyle/>
          <a:p>
            <a:r>
              <a:rPr lang="en-US" b="1" dirty="0"/>
              <a:t>Greater Agility and Adaptability: </a:t>
            </a:r>
            <a:r>
              <a:rPr lang="en-US" dirty="0"/>
              <a:t>BPI enables organizations to respond more quickly to changing market conditions, customer preferences, and competitive pressures, allowing them to adapt and innovate in rapidly evolving environments.</a:t>
            </a:r>
          </a:p>
          <a:p>
            <a:r>
              <a:rPr lang="en-US" b="1" dirty="0"/>
              <a:t>Empowered Employees: </a:t>
            </a:r>
            <a:r>
              <a:rPr lang="en-US" dirty="0"/>
              <a:t>BPI fosters a culture of continuous improvement and empowers employees at all levels to identify opportunities for enhancement, contribute ideas, and take ownership of process outcomes, leading to greater engagement and satisfaction.</a:t>
            </a:r>
          </a:p>
          <a:p>
            <a:r>
              <a:rPr lang="en-US" b="1" dirty="0"/>
              <a:t>Competitive Advantage: </a:t>
            </a:r>
            <a:r>
              <a:rPr lang="en-US" dirty="0"/>
              <a:t>Efficient and optimized processes give businesses a competitive edge by enabling them to deliver better value faster than their rivals.</a:t>
            </a:r>
          </a:p>
        </p:txBody>
      </p:sp>
    </p:spTree>
    <p:extLst>
      <p:ext uri="{BB962C8B-B14F-4D97-AF65-F5344CB8AC3E}">
        <p14:creationId xmlns:p14="http://schemas.microsoft.com/office/powerpoint/2010/main" val="25790169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Key Principles of Business Process Improvement</a:t>
            </a:r>
          </a:p>
        </p:txBody>
      </p:sp>
      <p:sp>
        <p:nvSpPr>
          <p:cNvPr id="3" name="Content Placeholder 2"/>
          <p:cNvSpPr>
            <a:spLocks noGrp="1"/>
          </p:cNvSpPr>
          <p:nvPr>
            <p:ph idx="1"/>
          </p:nvPr>
        </p:nvSpPr>
        <p:spPr/>
        <p:txBody>
          <a:bodyPr>
            <a:normAutofit/>
          </a:bodyPr>
          <a:lstStyle/>
          <a:p>
            <a:r>
              <a:rPr lang="en-US" b="1" dirty="0"/>
              <a:t>Customer Focus: </a:t>
            </a:r>
            <a:r>
              <a:rPr lang="en-US" dirty="0"/>
              <a:t>BPI begins with a deep understanding of customer needs, preferences, and expectations. Processes are designed and optimized with the customer in mind, ensuring that value is consistently delivered, and customer satisfaction is maximized.</a:t>
            </a:r>
          </a:p>
          <a:p>
            <a:r>
              <a:rPr lang="en-US" b="1" dirty="0"/>
              <a:t>Data-Driven Decision Making: </a:t>
            </a:r>
            <a:r>
              <a:rPr lang="en-US" dirty="0"/>
              <a:t>BPI relies on empirical evidence and</a:t>
            </a:r>
            <a:br>
              <a:rPr lang="en-US" dirty="0"/>
            </a:br>
            <a:r>
              <a:rPr lang="en-US" dirty="0"/>
              <a:t>quantitative analysis to identify opportunities for improvement and measure the impact of interventions. Data-driven insights enable organizations to make informed decisions and prioritize initiatives based on their potential for value creation.</a:t>
            </a:r>
          </a:p>
        </p:txBody>
      </p:sp>
    </p:spTree>
    <p:extLst>
      <p:ext uri="{BB962C8B-B14F-4D97-AF65-F5344CB8AC3E}">
        <p14:creationId xmlns:p14="http://schemas.microsoft.com/office/powerpoint/2010/main" val="41902391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9851"/>
            <a:ext cx="10515600" cy="5507112"/>
          </a:xfrm>
        </p:spPr>
        <p:txBody>
          <a:bodyPr>
            <a:normAutofit/>
          </a:bodyPr>
          <a:lstStyle/>
          <a:p>
            <a:r>
              <a:rPr lang="en-US" b="1" dirty="0"/>
              <a:t>Cross-Functional Collaboration: BPI</a:t>
            </a:r>
            <a:r>
              <a:rPr lang="en-US" dirty="0"/>
              <a:t> initiatives often involve stakeholders from across different departments or functional areas. Collaborative teamwork facilitates the exchange of ideas, perspectives, and expertise, leading to more comprehensive solutions and greater buy-in from all stakeholders.</a:t>
            </a:r>
          </a:p>
          <a:p>
            <a:r>
              <a:rPr lang="en-US" b="1" dirty="0"/>
              <a:t>Continuous Improvement: BPI </a:t>
            </a:r>
            <a:r>
              <a:rPr lang="en-US" dirty="0"/>
              <a:t>is an iterative process that requires a</a:t>
            </a:r>
            <a:br>
              <a:rPr lang="en-US" dirty="0"/>
            </a:br>
            <a:r>
              <a:rPr lang="en-US" dirty="0"/>
              <a:t>commitment to ongoing learning and adaptation. Organizations strive for incremental gains over time, continuously refining processes, and embracing a culture of innovation and experimentation.</a:t>
            </a:r>
          </a:p>
        </p:txBody>
      </p:sp>
    </p:spTree>
    <p:extLst>
      <p:ext uri="{BB962C8B-B14F-4D97-AF65-F5344CB8AC3E}">
        <p14:creationId xmlns:p14="http://schemas.microsoft.com/office/powerpoint/2010/main" val="7461994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BPI Cycle for Continuous Improvement</a:t>
            </a:r>
          </a:p>
        </p:txBody>
      </p:sp>
      <p:sp>
        <p:nvSpPr>
          <p:cNvPr id="3" name="Content Placeholder 2"/>
          <p:cNvSpPr>
            <a:spLocks noGrp="1"/>
          </p:cNvSpPr>
          <p:nvPr>
            <p:ph idx="1"/>
          </p:nvPr>
        </p:nvSpPr>
        <p:spPr/>
        <p:txBody>
          <a:bodyPr/>
          <a:lstStyle/>
          <a:p>
            <a:r>
              <a:rPr lang="en-US" b="1" dirty="0"/>
              <a:t>Identify: </a:t>
            </a:r>
            <a:r>
              <a:rPr lang="en-US" dirty="0"/>
              <a:t>The first step involves identifying processes that need improvement. This can be done through data analysis, employee feedback, or customer complaints.</a:t>
            </a:r>
          </a:p>
          <a:p>
            <a:r>
              <a:rPr lang="en-US" b="1" dirty="0"/>
              <a:t>Analyze: </a:t>
            </a:r>
            <a:r>
              <a:rPr lang="en-US" dirty="0"/>
              <a:t>Once a process is chosen, it's thoroughly analyzed to understand its current state. This involves mapping the process flow, identifying bottlenecks, and assessing performance metrics.</a:t>
            </a:r>
          </a:p>
        </p:txBody>
      </p:sp>
    </p:spTree>
    <p:extLst>
      <p:ext uri="{BB962C8B-B14F-4D97-AF65-F5344CB8AC3E}">
        <p14:creationId xmlns:p14="http://schemas.microsoft.com/office/powerpoint/2010/main" val="2407030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4791"/>
            <a:ext cx="10515600" cy="5592172"/>
          </a:xfrm>
        </p:spPr>
        <p:txBody>
          <a:bodyPr>
            <a:normAutofit/>
          </a:bodyPr>
          <a:lstStyle/>
          <a:p>
            <a:r>
              <a:rPr lang="en-US" b="1" dirty="0"/>
              <a:t>Redesign: </a:t>
            </a:r>
            <a:r>
              <a:rPr lang="en-US" dirty="0"/>
              <a:t>Based on the analysis, the process is redesigned to eliminate inefficiencies and improve performance. This could involve automation, streamlining steps, or introducing new technologies.</a:t>
            </a:r>
          </a:p>
          <a:p>
            <a:r>
              <a:rPr lang="en-US" b="1" dirty="0"/>
              <a:t>Implement: </a:t>
            </a:r>
            <a:r>
              <a:rPr lang="en-US" dirty="0"/>
              <a:t>The redesigned process is then implemented, often in phases, to ensure a smooth transition. Training and communication are crucial during this stage.</a:t>
            </a:r>
          </a:p>
          <a:p>
            <a:r>
              <a:rPr lang="en-US" b="1" dirty="0"/>
              <a:t>Monitor and Measure: </a:t>
            </a:r>
            <a:r>
              <a:rPr lang="en-US" dirty="0"/>
              <a:t>The newly implemented process is closely monitored to track its performance against set metrics. This allows for adjustments and further improvement if needed.</a:t>
            </a:r>
          </a:p>
        </p:txBody>
      </p:sp>
    </p:spTree>
    <p:extLst>
      <p:ext uri="{BB962C8B-B14F-4D97-AF65-F5344CB8AC3E}">
        <p14:creationId xmlns:p14="http://schemas.microsoft.com/office/powerpoint/2010/main" val="320355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75"/>
            <a:ext cx="10515600" cy="804456"/>
          </a:xfrm>
        </p:spPr>
        <p:txBody>
          <a:bodyPr/>
          <a:lstStyle/>
          <a:p>
            <a:r>
              <a:rPr lang="en-US" b="1" dirty="0"/>
              <a:t>Popular BPI Methodologies</a:t>
            </a:r>
          </a:p>
        </p:txBody>
      </p:sp>
      <p:sp>
        <p:nvSpPr>
          <p:cNvPr id="3" name="Content Placeholder 2"/>
          <p:cNvSpPr>
            <a:spLocks noGrp="1"/>
          </p:cNvSpPr>
          <p:nvPr>
            <p:ph idx="1"/>
          </p:nvPr>
        </p:nvSpPr>
        <p:spPr>
          <a:xfrm>
            <a:off x="838200" y="1041991"/>
            <a:ext cx="10515600" cy="5134972"/>
          </a:xfrm>
        </p:spPr>
        <p:txBody>
          <a:bodyPr>
            <a:normAutofit/>
          </a:bodyPr>
          <a:lstStyle/>
          <a:p>
            <a:r>
              <a:rPr lang="en-US" dirty="0"/>
              <a:t>In business process improvement, several frameworks and techniques are frequently used. These provide an organized strategy for identifying, evaluating, and improving processes.</a:t>
            </a:r>
            <a:br>
              <a:rPr lang="en-US" dirty="0"/>
            </a:br>
            <a:r>
              <a:rPr lang="en-US" b="1" dirty="0"/>
              <a:t>Several of the most popular approaches are as follows:</a:t>
            </a:r>
          </a:p>
          <a:p>
            <a:pPr lvl="1"/>
            <a:r>
              <a:rPr lang="en-US" b="1" dirty="0"/>
              <a:t>Six Sigma: </a:t>
            </a:r>
            <a:r>
              <a:rPr lang="en-US" dirty="0"/>
              <a:t>This data-driven approach focuses on minimizing defects and</a:t>
            </a:r>
            <a:br>
              <a:rPr lang="en-US" dirty="0"/>
            </a:br>
            <a:r>
              <a:rPr lang="en-US" dirty="0"/>
              <a:t>variations in processes. It utilizes statistical tools to identify and eliminate</a:t>
            </a:r>
            <a:br>
              <a:rPr lang="en-US" dirty="0"/>
            </a:br>
            <a:r>
              <a:rPr lang="en-US" dirty="0"/>
              <a:t>sources of errors, leading to higher quality and efficiency.</a:t>
            </a:r>
          </a:p>
          <a:p>
            <a:pPr lvl="1"/>
            <a:r>
              <a:rPr lang="en-US" b="1" dirty="0"/>
              <a:t>Lean Manufacturing: </a:t>
            </a:r>
            <a:r>
              <a:rPr lang="en-US" dirty="0"/>
              <a:t>Lean focuses on eliminating waste within processes. It emphasizes streamlining workflows, minimizing unnecessary steps, and</a:t>
            </a:r>
            <a:br>
              <a:rPr lang="en-US" dirty="0"/>
            </a:br>
            <a:r>
              <a:rPr lang="en-US" dirty="0"/>
              <a:t>optimizing resource utilization.</a:t>
            </a:r>
          </a:p>
        </p:txBody>
      </p:sp>
    </p:spTree>
    <p:extLst>
      <p:ext uri="{BB962C8B-B14F-4D97-AF65-F5344CB8AC3E}">
        <p14:creationId xmlns:p14="http://schemas.microsoft.com/office/powerpoint/2010/main" val="31104295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9219"/>
            <a:ext cx="10515600" cy="5517744"/>
          </a:xfrm>
        </p:spPr>
        <p:txBody>
          <a:bodyPr>
            <a:normAutofit/>
          </a:bodyPr>
          <a:lstStyle/>
          <a:p>
            <a:r>
              <a:rPr lang="en-US" b="1" dirty="0"/>
              <a:t>Lean Six Sigma: </a:t>
            </a:r>
            <a:r>
              <a:rPr lang="en-US" dirty="0"/>
              <a:t>Combining the principles of Lean Manufacturing and Six Sigma, this methodology focuses on eliminating waste, reducing variation, and  improving process efficiency and quality. Lean Six Sigma utilizes a data-driven approach and a set of tools and techniques such as DMAIC (Define, Measure, Analyze, Improve, Control) to drive continuous improvement.</a:t>
            </a:r>
          </a:p>
          <a:p>
            <a:r>
              <a:rPr lang="en-US" b="1" dirty="0"/>
              <a:t>Kaizen: </a:t>
            </a:r>
            <a:r>
              <a:rPr lang="en-US" dirty="0"/>
              <a:t>This Japanese philosophy promotes continuous improvement. It encourages a culture where everyone in the organization is empowered to identify and suggest improvements in their daily processes.</a:t>
            </a:r>
          </a:p>
        </p:txBody>
      </p:sp>
    </p:spTree>
    <p:extLst>
      <p:ext uri="{BB962C8B-B14F-4D97-AF65-F5344CB8AC3E}">
        <p14:creationId xmlns:p14="http://schemas.microsoft.com/office/powerpoint/2010/main" val="10871771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364"/>
            <a:ext cx="10515600" cy="1325563"/>
          </a:xfrm>
        </p:spPr>
        <p:txBody>
          <a:bodyPr>
            <a:normAutofit/>
          </a:bodyPr>
          <a:lstStyle/>
          <a:p>
            <a:r>
              <a:rPr lang="en-US" b="1" dirty="0"/>
              <a:t>Some examples showcasing how organizations across the globe have leveraged BPI:</a:t>
            </a:r>
            <a:endParaRPr lang="en-US" dirty="0"/>
          </a:p>
        </p:txBody>
      </p:sp>
      <p:sp>
        <p:nvSpPr>
          <p:cNvPr id="3" name="Content Placeholder 2"/>
          <p:cNvSpPr>
            <a:spLocks noGrp="1"/>
          </p:cNvSpPr>
          <p:nvPr>
            <p:ph idx="1"/>
          </p:nvPr>
        </p:nvSpPr>
        <p:spPr>
          <a:xfrm>
            <a:off x="838200" y="1637523"/>
            <a:ext cx="10515600" cy="5029096"/>
          </a:xfrm>
        </p:spPr>
        <p:txBody>
          <a:bodyPr>
            <a:normAutofit fontScale="92500"/>
          </a:bodyPr>
          <a:lstStyle/>
          <a:p>
            <a:r>
              <a:rPr lang="en-US" b="1" dirty="0"/>
              <a:t>Retail Giant Streamlines Supply Chain: </a:t>
            </a:r>
            <a:r>
              <a:rPr lang="en-US" dirty="0"/>
              <a:t>A major retail chain analyzes its</a:t>
            </a:r>
            <a:br>
              <a:rPr lang="en-US" dirty="0"/>
            </a:br>
            <a:r>
              <a:rPr lang="en-US" dirty="0"/>
              <a:t>supply chain and identifies bottlenecks at warehouses. By implementing</a:t>
            </a:r>
            <a:br>
              <a:rPr lang="en-US" dirty="0"/>
            </a:br>
            <a:r>
              <a:rPr lang="en-US" dirty="0"/>
              <a:t>automated picking and packing systems, they significantly reduce delivery</a:t>
            </a:r>
            <a:br>
              <a:rPr lang="en-US" dirty="0"/>
            </a:br>
            <a:r>
              <a:rPr lang="en-US" dirty="0"/>
              <a:t>times and improve inventory management.</a:t>
            </a:r>
          </a:p>
          <a:p>
            <a:r>
              <a:rPr lang="en-US" b="1" dirty="0"/>
              <a:t>Healthcare Provider Improves Patient Experience: </a:t>
            </a:r>
            <a:r>
              <a:rPr lang="en-US" dirty="0"/>
              <a:t>A hospital identifies</a:t>
            </a:r>
            <a:br>
              <a:rPr lang="en-US" dirty="0"/>
            </a:br>
            <a:r>
              <a:rPr lang="en-US" dirty="0"/>
              <a:t>long wait times for appointments as a major pain point. They streamline the appointment scheduling process through an online portal, reducing wait times and improving patient satisfaction.</a:t>
            </a:r>
          </a:p>
          <a:p>
            <a:r>
              <a:rPr lang="en-US" b="1" dirty="0"/>
              <a:t>Financial Institution Automates Loan Processing: </a:t>
            </a:r>
            <a:r>
              <a:rPr lang="en-US" dirty="0"/>
              <a:t>A bank implements an</a:t>
            </a:r>
            <a:br>
              <a:rPr lang="en-US" dirty="0"/>
            </a:br>
            <a:r>
              <a:rPr lang="en-US" dirty="0"/>
              <a:t>automated loan processing system. This not only reduces errors but also</a:t>
            </a:r>
            <a:br>
              <a:rPr lang="en-US" dirty="0"/>
            </a:br>
            <a:r>
              <a:rPr lang="en-US" dirty="0"/>
              <a:t>expedites loan approvals, leading to faster service for customers.</a:t>
            </a:r>
          </a:p>
        </p:txBody>
      </p:sp>
    </p:spTree>
    <p:extLst>
      <p:ext uri="{BB962C8B-B14F-4D97-AF65-F5344CB8AC3E}">
        <p14:creationId xmlns:p14="http://schemas.microsoft.com/office/powerpoint/2010/main" val="38454605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61926"/>
          </a:xfrm>
        </p:spPr>
        <p:txBody>
          <a:bodyPr/>
          <a:lstStyle/>
          <a:p>
            <a:r>
              <a:rPr lang="en-US" b="1" dirty="0"/>
              <a:t>Business Process Reengineering</a:t>
            </a:r>
            <a:endParaRPr lang="en-US" dirty="0"/>
          </a:p>
        </p:txBody>
      </p:sp>
      <p:sp>
        <p:nvSpPr>
          <p:cNvPr id="3" name="Content Placeholder 2"/>
          <p:cNvSpPr>
            <a:spLocks noGrp="1"/>
          </p:cNvSpPr>
          <p:nvPr>
            <p:ph idx="1"/>
          </p:nvPr>
        </p:nvSpPr>
        <p:spPr>
          <a:xfrm>
            <a:off x="838200" y="1275907"/>
            <a:ext cx="10515600" cy="4901056"/>
          </a:xfrm>
        </p:spPr>
        <p:txBody>
          <a:bodyPr>
            <a:normAutofit fontScale="92500" lnSpcReduction="10000"/>
          </a:bodyPr>
          <a:lstStyle/>
          <a:p>
            <a:r>
              <a:rPr lang="en-US" dirty="0"/>
              <a:t>Maintaining obsolete procedures can easily result in stagnation in this fast-paced world of business. </a:t>
            </a:r>
          </a:p>
          <a:p>
            <a:r>
              <a:rPr lang="en-US" dirty="0"/>
              <a:t>The effective method to remove these constraints is revealed to be business process reengineering, or BPR. </a:t>
            </a:r>
          </a:p>
          <a:p>
            <a:r>
              <a:rPr lang="en-US" dirty="0"/>
              <a:t>Attempting to achieve fundamental gains in performance, it is an ultimate approach that questions the basic basis of the way work is done. </a:t>
            </a:r>
          </a:p>
          <a:p>
            <a:r>
              <a:rPr lang="en-US" dirty="0"/>
              <a:t>Business Process Reengineering (BPR) is one of the most promising and prospective approaches in the field of organizational transformation and strategic renewal. </a:t>
            </a:r>
          </a:p>
          <a:p>
            <a:r>
              <a:rPr lang="en-US" dirty="0"/>
              <a:t>A radical break from conventional methods of process improvement, business process reengineering calls for a complete redesign of company procedures to produce ground-breaking increases in productivity, competitiveness, and performance.</a:t>
            </a:r>
          </a:p>
        </p:txBody>
      </p:sp>
    </p:spTree>
    <p:extLst>
      <p:ext uri="{BB962C8B-B14F-4D97-AF65-F5344CB8AC3E}">
        <p14:creationId xmlns:p14="http://schemas.microsoft.com/office/powerpoint/2010/main" val="9607450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4791"/>
            <a:ext cx="10515600" cy="5592172"/>
          </a:xfrm>
        </p:spPr>
        <p:txBody>
          <a:bodyPr>
            <a:normAutofit/>
          </a:bodyPr>
          <a:lstStyle/>
          <a:p>
            <a:r>
              <a:rPr lang="en-US" dirty="0"/>
              <a:t>Business Process Reengineering (BPR) emerged in the early 1990s as a response to the limitations of incremental process improvement methodologies. </a:t>
            </a:r>
          </a:p>
          <a:p>
            <a:r>
              <a:rPr lang="en-US" dirty="0"/>
              <a:t>Unlike traditional approaches, which focus on optimizing existing processes to achieve marginal gains, BPR advocates for an extensive reinvention of processes from the ground up. </a:t>
            </a:r>
          </a:p>
          <a:p>
            <a:r>
              <a:rPr lang="en-US" dirty="0"/>
              <a:t>The goal of BPR is not simply to make processes more efficient or effective but to fundamentally rethink how work is performed, leveraging technology, innovation, and best practices to achieve</a:t>
            </a:r>
            <a:br>
              <a:rPr lang="en-US" dirty="0"/>
            </a:br>
            <a:r>
              <a:rPr lang="en-US" dirty="0"/>
              <a:t>dramatic improvements in performance and outcomes. </a:t>
            </a:r>
          </a:p>
        </p:txBody>
      </p:sp>
    </p:spTree>
    <p:extLst>
      <p:ext uri="{BB962C8B-B14F-4D97-AF65-F5344CB8AC3E}">
        <p14:creationId xmlns:p14="http://schemas.microsoft.com/office/powerpoint/2010/main" val="32565537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04456"/>
          </a:xfrm>
        </p:spPr>
        <p:txBody>
          <a:bodyPr>
            <a:normAutofit/>
          </a:bodyPr>
          <a:lstStyle/>
          <a:p>
            <a:r>
              <a:rPr lang="en-US" dirty="0"/>
              <a:t>Business Process Reengineering involves:</a:t>
            </a:r>
          </a:p>
        </p:txBody>
      </p:sp>
      <p:sp>
        <p:nvSpPr>
          <p:cNvPr id="3" name="Content Placeholder 2"/>
          <p:cNvSpPr>
            <a:spLocks noGrp="1"/>
          </p:cNvSpPr>
          <p:nvPr>
            <p:ph idx="1"/>
          </p:nvPr>
        </p:nvSpPr>
        <p:spPr>
          <a:xfrm>
            <a:off x="838200" y="1169582"/>
            <a:ext cx="10515600" cy="5007381"/>
          </a:xfrm>
        </p:spPr>
        <p:txBody>
          <a:bodyPr>
            <a:normAutofit/>
          </a:bodyPr>
          <a:lstStyle/>
          <a:p>
            <a:r>
              <a:rPr lang="en-US" b="1" dirty="0"/>
              <a:t>Strategic Planning: </a:t>
            </a:r>
            <a:r>
              <a:rPr lang="en-US" dirty="0"/>
              <a:t>The first step involves defining the organization's overall goals and identifying areas where BPR can bring the most significant value.</a:t>
            </a:r>
          </a:p>
          <a:p>
            <a:r>
              <a:rPr lang="en-US" b="1" dirty="0"/>
              <a:t>Process Analysis: </a:t>
            </a:r>
            <a:r>
              <a:rPr lang="en-US" dirty="0"/>
              <a:t>Existing processes are meticulously analyzed to</a:t>
            </a:r>
            <a:br>
              <a:rPr lang="en-US" dirty="0"/>
            </a:br>
            <a:r>
              <a:rPr lang="en-US" dirty="0"/>
              <a:t>understand their current state, including identifying bottlenecks, inefficiencies, and areas of duplication.</a:t>
            </a:r>
          </a:p>
          <a:p>
            <a:r>
              <a:rPr lang="en-US" b="1" dirty="0"/>
              <a:t>Radical Redesign: </a:t>
            </a:r>
            <a:r>
              <a:rPr lang="en-US" dirty="0"/>
              <a:t>BPR challenges organizations to question existing</a:t>
            </a:r>
            <a:br>
              <a:rPr lang="en-US" dirty="0"/>
            </a:br>
            <a:r>
              <a:rPr lang="en-US" dirty="0"/>
              <a:t>assumptions, norms, and practices and to reimagine processes in innovative and unconventional ways. This may involve eliminating redundant steps, automating manual tasks, or reorganizing workflow sequences to achieve greater efficiency and effectiveness.</a:t>
            </a:r>
          </a:p>
        </p:txBody>
      </p:sp>
    </p:spTree>
    <p:extLst>
      <p:ext uri="{BB962C8B-B14F-4D97-AF65-F5344CB8AC3E}">
        <p14:creationId xmlns:p14="http://schemas.microsoft.com/office/powerpoint/2010/main" val="1899418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199" y="318976"/>
            <a:ext cx="11291777" cy="6188149"/>
          </a:xfrm>
        </p:spPr>
        <p:txBody>
          <a:bodyPr>
            <a:normAutofit fontScale="92500" lnSpcReduction="20000"/>
          </a:bodyPr>
          <a:lstStyle/>
          <a:p>
            <a:r>
              <a:rPr lang="en-US" b="1" dirty="0"/>
              <a:t>Focus on Value: </a:t>
            </a:r>
            <a:r>
              <a:rPr lang="en-US" dirty="0"/>
              <a:t>BPR places a strong emphasis on delivering value to customers and stakeholders. Processes are designed and optimized with the end-user in mind, ensuring that every activity contributes directly to the creation of value and the fulfillment of customer needs and expectations.</a:t>
            </a:r>
          </a:p>
          <a:p>
            <a:r>
              <a:rPr lang="en-US" b="1" dirty="0"/>
              <a:t>Cross-Functional Integration: </a:t>
            </a:r>
            <a:r>
              <a:rPr lang="en-US" dirty="0"/>
              <a:t>BPR encourages collaboration and integration across different departments, functions, and levels of the organization. By breaking down silos and fostering a culture of teamwork and cooperation, BPR enables organizations to streamline workflows, reduce handoffs, and enhance communication and coordination.</a:t>
            </a:r>
          </a:p>
          <a:p>
            <a:r>
              <a:rPr lang="en-US" b="1" dirty="0"/>
              <a:t>Leveraging Technology: </a:t>
            </a:r>
            <a:r>
              <a:rPr lang="en-US" dirty="0"/>
              <a:t>Technology plays a central role in BPR, serving as an enabler of innovation, automation, and efficiency. Organizations leverage cutting-edge technologies such as artificial intelligence, robotic process automation, and data analytics to redesign processes, enhance decision- making, and drive digital transformation.</a:t>
            </a:r>
          </a:p>
          <a:p>
            <a:r>
              <a:rPr lang="en-US" b="1" dirty="0"/>
              <a:t>Implementation: </a:t>
            </a:r>
            <a:r>
              <a:rPr lang="en-US" dirty="0"/>
              <a:t>The newly designed processes are then implemented, often in phases, to minimize disruption and allow for adjustments. Training and communication are crucial during this stage to ensure employee buy-in.</a:t>
            </a:r>
          </a:p>
          <a:p>
            <a:r>
              <a:rPr lang="en-US" b="1" dirty="0"/>
              <a:t>Monitoring and Evaluation: </a:t>
            </a:r>
            <a:r>
              <a:rPr lang="en-US" dirty="0"/>
              <a:t>The effectiveness of the reengineered processes is continuously monitored and evaluated. This allows for further refinements</a:t>
            </a:r>
            <a:br>
              <a:rPr lang="en-US" dirty="0"/>
            </a:br>
            <a:r>
              <a:rPr lang="en-US" dirty="0"/>
              <a:t> and ensures ongoing improvement.</a:t>
            </a:r>
          </a:p>
        </p:txBody>
      </p:sp>
    </p:spTree>
    <p:extLst>
      <p:ext uri="{BB962C8B-B14F-4D97-AF65-F5344CB8AC3E}">
        <p14:creationId xmlns:p14="http://schemas.microsoft.com/office/powerpoint/2010/main" val="3747051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Core objectives are to achieve dramatic improvements in critical areas:</a:t>
            </a:r>
          </a:p>
        </p:txBody>
      </p:sp>
      <p:sp>
        <p:nvSpPr>
          <p:cNvPr id="3" name="Content Placeholder 2"/>
          <p:cNvSpPr>
            <a:spLocks noGrp="1"/>
          </p:cNvSpPr>
          <p:nvPr>
            <p:ph idx="1"/>
          </p:nvPr>
        </p:nvSpPr>
        <p:spPr/>
        <p:txBody>
          <a:bodyPr/>
          <a:lstStyle/>
          <a:p>
            <a:r>
              <a:rPr lang="en-US" b="1" dirty="0"/>
              <a:t>Cost Reduction: </a:t>
            </a:r>
            <a:r>
              <a:rPr lang="en-US" dirty="0"/>
              <a:t>Eliminating redundancies and streamlining processes</a:t>
            </a:r>
            <a:br>
              <a:rPr lang="en-US" dirty="0"/>
            </a:br>
            <a:r>
              <a:rPr lang="en-US" dirty="0"/>
              <a:t>significantly reduce operational costs.</a:t>
            </a:r>
          </a:p>
          <a:p>
            <a:r>
              <a:rPr lang="en-US" b="1" dirty="0"/>
              <a:t>Cycle Time Shortening: </a:t>
            </a:r>
            <a:r>
              <a:rPr lang="en-US" dirty="0"/>
              <a:t>BPR aims to deliver products and services much faster, enhancing responsiveness to customer demands.</a:t>
            </a:r>
          </a:p>
          <a:p>
            <a:r>
              <a:rPr lang="en-US" b="1" dirty="0"/>
              <a:t>Quality Enhancement: </a:t>
            </a:r>
            <a:r>
              <a:rPr lang="en-US" dirty="0"/>
              <a:t>Reengineered processes often involve stricter quality control measures and improved error prevention methods.</a:t>
            </a:r>
          </a:p>
          <a:p>
            <a:r>
              <a:rPr lang="en-US" b="1" dirty="0"/>
              <a:t>Customer Satisfaction: </a:t>
            </a:r>
            <a:r>
              <a:rPr lang="en-US" dirty="0"/>
              <a:t>Faster turnaround times, fewer errors, and a more responsive organization contribute to a more satisfied customer base.</a:t>
            </a:r>
          </a:p>
        </p:txBody>
      </p:sp>
    </p:spTree>
    <p:extLst>
      <p:ext uri="{BB962C8B-B14F-4D97-AF65-F5344CB8AC3E}">
        <p14:creationId xmlns:p14="http://schemas.microsoft.com/office/powerpoint/2010/main" val="3653689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BPR is driven by a set of core principles that guide its implementation:</a:t>
            </a:r>
          </a:p>
        </p:txBody>
      </p:sp>
      <p:sp>
        <p:nvSpPr>
          <p:cNvPr id="3" name="Content Placeholder 2"/>
          <p:cNvSpPr>
            <a:spLocks noGrp="1"/>
          </p:cNvSpPr>
          <p:nvPr>
            <p:ph idx="1"/>
          </p:nvPr>
        </p:nvSpPr>
        <p:spPr/>
        <p:txBody>
          <a:bodyPr>
            <a:normAutofit lnSpcReduction="10000"/>
          </a:bodyPr>
          <a:lstStyle/>
          <a:p>
            <a:r>
              <a:rPr lang="en-US" b="1" dirty="0"/>
              <a:t>Focus on Outcomes: </a:t>
            </a:r>
            <a:r>
              <a:rPr lang="en-US" dirty="0"/>
              <a:t>Reengineering prioritizes achieving desired business outcomes over adhering to existing procedures.</a:t>
            </a:r>
          </a:p>
          <a:p>
            <a:r>
              <a:rPr lang="en-US" b="1" dirty="0"/>
              <a:t>Challenge Assumptions: </a:t>
            </a:r>
            <a:r>
              <a:rPr lang="en-US" dirty="0"/>
              <a:t>Traditional practices are questioned, and a willingness to embrace entirely new approaches is essential.</a:t>
            </a:r>
          </a:p>
          <a:p>
            <a:r>
              <a:rPr lang="en-US" b="1" dirty="0"/>
              <a:t>Leverage Technology: </a:t>
            </a:r>
            <a:r>
              <a:rPr lang="en-US" dirty="0"/>
              <a:t>BPR encourages the use of technology to automate tasks, improve communication, and streamline workflows.</a:t>
            </a:r>
          </a:p>
          <a:p>
            <a:r>
              <a:rPr lang="en-US" b="1" dirty="0"/>
              <a:t>Process Simplification: </a:t>
            </a:r>
            <a:r>
              <a:rPr lang="en-US" dirty="0"/>
              <a:t>Complexity is the enemy. BPR aims to create clear, concise, and easily understood processes.</a:t>
            </a:r>
          </a:p>
          <a:p>
            <a:r>
              <a:rPr lang="en-US" b="1" dirty="0"/>
              <a:t>Customer Centricity: </a:t>
            </a:r>
            <a:r>
              <a:rPr lang="en-US" dirty="0"/>
              <a:t>The entire process redesign revolves around delivering superior value to the customer.</a:t>
            </a:r>
          </a:p>
        </p:txBody>
      </p:sp>
    </p:spTree>
    <p:extLst>
      <p:ext uri="{BB962C8B-B14F-4D97-AF65-F5344CB8AC3E}">
        <p14:creationId xmlns:p14="http://schemas.microsoft.com/office/powerpoint/2010/main" val="31456508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Methodologies of Business Process Reengineering</a:t>
            </a:r>
          </a:p>
        </p:txBody>
      </p:sp>
      <p:sp>
        <p:nvSpPr>
          <p:cNvPr id="3" name="Content Placeholder 2"/>
          <p:cNvSpPr>
            <a:spLocks noGrp="1"/>
          </p:cNvSpPr>
          <p:nvPr>
            <p:ph idx="1"/>
          </p:nvPr>
        </p:nvSpPr>
        <p:spPr/>
        <p:txBody>
          <a:bodyPr>
            <a:normAutofit/>
          </a:bodyPr>
          <a:lstStyle/>
          <a:p>
            <a:r>
              <a:rPr lang="en-US" dirty="0"/>
              <a:t>Several frameworks and approaches have been created to help businesses with the Business Process Reengineering process. </a:t>
            </a:r>
          </a:p>
          <a:p>
            <a:r>
              <a:rPr lang="en-US" dirty="0"/>
              <a:t>Certain approaches may differ according on the initiative's goals and context, but some typical techniques are as follows:</a:t>
            </a:r>
          </a:p>
          <a:p>
            <a:pPr lvl="1"/>
            <a:r>
              <a:rPr lang="en-US" b="1" dirty="0"/>
              <a:t>Michael Hammer's Seven Principles: </a:t>
            </a:r>
            <a:r>
              <a:rPr lang="en-US" dirty="0"/>
              <a:t>Michael Hammer, one of the pioneers of BPR, outlined seven key principles that serve as guiding tenets for reengineering efforts. </a:t>
            </a:r>
          </a:p>
          <a:p>
            <a:pPr lvl="1"/>
            <a:r>
              <a:rPr lang="en-US" dirty="0"/>
              <a:t>These principles include organizing around outcomes, focusing on end-to-end processes, and designing processes based on customer needs.</a:t>
            </a:r>
          </a:p>
        </p:txBody>
      </p:sp>
    </p:spTree>
    <p:extLst>
      <p:ext uri="{BB962C8B-B14F-4D97-AF65-F5344CB8AC3E}">
        <p14:creationId xmlns:p14="http://schemas.microsoft.com/office/powerpoint/2010/main" val="32958205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27321"/>
            <a:ext cx="10515600" cy="5549642"/>
          </a:xfrm>
        </p:spPr>
        <p:txBody>
          <a:bodyPr>
            <a:normAutofit/>
          </a:bodyPr>
          <a:lstStyle/>
          <a:p>
            <a:pPr lvl="1"/>
            <a:r>
              <a:rPr lang="en-US" b="1" dirty="0"/>
              <a:t>Hammer and </a:t>
            </a:r>
            <a:r>
              <a:rPr lang="en-US" b="1" dirty="0" err="1"/>
              <a:t>Champy's</a:t>
            </a:r>
            <a:r>
              <a:rPr lang="en-US" b="1" dirty="0"/>
              <a:t> Reengineering Process: </a:t>
            </a:r>
            <a:r>
              <a:rPr lang="en-US" dirty="0"/>
              <a:t>Hammer and </a:t>
            </a:r>
            <a:r>
              <a:rPr lang="en-US" dirty="0" err="1"/>
              <a:t>Champy</a:t>
            </a:r>
            <a:r>
              <a:rPr lang="en-US" dirty="0"/>
              <a:t> proposed a structured approach to BPR, consisting of seven steps: </a:t>
            </a:r>
            <a:r>
              <a:rPr lang="en-US" b="1" dirty="0"/>
              <a:t>develop the business vision and process objectives, identify processes to be reengineered, understand and measure existing processes, identify enabling technologies, redesign processes, implement changes, and continuously improve.</a:t>
            </a:r>
            <a:br>
              <a:rPr lang="en-US" b="1" dirty="0"/>
            </a:br>
            <a:endParaRPr lang="en-US" b="1" dirty="0"/>
          </a:p>
          <a:p>
            <a:pPr lvl="1"/>
            <a:r>
              <a:rPr lang="en-US" b="1" dirty="0"/>
              <a:t>Six Sigma Methodology: </a:t>
            </a:r>
            <a:r>
              <a:rPr lang="en-US" dirty="0"/>
              <a:t>While traditionally associated with incremental process improvement, Six Sigma principles and tools can also be applied to Business Process Reengineering efforts. Six Sigma methodologies such as </a:t>
            </a:r>
            <a:r>
              <a:rPr lang="en-US" b="1" dirty="0"/>
              <a:t>DMAIC (Define, Measure, Analyze, Improve, Control) </a:t>
            </a:r>
            <a:r>
              <a:rPr lang="en-US" dirty="0"/>
              <a:t>provide a structured framework for identifying, analyzing, and improving processes to achieve desired outcomes.</a:t>
            </a:r>
          </a:p>
        </p:txBody>
      </p:sp>
    </p:spTree>
    <p:extLst>
      <p:ext uri="{BB962C8B-B14F-4D97-AF65-F5344CB8AC3E}">
        <p14:creationId xmlns:p14="http://schemas.microsoft.com/office/powerpoint/2010/main" val="26843549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Benefits of Business Process Reengineering</a:t>
            </a:r>
          </a:p>
        </p:txBody>
      </p:sp>
      <p:sp>
        <p:nvSpPr>
          <p:cNvPr id="3" name="Content Placeholder 2"/>
          <p:cNvSpPr>
            <a:spLocks noGrp="1"/>
          </p:cNvSpPr>
          <p:nvPr>
            <p:ph idx="1"/>
          </p:nvPr>
        </p:nvSpPr>
        <p:spPr/>
        <p:txBody>
          <a:bodyPr/>
          <a:lstStyle/>
          <a:p>
            <a:r>
              <a:rPr lang="en-US" dirty="0"/>
              <a:t>The adoption of Business Process Reengineering can yield a multitude of benefits for organizations, including:</a:t>
            </a:r>
            <a:br>
              <a:rPr lang="en-US" dirty="0"/>
            </a:br>
            <a:endParaRPr lang="en-US" dirty="0"/>
          </a:p>
          <a:p>
            <a:pPr lvl="1"/>
            <a:r>
              <a:rPr lang="en-US" b="1" dirty="0"/>
              <a:t>Dramatic Performance Improvement: </a:t>
            </a:r>
            <a:r>
              <a:rPr lang="en-US" dirty="0"/>
              <a:t>BPR has the potential to deliver significant improvements in process efficiency, cycle times, and quality, leading to enhanced productivity and performance.</a:t>
            </a:r>
          </a:p>
          <a:p>
            <a:pPr lvl="1"/>
            <a:endParaRPr lang="en-US" dirty="0"/>
          </a:p>
          <a:p>
            <a:pPr lvl="1"/>
            <a:r>
              <a:rPr lang="en-US" b="1" dirty="0"/>
              <a:t>Enhanced Competitiveness: </a:t>
            </a:r>
            <a:r>
              <a:rPr lang="en-US" dirty="0"/>
              <a:t>Reengineered processes give businesses a competitive edge by enabling them to operate more efficiently.</a:t>
            </a:r>
          </a:p>
        </p:txBody>
      </p:sp>
    </p:spTree>
    <p:extLst>
      <p:ext uri="{BB962C8B-B14F-4D97-AF65-F5344CB8AC3E}">
        <p14:creationId xmlns:p14="http://schemas.microsoft.com/office/powerpoint/2010/main" val="42560274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93405"/>
            <a:ext cx="10515600" cy="5783558"/>
          </a:xfrm>
        </p:spPr>
        <p:txBody>
          <a:bodyPr>
            <a:normAutofit/>
          </a:bodyPr>
          <a:lstStyle/>
          <a:p>
            <a:pPr lvl="1"/>
            <a:r>
              <a:rPr lang="en-US" b="1" dirty="0"/>
              <a:t>Cost Reduction: </a:t>
            </a:r>
            <a:r>
              <a:rPr lang="en-US" dirty="0"/>
              <a:t>By eliminating waste, redundancies, and inefficiencies, BPR can result in substantial cost savings for organizations, improving profitability and financial sustainability.</a:t>
            </a:r>
          </a:p>
          <a:p>
            <a:pPr lvl="1"/>
            <a:endParaRPr lang="en-US" dirty="0"/>
          </a:p>
          <a:p>
            <a:pPr lvl="1"/>
            <a:r>
              <a:rPr lang="en-US" b="1" dirty="0"/>
              <a:t>Enhanced Customer Satisfaction: </a:t>
            </a:r>
            <a:r>
              <a:rPr lang="en-US" dirty="0"/>
              <a:t>BPR focuses on delivering value to customers and stakeholders, resulting in improved customer experiences, increased satisfaction, and strengthened loyalty.</a:t>
            </a:r>
          </a:p>
          <a:p>
            <a:pPr lvl="1"/>
            <a:endParaRPr lang="en-US" dirty="0"/>
          </a:p>
          <a:p>
            <a:pPr lvl="1"/>
            <a:r>
              <a:rPr lang="en-US" b="1" dirty="0"/>
              <a:t>Agility and Adaptability: </a:t>
            </a:r>
            <a:r>
              <a:rPr lang="en-US" dirty="0"/>
              <a:t>BPR enables organizations to respond more quickly to changing market conditions, emerging trends, and competitive pressures, fostering greater agility and resilience in a dynamic business environment.</a:t>
            </a:r>
          </a:p>
          <a:p>
            <a:pPr lvl="1"/>
            <a:endParaRPr lang="en-US" dirty="0"/>
          </a:p>
          <a:p>
            <a:pPr lvl="1"/>
            <a:r>
              <a:rPr lang="en-US" b="1" dirty="0"/>
              <a:t>Innovation and Competitive Advantage: </a:t>
            </a:r>
            <a:r>
              <a:rPr lang="en-US" dirty="0"/>
              <a:t>By fostering a culture of innovation and experimentation, BPR can drive organizational creativity and differentiation, enabling organizations to gain a competitive edge and seize new opportunities in the marketplace.</a:t>
            </a:r>
          </a:p>
        </p:txBody>
      </p:sp>
    </p:spTree>
    <p:extLst>
      <p:ext uri="{BB962C8B-B14F-4D97-AF65-F5344CB8AC3E}">
        <p14:creationId xmlns:p14="http://schemas.microsoft.com/office/powerpoint/2010/main" val="13824844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Challenges of Business Process Reengineering</a:t>
            </a:r>
          </a:p>
        </p:txBody>
      </p:sp>
      <p:sp>
        <p:nvSpPr>
          <p:cNvPr id="3" name="Content Placeholder 2"/>
          <p:cNvSpPr>
            <a:spLocks noGrp="1"/>
          </p:cNvSpPr>
          <p:nvPr>
            <p:ph idx="1"/>
          </p:nvPr>
        </p:nvSpPr>
        <p:spPr/>
        <p:txBody>
          <a:bodyPr>
            <a:normAutofit lnSpcReduction="10000"/>
          </a:bodyPr>
          <a:lstStyle/>
          <a:p>
            <a:r>
              <a:rPr lang="en-US" dirty="0"/>
              <a:t>Despite its potential benefits, Business Process Reengineering is not without its challenges. </a:t>
            </a:r>
          </a:p>
          <a:p>
            <a:r>
              <a:rPr lang="en-US" dirty="0"/>
              <a:t>Some common challenges include:</a:t>
            </a:r>
          </a:p>
          <a:p>
            <a:endParaRPr lang="en-US" dirty="0"/>
          </a:p>
          <a:p>
            <a:pPr lvl="1"/>
            <a:r>
              <a:rPr lang="en-US" b="1" dirty="0"/>
              <a:t>Resistance to Change: </a:t>
            </a:r>
            <a:r>
              <a:rPr lang="en-US" dirty="0"/>
              <a:t>BPR often involves radical changes to established processes, roles, and responsibilities, which can lead to resistance from employees who are accustomed to the status quo. Overcoming resistance and gaining buy-in from stakeholders is critical to the success of BPR initiatives.</a:t>
            </a:r>
          </a:p>
          <a:p>
            <a:pPr lvl="1"/>
            <a:endParaRPr lang="en-US" dirty="0"/>
          </a:p>
          <a:p>
            <a:pPr lvl="1"/>
            <a:r>
              <a:rPr lang="en-US" b="1" dirty="0"/>
              <a:t>High Implementation Cost: </a:t>
            </a:r>
            <a:r>
              <a:rPr lang="en-US" dirty="0"/>
              <a:t>BPR can be a complex and expensive undertaking, requiring significant investments in technology and training.</a:t>
            </a:r>
          </a:p>
        </p:txBody>
      </p:sp>
    </p:spTree>
    <p:extLst>
      <p:ext uri="{BB962C8B-B14F-4D97-AF65-F5344CB8AC3E}">
        <p14:creationId xmlns:p14="http://schemas.microsoft.com/office/powerpoint/2010/main" val="19998619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8464"/>
            <a:ext cx="10515600" cy="6007395"/>
          </a:xfrm>
        </p:spPr>
        <p:txBody>
          <a:bodyPr>
            <a:normAutofit fontScale="92500"/>
          </a:bodyPr>
          <a:lstStyle/>
          <a:p>
            <a:pPr lvl="1"/>
            <a:r>
              <a:rPr lang="en-US" b="1" dirty="0"/>
              <a:t>Complexity and Risk: </a:t>
            </a:r>
            <a:r>
              <a:rPr lang="en-US" dirty="0"/>
              <a:t>BPR initiatives are inherently complex and involve a high degree of risk, particularly when redesigning core business processes or implementing new technologies. Effective risk management and mitigation strategies are essential to minimize disruption and ensure smooth implementation.</a:t>
            </a:r>
          </a:p>
          <a:p>
            <a:pPr lvl="1"/>
            <a:endParaRPr lang="en-US" dirty="0"/>
          </a:p>
          <a:p>
            <a:pPr lvl="1"/>
            <a:r>
              <a:rPr lang="en-US" b="1" dirty="0"/>
              <a:t>Potential for Disruption: </a:t>
            </a:r>
            <a:r>
              <a:rPr lang="en-US" dirty="0"/>
              <a:t>Reengineering existing processes can disrupt normal operations, leading to temporary production slowdowns.</a:t>
            </a:r>
          </a:p>
          <a:p>
            <a:pPr lvl="1"/>
            <a:endParaRPr lang="en-US" dirty="0"/>
          </a:p>
          <a:p>
            <a:pPr lvl="1"/>
            <a:r>
              <a:rPr lang="en-US" b="1" dirty="0"/>
              <a:t>Resource Constraints: </a:t>
            </a:r>
            <a:r>
              <a:rPr lang="en-US" dirty="0"/>
              <a:t>BPR initiatives require significant investments of time, money, and resources, including skilled personnel, technology, infrastructure, and training programs. Securing adequate resources and managing budgetary constraints is a common challenge for organizations embarking on BPR efforts.</a:t>
            </a:r>
          </a:p>
          <a:p>
            <a:pPr lvl="1"/>
            <a:endParaRPr lang="en-US" dirty="0"/>
          </a:p>
          <a:p>
            <a:pPr lvl="1"/>
            <a:r>
              <a:rPr lang="en-US" b="1" dirty="0"/>
              <a:t>Measurement and Evaluation: </a:t>
            </a:r>
            <a:r>
              <a:rPr lang="en-US" dirty="0"/>
              <a:t>Measuring the success and impact of BPR initiatives can be challenging, particularly in terms of quantifying improvements in performance, efficiency, and customer satisfaction. Establishing clear metrics and performance indicators is essential to assess the effectiveness of BPR efforts and track progress over time.</a:t>
            </a:r>
          </a:p>
        </p:txBody>
      </p:sp>
    </p:spTree>
    <p:extLst>
      <p:ext uri="{BB962C8B-B14F-4D97-AF65-F5344CB8AC3E}">
        <p14:creationId xmlns:p14="http://schemas.microsoft.com/office/powerpoint/2010/main" val="34557621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1" y="372140"/>
            <a:ext cx="11217348" cy="5804823"/>
          </a:xfrm>
        </p:spPr>
        <p:txBody>
          <a:bodyPr>
            <a:normAutofit lnSpcReduction="10000"/>
          </a:bodyPr>
          <a:lstStyle/>
          <a:p>
            <a:r>
              <a:rPr lang="en-US" dirty="0"/>
              <a:t>Numerous organizations have successfully implemented Business Process Reengineering initiatives to achieve transformative results. </a:t>
            </a:r>
          </a:p>
          <a:p>
            <a:r>
              <a:rPr lang="en-US" dirty="0"/>
              <a:t>Some notable examples include:</a:t>
            </a:r>
          </a:p>
          <a:p>
            <a:pPr lvl="1"/>
            <a:r>
              <a:rPr lang="en-US" b="1" dirty="0"/>
              <a:t>Ford Motor Company: </a:t>
            </a:r>
            <a:r>
              <a:rPr lang="en-US" dirty="0"/>
              <a:t>In the 1980s, Ford undertook a comprehensive</a:t>
            </a:r>
            <a:br>
              <a:rPr lang="en-US" dirty="0"/>
            </a:br>
            <a:r>
              <a:rPr lang="en-US" dirty="0"/>
              <a:t>Business Process Reengineering initiative to streamline its manufacturing processes and improve product quality. </a:t>
            </a:r>
          </a:p>
          <a:p>
            <a:pPr lvl="1"/>
            <a:r>
              <a:rPr lang="en-US" dirty="0"/>
              <a:t>By implementing lean manufacturing principles and reorganizing assembly lines, Ford achieved significant reductions in cycle times, costs, and defects, leading to improved competitiveness and profitability.</a:t>
            </a:r>
          </a:p>
          <a:p>
            <a:pPr lvl="1"/>
            <a:endParaRPr lang="en-US" dirty="0"/>
          </a:p>
          <a:p>
            <a:pPr lvl="1"/>
            <a:r>
              <a:rPr lang="en-US" b="1" dirty="0"/>
              <a:t>Xerox Corporation: </a:t>
            </a:r>
            <a:r>
              <a:rPr lang="en-US" dirty="0"/>
              <a:t>Facing stiff competition and declining market share in</a:t>
            </a:r>
            <a:br>
              <a:rPr lang="en-US" dirty="0"/>
            </a:br>
            <a:r>
              <a:rPr lang="en-US" dirty="0"/>
              <a:t>the 1990s, Xerox embarked on a large-scale Business Process Reengineering</a:t>
            </a:r>
            <a:br>
              <a:rPr lang="en-US" dirty="0"/>
            </a:br>
            <a:r>
              <a:rPr lang="en-US" dirty="0"/>
              <a:t>effort to revitalize its business. </a:t>
            </a:r>
          </a:p>
          <a:p>
            <a:pPr lvl="1"/>
            <a:r>
              <a:rPr lang="en-US" dirty="0"/>
              <a:t>By redesigning its sales and service processes, implementing new technologies such as digital printing, and restructuring its organization, Xerox achieved dramatic improvements in customer satisfaction, market share, and financial performance.</a:t>
            </a:r>
          </a:p>
          <a:p>
            <a:endParaRPr lang="en-US" dirty="0"/>
          </a:p>
        </p:txBody>
      </p:sp>
    </p:spTree>
    <p:extLst>
      <p:ext uri="{BB962C8B-B14F-4D97-AF65-F5344CB8AC3E}">
        <p14:creationId xmlns:p14="http://schemas.microsoft.com/office/powerpoint/2010/main" val="7825050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2260"/>
            <a:ext cx="10515600" cy="5634703"/>
          </a:xfrm>
        </p:spPr>
        <p:txBody>
          <a:bodyPr>
            <a:normAutofit fontScale="85000" lnSpcReduction="10000"/>
          </a:bodyPr>
          <a:lstStyle/>
          <a:p>
            <a:r>
              <a:rPr lang="en-US" b="1" dirty="0"/>
              <a:t>Amazon.com: </a:t>
            </a:r>
            <a:r>
              <a:rPr lang="en-US" dirty="0"/>
              <a:t>From its inception, Amazon has been a pioneer in Business</a:t>
            </a:r>
            <a:br>
              <a:rPr lang="en-US" dirty="0"/>
            </a:br>
            <a:r>
              <a:rPr lang="en-US" dirty="0"/>
              <a:t>Process Reengineering, leveraging technology and innovation to revolutionize</a:t>
            </a:r>
            <a:br>
              <a:rPr lang="en-US" dirty="0"/>
            </a:br>
            <a:r>
              <a:rPr lang="en-US" dirty="0"/>
              <a:t>the retail industry. </a:t>
            </a:r>
          </a:p>
          <a:p>
            <a:r>
              <a:rPr lang="en-US" dirty="0"/>
              <a:t>By reimagining the online shopping experience, optimizing</a:t>
            </a:r>
            <a:br>
              <a:rPr lang="en-US" dirty="0"/>
            </a:br>
            <a:r>
              <a:rPr lang="en-US" dirty="0"/>
              <a:t>its supply chain and logistics operations, and investing in cutting-edge</a:t>
            </a:r>
            <a:br>
              <a:rPr lang="en-US" dirty="0"/>
            </a:br>
            <a:r>
              <a:rPr lang="en-US" dirty="0"/>
              <a:t>fulfillment centers and delivery networks, Amazon has transformed the way</a:t>
            </a:r>
            <a:br>
              <a:rPr lang="en-US" dirty="0"/>
            </a:br>
            <a:r>
              <a:rPr lang="en-US" dirty="0"/>
              <a:t>people shop and paved the way for e-commerce dominance.</a:t>
            </a:r>
            <a:br>
              <a:rPr lang="en-US" dirty="0"/>
            </a:br>
            <a:endParaRPr lang="en-US" dirty="0"/>
          </a:p>
          <a:p>
            <a:r>
              <a:rPr lang="en-US" dirty="0"/>
              <a:t>A </a:t>
            </a:r>
            <a:r>
              <a:rPr lang="en-US" b="1" dirty="0"/>
              <a:t>hospital system </a:t>
            </a:r>
            <a:r>
              <a:rPr lang="en-US" dirty="0"/>
              <a:t>redesigns its patient admission process, utilizing online</a:t>
            </a:r>
            <a:br>
              <a:rPr lang="en-US" dirty="0"/>
            </a:br>
            <a:r>
              <a:rPr lang="en-US" dirty="0"/>
              <a:t>pre-registration and electronic health records, leading to faster patient intake</a:t>
            </a:r>
            <a:br>
              <a:rPr lang="en-US" dirty="0"/>
            </a:br>
            <a:r>
              <a:rPr lang="en-US" dirty="0"/>
              <a:t>and reduced wait times.</a:t>
            </a:r>
          </a:p>
          <a:p>
            <a:endParaRPr lang="en-US" dirty="0"/>
          </a:p>
          <a:p>
            <a:r>
              <a:rPr lang="en-US" dirty="0"/>
              <a:t>A </a:t>
            </a:r>
            <a:r>
              <a:rPr lang="en-US" b="1" dirty="0"/>
              <a:t>bank</a:t>
            </a:r>
            <a:r>
              <a:rPr lang="en-US" dirty="0"/>
              <a:t> reengineers its loan approval process by automating credit checks and</a:t>
            </a:r>
            <a:br>
              <a:rPr lang="en-US" dirty="0"/>
            </a:br>
            <a:r>
              <a:rPr lang="en-US" dirty="0"/>
              <a:t>document reviews, leading to faster loan approvals and increased customer</a:t>
            </a:r>
            <a:br>
              <a:rPr lang="en-US" dirty="0"/>
            </a:br>
            <a:r>
              <a:rPr lang="en-US" dirty="0"/>
              <a:t>satisfaction.</a:t>
            </a:r>
          </a:p>
        </p:txBody>
      </p:sp>
    </p:spTree>
    <p:extLst>
      <p:ext uri="{BB962C8B-B14F-4D97-AF65-F5344CB8AC3E}">
        <p14:creationId xmlns:p14="http://schemas.microsoft.com/office/powerpoint/2010/main" val="17252745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Business Process Management</a:t>
            </a:r>
          </a:p>
        </p:txBody>
      </p:sp>
      <p:sp>
        <p:nvSpPr>
          <p:cNvPr id="3" name="Content Placeholder 2"/>
          <p:cNvSpPr>
            <a:spLocks noGrp="1"/>
          </p:cNvSpPr>
          <p:nvPr>
            <p:ph idx="1"/>
          </p:nvPr>
        </p:nvSpPr>
        <p:spPr/>
        <p:txBody>
          <a:bodyPr>
            <a:normAutofit fontScale="92500" lnSpcReduction="10000"/>
          </a:bodyPr>
          <a:lstStyle/>
          <a:p>
            <a:r>
              <a:rPr lang="en-US" dirty="0"/>
              <a:t>Every organization, from a bustling startup to a multinational corporation, relies on a complex interplay of activities to function effectively. </a:t>
            </a:r>
          </a:p>
          <a:p>
            <a:r>
              <a:rPr lang="en-US" b="1" dirty="0"/>
              <a:t>Business Process Management (BPM) </a:t>
            </a:r>
            <a:r>
              <a:rPr lang="en-US" dirty="0"/>
              <a:t>emerges as the conductor in this group, ensuring all the instruments (departments, tasks) play their part in harmony to achieve the desired outcome.</a:t>
            </a:r>
          </a:p>
          <a:p>
            <a:r>
              <a:rPr lang="en-US" b="1" dirty="0"/>
              <a:t>BPM </a:t>
            </a:r>
            <a:r>
              <a:rPr lang="en-US" dirty="0"/>
              <a:t>is a holistic discipline focused on identifying, analyzing, designing, implementing, and continuously improving an organization's business processes. </a:t>
            </a:r>
          </a:p>
          <a:p>
            <a:r>
              <a:rPr lang="en-US" dirty="0"/>
              <a:t>These processes encompass the interconnected activities that transform inputs (raw materials, data) into outputs (products, services) that deliver value to customers.</a:t>
            </a:r>
          </a:p>
        </p:txBody>
      </p:sp>
    </p:spTree>
    <p:extLst>
      <p:ext uri="{BB962C8B-B14F-4D97-AF65-F5344CB8AC3E}">
        <p14:creationId xmlns:p14="http://schemas.microsoft.com/office/powerpoint/2010/main" val="41883548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3226"/>
            <a:ext cx="10515600" cy="1070271"/>
          </a:xfrm>
        </p:spPr>
        <p:txBody>
          <a:bodyPr/>
          <a:lstStyle/>
          <a:p>
            <a:r>
              <a:rPr lang="en-US" b="1" dirty="0"/>
              <a:t>BPM ensure these processes are:</a:t>
            </a:r>
          </a:p>
        </p:txBody>
      </p:sp>
      <p:sp>
        <p:nvSpPr>
          <p:cNvPr id="3" name="Content Placeholder 2"/>
          <p:cNvSpPr>
            <a:spLocks noGrp="1"/>
          </p:cNvSpPr>
          <p:nvPr>
            <p:ph idx="1"/>
          </p:nvPr>
        </p:nvSpPr>
        <p:spPr>
          <a:xfrm>
            <a:off x="838200" y="1648047"/>
            <a:ext cx="10515600" cy="4635796"/>
          </a:xfrm>
        </p:spPr>
        <p:txBody>
          <a:bodyPr>
            <a:normAutofit/>
          </a:bodyPr>
          <a:lstStyle/>
          <a:p>
            <a:r>
              <a:rPr lang="en-US" b="1" dirty="0"/>
              <a:t>Clearly Defined: </a:t>
            </a:r>
            <a:r>
              <a:rPr lang="en-US" dirty="0"/>
              <a:t>Each process has a well-defined sequence of steps, with clear roles and responsibilities assigned.</a:t>
            </a:r>
          </a:p>
          <a:p>
            <a:r>
              <a:rPr lang="en-US" b="1" dirty="0"/>
              <a:t>Efficient and Effective: </a:t>
            </a:r>
            <a:r>
              <a:rPr lang="en-US" dirty="0"/>
              <a:t>Unnecessary steps are eliminated, and processes are streamlined to maximize output while minimizing resource consumption.</a:t>
            </a:r>
          </a:p>
          <a:p>
            <a:r>
              <a:rPr lang="en-US" b="1" dirty="0"/>
              <a:t>Standardized</a:t>
            </a:r>
            <a:r>
              <a:rPr lang="en-US" dirty="0"/>
              <a:t>: Processes are consistent across the organization, leading to higher quality and predictability in outcomes.</a:t>
            </a:r>
          </a:p>
          <a:p>
            <a:r>
              <a:rPr lang="en-US" b="1" dirty="0"/>
              <a:t>Continuously Improved: </a:t>
            </a:r>
            <a:r>
              <a:rPr lang="en-US" dirty="0"/>
              <a:t>BPM emphasizes ongoing analysis and</a:t>
            </a:r>
            <a:br>
              <a:rPr lang="en-US" dirty="0"/>
            </a:br>
            <a:r>
              <a:rPr lang="en-US" dirty="0"/>
              <a:t>improvement, ensuring processes adapt to changing business needs and technological advancements.</a:t>
            </a:r>
          </a:p>
          <a:p>
            <a:endParaRPr lang="en-US" dirty="0"/>
          </a:p>
        </p:txBody>
      </p:sp>
    </p:spTree>
    <p:extLst>
      <p:ext uri="{BB962C8B-B14F-4D97-AF65-F5344CB8AC3E}">
        <p14:creationId xmlns:p14="http://schemas.microsoft.com/office/powerpoint/2010/main" val="23829130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Organizations that embrace BPM experience a multitude of benefits:</a:t>
            </a:r>
          </a:p>
        </p:txBody>
      </p:sp>
      <p:sp>
        <p:nvSpPr>
          <p:cNvPr id="3" name="Content Placeholder 2"/>
          <p:cNvSpPr>
            <a:spLocks noGrp="1"/>
          </p:cNvSpPr>
          <p:nvPr>
            <p:ph idx="1"/>
          </p:nvPr>
        </p:nvSpPr>
        <p:spPr>
          <a:xfrm>
            <a:off x="838200" y="2083981"/>
            <a:ext cx="10515600" cy="3817089"/>
          </a:xfrm>
        </p:spPr>
        <p:txBody>
          <a:bodyPr>
            <a:normAutofit/>
          </a:bodyPr>
          <a:lstStyle/>
          <a:p>
            <a:r>
              <a:rPr lang="en-US" b="1" dirty="0"/>
              <a:t>Enhanced Efficiency: </a:t>
            </a:r>
            <a:r>
              <a:rPr lang="en-US" dirty="0"/>
              <a:t>Streamlined processes eliminate redundancies and bottlenecks, leading to faster turn around times and increased productivity.</a:t>
            </a:r>
          </a:p>
          <a:p>
            <a:endParaRPr lang="en-US" dirty="0"/>
          </a:p>
          <a:p>
            <a:r>
              <a:rPr lang="en-US" b="1" dirty="0"/>
              <a:t>Improved Quality: </a:t>
            </a:r>
            <a:r>
              <a:rPr lang="en-US" dirty="0"/>
              <a:t>Standardized processes with clear quality checks</a:t>
            </a:r>
            <a:br>
              <a:rPr lang="en-US" dirty="0"/>
            </a:br>
            <a:r>
              <a:rPr lang="en-US" dirty="0"/>
              <a:t>minimize errors and ensure consistent delivery of high-quality products and services.</a:t>
            </a:r>
          </a:p>
        </p:txBody>
      </p:sp>
    </p:spTree>
    <p:extLst>
      <p:ext uri="{BB962C8B-B14F-4D97-AF65-F5344CB8AC3E}">
        <p14:creationId xmlns:p14="http://schemas.microsoft.com/office/powerpoint/2010/main" val="6089163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7953"/>
            <a:ext cx="10515600" cy="5539010"/>
          </a:xfrm>
        </p:spPr>
        <p:txBody>
          <a:bodyPr>
            <a:normAutofit fontScale="92500"/>
          </a:bodyPr>
          <a:lstStyle/>
          <a:p>
            <a:r>
              <a:rPr lang="en-US" b="1" dirty="0"/>
              <a:t>Reduced Costs: </a:t>
            </a:r>
            <a:r>
              <a:rPr lang="en-US" dirty="0"/>
              <a:t>Elimination of inefficiencies translates to lower operational costs, improved resource utilization, and minimized waste.</a:t>
            </a:r>
          </a:p>
          <a:p>
            <a:endParaRPr lang="en-US" b="1" dirty="0"/>
          </a:p>
          <a:p>
            <a:r>
              <a:rPr lang="en-US" b="1" dirty="0"/>
              <a:t>Increased Agility: </a:t>
            </a:r>
            <a:r>
              <a:rPr lang="en-US" dirty="0"/>
              <a:t>BPM fosters a culture of continuous improvement,</a:t>
            </a:r>
            <a:br>
              <a:rPr lang="en-US" dirty="0"/>
            </a:br>
            <a:r>
              <a:rPr lang="en-US" dirty="0"/>
              <a:t>enabling organizations to adapt quickly to changing market conditions and customer demands.</a:t>
            </a:r>
          </a:p>
          <a:p>
            <a:endParaRPr lang="en-US" dirty="0"/>
          </a:p>
          <a:p>
            <a:r>
              <a:rPr lang="en-US" b="1" dirty="0"/>
              <a:t>Enhanced Regulatory Compliance: </a:t>
            </a:r>
            <a:r>
              <a:rPr lang="en-US" dirty="0"/>
              <a:t>Documented processes ensure</a:t>
            </a:r>
            <a:br>
              <a:rPr lang="en-US" dirty="0"/>
            </a:br>
            <a:r>
              <a:rPr lang="en-US" dirty="0"/>
              <a:t>adherence to industry regulations and compliance standards.</a:t>
            </a:r>
          </a:p>
          <a:p>
            <a:endParaRPr lang="en-US" dirty="0"/>
          </a:p>
          <a:p>
            <a:r>
              <a:rPr lang="en-US" b="1" dirty="0"/>
              <a:t>Improved Decision-Making: </a:t>
            </a:r>
            <a:r>
              <a:rPr lang="en-US" dirty="0"/>
              <a:t>Data-driven insights gleaned from process analysis empower better decision-making across the organization.</a:t>
            </a:r>
          </a:p>
        </p:txBody>
      </p:sp>
    </p:spTree>
    <p:extLst>
      <p:ext uri="{BB962C8B-B14F-4D97-AF65-F5344CB8AC3E}">
        <p14:creationId xmlns:p14="http://schemas.microsoft.com/office/powerpoint/2010/main" val="18716152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BPM professionals use a wide variety of tools and techniques: </a:t>
            </a:r>
          </a:p>
        </p:txBody>
      </p:sp>
      <p:sp>
        <p:nvSpPr>
          <p:cNvPr id="3" name="Content Placeholder 2"/>
          <p:cNvSpPr>
            <a:spLocks noGrp="1"/>
          </p:cNvSpPr>
          <p:nvPr>
            <p:ph idx="1"/>
          </p:nvPr>
        </p:nvSpPr>
        <p:spPr>
          <a:xfrm>
            <a:off x="838200" y="1825625"/>
            <a:ext cx="10515600" cy="4564542"/>
          </a:xfrm>
        </p:spPr>
        <p:txBody>
          <a:bodyPr>
            <a:normAutofit fontScale="92500" lnSpcReduction="10000"/>
          </a:bodyPr>
          <a:lstStyle/>
          <a:p>
            <a:r>
              <a:rPr lang="en-US" b="1" dirty="0"/>
              <a:t>Business Process Modeling (BPMN): </a:t>
            </a:r>
            <a:r>
              <a:rPr lang="en-US" dirty="0"/>
              <a:t>A standardized notation system for</a:t>
            </a:r>
            <a:br>
              <a:rPr lang="en-US" dirty="0"/>
            </a:br>
            <a:r>
              <a:rPr lang="en-US" dirty="0"/>
              <a:t>visually representing business processes, facilitating communication and</a:t>
            </a:r>
            <a:br>
              <a:rPr lang="en-US" dirty="0"/>
            </a:br>
            <a:r>
              <a:rPr lang="en-US" dirty="0"/>
              <a:t>collaboration.</a:t>
            </a:r>
          </a:p>
          <a:p>
            <a:r>
              <a:rPr lang="en-US" b="1" dirty="0"/>
              <a:t>Workflow Management Systems (WFMS): </a:t>
            </a:r>
            <a:r>
              <a:rPr lang="en-US" dirty="0"/>
              <a:t>Software applications that</a:t>
            </a:r>
            <a:br>
              <a:rPr lang="en-US" dirty="0"/>
            </a:br>
            <a:r>
              <a:rPr lang="en-US" dirty="0"/>
              <a:t>automate the execution of workflows within a business process.</a:t>
            </a:r>
          </a:p>
          <a:p>
            <a:r>
              <a:rPr lang="en-US" b="1" dirty="0"/>
              <a:t>Business Process Analysis (BPA): </a:t>
            </a:r>
            <a:r>
              <a:rPr lang="en-US" dirty="0"/>
              <a:t>Techniques for analyzing existing</a:t>
            </a:r>
            <a:br>
              <a:rPr lang="en-US" dirty="0"/>
            </a:br>
            <a:r>
              <a:rPr lang="en-US" dirty="0"/>
              <a:t>processes to identify areas for improvement.</a:t>
            </a:r>
          </a:p>
          <a:p>
            <a:r>
              <a:rPr lang="en-US" b="1" dirty="0"/>
              <a:t>Six Sigma: </a:t>
            </a:r>
            <a:r>
              <a:rPr lang="en-US" dirty="0"/>
              <a:t>A data-driven methodology focused on minimizing defects and</a:t>
            </a:r>
            <a:br>
              <a:rPr lang="en-US" dirty="0"/>
            </a:br>
            <a:r>
              <a:rPr lang="en-US" dirty="0"/>
              <a:t>variations within processes.</a:t>
            </a:r>
          </a:p>
          <a:p>
            <a:r>
              <a:rPr lang="en-US" b="1" dirty="0"/>
              <a:t>Lean Manufacturing: </a:t>
            </a:r>
            <a:r>
              <a:rPr lang="en-US" dirty="0"/>
              <a:t>A philosophy that emphasizes eliminating waste and</a:t>
            </a:r>
            <a:br>
              <a:rPr lang="en-US" dirty="0"/>
            </a:br>
            <a:r>
              <a:rPr lang="en-US" dirty="0"/>
              <a:t>streamlining processes to maximize value delivery.</a:t>
            </a:r>
            <a:br>
              <a:rPr lang="en-US" dirty="0"/>
            </a:br>
            <a:endParaRPr lang="en-US" dirty="0"/>
          </a:p>
        </p:txBody>
      </p:sp>
    </p:spTree>
    <p:extLst>
      <p:ext uri="{BB962C8B-B14F-4D97-AF65-F5344CB8AC3E}">
        <p14:creationId xmlns:p14="http://schemas.microsoft.com/office/powerpoint/2010/main" val="31407350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stages involved in BPM:</a:t>
            </a:r>
          </a:p>
        </p:txBody>
      </p:sp>
      <p:sp>
        <p:nvSpPr>
          <p:cNvPr id="3" name="Content Placeholder 2"/>
          <p:cNvSpPr>
            <a:spLocks noGrp="1"/>
          </p:cNvSpPr>
          <p:nvPr>
            <p:ph idx="1"/>
          </p:nvPr>
        </p:nvSpPr>
        <p:spPr/>
        <p:txBody>
          <a:bodyPr>
            <a:normAutofit/>
          </a:bodyPr>
          <a:lstStyle/>
          <a:p>
            <a:r>
              <a:rPr lang="en-US" b="1" dirty="0"/>
              <a:t>Design: </a:t>
            </a:r>
          </a:p>
          <a:p>
            <a:pPr lvl="1"/>
            <a:r>
              <a:rPr lang="en-US" dirty="0"/>
              <a:t>This stage involves identifying core business processes, documenting their current state, and defining desired outcomes. </a:t>
            </a:r>
          </a:p>
          <a:p>
            <a:pPr lvl="1"/>
            <a:r>
              <a:rPr lang="en-US" dirty="0"/>
              <a:t>Business process modeling tools like BPMN play a crucial role in visually representing the process flow.</a:t>
            </a:r>
          </a:p>
          <a:p>
            <a:r>
              <a:rPr lang="en-US" b="1" dirty="0"/>
              <a:t>Modeling: </a:t>
            </a:r>
          </a:p>
          <a:p>
            <a:pPr lvl="1"/>
            <a:r>
              <a:rPr lang="en-US" dirty="0"/>
              <a:t>Once the process is well-defined, it's modeled using appropriate tools and methodologies. </a:t>
            </a:r>
          </a:p>
          <a:p>
            <a:pPr lvl="1"/>
            <a:r>
              <a:rPr lang="en-US" dirty="0"/>
              <a:t>This could involve simulation to identify potential bottlenecks or gaps before implementation.</a:t>
            </a:r>
          </a:p>
        </p:txBody>
      </p:sp>
    </p:spTree>
    <p:extLst>
      <p:ext uri="{BB962C8B-B14F-4D97-AF65-F5344CB8AC3E}">
        <p14:creationId xmlns:p14="http://schemas.microsoft.com/office/powerpoint/2010/main" val="18275242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6056"/>
            <a:ext cx="10515600" cy="5570907"/>
          </a:xfrm>
        </p:spPr>
        <p:txBody>
          <a:bodyPr>
            <a:normAutofit fontScale="92500" lnSpcReduction="10000"/>
          </a:bodyPr>
          <a:lstStyle/>
          <a:p>
            <a:r>
              <a:rPr lang="en-US" b="1" dirty="0"/>
              <a:t>Execution: </a:t>
            </a:r>
          </a:p>
          <a:p>
            <a:pPr lvl="1"/>
            <a:r>
              <a:rPr lang="en-US" dirty="0"/>
              <a:t>The redesigned or newly designed process is then implemented within the organization. </a:t>
            </a:r>
          </a:p>
          <a:p>
            <a:pPr lvl="1"/>
            <a:r>
              <a:rPr lang="en-US" dirty="0"/>
              <a:t>Training and communication are vital to ensure employee buy-in and smooth adoption. </a:t>
            </a:r>
          </a:p>
          <a:p>
            <a:pPr lvl="1"/>
            <a:r>
              <a:rPr lang="en-US" b="1" dirty="0"/>
              <a:t>Workflow Management Systems </a:t>
            </a:r>
            <a:r>
              <a:rPr lang="en-US" dirty="0"/>
              <a:t>can automate tasks and streamline execution.</a:t>
            </a:r>
          </a:p>
          <a:p>
            <a:r>
              <a:rPr lang="en-US" b="1" dirty="0"/>
              <a:t>Monitoring: </a:t>
            </a:r>
          </a:p>
          <a:p>
            <a:pPr lvl="1"/>
            <a:r>
              <a:rPr lang="en-US" dirty="0"/>
              <a:t>The performance of the implemented process is closely monitored using </a:t>
            </a:r>
            <a:r>
              <a:rPr lang="en-US" b="1" dirty="0"/>
              <a:t>Key Performance Indicators (KPIs) </a:t>
            </a:r>
            <a:r>
              <a:rPr lang="en-US" dirty="0"/>
              <a:t>to track efficiency, quality, and adherence to compliance standards. </a:t>
            </a:r>
          </a:p>
          <a:p>
            <a:pPr lvl="1"/>
            <a:r>
              <a:rPr lang="en-US" dirty="0"/>
              <a:t>Data analytics tools can be utilized to glean valuable insights from process execution.</a:t>
            </a:r>
          </a:p>
          <a:p>
            <a:r>
              <a:rPr lang="en-US" b="1" dirty="0"/>
              <a:t>Optimization: </a:t>
            </a:r>
          </a:p>
          <a:p>
            <a:pPr lvl="1"/>
            <a:r>
              <a:rPr lang="en-US" dirty="0"/>
              <a:t>Based on the data gathered during monitoring, the process is continuously analyzed and refined. </a:t>
            </a:r>
          </a:p>
          <a:p>
            <a:pPr lvl="1"/>
            <a:r>
              <a:rPr lang="en-US" dirty="0"/>
              <a:t>This could involve eliminating inefficiencies, introducing automation, or adapting the process to changing business needs.</a:t>
            </a:r>
          </a:p>
          <a:p>
            <a:endParaRPr lang="en-US" dirty="0"/>
          </a:p>
        </p:txBody>
      </p:sp>
    </p:spTree>
    <p:extLst>
      <p:ext uri="{BB962C8B-B14F-4D97-AF65-F5344CB8AC3E}">
        <p14:creationId xmlns:p14="http://schemas.microsoft.com/office/powerpoint/2010/main" val="31668458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of BPM:</a:t>
            </a:r>
          </a:p>
        </p:txBody>
      </p:sp>
      <p:sp>
        <p:nvSpPr>
          <p:cNvPr id="3" name="Content Placeholder 2"/>
          <p:cNvSpPr>
            <a:spLocks noGrp="1"/>
          </p:cNvSpPr>
          <p:nvPr>
            <p:ph idx="1"/>
          </p:nvPr>
        </p:nvSpPr>
        <p:spPr/>
        <p:txBody>
          <a:bodyPr/>
          <a:lstStyle/>
          <a:p>
            <a:r>
              <a:rPr lang="en-US" b="1" dirty="0"/>
              <a:t>Financial Services Company Streamlines Loan Processing: </a:t>
            </a:r>
          </a:p>
          <a:p>
            <a:pPr lvl="1"/>
            <a:r>
              <a:rPr lang="en-US" dirty="0"/>
              <a:t>A bank implements a BPM system to automate loan application reviews and document verification. </a:t>
            </a:r>
          </a:p>
          <a:p>
            <a:pPr lvl="1"/>
            <a:r>
              <a:rPr lang="en-US" dirty="0"/>
              <a:t>This reduces processing time, improves customer satisfaction, and leads to faster loan approvals.</a:t>
            </a:r>
          </a:p>
          <a:p>
            <a:r>
              <a:rPr lang="en-US" b="1" dirty="0"/>
              <a:t>Manufacturing Plant Optimizes Production Flow: </a:t>
            </a:r>
          </a:p>
          <a:p>
            <a:pPr lvl="1"/>
            <a:r>
              <a:rPr lang="en-US" dirty="0"/>
              <a:t>A manufacturing company utilizes BPM tools to identify bottlenecks in its production line. </a:t>
            </a:r>
          </a:p>
          <a:p>
            <a:pPr lvl="1"/>
            <a:r>
              <a:rPr lang="en-US" dirty="0"/>
              <a:t>By redesigning the workflow and introducing automation, they achieve significant reductions in production time and waste.</a:t>
            </a:r>
          </a:p>
        </p:txBody>
      </p:sp>
    </p:spTree>
    <p:extLst>
      <p:ext uri="{BB962C8B-B14F-4D97-AF65-F5344CB8AC3E}">
        <p14:creationId xmlns:p14="http://schemas.microsoft.com/office/powerpoint/2010/main" val="963559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6270"/>
            <a:ext cx="10515600" cy="793824"/>
          </a:xfrm>
        </p:spPr>
        <p:txBody>
          <a:bodyPr/>
          <a:lstStyle/>
          <a:p>
            <a:r>
              <a:rPr lang="en-US" b="1" dirty="0"/>
              <a:t>Business Pressures</a:t>
            </a:r>
          </a:p>
        </p:txBody>
      </p:sp>
      <p:sp>
        <p:nvSpPr>
          <p:cNvPr id="3" name="Content Placeholder 2"/>
          <p:cNvSpPr>
            <a:spLocks noGrp="1"/>
          </p:cNvSpPr>
          <p:nvPr>
            <p:ph idx="1"/>
          </p:nvPr>
        </p:nvSpPr>
        <p:spPr>
          <a:xfrm>
            <a:off x="838200" y="1116419"/>
            <a:ext cx="10515600" cy="5060544"/>
          </a:xfrm>
        </p:spPr>
        <p:txBody>
          <a:bodyPr>
            <a:normAutofit fontScale="92500" lnSpcReduction="10000"/>
          </a:bodyPr>
          <a:lstStyle/>
          <a:p>
            <a:r>
              <a:rPr lang="en-US" dirty="0"/>
              <a:t>Businesses these days face countless challenges and pressures that shape their strategies, decisions, and outcomes. </a:t>
            </a:r>
          </a:p>
          <a:p>
            <a:r>
              <a:rPr lang="en-US" dirty="0"/>
              <a:t>From rapid technological advancements to shifting market dynamics and regulatory changes, the business environment is fraught with complexities and uncertainties that can exert significant pressure on organizations of all sizes and industries. </a:t>
            </a:r>
          </a:p>
          <a:p>
            <a:r>
              <a:rPr lang="en-US" dirty="0"/>
              <a:t>The business world is constantly balancing innovation and adaptability.</a:t>
            </a:r>
          </a:p>
          <a:p>
            <a:r>
              <a:rPr lang="en-US" dirty="0"/>
              <a:t>Companies operate in a dynamic ecosystem where internal and external forces impose constant pressure, necessitating adaptability and resilience.</a:t>
            </a:r>
          </a:p>
          <a:p>
            <a:r>
              <a:rPr lang="en-US" dirty="0"/>
              <a:t> When properly managed, these forces can serve as a fuel for growth and success. </a:t>
            </a:r>
          </a:p>
          <a:p>
            <a:r>
              <a:rPr lang="en-US" dirty="0"/>
              <a:t>However, if left unchecked, they have the potential to restrict innovation, impede performance, and jeopardize an organization’s life.</a:t>
            </a:r>
          </a:p>
        </p:txBody>
      </p:sp>
    </p:spTree>
    <p:extLst>
      <p:ext uri="{BB962C8B-B14F-4D97-AF65-F5344CB8AC3E}">
        <p14:creationId xmlns:p14="http://schemas.microsoft.com/office/powerpoint/2010/main" val="3594930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Business Pressures</a:t>
            </a:r>
          </a:p>
        </p:txBody>
      </p:sp>
      <p:sp>
        <p:nvSpPr>
          <p:cNvPr id="3" name="Content Placeholder 2"/>
          <p:cNvSpPr>
            <a:spLocks noGrp="1"/>
          </p:cNvSpPr>
          <p:nvPr>
            <p:ph idx="1"/>
          </p:nvPr>
        </p:nvSpPr>
        <p:spPr>
          <a:xfrm>
            <a:off x="838200" y="1825624"/>
            <a:ext cx="10515600" cy="4500747"/>
          </a:xfrm>
        </p:spPr>
        <p:txBody>
          <a:bodyPr/>
          <a:lstStyle/>
          <a:p>
            <a:r>
              <a:rPr lang="en-US" dirty="0"/>
              <a:t>Business pressures can be broadly categorized into three main types: market, technology, and societal pressures. </a:t>
            </a:r>
          </a:p>
          <a:p>
            <a:r>
              <a:rPr lang="en-US" dirty="0"/>
              <a:t>Each type presents unique challenges and opportunities for organizations, influencing their operations, competitiveness, and long-term sustainability.</a:t>
            </a:r>
          </a:p>
          <a:p>
            <a:pPr lvl="1"/>
            <a:r>
              <a:rPr lang="en-US" dirty="0"/>
              <a:t>Market Pressures</a:t>
            </a:r>
          </a:p>
          <a:p>
            <a:pPr lvl="1"/>
            <a:r>
              <a:rPr lang="en-US" dirty="0"/>
              <a:t>Technology Pressure</a:t>
            </a:r>
          </a:p>
          <a:p>
            <a:pPr lvl="1"/>
            <a:r>
              <a:rPr lang="en-US" dirty="0"/>
              <a:t>Societal Pressure</a:t>
            </a:r>
          </a:p>
        </p:txBody>
      </p:sp>
    </p:spTree>
    <p:extLst>
      <p:ext uri="{BB962C8B-B14F-4D97-AF65-F5344CB8AC3E}">
        <p14:creationId xmlns:p14="http://schemas.microsoft.com/office/powerpoint/2010/main" val="7259283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Market Pressures: </a:t>
            </a:r>
          </a:p>
        </p:txBody>
      </p:sp>
      <p:sp>
        <p:nvSpPr>
          <p:cNvPr id="3" name="Content Placeholder 2"/>
          <p:cNvSpPr>
            <a:spLocks noGrp="1"/>
          </p:cNvSpPr>
          <p:nvPr>
            <p:ph idx="1"/>
          </p:nvPr>
        </p:nvSpPr>
        <p:spPr/>
        <p:txBody>
          <a:bodyPr/>
          <a:lstStyle/>
          <a:p>
            <a:r>
              <a:rPr lang="en-US" dirty="0"/>
              <a:t>Market pressures arise from forces within the competitive</a:t>
            </a:r>
            <a:br>
              <a:rPr lang="en-US" dirty="0"/>
            </a:br>
            <a:r>
              <a:rPr lang="en-US" dirty="0"/>
              <a:t>marketplace that impact on an organization’s ability to attract customers, generate revenue, and maintain profitability. </a:t>
            </a:r>
          </a:p>
          <a:p>
            <a:r>
              <a:rPr lang="en-US" dirty="0"/>
              <a:t>These pressures include:</a:t>
            </a:r>
          </a:p>
          <a:p>
            <a:pPr lvl="1"/>
            <a:r>
              <a:rPr lang="en-US" b="1" dirty="0"/>
              <a:t>Competitive Rivalry</a:t>
            </a:r>
          </a:p>
          <a:p>
            <a:pPr lvl="1"/>
            <a:r>
              <a:rPr lang="en-US" b="1" dirty="0"/>
              <a:t>Customer Demands</a:t>
            </a:r>
          </a:p>
          <a:p>
            <a:pPr lvl="1"/>
            <a:r>
              <a:rPr lang="en-US" b="1" dirty="0"/>
              <a:t>Supplier Power</a:t>
            </a:r>
          </a:p>
          <a:p>
            <a:pPr lvl="1"/>
            <a:r>
              <a:rPr lang="en-US" b="1" dirty="0"/>
              <a:t>Economic Fluctuations</a:t>
            </a:r>
            <a:endParaRPr lang="en-US" dirty="0"/>
          </a:p>
        </p:txBody>
      </p:sp>
    </p:spTree>
    <p:extLst>
      <p:ext uri="{BB962C8B-B14F-4D97-AF65-F5344CB8AC3E}">
        <p14:creationId xmlns:p14="http://schemas.microsoft.com/office/powerpoint/2010/main" val="1240104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52893"/>
            <a:ext cx="10515600" cy="5624070"/>
          </a:xfrm>
        </p:spPr>
        <p:txBody>
          <a:bodyPr>
            <a:normAutofit fontScale="92500" lnSpcReduction="10000"/>
          </a:bodyPr>
          <a:lstStyle/>
          <a:p>
            <a:r>
              <a:rPr lang="en-US" b="1" dirty="0"/>
              <a:t>Competitive Rivalry: </a:t>
            </a:r>
            <a:r>
              <a:rPr lang="en-US" dirty="0"/>
              <a:t>Intense competition from rival firms can exert pressure on prices, margins, and market share, forcing organizations to differentiate their products or services and innovate to stay ahead.</a:t>
            </a:r>
            <a:endParaRPr lang="en-US" b="1" dirty="0"/>
          </a:p>
          <a:p>
            <a:r>
              <a:rPr lang="en-US" b="1" dirty="0"/>
              <a:t>Customer Demands: </a:t>
            </a:r>
            <a:r>
              <a:rPr lang="en-US" dirty="0"/>
              <a:t>Changing customer preferences, expectations, and</a:t>
            </a:r>
            <a:br>
              <a:rPr lang="en-US" dirty="0"/>
            </a:br>
            <a:r>
              <a:rPr lang="en-US" dirty="0"/>
              <a:t>behaviors can create pressure on organizations to deliver personalized</a:t>
            </a:r>
            <a:br>
              <a:rPr lang="en-US" dirty="0"/>
            </a:br>
            <a:r>
              <a:rPr lang="en-US" dirty="0"/>
              <a:t>experiences, high-quality products, and superior customer service to remain competitive.</a:t>
            </a:r>
          </a:p>
          <a:p>
            <a:r>
              <a:rPr lang="en-US" b="1" dirty="0"/>
              <a:t>Supplier Power: </a:t>
            </a:r>
            <a:r>
              <a:rPr lang="en-US" dirty="0"/>
              <a:t>Dependence on suppliers for raw materials, components, or services can expose organizations to risks such as price fluctuations, supply shortages, or quality issues, impacting their ability to meet customer demand and fulfill orders.</a:t>
            </a:r>
          </a:p>
          <a:p>
            <a:r>
              <a:rPr lang="en-US" b="1" dirty="0"/>
              <a:t>Economic Fluctuations: </a:t>
            </a:r>
            <a:r>
              <a:rPr lang="en-US" dirty="0"/>
              <a:t>Broader economic factors like inflation, recession, or currency fluctuations impacting the cost of raw materials, production, and consumer spending patterns can exert pressure on organizations to expand into new markets, diversify their product offerings, or find innovative ways to differentiate themselves from competitors.</a:t>
            </a:r>
          </a:p>
        </p:txBody>
      </p:sp>
    </p:spTree>
    <p:extLst>
      <p:ext uri="{BB962C8B-B14F-4D97-AF65-F5344CB8AC3E}">
        <p14:creationId xmlns:p14="http://schemas.microsoft.com/office/powerpoint/2010/main" val="25869378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Technology Pressures: </a:t>
            </a:r>
          </a:p>
        </p:txBody>
      </p:sp>
      <p:sp>
        <p:nvSpPr>
          <p:cNvPr id="3" name="Content Placeholder 2"/>
          <p:cNvSpPr>
            <a:spLocks noGrp="1"/>
          </p:cNvSpPr>
          <p:nvPr>
            <p:ph idx="1"/>
          </p:nvPr>
        </p:nvSpPr>
        <p:spPr/>
        <p:txBody>
          <a:bodyPr/>
          <a:lstStyle/>
          <a:p>
            <a:r>
              <a:rPr lang="en-US" dirty="0"/>
              <a:t>Technology pressures stem from rapid advancements in</a:t>
            </a:r>
            <a:br>
              <a:rPr lang="en-US" dirty="0"/>
            </a:br>
            <a:r>
              <a:rPr lang="en-US" dirty="0"/>
              <a:t>information technology, automation, and digitalization that disrupt traditional business models and practices. </a:t>
            </a:r>
          </a:p>
          <a:p>
            <a:r>
              <a:rPr lang="en-US" dirty="0"/>
              <a:t>These pressures include:</a:t>
            </a:r>
          </a:p>
          <a:p>
            <a:pPr lvl="1"/>
            <a:r>
              <a:rPr lang="en-US" b="1" dirty="0"/>
              <a:t>Technological Obsolescence</a:t>
            </a:r>
          </a:p>
          <a:p>
            <a:pPr lvl="1"/>
            <a:r>
              <a:rPr lang="en-US" b="1" dirty="0"/>
              <a:t>Cyber Security Threats</a:t>
            </a:r>
          </a:p>
          <a:p>
            <a:pPr lvl="1"/>
            <a:r>
              <a:rPr lang="en-US" b="1" dirty="0"/>
              <a:t>Digital Disruption</a:t>
            </a:r>
          </a:p>
        </p:txBody>
      </p:sp>
    </p:spTree>
    <p:extLst>
      <p:ext uri="{BB962C8B-B14F-4D97-AF65-F5344CB8AC3E}">
        <p14:creationId xmlns:p14="http://schemas.microsoft.com/office/powerpoint/2010/main" val="34806520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Technological Obsolescence</a:t>
            </a:r>
          </a:p>
        </p:txBody>
      </p:sp>
      <p:sp>
        <p:nvSpPr>
          <p:cNvPr id="3" name="Content Placeholder 2"/>
          <p:cNvSpPr>
            <a:spLocks noGrp="1"/>
          </p:cNvSpPr>
          <p:nvPr>
            <p:ph idx="1"/>
          </p:nvPr>
        </p:nvSpPr>
        <p:spPr/>
        <p:txBody>
          <a:bodyPr/>
          <a:lstStyle/>
          <a:p>
            <a:r>
              <a:rPr lang="en-US" dirty="0"/>
              <a:t>Rapidly evolving technologies can render existing products, processes, or systems obsolete, necessitating continuous innovation and investment in new technologies to remain relevant and competitive.</a:t>
            </a:r>
          </a:p>
          <a:p>
            <a:r>
              <a:rPr lang="en-US" dirty="0"/>
              <a:t>Pressure to stay ahead of the curve by embracing new</a:t>
            </a:r>
            <a:br>
              <a:rPr lang="en-US" dirty="0"/>
            </a:br>
            <a:r>
              <a:rPr lang="en-US" dirty="0"/>
              <a:t>technologies, such as automation, artificial intelligence, or data analytics, to improve efficiency, product offerings, and customer service.</a:t>
            </a:r>
            <a:br>
              <a:rPr lang="en-US" dirty="0"/>
            </a:br>
            <a:endParaRPr lang="en-US" dirty="0"/>
          </a:p>
        </p:txBody>
      </p:sp>
    </p:spTree>
    <p:extLst>
      <p:ext uri="{BB962C8B-B14F-4D97-AF65-F5344CB8AC3E}">
        <p14:creationId xmlns:p14="http://schemas.microsoft.com/office/powerpoint/2010/main" val="11075750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Cyber Security Threats</a:t>
            </a:r>
          </a:p>
        </p:txBody>
      </p:sp>
      <p:sp>
        <p:nvSpPr>
          <p:cNvPr id="3" name="Content Placeholder 2"/>
          <p:cNvSpPr>
            <a:spLocks noGrp="1"/>
          </p:cNvSpPr>
          <p:nvPr>
            <p:ph idx="1"/>
          </p:nvPr>
        </p:nvSpPr>
        <p:spPr/>
        <p:txBody>
          <a:bodyPr/>
          <a:lstStyle/>
          <a:p>
            <a:r>
              <a:rPr lang="en-US" dirty="0"/>
              <a:t>The proliferation of cyber threats, data breaches, and malicious attacks pose significant risks to organizations’ data security, privacy, and reputation, requiring robust cyber security measures and</a:t>
            </a:r>
            <a:br>
              <a:rPr lang="en-US" dirty="0"/>
            </a:br>
            <a:r>
              <a:rPr lang="en-US" dirty="0"/>
              <a:t>protocols to mitigate vulnerabilities and safeguard sensitive information.</a:t>
            </a:r>
          </a:p>
        </p:txBody>
      </p:sp>
    </p:spTree>
    <p:extLst>
      <p:ext uri="{BB962C8B-B14F-4D97-AF65-F5344CB8AC3E}">
        <p14:creationId xmlns:p14="http://schemas.microsoft.com/office/powerpoint/2010/main" val="658098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Digital Disruption</a:t>
            </a:r>
          </a:p>
        </p:txBody>
      </p:sp>
      <p:sp>
        <p:nvSpPr>
          <p:cNvPr id="3" name="Content Placeholder 2"/>
          <p:cNvSpPr>
            <a:spLocks noGrp="1"/>
          </p:cNvSpPr>
          <p:nvPr>
            <p:ph idx="1"/>
          </p:nvPr>
        </p:nvSpPr>
        <p:spPr/>
        <p:txBody>
          <a:bodyPr/>
          <a:lstStyle/>
          <a:p>
            <a:r>
              <a:rPr lang="en-US" dirty="0"/>
              <a:t>Disruptive technologies such as artificial intelligence, block chain, and the Internet of Things (</a:t>
            </a:r>
            <a:r>
              <a:rPr lang="en-US" dirty="0" err="1"/>
              <a:t>IoT</a:t>
            </a:r>
            <a:r>
              <a:rPr lang="en-US" dirty="0"/>
              <a:t>) are reshaping industries and redefining market dynamics, challenging organizations to adapt to new</a:t>
            </a:r>
            <a:br>
              <a:rPr lang="en-US" dirty="0"/>
            </a:br>
            <a:r>
              <a:rPr lang="en-US" dirty="0"/>
              <a:t>business models, customer expectations, and competitive landscapes.</a:t>
            </a:r>
          </a:p>
        </p:txBody>
      </p:sp>
    </p:spTree>
    <p:extLst>
      <p:ext uri="{BB962C8B-B14F-4D97-AF65-F5344CB8AC3E}">
        <p14:creationId xmlns:p14="http://schemas.microsoft.com/office/powerpoint/2010/main" val="4320589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Societal Pressures</a:t>
            </a:r>
          </a:p>
        </p:txBody>
      </p:sp>
      <p:sp>
        <p:nvSpPr>
          <p:cNvPr id="3" name="Content Placeholder 2"/>
          <p:cNvSpPr>
            <a:spLocks noGrp="1"/>
          </p:cNvSpPr>
          <p:nvPr>
            <p:ph idx="1"/>
          </p:nvPr>
        </p:nvSpPr>
        <p:spPr/>
        <p:txBody>
          <a:bodyPr/>
          <a:lstStyle/>
          <a:p>
            <a:r>
              <a:rPr lang="en-US" dirty="0"/>
              <a:t>Societal pressures arise from broader social, environmental,</a:t>
            </a:r>
            <a:br>
              <a:rPr lang="en-US" dirty="0"/>
            </a:br>
            <a:r>
              <a:rPr lang="en-US" dirty="0"/>
              <a:t>and ethical concerns that influence consumer attitudes, government regulations, and corporate responsibility practices. </a:t>
            </a:r>
          </a:p>
          <a:p>
            <a:r>
              <a:rPr lang="en-US" dirty="0"/>
              <a:t>These pressures include:</a:t>
            </a:r>
          </a:p>
          <a:p>
            <a:pPr lvl="1"/>
            <a:r>
              <a:rPr lang="en-US" b="1" dirty="0"/>
              <a:t>Environmental Sustainability</a:t>
            </a:r>
          </a:p>
          <a:p>
            <a:pPr lvl="1"/>
            <a:r>
              <a:rPr lang="en-US" b="1" dirty="0"/>
              <a:t>Ethical Conduct</a:t>
            </a:r>
          </a:p>
          <a:p>
            <a:pPr lvl="1"/>
            <a:r>
              <a:rPr lang="en-US" b="1" dirty="0"/>
              <a:t>Corporate Social Responsibility</a:t>
            </a:r>
            <a:br>
              <a:rPr lang="en-US" dirty="0"/>
            </a:br>
            <a:endParaRPr lang="en-US" dirty="0"/>
          </a:p>
        </p:txBody>
      </p:sp>
    </p:spTree>
    <p:extLst>
      <p:ext uri="{BB962C8B-B14F-4D97-AF65-F5344CB8AC3E}">
        <p14:creationId xmlns:p14="http://schemas.microsoft.com/office/powerpoint/2010/main" val="14745950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Environmental Sustainability</a:t>
            </a:r>
          </a:p>
        </p:txBody>
      </p:sp>
      <p:sp>
        <p:nvSpPr>
          <p:cNvPr id="3" name="Content Placeholder 2"/>
          <p:cNvSpPr>
            <a:spLocks noGrp="1"/>
          </p:cNvSpPr>
          <p:nvPr>
            <p:ph idx="1"/>
          </p:nvPr>
        </p:nvSpPr>
        <p:spPr/>
        <p:txBody>
          <a:bodyPr/>
          <a:lstStyle/>
          <a:p>
            <a:r>
              <a:rPr lang="en-US" dirty="0"/>
              <a:t>Growing awareness of environmental issues such as climate change, pollution, and resource depletion are driving demand for sustainable products, eco-friendly practices, and corporate responsibility initiatives that minimize environmental impact and promote sustainable development.</a:t>
            </a:r>
            <a:br>
              <a:rPr lang="en-US" dirty="0"/>
            </a:br>
            <a:endParaRPr lang="en-US" dirty="0"/>
          </a:p>
        </p:txBody>
      </p:sp>
    </p:spTree>
    <p:extLst>
      <p:ext uri="{BB962C8B-B14F-4D97-AF65-F5344CB8AC3E}">
        <p14:creationId xmlns:p14="http://schemas.microsoft.com/office/powerpoint/2010/main" val="8777981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Ethical Conduct</a:t>
            </a:r>
          </a:p>
        </p:txBody>
      </p:sp>
      <p:sp>
        <p:nvSpPr>
          <p:cNvPr id="3" name="Content Placeholder 2"/>
          <p:cNvSpPr>
            <a:spLocks noGrp="1"/>
          </p:cNvSpPr>
          <p:nvPr>
            <p:ph idx="1"/>
          </p:nvPr>
        </p:nvSpPr>
        <p:spPr/>
        <p:txBody>
          <a:bodyPr/>
          <a:lstStyle/>
          <a:p>
            <a:r>
              <a:rPr lang="en-US" dirty="0"/>
              <a:t>Increasing inspection of corporate behavior and governance</a:t>
            </a:r>
            <a:br>
              <a:rPr lang="en-US" dirty="0"/>
            </a:br>
            <a:r>
              <a:rPr lang="en-US" dirty="0"/>
              <a:t>practices has heightened expectations for transparency, accountability, and ethical conduct in business operations, supply chains, and stakeholder relationships.</a:t>
            </a:r>
            <a:br>
              <a:rPr lang="en-US" dirty="0"/>
            </a:br>
            <a:endParaRPr lang="en-US" dirty="0"/>
          </a:p>
        </p:txBody>
      </p:sp>
    </p:spTree>
    <p:extLst>
      <p:ext uri="{BB962C8B-B14F-4D97-AF65-F5344CB8AC3E}">
        <p14:creationId xmlns:p14="http://schemas.microsoft.com/office/powerpoint/2010/main" val="10552715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Corporate Social Responsibility</a:t>
            </a:r>
          </a:p>
        </p:txBody>
      </p:sp>
      <p:sp>
        <p:nvSpPr>
          <p:cNvPr id="3" name="Content Placeholder 2"/>
          <p:cNvSpPr>
            <a:spLocks noGrp="1"/>
          </p:cNvSpPr>
          <p:nvPr>
            <p:ph idx="1"/>
          </p:nvPr>
        </p:nvSpPr>
        <p:spPr/>
        <p:txBody>
          <a:bodyPr/>
          <a:lstStyle/>
          <a:p>
            <a:r>
              <a:rPr lang="en-US" dirty="0"/>
              <a:t>Organizations are facing pressure to address social issues such as diversity and inclusion, income inequality, and community engagement, reflecting growing stakeholder expectations for</a:t>
            </a:r>
            <a:br>
              <a:rPr lang="en-US" dirty="0"/>
            </a:br>
            <a:r>
              <a:rPr lang="en-US" dirty="0"/>
              <a:t>businesses to contribute positively to society and address pressing social challenges.</a:t>
            </a:r>
            <a:br>
              <a:rPr lang="en-US" dirty="0"/>
            </a:br>
            <a:endParaRPr lang="en-US" dirty="0"/>
          </a:p>
        </p:txBody>
      </p:sp>
    </p:spTree>
    <p:extLst>
      <p:ext uri="{BB962C8B-B14F-4D97-AF65-F5344CB8AC3E}">
        <p14:creationId xmlns:p14="http://schemas.microsoft.com/office/powerpoint/2010/main" val="22037059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Strategies for Managing Business Pressures</a:t>
            </a:r>
            <a:endParaRPr lang="en-US" dirty="0"/>
          </a:p>
        </p:txBody>
      </p:sp>
      <p:sp>
        <p:nvSpPr>
          <p:cNvPr id="3" name="Content Placeholder 2"/>
          <p:cNvSpPr>
            <a:spLocks noGrp="1"/>
          </p:cNvSpPr>
          <p:nvPr>
            <p:ph idx="1"/>
          </p:nvPr>
        </p:nvSpPr>
        <p:spPr/>
        <p:txBody>
          <a:bodyPr/>
          <a:lstStyle/>
          <a:p>
            <a:r>
              <a:rPr lang="en-US" dirty="0"/>
              <a:t>In the face of these diverse and interconnected pressures, organizations must adopt proactive strategies to effectively manage risks, seize opportunities, and drive sustainable growth. </a:t>
            </a:r>
          </a:p>
          <a:p>
            <a:r>
              <a:rPr lang="en-US" dirty="0"/>
              <a:t>Some key strategies for navigating business pressures include:</a:t>
            </a:r>
          </a:p>
          <a:p>
            <a:pPr lvl="1"/>
            <a:r>
              <a:rPr lang="en-US" b="1" dirty="0"/>
              <a:t>Agility and Adaptability</a:t>
            </a:r>
          </a:p>
          <a:p>
            <a:pPr lvl="1"/>
            <a:r>
              <a:rPr lang="en-US" b="1" dirty="0"/>
              <a:t>Strategic Planning and Forecasting</a:t>
            </a:r>
          </a:p>
          <a:p>
            <a:pPr lvl="1"/>
            <a:r>
              <a:rPr lang="en-US" b="1" dirty="0"/>
              <a:t>Investment in Technology and Innovation</a:t>
            </a:r>
          </a:p>
          <a:p>
            <a:pPr lvl="1"/>
            <a:r>
              <a:rPr lang="en-US" b="1" dirty="0"/>
              <a:t>Customer-Centricity</a:t>
            </a:r>
          </a:p>
          <a:p>
            <a:pPr lvl="1"/>
            <a:r>
              <a:rPr lang="en-US" b="1" dirty="0"/>
              <a:t>Corporate Social Responsibility (CSR)</a:t>
            </a:r>
          </a:p>
        </p:txBody>
      </p:sp>
    </p:spTree>
    <p:extLst>
      <p:ext uri="{BB962C8B-B14F-4D97-AF65-F5344CB8AC3E}">
        <p14:creationId xmlns:p14="http://schemas.microsoft.com/office/powerpoint/2010/main" val="29953598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Agility and Adaptability</a:t>
            </a:r>
          </a:p>
        </p:txBody>
      </p:sp>
      <p:sp>
        <p:nvSpPr>
          <p:cNvPr id="3" name="Content Placeholder 2"/>
          <p:cNvSpPr>
            <a:spLocks noGrp="1"/>
          </p:cNvSpPr>
          <p:nvPr>
            <p:ph idx="1"/>
          </p:nvPr>
        </p:nvSpPr>
        <p:spPr/>
        <p:txBody>
          <a:bodyPr/>
          <a:lstStyle/>
          <a:p>
            <a:r>
              <a:rPr lang="en-US" dirty="0"/>
              <a:t>Organizations must cultivate a culture of agility and adaptability that enables them to respond quickly and effectively to changing market conditions, technological disruptions, and emerging trends.</a:t>
            </a:r>
          </a:p>
          <a:p>
            <a:r>
              <a:rPr lang="en-US" dirty="0"/>
              <a:t>This may involve embracing agile methodologies, fostering innovation, and empowering employees to experiment, learn, and iterate in pursuit of continuous improvement.</a:t>
            </a:r>
            <a:br>
              <a:rPr lang="en-US" dirty="0"/>
            </a:br>
            <a:endParaRPr lang="en-US" dirty="0"/>
          </a:p>
        </p:txBody>
      </p:sp>
    </p:spTree>
    <p:extLst>
      <p:ext uri="{BB962C8B-B14F-4D97-AF65-F5344CB8AC3E}">
        <p14:creationId xmlns:p14="http://schemas.microsoft.com/office/powerpoint/2010/main" val="26821926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Strategic Planning and Forecasting</a:t>
            </a:r>
            <a:endParaRPr lang="en-US" dirty="0"/>
          </a:p>
        </p:txBody>
      </p:sp>
      <p:sp>
        <p:nvSpPr>
          <p:cNvPr id="3" name="Content Placeholder 2"/>
          <p:cNvSpPr>
            <a:spLocks noGrp="1"/>
          </p:cNvSpPr>
          <p:nvPr>
            <p:ph idx="1"/>
          </p:nvPr>
        </p:nvSpPr>
        <p:spPr/>
        <p:txBody>
          <a:bodyPr/>
          <a:lstStyle/>
          <a:p>
            <a:r>
              <a:rPr lang="en-US" dirty="0"/>
              <a:t>Strategic planning and forecasting enable organizations to anticipate and mitigate potential business pressures by identifying trends, risks, and opportunities in the external environment. </a:t>
            </a:r>
          </a:p>
          <a:p>
            <a:r>
              <a:rPr lang="en-US" dirty="0"/>
              <a:t>By conducting through market analysis, scenario planning, and risk assessments.</a:t>
            </a:r>
          </a:p>
          <a:p>
            <a:r>
              <a:rPr lang="en-US" dirty="0"/>
              <a:t>Organizations can develop robust strategies and contingency plans to navigate uncertainty and capitalize on emerging opportunities.</a:t>
            </a:r>
            <a:br>
              <a:rPr lang="en-US" dirty="0"/>
            </a:br>
            <a:endParaRPr lang="en-US" dirty="0"/>
          </a:p>
        </p:txBody>
      </p:sp>
    </p:spTree>
    <p:extLst>
      <p:ext uri="{BB962C8B-B14F-4D97-AF65-F5344CB8AC3E}">
        <p14:creationId xmlns:p14="http://schemas.microsoft.com/office/powerpoint/2010/main" val="19210484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Investment in Technology and Innovation</a:t>
            </a:r>
            <a:endParaRPr lang="en-US" dirty="0"/>
          </a:p>
        </p:txBody>
      </p:sp>
      <p:sp>
        <p:nvSpPr>
          <p:cNvPr id="3" name="Content Placeholder 2"/>
          <p:cNvSpPr>
            <a:spLocks noGrp="1"/>
          </p:cNvSpPr>
          <p:nvPr>
            <p:ph idx="1"/>
          </p:nvPr>
        </p:nvSpPr>
        <p:spPr/>
        <p:txBody>
          <a:bodyPr/>
          <a:lstStyle/>
          <a:p>
            <a:r>
              <a:rPr lang="en-US" dirty="0"/>
              <a:t>Investing in technology and innovation is essential for organizations to remain competitive and resilient in the face of technological disruptions and market pressures. </a:t>
            </a:r>
          </a:p>
          <a:p>
            <a:r>
              <a:rPr lang="en-US" dirty="0"/>
              <a:t>By leveraging cutting-edge technologies such as artificial intelligence, cloud computing, and data analytics, organizations can enhance operational efficiency, improve decision-making, and unlock new opportunities for growth and differentiation.</a:t>
            </a:r>
          </a:p>
        </p:txBody>
      </p:sp>
    </p:spTree>
    <p:extLst>
      <p:ext uri="{BB962C8B-B14F-4D97-AF65-F5344CB8AC3E}">
        <p14:creationId xmlns:p14="http://schemas.microsoft.com/office/powerpoint/2010/main" val="25997190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Customer-Centricity</a:t>
            </a:r>
            <a:endParaRPr lang="en-US" dirty="0"/>
          </a:p>
        </p:txBody>
      </p:sp>
      <p:sp>
        <p:nvSpPr>
          <p:cNvPr id="3" name="Content Placeholder 2"/>
          <p:cNvSpPr>
            <a:spLocks noGrp="1"/>
          </p:cNvSpPr>
          <p:nvPr>
            <p:ph idx="1"/>
          </p:nvPr>
        </p:nvSpPr>
        <p:spPr/>
        <p:txBody>
          <a:bodyPr/>
          <a:lstStyle/>
          <a:p>
            <a:r>
              <a:rPr lang="en-US" dirty="0"/>
              <a:t>Adopting a customer-centric approach is crucial for organizations to meet evolving customer demands and preferences amidst market pressures. </a:t>
            </a:r>
          </a:p>
          <a:p>
            <a:r>
              <a:rPr lang="en-US" dirty="0"/>
              <a:t>By listening to customer feedback, gathering insights, and</a:t>
            </a:r>
            <a:br>
              <a:rPr lang="en-US" dirty="0"/>
            </a:br>
            <a:r>
              <a:rPr lang="en-US" dirty="0"/>
              <a:t>delivering personalized experiences, organizations can build strong customer relationships, foster loyalty, and differentiate themselves from competitors in crowded markets.</a:t>
            </a:r>
            <a:br>
              <a:rPr lang="en-US" dirty="0"/>
            </a:br>
            <a:endParaRPr lang="en-US" dirty="0"/>
          </a:p>
        </p:txBody>
      </p:sp>
    </p:spTree>
    <p:extLst>
      <p:ext uri="{BB962C8B-B14F-4D97-AF65-F5344CB8AC3E}">
        <p14:creationId xmlns:p14="http://schemas.microsoft.com/office/powerpoint/2010/main" val="40336021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Corporate Social Responsibility (CSR)</a:t>
            </a:r>
            <a:endParaRPr lang="en-US" dirty="0"/>
          </a:p>
        </p:txBody>
      </p:sp>
      <p:sp>
        <p:nvSpPr>
          <p:cNvPr id="3" name="Content Placeholder 2"/>
          <p:cNvSpPr>
            <a:spLocks noGrp="1"/>
          </p:cNvSpPr>
          <p:nvPr>
            <p:ph idx="1"/>
          </p:nvPr>
        </p:nvSpPr>
        <p:spPr/>
        <p:txBody>
          <a:bodyPr>
            <a:normAutofit/>
          </a:bodyPr>
          <a:lstStyle/>
          <a:p>
            <a:r>
              <a:rPr lang="en-US" dirty="0"/>
              <a:t>Embracing corporate social responsibility is increasingly important for organizations to address societal pressures and demonstrate their commitment to ethical, sustainable, and socially responsible business practices. </a:t>
            </a:r>
          </a:p>
          <a:p>
            <a:r>
              <a:rPr lang="en-US" dirty="0"/>
              <a:t>By integrating CSR initiatives into their operations, supply chains, and stakeholder engagements. </a:t>
            </a:r>
          </a:p>
          <a:p>
            <a:r>
              <a:rPr lang="en-US" dirty="0"/>
              <a:t>Organizations can enhance their reputation, build trust, and create long-term value for society and the planet.</a:t>
            </a:r>
          </a:p>
        </p:txBody>
      </p:sp>
    </p:spTree>
    <p:extLst>
      <p:ext uri="{BB962C8B-B14F-4D97-AF65-F5344CB8AC3E}">
        <p14:creationId xmlns:p14="http://schemas.microsoft.com/office/powerpoint/2010/main" val="35747818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9433"/>
            <a:ext cx="10515600" cy="761926"/>
          </a:xfrm>
        </p:spPr>
        <p:txBody>
          <a:bodyPr/>
          <a:lstStyle/>
          <a:p>
            <a:r>
              <a:rPr lang="en-US" b="1" dirty="0"/>
              <a:t>Positive Impacts</a:t>
            </a:r>
          </a:p>
        </p:txBody>
      </p:sp>
      <p:sp>
        <p:nvSpPr>
          <p:cNvPr id="3" name="Content Placeholder 2"/>
          <p:cNvSpPr>
            <a:spLocks noGrp="1"/>
          </p:cNvSpPr>
          <p:nvPr>
            <p:ph idx="1"/>
          </p:nvPr>
        </p:nvSpPr>
        <p:spPr>
          <a:xfrm>
            <a:off x="838200" y="1190847"/>
            <a:ext cx="10515600" cy="4986116"/>
          </a:xfrm>
        </p:spPr>
        <p:txBody>
          <a:bodyPr>
            <a:normAutofit fontScale="92500"/>
          </a:bodyPr>
          <a:lstStyle/>
          <a:p>
            <a:r>
              <a:rPr lang="en-US" b="1" dirty="0"/>
              <a:t>Increased Innovation: </a:t>
            </a:r>
            <a:r>
              <a:rPr lang="en-US" dirty="0"/>
              <a:t>The need to compete and adapt to changing market</a:t>
            </a:r>
            <a:br>
              <a:rPr lang="en-US" dirty="0"/>
            </a:br>
            <a:r>
              <a:rPr lang="en-US" dirty="0"/>
              <a:t>demands can drive innovation in products, services, and business models.</a:t>
            </a:r>
          </a:p>
          <a:p>
            <a:r>
              <a:rPr lang="en-US" b="1" dirty="0"/>
              <a:t>Improved Efficiency: </a:t>
            </a:r>
            <a:r>
              <a:rPr lang="en-US" dirty="0"/>
              <a:t>Pressures to reduce costs and optimize operations often lead to the adoption of leaner processes, automation, and resource allocation strategies.</a:t>
            </a:r>
          </a:p>
          <a:p>
            <a:r>
              <a:rPr lang="en-US" b="1" dirty="0"/>
              <a:t>Enhanced Customer Focus: </a:t>
            </a:r>
            <a:r>
              <a:rPr lang="en-US" dirty="0"/>
              <a:t>Meeting customer demands, and exceeding</a:t>
            </a:r>
            <a:br>
              <a:rPr lang="en-US" dirty="0"/>
            </a:br>
            <a:r>
              <a:rPr lang="en-US" dirty="0"/>
              <a:t>expectations become priorities to remain competitive, leading to improved</a:t>
            </a:r>
            <a:br>
              <a:rPr lang="en-US" dirty="0"/>
            </a:br>
            <a:r>
              <a:rPr lang="en-US" dirty="0"/>
              <a:t>customer service and satisfaction.</a:t>
            </a:r>
          </a:p>
          <a:p>
            <a:r>
              <a:rPr lang="en-US" b="1" dirty="0"/>
              <a:t>Heightened Risk Management: </a:t>
            </a:r>
            <a:r>
              <a:rPr lang="en-US" dirty="0"/>
              <a:t>The ever-present threat of cyberattacks and economic downturns prompts companies to develop robust risk management strategies.</a:t>
            </a:r>
          </a:p>
        </p:txBody>
      </p:sp>
    </p:spTree>
    <p:extLst>
      <p:ext uri="{BB962C8B-B14F-4D97-AF65-F5344CB8AC3E}">
        <p14:creationId xmlns:p14="http://schemas.microsoft.com/office/powerpoint/2010/main" val="36062937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8976"/>
            <a:ext cx="10515600" cy="751294"/>
          </a:xfrm>
        </p:spPr>
        <p:txBody>
          <a:bodyPr/>
          <a:lstStyle/>
          <a:p>
            <a:r>
              <a:rPr lang="en-US" b="1" dirty="0"/>
              <a:t>Negative Impacts</a:t>
            </a:r>
          </a:p>
        </p:txBody>
      </p:sp>
      <p:sp>
        <p:nvSpPr>
          <p:cNvPr id="3" name="Content Placeholder 2"/>
          <p:cNvSpPr>
            <a:spLocks noGrp="1"/>
          </p:cNvSpPr>
          <p:nvPr>
            <p:ph idx="1"/>
          </p:nvPr>
        </p:nvSpPr>
        <p:spPr>
          <a:xfrm>
            <a:off x="838200" y="1392865"/>
            <a:ext cx="10515600" cy="4784098"/>
          </a:xfrm>
        </p:spPr>
        <p:txBody>
          <a:bodyPr>
            <a:normAutofit/>
          </a:bodyPr>
          <a:lstStyle/>
          <a:p>
            <a:r>
              <a:rPr lang="en-US" b="1" dirty="0"/>
              <a:t>Short-Termism: </a:t>
            </a:r>
            <a:r>
              <a:rPr lang="en-US" dirty="0"/>
              <a:t>The pressure to deliver immediate results can lead to</a:t>
            </a:r>
            <a:br>
              <a:rPr lang="en-US" dirty="0"/>
            </a:br>
            <a:r>
              <a:rPr lang="en-US" dirty="0"/>
              <a:t>companies sacrificing long-term investments in innovation and sustainability.</a:t>
            </a:r>
          </a:p>
          <a:p>
            <a:r>
              <a:rPr lang="en-US" b="1" dirty="0"/>
              <a:t>Ethical Lapses: </a:t>
            </a:r>
            <a:r>
              <a:rPr lang="en-US" dirty="0"/>
              <a:t>Cutting corners to reduce costs or meet deadlines can result in unethical practices like compromising on quality or exploiting labor.</a:t>
            </a:r>
          </a:p>
          <a:p>
            <a:r>
              <a:rPr lang="en-US" b="1" dirty="0"/>
              <a:t>Employee Burnout: </a:t>
            </a:r>
            <a:r>
              <a:rPr lang="en-US" dirty="0"/>
              <a:t>Constant pressure to perform can lead to employee burnout, reduced morale, and increased turnover.</a:t>
            </a:r>
          </a:p>
          <a:p>
            <a:r>
              <a:rPr lang="en-US" b="1" dirty="0"/>
              <a:t>Stagnation: </a:t>
            </a:r>
            <a:r>
              <a:rPr lang="en-US" dirty="0"/>
              <a:t>A fear of taking risks due to intense competition can lead to an unwillingness to innovate, ultimately hindering growth.</a:t>
            </a:r>
            <a:br>
              <a:rPr lang="en-US" dirty="0"/>
            </a:br>
            <a:endParaRPr lang="en-US" dirty="0"/>
          </a:p>
        </p:txBody>
      </p:sp>
    </p:spTree>
    <p:extLst>
      <p:ext uri="{BB962C8B-B14F-4D97-AF65-F5344CB8AC3E}">
        <p14:creationId xmlns:p14="http://schemas.microsoft.com/office/powerpoint/2010/main" val="11457335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5004"/>
            <a:ext cx="10515600" cy="1144698"/>
          </a:xfrm>
        </p:spPr>
        <p:txBody>
          <a:bodyPr>
            <a:normAutofit fontScale="90000"/>
          </a:bodyPr>
          <a:lstStyle/>
          <a:p>
            <a:r>
              <a:rPr lang="en-US" b="1" dirty="0"/>
              <a:t>Some key strategies to follow so that the impact will be mostly positive:</a:t>
            </a:r>
          </a:p>
        </p:txBody>
      </p:sp>
      <p:sp>
        <p:nvSpPr>
          <p:cNvPr id="3" name="Content Placeholder 2"/>
          <p:cNvSpPr>
            <a:spLocks noGrp="1"/>
          </p:cNvSpPr>
          <p:nvPr>
            <p:ph idx="1"/>
          </p:nvPr>
        </p:nvSpPr>
        <p:spPr>
          <a:xfrm>
            <a:off x="838200" y="1828801"/>
            <a:ext cx="10515600" cy="4943586"/>
          </a:xfrm>
        </p:spPr>
        <p:txBody>
          <a:bodyPr>
            <a:normAutofit fontScale="92500" lnSpcReduction="20000"/>
          </a:bodyPr>
          <a:lstStyle/>
          <a:p>
            <a:r>
              <a:rPr lang="en-US" b="1" dirty="0"/>
              <a:t>Develop a Strategic Vision: </a:t>
            </a:r>
            <a:r>
              <a:rPr lang="en-US" dirty="0"/>
              <a:t>Having a clear vision for the future, aligned with core values, sets a direction for innovation and decision-making amidst external pressures.</a:t>
            </a:r>
            <a:br>
              <a:rPr lang="en-US" dirty="0"/>
            </a:br>
            <a:endParaRPr lang="en-US" dirty="0"/>
          </a:p>
          <a:p>
            <a:r>
              <a:rPr lang="en-US" b="1" dirty="0"/>
              <a:t>Embrace a Culture of Innovation: </a:t>
            </a:r>
            <a:r>
              <a:rPr lang="en-US" dirty="0"/>
              <a:t>Foster a culture that encourages creativity, experimentation, and risk-taking to stay ahead of the curve.</a:t>
            </a:r>
            <a:br>
              <a:rPr lang="en-US" dirty="0"/>
            </a:br>
            <a:endParaRPr lang="en-US" dirty="0"/>
          </a:p>
          <a:p>
            <a:r>
              <a:rPr lang="en-US" b="1" dirty="0"/>
              <a:t>Invest in People: </a:t>
            </a:r>
            <a:r>
              <a:rPr lang="en-US" dirty="0"/>
              <a:t>Employees are the backbone of any organization. Providing them with the skills, training, and support necessary to thrive in a pressured environment is crucial.</a:t>
            </a:r>
            <a:br>
              <a:rPr lang="en-US" dirty="0"/>
            </a:br>
            <a:endParaRPr lang="en-US" dirty="0"/>
          </a:p>
          <a:p>
            <a:r>
              <a:rPr lang="en-US" b="1" dirty="0"/>
              <a:t>Embrace Data-Driven Decision Making: </a:t>
            </a:r>
            <a:r>
              <a:rPr lang="en-US" dirty="0"/>
              <a:t>Leverage data analytics to gain insights into customer behavior, market trends, and operational efficiencies, facilitating informed decisions amidst pressures.</a:t>
            </a:r>
            <a:br>
              <a:rPr lang="en-US" dirty="0"/>
            </a:br>
            <a:endParaRPr lang="en-US" dirty="0"/>
          </a:p>
        </p:txBody>
      </p:sp>
    </p:spTree>
    <p:extLst>
      <p:ext uri="{BB962C8B-B14F-4D97-AF65-F5344CB8AC3E}">
        <p14:creationId xmlns:p14="http://schemas.microsoft.com/office/powerpoint/2010/main" val="26967362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9730"/>
            <a:ext cx="10515600" cy="5677233"/>
          </a:xfrm>
        </p:spPr>
        <p:txBody>
          <a:bodyPr>
            <a:normAutofit fontScale="92500" lnSpcReduction="20000"/>
          </a:bodyPr>
          <a:lstStyle/>
          <a:p>
            <a:r>
              <a:rPr lang="en-US" b="1" dirty="0"/>
              <a:t>Prioritize Sustainability and CSR: </a:t>
            </a:r>
            <a:r>
              <a:rPr lang="en-US" dirty="0"/>
              <a:t>Integrate sustainable practices and social responsibility initiatives into the core business strategy, not just as a reaction to pressures.</a:t>
            </a:r>
            <a:br>
              <a:rPr lang="en-US" dirty="0"/>
            </a:br>
            <a:endParaRPr lang="en-US" dirty="0"/>
          </a:p>
          <a:p>
            <a:r>
              <a:rPr lang="en-US" b="1" dirty="0"/>
              <a:t>Agile and Adaptive Management: </a:t>
            </a:r>
            <a:r>
              <a:rPr lang="en-US" dirty="0"/>
              <a:t>Develop an agile management style that allows for quick adaptation to changing market conditions and external pressures.</a:t>
            </a:r>
            <a:br>
              <a:rPr lang="en-US" dirty="0"/>
            </a:br>
            <a:endParaRPr lang="en-US" dirty="0"/>
          </a:p>
          <a:p>
            <a:r>
              <a:rPr lang="en-US" b="1" dirty="0"/>
              <a:t>Open Communication and Transparency: </a:t>
            </a:r>
            <a:r>
              <a:rPr lang="en-US" dirty="0"/>
              <a:t>Maintain open and transparent communication with all stakeholders, fostering trust and buy-in during times of pressure. This includes employees, customers, investors, and the community at large.</a:t>
            </a:r>
            <a:br>
              <a:rPr lang="en-US" dirty="0"/>
            </a:br>
            <a:endParaRPr lang="en-US" dirty="0"/>
          </a:p>
          <a:p>
            <a:r>
              <a:rPr lang="en-US" b="1" dirty="0"/>
              <a:t>Continuous Monitoring and Adjustment: </a:t>
            </a:r>
            <a:r>
              <a:rPr lang="en-US" dirty="0"/>
              <a:t>The business landscape is constantly evolving. Regularly monitor internal and external pressures and be prepared to adjust strategies and processes as needed to ensure continued success.</a:t>
            </a:r>
            <a:br>
              <a:rPr lang="en-US" dirty="0"/>
            </a:br>
            <a:endParaRPr lang="en-US" dirty="0"/>
          </a:p>
        </p:txBody>
      </p:sp>
    </p:spTree>
    <p:extLst>
      <p:ext uri="{BB962C8B-B14F-4D97-AF65-F5344CB8AC3E}">
        <p14:creationId xmlns:p14="http://schemas.microsoft.com/office/powerpoint/2010/main" val="392595028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41572"/>
            <a:ext cx="10515600" cy="1314819"/>
          </a:xfrm>
        </p:spPr>
        <p:txBody>
          <a:bodyPr>
            <a:normAutofit fontScale="90000"/>
          </a:bodyPr>
          <a:lstStyle/>
          <a:p>
            <a:r>
              <a:rPr lang="en-US" sz="4000" b="1" dirty="0"/>
              <a:t>Some examples showing how real-world organizations have navigated specific business pressures:</a:t>
            </a:r>
            <a:endParaRPr lang="en-US" b="1" dirty="0"/>
          </a:p>
        </p:txBody>
      </p:sp>
      <p:sp>
        <p:nvSpPr>
          <p:cNvPr id="3" name="Content Placeholder 2"/>
          <p:cNvSpPr>
            <a:spLocks noGrp="1"/>
          </p:cNvSpPr>
          <p:nvPr>
            <p:ph idx="1"/>
          </p:nvPr>
        </p:nvSpPr>
        <p:spPr>
          <a:xfrm>
            <a:off x="838200" y="2867615"/>
            <a:ext cx="10515600" cy="2767641"/>
          </a:xfrm>
        </p:spPr>
        <p:txBody>
          <a:bodyPr>
            <a:normAutofit/>
          </a:bodyPr>
          <a:lstStyle/>
          <a:p>
            <a:r>
              <a:rPr lang="en-US" b="1" dirty="0"/>
              <a:t>E-commerce Giant Adapts to Changing Customer Demands: </a:t>
            </a:r>
          </a:p>
          <a:p>
            <a:pPr lvl="1"/>
            <a:r>
              <a:rPr lang="en-US" dirty="0"/>
              <a:t>An online retail giant faces increasing pressure from customers who demand faster delivery times and wider product variety. </a:t>
            </a:r>
          </a:p>
          <a:p>
            <a:pPr lvl="1"/>
            <a:r>
              <a:rPr lang="en-US" dirty="0"/>
              <a:t>The company invests in automation technologies for faster fulfillment and implements a dynamic pricing strategy to cater to customer preferences.</a:t>
            </a:r>
          </a:p>
          <a:p>
            <a:pPr lvl="1"/>
            <a:endParaRPr lang="en-US" b="1" dirty="0"/>
          </a:p>
        </p:txBody>
      </p:sp>
    </p:spTree>
    <p:extLst>
      <p:ext uri="{BB962C8B-B14F-4D97-AF65-F5344CB8AC3E}">
        <p14:creationId xmlns:p14="http://schemas.microsoft.com/office/powerpoint/2010/main" val="25160729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1628"/>
            <a:ext cx="10515600" cy="5645335"/>
          </a:xfrm>
        </p:spPr>
        <p:txBody>
          <a:bodyPr/>
          <a:lstStyle/>
          <a:p>
            <a:r>
              <a:rPr lang="en-US" b="1" dirty="0"/>
              <a:t>Manufacturing Company Embraces Sustainability: </a:t>
            </a:r>
          </a:p>
          <a:p>
            <a:pPr lvl="1"/>
            <a:r>
              <a:rPr lang="en-US" dirty="0"/>
              <a:t>A traditional manufacturing company faces pressure from consumers and regulators to adopt environmentally friendly practices. </a:t>
            </a:r>
          </a:p>
          <a:p>
            <a:pPr lvl="1"/>
            <a:r>
              <a:rPr lang="en-US" dirty="0"/>
              <a:t>The company invests in renewable energy sources, reduces waste throughout the production process, and uses recycled materials in its products.</a:t>
            </a:r>
            <a:endParaRPr lang="en-US" b="1" dirty="0"/>
          </a:p>
          <a:p>
            <a:endParaRPr lang="en-US" b="1" dirty="0"/>
          </a:p>
          <a:p>
            <a:r>
              <a:rPr lang="en-US" b="1" dirty="0"/>
              <a:t>Startup Disrupts Established Industry: </a:t>
            </a:r>
          </a:p>
          <a:p>
            <a:pPr lvl="1"/>
            <a:r>
              <a:rPr lang="en-US" dirty="0"/>
              <a:t>A tech startup disrupts the taxi industry with a mobile app offering a more convenient and affordable ride hailing service. </a:t>
            </a:r>
          </a:p>
          <a:p>
            <a:pPr lvl="1"/>
            <a:r>
              <a:rPr lang="en-US" dirty="0"/>
              <a:t>Established taxi companies adapt by investing in mobile app technology and improving customer service to remain competitive.</a:t>
            </a:r>
            <a:endParaRPr lang="en-US" b="1" dirty="0"/>
          </a:p>
          <a:p>
            <a:endParaRPr lang="en-US" dirty="0"/>
          </a:p>
        </p:txBody>
      </p:sp>
    </p:spTree>
    <p:extLst>
      <p:ext uri="{BB962C8B-B14F-4D97-AF65-F5344CB8AC3E}">
        <p14:creationId xmlns:p14="http://schemas.microsoft.com/office/powerpoint/2010/main" val="324134902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9311"/>
            <a:ext cx="10515600" cy="1325563"/>
          </a:xfrm>
        </p:spPr>
        <p:txBody>
          <a:bodyPr>
            <a:normAutofit/>
          </a:bodyPr>
          <a:lstStyle/>
          <a:p>
            <a:r>
              <a:rPr lang="en-US" dirty="0"/>
              <a:t>Organizational Responses, and Information Technology Support</a:t>
            </a:r>
          </a:p>
        </p:txBody>
      </p:sp>
      <p:sp>
        <p:nvSpPr>
          <p:cNvPr id="3" name="Content Placeholder 2"/>
          <p:cNvSpPr>
            <a:spLocks noGrp="1"/>
          </p:cNvSpPr>
          <p:nvPr>
            <p:ph idx="1"/>
          </p:nvPr>
        </p:nvSpPr>
        <p:spPr>
          <a:xfrm>
            <a:off x="838200" y="1424874"/>
            <a:ext cx="10515600" cy="5082252"/>
          </a:xfrm>
        </p:spPr>
        <p:txBody>
          <a:bodyPr>
            <a:normAutofit fontScale="77500" lnSpcReduction="20000"/>
          </a:bodyPr>
          <a:lstStyle/>
          <a:p>
            <a:r>
              <a:rPr lang="en-US" dirty="0"/>
              <a:t>Organizations navigate a dynamic business environment filled with challenges and</a:t>
            </a:r>
            <a:br>
              <a:rPr lang="en-US" dirty="0"/>
            </a:br>
            <a:r>
              <a:rPr lang="en-US" dirty="0"/>
              <a:t>opportunities. </a:t>
            </a:r>
          </a:p>
          <a:p>
            <a:r>
              <a:rPr lang="en-US" dirty="0"/>
              <a:t>External and internal forces necessitate a proactive approach to adaptation and improvement. </a:t>
            </a:r>
          </a:p>
          <a:p>
            <a:r>
              <a:rPr lang="en-US" dirty="0"/>
              <a:t>The first step in formulating an organizational response is identifying the need for change. </a:t>
            </a:r>
          </a:p>
          <a:p>
            <a:r>
              <a:rPr lang="en-US" dirty="0"/>
              <a:t>Market pressures, technological advancements, regulatory changes, or internal inefficiencies can all trigger the need to adapt. </a:t>
            </a:r>
          </a:p>
          <a:p>
            <a:r>
              <a:rPr lang="en-US" dirty="0"/>
              <a:t>Once the need for change is established, organizations must develop a strategic response. </a:t>
            </a:r>
          </a:p>
          <a:p>
            <a:r>
              <a:rPr lang="en-US" dirty="0"/>
              <a:t> This involves a thorough situational analysis to identify strengths, weaknesses, opportunities, and threats (SWOT analysis). </a:t>
            </a:r>
          </a:p>
          <a:p>
            <a:r>
              <a:rPr lang="en-US" dirty="0"/>
              <a:t>Additionally, clear, and measurable goals are defined for the desired outcome of the response. </a:t>
            </a:r>
          </a:p>
          <a:p>
            <a:r>
              <a:rPr lang="en-US" dirty="0"/>
              <a:t>Finally, a course of action is selected that aligns with the goals and takes advantage of the organization’s strengths.</a:t>
            </a:r>
          </a:p>
        </p:txBody>
      </p:sp>
    </p:spTree>
    <p:extLst>
      <p:ext uri="{BB962C8B-B14F-4D97-AF65-F5344CB8AC3E}">
        <p14:creationId xmlns:p14="http://schemas.microsoft.com/office/powerpoint/2010/main" val="27479566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Strategic Information Systems</a:t>
            </a:r>
            <a:endParaRPr lang="en-US" dirty="0"/>
          </a:p>
        </p:txBody>
      </p:sp>
      <p:sp>
        <p:nvSpPr>
          <p:cNvPr id="3" name="Content Placeholder 2"/>
          <p:cNvSpPr>
            <a:spLocks noGrp="1"/>
          </p:cNvSpPr>
          <p:nvPr>
            <p:ph idx="1"/>
          </p:nvPr>
        </p:nvSpPr>
        <p:spPr/>
        <p:txBody>
          <a:bodyPr/>
          <a:lstStyle/>
          <a:p>
            <a:r>
              <a:rPr lang="en-US" dirty="0"/>
              <a:t>Strategic Information Systems (SIS) refers to the integration of information technology with organizational strategy to enhance business processes, improve performance, and create competitive advantage. </a:t>
            </a:r>
          </a:p>
          <a:p>
            <a:r>
              <a:rPr lang="en-US" dirty="0"/>
              <a:t>Unlike traditional information systems, which primarily focus on automating routine tasks and supporting operational activities.</a:t>
            </a:r>
          </a:p>
          <a:p>
            <a:r>
              <a:rPr lang="en-US" dirty="0"/>
              <a:t>Strategic Information Systems are aligned with the overarching goals and objectives of the organization, enabling strategic decision-making, innovation, and value creation.</a:t>
            </a:r>
          </a:p>
        </p:txBody>
      </p:sp>
    </p:spTree>
    <p:extLst>
      <p:ext uri="{BB962C8B-B14F-4D97-AF65-F5344CB8AC3E}">
        <p14:creationId xmlns:p14="http://schemas.microsoft.com/office/powerpoint/2010/main" val="41222069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74158"/>
            <a:ext cx="10515600" cy="5602805"/>
          </a:xfrm>
        </p:spPr>
        <p:txBody>
          <a:bodyPr>
            <a:normAutofit lnSpcReduction="10000"/>
          </a:bodyPr>
          <a:lstStyle/>
          <a:p>
            <a:r>
              <a:rPr lang="en-US" b="1" dirty="0"/>
              <a:t>Strategic Information System (SIS) </a:t>
            </a:r>
            <a:r>
              <a:rPr lang="en-US" dirty="0"/>
              <a:t>provides long-term strategic advantages to an organization by helping it to compete successfully in the marketplace. </a:t>
            </a:r>
          </a:p>
          <a:p>
            <a:r>
              <a:rPr lang="en-US" dirty="0"/>
              <a:t>Strategic systems are the product of creative thinking and are often difficult to develop. </a:t>
            </a:r>
          </a:p>
          <a:p>
            <a:r>
              <a:rPr lang="en-US" dirty="0"/>
              <a:t>A system, whether it is a TPS, an MIS, a DSS, an EIS, or an ES, becomes strategic when it is used to give the company an edge in the marketplace. </a:t>
            </a:r>
          </a:p>
          <a:p>
            <a:r>
              <a:rPr lang="en-US" dirty="0"/>
              <a:t>Thus, Strategic Information System (SIS) is a system that helps companies change or otherwise alter their business strategy and/or structure. </a:t>
            </a:r>
          </a:p>
          <a:p>
            <a:r>
              <a:rPr lang="en-US" dirty="0"/>
              <a:t>It is typically utilized to streamline and quicken the reaction time to environmental changes and aid it in achieving a competitive advantage.</a:t>
            </a:r>
          </a:p>
        </p:txBody>
      </p:sp>
    </p:spTree>
    <p:extLst>
      <p:ext uri="{BB962C8B-B14F-4D97-AF65-F5344CB8AC3E}">
        <p14:creationId xmlns:p14="http://schemas.microsoft.com/office/powerpoint/2010/main" val="30570125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5005"/>
            <a:ext cx="10515600" cy="644968"/>
          </a:xfrm>
        </p:spPr>
        <p:txBody>
          <a:bodyPr>
            <a:normAutofit fontScale="90000"/>
          </a:bodyPr>
          <a:lstStyle/>
          <a:p>
            <a:r>
              <a:rPr lang="en-US" b="1" dirty="0"/>
              <a:t>The key features of SIS</a:t>
            </a:r>
          </a:p>
        </p:txBody>
      </p:sp>
      <p:sp>
        <p:nvSpPr>
          <p:cNvPr id="3" name="Content Placeholder 2"/>
          <p:cNvSpPr>
            <a:spLocks noGrp="1"/>
          </p:cNvSpPr>
          <p:nvPr>
            <p:ph idx="1"/>
          </p:nvPr>
        </p:nvSpPr>
        <p:spPr>
          <a:xfrm>
            <a:off x="838200" y="1010093"/>
            <a:ext cx="10515600" cy="5401340"/>
          </a:xfrm>
        </p:spPr>
        <p:txBody>
          <a:bodyPr>
            <a:normAutofit lnSpcReduction="10000"/>
          </a:bodyPr>
          <a:lstStyle/>
          <a:p>
            <a:r>
              <a:rPr lang="en-US" b="1" dirty="0"/>
              <a:t>Decision Support System: </a:t>
            </a:r>
            <a:r>
              <a:rPr lang="en-US" dirty="0"/>
              <a:t>It enables us to develop a strategic approach to align information systems (IS) or information technologies (IT) with an organization's business strategies.</a:t>
            </a:r>
          </a:p>
          <a:p>
            <a:r>
              <a:rPr lang="en-US" b="1" dirty="0"/>
              <a:t>Enterprise Resource Planning (ERP) Solutions: </a:t>
            </a:r>
            <a:r>
              <a:rPr lang="en-US" dirty="0"/>
              <a:t>It enables to integrate the business processes to meet the enterprise objectives for the optimization of enterprise resources.</a:t>
            </a:r>
          </a:p>
          <a:p>
            <a:r>
              <a:rPr lang="en-US" b="1" dirty="0"/>
              <a:t>Database Systems: </a:t>
            </a:r>
            <a:r>
              <a:rPr lang="en-US" dirty="0"/>
              <a:t>Database systems by means of the ‘data mining’ capabilities to make the best use of available corporate information for marketing, production, promotion, and innovation. The SIS systems also facilitate identification of data collection strategies to help optimize database marketing opportunities.</a:t>
            </a:r>
          </a:p>
          <a:p>
            <a:r>
              <a:rPr lang="en-US" b="1" dirty="0"/>
              <a:t>Real-time information systems: </a:t>
            </a:r>
            <a:r>
              <a:rPr lang="en-US" dirty="0"/>
              <a:t>It aims to maintain a rapid response and the quality indicators.</a:t>
            </a:r>
          </a:p>
        </p:txBody>
      </p:sp>
    </p:spTree>
    <p:extLst>
      <p:ext uri="{BB962C8B-B14F-4D97-AF65-F5344CB8AC3E}">
        <p14:creationId xmlns:p14="http://schemas.microsoft.com/office/powerpoint/2010/main" val="350525827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Strategic Information Systems are characterized by:</a:t>
            </a:r>
          </a:p>
        </p:txBody>
      </p:sp>
      <p:sp>
        <p:nvSpPr>
          <p:cNvPr id="3" name="Content Placeholder 2"/>
          <p:cNvSpPr>
            <a:spLocks noGrp="1"/>
          </p:cNvSpPr>
          <p:nvPr>
            <p:ph idx="1"/>
          </p:nvPr>
        </p:nvSpPr>
        <p:spPr/>
        <p:txBody>
          <a:bodyPr>
            <a:normAutofit fontScale="92500"/>
          </a:bodyPr>
          <a:lstStyle/>
          <a:p>
            <a:r>
              <a:rPr lang="en-US" b="1" dirty="0"/>
              <a:t>Alignment with Organizational Strategy: </a:t>
            </a:r>
          </a:p>
          <a:p>
            <a:pPr lvl="1"/>
            <a:r>
              <a:rPr lang="en-US" dirty="0"/>
              <a:t>SIS are closely aligned with the strategic objectives, priorities, and initiatives of the organization. </a:t>
            </a:r>
          </a:p>
          <a:p>
            <a:pPr lvl="1"/>
            <a:r>
              <a:rPr lang="en-US" dirty="0"/>
              <a:t>They are designed and implemented in a way that supports the organization’s overall mission, vision, and goals, driving strategic alignment and coherence across all levels of the organization.</a:t>
            </a:r>
          </a:p>
          <a:p>
            <a:r>
              <a:rPr lang="en-US" dirty="0"/>
              <a:t> </a:t>
            </a:r>
            <a:r>
              <a:rPr lang="en-US" b="1" dirty="0"/>
              <a:t>Focus on Value Creation: </a:t>
            </a:r>
          </a:p>
          <a:p>
            <a:pPr lvl="1"/>
            <a:r>
              <a:rPr lang="en-US" dirty="0"/>
              <a:t>SIS are oriented towards creating tangible value for the organization, its customers, and its stakeholders. </a:t>
            </a:r>
          </a:p>
          <a:p>
            <a:pPr lvl="1"/>
            <a:r>
              <a:rPr lang="en-US" dirty="0"/>
              <a:t>Whether through improving operational efficiency, enhancing customer experiences, or enabling innovation, Strategic Information Systems are designed to deliver measurable outcomes and generate competitive advantage.</a:t>
            </a:r>
          </a:p>
        </p:txBody>
      </p:sp>
    </p:spTree>
    <p:extLst>
      <p:ext uri="{BB962C8B-B14F-4D97-AF65-F5344CB8AC3E}">
        <p14:creationId xmlns:p14="http://schemas.microsoft.com/office/powerpoint/2010/main" val="34777676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4791"/>
            <a:ext cx="10515600" cy="5592172"/>
          </a:xfrm>
        </p:spPr>
        <p:txBody>
          <a:bodyPr>
            <a:normAutofit/>
          </a:bodyPr>
          <a:lstStyle/>
          <a:p>
            <a:r>
              <a:rPr lang="en-US" b="1" dirty="0"/>
              <a:t>Integration of Technology and Business Processes: </a:t>
            </a:r>
          </a:p>
          <a:p>
            <a:pPr lvl="1"/>
            <a:r>
              <a:rPr lang="en-US" dirty="0"/>
              <a:t>SIS integrates information technology with core business processes, functions, and activities to streamline operations, facilitate decision-making, and drive performance improvement. </a:t>
            </a:r>
          </a:p>
          <a:p>
            <a:pPr lvl="1"/>
            <a:r>
              <a:rPr lang="en-US" dirty="0"/>
              <a:t>By leveraging technology effectively, organizations can optimize workflows, enhance collaboration, and unlock new opportunities for growth and innovation.</a:t>
            </a:r>
          </a:p>
          <a:p>
            <a:r>
              <a:rPr lang="en-US" b="1" dirty="0"/>
              <a:t>Emphasis on Innovation and Adaptation: </a:t>
            </a:r>
          </a:p>
          <a:p>
            <a:pPr lvl="1"/>
            <a:r>
              <a:rPr lang="en-US" dirty="0"/>
              <a:t>SIS emphasizes innovation and adaptation as essential components of strategic success. </a:t>
            </a:r>
          </a:p>
          <a:p>
            <a:pPr lvl="1"/>
            <a:r>
              <a:rPr lang="en-US" dirty="0"/>
              <a:t>Organizations that embrace Strategic Information Systems can innovate more effectively, respond to changing market conditions, and capitalize on emerging trends and opportunities, enabling them to stay ahead of the competition in a dynamic business environment.</a:t>
            </a:r>
          </a:p>
        </p:txBody>
      </p:sp>
    </p:spTree>
    <p:extLst>
      <p:ext uri="{BB962C8B-B14F-4D97-AF65-F5344CB8AC3E}">
        <p14:creationId xmlns:p14="http://schemas.microsoft.com/office/powerpoint/2010/main" val="20012544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Components of Strategic Information Systems</a:t>
            </a:r>
          </a:p>
        </p:txBody>
      </p:sp>
      <p:sp>
        <p:nvSpPr>
          <p:cNvPr id="3" name="Content Placeholder 2"/>
          <p:cNvSpPr>
            <a:spLocks noGrp="1"/>
          </p:cNvSpPr>
          <p:nvPr>
            <p:ph idx="1"/>
          </p:nvPr>
        </p:nvSpPr>
        <p:spPr/>
        <p:txBody>
          <a:bodyPr>
            <a:normAutofit fontScale="92500" lnSpcReduction="10000"/>
          </a:bodyPr>
          <a:lstStyle/>
          <a:p>
            <a:r>
              <a:rPr lang="en-US" dirty="0"/>
              <a:t>A strategic information system helps an organization gain a competitive advantage through its contribution to the strategic goals of an organization and/or its ability to significantly increase performance and productivity. </a:t>
            </a:r>
          </a:p>
          <a:p>
            <a:r>
              <a:rPr lang="en-US" dirty="0"/>
              <a:t>Strategic information management help businesses and organizations categorize, store, process and transfer the information they</a:t>
            </a:r>
            <a:br>
              <a:rPr lang="en-US" dirty="0"/>
            </a:br>
            <a:r>
              <a:rPr lang="en-US" dirty="0"/>
              <a:t>create and receive. </a:t>
            </a:r>
          </a:p>
          <a:p>
            <a:r>
              <a:rPr lang="en-US" dirty="0"/>
              <a:t>SIS enables companies to gain competitive advantage and to benefit</a:t>
            </a:r>
            <a:br>
              <a:rPr lang="en-US" dirty="0"/>
            </a:br>
            <a:r>
              <a:rPr lang="en-US" dirty="0"/>
              <a:t>greatly at the expense of those that are subject to competitive disadvantage. </a:t>
            </a:r>
          </a:p>
          <a:p>
            <a:r>
              <a:rPr lang="en-US" dirty="0"/>
              <a:t>They said competitive advantage in the digital economy is even more important than in the old economy. </a:t>
            </a:r>
          </a:p>
        </p:txBody>
      </p:sp>
    </p:spTree>
    <p:extLst>
      <p:ext uri="{BB962C8B-B14F-4D97-AF65-F5344CB8AC3E}">
        <p14:creationId xmlns:p14="http://schemas.microsoft.com/office/powerpoint/2010/main" val="374881718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1628"/>
            <a:ext cx="10515600" cy="5645335"/>
          </a:xfrm>
        </p:spPr>
        <p:txBody>
          <a:bodyPr>
            <a:normAutofit/>
          </a:bodyPr>
          <a:lstStyle/>
          <a:p>
            <a:r>
              <a:rPr lang="en-US" dirty="0"/>
              <a:t>For some businesses the impact of the digital economy is revolutionary. </a:t>
            </a:r>
          </a:p>
          <a:p>
            <a:r>
              <a:rPr lang="en-US" dirty="0"/>
              <a:t>Frequent changes in technologies and markets and the appearance of new business models can introduce radical changes in industry structure and the nature of competition can shift rapidly. </a:t>
            </a:r>
          </a:p>
          <a:p>
            <a:r>
              <a:rPr lang="en-US" dirty="0"/>
              <a:t>At the same time, the digital economy has not changed the core business of most firms. </a:t>
            </a:r>
          </a:p>
          <a:p>
            <a:r>
              <a:rPr lang="en-US" dirty="0"/>
              <a:t>Following components of SIS enable businesses to meet and address challenges and opportunities.</a:t>
            </a:r>
          </a:p>
          <a:p>
            <a:pPr lvl="1"/>
            <a:r>
              <a:rPr lang="en-US" b="1" dirty="0"/>
              <a:t>Telecommunications</a:t>
            </a:r>
          </a:p>
          <a:p>
            <a:pPr lvl="1"/>
            <a:r>
              <a:rPr lang="en-US" b="1" dirty="0"/>
              <a:t>Number of Vendors</a:t>
            </a:r>
          </a:p>
          <a:p>
            <a:pPr lvl="1"/>
            <a:r>
              <a:rPr lang="en-US" b="1" dirty="0"/>
              <a:t>Inter-organizational Co-operation</a:t>
            </a:r>
            <a:br>
              <a:rPr lang="en-US" dirty="0"/>
            </a:br>
            <a:endParaRPr lang="en-US" dirty="0"/>
          </a:p>
        </p:txBody>
      </p:sp>
    </p:spTree>
    <p:extLst>
      <p:ext uri="{BB962C8B-B14F-4D97-AF65-F5344CB8AC3E}">
        <p14:creationId xmlns:p14="http://schemas.microsoft.com/office/powerpoint/2010/main" val="1967270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9432"/>
            <a:ext cx="10515600" cy="772559"/>
          </a:xfrm>
        </p:spPr>
        <p:txBody>
          <a:bodyPr/>
          <a:lstStyle/>
          <a:p>
            <a:r>
              <a:rPr lang="en-US" b="1" dirty="0"/>
              <a:t>Telecommunications</a:t>
            </a:r>
            <a:endParaRPr lang="en-US" dirty="0"/>
          </a:p>
        </p:txBody>
      </p:sp>
      <p:sp>
        <p:nvSpPr>
          <p:cNvPr id="3" name="Content Placeholder 2"/>
          <p:cNvSpPr>
            <a:spLocks noGrp="1"/>
          </p:cNvSpPr>
          <p:nvPr>
            <p:ph idx="1"/>
          </p:nvPr>
        </p:nvSpPr>
        <p:spPr>
          <a:xfrm>
            <a:off x="838200" y="1254642"/>
            <a:ext cx="10515600" cy="4922321"/>
          </a:xfrm>
        </p:spPr>
        <p:txBody>
          <a:bodyPr>
            <a:normAutofit lnSpcReduction="10000"/>
          </a:bodyPr>
          <a:lstStyle/>
          <a:p>
            <a:r>
              <a:rPr lang="en-US" dirty="0"/>
              <a:t>Telecommunications have proven to be the central part of an SIS. </a:t>
            </a:r>
          </a:p>
          <a:p>
            <a:r>
              <a:rPr lang="en-US" dirty="0"/>
              <a:t>Telecommunications are the means of electronic transmission of information over distances. </a:t>
            </a:r>
          </a:p>
          <a:p>
            <a:r>
              <a:rPr lang="en-US" dirty="0"/>
              <a:t>Telecommunication has become virtually inseparable from computers.</a:t>
            </a:r>
            <a:br>
              <a:rPr lang="en-US" dirty="0"/>
            </a:br>
            <a:r>
              <a:rPr lang="en-US" dirty="0"/>
              <a:t>The information may be in the form of voice telephone calls, data, text, images, or video. </a:t>
            </a:r>
          </a:p>
          <a:p>
            <a:r>
              <a:rPr lang="en-US" dirty="0"/>
              <a:t>Today, telecommunications are used to organize remote computer systems into telecommunications networks, which is an arrangement of computing and telecommunications resources for communication of information between distant locations.</a:t>
            </a:r>
            <a:br>
              <a:rPr lang="en-US" dirty="0"/>
            </a:br>
            <a:endParaRPr lang="en-US" dirty="0"/>
          </a:p>
        </p:txBody>
      </p:sp>
    </p:spTree>
    <p:extLst>
      <p:ext uri="{BB962C8B-B14F-4D97-AF65-F5344CB8AC3E}">
        <p14:creationId xmlns:p14="http://schemas.microsoft.com/office/powerpoint/2010/main" val="406161824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0363"/>
            <a:ext cx="10515600" cy="5666600"/>
          </a:xfrm>
        </p:spPr>
        <p:txBody>
          <a:bodyPr>
            <a:normAutofit/>
          </a:bodyPr>
          <a:lstStyle/>
          <a:p>
            <a:r>
              <a:rPr lang="en-US" dirty="0"/>
              <a:t>Telecommunications give an organization the capability to move information rapidly between distant locations and to provide the ability for the employees, customers, and suppliers to collaborate from anywhere, combined with the capability to bring processing power to the point of the application. </a:t>
            </a:r>
          </a:p>
          <a:p>
            <a:r>
              <a:rPr lang="en-US" dirty="0"/>
              <a:t>These offer important opportunities to restructure its business processes and to capture highly competitive ground in the</a:t>
            </a:r>
            <a:br>
              <a:rPr lang="en-US" dirty="0"/>
            </a:br>
            <a:r>
              <a:rPr lang="en-US" dirty="0"/>
              <a:t>marketplace.</a:t>
            </a:r>
            <a:br>
              <a:rPr lang="en-US" dirty="0"/>
            </a:br>
            <a:endParaRPr lang="en-US" dirty="0"/>
          </a:p>
        </p:txBody>
      </p:sp>
    </p:spTree>
    <p:extLst>
      <p:ext uri="{BB962C8B-B14F-4D97-AF65-F5344CB8AC3E}">
        <p14:creationId xmlns:p14="http://schemas.microsoft.com/office/powerpoint/2010/main" val="107873098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Through telecommunications, this value may be:</a:t>
            </a:r>
          </a:p>
        </p:txBody>
      </p:sp>
      <p:sp>
        <p:nvSpPr>
          <p:cNvPr id="3" name="Content Placeholder 2"/>
          <p:cNvSpPr>
            <a:spLocks noGrp="1"/>
          </p:cNvSpPr>
          <p:nvPr>
            <p:ph idx="1"/>
          </p:nvPr>
        </p:nvSpPr>
        <p:spPr/>
        <p:txBody>
          <a:bodyPr/>
          <a:lstStyle/>
          <a:p>
            <a:r>
              <a:rPr lang="en-US" dirty="0"/>
              <a:t>An increase in the efficiency of operations</a:t>
            </a:r>
          </a:p>
          <a:p>
            <a:r>
              <a:rPr lang="en-US" dirty="0"/>
              <a:t>Improvements in the effectiveness of management</a:t>
            </a:r>
          </a:p>
          <a:p>
            <a:r>
              <a:rPr lang="en-US" dirty="0"/>
              <a:t>Innovations in the marketplace</a:t>
            </a:r>
          </a:p>
        </p:txBody>
      </p:sp>
    </p:spTree>
    <p:extLst>
      <p:ext uri="{BB962C8B-B14F-4D97-AF65-F5344CB8AC3E}">
        <p14:creationId xmlns:p14="http://schemas.microsoft.com/office/powerpoint/2010/main" val="251237368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Telecommunications may provide these values through the following impacts:</a:t>
            </a:r>
          </a:p>
        </p:txBody>
      </p:sp>
      <p:sp>
        <p:nvSpPr>
          <p:cNvPr id="3" name="Content Placeholder 2"/>
          <p:cNvSpPr>
            <a:spLocks noGrp="1"/>
          </p:cNvSpPr>
          <p:nvPr>
            <p:ph idx="1"/>
          </p:nvPr>
        </p:nvSpPr>
        <p:spPr/>
        <p:txBody>
          <a:bodyPr>
            <a:normAutofit fontScale="92500"/>
          </a:bodyPr>
          <a:lstStyle/>
          <a:p>
            <a:r>
              <a:rPr lang="en-US" b="1" dirty="0"/>
              <a:t>Time compression: </a:t>
            </a:r>
            <a:r>
              <a:rPr lang="en-US" dirty="0"/>
              <a:t>Telecommunications enable a firm to transmit raw data</a:t>
            </a:r>
            <a:br>
              <a:rPr lang="en-US" dirty="0"/>
            </a:br>
            <a:r>
              <a:rPr lang="en-US" dirty="0"/>
              <a:t>and information quickly and accurately between remote sites.</a:t>
            </a:r>
          </a:p>
          <a:p>
            <a:r>
              <a:rPr lang="en-US" b="1" dirty="0"/>
              <a:t>Overcoming geographical dispersion: </a:t>
            </a:r>
            <a:r>
              <a:rPr lang="en-US" dirty="0"/>
              <a:t>Telecommunications enable an</a:t>
            </a:r>
            <a:br>
              <a:rPr lang="en-US" dirty="0"/>
            </a:br>
            <a:r>
              <a:rPr lang="en-US" dirty="0"/>
              <a:t>organization with geographically remote sites to function, to a degree, as</a:t>
            </a:r>
            <a:br>
              <a:rPr lang="en-US" dirty="0"/>
            </a:br>
            <a:r>
              <a:rPr lang="en-US" dirty="0"/>
              <a:t>though these sites were a single unit. The firm can then gain benefits of scale and scope, which would otherwise be unobtainable.</a:t>
            </a:r>
          </a:p>
          <a:p>
            <a:r>
              <a:rPr lang="en-US" b="1" dirty="0"/>
              <a:t>Restructuring business relationships: </a:t>
            </a:r>
            <a:r>
              <a:rPr lang="en-US" dirty="0"/>
              <a:t>Telecommunications make it</a:t>
            </a:r>
            <a:br>
              <a:rPr lang="en-US" dirty="0"/>
            </a:br>
            <a:r>
              <a:rPr lang="en-US" dirty="0"/>
              <a:t>possible to create systems which restructure the interactions of people within a firm as well as a firm's relationships with its customers. Eliminating</a:t>
            </a:r>
            <a:br>
              <a:rPr lang="en-US" dirty="0"/>
            </a:br>
            <a:r>
              <a:rPr lang="en-US" dirty="0"/>
              <a:t>intermediaries from various business processes may raise operational</a:t>
            </a:r>
            <a:br>
              <a:rPr lang="en-US" dirty="0"/>
            </a:br>
            <a:r>
              <a:rPr lang="en-US" dirty="0"/>
              <a:t>efficiency.</a:t>
            </a:r>
          </a:p>
        </p:txBody>
      </p:sp>
    </p:spTree>
    <p:extLst>
      <p:ext uri="{BB962C8B-B14F-4D97-AF65-F5344CB8AC3E}">
        <p14:creationId xmlns:p14="http://schemas.microsoft.com/office/powerpoint/2010/main" val="11059355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Number of Vendors</a:t>
            </a:r>
          </a:p>
        </p:txBody>
      </p:sp>
      <p:sp>
        <p:nvSpPr>
          <p:cNvPr id="3" name="Content Placeholder 2"/>
          <p:cNvSpPr>
            <a:spLocks noGrp="1"/>
          </p:cNvSpPr>
          <p:nvPr>
            <p:ph idx="1"/>
          </p:nvPr>
        </p:nvSpPr>
        <p:spPr/>
        <p:txBody>
          <a:bodyPr>
            <a:normAutofit fontScale="92500" lnSpcReduction="20000"/>
          </a:bodyPr>
          <a:lstStyle/>
          <a:p>
            <a:r>
              <a:rPr lang="en-US" dirty="0"/>
              <a:t>Since different technological infrastructures need to be integrated for the successful implementation of an SIS, there is always a diverse need for vendors to be associated with. </a:t>
            </a:r>
          </a:p>
          <a:p>
            <a:r>
              <a:rPr lang="en-US" dirty="0"/>
              <a:t>Evidence suggests that most of the business firms implementing as SIS need to link with different branches. </a:t>
            </a:r>
          </a:p>
          <a:p>
            <a:r>
              <a:rPr lang="en-US" dirty="0"/>
              <a:t>For effective communication, such firms acquire telecommunications equipment from various vendors all over the world. </a:t>
            </a:r>
          </a:p>
          <a:p>
            <a:r>
              <a:rPr lang="en-US" dirty="0"/>
              <a:t>The main challenge for such organizations seeking the effective execution of an SIS is to identify the best vendors and to properly coordinate among them. </a:t>
            </a:r>
          </a:p>
          <a:p>
            <a:r>
              <a:rPr lang="en-US" dirty="0"/>
              <a:t>If such a challenge is properly addressed, a competitive advantage to the organization is realized.</a:t>
            </a:r>
            <a:br>
              <a:rPr lang="en-US" dirty="0"/>
            </a:br>
            <a:endParaRPr lang="en-US" dirty="0"/>
          </a:p>
        </p:txBody>
      </p:sp>
    </p:spTree>
    <p:extLst>
      <p:ext uri="{BB962C8B-B14F-4D97-AF65-F5344CB8AC3E}">
        <p14:creationId xmlns:p14="http://schemas.microsoft.com/office/powerpoint/2010/main" val="315168771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Inter-organizational Co-operation</a:t>
            </a:r>
          </a:p>
        </p:txBody>
      </p:sp>
      <p:sp>
        <p:nvSpPr>
          <p:cNvPr id="3" name="Content Placeholder 2"/>
          <p:cNvSpPr>
            <a:spLocks noGrp="1"/>
          </p:cNvSpPr>
          <p:nvPr>
            <p:ph idx="1"/>
          </p:nvPr>
        </p:nvSpPr>
        <p:spPr/>
        <p:txBody>
          <a:bodyPr>
            <a:normAutofit lnSpcReduction="10000"/>
          </a:bodyPr>
          <a:lstStyle/>
          <a:p>
            <a:r>
              <a:rPr lang="en-US" dirty="0"/>
              <a:t>Inter-organizational Cooperation can be generally defined as any automated information system shared by two or more organizations.</a:t>
            </a:r>
          </a:p>
          <a:p>
            <a:r>
              <a:rPr lang="en-US" dirty="0"/>
              <a:t> Inter-organizational cooperation allows the flow of information to be automated between different business firms. </a:t>
            </a:r>
          </a:p>
          <a:p>
            <a:r>
              <a:rPr lang="en-US" dirty="0"/>
              <a:t>Organizations/firms are entering into strategic alliances these days. </a:t>
            </a:r>
          </a:p>
          <a:p>
            <a:r>
              <a:rPr lang="en-US" dirty="0"/>
              <a:t>Such alliances help to reach a desired supply-chain management system by encompassing the full depths of tasks associated with business processes company-wide and optimizing communication within all levels of an organization as well as between the organization and the supplier.</a:t>
            </a:r>
            <a:br>
              <a:rPr lang="en-US" dirty="0"/>
            </a:br>
            <a:endParaRPr lang="en-US" dirty="0"/>
          </a:p>
        </p:txBody>
      </p:sp>
    </p:spTree>
    <p:extLst>
      <p:ext uri="{BB962C8B-B14F-4D97-AF65-F5344CB8AC3E}">
        <p14:creationId xmlns:p14="http://schemas.microsoft.com/office/powerpoint/2010/main" val="348218368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97442"/>
            <a:ext cx="10515600" cy="5379521"/>
          </a:xfrm>
        </p:spPr>
        <p:txBody>
          <a:bodyPr/>
          <a:lstStyle/>
          <a:p>
            <a:r>
              <a:rPr lang="en-US" dirty="0"/>
              <a:t>Inter-organizational Cooperation enables a range of activities such as supplying goods, research, and development (R&amp;D), and outsourcing.</a:t>
            </a:r>
          </a:p>
          <a:p>
            <a:r>
              <a:rPr lang="en-US" dirty="0"/>
              <a:t> The use of information technology can facilitate a smooth flow of information from one organization to another using inter-organizational systems (IOSs) that are automated information systems shared by more than one organization and allowing information flow across organizational boundaries. </a:t>
            </a:r>
          </a:p>
          <a:p>
            <a:r>
              <a:rPr lang="en-US" dirty="0"/>
              <a:t>IOSs can reduce the costs of communications and at the same time extend the possibilities of coordination. </a:t>
            </a:r>
          </a:p>
          <a:p>
            <a:r>
              <a:rPr lang="en-US" dirty="0"/>
              <a:t>These will eventually increase productivity as well as lead to successful obtainment of strategic goals.</a:t>
            </a:r>
          </a:p>
        </p:txBody>
      </p:sp>
    </p:spTree>
    <p:extLst>
      <p:ext uri="{BB962C8B-B14F-4D97-AF65-F5344CB8AC3E}">
        <p14:creationId xmlns:p14="http://schemas.microsoft.com/office/powerpoint/2010/main" val="226430886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By practicing Inter-organizational cooperation a business firm can get different advantages such as:</a:t>
            </a:r>
          </a:p>
        </p:txBody>
      </p:sp>
      <p:sp>
        <p:nvSpPr>
          <p:cNvPr id="3" name="Content Placeholder 2"/>
          <p:cNvSpPr>
            <a:spLocks noGrp="1"/>
          </p:cNvSpPr>
          <p:nvPr>
            <p:ph idx="1"/>
          </p:nvPr>
        </p:nvSpPr>
        <p:spPr/>
        <p:txBody>
          <a:bodyPr/>
          <a:lstStyle/>
          <a:p>
            <a:r>
              <a:rPr lang="en-US" dirty="0"/>
              <a:t>Reduce the risk in the organization</a:t>
            </a:r>
          </a:p>
          <a:p>
            <a:r>
              <a:rPr lang="en-US" dirty="0"/>
              <a:t>Benefit from the exchange of technologies</a:t>
            </a:r>
          </a:p>
          <a:p>
            <a:r>
              <a:rPr lang="en-US" dirty="0"/>
              <a:t>Increase competitiveness</a:t>
            </a:r>
          </a:p>
          <a:p>
            <a:r>
              <a:rPr lang="en-US" dirty="0"/>
              <a:t>Overcome investment barriers</a:t>
            </a:r>
          </a:p>
          <a:p>
            <a:r>
              <a:rPr lang="en-US" dirty="0"/>
              <a:t>Encourage global communication etc.</a:t>
            </a:r>
          </a:p>
        </p:txBody>
      </p:sp>
    </p:spTree>
    <p:extLst>
      <p:ext uri="{BB962C8B-B14F-4D97-AF65-F5344CB8AC3E}">
        <p14:creationId xmlns:p14="http://schemas.microsoft.com/office/powerpoint/2010/main" val="318464155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0577"/>
            <a:ext cx="10515600" cy="666233"/>
          </a:xfrm>
        </p:spPr>
        <p:txBody>
          <a:bodyPr>
            <a:normAutofit fontScale="90000"/>
          </a:bodyPr>
          <a:lstStyle/>
          <a:p>
            <a:r>
              <a:rPr lang="en-US" b="1" dirty="0"/>
              <a:t>Strategies for Developing an SIS</a:t>
            </a:r>
          </a:p>
        </p:txBody>
      </p:sp>
      <p:sp>
        <p:nvSpPr>
          <p:cNvPr id="3" name="Content Placeholder 2"/>
          <p:cNvSpPr>
            <a:spLocks noGrp="1"/>
          </p:cNvSpPr>
          <p:nvPr>
            <p:ph idx="1"/>
          </p:nvPr>
        </p:nvSpPr>
        <p:spPr>
          <a:xfrm>
            <a:off x="838200" y="893134"/>
            <a:ext cx="10515600" cy="5465135"/>
          </a:xfrm>
        </p:spPr>
        <p:txBody>
          <a:bodyPr>
            <a:normAutofit fontScale="92500" lnSpcReduction="10000"/>
          </a:bodyPr>
          <a:lstStyle/>
          <a:p>
            <a:r>
              <a:rPr lang="en-US" dirty="0"/>
              <a:t>There are no set rules or formulas for building a successful strategic system and SIS is the most difficult to develop amongst others. </a:t>
            </a:r>
          </a:p>
          <a:p>
            <a:r>
              <a:rPr lang="en-US" dirty="0"/>
              <a:t>While developing an SIS, firms should think about how it can go in the long run and how it can be fitted if competitors pursue new ways to improve their operations. </a:t>
            </a:r>
          </a:p>
          <a:p>
            <a:r>
              <a:rPr lang="en-US" dirty="0"/>
              <a:t>An organization should conduct feasibility study to make sure that whether it is worthwhile to proceed with the system or not. </a:t>
            </a:r>
          </a:p>
          <a:p>
            <a:r>
              <a:rPr lang="en-US" dirty="0"/>
              <a:t>Feasibility analysis usually considers several alternatives one of which is chosen as the most satisfactory solution. </a:t>
            </a:r>
          </a:p>
          <a:p>
            <a:r>
              <a:rPr lang="en-US" dirty="0"/>
              <a:t>It is advisable to investigate as many alternatives as possible to ensure that the best solution is chosen. </a:t>
            </a:r>
          </a:p>
          <a:p>
            <a:r>
              <a:rPr lang="en-US" dirty="0"/>
              <a:t>Just using the first idea that comes to mind is not the best approach. </a:t>
            </a:r>
          </a:p>
          <a:p>
            <a:r>
              <a:rPr lang="en-US" dirty="0"/>
              <a:t>A certain amount of skill is needed to propose good alternatives and choose the right direction.</a:t>
            </a:r>
          </a:p>
        </p:txBody>
      </p:sp>
    </p:spTree>
    <p:extLst>
      <p:ext uri="{BB962C8B-B14F-4D97-AF65-F5344CB8AC3E}">
        <p14:creationId xmlns:p14="http://schemas.microsoft.com/office/powerpoint/2010/main" val="355778752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8465"/>
            <a:ext cx="10515600" cy="5698498"/>
          </a:xfrm>
        </p:spPr>
        <p:txBody>
          <a:bodyPr>
            <a:normAutofit fontScale="92500" lnSpcReduction="20000"/>
          </a:bodyPr>
          <a:lstStyle/>
          <a:p>
            <a:r>
              <a:rPr lang="en-US" dirty="0"/>
              <a:t>Three things must be done to establish feasibility. </a:t>
            </a:r>
          </a:p>
          <a:p>
            <a:r>
              <a:rPr lang="en-US" b="1" dirty="0"/>
              <a:t>First</a:t>
            </a:r>
            <a:r>
              <a:rPr lang="en-US" dirty="0"/>
              <a:t>, it is necessary to check that the project is technically feasible. </a:t>
            </a:r>
          </a:p>
          <a:p>
            <a:r>
              <a:rPr lang="en-US" dirty="0"/>
              <a:t>Does the organization have the technology and skills necessary to carry out the project and, if not, how should the required technology and skills be obtained? </a:t>
            </a:r>
          </a:p>
          <a:p>
            <a:r>
              <a:rPr lang="en-US" b="1" dirty="0"/>
              <a:t>Second</a:t>
            </a:r>
            <a:r>
              <a:rPr lang="en-US" dirty="0"/>
              <a:t>, the system’s economic feasibility needs to be checked. </a:t>
            </a:r>
          </a:p>
          <a:p>
            <a:r>
              <a:rPr lang="en-US" dirty="0"/>
              <a:t>The study must determine whether the system’s goal can be achieved within the resource limits allocated to it. </a:t>
            </a:r>
          </a:p>
          <a:p>
            <a:r>
              <a:rPr lang="en-US" dirty="0"/>
              <a:t>It must also determine whether it is worthwhile proceeding with the system at all, or whether the benefits obtained from the new system are worth the costs. </a:t>
            </a:r>
          </a:p>
          <a:p>
            <a:r>
              <a:rPr lang="en-US" b="1" dirty="0"/>
              <a:t>Third</a:t>
            </a:r>
            <a:r>
              <a:rPr lang="en-US" dirty="0"/>
              <a:t>, operational feasibility must be established. </a:t>
            </a:r>
          </a:p>
          <a:p>
            <a:r>
              <a:rPr lang="en-US" dirty="0"/>
              <a:t>To do this, it is necessary to consult the system users to see if the proposed solution satisfies user objectives and can be fitted into current system operation.</a:t>
            </a:r>
          </a:p>
        </p:txBody>
      </p:sp>
    </p:spTree>
    <p:extLst>
      <p:ext uri="{BB962C8B-B14F-4D97-AF65-F5344CB8AC3E}">
        <p14:creationId xmlns:p14="http://schemas.microsoft.com/office/powerpoint/2010/main" val="41609766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Organizations seeking an SIS should ask important questions before investing in it.</a:t>
            </a:r>
          </a:p>
        </p:txBody>
      </p:sp>
      <p:sp>
        <p:nvSpPr>
          <p:cNvPr id="3" name="Content Placeholder 2"/>
          <p:cNvSpPr>
            <a:spLocks noGrp="1"/>
          </p:cNvSpPr>
          <p:nvPr>
            <p:ph idx="1"/>
          </p:nvPr>
        </p:nvSpPr>
        <p:spPr/>
        <p:txBody>
          <a:bodyPr/>
          <a:lstStyle/>
          <a:p>
            <a:r>
              <a:rPr lang="en-US" dirty="0"/>
              <a:t>Is the project technically feasible?</a:t>
            </a:r>
          </a:p>
          <a:p>
            <a:r>
              <a:rPr lang="en-US" dirty="0"/>
              <a:t>Is the project financially feasible?</a:t>
            </a:r>
          </a:p>
          <a:p>
            <a:r>
              <a:rPr lang="en-US" dirty="0"/>
              <a:t>Is the project operationally feasible?</a:t>
            </a:r>
          </a:p>
        </p:txBody>
      </p:sp>
    </p:spTree>
    <p:extLst>
      <p:ext uri="{BB962C8B-B14F-4D97-AF65-F5344CB8AC3E}">
        <p14:creationId xmlns:p14="http://schemas.microsoft.com/office/powerpoint/2010/main" val="255525689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Is the project technically feasible?</a:t>
            </a:r>
          </a:p>
        </p:txBody>
      </p:sp>
      <p:sp>
        <p:nvSpPr>
          <p:cNvPr id="3" name="Content Placeholder 2"/>
          <p:cNvSpPr>
            <a:spLocks noGrp="1"/>
          </p:cNvSpPr>
          <p:nvPr>
            <p:ph idx="1"/>
          </p:nvPr>
        </p:nvSpPr>
        <p:spPr/>
        <p:txBody>
          <a:bodyPr>
            <a:normAutofit/>
          </a:bodyPr>
          <a:lstStyle/>
          <a:p>
            <a:r>
              <a:rPr lang="en-US" dirty="0"/>
              <a:t>Strategic systems require technologies that are well established, well understood, and widely accepted by users; otherwise, they are doomed from the start. </a:t>
            </a:r>
          </a:p>
          <a:p>
            <a:r>
              <a:rPr lang="en-US" dirty="0"/>
              <a:t>Most of the organizations have failed to implement SIS though they had a great idea for strategic systems because those systems were not technically viable. Sometimes the complexity of the technology can obstruct the success of the system. </a:t>
            </a:r>
          </a:p>
          <a:p>
            <a:r>
              <a:rPr lang="en-US" dirty="0"/>
              <a:t>Likewise, state-of-the-art technologies and untested technologies can add a new and unexpected twist to the development of strategic systems.</a:t>
            </a:r>
          </a:p>
        </p:txBody>
      </p:sp>
    </p:spTree>
    <p:extLst>
      <p:ext uri="{BB962C8B-B14F-4D97-AF65-F5344CB8AC3E}">
        <p14:creationId xmlns:p14="http://schemas.microsoft.com/office/powerpoint/2010/main" val="302451615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1628"/>
            <a:ext cx="10515600" cy="5645335"/>
          </a:xfrm>
        </p:spPr>
        <p:txBody>
          <a:bodyPr>
            <a:normAutofit/>
          </a:bodyPr>
          <a:lstStyle/>
          <a:p>
            <a:r>
              <a:rPr lang="en-US" dirty="0"/>
              <a:t>Technical feasibility considers the technical requirements of the proposed project. </a:t>
            </a:r>
          </a:p>
          <a:p>
            <a:r>
              <a:rPr lang="en-US" dirty="0"/>
              <a:t>The technical requirements are then compared to the technical capability of the organization.</a:t>
            </a:r>
          </a:p>
          <a:p>
            <a:r>
              <a:rPr lang="en-US" dirty="0"/>
              <a:t>The systems project is considered technically feasible if the internal technical capability is sufficient to support the project requirements.</a:t>
            </a:r>
          </a:p>
          <a:p>
            <a:r>
              <a:rPr lang="en-US" dirty="0"/>
              <a:t>Technical feasibility should determine whether the technology needed for the proposed system is available and how it can be integrated within the organization. </a:t>
            </a:r>
          </a:p>
          <a:p>
            <a:r>
              <a:rPr lang="en-US" dirty="0"/>
              <a:t>Technical evaluation must also assess whether the existing system can be upgraded to use the new technology and whether the organization has the expertise to use it.</a:t>
            </a:r>
            <a:br>
              <a:rPr lang="en-US" dirty="0"/>
            </a:br>
            <a:endParaRPr lang="en-US" dirty="0"/>
          </a:p>
        </p:txBody>
      </p:sp>
    </p:spTree>
    <p:extLst>
      <p:ext uri="{BB962C8B-B14F-4D97-AF65-F5344CB8AC3E}">
        <p14:creationId xmlns:p14="http://schemas.microsoft.com/office/powerpoint/2010/main" val="83734577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Autofit/>
          </a:bodyPr>
          <a:lstStyle/>
          <a:p>
            <a:r>
              <a:rPr lang="en-US" sz="3600" b="1" dirty="0"/>
              <a:t>The essential questions that help in testing the technical feasibility of a system include the following:</a:t>
            </a:r>
          </a:p>
        </p:txBody>
      </p:sp>
      <p:sp>
        <p:nvSpPr>
          <p:cNvPr id="3" name="Content Placeholder 2"/>
          <p:cNvSpPr>
            <a:spLocks noGrp="1"/>
          </p:cNvSpPr>
          <p:nvPr>
            <p:ph idx="1"/>
          </p:nvPr>
        </p:nvSpPr>
        <p:spPr>
          <a:xfrm>
            <a:off x="265814" y="1325562"/>
            <a:ext cx="11685181" cy="5255991"/>
          </a:xfrm>
        </p:spPr>
        <p:txBody>
          <a:bodyPr>
            <a:normAutofit/>
          </a:bodyPr>
          <a:lstStyle/>
          <a:p>
            <a:pPr marL="0" indent="0">
              <a:lnSpc>
                <a:spcPct val="100000"/>
              </a:lnSpc>
              <a:buNone/>
            </a:pPr>
            <a:r>
              <a:rPr lang="en-US" sz="2600" dirty="0"/>
              <a:t>• Is the project feasible within the limits of current technology?</a:t>
            </a:r>
            <a:br>
              <a:rPr lang="en-US" sz="2600" dirty="0"/>
            </a:br>
            <a:r>
              <a:rPr lang="en-US" sz="2600" dirty="0"/>
              <a:t>• Does technology exist at all?</a:t>
            </a:r>
            <a:br>
              <a:rPr lang="en-US" sz="2600" dirty="0"/>
            </a:br>
            <a:r>
              <a:rPr lang="en-US" sz="2600" dirty="0"/>
              <a:t>• Is it available within given resource constraints?</a:t>
            </a:r>
            <a:br>
              <a:rPr lang="en-US" sz="2600" dirty="0"/>
            </a:br>
            <a:r>
              <a:rPr lang="en-US" sz="2600" dirty="0"/>
              <a:t>• Is it a practical proposition?</a:t>
            </a:r>
            <a:br>
              <a:rPr lang="en-US" sz="2600" dirty="0"/>
            </a:br>
            <a:r>
              <a:rPr lang="en-US" sz="2600" dirty="0"/>
              <a:t>• Do we have skilled manpower- analysts, programmers, testers &amp;debuggers?</a:t>
            </a:r>
            <a:br>
              <a:rPr lang="en-US" sz="2600" dirty="0"/>
            </a:br>
            <a:r>
              <a:rPr lang="en-US" sz="2600" dirty="0"/>
              <a:t>• Are the current technical resources sufficient for the new system?</a:t>
            </a:r>
            <a:br>
              <a:rPr lang="en-US" sz="2600" dirty="0"/>
            </a:br>
            <a:r>
              <a:rPr lang="en-US" sz="2600" dirty="0"/>
              <a:t>• Can they be upgraded to provide the level of technology necessary for the new system?</a:t>
            </a:r>
            <a:br>
              <a:rPr lang="en-US" sz="2600" dirty="0"/>
            </a:br>
            <a:r>
              <a:rPr lang="en-US" sz="2600" dirty="0"/>
              <a:t>• Do we possess the necessary technical expertise, and is the schedule reasonable?</a:t>
            </a:r>
            <a:br>
              <a:rPr lang="en-US" sz="2600" dirty="0"/>
            </a:br>
            <a:r>
              <a:rPr lang="en-US" sz="2600" dirty="0"/>
              <a:t>• Can technology be easily applied to current problems?</a:t>
            </a:r>
            <a:br>
              <a:rPr lang="en-US" sz="2600" dirty="0"/>
            </a:br>
            <a:r>
              <a:rPr lang="en-US" sz="2600" dirty="0"/>
              <a:t>• Does technology have the capacity to handle the solution?</a:t>
            </a:r>
            <a:br>
              <a:rPr lang="en-US" sz="2600" dirty="0"/>
            </a:br>
            <a:r>
              <a:rPr lang="en-US" sz="2600" dirty="0"/>
              <a:t>• Do we currently possess the necessary technology?</a:t>
            </a:r>
          </a:p>
        </p:txBody>
      </p:sp>
    </p:spTree>
    <p:extLst>
      <p:ext uri="{BB962C8B-B14F-4D97-AF65-F5344CB8AC3E}">
        <p14:creationId xmlns:p14="http://schemas.microsoft.com/office/powerpoint/2010/main" val="413264045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Is the project financially feasible?</a:t>
            </a:r>
          </a:p>
        </p:txBody>
      </p:sp>
      <p:sp>
        <p:nvSpPr>
          <p:cNvPr id="3" name="Content Placeholder 2"/>
          <p:cNvSpPr>
            <a:spLocks noGrp="1"/>
          </p:cNvSpPr>
          <p:nvPr>
            <p:ph idx="1"/>
          </p:nvPr>
        </p:nvSpPr>
        <p:spPr/>
        <p:txBody>
          <a:bodyPr>
            <a:normAutofit fontScale="92500" lnSpcReduction="20000"/>
          </a:bodyPr>
          <a:lstStyle/>
          <a:p>
            <a:r>
              <a:rPr lang="en-US" dirty="0"/>
              <a:t>Strategic systems require substantial resources to put it into practice over an extended period. </a:t>
            </a:r>
          </a:p>
          <a:p>
            <a:r>
              <a:rPr lang="en-US" dirty="0"/>
              <a:t>Some great ideas for strategic systems have failed simply because they were not financially feasible. </a:t>
            </a:r>
          </a:p>
          <a:p>
            <a:r>
              <a:rPr lang="en-US" dirty="0"/>
              <a:t>Financial feasibility must be properly conducted before investing in strategic systems because this evaluation looks at the financial aspects of the project. </a:t>
            </a:r>
          </a:p>
          <a:p>
            <a:r>
              <a:rPr lang="en-US" dirty="0"/>
              <a:t>It determines whether the investment needed to implement the system will be recovered.</a:t>
            </a:r>
          </a:p>
          <a:p>
            <a:r>
              <a:rPr lang="en-US" dirty="0"/>
              <a:t>Financial feasibility concerns return from investments in a project. It determines whether it is worthwhile to invest the money in the proposed project or whether something else should be done with it. </a:t>
            </a:r>
          </a:p>
        </p:txBody>
      </p:sp>
    </p:spTree>
    <p:extLst>
      <p:ext uri="{BB962C8B-B14F-4D97-AF65-F5344CB8AC3E}">
        <p14:creationId xmlns:p14="http://schemas.microsoft.com/office/powerpoint/2010/main" val="407669009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8585"/>
            <a:ext cx="10515600" cy="5528377"/>
          </a:xfrm>
        </p:spPr>
        <p:txBody>
          <a:bodyPr>
            <a:normAutofit fontScale="92500" lnSpcReduction="20000"/>
          </a:bodyPr>
          <a:lstStyle/>
          <a:p>
            <a:r>
              <a:rPr lang="en-US" dirty="0"/>
              <a:t>Some organizations, especially those with large projects, place great</a:t>
            </a:r>
            <a:br>
              <a:rPr lang="en-US" dirty="0"/>
            </a:br>
            <a:r>
              <a:rPr lang="en-US" dirty="0"/>
              <a:t>emphasis on economic analysis. </a:t>
            </a:r>
          </a:p>
          <a:p>
            <a:r>
              <a:rPr lang="en-US" dirty="0"/>
              <a:t>It is not worthwhile spending a lot of money on a project for no returns, especially if there are many other things which could be done with that money.</a:t>
            </a:r>
          </a:p>
          <a:p>
            <a:r>
              <a:rPr lang="en-US" dirty="0"/>
              <a:t>To carry out an economic feasibility study, it is necessary to place actual money values against any purchases or activities needed to implement the project. </a:t>
            </a:r>
          </a:p>
          <a:p>
            <a:r>
              <a:rPr lang="en-US" dirty="0"/>
              <a:t>It is also necessary to place money values against any benefits that will accrue from the new system created by the project. </a:t>
            </a:r>
          </a:p>
          <a:p>
            <a:r>
              <a:rPr lang="en-US" dirty="0"/>
              <a:t>Such calculations are often described as cost-benefit analysis. </a:t>
            </a:r>
          </a:p>
          <a:p>
            <a:r>
              <a:rPr lang="en-US" dirty="0"/>
              <a:t>If benefits outweigh costs, then the decision is made to design and implement the system. </a:t>
            </a:r>
          </a:p>
          <a:p>
            <a:r>
              <a:rPr lang="en-US" dirty="0"/>
              <a:t>An entrepreneur must accurately weigh the cost versus benefits before taking an action.</a:t>
            </a:r>
            <a:br>
              <a:rPr lang="en-US" dirty="0"/>
            </a:br>
            <a:endParaRPr lang="en-US" dirty="0"/>
          </a:p>
        </p:txBody>
      </p:sp>
    </p:spTree>
    <p:extLst>
      <p:ext uri="{BB962C8B-B14F-4D97-AF65-F5344CB8AC3E}">
        <p14:creationId xmlns:p14="http://schemas.microsoft.com/office/powerpoint/2010/main" val="349580433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Possible questions raised in economic analysis are:</a:t>
            </a:r>
          </a:p>
        </p:txBody>
      </p:sp>
      <p:sp>
        <p:nvSpPr>
          <p:cNvPr id="3" name="Content Placeholder 2"/>
          <p:cNvSpPr>
            <a:spLocks noGrp="1"/>
          </p:cNvSpPr>
          <p:nvPr>
            <p:ph idx="1"/>
          </p:nvPr>
        </p:nvSpPr>
        <p:spPr/>
        <p:txBody>
          <a:bodyPr/>
          <a:lstStyle/>
          <a:p>
            <a:pPr marL="0" indent="0">
              <a:buNone/>
            </a:pPr>
            <a:r>
              <a:rPr lang="en-US" dirty="0"/>
              <a:t>• Is the system cost effective?</a:t>
            </a:r>
            <a:br>
              <a:rPr lang="en-US" dirty="0"/>
            </a:br>
            <a:r>
              <a:rPr lang="en-US" dirty="0"/>
              <a:t>• Do benefits outweigh costs?</a:t>
            </a:r>
            <a:br>
              <a:rPr lang="en-US" dirty="0"/>
            </a:br>
            <a:r>
              <a:rPr lang="en-US" dirty="0"/>
              <a:t>• How much is the cost of doing a full system study?</a:t>
            </a:r>
            <a:br>
              <a:rPr lang="en-US" dirty="0"/>
            </a:br>
            <a:r>
              <a:rPr lang="en-US" dirty="0"/>
              <a:t>• How much is the cost of business employee time?</a:t>
            </a:r>
            <a:br>
              <a:rPr lang="en-US" dirty="0"/>
            </a:br>
            <a:r>
              <a:rPr lang="en-US" dirty="0"/>
              <a:t>• What is the estimated cost of hardware?</a:t>
            </a:r>
            <a:br>
              <a:rPr lang="en-US" dirty="0"/>
            </a:br>
            <a:r>
              <a:rPr lang="en-US" dirty="0"/>
              <a:t>• What is the estimated cost of software/software development?</a:t>
            </a:r>
            <a:br>
              <a:rPr lang="en-US" dirty="0"/>
            </a:br>
            <a:r>
              <a:rPr lang="en-US" dirty="0"/>
              <a:t>• Is the project possible, given the resource constraints?</a:t>
            </a:r>
            <a:br>
              <a:rPr lang="en-US" dirty="0"/>
            </a:br>
            <a:r>
              <a:rPr lang="en-US" dirty="0"/>
              <a:t>• What are the savings that will result from the system?</a:t>
            </a:r>
            <a:br>
              <a:rPr lang="en-US" dirty="0"/>
            </a:br>
            <a:r>
              <a:rPr lang="en-US" dirty="0"/>
              <a:t>• What is the cost of employees’ time for study?</a:t>
            </a:r>
          </a:p>
        </p:txBody>
      </p:sp>
    </p:spTree>
    <p:extLst>
      <p:ext uri="{BB962C8B-B14F-4D97-AF65-F5344CB8AC3E}">
        <p14:creationId xmlns:p14="http://schemas.microsoft.com/office/powerpoint/2010/main" val="236571513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Is the project operationally feasible?</a:t>
            </a:r>
          </a:p>
        </p:txBody>
      </p:sp>
      <p:sp>
        <p:nvSpPr>
          <p:cNvPr id="3" name="Content Placeholder 2"/>
          <p:cNvSpPr>
            <a:spLocks noGrp="1"/>
          </p:cNvSpPr>
          <p:nvPr>
            <p:ph idx="1"/>
          </p:nvPr>
        </p:nvSpPr>
        <p:spPr/>
        <p:txBody>
          <a:bodyPr>
            <a:normAutofit/>
          </a:bodyPr>
          <a:lstStyle/>
          <a:p>
            <a:r>
              <a:rPr lang="en-US" dirty="0"/>
              <a:t>Business firms looking for strategic systems should also evaluate to determine whether a system is operationally acceptable. Operational feasibility covers two aspects. </a:t>
            </a:r>
          </a:p>
          <a:p>
            <a:r>
              <a:rPr lang="en-US" dirty="0"/>
              <a:t>One is technical performance aspect, and the other is acceptance within the organization.</a:t>
            </a:r>
          </a:p>
          <a:p>
            <a:r>
              <a:rPr lang="en-US" dirty="0"/>
              <a:t>Technical performance includes issues such as determining whether the system can provide the right information for the organization’s personnel, and whether the system can be organized so that it always delivers this information at the right place and on time.</a:t>
            </a:r>
          </a:p>
        </p:txBody>
      </p:sp>
    </p:spTree>
    <p:extLst>
      <p:ext uri="{BB962C8B-B14F-4D97-AF65-F5344CB8AC3E}">
        <p14:creationId xmlns:p14="http://schemas.microsoft.com/office/powerpoint/2010/main" val="291503206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5423"/>
            <a:ext cx="10515600" cy="5581540"/>
          </a:xfrm>
        </p:spPr>
        <p:txBody>
          <a:bodyPr>
            <a:normAutofit/>
          </a:bodyPr>
          <a:lstStyle/>
          <a:p>
            <a:r>
              <a:rPr lang="en-US" dirty="0"/>
              <a:t>Operational feasibility must determine how the proposed system will fit in with the current operations and what, if any, job restructuring and retraining may be needed to implement the system. </a:t>
            </a:r>
          </a:p>
          <a:p>
            <a:r>
              <a:rPr lang="en-US" dirty="0"/>
              <a:t>The evaluation must then determine the general attitudes and skills of existing personnel and whether any such restructuring of jobs will be acceptable to the current users.</a:t>
            </a:r>
          </a:p>
          <a:p>
            <a:r>
              <a:rPr lang="en-US" dirty="0"/>
              <a:t>Thus, operational feasibility is a measure of how well a proposed system solves the problems, and takes advantage of the opportunities identified during scope definition and how it satisfies the requirements identified in the requirements analysis phase of system</a:t>
            </a:r>
            <a:br>
              <a:rPr lang="en-US" dirty="0"/>
            </a:br>
            <a:r>
              <a:rPr lang="en-US" dirty="0"/>
              <a:t>development.</a:t>
            </a:r>
            <a:br>
              <a:rPr lang="en-US" dirty="0"/>
            </a:br>
            <a:endParaRPr lang="en-US" dirty="0"/>
          </a:p>
        </p:txBody>
      </p:sp>
    </p:spTree>
    <p:extLst>
      <p:ext uri="{BB962C8B-B14F-4D97-AF65-F5344CB8AC3E}">
        <p14:creationId xmlns:p14="http://schemas.microsoft.com/office/powerpoint/2010/main" val="189863206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t>The essential questions that help in testing the operational feasibility of a system include the following:</a:t>
            </a:r>
          </a:p>
        </p:txBody>
      </p:sp>
      <p:sp>
        <p:nvSpPr>
          <p:cNvPr id="3" name="Content Placeholder 2"/>
          <p:cNvSpPr>
            <a:spLocks noGrp="1"/>
          </p:cNvSpPr>
          <p:nvPr>
            <p:ph idx="1"/>
          </p:nvPr>
        </p:nvSpPr>
        <p:spPr/>
        <p:txBody>
          <a:bodyPr>
            <a:normAutofit fontScale="85000" lnSpcReduction="20000"/>
          </a:bodyPr>
          <a:lstStyle/>
          <a:p>
            <a:r>
              <a:rPr lang="en-US" dirty="0"/>
              <a:t>Does the current mode of operation provide adequate throughput and response time?</a:t>
            </a:r>
          </a:p>
          <a:p>
            <a:r>
              <a:rPr lang="en-US" dirty="0"/>
              <a:t>Does current mode provide end users and managers with timely, pertinent,</a:t>
            </a:r>
            <a:br>
              <a:rPr lang="en-US" dirty="0"/>
            </a:br>
            <a:r>
              <a:rPr lang="en-US" dirty="0"/>
              <a:t>accurate and useful formatted information?</a:t>
            </a:r>
          </a:p>
          <a:p>
            <a:r>
              <a:rPr lang="en-US" dirty="0"/>
              <a:t>Does the current mode of operation provide cost-effective information services to the business?</a:t>
            </a:r>
          </a:p>
          <a:p>
            <a:r>
              <a:rPr lang="en-US" dirty="0"/>
              <a:t>Could there be a reduction in costs and or an increase in benefits?</a:t>
            </a:r>
          </a:p>
          <a:p>
            <a:r>
              <a:rPr lang="en-US" dirty="0"/>
              <a:t>Does current mode of operation offer effective controls to protect against fraud</a:t>
            </a:r>
            <a:br>
              <a:rPr lang="en-US" dirty="0"/>
            </a:br>
            <a:r>
              <a:rPr lang="en-US" dirty="0"/>
              <a:t>and to guarantee accuracy and security of data and information?</a:t>
            </a:r>
          </a:p>
          <a:p>
            <a:r>
              <a:rPr lang="en-US" dirty="0"/>
              <a:t>Does current mode of operation make maximum use of available resources</a:t>
            </a:r>
            <a:br>
              <a:rPr lang="en-US" dirty="0"/>
            </a:br>
            <a:r>
              <a:rPr lang="en-US" dirty="0"/>
              <a:t>including people, time, and flow of forms?</a:t>
            </a:r>
          </a:p>
          <a:p>
            <a:r>
              <a:rPr lang="en-US" dirty="0"/>
              <a:t>Does the current mode of operation provide reliable services?</a:t>
            </a:r>
          </a:p>
        </p:txBody>
      </p:sp>
    </p:spTree>
    <p:extLst>
      <p:ext uri="{BB962C8B-B14F-4D97-AF65-F5344CB8AC3E}">
        <p14:creationId xmlns:p14="http://schemas.microsoft.com/office/powerpoint/2010/main" val="142734368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52893"/>
            <a:ext cx="10515600" cy="5624070"/>
          </a:xfrm>
        </p:spPr>
        <p:txBody>
          <a:bodyPr>
            <a:normAutofit fontScale="92500" lnSpcReduction="10000"/>
          </a:bodyPr>
          <a:lstStyle/>
          <a:p>
            <a:r>
              <a:rPr lang="en-US" dirty="0"/>
              <a:t>Are the services flexible and expandable?</a:t>
            </a:r>
          </a:p>
          <a:p>
            <a:r>
              <a:rPr lang="en-US" dirty="0"/>
              <a:t>Are the current work practices and procedures adequate to support the new system?</a:t>
            </a:r>
          </a:p>
          <a:p>
            <a:r>
              <a:rPr lang="en-US" dirty="0"/>
              <a:t>If the system is developed, will it be used?</a:t>
            </a:r>
          </a:p>
          <a:p>
            <a:r>
              <a:rPr lang="en-US" dirty="0"/>
              <a:t>Are the users not happy with current business practices?</a:t>
            </a:r>
          </a:p>
          <a:p>
            <a:r>
              <a:rPr lang="en-US" dirty="0"/>
              <a:t>Will it reduce the time (operation) considerably?</a:t>
            </a:r>
          </a:p>
          <a:p>
            <a:r>
              <a:rPr lang="en-US" dirty="0"/>
              <a:t>Have the users been involved in the planning and development of the project?</a:t>
            </a:r>
          </a:p>
          <a:p>
            <a:r>
              <a:rPr lang="en-US" dirty="0"/>
              <a:t>Will the proposed system really benefit the organization?</a:t>
            </a:r>
          </a:p>
          <a:p>
            <a:r>
              <a:rPr lang="en-US" dirty="0"/>
              <a:t>Does the overall response increase?</a:t>
            </a:r>
          </a:p>
          <a:p>
            <a:r>
              <a:rPr lang="en-US" dirty="0"/>
              <a:t>Will the system affect the customers in a considerable way?</a:t>
            </a:r>
          </a:p>
          <a:p>
            <a:r>
              <a:rPr lang="en-US" dirty="0"/>
              <a:t>How will the working environments of the end-user change?</a:t>
            </a:r>
          </a:p>
          <a:p>
            <a:r>
              <a:rPr lang="en-US" dirty="0"/>
              <a:t>Can or will end-users and management adapt to the change?</a:t>
            </a:r>
          </a:p>
        </p:txBody>
      </p:sp>
    </p:spTree>
    <p:extLst>
      <p:ext uri="{BB962C8B-B14F-4D97-AF65-F5344CB8AC3E}">
        <p14:creationId xmlns:p14="http://schemas.microsoft.com/office/powerpoint/2010/main" val="306308037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Potential Barriers to Developing an SIS</a:t>
            </a:r>
          </a:p>
        </p:txBody>
      </p:sp>
      <p:sp>
        <p:nvSpPr>
          <p:cNvPr id="3" name="Content Placeholder 2"/>
          <p:cNvSpPr>
            <a:spLocks noGrp="1"/>
          </p:cNvSpPr>
          <p:nvPr>
            <p:ph idx="1"/>
          </p:nvPr>
        </p:nvSpPr>
        <p:spPr/>
        <p:txBody>
          <a:bodyPr>
            <a:normAutofit/>
          </a:bodyPr>
          <a:lstStyle/>
          <a:p>
            <a:r>
              <a:rPr lang="en-US" dirty="0"/>
              <a:t>Though organizations have come up with great strategies for SIS to put into practice, they still might face so many barriers to developing an SIS. </a:t>
            </a:r>
          </a:p>
          <a:p>
            <a:r>
              <a:rPr lang="en-US" dirty="0"/>
              <a:t>It is difficult to successfully launch an SIS unless implementers understand the strengths and weaknesses of the organization</a:t>
            </a:r>
            <a:br>
              <a:rPr lang="en-US" dirty="0"/>
            </a:br>
            <a:r>
              <a:rPr lang="en-US" dirty="0"/>
              <a:t>or system in which they operate. </a:t>
            </a:r>
          </a:p>
          <a:p>
            <a:r>
              <a:rPr lang="en-US" dirty="0"/>
              <a:t>Organizations should always try to anticipate barriers in</a:t>
            </a:r>
            <a:br>
              <a:rPr lang="en-US" dirty="0"/>
            </a:br>
            <a:r>
              <a:rPr lang="en-US" dirty="0"/>
              <a:t>problem definition, implementation, and maintenance so that they can develop strategies to minimize their impact or avoid them altogether.</a:t>
            </a:r>
          </a:p>
        </p:txBody>
      </p:sp>
    </p:spTree>
    <p:extLst>
      <p:ext uri="{BB962C8B-B14F-4D97-AF65-F5344CB8AC3E}">
        <p14:creationId xmlns:p14="http://schemas.microsoft.com/office/powerpoint/2010/main" val="291219631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Problem Definition</a:t>
            </a:r>
          </a:p>
        </p:txBody>
      </p:sp>
      <p:sp>
        <p:nvSpPr>
          <p:cNvPr id="3" name="Content Placeholder 2"/>
          <p:cNvSpPr>
            <a:spLocks noGrp="1"/>
          </p:cNvSpPr>
          <p:nvPr>
            <p:ph idx="1"/>
          </p:nvPr>
        </p:nvSpPr>
        <p:spPr/>
        <p:txBody>
          <a:bodyPr>
            <a:normAutofit lnSpcReduction="10000"/>
          </a:bodyPr>
          <a:lstStyle/>
          <a:p>
            <a:r>
              <a:rPr lang="en-US" dirty="0"/>
              <a:t>Defining a problem is the most challenging job. It is the most important phase because what analyst sees is what is going to be implemented. </a:t>
            </a:r>
          </a:p>
          <a:p>
            <a:r>
              <a:rPr lang="en-US" dirty="0"/>
              <a:t>While defining a problem, system builders should spend a lot of time analyzing the system to find out what its needs are, identify any system deficiencies and they should have substantial ideas to make sure that they have done it right. </a:t>
            </a:r>
          </a:p>
          <a:p>
            <a:r>
              <a:rPr lang="en-US" dirty="0"/>
              <a:t> There must be proper communication and coordination between</a:t>
            </a:r>
            <a:br>
              <a:rPr lang="en-US" dirty="0"/>
            </a:br>
            <a:r>
              <a:rPr lang="en-US" dirty="0"/>
              <a:t>people involved in building a system. If cooperation and coordination are lacking between them, this can be a barrier to the development of strategic systems. </a:t>
            </a:r>
          </a:p>
        </p:txBody>
      </p:sp>
    </p:spTree>
    <p:extLst>
      <p:ext uri="{BB962C8B-B14F-4D97-AF65-F5344CB8AC3E}">
        <p14:creationId xmlns:p14="http://schemas.microsoft.com/office/powerpoint/2010/main" val="142595704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Some of the reasons that may lead to definition barriers are:</a:t>
            </a:r>
          </a:p>
        </p:txBody>
      </p:sp>
      <p:sp>
        <p:nvSpPr>
          <p:cNvPr id="3" name="Content Placeholder 2"/>
          <p:cNvSpPr>
            <a:spLocks noGrp="1"/>
          </p:cNvSpPr>
          <p:nvPr>
            <p:ph idx="1"/>
          </p:nvPr>
        </p:nvSpPr>
        <p:spPr/>
        <p:txBody>
          <a:bodyPr>
            <a:normAutofit lnSpcReduction="10000"/>
          </a:bodyPr>
          <a:lstStyle/>
          <a:p>
            <a:r>
              <a:rPr lang="en-US" dirty="0"/>
              <a:t>Studying the problem too long without acting</a:t>
            </a:r>
          </a:p>
          <a:p>
            <a:r>
              <a:rPr lang="en-US" dirty="0"/>
              <a:t>Trying to get everyone's agreement first.</a:t>
            </a:r>
          </a:p>
          <a:p>
            <a:r>
              <a:rPr lang="en-US" dirty="0"/>
              <a:t>Educating without changing structures or expectations</a:t>
            </a:r>
          </a:p>
          <a:p>
            <a:r>
              <a:rPr lang="en-US" dirty="0"/>
              <a:t>Tackling everything at once</a:t>
            </a:r>
          </a:p>
          <a:p>
            <a:r>
              <a:rPr lang="en-US" dirty="0"/>
              <a:t>Measuring nothing or everything</a:t>
            </a:r>
          </a:p>
          <a:p>
            <a:r>
              <a:rPr lang="en-US" dirty="0"/>
              <a:t>Failing to build support for replication.</a:t>
            </a:r>
          </a:p>
          <a:p>
            <a:r>
              <a:rPr lang="en-US" dirty="0"/>
              <a:t>Improper communication between users and system builders</a:t>
            </a:r>
          </a:p>
          <a:p>
            <a:r>
              <a:rPr lang="en-US" dirty="0"/>
              <a:t>Impedance mismatch</a:t>
            </a:r>
          </a:p>
          <a:p>
            <a:r>
              <a:rPr lang="en-US" dirty="0"/>
              <a:t>Assuming that the status quo is Ok.</a:t>
            </a:r>
          </a:p>
        </p:txBody>
      </p:sp>
    </p:spTree>
    <p:extLst>
      <p:ext uri="{BB962C8B-B14F-4D97-AF65-F5344CB8AC3E}">
        <p14:creationId xmlns:p14="http://schemas.microsoft.com/office/powerpoint/2010/main" val="334990628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Definition barriers to strategic information systems are:</a:t>
            </a:r>
          </a:p>
        </p:txBody>
      </p:sp>
      <p:sp>
        <p:nvSpPr>
          <p:cNvPr id="3" name="Content Placeholder 2"/>
          <p:cNvSpPr>
            <a:spLocks noGrp="1"/>
          </p:cNvSpPr>
          <p:nvPr>
            <p:ph idx="1"/>
          </p:nvPr>
        </p:nvSpPr>
        <p:spPr/>
        <p:txBody>
          <a:bodyPr/>
          <a:lstStyle/>
          <a:p>
            <a:r>
              <a:rPr lang="en-US" dirty="0"/>
              <a:t>Generating workable ideas requires leadership and teamwork.</a:t>
            </a:r>
          </a:p>
          <a:p>
            <a:r>
              <a:rPr lang="en-US" dirty="0"/>
              <a:t>Many innovative ideas are not technically feasible.</a:t>
            </a:r>
          </a:p>
          <a:p>
            <a:r>
              <a:rPr lang="en-US" dirty="0"/>
              <a:t>Many innovative ideas are prohibitively expensive.</a:t>
            </a:r>
          </a:p>
          <a:p>
            <a:r>
              <a:rPr lang="en-US" dirty="0"/>
              <a:t>Many ideas die because they lack a sufficient market.</a:t>
            </a:r>
          </a:p>
        </p:txBody>
      </p:sp>
    </p:spTree>
    <p:extLst>
      <p:ext uri="{BB962C8B-B14F-4D97-AF65-F5344CB8AC3E}">
        <p14:creationId xmlns:p14="http://schemas.microsoft.com/office/powerpoint/2010/main" val="41056643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75"/>
            <a:ext cx="10515600" cy="761926"/>
          </a:xfrm>
        </p:spPr>
        <p:txBody>
          <a:bodyPr/>
          <a:lstStyle/>
          <a:p>
            <a:r>
              <a:rPr lang="en-US" b="1" dirty="0"/>
              <a:t>Implementation</a:t>
            </a:r>
          </a:p>
        </p:txBody>
      </p:sp>
      <p:sp>
        <p:nvSpPr>
          <p:cNvPr id="3" name="Content Placeholder 2"/>
          <p:cNvSpPr>
            <a:spLocks noGrp="1"/>
          </p:cNvSpPr>
          <p:nvPr>
            <p:ph idx="1"/>
          </p:nvPr>
        </p:nvSpPr>
        <p:spPr>
          <a:xfrm>
            <a:off x="838200" y="1095153"/>
            <a:ext cx="10515600" cy="5081810"/>
          </a:xfrm>
        </p:spPr>
        <p:txBody>
          <a:bodyPr>
            <a:normAutofit/>
          </a:bodyPr>
          <a:lstStyle/>
          <a:p>
            <a:r>
              <a:rPr lang="en-US" dirty="0"/>
              <a:t>The major problem that companies now face is to implement an SIS properly and to sustain their competitive advantage. </a:t>
            </a:r>
          </a:p>
          <a:p>
            <a:r>
              <a:rPr lang="en-US" dirty="0"/>
              <a:t>Implementing strategic IS may be a complex undertaking due to the magnitude and the complex nature of the systems. </a:t>
            </a:r>
          </a:p>
          <a:p>
            <a:r>
              <a:rPr lang="en-US" dirty="0"/>
              <a:t>Strategic ISs are designed to establish a profitable and sustainable position against the forces that determine industry competition. </a:t>
            </a:r>
          </a:p>
          <a:p>
            <a:r>
              <a:rPr lang="en-US" dirty="0"/>
              <a:t>Those systems rely heavily upon telecommunications and other state-of-the-art technologies. </a:t>
            </a:r>
          </a:p>
          <a:p>
            <a:r>
              <a:rPr lang="en-US" dirty="0"/>
              <a:t>Most of the companies lack skills necessary to build such systems.</a:t>
            </a:r>
          </a:p>
          <a:p>
            <a:r>
              <a:rPr lang="en-US" dirty="0"/>
              <a:t>Furthermore, as mentioned previously, Inter-organizational systems require a great deal of cooperation among diverse departments.</a:t>
            </a:r>
          </a:p>
        </p:txBody>
      </p:sp>
    </p:spTree>
    <p:extLst>
      <p:ext uri="{BB962C8B-B14F-4D97-AF65-F5344CB8AC3E}">
        <p14:creationId xmlns:p14="http://schemas.microsoft.com/office/powerpoint/2010/main" val="90901567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Implementation barriers to strategic information systems are:</a:t>
            </a:r>
          </a:p>
        </p:txBody>
      </p:sp>
      <p:sp>
        <p:nvSpPr>
          <p:cNvPr id="3" name="Content Placeholder 2"/>
          <p:cNvSpPr>
            <a:spLocks noGrp="1"/>
          </p:cNvSpPr>
          <p:nvPr>
            <p:ph idx="1"/>
          </p:nvPr>
        </p:nvSpPr>
        <p:spPr/>
        <p:txBody>
          <a:bodyPr/>
          <a:lstStyle/>
          <a:p>
            <a:r>
              <a:rPr lang="en-US" dirty="0"/>
              <a:t>Telecommunications increases the complexity of implementing SIS.</a:t>
            </a:r>
          </a:p>
          <a:p>
            <a:r>
              <a:rPr lang="en-US" dirty="0"/>
              <a:t>Multiple systems are difficult to integrate.</a:t>
            </a:r>
          </a:p>
          <a:p>
            <a:r>
              <a:rPr lang="en-US" dirty="0"/>
              <a:t>SIS systems often require Inter-organizational cooperation.</a:t>
            </a:r>
          </a:p>
          <a:p>
            <a:r>
              <a:rPr lang="en-US" dirty="0"/>
              <a:t>Too many people mean lack of coordination.</a:t>
            </a:r>
          </a:p>
          <a:p>
            <a:r>
              <a:rPr lang="en-US" dirty="0"/>
              <a:t>State-of-the-art technologies are difficult to implement.</a:t>
            </a:r>
          </a:p>
        </p:txBody>
      </p:sp>
    </p:spTree>
    <p:extLst>
      <p:ext uri="{BB962C8B-B14F-4D97-AF65-F5344CB8AC3E}">
        <p14:creationId xmlns:p14="http://schemas.microsoft.com/office/powerpoint/2010/main" val="105027635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Maintenance</a:t>
            </a:r>
          </a:p>
        </p:txBody>
      </p:sp>
      <p:sp>
        <p:nvSpPr>
          <p:cNvPr id="3" name="Content Placeholder 2"/>
          <p:cNvSpPr>
            <a:spLocks noGrp="1"/>
          </p:cNvSpPr>
          <p:nvPr>
            <p:ph idx="1"/>
          </p:nvPr>
        </p:nvSpPr>
        <p:spPr/>
        <p:txBody>
          <a:bodyPr>
            <a:normAutofit lnSpcReduction="10000"/>
          </a:bodyPr>
          <a:lstStyle/>
          <a:p>
            <a:r>
              <a:rPr lang="en-US" dirty="0"/>
              <a:t>Maintenance is an ongoing process, and it lasts till the system is completely retired from the organization. Strategic systems are often expensive to maintain. </a:t>
            </a:r>
          </a:p>
          <a:p>
            <a:r>
              <a:rPr lang="en-US" dirty="0"/>
              <a:t>Strategic systems should always address the changes in business needs and policy of the company. </a:t>
            </a:r>
          </a:p>
          <a:p>
            <a:r>
              <a:rPr lang="en-US" dirty="0"/>
              <a:t>Any new features and services likely to be added to the business firms should also be handled by those systems. Lack of resources as time and commitment, ineffective teams. </a:t>
            </a:r>
          </a:p>
          <a:p>
            <a:r>
              <a:rPr lang="en-US" dirty="0"/>
              <a:t>Lack of cooperation from other agencies, providers, departments, and facilities, imitating the strategic idea from competitors, and resistance to change may cause maintenance barriers.</a:t>
            </a:r>
          </a:p>
        </p:txBody>
      </p:sp>
    </p:spTree>
    <p:extLst>
      <p:ext uri="{BB962C8B-B14F-4D97-AF65-F5344CB8AC3E}">
        <p14:creationId xmlns:p14="http://schemas.microsoft.com/office/powerpoint/2010/main" val="205242812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Maintenance barriers to strategic information systems are:</a:t>
            </a:r>
          </a:p>
        </p:txBody>
      </p:sp>
      <p:sp>
        <p:nvSpPr>
          <p:cNvPr id="3" name="Content Placeholder 2"/>
          <p:cNvSpPr>
            <a:spLocks noGrp="1"/>
          </p:cNvSpPr>
          <p:nvPr>
            <p:ph idx="1"/>
          </p:nvPr>
        </p:nvSpPr>
        <p:spPr/>
        <p:txBody>
          <a:bodyPr/>
          <a:lstStyle/>
          <a:p>
            <a:r>
              <a:rPr lang="en-US" dirty="0"/>
              <a:t>Imitating strategic idea from competitors</a:t>
            </a:r>
          </a:p>
          <a:p>
            <a:r>
              <a:rPr lang="en-US" dirty="0"/>
              <a:t>Unanticipated demand can overwhelm the usefulness of an SIS.</a:t>
            </a:r>
          </a:p>
          <a:p>
            <a:r>
              <a:rPr lang="en-US" dirty="0"/>
              <a:t>Applications can be expensive to maintain or enhance.</a:t>
            </a:r>
          </a:p>
          <a:p>
            <a:r>
              <a:rPr lang="en-US" dirty="0"/>
              <a:t>Complex to upgrade to state-of-the-art technologies.</a:t>
            </a:r>
          </a:p>
          <a:p>
            <a:r>
              <a:rPr lang="en-US" dirty="0"/>
              <a:t>Difficult to adapt due to so many changes and inadequate problem definition.</a:t>
            </a:r>
          </a:p>
        </p:txBody>
      </p:sp>
    </p:spTree>
    <p:extLst>
      <p:ext uri="{BB962C8B-B14F-4D97-AF65-F5344CB8AC3E}">
        <p14:creationId xmlns:p14="http://schemas.microsoft.com/office/powerpoint/2010/main" val="88298222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Competitive Advantage and SIS</a:t>
            </a:r>
          </a:p>
        </p:txBody>
      </p:sp>
      <p:sp>
        <p:nvSpPr>
          <p:cNvPr id="3" name="Content Placeholder 2"/>
          <p:cNvSpPr>
            <a:spLocks noGrp="1"/>
          </p:cNvSpPr>
          <p:nvPr>
            <p:ph idx="1"/>
          </p:nvPr>
        </p:nvSpPr>
        <p:spPr/>
        <p:txBody>
          <a:bodyPr/>
          <a:lstStyle/>
          <a:p>
            <a:r>
              <a:rPr lang="en-US" dirty="0"/>
              <a:t>Information is king in this ever-changing economic world. </a:t>
            </a:r>
          </a:p>
          <a:p>
            <a:r>
              <a:rPr lang="en-US" dirty="0"/>
              <a:t>To handle, evaluate, and use information to their advantage over rivals, businesses require strong systems. </a:t>
            </a:r>
          </a:p>
          <a:p>
            <a:r>
              <a:rPr lang="en-US" dirty="0"/>
              <a:t>Strategic Information Systems (SIS) can help with this. </a:t>
            </a:r>
          </a:p>
          <a:p>
            <a:r>
              <a:rPr lang="en-US" dirty="0"/>
              <a:t>As we have already understood, an SIS is an information system that is specifically designed to support and implement a company’s competitive strategy. </a:t>
            </a:r>
          </a:p>
        </p:txBody>
      </p:sp>
    </p:spTree>
    <p:extLst>
      <p:ext uri="{BB962C8B-B14F-4D97-AF65-F5344CB8AC3E}">
        <p14:creationId xmlns:p14="http://schemas.microsoft.com/office/powerpoint/2010/main" val="72810214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It goes beyond basic data processing to provide a platform for:</a:t>
            </a:r>
          </a:p>
        </p:txBody>
      </p:sp>
      <p:sp>
        <p:nvSpPr>
          <p:cNvPr id="3" name="Content Placeholder 2"/>
          <p:cNvSpPr>
            <a:spLocks noGrp="1"/>
          </p:cNvSpPr>
          <p:nvPr>
            <p:ph idx="1"/>
          </p:nvPr>
        </p:nvSpPr>
        <p:spPr/>
        <p:txBody>
          <a:bodyPr>
            <a:normAutofit fontScale="92500" lnSpcReduction="10000"/>
          </a:bodyPr>
          <a:lstStyle/>
          <a:p>
            <a:r>
              <a:rPr lang="en-US" b="1" dirty="0"/>
              <a:t>Enhanced Decision-Making: </a:t>
            </a:r>
            <a:r>
              <a:rPr lang="en-US" dirty="0"/>
              <a:t>SIS empowers businesses with real-time data and insights, enabling faster and more informed decisions across all levels.</a:t>
            </a:r>
          </a:p>
          <a:p>
            <a:r>
              <a:rPr lang="en-US" b="1" dirty="0"/>
              <a:t>Improved Operational Efficiency: </a:t>
            </a:r>
            <a:r>
              <a:rPr lang="en-US" dirty="0"/>
              <a:t>Streamlining processes, automating tasks, and optimizing workflows are key strengths of SIS, leading to cost reduction and increased productivity.</a:t>
            </a:r>
          </a:p>
          <a:p>
            <a:r>
              <a:rPr lang="en-US" b="1" dirty="0"/>
              <a:t>Innovation And Differentiation: </a:t>
            </a:r>
            <a:r>
              <a:rPr lang="en-US" dirty="0"/>
              <a:t>SIS can foster a culture of innovation by facilitating collaboration, knowledge sharing, and the development of new products and services.</a:t>
            </a:r>
          </a:p>
          <a:p>
            <a:r>
              <a:rPr lang="en-US" b="1" dirty="0"/>
              <a:t>Superior Customer Experience: </a:t>
            </a:r>
            <a:r>
              <a:rPr lang="en-US" dirty="0"/>
              <a:t>By personalizing interactions, anticipating needs, and providing exceptional service, SIS can turn customers into loyal advocates.</a:t>
            </a:r>
          </a:p>
        </p:txBody>
      </p:sp>
    </p:spTree>
    <p:extLst>
      <p:ext uri="{BB962C8B-B14F-4D97-AF65-F5344CB8AC3E}">
        <p14:creationId xmlns:p14="http://schemas.microsoft.com/office/powerpoint/2010/main" val="176561943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2772"/>
            <a:ext cx="10515600" cy="5794191"/>
          </a:xfrm>
        </p:spPr>
        <p:txBody>
          <a:bodyPr>
            <a:normAutofit/>
          </a:bodyPr>
          <a:lstStyle/>
          <a:p>
            <a:r>
              <a:rPr lang="en-US" dirty="0"/>
              <a:t>Strategic Information Systems play a critical role in shaping organizations’ competitive advantage and positioning them for success in the digital age. </a:t>
            </a:r>
          </a:p>
          <a:p>
            <a:r>
              <a:rPr lang="en-US" dirty="0"/>
              <a:t>By leveraging SIS effectively organizations can gain several key competitive advantages:</a:t>
            </a:r>
          </a:p>
          <a:p>
            <a:pPr lvl="1"/>
            <a:r>
              <a:rPr lang="en-US" b="1" dirty="0"/>
              <a:t>Operational Efficiency: </a:t>
            </a:r>
          </a:p>
          <a:p>
            <a:pPr marL="457200" lvl="1" indent="0">
              <a:buNone/>
            </a:pPr>
            <a:r>
              <a:rPr lang="en-US" dirty="0"/>
              <a:t>Strategic Information Systems enable organizations to streamline operations, automate routine tasks, and eliminate inefficiencies, leading to cost savings, productivity gains, and improved resource utilization.</a:t>
            </a:r>
          </a:p>
          <a:p>
            <a:pPr lvl="1"/>
            <a:endParaRPr lang="en-US" dirty="0"/>
          </a:p>
          <a:p>
            <a:pPr lvl="1"/>
            <a:r>
              <a:rPr lang="en-US" b="1" dirty="0"/>
              <a:t>Enhanced Decision-Making: </a:t>
            </a:r>
          </a:p>
          <a:p>
            <a:pPr marL="457200" lvl="1" indent="0">
              <a:buNone/>
            </a:pPr>
            <a:r>
              <a:rPr lang="en-US" dirty="0"/>
              <a:t>SIS provides decision-makers with timely, accurate, and actionable information, enabling them to make informed decisions that drive strategic outcomes and support organizational goals.</a:t>
            </a:r>
          </a:p>
        </p:txBody>
      </p:sp>
    </p:spTree>
    <p:extLst>
      <p:ext uri="{BB962C8B-B14F-4D97-AF65-F5344CB8AC3E}">
        <p14:creationId xmlns:p14="http://schemas.microsoft.com/office/powerpoint/2010/main" val="198280961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25302"/>
            <a:ext cx="10515600" cy="6134986"/>
          </a:xfrm>
        </p:spPr>
        <p:txBody>
          <a:bodyPr>
            <a:normAutofit fontScale="85000" lnSpcReduction="10000"/>
          </a:bodyPr>
          <a:lstStyle/>
          <a:p>
            <a:r>
              <a:rPr lang="en-US" b="1" dirty="0"/>
              <a:t>Customer Centricity: </a:t>
            </a:r>
          </a:p>
          <a:p>
            <a:pPr marL="0" indent="0">
              <a:buNone/>
            </a:pPr>
            <a:r>
              <a:rPr lang="en-US" dirty="0"/>
              <a:t>Strategic Information Systems enable organizations to better understand customer needs, preferences, and behaviors, allowing them to deliver personalized experiences, anticipate customer demands, and build stronger customer</a:t>
            </a:r>
            <a:br>
              <a:rPr lang="en-US" dirty="0"/>
            </a:br>
            <a:r>
              <a:rPr lang="en-US" dirty="0"/>
              <a:t>relationships.</a:t>
            </a:r>
          </a:p>
          <a:p>
            <a:r>
              <a:rPr lang="en-US" b="1" dirty="0"/>
              <a:t>Innovation and Agility: </a:t>
            </a:r>
          </a:p>
          <a:p>
            <a:pPr marL="0" indent="0">
              <a:buNone/>
            </a:pPr>
            <a:r>
              <a:rPr lang="en-US" dirty="0"/>
              <a:t>SIS fosters a culture of innovation and agility by enabling organizations to experiment, iterate, and adapt quickly to changing market conditions, emerging technologies, and competitive pressures.</a:t>
            </a:r>
          </a:p>
          <a:p>
            <a:r>
              <a:rPr lang="en-US" b="1" dirty="0"/>
              <a:t>Focus: </a:t>
            </a:r>
          </a:p>
          <a:p>
            <a:pPr marL="0" indent="0">
              <a:buNone/>
            </a:pPr>
            <a:r>
              <a:rPr lang="en-US" dirty="0"/>
              <a:t>SIS allows businesses to concentrate their resources on core competencies and target markets, leading to a sharper competitive focus.</a:t>
            </a:r>
          </a:p>
          <a:p>
            <a:r>
              <a:rPr lang="en-US" b="1" dirty="0"/>
              <a:t>Market Differentiation: </a:t>
            </a:r>
          </a:p>
          <a:p>
            <a:pPr marL="0" indent="0">
              <a:buNone/>
            </a:pPr>
            <a:r>
              <a:rPr lang="en-US" dirty="0"/>
              <a:t>Strategic Information Systems enable organizations to differentiate themselves in the marketplace through innovative products, services, and customer experiences that set them apart from competitors and create unique value propositions.</a:t>
            </a:r>
            <a:br>
              <a:rPr lang="en-US" dirty="0"/>
            </a:br>
            <a:endParaRPr lang="en-US" dirty="0"/>
          </a:p>
        </p:txBody>
      </p:sp>
    </p:spTree>
    <p:extLst>
      <p:ext uri="{BB962C8B-B14F-4D97-AF65-F5344CB8AC3E}">
        <p14:creationId xmlns:p14="http://schemas.microsoft.com/office/powerpoint/2010/main" val="257862039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3107"/>
            <a:ext cx="10515600" cy="644968"/>
          </a:xfrm>
        </p:spPr>
        <p:txBody>
          <a:bodyPr>
            <a:normAutofit fontScale="90000"/>
          </a:bodyPr>
          <a:lstStyle/>
          <a:p>
            <a:r>
              <a:rPr lang="en-US" b="1" dirty="0"/>
              <a:t>Examples of Strategic Information Systems</a:t>
            </a:r>
          </a:p>
        </p:txBody>
      </p:sp>
      <p:sp>
        <p:nvSpPr>
          <p:cNvPr id="3" name="Content Placeholder 2"/>
          <p:cNvSpPr>
            <a:spLocks noGrp="1"/>
          </p:cNvSpPr>
          <p:nvPr>
            <p:ph idx="1"/>
          </p:nvPr>
        </p:nvSpPr>
        <p:spPr>
          <a:xfrm>
            <a:off x="838200" y="988828"/>
            <a:ext cx="10515600" cy="5667153"/>
          </a:xfrm>
        </p:spPr>
        <p:txBody>
          <a:bodyPr>
            <a:normAutofit lnSpcReduction="10000"/>
          </a:bodyPr>
          <a:lstStyle/>
          <a:p>
            <a:r>
              <a:rPr lang="en-US" b="1" dirty="0"/>
              <a:t>Amazon's Recommendation Engine: </a:t>
            </a:r>
            <a:r>
              <a:rPr lang="en-US" dirty="0"/>
              <a:t>This AI-powered system analyzes customer data to personalize product recommendations, creating a more engaging shopping experience and increasing sales.</a:t>
            </a:r>
          </a:p>
          <a:p>
            <a:r>
              <a:rPr lang="en-US" b="1" dirty="0"/>
              <a:t>Walmart's Supply Chain Management System: </a:t>
            </a:r>
            <a:r>
              <a:rPr lang="en-US" dirty="0"/>
              <a:t>This system optimizes inventory levels, transportation routes, and logistics, allowing Walmart to offer competitive prices and maintain product availability.</a:t>
            </a:r>
          </a:p>
          <a:p>
            <a:r>
              <a:rPr lang="en-US" b="1" dirty="0"/>
              <a:t>Netflix's Content Recommendation Algorithm: </a:t>
            </a:r>
            <a:r>
              <a:rPr lang="en-US" dirty="0"/>
              <a:t>Netflix's use of data analytics and personalized recommendation algorithms has revolutionized the entertainment industry, enabling the company to deliver highly targeted content to subscribers, drive subscriber growth, and outmaneuver traditional media competitors.</a:t>
            </a:r>
          </a:p>
          <a:p>
            <a:r>
              <a:rPr lang="en-US" b="1" dirty="0"/>
              <a:t>Uber: </a:t>
            </a:r>
            <a:r>
              <a:rPr lang="en-US" dirty="0"/>
              <a:t>Uber's mobile app and data-driven approach to transportation have disrupted the taxi industry and transformed urban mobility, enabling the company to rapidly expand its global footprint and capture market share from traditional taxi operators.</a:t>
            </a:r>
          </a:p>
        </p:txBody>
      </p:sp>
    </p:spTree>
    <p:extLst>
      <p:ext uri="{BB962C8B-B14F-4D97-AF65-F5344CB8AC3E}">
        <p14:creationId xmlns:p14="http://schemas.microsoft.com/office/powerpoint/2010/main" val="18971434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670</TotalTime>
  <Words>10882</Words>
  <Application>Microsoft Office PowerPoint</Application>
  <PresentationFormat>Widescreen</PresentationFormat>
  <Paragraphs>558</Paragraphs>
  <Slides>115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115</vt:i4>
      </vt:variant>
    </vt:vector>
  </HeadingPairs>
  <TitlesOfParts>
    <vt:vector size="119" baseType="lpstr">
      <vt:lpstr>Arial</vt:lpstr>
      <vt:lpstr>Calibri</vt:lpstr>
      <vt:lpstr>Calibri Light</vt:lpstr>
      <vt:lpstr>Office Theme</vt:lpstr>
      <vt:lpstr>Organizational Strategy, Competitive Advantage and Information Systems</vt:lpstr>
      <vt:lpstr>Introduction</vt:lpstr>
      <vt:lpstr>PowerPoint Presentation</vt:lpstr>
      <vt:lpstr>PowerPoint Presentation</vt:lpstr>
      <vt:lpstr>Defining Business Processes</vt:lpstr>
      <vt:lpstr>Key aspects of a business process are described below:</vt:lpstr>
      <vt:lpstr>Business process encompass a wide range of activities, including but not limited to:</vt:lpstr>
      <vt:lpstr>Why are Business Processes Important?</vt:lpstr>
      <vt:lpstr>How businesses utilize processes to achieve their goals:</vt:lpstr>
      <vt:lpstr>PowerPoint Presentation</vt:lpstr>
      <vt:lpstr>PowerPoint Presentation</vt:lpstr>
      <vt:lpstr>Types of Business Processes</vt:lpstr>
      <vt:lpstr>Technology's Impact on Business Processes</vt:lpstr>
      <vt:lpstr>PowerPoint Presentation</vt:lpstr>
      <vt:lpstr>These technological advancements enable organizations to:</vt:lpstr>
      <vt:lpstr>PowerPoint Presentation</vt:lpstr>
      <vt:lpstr>Business Process Improvement</vt:lpstr>
      <vt:lpstr>PowerPoint Presentation</vt:lpstr>
      <vt:lpstr>PowerPoint Presentation</vt:lpstr>
      <vt:lpstr>PowerPoint Presentation</vt:lpstr>
      <vt:lpstr>Key Principles of Business Process Improvement</vt:lpstr>
      <vt:lpstr>PowerPoint Presentation</vt:lpstr>
      <vt:lpstr>The BPI Cycle for Continuous Improvement</vt:lpstr>
      <vt:lpstr>PowerPoint Presentation</vt:lpstr>
      <vt:lpstr>Popular BPI Methodologies</vt:lpstr>
      <vt:lpstr>PowerPoint Presentation</vt:lpstr>
      <vt:lpstr>Some examples showcasing how organizations across the globe have leveraged BPI:</vt:lpstr>
      <vt:lpstr>Business Process Reengineering</vt:lpstr>
      <vt:lpstr>PowerPoint Presentation</vt:lpstr>
      <vt:lpstr>Business Process Reengineering involves:</vt:lpstr>
      <vt:lpstr>PowerPoint Presentation</vt:lpstr>
      <vt:lpstr>Core objectives are to achieve dramatic improvements in critical areas:</vt:lpstr>
      <vt:lpstr>BPR is driven by a set of core principles that guide its implementation:</vt:lpstr>
      <vt:lpstr>Methodologies of Business Process Reengineering</vt:lpstr>
      <vt:lpstr>PowerPoint Presentation</vt:lpstr>
      <vt:lpstr>Benefits of Business Process Reengineering</vt:lpstr>
      <vt:lpstr>PowerPoint Presentation</vt:lpstr>
      <vt:lpstr>Challenges of Business Process Reengineering</vt:lpstr>
      <vt:lpstr>PowerPoint Presentation</vt:lpstr>
      <vt:lpstr>PowerPoint Presentation</vt:lpstr>
      <vt:lpstr>PowerPoint Presentation</vt:lpstr>
      <vt:lpstr>Business Process Management</vt:lpstr>
      <vt:lpstr>BPM ensure these processes are:</vt:lpstr>
      <vt:lpstr>Organizations that embrace BPM experience a multitude of benefits:</vt:lpstr>
      <vt:lpstr>PowerPoint Presentation</vt:lpstr>
      <vt:lpstr>BPM professionals use a wide variety of tools and techniques: </vt:lpstr>
      <vt:lpstr>Key stages involved in BPM:</vt:lpstr>
      <vt:lpstr>PowerPoint Presentation</vt:lpstr>
      <vt:lpstr>Examples of BPM:</vt:lpstr>
      <vt:lpstr>Business Pressures</vt:lpstr>
      <vt:lpstr>Types of Business Pressures</vt:lpstr>
      <vt:lpstr>Market Pressures: </vt:lpstr>
      <vt:lpstr>PowerPoint Presentation</vt:lpstr>
      <vt:lpstr>Technology Pressures: </vt:lpstr>
      <vt:lpstr>Technological Obsolescence</vt:lpstr>
      <vt:lpstr>Cyber Security Threats</vt:lpstr>
      <vt:lpstr>Digital Disruption</vt:lpstr>
      <vt:lpstr>Societal Pressures</vt:lpstr>
      <vt:lpstr>Environmental Sustainability</vt:lpstr>
      <vt:lpstr>Ethical Conduct</vt:lpstr>
      <vt:lpstr>Corporate Social Responsibility</vt:lpstr>
      <vt:lpstr>Strategies for Managing Business Pressures</vt:lpstr>
      <vt:lpstr>Agility and Adaptability</vt:lpstr>
      <vt:lpstr>Strategic Planning and Forecasting</vt:lpstr>
      <vt:lpstr>Investment in Technology and Innovation</vt:lpstr>
      <vt:lpstr>Customer-Centricity</vt:lpstr>
      <vt:lpstr>Corporate Social Responsibility (CSR)</vt:lpstr>
      <vt:lpstr>Positive Impacts</vt:lpstr>
      <vt:lpstr>Negative Impacts</vt:lpstr>
      <vt:lpstr>Some key strategies to follow so that the impact will be mostly positive:</vt:lpstr>
      <vt:lpstr>PowerPoint Presentation</vt:lpstr>
      <vt:lpstr>Some examples showing how real-world organizations have navigated specific business pressures:</vt:lpstr>
      <vt:lpstr>PowerPoint Presentation</vt:lpstr>
      <vt:lpstr>Organizational Responses, and Information Technology Support</vt:lpstr>
      <vt:lpstr>Strategic Information Systems</vt:lpstr>
      <vt:lpstr>PowerPoint Presentation</vt:lpstr>
      <vt:lpstr>The key features of SIS</vt:lpstr>
      <vt:lpstr>Strategic Information Systems are characterized by:</vt:lpstr>
      <vt:lpstr>PowerPoint Presentation</vt:lpstr>
      <vt:lpstr>Components of Strategic Information Systems</vt:lpstr>
      <vt:lpstr>PowerPoint Presentation</vt:lpstr>
      <vt:lpstr>Telecommunications</vt:lpstr>
      <vt:lpstr>PowerPoint Presentation</vt:lpstr>
      <vt:lpstr>Through telecommunications, this value may be:</vt:lpstr>
      <vt:lpstr>Telecommunications may provide these values through the following impacts:</vt:lpstr>
      <vt:lpstr>Number of Vendors</vt:lpstr>
      <vt:lpstr>Inter-organizational Co-operation</vt:lpstr>
      <vt:lpstr>PowerPoint Presentation</vt:lpstr>
      <vt:lpstr>By practicing Inter-organizational cooperation a business firm can get different advantages such as:</vt:lpstr>
      <vt:lpstr>Strategies for Developing an SIS</vt:lpstr>
      <vt:lpstr>PowerPoint Presentation</vt:lpstr>
      <vt:lpstr>Organizations seeking an SIS should ask important questions before investing in it.</vt:lpstr>
      <vt:lpstr>Is the project technically feasible?</vt:lpstr>
      <vt:lpstr>PowerPoint Presentation</vt:lpstr>
      <vt:lpstr>The essential questions that help in testing the technical feasibility of a system include the following:</vt:lpstr>
      <vt:lpstr>Is the project financially feasible?</vt:lpstr>
      <vt:lpstr>PowerPoint Presentation</vt:lpstr>
      <vt:lpstr>Possible questions raised in economic analysis are:</vt:lpstr>
      <vt:lpstr>Is the project operationally feasible?</vt:lpstr>
      <vt:lpstr>PowerPoint Presentation</vt:lpstr>
      <vt:lpstr>The essential questions that help in testing the operational feasibility of a system include the following:</vt:lpstr>
      <vt:lpstr>PowerPoint Presentation</vt:lpstr>
      <vt:lpstr>Potential Barriers to Developing an SIS</vt:lpstr>
      <vt:lpstr>Problem Definition</vt:lpstr>
      <vt:lpstr>Some of the reasons that may lead to definition barriers are:</vt:lpstr>
      <vt:lpstr>Definition barriers to strategic information systems are:</vt:lpstr>
      <vt:lpstr>Implementation</vt:lpstr>
      <vt:lpstr>Implementation barriers to strategic information systems are:</vt:lpstr>
      <vt:lpstr>Maintenance</vt:lpstr>
      <vt:lpstr>Maintenance barriers to strategic information systems are:</vt:lpstr>
      <vt:lpstr>Competitive Advantage and SIS</vt:lpstr>
      <vt:lpstr>It goes beyond basic data processing to provide a platform for:</vt:lpstr>
      <vt:lpstr>PowerPoint Presentation</vt:lpstr>
      <vt:lpstr>PowerPoint Presentation</vt:lpstr>
      <vt:lpstr>Examples of Strategic Information Systems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Organizational Strategy, Competitive Advantage and Information Systems</dc:title>
  <dc:creator>SUDIL</dc:creator>
  <cp:lastModifiedBy>Sudil</cp:lastModifiedBy>
  <cp:revision>96</cp:revision>
  <dcterms:created xsi:type="dcterms:W3CDTF">2024-11-16T14:56:00Z</dcterms:created>
  <dcterms:modified xsi:type="dcterms:W3CDTF">2025-06-23T04:04:10Z</dcterms:modified>
</cp:coreProperties>
</file>