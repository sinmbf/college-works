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7"/>
  </p:notesMasterIdLst>
  <p:sldIdLst>
    <p:sldId id="256" r:id="rId2"/>
    <p:sldId id="257" r:id="rId3"/>
    <p:sldId id="308" r:id="rId4"/>
    <p:sldId id="309"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325" r:id="rId21"/>
    <p:sldId id="326" r:id="rId22"/>
    <p:sldId id="327" r:id="rId23"/>
    <p:sldId id="328" r:id="rId24"/>
    <p:sldId id="329" r:id="rId25"/>
    <p:sldId id="330" r:id="rId26"/>
    <p:sldId id="331" r:id="rId27"/>
    <p:sldId id="332" r:id="rId28"/>
    <p:sldId id="333" r:id="rId29"/>
    <p:sldId id="334" r:id="rId30"/>
    <p:sldId id="335" r:id="rId31"/>
    <p:sldId id="336" r:id="rId32"/>
    <p:sldId id="337" r:id="rId33"/>
    <p:sldId id="338" r:id="rId34"/>
    <p:sldId id="339" r:id="rId35"/>
    <p:sldId id="340" r:id="rId36"/>
    <p:sldId id="341" r:id="rId37"/>
    <p:sldId id="342" r:id="rId38"/>
    <p:sldId id="343" r:id="rId39"/>
    <p:sldId id="344" r:id="rId40"/>
    <p:sldId id="345" r:id="rId41"/>
    <p:sldId id="346" r:id="rId42"/>
    <p:sldId id="347" r:id="rId43"/>
    <p:sldId id="348" r:id="rId44"/>
    <p:sldId id="349" r:id="rId45"/>
    <p:sldId id="350" r:id="rId46"/>
    <p:sldId id="351" r:id="rId47"/>
    <p:sldId id="352" r:id="rId48"/>
    <p:sldId id="353" r:id="rId49"/>
    <p:sldId id="354" r:id="rId50"/>
    <p:sldId id="355" r:id="rId51"/>
    <p:sldId id="356" r:id="rId52"/>
    <p:sldId id="357" r:id="rId53"/>
    <p:sldId id="358" r:id="rId54"/>
    <p:sldId id="359" r:id="rId55"/>
    <p:sldId id="360" r:id="rId56"/>
    <p:sldId id="361" r:id="rId57"/>
    <p:sldId id="362" r:id="rId58"/>
    <p:sldId id="363" r:id="rId59"/>
    <p:sldId id="366" r:id="rId60"/>
    <p:sldId id="364" r:id="rId61"/>
    <p:sldId id="365" r:id="rId62"/>
    <p:sldId id="367" r:id="rId63"/>
    <p:sldId id="368" r:id="rId64"/>
    <p:sldId id="369" r:id="rId65"/>
    <p:sldId id="370" r:id="rId66"/>
    <p:sldId id="371" r:id="rId67"/>
    <p:sldId id="372" r:id="rId68"/>
    <p:sldId id="373" r:id="rId69"/>
    <p:sldId id="374" r:id="rId70"/>
    <p:sldId id="375" r:id="rId71"/>
    <p:sldId id="376" r:id="rId72"/>
    <p:sldId id="377" r:id="rId73"/>
    <p:sldId id="378" r:id="rId74"/>
    <p:sldId id="379" r:id="rId75"/>
    <p:sldId id="380" r:id="rId76"/>
    <p:sldId id="381" r:id="rId77"/>
    <p:sldId id="382" r:id="rId78"/>
    <p:sldId id="383" r:id="rId79"/>
    <p:sldId id="384" r:id="rId80"/>
    <p:sldId id="385" r:id="rId81"/>
    <p:sldId id="386" r:id="rId82"/>
    <p:sldId id="387" r:id="rId83"/>
    <p:sldId id="388" r:id="rId84"/>
    <p:sldId id="389" r:id="rId85"/>
    <p:sldId id="390" r:id="rId86"/>
    <p:sldId id="391" r:id="rId87"/>
    <p:sldId id="392" r:id="rId88"/>
    <p:sldId id="393" r:id="rId89"/>
    <p:sldId id="394" r:id="rId90"/>
    <p:sldId id="395" r:id="rId91"/>
    <p:sldId id="396" r:id="rId92"/>
    <p:sldId id="397" r:id="rId93"/>
    <p:sldId id="398" r:id="rId94"/>
    <p:sldId id="399" r:id="rId95"/>
    <p:sldId id="400"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40" autoAdjust="0"/>
    <p:restoredTop sz="94660"/>
  </p:normalViewPr>
  <p:slideViewPr>
    <p:cSldViewPr snapToGrid="0">
      <p:cViewPr varScale="1">
        <p:scale>
          <a:sx n="86" d="100"/>
          <a:sy n="86" d="100"/>
        </p:scale>
        <p:origin x="4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6188D-F4DA-43E5-ADA0-2505B5387470}" type="datetimeFigureOut">
              <a:rPr lang="en-GB" smtClean="0"/>
              <a:t>30/06/2026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349EDF-02AE-4601-9A17-974DAA3A18DC}" type="slidenum">
              <a:rPr lang="en-GB" smtClean="0"/>
              <a:t>‹#›</a:t>
            </a:fld>
            <a:endParaRPr lang="en-GB"/>
          </a:p>
        </p:txBody>
      </p:sp>
    </p:spTree>
    <p:extLst>
      <p:ext uri="{BB962C8B-B14F-4D97-AF65-F5344CB8AC3E}">
        <p14:creationId xmlns:p14="http://schemas.microsoft.com/office/powerpoint/2010/main" val="3901400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3E3F92-0B58-4D4C-911B-0C772D035F16}" type="datetime1">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2494482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EF11D1-46F5-4390-9B9B-504B211107E7}" type="datetime1">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3585137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8440BC0-CAA5-497D-8E5E-67B7223AE446}" type="datetime1">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1103263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EE186F-47F7-46A2-A3C7-E1241F66145B}" type="datetime1">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906548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409301-FA7D-482A-8529-F12EAEB72B95}" type="datetime1">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2391510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B4A97F-CB5F-485F-A5E2-DD3110EED213}" type="datetime1">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2860393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4278AE-3D80-48FE-9C21-40876B0B0E15}" type="datetime1">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2647490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3ACE29-56B5-4030-95D0-3206125AA2C6}" type="datetime1">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4244175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207287-A977-4DAE-8ED3-E6945F204166}" type="datetime1">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806408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48C789-CA8B-40F8-8BB5-276DC8B11190}" type="datetime1">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2772160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1425B3-B897-49F3-BF1E-3F1CE3CCA697}" type="datetime1">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6A55E-33C2-478F-BF95-3903EF7A103F}" type="slidenum">
              <a:rPr lang="en-US" smtClean="0"/>
              <a:t>‹#›</a:t>
            </a:fld>
            <a:endParaRPr lang="en-US"/>
          </a:p>
        </p:txBody>
      </p:sp>
    </p:spTree>
    <p:extLst>
      <p:ext uri="{BB962C8B-B14F-4D97-AF65-F5344CB8AC3E}">
        <p14:creationId xmlns:p14="http://schemas.microsoft.com/office/powerpoint/2010/main" val="2290398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BF8063-079A-4387-A41C-CADD2AEE57EA}" type="datetime1">
              <a:rPr lang="en-US" smtClean="0"/>
              <a:t>6/30/2026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F6A55E-33C2-478F-BF95-3903EF7A103F}" type="slidenum">
              <a:rPr lang="en-US" smtClean="0"/>
              <a:t>‹#›</a:t>
            </a:fld>
            <a:endParaRPr lang="en-US"/>
          </a:p>
        </p:txBody>
      </p:sp>
    </p:spTree>
    <p:extLst>
      <p:ext uri="{BB962C8B-B14F-4D97-AF65-F5344CB8AC3E}">
        <p14:creationId xmlns:p14="http://schemas.microsoft.com/office/powerpoint/2010/main" val="2745008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dirty="0"/>
              <a:t>Introduction to </a:t>
            </a:r>
            <a:br>
              <a:rPr lang="en-US" sz="6600" dirty="0"/>
            </a:br>
            <a:r>
              <a:rPr lang="en-US" sz="6600" dirty="0"/>
              <a:t>Information System</a:t>
            </a:r>
          </a:p>
        </p:txBody>
      </p:sp>
      <p:sp>
        <p:nvSpPr>
          <p:cNvPr id="3" name="Subtitle 2"/>
          <p:cNvSpPr>
            <a:spLocks noGrp="1"/>
          </p:cNvSpPr>
          <p:nvPr>
            <p:ph type="subTitle" idx="1"/>
          </p:nvPr>
        </p:nvSpPr>
        <p:spPr/>
        <p:txBody>
          <a:bodyPr>
            <a:normAutofit/>
          </a:bodyPr>
          <a:lstStyle/>
          <a:p>
            <a:r>
              <a:rPr lang="en-US" sz="3200" dirty="0"/>
              <a:t>Unit-1</a:t>
            </a:r>
          </a:p>
        </p:txBody>
      </p:sp>
      <p:sp>
        <p:nvSpPr>
          <p:cNvPr id="4" name="Slide Number Placeholder 3">
            <a:extLst>
              <a:ext uri="{FF2B5EF4-FFF2-40B4-BE49-F238E27FC236}">
                <a16:creationId xmlns:a16="http://schemas.microsoft.com/office/drawing/2014/main" id="{5E74CC4B-2AD0-6CD8-5EA2-11D70FB8A2B8}"/>
              </a:ext>
            </a:extLst>
          </p:cNvPr>
          <p:cNvSpPr>
            <a:spLocks noGrp="1"/>
          </p:cNvSpPr>
          <p:nvPr>
            <p:ph type="sldNum" sz="quarter" idx="12"/>
          </p:nvPr>
        </p:nvSpPr>
        <p:spPr/>
        <p:txBody>
          <a:bodyPr/>
          <a:lstStyle/>
          <a:p>
            <a:fld id="{F7F6A55E-33C2-478F-BF95-3903EF7A103F}" type="slidenum">
              <a:rPr lang="en-US" smtClean="0"/>
              <a:t>1</a:t>
            </a:fld>
            <a:endParaRPr lang="en-US"/>
          </a:p>
        </p:txBody>
      </p:sp>
    </p:spTree>
    <p:extLst>
      <p:ext uri="{BB962C8B-B14F-4D97-AF65-F5344CB8AC3E}">
        <p14:creationId xmlns:p14="http://schemas.microsoft.com/office/powerpoint/2010/main" val="2493800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10515600" cy="855785"/>
          </a:xfrm>
        </p:spPr>
        <p:txBody>
          <a:bodyPr>
            <a:normAutofit/>
          </a:bodyPr>
          <a:lstStyle/>
          <a:p>
            <a:r>
              <a:rPr lang="en-US" b="1" dirty="0"/>
              <a:t>Introduction</a:t>
            </a:r>
            <a:endParaRPr lang="en-US" dirty="0"/>
          </a:p>
        </p:txBody>
      </p:sp>
      <p:sp>
        <p:nvSpPr>
          <p:cNvPr id="3" name="Content Placeholder 2"/>
          <p:cNvSpPr>
            <a:spLocks noGrp="1"/>
          </p:cNvSpPr>
          <p:nvPr>
            <p:ph idx="1"/>
          </p:nvPr>
        </p:nvSpPr>
        <p:spPr>
          <a:xfrm>
            <a:off x="838200" y="1008185"/>
            <a:ext cx="10515600" cy="5556738"/>
          </a:xfrm>
        </p:spPr>
        <p:txBody>
          <a:bodyPr>
            <a:normAutofit lnSpcReduction="10000"/>
          </a:bodyPr>
          <a:lstStyle/>
          <a:p>
            <a:r>
              <a:rPr lang="en-US" dirty="0">
                <a:solidFill>
                  <a:srgbClr val="000000"/>
                </a:solidFill>
                <a:effectLst/>
                <a:latin typeface="Segoe UI" panose="020B0502040204020203" pitchFamily="34" charset="0"/>
                <a:ea typeface="Calibri" panose="020F0502020204030204" pitchFamily="34" charset="0"/>
              </a:rPr>
              <a:t>In today's interconnected world, </a:t>
            </a:r>
            <a:r>
              <a:rPr lang="en-US" b="1" dirty="0">
                <a:solidFill>
                  <a:srgbClr val="000000"/>
                </a:solidFill>
                <a:effectLst/>
                <a:latin typeface="Segoe UI" panose="020B0502040204020203" pitchFamily="34" charset="0"/>
                <a:ea typeface="Calibri" panose="020F0502020204030204" pitchFamily="34" charset="0"/>
              </a:rPr>
              <a:t>Information </a:t>
            </a:r>
            <a:r>
              <a:rPr lang="en-US" b="1" dirty="0">
                <a:solidFill>
                  <a:srgbClr val="000000"/>
                </a:solidFill>
                <a:latin typeface="Segoe UI" panose="020B0502040204020203" pitchFamily="34" charset="0"/>
                <a:ea typeface="Calibri" panose="020F0502020204030204" pitchFamily="34" charset="0"/>
              </a:rPr>
              <a:t>S</a:t>
            </a:r>
            <a:r>
              <a:rPr lang="en-US" b="1" dirty="0">
                <a:solidFill>
                  <a:srgbClr val="000000"/>
                </a:solidFill>
                <a:effectLst/>
                <a:latin typeface="Segoe UI" panose="020B0502040204020203" pitchFamily="34" charset="0"/>
                <a:ea typeface="Calibri" panose="020F0502020204030204" pitchFamily="34" charset="0"/>
              </a:rPr>
              <a:t>ystems (IS) </a:t>
            </a:r>
            <a:r>
              <a:rPr lang="en-US" dirty="0">
                <a:solidFill>
                  <a:srgbClr val="000000"/>
                </a:solidFill>
                <a:effectLst/>
                <a:latin typeface="Segoe UI" panose="020B0502040204020203" pitchFamily="34" charset="0"/>
                <a:ea typeface="Calibri" panose="020F0502020204030204" pitchFamily="34" charset="0"/>
              </a:rPr>
              <a:t>play a vital role in shaping the way organizations operate, communicate, and make decisions. </a:t>
            </a:r>
          </a:p>
          <a:p>
            <a:r>
              <a:rPr lang="en-US" dirty="0">
                <a:solidFill>
                  <a:srgbClr val="000000"/>
                </a:solidFill>
                <a:effectLst/>
                <a:latin typeface="Segoe UI" panose="020B0502040204020203" pitchFamily="34" charset="0"/>
                <a:ea typeface="Calibri" panose="020F0502020204030204" pitchFamily="34" charset="0"/>
              </a:rPr>
              <a:t>From managing data to facilitating communication and supporting strategic initiatives, information systems are the backbone of modern enterprises. </a:t>
            </a:r>
          </a:p>
          <a:p>
            <a:r>
              <a:rPr lang="en-US" b="1" dirty="0">
                <a:solidFill>
                  <a:srgbClr val="000000"/>
                </a:solidFill>
                <a:effectLst/>
                <a:latin typeface="Segoe UI" panose="020B0502040204020203" pitchFamily="34" charset="0"/>
                <a:ea typeface="Calibri" panose="020F0502020204030204" pitchFamily="34" charset="0"/>
              </a:rPr>
              <a:t>Information Systems </a:t>
            </a:r>
            <a:r>
              <a:rPr lang="en-US" dirty="0">
                <a:solidFill>
                  <a:srgbClr val="000000"/>
                </a:solidFill>
                <a:effectLst/>
                <a:latin typeface="Segoe UI" panose="020B0502040204020203" pitchFamily="34" charset="0"/>
                <a:ea typeface="Calibri" panose="020F0502020204030204" pitchFamily="34" charset="0"/>
              </a:rPr>
              <a:t>can be defined as a combination of people, processes, data, and technology that interact to collect, process, store, and disseminate information to support decision-making, coordination, control, analysis, and visualization in an organization. </a:t>
            </a:r>
          </a:p>
          <a:p>
            <a:r>
              <a:rPr lang="en-US" dirty="0">
                <a:solidFill>
                  <a:srgbClr val="000000"/>
                </a:solidFill>
                <a:effectLst/>
                <a:latin typeface="Segoe UI" panose="020B0502040204020203" pitchFamily="34" charset="0"/>
                <a:ea typeface="Calibri" panose="020F0502020204030204" pitchFamily="34" charset="0"/>
              </a:rPr>
              <a:t>These systems include a wide range of technologies, from simple manual systems to sophisticated computer-based systems. </a:t>
            </a:r>
            <a:endParaRPr lang="en-US" sz="4400" dirty="0"/>
          </a:p>
        </p:txBody>
      </p:sp>
      <p:sp>
        <p:nvSpPr>
          <p:cNvPr id="4" name="Slide Number Placeholder 3">
            <a:extLst>
              <a:ext uri="{FF2B5EF4-FFF2-40B4-BE49-F238E27FC236}">
                <a16:creationId xmlns:a16="http://schemas.microsoft.com/office/drawing/2014/main" id="{113D5A4B-7D5C-6AD8-DD14-FBEC3E8EF300}"/>
              </a:ext>
            </a:extLst>
          </p:cNvPr>
          <p:cNvSpPr>
            <a:spLocks noGrp="1"/>
          </p:cNvSpPr>
          <p:nvPr>
            <p:ph type="sldNum" sz="quarter" idx="12"/>
          </p:nvPr>
        </p:nvSpPr>
        <p:spPr/>
        <p:txBody>
          <a:bodyPr/>
          <a:lstStyle/>
          <a:p>
            <a:fld id="{F7F6A55E-33C2-478F-BF95-3903EF7A103F}" type="slidenum">
              <a:rPr lang="en-US" smtClean="0"/>
              <a:t>2</a:t>
            </a:fld>
            <a:endParaRPr lang="en-US"/>
          </a:p>
        </p:txBody>
      </p:sp>
    </p:spTree>
    <p:extLst>
      <p:ext uri="{BB962C8B-B14F-4D97-AF65-F5344CB8AC3E}">
        <p14:creationId xmlns:p14="http://schemas.microsoft.com/office/powerpoint/2010/main" val="2439220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DF4E5B-B70E-C292-9B33-676888E63469}"/>
              </a:ext>
            </a:extLst>
          </p:cNvPr>
          <p:cNvSpPr>
            <a:spLocks noGrp="1"/>
          </p:cNvSpPr>
          <p:nvPr>
            <p:ph idx="1"/>
          </p:nvPr>
        </p:nvSpPr>
        <p:spPr>
          <a:xfrm>
            <a:off x="838200" y="726831"/>
            <a:ext cx="10515600" cy="5791200"/>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People are at the core of any information system. </a:t>
            </a:r>
          </a:p>
          <a:p>
            <a:r>
              <a:rPr lang="en-US" dirty="0">
                <a:solidFill>
                  <a:srgbClr val="000000"/>
                </a:solidFill>
                <a:effectLst/>
                <a:latin typeface="Segoe UI" panose="020B0502040204020203" pitchFamily="34" charset="0"/>
                <a:ea typeface="Calibri" panose="020F0502020204030204" pitchFamily="34" charset="0"/>
              </a:rPr>
              <a:t>They include end-users, developers, analysts, managers, and other stakeholders who interact with the system to fulfill various roles and responsibilities. </a:t>
            </a:r>
          </a:p>
          <a:p>
            <a:r>
              <a:rPr lang="en-US" dirty="0">
                <a:solidFill>
                  <a:srgbClr val="000000"/>
                </a:solidFill>
                <a:effectLst/>
                <a:latin typeface="Segoe UI" panose="020B0502040204020203" pitchFamily="34" charset="0"/>
                <a:ea typeface="Calibri" panose="020F0502020204030204" pitchFamily="34" charset="0"/>
              </a:rPr>
              <a:t>Processes define the activities and workflows within an organization that information systems support. </a:t>
            </a:r>
          </a:p>
          <a:p>
            <a:r>
              <a:rPr lang="en-US" dirty="0">
                <a:solidFill>
                  <a:srgbClr val="000000"/>
                </a:solidFill>
                <a:effectLst/>
                <a:latin typeface="Segoe UI" panose="020B0502040204020203" pitchFamily="34" charset="0"/>
                <a:ea typeface="Calibri" panose="020F0502020204030204" pitchFamily="34" charset="0"/>
              </a:rPr>
              <a:t>These can include data entry, processing, storage, retrieval, analysis, and decision-making processes. </a:t>
            </a:r>
          </a:p>
          <a:p>
            <a:r>
              <a:rPr lang="en-US" dirty="0">
                <a:solidFill>
                  <a:srgbClr val="000000"/>
                </a:solidFill>
                <a:effectLst/>
                <a:latin typeface="Segoe UI" panose="020B0502040204020203" pitchFamily="34" charset="0"/>
                <a:ea typeface="Calibri" panose="020F0502020204030204" pitchFamily="34" charset="0"/>
              </a:rPr>
              <a:t>Data is raw facts and figures that are collected and processed by information systems. </a:t>
            </a:r>
          </a:p>
          <a:p>
            <a:r>
              <a:rPr lang="en-US" dirty="0">
                <a:solidFill>
                  <a:srgbClr val="000000"/>
                </a:solidFill>
                <a:effectLst/>
                <a:latin typeface="Segoe UI" panose="020B0502040204020203" pitchFamily="34" charset="0"/>
                <a:ea typeface="Calibri" panose="020F0502020204030204" pitchFamily="34" charset="0"/>
              </a:rPr>
              <a:t>It can be structured or unstructured and can originate from various sources, including internal databases, external sources, and sensors.</a:t>
            </a:r>
            <a:endParaRPr lang="en-GB" sz="4000" dirty="0"/>
          </a:p>
        </p:txBody>
      </p:sp>
      <p:sp>
        <p:nvSpPr>
          <p:cNvPr id="2" name="Slide Number Placeholder 1">
            <a:extLst>
              <a:ext uri="{FF2B5EF4-FFF2-40B4-BE49-F238E27FC236}">
                <a16:creationId xmlns:a16="http://schemas.microsoft.com/office/drawing/2014/main" id="{81273C9C-1FDE-C2C7-6592-9342CD1085A3}"/>
              </a:ext>
            </a:extLst>
          </p:cNvPr>
          <p:cNvSpPr>
            <a:spLocks noGrp="1"/>
          </p:cNvSpPr>
          <p:nvPr>
            <p:ph type="sldNum" sz="quarter" idx="12"/>
          </p:nvPr>
        </p:nvSpPr>
        <p:spPr/>
        <p:txBody>
          <a:bodyPr/>
          <a:lstStyle/>
          <a:p>
            <a:fld id="{F7F6A55E-33C2-478F-BF95-3903EF7A103F}" type="slidenum">
              <a:rPr lang="en-US" smtClean="0"/>
              <a:t>3</a:t>
            </a:fld>
            <a:endParaRPr lang="en-US"/>
          </a:p>
        </p:txBody>
      </p:sp>
    </p:spTree>
    <p:extLst>
      <p:ext uri="{BB962C8B-B14F-4D97-AF65-F5344CB8AC3E}">
        <p14:creationId xmlns:p14="http://schemas.microsoft.com/office/powerpoint/2010/main" val="1695046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578928-EDB3-4A9C-C58E-736FCF177CFA}"/>
              </a:ext>
            </a:extLst>
          </p:cNvPr>
          <p:cNvSpPr>
            <a:spLocks noGrp="1"/>
          </p:cNvSpPr>
          <p:nvPr>
            <p:ph idx="1"/>
          </p:nvPr>
        </p:nvSpPr>
        <p:spPr>
          <a:xfrm>
            <a:off x="838200" y="762000"/>
            <a:ext cx="10515600" cy="5920153"/>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Technology refers to the hardware, software, networks, and infrastructure that enable information systems to function. </a:t>
            </a:r>
          </a:p>
          <a:p>
            <a:r>
              <a:rPr lang="en-US" dirty="0">
                <a:solidFill>
                  <a:srgbClr val="000000"/>
                </a:solidFill>
                <a:effectLst/>
                <a:latin typeface="Segoe UI" panose="020B0502040204020203" pitchFamily="34" charset="0"/>
                <a:ea typeface="Calibri" panose="020F0502020204030204" pitchFamily="34" charset="0"/>
              </a:rPr>
              <a:t>This includes computers, servers, databases, operating systems, applications, and communication technologies.</a:t>
            </a:r>
          </a:p>
          <a:p>
            <a:r>
              <a:rPr lang="en-US" dirty="0">
                <a:solidFill>
                  <a:srgbClr val="000000"/>
                </a:solidFill>
                <a:effectLst/>
                <a:latin typeface="Segoe UI" panose="020B0502040204020203" pitchFamily="34" charset="0"/>
                <a:ea typeface="Calibri" panose="020F0502020204030204" pitchFamily="34" charset="0"/>
              </a:rPr>
              <a:t>Information systems collect data from various sources, including manual data entry, sensors, databases, and external sources like the internet. </a:t>
            </a:r>
          </a:p>
          <a:p>
            <a:r>
              <a:rPr lang="en-US" dirty="0">
                <a:solidFill>
                  <a:srgbClr val="000000"/>
                </a:solidFill>
                <a:effectLst/>
                <a:latin typeface="Segoe UI" panose="020B0502040204020203" pitchFamily="34" charset="0"/>
                <a:ea typeface="Calibri" panose="020F0502020204030204" pitchFamily="34" charset="0"/>
              </a:rPr>
              <a:t>Once data is collected, information systems process it through various algorithms, calculations, and operations to transform it into meaningful information. </a:t>
            </a:r>
          </a:p>
          <a:p>
            <a:r>
              <a:rPr lang="en-US" dirty="0">
                <a:solidFill>
                  <a:srgbClr val="000000"/>
                </a:solidFill>
                <a:effectLst/>
                <a:latin typeface="Segoe UI" panose="020B0502040204020203" pitchFamily="34" charset="0"/>
                <a:ea typeface="Calibri" panose="020F0502020204030204" pitchFamily="34" charset="0"/>
              </a:rPr>
              <a:t>Processed information is stored in databases, file systems, or other storage mediums for future use. </a:t>
            </a:r>
            <a:endParaRPr lang="en-GB" sz="4000" dirty="0"/>
          </a:p>
        </p:txBody>
      </p:sp>
      <p:sp>
        <p:nvSpPr>
          <p:cNvPr id="2" name="Slide Number Placeholder 1">
            <a:extLst>
              <a:ext uri="{FF2B5EF4-FFF2-40B4-BE49-F238E27FC236}">
                <a16:creationId xmlns:a16="http://schemas.microsoft.com/office/drawing/2014/main" id="{FD1F8551-E3F9-B883-6F5A-77E15AC52EF6}"/>
              </a:ext>
            </a:extLst>
          </p:cNvPr>
          <p:cNvSpPr>
            <a:spLocks noGrp="1"/>
          </p:cNvSpPr>
          <p:nvPr>
            <p:ph type="sldNum" sz="quarter" idx="12"/>
          </p:nvPr>
        </p:nvSpPr>
        <p:spPr/>
        <p:txBody>
          <a:bodyPr/>
          <a:lstStyle/>
          <a:p>
            <a:fld id="{F7F6A55E-33C2-478F-BF95-3903EF7A103F}" type="slidenum">
              <a:rPr lang="en-US" smtClean="0"/>
              <a:t>4</a:t>
            </a:fld>
            <a:endParaRPr lang="en-US"/>
          </a:p>
        </p:txBody>
      </p:sp>
    </p:spTree>
    <p:extLst>
      <p:ext uri="{BB962C8B-B14F-4D97-AF65-F5344CB8AC3E}">
        <p14:creationId xmlns:p14="http://schemas.microsoft.com/office/powerpoint/2010/main" val="380379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4C016A-8BD7-4F50-325E-60851C7175FE}"/>
              </a:ext>
            </a:extLst>
          </p:cNvPr>
          <p:cNvSpPr>
            <a:spLocks noGrp="1"/>
          </p:cNvSpPr>
          <p:nvPr>
            <p:ph idx="1"/>
          </p:nvPr>
        </p:nvSpPr>
        <p:spPr>
          <a:xfrm>
            <a:off x="838200" y="691662"/>
            <a:ext cx="10515600" cy="5485301"/>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Information systems generate outputs in the form of reports, dashboards, visualizations, or alerts, which are delivered to users to support decision-making and other activities. </a:t>
            </a:r>
          </a:p>
          <a:p>
            <a:r>
              <a:rPr lang="en-US" dirty="0">
                <a:solidFill>
                  <a:srgbClr val="000000"/>
                </a:solidFill>
                <a:effectLst/>
                <a:latin typeface="Segoe UI" panose="020B0502040204020203" pitchFamily="34" charset="0"/>
                <a:ea typeface="Calibri" panose="020F0502020204030204" pitchFamily="34" charset="0"/>
              </a:rPr>
              <a:t>Information systems provide feedback to users based on their interactions and inputs, helping improve the quality and effectiveness of future processes.</a:t>
            </a:r>
          </a:p>
          <a:p>
            <a:r>
              <a:rPr lang="en-US" dirty="0">
                <a:solidFill>
                  <a:srgbClr val="000000"/>
                </a:solidFill>
                <a:effectLst/>
                <a:latin typeface="Segoe UI" panose="020B0502040204020203" pitchFamily="34" charset="0"/>
                <a:ea typeface="Calibri" panose="020F0502020204030204" pitchFamily="34" charset="0"/>
              </a:rPr>
              <a:t>Information systems provide timely, accurate, and relevant information to support decision- making at all levels of an organization, leading to better outcomes and increased efficiency.</a:t>
            </a:r>
            <a:br>
              <a:rPr lang="en-US" dirty="0">
                <a:effectLst/>
                <a:latin typeface="Segoe UI" panose="020B0502040204020203" pitchFamily="34" charset="0"/>
                <a:ea typeface="Calibri" panose="020F0502020204030204" pitchFamily="34" charset="0"/>
              </a:rPr>
            </a:br>
            <a:endParaRPr lang="en-GB" sz="4000" dirty="0"/>
          </a:p>
        </p:txBody>
      </p:sp>
      <p:sp>
        <p:nvSpPr>
          <p:cNvPr id="2" name="Slide Number Placeholder 1">
            <a:extLst>
              <a:ext uri="{FF2B5EF4-FFF2-40B4-BE49-F238E27FC236}">
                <a16:creationId xmlns:a16="http://schemas.microsoft.com/office/drawing/2014/main" id="{34834134-6BE0-65C5-4A92-1B432548C8C8}"/>
              </a:ext>
            </a:extLst>
          </p:cNvPr>
          <p:cNvSpPr>
            <a:spLocks noGrp="1"/>
          </p:cNvSpPr>
          <p:nvPr>
            <p:ph type="sldNum" sz="quarter" idx="12"/>
          </p:nvPr>
        </p:nvSpPr>
        <p:spPr/>
        <p:txBody>
          <a:bodyPr/>
          <a:lstStyle/>
          <a:p>
            <a:fld id="{F7F6A55E-33C2-478F-BF95-3903EF7A103F}" type="slidenum">
              <a:rPr lang="en-US" smtClean="0"/>
              <a:t>5</a:t>
            </a:fld>
            <a:endParaRPr lang="en-US"/>
          </a:p>
        </p:txBody>
      </p:sp>
    </p:spTree>
    <p:extLst>
      <p:ext uri="{BB962C8B-B14F-4D97-AF65-F5344CB8AC3E}">
        <p14:creationId xmlns:p14="http://schemas.microsoft.com/office/powerpoint/2010/main" val="295309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645E9-228A-3137-F3CE-D916CD7B6736}"/>
              </a:ext>
            </a:extLst>
          </p:cNvPr>
          <p:cNvSpPr>
            <a:spLocks noGrp="1"/>
          </p:cNvSpPr>
          <p:nvPr>
            <p:ph idx="1"/>
          </p:nvPr>
        </p:nvSpPr>
        <p:spPr>
          <a:xfrm>
            <a:off x="838200" y="808892"/>
            <a:ext cx="10515600" cy="5368071"/>
          </a:xfrm>
        </p:spPr>
        <p:txBody>
          <a:bodyPr>
            <a:normAutofit lnSpcReduction="10000"/>
          </a:bodyPr>
          <a:lstStyle/>
          <a:p>
            <a:r>
              <a:rPr lang="en-US" dirty="0">
                <a:solidFill>
                  <a:srgbClr val="000000"/>
                </a:solidFill>
                <a:effectLst/>
                <a:latin typeface="Segoe UI" panose="020B0502040204020203" pitchFamily="34" charset="0"/>
                <a:ea typeface="Calibri" panose="020F0502020204030204" pitchFamily="34" charset="0"/>
              </a:rPr>
              <a:t>IS facilitate communication and collaboration among employees, teams, departments, and even external partners, regardless of geographical location. </a:t>
            </a:r>
          </a:p>
          <a:p>
            <a:r>
              <a:rPr lang="en-US" dirty="0">
                <a:solidFill>
                  <a:srgbClr val="000000"/>
                </a:solidFill>
                <a:effectLst/>
                <a:latin typeface="Segoe UI" panose="020B0502040204020203" pitchFamily="34" charset="0"/>
                <a:ea typeface="Calibri" panose="020F0502020204030204" pitchFamily="34" charset="0"/>
              </a:rPr>
              <a:t>Automation of routine tasks and processes through information systems frees up time and resources, allowing employees to focus on value-added activities and strategic initiatives.</a:t>
            </a:r>
          </a:p>
          <a:p>
            <a:r>
              <a:rPr lang="en-US" dirty="0">
                <a:solidFill>
                  <a:srgbClr val="000000"/>
                </a:solidFill>
                <a:effectLst/>
                <a:latin typeface="Segoe UI" panose="020B0502040204020203" pitchFamily="34" charset="0"/>
                <a:ea typeface="Calibri" panose="020F0502020204030204" pitchFamily="34" charset="0"/>
              </a:rPr>
              <a:t>Information systems enable organizations to gather and analyze data, gain insights into market trends and customer preferences, and respond quickly to changes in the business environment, giving them a competitive edge. </a:t>
            </a:r>
          </a:p>
          <a:p>
            <a:r>
              <a:rPr lang="en-US" dirty="0">
                <a:solidFill>
                  <a:srgbClr val="000000"/>
                </a:solidFill>
                <a:latin typeface="Segoe UI" panose="020B0502040204020203" pitchFamily="34" charset="0"/>
                <a:ea typeface="Calibri" panose="020F0502020204030204" pitchFamily="34" charset="0"/>
              </a:rPr>
              <a:t>Information systems help organizations better understand and</a:t>
            </a:r>
            <a:br>
              <a:rPr lang="en-US" dirty="0">
                <a:solidFill>
                  <a:srgbClr val="000000"/>
                </a:solidFill>
                <a:latin typeface="Segoe UI" panose="020B0502040204020203" pitchFamily="34" charset="0"/>
                <a:ea typeface="Calibri" panose="020F0502020204030204" pitchFamily="34" charset="0"/>
              </a:rPr>
            </a:br>
            <a:r>
              <a:rPr lang="en-US" dirty="0">
                <a:solidFill>
                  <a:srgbClr val="000000"/>
                </a:solidFill>
                <a:latin typeface="Segoe UI" panose="020B0502040204020203" pitchFamily="34" charset="0"/>
                <a:ea typeface="Calibri" panose="020F0502020204030204" pitchFamily="34" charset="0"/>
              </a:rPr>
              <a:t>serve their customers by providing personalized experiences, timely support, and efficient problem resolution.</a:t>
            </a:r>
            <a:endParaRPr lang="en-GB" dirty="0">
              <a:solidFill>
                <a:srgbClr val="000000"/>
              </a:solidFill>
              <a:latin typeface="Segoe UI" panose="020B0502040204020203"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5DD46F0E-E36A-AFD0-1D51-FF44439DA8F3}"/>
              </a:ext>
            </a:extLst>
          </p:cNvPr>
          <p:cNvSpPr>
            <a:spLocks noGrp="1"/>
          </p:cNvSpPr>
          <p:nvPr>
            <p:ph type="sldNum" sz="quarter" idx="12"/>
          </p:nvPr>
        </p:nvSpPr>
        <p:spPr/>
        <p:txBody>
          <a:bodyPr/>
          <a:lstStyle/>
          <a:p>
            <a:fld id="{F7F6A55E-33C2-478F-BF95-3903EF7A103F}" type="slidenum">
              <a:rPr lang="en-US" smtClean="0"/>
              <a:t>6</a:t>
            </a:fld>
            <a:endParaRPr lang="en-US"/>
          </a:p>
        </p:txBody>
      </p:sp>
    </p:spTree>
    <p:extLst>
      <p:ext uri="{BB962C8B-B14F-4D97-AF65-F5344CB8AC3E}">
        <p14:creationId xmlns:p14="http://schemas.microsoft.com/office/powerpoint/2010/main" val="4137253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2118EA-B668-6DCC-D83C-E9630BE0F748}"/>
              </a:ext>
            </a:extLst>
          </p:cNvPr>
          <p:cNvSpPr>
            <a:spLocks noGrp="1"/>
          </p:cNvSpPr>
          <p:nvPr>
            <p:ph idx="1"/>
          </p:nvPr>
        </p:nvSpPr>
        <p:spPr>
          <a:xfrm>
            <a:off x="838200" y="715108"/>
            <a:ext cx="10515600" cy="5461855"/>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Information systems are essential for the functioning and success of modern organizations. </a:t>
            </a:r>
          </a:p>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By effectively managing data, supporting decision-making, enhancing communication, and driving innovation, information systems empower organizations to adapt to changing</a:t>
            </a:r>
            <a:br>
              <a:rPr lang="en-US" dirty="0">
                <a:effectLst/>
                <a:latin typeface="Segoe UI" panose="020B0502040204020203" pitchFamily="34" charset="0"/>
                <a:ea typeface="Calibri" panose="020F0502020204030204" pitchFamily="34" charset="0"/>
                <a:cs typeface="Times New Roman" panose="02020603050405020304" pitchFamily="18" charset="0"/>
              </a:rPr>
            </a:br>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market dynamics, grab new opportunities, and achieve their strategic objectives. </a:t>
            </a:r>
          </a:p>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As technology continues to evolve, the role of information systems will only become more critical in shaping the future of businesses worldwide.</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4000" dirty="0"/>
          </a:p>
        </p:txBody>
      </p:sp>
      <p:sp>
        <p:nvSpPr>
          <p:cNvPr id="2" name="Slide Number Placeholder 1">
            <a:extLst>
              <a:ext uri="{FF2B5EF4-FFF2-40B4-BE49-F238E27FC236}">
                <a16:creationId xmlns:a16="http://schemas.microsoft.com/office/drawing/2014/main" id="{11B187A4-393B-34B1-F76A-4D9758C900FF}"/>
              </a:ext>
            </a:extLst>
          </p:cNvPr>
          <p:cNvSpPr>
            <a:spLocks noGrp="1"/>
          </p:cNvSpPr>
          <p:nvPr>
            <p:ph type="sldNum" sz="quarter" idx="12"/>
          </p:nvPr>
        </p:nvSpPr>
        <p:spPr/>
        <p:txBody>
          <a:bodyPr/>
          <a:lstStyle/>
          <a:p>
            <a:fld id="{F7F6A55E-33C2-478F-BF95-3903EF7A103F}" type="slidenum">
              <a:rPr lang="en-US" smtClean="0"/>
              <a:t>7</a:t>
            </a:fld>
            <a:endParaRPr lang="en-US"/>
          </a:p>
        </p:txBody>
      </p:sp>
    </p:spTree>
    <p:extLst>
      <p:ext uri="{BB962C8B-B14F-4D97-AF65-F5344CB8AC3E}">
        <p14:creationId xmlns:p14="http://schemas.microsoft.com/office/powerpoint/2010/main" val="878676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791B-C456-D3D4-0314-ABA1C06858EC}"/>
              </a:ext>
            </a:extLst>
          </p:cNvPr>
          <p:cNvSpPr>
            <a:spLocks noGrp="1"/>
          </p:cNvSpPr>
          <p:nvPr>
            <p:ph type="title"/>
          </p:nvPr>
        </p:nvSpPr>
        <p:spPr>
          <a:xfrm>
            <a:off x="838200" y="128955"/>
            <a:ext cx="10515600" cy="797168"/>
          </a:xfrm>
        </p:spPr>
        <p:txBody>
          <a:bodyPr>
            <a:normAutofit/>
          </a:bodyPr>
          <a:lstStyle/>
          <a:p>
            <a:r>
              <a:rPr lang="en-US" sz="3600" b="1" dirty="0">
                <a:solidFill>
                  <a:srgbClr val="000000"/>
                </a:solidFill>
                <a:effectLst/>
                <a:latin typeface="Segoe UI" panose="020B0502040204020203" pitchFamily="34" charset="0"/>
                <a:ea typeface="Calibri" panose="020F0502020204030204" pitchFamily="34" charset="0"/>
              </a:rPr>
              <a:t>Why should we Study Information Systems?</a:t>
            </a:r>
            <a:endParaRPr lang="en-GB" sz="7200" dirty="0"/>
          </a:p>
        </p:txBody>
      </p:sp>
      <p:sp>
        <p:nvSpPr>
          <p:cNvPr id="3" name="Content Placeholder 2">
            <a:extLst>
              <a:ext uri="{FF2B5EF4-FFF2-40B4-BE49-F238E27FC236}">
                <a16:creationId xmlns:a16="http://schemas.microsoft.com/office/drawing/2014/main" id="{4462991A-C623-D8E1-A008-5F6458B73CED}"/>
              </a:ext>
            </a:extLst>
          </p:cNvPr>
          <p:cNvSpPr>
            <a:spLocks noGrp="1"/>
          </p:cNvSpPr>
          <p:nvPr>
            <p:ph idx="1"/>
          </p:nvPr>
        </p:nvSpPr>
        <p:spPr>
          <a:xfrm>
            <a:off x="838200" y="1031631"/>
            <a:ext cx="10515600" cy="5580184"/>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In today's interconnected world, where digital technologies enter every aspect of our lives, the study of information systems has become increasingly essential. </a:t>
            </a:r>
          </a:p>
          <a:p>
            <a:r>
              <a:rPr lang="en-US" dirty="0">
                <a:solidFill>
                  <a:srgbClr val="000000"/>
                </a:solidFill>
                <a:effectLst/>
                <a:latin typeface="Segoe UI" panose="020B0502040204020203" pitchFamily="34" charset="0"/>
                <a:ea typeface="Calibri" panose="020F0502020204030204" pitchFamily="34" charset="0"/>
              </a:rPr>
              <a:t>From businesses to healthcare, education to government, the effective management and utilization of information systems have become paramount for success and efficiency. </a:t>
            </a:r>
          </a:p>
          <a:p>
            <a:r>
              <a:rPr lang="en-US" dirty="0">
                <a:solidFill>
                  <a:srgbClr val="000000"/>
                </a:solidFill>
                <a:effectLst/>
                <a:latin typeface="Segoe UI" panose="020B0502040204020203" pitchFamily="34" charset="0"/>
                <a:ea typeface="Calibri" panose="020F0502020204030204" pitchFamily="34" charset="0"/>
              </a:rPr>
              <a:t>The study of information systems is essential in the digital age, providing the foundation for efficient decision-making, innovation, strategic planning, and global connectivity. </a:t>
            </a:r>
          </a:p>
          <a:p>
            <a:r>
              <a:rPr lang="en-US" dirty="0">
                <a:solidFill>
                  <a:srgbClr val="000000"/>
                </a:solidFill>
                <a:effectLst/>
                <a:latin typeface="Segoe UI" panose="020B0502040204020203" pitchFamily="34" charset="0"/>
                <a:ea typeface="Calibri" panose="020F0502020204030204" pitchFamily="34" charset="0"/>
              </a:rPr>
              <a:t>By understanding the principles and applications of information systems, individuals and organizations can bind the power of technology to succeed in an increasingly complex and</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interconnected world.</a:t>
            </a:r>
            <a:endParaRPr lang="en-GB" sz="4000" dirty="0"/>
          </a:p>
        </p:txBody>
      </p:sp>
      <p:sp>
        <p:nvSpPr>
          <p:cNvPr id="4" name="Slide Number Placeholder 3">
            <a:extLst>
              <a:ext uri="{FF2B5EF4-FFF2-40B4-BE49-F238E27FC236}">
                <a16:creationId xmlns:a16="http://schemas.microsoft.com/office/drawing/2014/main" id="{0D6DC1D2-1AF1-896E-B88E-0F9708048491}"/>
              </a:ext>
            </a:extLst>
          </p:cNvPr>
          <p:cNvSpPr>
            <a:spLocks noGrp="1"/>
          </p:cNvSpPr>
          <p:nvPr>
            <p:ph type="sldNum" sz="quarter" idx="12"/>
          </p:nvPr>
        </p:nvSpPr>
        <p:spPr/>
        <p:txBody>
          <a:bodyPr/>
          <a:lstStyle/>
          <a:p>
            <a:fld id="{F7F6A55E-33C2-478F-BF95-3903EF7A103F}" type="slidenum">
              <a:rPr lang="en-US" smtClean="0"/>
              <a:t>8</a:t>
            </a:fld>
            <a:endParaRPr lang="en-US"/>
          </a:p>
        </p:txBody>
      </p:sp>
    </p:spTree>
    <p:extLst>
      <p:ext uri="{BB962C8B-B14F-4D97-AF65-F5344CB8AC3E}">
        <p14:creationId xmlns:p14="http://schemas.microsoft.com/office/powerpoint/2010/main" val="3207739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C274-31F6-04E9-FD55-DABF42F1A15D}"/>
              </a:ext>
            </a:extLst>
          </p:cNvPr>
          <p:cNvSpPr>
            <a:spLocks noGrp="1"/>
          </p:cNvSpPr>
          <p:nvPr>
            <p:ph type="title"/>
          </p:nvPr>
        </p:nvSpPr>
        <p:spPr/>
        <p:txBody>
          <a:bodyPr>
            <a:normAutofit/>
          </a:bodyPr>
          <a:lstStyle/>
          <a:p>
            <a:r>
              <a:rPr lang="en-US" sz="3200" b="1" dirty="0">
                <a:solidFill>
                  <a:srgbClr val="000000"/>
                </a:solidFill>
                <a:effectLst/>
                <a:latin typeface="Segoe UI" panose="020B0502040204020203" pitchFamily="34" charset="0"/>
                <a:ea typeface="Calibri" panose="020F0502020204030204" pitchFamily="34" charset="0"/>
              </a:rPr>
              <a:t>Following are the important reasons behind the requirement to study IS.</a:t>
            </a:r>
            <a:endParaRPr lang="en-GB" sz="3200" dirty="0"/>
          </a:p>
        </p:txBody>
      </p:sp>
      <p:sp>
        <p:nvSpPr>
          <p:cNvPr id="3" name="Content Placeholder 2">
            <a:extLst>
              <a:ext uri="{FF2B5EF4-FFF2-40B4-BE49-F238E27FC236}">
                <a16:creationId xmlns:a16="http://schemas.microsoft.com/office/drawing/2014/main" id="{C9917E67-07B1-7526-E27F-6A3610923430}"/>
              </a:ext>
            </a:extLst>
          </p:cNvPr>
          <p:cNvSpPr>
            <a:spLocks noGrp="1"/>
          </p:cNvSpPr>
          <p:nvPr>
            <p:ph idx="1"/>
          </p:nvPr>
        </p:nvSpPr>
        <p:spPr/>
        <p:txBody>
          <a:bodyPr>
            <a:normAutofit/>
          </a:bodyPr>
          <a:lstStyle/>
          <a:p>
            <a:pPr marL="0" indent="0">
              <a:buNone/>
            </a:pPr>
            <a:r>
              <a:rPr lang="en-US" b="1" dirty="0">
                <a:solidFill>
                  <a:srgbClr val="000000"/>
                </a:solidFill>
                <a:effectLst/>
                <a:latin typeface="Segoe UI" panose="020B0502040204020203" pitchFamily="34" charset="0"/>
                <a:ea typeface="Calibri" panose="020F0502020204030204" pitchFamily="34" charset="0"/>
              </a:rPr>
              <a:t>Facilitating Decision Making:</a:t>
            </a:r>
            <a:r>
              <a:rPr lang="en-US" dirty="0">
                <a:solidFill>
                  <a:srgbClr val="000000"/>
                </a:solidFill>
                <a:effectLst/>
                <a:latin typeface="Segoe UI" panose="020B0502040204020203" pitchFamily="34" charset="0"/>
                <a:ea typeface="Calibri" panose="020F0502020204030204" pitchFamily="34" charset="0"/>
              </a:rPr>
              <a:t> </a:t>
            </a:r>
          </a:p>
          <a:p>
            <a:r>
              <a:rPr lang="en-US" dirty="0">
                <a:solidFill>
                  <a:srgbClr val="000000"/>
                </a:solidFill>
                <a:effectLst/>
                <a:latin typeface="Segoe UI" panose="020B0502040204020203" pitchFamily="34" charset="0"/>
                <a:ea typeface="Calibri" panose="020F0502020204030204" pitchFamily="34" charset="0"/>
              </a:rPr>
              <a:t>Information systems provide decision-makers with timely, accurate, and relevant data to make informed decisions.</a:t>
            </a:r>
          </a:p>
          <a:p>
            <a:r>
              <a:rPr lang="en-US" dirty="0">
                <a:solidFill>
                  <a:srgbClr val="000000"/>
                </a:solidFill>
                <a:effectLst/>
                <a:latin typeface="Segoe UI" panose="020B0502040204020203" pitchFamily="34" charset="0"/>
                <a:ea typeface="Calibri" panose="020F0502020204030204" pitchFamily="34" charset="0"/>
              </a:rPr>
              <a:t>Whether it's a business executive strategizing for market expansion or a healthcare administrator optimizing patient care protocols, information systems offer the tools to analyze data trends, forecast outcomes, and make data-driven decisions.</a:t>
            </a:r>
            <a:endParaRPr lang="en-GB" sz="4000" dirty="0"/>
          </a:p>
        </p:txBody>
      </p:sp>
      <p:sp>
        <p:nvSpPr>
          <p:cNvPr id="4" name="Slide Number Placeholder 3">
            <a:extLst>
              <a:ext uri="{FF2B5EF4-FFF2-40B4-BE49-F238E27FC236}">
                <a16:creationId xmlns:a16="http://schemas.microsoft.com/office/drawing/2014/main" id="{0134DED1-8AC7-6C19-80DF-A5EC494EF00A}"/>
              </a:ext>
            </a:extLst>
          </p:cNvPr>
          <p:cNvSpPr>
            <a:spLocks noGrp="1"/>
          </p:cNvSpPr>
          <p:nvPr>
            <p:ph type="sldNum" sz="quarter" idx="12"/>
          </p:nvPr>
        </p:nvSpPr>
        <p:spPr/>
        <p:txBody>
          <a:bodyPr/>
          <a:lstStyle/>
          <a:p>
            <a:fld id="{F7F6A55E-33C2-478F-BF95-3903EF7A103F}" type="slidenum">
              <a:rPr lang="en-US" smtClean="0"/>
              <a:t>9</a:t>
            </a:fld>
            <a:endParaRPr lang="en-US"/>
          </a:p>
        </p:txBody>
      </p:sp>
    </p:spTree>
    <p:extLst>
      <p:ext uri="{BB962C8B-B14F-4D97-AF65-F5344CB8AC3E}">
        <p14:creationId xmlns:p14="http://schemas.microsoft.com/office/powerpoint/2010/main" val="62618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9202F6-17DC-3D3C-4BEF-2C8DD065C3B2}"/>
              </a:ext>
            </a:extLst>
          </p:cNvPr>
          <p:cNvSpPr>
            <a:spLocks noGrp="1"/>
          </p:cNvSpPr>
          <p:nvPr>
            <p:ph idx="1"/>
          </p:nvPr>
        </p:nvSpPr>
        <p:spPr>
          <a:xfrm>
            <a:off x="838200" y="855785"/>
            <a:ext cx="10515600" cy="5321178"/>
          </a:xfrm>
        </p:spPr>
        <p:txBody>
          <a:bodyPr>
            <a:normAutofit/>
          </a:bodyPr>
          <a:lstStyle/>
          <a:p>
            <a:pPr marL="0" indent="0">
              <a:buNone/>
            </a:pPr>
            <a:r>
              <a:rPr lang="en-US" b="1" dirty="0">
                <a:solidFill>
                  <a:srgbClr val="000000"/>
                </a:solidFill>
                <a:effectLst/>
                <a:latin typeface="Segoe UI" panose="020B0502040204020203" pitchFamily="34" charset="0"/>
                <a:ea typeface="Calibri" panose="020F0502020204030204" pitchFamily="34" charset="0"/>
              </a:rPr>
              <a:t>Enhancing Efficiency and Productivity:</a:t>
            </a:r>
            <a:r>
              <a:rPr lang="en-US" dirty="0">
                <a:solidFill>
                  <a:srgbClr val="000000"/>
                </a:solidFill>
                <a:effectLst/>
                <a:latin typeface="Segoe UI" panose="020B0502040204020203" pitchFamily="34" charset="0"/>
                <a:ea typeface="Calibri" panose="020F0502020204030204" pitchFamily="34" charset="0"/>
              </a:rPr>
              <a:t> </a:t>
            </a:r>
          </a:p>
          <a:p>
            <a:r>
              <a:rPr lang="en-US" dirty="0">
                <a:solidFill>
                  <a:srgbClr val="000000"/>
                </a:solidFill>
                <a:effectLst/>
                <a:latin typeface="Segoe UI" panose="020B0502040204020203" pitchFamily="34" charset="0"/>
                <a:ea typeface="Calibri" panose="020F0502020204030204" pitchFamily="34" charset="0"/>
              </a:rPr>
              <a:t>Streamlining processes and automating tasks are key benefits of well-designed information systems. </a:t>
            </a:r>
          </a:p>
          <a:p>
            <a:r>
              <a:rPr lang="en-US" dirty="0">
                <a:solidFill>
                  <a:srgbClr val="000000"/>
                </a:solidFill>
                <a:effectLst/>
                <a:latin typeface="Segoe UI" panose="020B0502040204020203" pitchFamily="34" charset="0"/>
                <a:ea typeface="Calibri" panose="020F0502020204030204" pitchFamily="34" charset="0"/>
              </a:rPr>
              <a:t>By integrating various functions and departments within an organization, information systems reduce redundancy, minimize errors, and improve overall productivity. </a:t>
            </a:r>
          </a:p>
          <a:p>
            <a:r>
              <a:rPr lang="en-US" dirty="0">
                <a:solidFill>
                  <a:srgbClr val="000000"/>
                </a:solidFill>
                <a:effectLst/>
                <a:latin typeface="Segoe UI" panose="020B0502040204020203" pitchFamily="34" charset="0"/>
                <a:ea typeface="Calibri" panose="020F0502020204030204" pitchFamily="34" charset="0"/>
              </a:rPr>
              <a:t>For instance, </a:t>
            </a:r>
            <a:r>
              <a:rPr lang="en-US" b="1" dirty="0">
                <a:solidFill>
                  <a:srgbClr val="000000"/>
                </a:solidFill>
                <a:effectLst/>
                <a:latin typeface="Segoe UI" panose="020B0502040204020203" pitchFamily="34" charset="0"/>
                <a:ea typeface="Calibri" panose="020F0502020204030204" pitchFamily="34" charset="0"/>
              </a:rPr>
              <a:t>Enterprise </a:t>
            </a:r>
            <a:r>
              <a:rPr lang="en-US" b="1" dirty="0">
                <a:solidFill>
                  <a:srgbClr val="000000"/>
                </a:solidFill>
                <a:latin typeface="Segoe UI" panose="020B0502040204020203" pitchFamily="34" charset="0"/>
                <a:ea typeface="Calibri" panose="020F0502020204030204" pitchFamily="34" charset="0"/>
              </a:rPr>
              <a:t>R</a:t>
            </a:r>
            <a:r>
              <a:rPr lang="en-US" b="1" dirty="0">
                <a:solidFill>
                  <a:srgbClr val="000000"/>
                </a:solidFill>
                <a:effectLst/>
                <a:latin typeface="Segoe UI" panose="020B0502040204020203" pitchFamily="34" charset="0"/>
                <a:ea typeface="Calibri" panose="020F0502020204030204" pitchFamily="34" charset="0"/>
              </a:rPr>
              <a:t>esource </a:t>
            </a:r>
            <a:r>
              <a:rPr lang="en-US" b="1" dirty="0">
                <a:solidFill>
                  <a:srgbClr val="000000"/>
                </a:solidFill>
                <a:latin typeface="Segoe UI" panose="020B0502040204020203" pitchFamily="34" charset="0"/>
                <a:ea typeface="Calibri" panose="020F0502020204030204" pitchFamily="34" charset="0"/>
              </a:rPr>
              <a:t>P</a:t>
            </a:r>
            <a:r>
              <a:rPr lang="en-US" b="1" dirty="0">
                <a:solidFill>
                  <a:srgbClr val="000000"/>
                </a:solidFill>
                <a:effectLst/>
                <a:latin typeface="Segoe UI" panose="020B0502040204020203" pitchFamily="34" charset="0"/>
                <a:ea typeface="Calibri" panose="020F0502020204030204" pitchFamily="34" charset="0"/>
              </a:rPr>
              <a:t>lanning (ERP) </a:t>
            </a:r>
            <a:r>
              <a:rPr lang="en-US" dirty="0">
                <a:solidFill>
                  <a:srgbClr val="000000"/>
                </a:solidFill>
                <a:effectLst/>
                <a:latin typeface="Segoe UI" panose="020B0502040204020203" pitchFamily="34" charset="0"/>
                <a:ea typeface="Calibri" panose="020F0502020204030204" pitchFamily="34" charset="0"/>
              </a:rPr>
              <a:t>systems</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centralize data related to finance, human resources, and operations, enabling seamless coordination across different functions.</a:t>
            </a:r>
            <a:endParaRPr lang="en-GB" sz="4000" dirty="0"/>
          </a:p>
        </p:txBody>
      </p:sp>
      <p:sp>
        <p:nvSpPr>
          <p:cNvPr id="2" name="Slide Number Placeholder 1">
            <a:extLst>
              <a:ext uri="{FF2B5EF4-FFF2-40B4-BE49-F238E27FC236}">
                <a16:creationId xmlns:a16="http://schemas.microsoft.com/office/drawing/2014/main" id="{11BE7BF9-F01F-05B8-93C0-27FF24FC3388}"/>
              </a:ext>
            </a:extLst>
          </p:cNvPr>
          <p:cNvSpPr>
            <a:spLocks noGrp="1"/>
          </p:cNvSpPr>
          <p:nvPr>
            <p:ph type="sldNum" sz="quarter" idx="12"/>
          </p:nvPr>
        </p:nvSpPr>
        <p:spPr/>
        <p:txBody>
          <a:bodyPr/>
          <a:lstStyle/>
          <a:p>
            <a:fld id="{F7F6A55E-33C2-478F-BF95-3903EF7A103F}" type="slidenum">
              <a:rPr lang="en-US" smtClean="0"/>
              <a:t>10</a:t>
            </a:fld>
            <a:endParaRPr lang="en-US"/>
          </a:p>
        </p:txBody>
      </p:sp>
    </p:spTree>
    <p:extLst>
      <p:ext uri="{BB962C8B-B14F-4D97-AF65-F5344CB8AC3E}">
        <p14:creationId xmlns:p14="http://schemas.microsoft.com/office/powerpoint/2010/main" val="1914214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2A9F39-D771-93CA-FB92-432C19215B38}"/>
              </a:ext>
            </a:extLst>
          </p:cNvPr>
          <p:cNvSpPr>
            <a:spLocks noGrp="1"/>
          </p:cNvSpPr>
          <p:nvPr>
            <p:ph idx="1"/>
          </p:nvPr>
        </p:nvSpPr>
        <p:spPr>
          <a:xfrm>
            <a:off x="838200" y="773723"/>
            <a:ext cx="10515600" cy="5403240"/>
          </a:xfrm>
        </p:spPr>
        <p:txBody>
          <a:bodyPr>
            <a:normAutofit/>
          </a:bodyPr>
          <a:lstStyle/>
          <a:p>
            <a:pPr marL="0" indent="0">
              <a:buNone/>
            </a:pPr>
            <a:r>
              <a:rPr lang="en-US" b="1" dirty="0">
                <a:solidFill>
                  <a:srgbClr val="000000"/>
                </a:solidFill>
                <a:effectLst/>
                <a:latin typeface="Segoe UI" panose="020B0502040204020203" pitchFamily="34" charset="0"/>
                <a:ea typeface="Calibri" panose="020F0502020204030204" pitchFamily="34" charset="0"/>
              </a:rPr>
              <a:t>Enabling Innovation and Adaptation:</a:t>
            </a:r>
            <a:r>
              <a:rPr lang="en-US" dirty="0">
                <a:solidFill>
                  <a:srgbClr val="000000"/>
                </a:solidFill>
                <a:effectLst/>
                <a:latin typeface="Segoe UI" panose="020B0502040204020203" pitchFamily="34" charset="0"/>
                <a:ea typeface="Calibri" panose="020F0502020204030204" pitchFamily="34" charset="0"/>
              </a:rPr>
              <a:t> </a:t>
            </a:r>
          </a:p>
          <a:p>
            <a:r>
              <a:rPr lang="en-US" dirty="0">
                <a:solidFill>
                  <a:srgbClr val="000000"/>
                </a:solidFill>
                <a:effectLst/>
                <a:latin typeface="Segoe UI" panose="020B0502040204020203" pitchFamily="34" charset="0"/>
                <a:ea typeface="Calibri" panose="020F0502020204030204" pitchFamily="34" charset="0"/>
              </a:rPr>
              <a:t>In today's dynamic business environment, innovation is a keystone of success. </a:t>
            </a:r>
          </a:p>
          <a:p>
            <a:r>
              <a:rPr lang="en-US" dirty="0">
                <a:solidFill>
                  <a:srgbClr val="000000"/>
                </a:solidFill>
                <a:effectLst/>
                <a:latin typeface="Segoe UI" panose="020B0502040204020203" pitchFamily="34" charset="0"/>
                <a:ea typeface="Calibri" panose="020F0502020204030204" pitchFamily="34" charset="0"/>
              </a:rPr>
              <a:t>Information systems play a vital role in adopting innovation by providing platforms for collaboration, experimentation, and rapid prototyping. </a:t>
            </a:r>
          </a:p>
          <a:p>
            <a:r>
              <a:rPr lang="en-US" dirty="0">
                <a:solidFill>
                  <a:srgbClr val="000000"/>
                </a:solidFill>
                <a:effectLst/>
                <a:latin typeface="Segoe UI" panose="020B0502040204020203" pitchFamily="34" charset="0"/>
                <a:ea typeface="Calibri" panose="020F0502020204030204" pitchFamily="34" charset="0"/>
              </a:rPr>
              <a:t>Whether it's developing new products, implementing new business models, or responding to changing market dynamics, organizations rely on information systems to innovate and stay</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ahead of the curve.</a:t>
            </a:r>
            <a:endParaRPr lang="en-GB" sz="4000" dirty="0"/>
          </a:p>
        </p:txBody>
      </p:sp>
      <p:sp>
        <p:nvSpPr>
          <p:cNvPr id="2" name="Slide Number Placeholder 1">
            <a:extLst>
              <a:ext uri="{FF2B5EF4-FFF2-40B4-BE49-F238E27FC236}">
                <a16:creationId xmlns:a16="http://schemas.microsoft.com/office/drawing/2014/main" id="{30788CF1-A9CB-B60D-750F-CE2711C96669}"/>
              </a:ext>
            </a:extLst>
          </p:cNvPr>
          <p:cNvSpPr>
            <a:spLocks noGrp="1"/>
          </p:cNvSpPr>
          <p:nvPr>
            <p:ph type="sldNum" sz="quarter" idx="12"/>
          </p:nvPr>
        </p:nvSpPr>
        <p:spPr/>
        <p:txBody>
          <a:bodyPr/>
          <a:lstStyle/>
          <a:p>
            <a:fld id="{F7F6A55E-33C2-478F-BF95-3903EF7A103F}" type="slidenum">
              <a:rPr lang="en-US" smtClean="0"/>
              <a:t>11</a:t>
            </a:fld>
            <a:endParaRPr lang="en-US"/>
          </a:p>
        </p:txBody>
      </p:sp>
    </p:spTree>
    <p:extLst>
      <p:ext uri="{BB962C8B-B14F-4D97-AF65-F5344CB8AC3E}">
        <p14:creationId xmlns:p14="http://schemas.microsoft.com/office/powerpoint/2010/main" val="1678246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0E28A2-7BB9-09C1-4C0B-28B36A0443A7}"/>
              </a:ext>
            </a:extLst>
          </p:cNvPr>
          <p:cNvSpPr>
            <a:spLocks noGrp="1"/>
          </p:cNvSpPr>
          <p:nvPr>
            <p:ph idx="1"/>
          </p:nvPr>
        </p:nvSpPr>
        <p:spPr>
          <a:xfrm>
            <a:off x="838200" y="797169"/>
            <a:ext cx="10515600" cy="5379794"/>
          </a:xfrm>
        </p:spPr>
        <p:txBody>
          <a:bodyPr>
            <a:normAutofit/>
          </a:bodyPr>
          <a:lstStyle/>
          <a:p>
            <a:pPr marL="0" indent="0">
              <a:buNone/>
            </a:pPr>
            <a:r>
              <a:rPr lang="en-US" b="1" dirty="0">
                <a:solidFill>
                  <a:srgbClr val="000000"/>
                </a:solidFill>
                <a:effectLst/>
                <a:latin typeface="Segoe UI" panose="020B0502040204020203" pitchFamily="34" charset="0"/>
                <a:ea typeface="Calibri" panose="020F0502020204030204" pitchFamily="34" charset="0"/>
              </a:rPr>
              <a:t>Empowering Strategic Planning:</a:t>
            </a:r>
            <a:r>
              <a:rPr lang="en-US" dirty="0">
                <a:solidFill>
                  <a:srgbClr val="000000"/>
                </a:solidFill>
                <a:effectLst/>
                <a:latin typeface="Segoe UI" panose="020B0502040204020203" pitchFamily="34" charset="0"/>
                <a:ea typeface="Calibri" panose="020F0502020204030204" pitchFamily="34" charset="0"/>
              </a:rPr>
              <a:t> </a:t>
            </a:r>
          </a:p>
          <a:p>
            <a:r>
              <a:rPr lang="en-US" dirty="0">
                <a:solidFill>
                  <a:srgbClr val="000000"/>
                </a:solidFill>
                <a:effectLst/>
                <a:latin typeface="Segoe UI" panose="020B0502040204020203" pitchFamily="34" charset="0"/>
                <a:ea typeface="Calibri" panose="020F0502020204030204" pitchFamily="34" charset="0"/>
              </a:rPr>
              <a:t>Information systems provide valuable insights into market trends, consumer behavior, and competitor activities,</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empowering organizations to formulate effective strategies.</a:t>
            </a:r>
          </a:p>
          <a:p>
            <a:r>
              <a:rPr lang="en-US" dirty="0">
                <a:solidFill>
                  <a:srgbClr val="000000"/>
                </a:solidFill>
                <a:effectLst/>
                <a:latin typeface="Segoe UI" panose="020B0502040204020203" pitchFamily="34" charset="0"/>
                <a:ea typeface="Calibri" panose="020F0502020204030204" pitchFamily="34" charset="0"/>
              </a:rPr>
              <a:t>Through tools like </a:t>
            </a:r>
            <a:r>
              <a:rPr lang="en-US" b="1" dirty="0">
                <a:solidFill>
                  <a:srgbClr val="000000"/>
                </a:solidFill>
                <a:latin typeface="Segoe UI" panose="020B0502040204020203" pitchFamily="34" charset="0"/>
                <a:ea typeface="Calibri" panose="020F0502020204030204" pitchFamily="34" charset="0"/>
              </a:rPr>
              <a:t>B</a:t>
            </a:r>
            <a:r>
              <a:rPr lang="en-US" b="1" dirty="0">
                <a:solidFill>
                  <a:srgbClr val="000000"/>
                </a:solidFill>
                <a:effectLst/>
                <a:latin typeface="Segoe UI" panose="020B0502040204020203" pitchFamily="34" charset="0"/>
                <a:ea typeface="Calibri" panose="020F0502020204030204" pitchFamily="34" charset="0"/>
              </a:rPr>
              <a:t>usiness </a:t>
            </a:r>
            <a:r>
              <a:rPr lang="en-US" b="1" dirty="0">
                <a:solidFill>
                  <a:srgbClr val="000000"/>
                </a:solidFill>
                <a:latin typeface="Segoe UI" panose="020B0502040204020203" pitchFamily="34" charset="0"/>
                <a:ea typeface="Calibri" panose="020F0502020204030204" pitchFamily="34" charset="0"/>
              </a:rPr>
              <a:t>I</a:t>
            </a:r>
            <a:r>
              <a:rPr lang="en-US" b="1" dirty="0">
                <a:solidFill>
                  <a:srgbClr val="000000"/>
                </a:solidFill>
                <a:effectLst/>
                <a:latin typeface="Segoe UI" panose="020B0502040204020203" pitchFamily="34" charset="0"/>
                <a:ea typeface="Calibri" panose="020F0502020204030204" pitchFamily="34" charset="0"/>
              </a:rPr>
              <a:t>ntelligence (BI) </a:t>
            </a:r>
            <a:r>
              <a:rPr lang="en-US" dirty="0">
                <a:solidFill>
                  <a:srgbClr val="000000"/>
                </a:solidFill>
                <a:effectLst/>
                <a:latin typeface="Segoe UI" panose="020B0502040204020203" pitchFamily="34" charset="0"/>
                <a:ea typeface="Calibri" panose="020F0502020204030204" pitchFamily="34" charset="0"/>
              </a:rPr>
              <a:t>and data analytics, decision-makers can identify opportunities, mitigate risks, and devise long-term strategic plans aligned with organizational goals.</a:t>
            </a:r>
            <a:endParaRPr lang="en-GB" sz="4000" dirty="0"/>
          </a:p>
        </p:txBody>
      </p:sp>
      <p:sp>
        <p:nvSpPr>
          <p:cNvPr id="2" name="Slide Number Placeholder 1">
            <a:extLst>
              <a:ext uri="{FF2B5EF4-FFF2-40B4-BE49-F238E27FC236}">
                <a16:creationId xmlns:a16="http://schemas.microsoft.com/office/drawing/2014/main" id="{E1ED181C-AA42-5F81-C11F-7C6C497B13C4}"/>
              </a:ext>
            </a:extLst>
          </p:cNvPr>
          <p:cNvSpPr>
            <a:spLocks noGrp="1"/>
          </p:cNvSpPr>
          <p:nvPr>
            <p:ph type="sldNum" sz="quarter" idx="12"/>
          </p:nvPr>
        </p:nvSpPr>
        <p:spPr/>
        <p:txBody>
          <a:bodyPr/>
          <a:lstStyle/>
          <a:p>
            <a:fld id="{F7F6A55E-33C2-478F-BF95-3903EF7A103F}" type="slidenum">
              <a:rPr lang="en-US" smtClean="0"/>
              <a:t>12</a:t>
            </a:fld>
            <a:endParaRPr lang="en-US"/>
          </a:p>
        </p:txBody>
      </p:sp>
    </p:spTree>
    <p:extLst>
      <p:ext uri="{BB962C8B-B14F-4D97-AF65-F5344CB8AC3E}">
        <p14:creationId xmlns:p14="http://schemas.microsoft.com/office/powerpoint/2010/main" val="1362096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EC583E-48AF-1B3C-7D0C-C05FCD9047D6}"/>
              </a:ext>
            </a:extLst>
          </p:cNvPr>
          <p:cNvSpPr>
            <a:spLocks noGrp="1"/>
          </p:cNvSpPr>
          <p:nvPr>
            <p:ph idx="1"/>
          </p:nvPr>
        </p:nvSpPr>
        <p:spPr>
          <a:xfrm>
            <a:off x="838200" y="750277"/>
            <a:ext cx="10515600" cy="5426686"/>
          </a:xfrm>
        </p:spPr>
        <p:txBody>
          <a:bodyPr>
            <a:normAutofit/>
          </a:bodyPr>
          <a:lstStyle/>
          <a:p>
            <a:pPr marL="0" indent="0">
              <a:buNone/>
            </a:pPr>
            <a:r>
              <a:rPr lang="en-US" b="1" dirty="0">
                <a:solidFill>
                  <a:srgbClr val="000000"/>
                </a:solidFill>
                <a:effectLst/>
                <a:latin typeface="Segoe UI" panose="020B0502040204020203" pitchFamily="34" charset="0"/>
                <a:ea typeface="Calibri" panose="020F0502020204030204" pitchFamily="34" charset="0"/>
              </a:rPr>
              <a:t>Supporting Globalization and Connectivity:</a:t>
            </a:r>
            <a:r>
              <a:rPr lang="en-US" dirty="0">
                <a:solidFill>
                  <a:srgbClr val="000000"/>
                </a:solidFill>
                <a:effectLst/>
                <a:latin typeface="Segoe UI" panose="020B0502040204020203" pitchFamily="34" charset="0"/>
                <a:ea typeface="Calibri" panose="020F0502020204030204" pitchFamily="34" charset="0"/>
              </a:rPr>
              <a:t> </a:t>
            </a:r>
          </a:p>
          <a:p>
            <a:r>
              <a:rPr lang="en-US" dirty="0">
                <a:solidFill>
                  <a:srgbClr val="000000"/>
                </a:solidFill>
                <a:effectLst/>
                <a:latin typeface="Segoe UI" panose="020B0502040204020203" pitchFamily="34" charset="0"/>
                <a:ea typeface="Calibri" panose="020F0502020204030204" pitchFamily="34" charset="0"/>
              </a:rPr>
              <a:t>In an increasingly globalized world, information systems serve as the backbone of international business operations. </a:t>
            </a:r>
          </a:p>
          <a:p>
            <a:r>
              <a:rPr lang="en-US" dirty="0">
                <a:solidFill>
                  <a:srgbClr val="000000"/>
                </a:solidFill>
                <a:effectLst/>
                <a:latin typeface="Segoe UI" panose="020B0502040204020203" pitchFamily="34" charset="0"/>
                <a:ea typeface="Calibri" panose="020F0502020204030204" pitchFamily="34" charset="0"/>
              </a:rPr>
              <a:t>They facilitate communication and collaboration across</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geographically dispersed teams, enable real-time monitoring of supply chains, and support e-commerce transactions on a global scale. </a:t>
            </a:r>
          </a:p>
          <a:p>
            <a:r>
              <a:rPr lang="en-US" dirty="0">
                <a:solidFill>
                  <a:srgbClr val="000000"/>
                </a:solidFill>
                <a:effectLst/>
                <a:latin typeface="Segoe UI" panose="020B0502040204020203" pitchFamily="34" charset="0"/>
                <a:ea typeface="Calibri" panose="020F0502020204030204" pitchFamily="34" charset="0"/>
              </a:rPr>
              <a:t>Moreover, information systems bridge cultural and language barriers, fostering a sense of connectivity and interdependence in the global community.</a:t>
            </a:r>
            <a:endParaRPr lang="en-GB" sz="4000" dirty="0"/>
          </a:p>
        </p:txBody>
      </p:sp>
      <p:sp>
        <p:nvSpPr>
          <p:cNvPr id="2" name="Slide Number Placeholder 1">
            <a:extLst>
              <a:ext uri="{FF2B5EF4-FFF2-40B4-BE49-F238E27FC236}">
                <a16:creationId xmlns:a16="http://schemas.microsoft.com/office/drawing/2014/main" id="{138F727D-2034-30D1-0BB7-A86C18E785F8}"/>
              </a:ext>
            </a:extLst>
          </p:cNvPr>
          <p:cNvSpPr>
            <a:spLocks noGrp="1"/>
          </p:cNvSpPr>
          <p:nvPr>
            <p:ph type="sldNum" sz="quarter" idx="12"/>
          </p:nvPr>
        </p:nvSpPr>
        <p:spPr/>
        <p:txBody>
          <a:bodyPr/>
          <a:lstStyle/>
          <a:p>
            <a:fld id="{F7F6A55E-33C2-478F-BF95-3903EF7A103F}" type="slidenum">
              <a:rPr lang="en-US" smtClean="0"/>
              <a:t>13</a:t>
            </a:fld>
            <a:endParaRPr lang="en-US"/>
          </a:p>
        </p:txBody>
      </p:sp>
    </p:spTree>
    <p:extLst>
      <p:ext uri="{BB962C8B-B14F-4D97-AF65-F5344CB8AC3E}">
        <p14:creationId xmlns:p14="http://schemas.microsoft.com/office/powerpoint/2010/main" val="586930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88C2DB-CE89-59DD-2B35-3CF48383BDBB}"/>
              </a:ext>
            </a:extLst>
          </p:cNvPr>
          <p:cNvSpPr>
            <a:spLocks noGrp="1"/>
          </p:cNvSpPr>
          <p:nvPr>
            <p:ph idx="1"/>
          </p:nvPr>
        </p:nvSpPr>
        <p:spPr>
          <a:xfrm>
            <a:off x="838200" y="820615"/>
            <a:ext cx="10515600" cy="5356348"/>
          </a:xfrm>
        </p:spPr>
        <p:txBody>
          <a:bodyPr>
            <a:normAutofit/>
          </a:bodyPr>
          <a:lstStyle/>
          <a:p>
            <a:pPr marL="0" indent="0">
              <a:buNone/>
            </a:pPr>
            <a:r>
              <a:rPr lang="en-US" b="1" dirty="0">
                <a:solidFill>
                  <a:srgbClr val="000000"/>
                </a:solidFill>
                <a:effectLst/>
                <a:latin typeface="Segoe UI" panose="020B0502040204020203" pitchFamily="34" charset="0"/>
                <a:ea typeface="Calibri" panose="020F0502020204030204" pitchFamily="34" charset="0"/>
              </a:rPr>
              <a:t>Ensuring Data Security and Compliance:</a:t>
            </a:r>
            <a:r>
              <a:rPr lang="en-US" dirty="0">
                <a:solidFill>
                  <a:srgbClr val="000000"/>
                </a:solidFill>
                <a:effectLst/>
                <a:latin typeface="Segoe UI" panose="020B0502040204020203" pitchFamily="34" charset="0"/>
                <a:ea typeface="Calibri" panose="020F0502020204030204" pitchFamily="34" charset="0"/>
              </a:rPr>
              <a:t> </a:t>
            </a:r>
          </a:p>
          <a:p>
            <a:r>
              <a:rPr lang="en-US" dirty="0">
                <a:solidFill>
                  <a:srgbClr val="000000"/>
                </a:solidFill>
                <a:effectLst/>
                <a:latin typeface="Segoe UI" panose="020B0502040204020203" pitchFamily="34" charset="0"/>
                <a:ea typeface="Calibri" panose="020F0502020204030204" pitchFamily="34" charset="0"/>
              </a:rPr>
              <a:t>With the propagation of cyber threats and strict regulatory requirements, safeguarding data integrity and confidentiality is paramount. </a:t>
            </a:r>
          </a:p>
          <a:p>
            <a:r>
              <a:rPr lang="en-US" dirty="0">
                <a:solidFill>
                  <a:srgbClr val="000000"/>
                </a:solidFill>
                <a:effectLst/>
                <a:latin typeface="Segoe UI" panose="020B0502040204020203" pitchFamily="34" charset="0"/>
                <a:ea typeface="Calibri" panose="020F0502020204030204" pitchFamily="34" charset="0"/>
              </a:rPr>
              <a:t>Information systems include robust security measures such as encryption, authentication, and access controls to protect</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sensitive information from unauthorized access or breaks.</a:t>
            </a:r>
          </a:p>
          <a:p>
            <a:r>
              <a:rPr lang="en-US" dirty="0">
                <a:solidFill>
                  <a:srgbClr val="000000"/>
                </a:solidFill>
                <a:effectLst/>
                <a:latin typeface="Segoe UI" panose="020B0502040204020203" pitchFamily="34" charset="0"/>
                <a:ea typeface="Calibri" panose="020F0502020204030204" pitchFamily="34" charset="0"/>
              </a:rPr>
              <a:t>Moreover, they assist organizations in achieving compliance with regulatory standards such as </a:t>
            </a:r>
            <a:r>
              <a:rPr lang="en-US" b="1" dirty="0">
                <a:solidFill>
                  <a:srgbClr val="000000"/>
                </a:solidFill>
                <a:effectLst/>
                <a:latin typeface="Segoe UI" panose="020B0502040204020203" pitchFamily="34" charset="0"/>
                <a:ea typeface="Calibri" panose="020F0502020204030204" pitchFamily="34" charset="0"/>
              </a:rPr>
              <a:t>GDPR (</a:t>
            </a:r>
            <a:r>
              <a:rPr lang="en-GB" b="1" i="0" dirty="0">
                <a:solidFill>
                  <a:srgbClr val="111111"/>
                </a:solidFill>
                <a:effectLst/>
                <a:latin typeface="Cabin-semi-bold"/>
              </a:rPr>
              <a:t>General Data Protection Regulation)</a:t>
            </a:r>
            <a:r>
              <a:rPr lang="en-US" dirty="0">
                <a:solidFill>
                  <a:srgbClr val="000000"/>
                </a:solidFill>
                <a:effectLst/>
                <a:latin typeface="Segoe UI" panose="020B0502040204020203" pitchFamily="34" charset="0"/>
                <a:ea typeface="Calibri" panose="020F0502020204030204" pitchFamily="34" charset="0"/>
              </a:rPr>
              <a:t>, </a:t>
            </a:r>
            <a:r>
              <a:rPr lang="en-US" b="1" dirty="0">
                <a:solidFill>
                  <a:srgbClr val="000000"/>
                </a:solidFill>
                <a:effectLst/>
                <a:latin typeface="Segoe UI" panose="020B0502040204020203" pitchFamily="34" charset="0"/>
                <a:ea typeface="Calibri" panose="020F0502020204030204" pitchFamily="34" charset="0"/>
              </a:rPr>
              <a:t>HIPAA (</a:t>
            </a:r>
            <a:r>
              <a:rPr lang="en-GB" b="1" i="0" dirty="0">
                <a:solidFill>
                  <a:srgbClr val="202122"/>
                </a:solidFill>
                <a:effectLst/>
                <a:latin typeface="Arial" panose="020B0604020202020204" pitchFamily="34" charset="0"/>
              </a:rPr>
              <a:t>Health Insurance Portability and Accountability Act)</a:t>
            </a:r>
            <a:r>
              <a:rPr lang="en-US" dirty="0">
                <a:solidFill>
                  <a:srgbClr val="000000"/>
                </a:solidFill>
                <a:effectLst/>
                <a:latin typeface="Segoe UI" panose="020B0502040204020203" pitchFamily="34" charset="0"/>
                <a:ea typeface="Calibri" panose="020F0502020204030204" pitchFamily="34" charset="0"/>
              </a:rPr>
              <a:t>, and </a:t>
            </a:r>
            <a:r>
              <a:rPr lang="en-US" b="1" dirty="0">
                <a:solidFill>
                  <a:srgbClr val="000000"/>
                </a:solidFill>
                <a:effectLst/>
                <a:latin typeface="Segoe UI" panose="020B0502040204020203" pitchFamily="34" charset="0"/>
                <a:ea typeface="Calibri" panose="020F0502020204030204" pitchFamily="34" charset="0"/>
              </a:rPr>
              <a:t>PCI (</a:t>
            </a:r>
            <a:r>
              <a:rPr lang="en-GB" b="0" i="0" dirty="0">
                <a:solidFill>
                  <a:srgbClr val="111111"/>
                </a:solidFill>
                <a:effectLst/>
                <a:latin typeface="Roboto" pitchFamily="2" charset="0"/>
              </a:rPr>
              <a:t>Peripheral Component Interconnect)</a:t>
            </a:r>
            <a:r>
              <a:rPr lang="en-US" dirty="0">
                <a:solidFill>
                  <a:srgbClr val="000000"/>
                </a:solidFill>
                <a:effectLst/>
                <a:latin typeface="Segoe UI" panose="020B0502040204020203" pitchFamily="34" charset="0"/>
                <a:ea typeface="Calibri" panose="020F0502020204030204" pitchFamily="34" charset="0"/>
              </a:rPr>
              <a:t> DSS, mitigating legal and reputational risks.</a:t>
            </a:r>
            <a:endParaRPr lang="en-GB" sz="4000" b="1" dirty="0"/>
          </a:p>
        </p:txBody>
      </p:sp>
      <p:sp>
        <p:nvSpPr>
          <p:cNvPr id="2" name="Slide Number Placeholder 1">
            <a:extLst>
              <a:ext uri="{FF2B5EF4-FFF2-40B4-BE49-F238E27FC236}">
                <a16:creationId xmlns:a16="http://schemas.microsoft.com/office/drawing/2014/main" id="{FE3174B4-B870-49ED-90CF-92F95AB2AA41}"/>
              </a:ext>
            </a:extLst>
          </p:cNvPr>
          <p:cNvSpPr>
            <a:spLocks noGrp="1"/>
          </p:cNvSpPr>
          <p:nvPr>
            <p:ph type="sldNum" sz="quarter" idx="12"/>
          </p:nvPr>
        </p:nvSpPr>
        <p:spPr/>
        <p:txBody>
          <a:bodyPr/>
          <a:lstStyle/>
          <a:p>
            <a:fld id="{F7F6A55E-33C2-478F-BF95-3903EF7A103F}" type="slidenum">
              <a:rPr lang="en-US" smtClean="0"/>
              <a:t>14</a:t>
            </a:fld>
            <a:endParaRPr lang="en-US"/>
          </a:p>
        </p:txBody>
      </p:sp>
    </p:spTree>
    <p:extLst>
      <p:ext uri="{BB962C8B-B14F-4D97-AF65-F5344CB8AC3E}">
        <p14:creationId xmlns:p14="http://schemas.microsoft.com/office/powerpoint/2010/main" val="725335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514A4C-9F5E-ADAD-78BF-55A70D9ECCAA}"/>
              </a:ext>
            </a:extLst>
          </p:cNvPr>
          <p:cNvSpPr>
            <a:spLocks noGrp="1"/>
          </p:cNvSpPr>
          <p:nvPr>
            <p:ph idx="1"/>
          </p:nvPr>
        </p:nvSpPr>
        <p:spPr>
          <a:xfrm>
            <a:off x="838200" y="797169"/>
            <a:ext cx="10515600" cy="5379794"/>
          </a:xfrm>
        </p:spPr>
        <p:txBody>
          <a:bodyPr>
            <a:normAutofit/>
          </a:bodyPr>
          <a:lstStyle/>
          <a:p>
            <a:pPr marL="0" indent="0">
              <a:buNone/>
            </a:pPr>
            <a:r>
              <a:rPr lang="en-US" b="1" dirty="0">
                <a:solidFill>
                  <a:srgbClr val="000000"/>
                </a:solidFill>
                <a:effectLst/>
                <a:latin typeface="Segoe UI" panose="020B0502040204020203" pitchFamily="34" charset="0"/>
                <a:ea typeface="Calibri" panose="020F0502020204030204" pitchFamily="34" charset="0"/>
              </a:rPr>
              <a:t>Fostering Lifelong Learning and Adaptability</a:t>
            </a:r>
            <a:r>
              <a:rPr lang="en-US" dirty="0">
                <a:solidFill>
                  <a:srgbClr val="000000"/>
                </a:solidFill>
                <a:effectLst/>
                <a:latin typeface="Segoe UI" panose="020B0502040204020203" pitchFamily="34" charset="0"/>
                <a:ea typeface="Calibri" panose="020F0502020204030204" pitchFamily="34" charset="0"/>
              </a:rPr>
              <a:t>: </a:t>
            </a:r>
          </a:p>
          <a:p>
            <a:r>
              <a:rPr lang="en-US" dirty="0">
                <a:solidFill>
                  <a:srgbClr val="000000"/>
                </a:solidFill>
                <a:effectLst/>
                <a:latin typeface="Segoe UI" panose="020B0502040204020203" pitchFamily="34" charset="0"/>
                <a:ea typeface="Calibri" panose="020F0502020204030204" pitchFamily="34" charset="0"/>
              </a:rPr>
              <a:t>The field of information systems is dynamic and constantly evolving, driven by technological advancements, and changing business needs. </a:t>
            </a:r>
          </a:p>
          <a:p>
            <a:r>
              <a:rPr lang="en-US" dirty="0">
                <a:solidFill>
                  <a:srgbClr val="000000"/>
                </a:solidFill>
                <a:effectLst/>
                <a:latin typeface="Segoe UI" panose="020B0502040204020203" pitchFamily="34" charset="0"/>
                <a:ea typeface="Calibri" panose="020F0502020204030204" pitchFamily="34" charset="0"/>
              </a:rPr>
              <a:t>Studying information systems equips individuals with a versatile skill set that enables them to adapt to emerging technologies, learn new tools and methodologies, and navigate evolving industry landscapes. </a:t>
            </a:r>
          </a:p>
          <a:p>
            <a:r>
              <a:rPr lang="en-US" dirty="0">
                <a:solidFill>
                  <a:srgbClr val="000000"/>
                </a:solidFill>
                <a:effectLst/>
                <a:latin typeface="Segoe UI" panose="020B0502040204020203" pitchFamily="34" charset="0"/>
                <a:ea typeface="Calibri" panose="020F0502020204030204" pitchFamily="34" charset="0"/>
              </a:rPr>
              <a:t>Moreover, it fosters a mindset of continuous learning and innovation, essential for career growth and professional</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development.</a:t>
            </a:r>
            <a:endParaRPr lang="en-GB" sz="4000" dirty="0"/>
          </a:p>
        </p:txBody>
      </p:sp>
      <p:sp>
        <p:nvSpPr>
          <p:cNvPr id="2" name="Slide Number Placeholder 1">
            <a:extLst>
              <a:ext uri="{FF2B5EF4-FFF2-40B4-BE49-F238E27FC236}">
                <a16:creationId xmlns:a16="http://schemas.microsoft.com/office/drawing/2014/main" id="{F9F1E6DF-A5D0-79FB-D055-C0AE0E85BFC2}"/>
              </a:ext>
            </a:extLst>
          </p:cNvPr>
          <p:cNvSpPr>
            <a:spLocks noGrp="1"/>
          </p:cNvSpPr>
          <p:nvPr>
            <p:ph type="sldNum" sz="quarter" idx="12"/>
          </p:nvPr>
        </p:nvSpPr>
        <p:spPr/>
        <p:txBody>
          <a:bodyPr/>
          <a:lstStyle/>
          <a:p>
            <a:fld id="{F7F6A55E-33C2-478F-BF95-3903EF7A103F}" type="slidenum">
              <a:rPr lang="en-US" smtClean="0"/>
              <a:t>15</a:t>
            </a:fld>
            <a:endParaRPr lang="en-US"/>
          </a:p>
        </p:txBody>
      </p:sp>
    </p:spTree>
    <p:extLst>
      <p:ext uri="{BB962C8B-B14F-4D97-AF65-F5344CB8AC3E}">
        <p14:creationId xmlns:p14="http://schemas.microsoft.com/office/powerpoint/2010/main" val="1334791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A55DF-771A-5F70-D788-A6632176E93E}"/>
              </a:ext>
            </a:extLst>
          </p:cNvPr>
          <p:cNvSpPr>
            <a:spLocks noGrp="1"/>
          </p:cNvSpPr>
          <p:nvPr>
            <p:ph type="title"/>
          </p:nvPr>
        </p:nvSpPr>
        <p:spPr/>
        <p:txBody>
          <a:bodyPr>
            <a:normAutofit/>
          </a:bodyPr>
          <a:lstStyle/>
          <a:p>
            <a:r>
              <a:rPr lang="en-US" sz="3200" b="1" dirty="0">
                <a:solidFill>
                  <a:srgbClr val="000000"/>
                </a:solidFill>
                <a:effectLst/>
                <a:latin typeface="Segoe UI" panose="020B0502040204020203" pitchFamily="34" charset="0"/>
                <a:ea typeface="Calibri" panose="020F0502020204030204" pitchFamily="34" charset="0"/>
              </a:rPr>
              <a:t>Information Technology and Information System</a:t>
            </a:r>
            <a:endParaRPr lang="en-GB" sz="6600" dirty="0"/>
          </a:p>
        </p:txBody>
      </p:sp>
      <p:sp>
        <p:nvSpPr>
          <p:cNvPr id="3" name="Content Placeholder 2">
            <a:extLst>
              <a:ext uri="{FF2B5EF4-FFF2-40B4-BE49-F238E27FC236}">
                <a16:creationId xmlns:a16="http://schemas.microsoft.com/office/drawing/2014/main" id="{14F25733-E17A-A7C5-B61A-97A2D9E76FA7}"/>
              </a:ext>
            </a:extLst>
          </p:cNvPr>
          <p:cNvSpPr>
            <a:spLocks noGrp="1"/>
          </p:cNvSpPr>
          <p:nvPr>
            <p:ph idx="1"/>
          </p:nvPr>
        </p:nvSpPr>
        <p:spPr>
          <a:xfrm>
            <a:off x="838200" y="1825625"/>
            <a:ext cx="10515600" cy="4667250"/>
          </a:xfrm>
        </p:spPr>
        <p:txBody>
          <a:bodyPr>
            <a:normAutofit fontScale="92500"/>
          </a:bodyPr>
          <a:lstStyle/>
          <a:p>
            <a:r>
              <a:rPr lang="en-US" b="1">
                <a:solidFill>
                  <a:srgbClr val="000000"/>
                </a:solidFill>
                <a:effectLst/>
                <a:latin typeface="Segoe UI" panose="020B0502040204020203" pitchFamily="34" charset="0"/>
                <a:ea typeface="Calibri" panose="020F0502020204030204" pitchFamily="34" charset="0"/>
              </a:rPr>
              <a:t>Information Technology </a:t>
            </a:r>
            <a:r>
              <a:rPr lang="en-US" b="1" dirty="0">
                <a:solidFill>
                  <a:srgbClr val="000000"/>
                </a:solidFill>
                <a:effectLst/>
                <a:latin typeface="Segoe UI" panose="020B0502040204020203" pitchFamily="34" charset="0"/>
                <a:ea typeface="Calibri" panose="020F0502020204030204" pitchFamily="34" charset="0"/>
              </a:rPr>
              <a:t>(IT)</a:t>
            </a:r>
            <a:r>
              <a:rPr lang="en-US" dirty="0">
                <a:solidFill>
                  <a:srgbClr val="000000"/>
                </a:solidFill>
                <a:effectLst/>
                <a:latin typeface="Segoe UI" panose="020B0502040204020203" pitchFamily="34" charset="0"/>
                <a:ea typeface="Calibri" panose="020F0502020204030204" pitchFamily="34" charset="0"/>
              </a:rPr>
              <a:t> consists of all the hardware and software that a firm needs to use to achieve its business objectives. </a:t>
            </a:r>
          </a:p>
          <a:p>
            <a:r>
              <a:rPr lang="en-US" b="1" dirty="0">
                <a:solidFill>
                  <a:srgbClr val="000000"/>
                </a:solidFill>
                <a:effectLst/>
                <a:latin typeface="Segoe UI" panose="020B0502040204020203" pitchFamily="34" charset="0"/>
                <a:ea typeface="Calibri" panose="020F0502020204030204" pitchFamily="34" charset="0"/>
              </a:rPr>
              <a:t>Information Systems (IS) </a:t>
            </a:r>
            <a:r>
              <a:rPr lang="en-US" dirty="0">
                <a:solidFill>
                  <a:srgbClr val="000000"/>
                </a:solidFill>
                <a:effectLst/>
                <a:latin typeface="Segoe UI" panose="020B0502040204020203" pitchFamily="34" charset="0"/>
                <a:ea typeface="Calibri" panose="020F0502020204030204" pitchFamily="34" charset="0"/>
              </a:rPr>
              <a:t>are more complex and can be best understood by looking at them from both a technological and a business perspective. </a:t>
            </a:r>
          </a:p>
          <a:p>
            <a:r>
              <a:rPr lang="en-US" b="1" dirty="0">
                <a:solidFill>
                  <a:srgbClr val="000000"/>
                </a:solidFill>
                <a:effectLst/>
                <a:latin typeface="Segoe UI" panose="020B0502040204020203" pitchFamily="34" charset="0"/>
                <a:ea typeface="Calibri" panose="020F0502020204030204" pitchFamily="34" charset="0"/>
              </a:rPr>
              <a:t>Information Technologies </a:t>
            </a:r>
            <a:r>
              <a:rPr lang="en-US" dirty="0">
                <a:solidFill>
                  <a:srgbClr val="000000"/>
                </a:solidFill>
                <a:effectLst/>
                <a:latin typeface="Segoe UI" panose="020B0502040204020203" pitchFamily="34" charset="0"/>
                <a:ea typeface="Calibri" panose="020F0502020204030204" pitchFamily="34" charset="0"/>
              </a:rPr>
              <a:t>are tools and techniques that support the design and development of information systems. </a:t>
            </a:r>
          </a:p>
          <a:p>
            <a:r>
              <a:rPr lang="en-US" dirty="0">
                <a:solidFill>
                  <a:srgbClr val="000000"/>
                </a:solidFill>
                <a:effectLst/>
                <a:latin typeface="Segoe UI" panose="020B0502040204020203" pitchFamily="34" charset="0"/>
                <a:ea typeface="Calibri" panose="020F0502020204030204" pitchFamily="34" charset="0"/>
              </a:rPr>
              <a:t>They include hardware, software, databases, telecommunications, and client-servers. </a:t>
            </a:r>
          </a:p>
          <a:p>
            <a:r>
              <a:rPr lang="en-US" dirty="0">
                <a:solidFill>
                  <a:srgbClr val="000000"/>
                </a:solidFill>
                <a:effectLst/>
                <a:latin typeface="Segoe UI" panose="020B0502040204020203" pitchFamily="34" charset="0"/>
                <a:ea typeface="Calibri" panose="020F0502020204030204" pitchFamily="34" charset="0"/>
              </a:rPr>
              <a:t>Information Technology is one of many tools that managers use to cope with change. </a:t>
            </a:r>
            <a:endParaRPr lang="en-GB" sz="4000" dirty="0"/>
          </a:p>
        </p:txBody>
      </p:sp>
      <p:sp>
        <p:nvSpPr>
          <p:cNvPr id="4" name="Slide Number Placeholder 3">
            <a:extLst>
              <a:ext uri="{FF2B5EF4-FFF2-40B4-BE49-F238E27FC236}">
                <a16:creationId xmlns:a16="http://schemas.microsoft.com/office/drawing/2014/main" id="{E43F345A-F67F-55DC-5BFD-A52C2E494B22}"/>
              </a:ext>
            </a:extLst>
          </p:cNvPr>
          <p:cNvSpPr>
            <a:spLocks noGrp="1"/>
          </p:cNvSpPr>
          <p:nvPr>
            <p:ph type="sldNum" sz="quarter" idx="12"/>
          </p:nvPr>
        </p:nvSpPr>
        <p:spPr/>
        <p:txBody>
          <a:bodyPr/>
          <a:lstStyle/>
          <a:p>
            <a:fld id="{F7F6A55E-33C2-478F-BF95-3903EF7A103F}" type="slidenum">
              <a:rPr lang="en-US" smtClean="0"/>
              <a:t>16</a:t>
            </a:fld>
            <a:endParaRPr lang="en-US"/>
          </a:p>
        </p:txBody>
      </p:sp>
    </p:spTree>
    <p:extLst>
      <p:ext uri="{BB962C8B-B14F-4D97-AF65-F5344CB8AC3E}">
        <p14:creationId xmlns:p14="http://schemas.microsoft.com/office/powerpoint/2010/main" val="3701099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8AE881-D899-F7C6-9AC4-F30E438D5E13}"/>
              </a:ext>
            </a:extLst>
          </p:cNvPr>
          <p:cNvSpPr>
            <a:spLocks noGrp="1"/>
          </p:cNvSpPr>
          <p:nvPr>
            <p:ph idx="1"/>
          </p:nvPr>
        </p:nvSpPr>
        <p:spPr>
          <a:xfrm>
            <a:off x="838200" y="726831"/>
            <a:ext cx="10515600" cy="5450132"/>
          </a:xfrm>
        </p:spPr>
        <p:txBody>
          <a:bodyPr>
            <a:normAutofit/>
          </a:bodyPr>
          <a:lstStyle/>
          <a:p>
            <a:r>
              <a:rPr lang="en-US" b="1" dirty="0">
                <a:solidFill>
                  <a:srgbClr val="000000"/>
                </a:solidFill>
                <a:effectLst/>
                <a:latin typeface="Segoe UI" panose="020B0502040204020203" pitchFamily="34" charset="0"/>
                <a:ea typeface="Calibri" panose="020F0502020204030204" pitchFamily="34" charset="0"/>
              </a:rPr>
              <a:t>Computer Hardware </a:t>
            </a:r>
            <a:r>
              <a:rPr lang="en-US" dirty="0">
                <a:solidFill>
                  <a:srgbClr val="000000"/>
                </a:solidFill>
                <a:effectLst/>
                <a:latin typeface="Segoe UI" panose="020B0502040204020203" pitchFamily="34" charset="0"/>
                <a:ea typeface="Calibri" panose="020F0502020204030204" pitchFamily="34" charset="0"/>
              </a:rPr>
              <a:t>is the physical equipment, computer software consists of the detailed, preprogrammed instructions that control and coordinate the computer hardware components in an information system. </a:t>
            </a:r>
          </a:p>
          <a:p>
            <a:r>
              <a:rPr lang="en-US" b="1" dirty="0">
                <a:solidFill>
                  <a:srgbClr val="000000"/>
                </a:solidFill>
                <a:effectLst/>
                <a:latin typeface="Segoe UI" panose="020B0502040204020203" pitchFamily="34" charset="0"/>
                <a:ea typeface="Calibri" panose="020F0502020204030204" pitchFamily="34" charset="0"/>
              </a:rPr>
              <a:t>Data </a:t>
            </a:r>
            <a:r>
              <a:rPr lang="en-US" b="1" dirty="0">
                <a:solidFill>
                  <a:srgbClr val="000000"/>
                </a:solidFill>
                <a:latin typeface="Segoe UI" panose="020B0502040204020203" pitchFamily="34" charset="0"/>
                <a:ea typeface="Calibri" panose="020F0502020204030204" pitchFamily="34" charset="0"/>
              </a:rPr>
              <a:t>M</a:t>
            </a:r>
            <a:r>
              <a:rPr lang="en-US" b="1" dirty="0">
                <a:solidFill>
                  <a:srgbClr val="000000"/>
                </a:solidFill>
                <a:effectLst/>
                <a:latin typeface="Segoe UI" panose="020B0502040204020203" pitchFamily="34" charset="0"/>
                <a:ea typeface="Calibri" panose="020F0502020204030204" pitchFamily="34" charset="0"/>
              </a:rPr>
              <a:t>anagement Technology</a:t>
            </a:r>
            <a:r>
              <a:rPr lang="en-US" dirty="0">
                <a:solidFill>
                  <a:srgbClr val="000000"/>
                </a:solidFill>
                <a:effectLst/>
                <a:latin typeface="Segoe UI" panose="020B0502040204020203" pitchFamily="34" charset="0"/>
                <a:ea typeface="Calibri" panose="020F0502020204030204" pitchFamily="34" charset="0"/>
              </a:rPr>
              <a:t> consists of the software governing the organization of data on physical storage media, networking.</a:t>
            </a:r>
          </a:p>
          <a:p>
            <a:r>
              <a:rPr lang="en-US" b="1" dirty="0">
                <a:solidFill>
                  <a:srgbClr val="000000"/>
                </a:solidFill>
                <a:effectLst/>
                <a:latin typeface="Segoe UI" panose="020B0502040204020203" pitchFamily="34" charset="0"/>
                <a:ea typeface="Calibri" panose="020F0502020204030204" pitchFamily="34" charset="0"/>
              </a:rPr>
              <a:t>Telecommunications </a:t>
            </a:r>
            <a:r>
              <a:rPr lang="en-US" b="1" dirty="0">
                <a:solidFill>
                  <a:srgbClr val="000000"/>
                </a:solidFill>
                <a:latin typeface="Segoe UI" panose="020B0502040204020203" pitchFamily="34" charset="0"/>
                <a:ea typeface="Calibri" panose="020F0502020204030204" pitchFamily="34" charset="0"/>
              </a:rPr>
              <a:t>T</a:t>
            </a:r>
            <a:r>
              <a:rPr lang="en-US" b="1" dirty="0">
                <a:solidFill>
                  <a:srgbClr val="000000"/>
                </a:solidFill>
                <a:effectLst/>
                <a:latin typeface="Segoe UI" panose="020B0502040204020203" pitchFamily="34" charset="0"/>
                <a:ea typeface="Calibri" panose="020F0502020204030204" pitchFamily="34" charset="0"/>
              </a:rPr>
              <a:t>echnology </a:t>
            </a:r>
            <a:r>
              <a:rPr lang="en-US" dirty="0">
                <a:solidFill>
                  <a:srgbClr val="000000"/>
                </a:solidFill>
                <a:effectLst/>
                <a:latin typeface="Segoe UI" panose="020B0502040204020203" pitchFamily="34" charset="0"/>
                <a:ea typeface="Calibri" panose="020F0502020204030204" pitchFamily="34" charset="0"/>
              </a:rPr>
              <a:t>consists of both physical devices and software, network links two or more computers to share data or resources such as a printer, intranets are internal corporate networks based on Internet technology while extranets are private intranets extended to authorized users outside the organizations.</a:t>
            </a:r>
            <a:endParaRPr lang="en-GB" sz="4000" dirty="0"/>
          </a:p>
        </p:txBody>
      </p:sp>
      <p:sp>
        <p:nvSpPr>
          <p:cNvPr id="2" name="Slide Number Placeholder 1">
            <a:extLst>
              <a:ext uri="{FF2B5EF4-FFF2-40B4-BE49-F238E27FC236}">
                <a16:creationId xmlns:a16="http://schemas.microsoft.com/office/drawing/2014/main" id="{DF727C0C-E220-8F55-B6C4-A22936D58D47}"/>
              </a:ext>
            </a:extLst>
          </p:cNvPr>
          <p:cNvSpPr>
            <a:spLocks noGrp="1"/>
          </p:cNvSpPr>
          <p:nvPr>
            <p:ph type="sldNum" sz="quarter" idx="12"/>
          </p:nvPr>
        </p:nvSpPr>
        <p:spPr/>
        <p:txBody>
          <a:bodyPr/>
          <a:lstStyle/>
          <a:p>
            <a:fld id="{F7F6A55E-33C2-478F-BF95-3903EF7A103F}" type="slidenum">
              <a:rPr lang="en-US" smtClean="0"/>
              <a:t>17</a:t>
            </a:fld>
            <a:endParaRPr lang="en-US"/>
          </a:p>
        </p:txBody>
      </p:sp>
    </p:spTree>
    <p:extLst>
      <p:ext uri="{BB962C8B-B14F-4D97-AF65-F5344CB8AC3E}">
        <p14:creationId xmlns:p14="http://schemas.microsoft.com/office/powerpoint/2010/main" val="857388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8966CC-CEC1-B678-363C-0A3B82BC8322}"/>
              </a:ext>
            </a:extLst>
          </p:cNvPr>
          <p:cNvSpPr>
            <a:spLocks noGrp="1"/>
          </p:cNvSpPr>
          <p:nvPr>
            <p:ph idx="1"/>
          </p:nvPr>
        </p:nvSpPr>
        <p:spPr>
          <a:xfrm>
            <a:off x="838200" y="820615"/>
            <a:ext cx="10515600" cy="5767754"/>
          </a:xfrm>
        </p:spPr>
        <p:txBody>
          <a:bodyPr>
            <a:normAutofit fontScale="92500" lnSpcReduction="10000"/>
          </a:bodyPr>
          <a:lstStyle/>
          <a:p>
            <a:r>
              <a:rPr lang="en-US" b="1" dirty="0">
                <a:solidFill>
                  <a:srgbClr val="000000"/>
                </a:solidFill>
                <a:effectLst/>
                <a:latin typeface="Segoe UI" panose="020B0502040204020203" pitchFamily="34" charset="0"/>
                <a:ea typeface="Calibri" panose="020F0502020204030204" pitchFamily="34" charset="0"/>
              </a:rPr>
              <a:t>World Wide Web </a:t>
            </a:r>
            <a:r>
              <a:rPr lang="en-US" dirty="0">
                <a:solidFill>
                  <a:srgbClr val="000000"/>
                </a:solidFill>
                <a:effectLst/>
                <a:latin typeface="Segoe UI" panose="020B0502040204020203" pitchFamily="34" charset="0"/>
                <a:ea typeface="Calibri" panose="020F0502020204030204" pitchFamily="34" charset="0"/>
              </a:rPr>
              <a:t>is a service provided by the Internet that uses universally accepted standards for storing, retrieving, formatting, and displaying information in a page format on the Internet. </a:t>
            </a:r>
          </a:p>
          <a:p>
            <a:r>
              <a:rPr lang="en-US" dirty="0">
                <a:solidFill>
                  <a:srgbClr val="000000"/>
                </a:solidFill>
                <a:effectLst/>
                <a:latin typeface="Segoe UI" panose="020B0502040204020203" pitchFamily="34" charset="0"/>
                <a:ea typeface="Calibri" panose="020F0502020204030204" pitchFamily="34" charset="0"/>
              </a:rPr>
              <a:t>All these technologies, along with the people required to run and manage them, represent resources that can be shared throughout the organization and constitute the </a:t>
            </a:r>
            <a:r>
              <a:rPr lang="en-US">
                <a:solidFill>
                  <a:srgbClr val="000000"/>
                </a:solidFill>
                <a:effectLst/>
                <a:latin typeface="Segoe UI" panose="020B0502040204020203" pitchFamily="34" charset="0"/>
                <a:ea typeface="Calibri" panose="020F0502020204030204" pitchFamily="34" charset="0"/>
              </a:rPr>
              <a:t>firm’s Information Technology </a:t>
            </a:r>
            <a:r>
              <a:rPr lang="en-US" dirty="0">
                <a:solidFill>
                  <a:srgbClr val="000000"/>
                </a:solidFill>
                <a:effectLst/>
                <a:latin typeface="Segoe UI" panose="020B0502040204020203" pitchFamily="34" charset="0"/>
                <a:ea typeface="Calibri" panose="020F0502020204030204" pitchFamily="34" charset="0"/>
              </a:rPr>
              <a:t>(IT) infrastructure.</a:t>
            </a:r>
          </a:p>
          <a:p>
            <a:r>
              <a:rPr lang="en-US" dirty="0">
                <a:solidFill>
                  <a:srgbClr val="000000"/>
                </a:solidFill>
                <a:effectLst/>
                <a:latin typeface="Segoe UI" panose="020B0502040204020203" pitchFamily="34" charset="0"/>
                <a:ea typeface="Calibri" panose="020F0502020204030204" pitchFamily="34" charset="0"/>
              </a:rPr>
              <a:t>Companies implementing information technology are more successful in achieving their business goals. </a:t>
            </a:r>
          </a:p>
          <a:p>
            <a:r>
              <a:rPr lang="en-US" dirty="0">
                <a:solidFill>
                  <a:srgbClr val="000000"/>
                </a:solidFill>
                <a:effectLst/>
                <a:latin typeface="Segoe UI" panose="020B0502040204020203" pitchFamily="34" charset="0"/>
                <a:ea typeface="Calibri" panose="020F0502020204030204" pitchFamily="34" charset="0"/>
              </a:rPr>
              <a:t>American Greetings Corporation, for instance, is a company that has been successful to capture new markets after implementing the online system from where users can create and send greeting cards from their computers. </a:t>
            </a:r>
          </a:p>
          <a:p>
            <a:r>
              <a:rPr lang="en-US" dirty="0">
                <a:solidFill>
                  <a:srgbClr val="000000"/>
                </a:solidFill>
                <a:effectLst/>
                <a:latin typeface="Segoe UI" panose="020B0502040204020203" pitchFamily="34" charset="0"/>
                <a:ea typeface="Calibri" panose="020F0502020204030204" pitchFamily="34" charset="0"/>
              </a:rPr>
              <a:t>This has changed the traditional way of doing business.</a:t>
            </a:r>
            <a:br>
              <a:rPr lang="en-US" sz="2400" dirty="0">
                <a:effectLst/>
                <a:latin typeface="Segoe UI" panose="020B0502040204020203" pitchFamily="34" charset="0"/>
                <a:ea typeface="Calibri" panose="020F0502020204030204" pitchFamily="34" charset="0"/>
              </a:rPr>
            </a:br>
            <a:endParaRPr lang="en-GB" sz="3600" dirty="0"/>
          </a:p>
        </p:txBody>
      </p:sp>
      <p:sp>
        <p:nvSpPr>
          <p:cNvPr id="2" name="Slide Number Placeholder 1">
            <a:extLst>
              <a:ext uri="{FF2B5EF4-FFF2-40B4-BE49-F238E27FC236}">
                <a16:creationId xmlns:a16="http://schemas.microsoft.com/office/drawing/2014/main" id="{F62CA295-90AD-566B-7BDA-CAB69AACE0D9}"/>
              </a:ext>
            </a:extLst>
          </p:cNvPr>
          <p:cNvSpPr>
            <a:spLocks noGrp="1"/>
          </p:cNvSpPr>
          <p:nvPr>
            <p:ph type="sldNum" sz="quarter" idx="12"/>
          </p:nvPr>
        </p:nvSpPr>
        <p:spPr/>
        <p:txBody>
          <a:bodyPr/>
          <a:lstStyle/>
          <a:p>
            <a:fld id="{F7F6A55E-33C2-478F-BF95-3903EF7A103F}" type="slidenum">
              <a:rPr lang="en-US" smtClean="0"/>
              <a:t>18</a:t>
            </a:fld>
            <a:endParaRPr lang="en-US"/>
          </a:p>
        </p:txBody>
      </p:sp>
    </p:spTree>
    <p:extLst>
      <p:ext uri="{BB962C8B-B14F-4D97-AF65-F5344CB8AC3E}">
        <p14:creationId xmlns:p14="http://schemas.microsoft.com/office/powerpoint/2010/main" val="2805073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035AE1-6AAC-13ED-2DF2-D5777F9FF299}"/>
              </a:ext>
            </a:extLst>
          </p:cNvPr>
          <p:cNvSpPr>
            <a:spLocks noGrp="1"/>
          </p:cNvSpPr>
          <p:nvPr>
            <p:ph idx="1"/>
          </p:nvPr>
        </p:nvSpPr>
        <p:spPr>
          <a:xfrm>
            <a:off x="838200" y="715108"/>
            <a:ext cx="10515600" cy="5461855"/>
          </a:xfrm>
        </p:spPr>
        <p:txBody>
          <a:bodyPr>
            <a:normAutofit/>
          </a:bodyPr>
          <a:lstStyle/>
          <a:p>
            <a:r>
              <a:rPr lang="en-US" b="1" dirty="0">
                <a:solidFill>
                  <a:srgbClr val="000000"/>
                </a:solidFill>
                <a:effectLst/>
                <a:latin typeface="Segoe UI" panose="020B0502040204020203" pitchFamily="34" charset="0"/>
                <a:ea typeface="Calibri" panose="020F0502020204030204" pitchFamily="34" charset="0"/>
              </a:rPr>
              <a:t>Information System (IS), </a:t>
            </a:r>
            <a:r>
              <a:rPr lang="en-US" dirty="0">
                <a:solidFill>
                  <a:srgbClr val="000000"/>
                </a:solidFill>
                <a:effectLst/>
                <a:latin typeface="Segoe UI" panose="020B0502040204020203" pitchFamily="34" charset="0"/>
                <a:ea typeface="Calibri" panose="020F0502020204030204" pitchFamily="34" charset="0"/>
              </a:rPr>
              <a:t>on the other hand, is a set of interrelated components that creates, processes, stores, retrieves and disseminates information to facilitate organizational decision-making process. </a:t>
            </a:r>
          </a:p>
          <a:p>
            <a:r>
              <a:rPr lang="en-US" dirty="0">
                <a:solidFill>
                  <a:srgbClr val="000000"/>
                </a:solidFill>
                <a:effectLst/>
                <a:latin typeface="Segoe UI" panose="020B0502040204020203" pitchFamily="34" charset="0"/>
                <a:ea typeface="Calibri" panose="020F0502020204030204" pitchFamily="34" charset="0"/>
              </a:rPr>
              <a:t>Information systems also help managers and workers analyze problems, visualize complex subjects, and create new products.</a:t>
            </a:r>
          </a:p>
          <a:p>
            <a:r>
              <a:rPr lang="en-US" dirty="0">
                <a:solidFill>
                  <a:srgbClr val="000000"/>
                </a:solidFill>
                <a:effectLst/>
                <a:latin typeface="Segoe UI" panose="020B0502040204020203" pitchFamily="34" charset="0"/>
                <a:ea typeface="Calibri" panose="020F0502020204030204" pitchFamily="34" charset="0"/>
              </a:rPr>
              <a:t>The input to such a system is data and processed data becomes information. Information systems are guided by a set of policies, principles, procedures, and resources.</a:t>
            </a:r>
          </a:p>
          <a:p>
            <a:r>
              <a:rPr lang="en-US" dirty="0">
                <a:solidFill>
                  <a:srgbClr val="000000"/>
                </a:solidFill>
                <a:effectLst/>
                <a:latin typeface="Segoe UI" panose="020B0502040204020203" pitchFamily="34" charset="0"/>
                <a:ea typeface="Calibri" panose="020F0502020204030204" pitchFamily="34" charset="0"/>
              </a:rPr>
              <a:t>Information systems and Information technologies are interrelated. </a:t>
            </a:r>
            <a:endParaRPr lang="en-GB" sz="4000" dirty="0"/>
          </a:p>
        </p:txBody>
      </p:sp>
      <p:sp>
        <p:nvSpPr>
          <p:cNvPr id="2" name="Slide Number Placeholder 1">
            <a:extLst>
              <a:ext uri="{FF2B5EF4-FFF2-40B4-BE49-F238E27FC236}">
                <a16:creationId xmlns:a16="http://schemas.microsoft.com/office/drawing/2014/main" id="{B1430F90-770D-5E52-D85F-B5EDFA3EA1DC}"/>
              </a:ext>
            </a:extLst>
          </p:cNvPr>
          <p:cNvSpPr>
            <a:spLocks noGrp="1"/>
          </p:cNvSpPr>
          <p:nvPr>
            <p:ph type="sldNum" sz="quarter" idx="12"/>
          </p:nvPr>
        </p:nvSpPr>
        <p:spPr/>
        <p:txBody>
          <a:bodyPr/>
          <a:lstStyle/>
          <a:p>
            <a:fld id="{F7F6A55E-33C2-478F-BF95-3903EF7A103F}" type="slidenum">
              <a:rPr lang="en-US" smtClean="0"/>
              <a:t>19</a:t>
            </a:fld>
            <a:endParaRPr lang="en-US"/>
          </a:p>
        </p:txBody>
      </p:sp>
    </p:spTree>
    <p:extLst>
      <p:ext uri="{BB962C8B-B14F-4D97-AF65-F5344CB8AC3E}">
        <p14:creationId xmlns:p14="http://schemas.microsoft.com/office/powerpoint/2010/main" val="2196624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331D90-660B-432B-5CE6-0C7B8392EDF8}"/>
              </a:ext>
            </a:extLst>
          </p:cNvPr>
          <p:cNvSpPr>
            <a:spLocks noGrp="1"/>
          </p:cNvSpPr>
          <p:nvPr>
            <p:ph idx="1"/>
          </p:nvPr>
        </p:nvSpPr>
        <p:spPr>
          <a:xfrm>
            <a:off x="838200" y="820615"/>
            <a:ext cx="10515600" cy="5356348"/>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If any of them is not handled properly, organizations will not be taking any business advantages. </a:t>
            </a:r>
          </a:p>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To use the information system, the organization's business process sometimes also needs to be redesigned. </a:t>
            </a:r>
          </a:p>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In addition to this, organizations can make benefits for it only when technology is integrated with business goals and objectives. </a:t>
            </a:r>
          </a:p>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To use the information system properly in the organizations</a:t>
            </a:r>
            <a:r>
              <a:rPr lang="en-US" dirty="0">
                <a:solidFill>
                  <a:srgbClr val="000000"/>
                </a:solidFill>
                <a:latin typeface="Segoe UI" panose="020B0502040204020203" pitchFamily="34" charset="0"/>
                <a:ea typeface="Calibri" panose="020F0502020204030204" pitchFamily="34" charset="0"/>
                <a:cs typeface="Times New Roman" panose="02020603050405020304" pitchFamily="18" charset="0"/>
              </a:rPr>
              <a:t> and  </a:t>
            </a:r>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business people should not only be familiar with the computer and its functionalities they must also have the sound knowledge regarding the organization, its management and information technologies.</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4000" dirty="0"/>
          </a:p>
        </p:txBody>
      </p:sp>
      <p:sp>
        <p:nvSpPr>
          <p:cNvPr id="2" name="Slide Number Placeholder 1">
            <a:extLst>
              <a:ext uri="{FF2B5EF4-FFF2-40B4-BE49-F238E27FC236}">
                <a16:creationId xmlns:a16="http://schemas.microsoft.com/office/drawing/2014/main" id="{5EE9ABB4-2E95-F1C3-A89C-67A901F9DF63}"/>
              </a:ext>
            </a:extLst>
          </p:cNvPr>
          <p:cNvSpPr>
            <a:spLocks noGrp="1"/>
          </p:cNvSpPr>
          <p:nvPr>
            <p:ph type="sldNum" sz="quarter" idx="12"/>
          </p:nvPr>
        </p:nvSpPr>
        <p:spPr/>
        <p:txBody>
          <a:bodyPr/>
          <a:lstStyle/>
          <a:p>
            <a:fld id="{F7F6A55E-33C2-478F-BF95-3903EF7A103F}" type="slidenum">
              <a:rPr lang="en-US" smtClean="0"/>
              <a:t>20</a:t>
            </a:fld>
            <a:endParaRPr lang="en-US"/>
          </a:p>
        </p:txBody>
      </p:sp>
    </p:spTree>
    <p:extLst>
      <p:ext uri="{BB962C8B-B14F-4D97-AF65-F5344CB8AC3E}">
        <p14:creationId xmlns:p14="http://schemas.microsoft.com/office/powerpoint/2010/main" val="481828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F1E4C-35FF-78BD-93FD-5A6F63E57DA3}"/>
              </a:ext>
            </a:extLst>
          </p:cNvPr>
          <p:cNvSpPr>
            <a:spLocks noGrp="1"/>
          </p:cNvSpPr>
          <p:nvPr>
            <p:ph type="title"/>
          </p:nvPr>
        </p:nvSpPr>
        <p:spPr>
          <a:xfrm>
            <a:off x="838200" y="234462"/>
            <a:ext cx="10515600" cy="890954"/>
          </a:xfrm>
        </p:spPr>
        <p:txBody>
          <a:bodyPr>
            <a:normAutofit/>
          </a:bodyPr>
          <a:lstStyle/>
          <a:p>
            <a:r>
              <a:rPr lang="en-US" sz="3200" b="1" dirty="0">
                <a:solidFill>
                  <a:srgbClr val="000000"/>
                </a:solidFill>
                <a:effectLst/>
                <a:latin typeface="Segoe UI" panose="020B0502040204020203" pitchFamily="34" charset="0"/>
                <a:ea typeface="Calibri" panose="020F0502020204030204" pitchFamily="34" charset="0"/>
              </a:rPr>
              <a:t>Computer Literacy and Information Literacy</a:t>
            </a:r>
            <a:endParaRPr lang="en-GB" sz="6600" dirty="0"/>
          </a:p>
        </p:txBody>
      </p:sp>
      <p:sp>
        <p:nvSpPr>
          <p:cNvPr id="3" name="Content Placeholder 2">
            <a:extLst>
              <a:ext uri="{FF2B5EF4-FFF2-40B4-BE49-F238E27FC236}">
                <a16:creationId xmlns:a16="http://schemas.microsoft.com/office/drawing/2014/main" id="{5A0A45BA-FBA9-134E-18A0-B131C1FEE4A1}"/>
              </a:ext>
            </a:extLst>
          </p:cNvPr>
          <p:cNvSpPr>
            <a:spLocks noGrp="1"/>
          </p:cNvSpPr>
          <p:nvPr>
            <p:ph idx="1"/>
          </p:nvPr>
        </p:nvSpPr>
        <p:spPr>
          <a:xfrm>
            <a:off x="838200" y="1230922"/>
            <a:ext cx="10515600" cy="5392615"/>
          </a:xfrm>
        </p:spPr>
        <p:txBody>
          <a:bodyPr>
            <a:normAutofit fontScale="92500" lnSpcReduction="10000"/>
          </a:bodyPr>
          <a:lstStyle/>
          <a:p>
            <a:r>
              <a:rPr lang="en-US" b="1" dirty="0">
                <a:solidFill>
                  <a:srgbClr val="000000"/>
                </a:solidFill>
                <a:effectLst/>
                <a:latin typeface="Segoe UI" panose="020B0502040204020203" pitchFamily="34" charset="0"/>
                <a:ea typeface="Calibri" panose="020F0502020204030204" pitchFamily="34" charset="0"/>
              </a:rPr>
              <a:t>Computer Literacy </a:t>
            </a:r>
            <a:r>
              <a:rPr lang="en-US" dirty="0">
                <a:solidFill>
                  <a:srgbClr val="000000"/>
                </a:solidFill>
                <a:effectLst/>
                <a:latin typeface="Segoe UI" panose="020B0502040204020203" pitchFamily="34" charset="0"/>
                <a:ea typeface="Calibri" panose="020F0502020204030204" pitchFamily="34" charset="0"/>
              </a:rPr>
              <a:t>is the knowledge of how a computer and its component work.</a:t>
            </a:r>
          </a:p>
          <a:p>
            <a:r>
              <a:rPr lang="en-US" dirty="0">
                <a:solidFill>
                  <a:srgbClr val="000000"/>
                </a:solidFill>
                <a:effectLst/>
                <a:latin typeface="Segoe UI" panose="020B0502040204020203" pitchFamily="34" charset="0"/>
                <a:ea typeface="Calibri" panose="020F0502020204030204" pitchFamily="34" charset="0"/>
              </a:rPr>
              <a:t>Computer Literacy can also refer to the comfort level someone has with using computer programs and other applications that are associated with computers. </a:t>
            </a:r>
          </a:p>
          <a:p>
            <a:r>
              <a:rPr lang="en-US" dirty="0">
                <a:solidFill>
                  <a:srgbClr val="000000"/>
                </a:solidFill>
                <a:effectLst/>
                <a:latin typeface="Segoe UI" panose="020B0502040204020203" pitchFamily="34" charset="0"/>
                <a:ea typeface="Calibri" panose="020F0502020204030204" pitchFamily="34" charset="0"/>
              </a:rPr>
              <a:t>To use the information system users need to be computer-literate. </a:t>
            </a:r>
          </a:p>
          <a:p>
            <a:r>
              <a:rPr lang="en-US" dirty="0">
                <a:solidFill>
                  <a:srgbClr val="000000"/>
                </a:solidFill>
                <a:effectLst/>
                <a:latin typeface="Segoe UI" panose="020B0502040204020203" pitchFamily="34" charset="0"/>
                <a:ea typeface="Calibri" panose="020F0502020204030204" pitchFamily="34" charset="0"/>
              </a:rPr>
              <a:t>They should know about the operations of computers such as inputting, processing, storing, outputting, and controlling. </a:t>
            </a:r>
          </a:p>
          <a:p>
            <a:r>
              <a:rPr lang="en-US" b="1" dirty="0">
                <a:solidFill>
                  <a:srgbClr val="000000"/>
                </a:solidFill>
                <a:effectLst/>
                <a:latin typeface="Segoe UI" panose="020B0502040204020203" pitchFamily="34" charset="0"/>
                <a:ea typeface="Calibri" panose="020F0502020204030204" pitchFamily="34" charset="0"/>
              </a:rPr>
              <a:t>Information Literacy </a:t>
            </a:r>
            <a:r>
              <a:rPr lang="en-US" dirty="0">
                <a:solidFill>
                  <a:srgbClr val="000000"/>
                </a:solidFill>
                <a:effectLst/>
                <a:latin typeface="Segoe UI" panose="020B0502040204020203" pitchFamily="34" charset="0"/>
                <a:ea typeface="Calibri" panose="020F0502020204030204" pitchFamily="34" charset="0"/>
              </a:rPr>
              <a:t>covers the broad sense. </a:t>
            </a:r>
          </a:p>
          <a:p>
            <a:r>
              <a:rPr lang="en-US" dirty="0">
                <a:solidFill>
                  <a:srgbClr val="000000"/>
                </a:solidFill>
                <a:effectLst/>
                <a:latin typeface="Segoe UI" panose="020B0502040204020203" pitchFamily="34" charset="0"/>
                <a:ea typeface="Calibri" panose="020F0502020204030204" pitchFamily="34" charset="0"/>
              </a:rPr>
              <a:t>It is the ability to create and use information systems to achieve competitive advantage. </a:t>
            </a:r>
          </a:p>
          <a:p>
            <a:r>
              <a:rPr lang="en-US" dirty="0">
                <a:solidFill>
                  <a:srgbClr val="000000"/>
                </a:solidFill>
                <a:effectLst/>
                <a:latin typeface="Segoe UI" panose="020B0502040204020203" pitchFamily="34" charset="0"/>
                <a:ea typeface="Calibri" panose="020F0502020204030204" pitchFamily="34" charset="0"/>
              </a:rPr>
              <a:t>It includes computer literacy, business insights, and understanding of the organization, management, information technology &amp; problem-solving skills.</a:t>
            </a:r>
            <a:endParaRPr lang="en-GB" sz="4000" dirty="0"/>
          </a:p>
        </p:txBody>
      </p:sp>
      <p:sp>
        <p:nvSpPr>
          <p:cNvPr id="4" name="Slide Number Placeholder 3">
            <a:extLst>
              <a:ext uri="{FF2B5EF4-FFF2-40B4-BE49-F238E27FC236}">
                <a16:creationId xmlns:a16="http://schemas.microsoft.com/office/drawing/2014/main" id="{267E6642-F872-9982-CC60-E8CE17770BB5}"/>
              </a:ext>
            </a:extLst>
          </p:cNvPr>
          <p:cNvSpPr>
            <a:spLocks noGrp="1"/>
          </p:cNvSpPr>
          <p:nvPr>
            <p:ph type="sldNum" sz="quarter" idx="12"/>
          </p:nvPr>
        </p:nvSpPr>
        <p:spPr/>
        <p:txBody>
          <a:bodyPr/>
          <a:lstStyle/>
          <a:p>
            <a:fld id="{F7F6A55E-33C2-478F-BF95-3903EF7A103F}" type="slidenum">
              <a:rPr lang="en-US" smtClean="0"/>
              <a:t>21</a:t>
            </a:fld>
            <a:endParaRPr lang="en-US"/>
          </a:p>
        </p:txBody>
      </p:sp>
    </p:spTree>
    <p:extLst>
      <p:ext uri="{BB962C8B-B14F-4D97-AF65-F5344CB8AC3E}">
        <p14:creationId xmlns:p14="http://schemas.microsoft.com/office/powerpoint/2010/main" val="1238515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ABD7643-6AF3-5ED7-CC3A-76BA34408BEF}"/>
              </a:ext>
            </a:extLst>
          </p:cNvPr>
          <p:cNvGrpSpPr/>
          <p:nvPr/>
        </p:nvGrpSpPr>
        <p:grpSpPr>
          <a:xfrm>
            <a:off x="2930769" y="117232"/>
            <a:ext cx="6107723" cy="6107723"/>
            <a:chOff x="2930769" y="117232"/>
            <a:chExt cx="6107723" cy="6107723"/>
          </a:xfrm>
        </p:grpSpPr>
        <p:grpSp>
          <p:nvGrpSpPr>
            <p:cNvPr id="6" name="Group 5">
              <a:extLst>
                <a:ext uri="{FF2B5EF4-FFF2-40B4-BE49-F238E27FC236}">
                  <a16:creationId xmlns:a16="http://schemas.microsoft.com/office/drawing/2014/main" id="{E17EDD9F-F23D-5AB7-E7D8-4FFB7603F2C3}"/>
                </a:ext>
              </a:extLst>
            </p:cNvPr>
            <p:cNvGrpSpPr/>
            <p:nvPr/>
          </p:nvGrpSpPr>
          <p:grpSpPr>
            <a:xfrm>
              <a:off x="2930769" y="117232"/>
              <a:ext cx="6107723" cy="6107723"/>
              <a:chOff x="2930769" y="363415"/>
              <a:chExt cx="6107723" cy="6107723"/>
            </a:xfrm>
          </p:grpSpPr>
          <p:sp>
            <p:nvSpPr>
              <p:cNvPr id="4" name="Flowchart: Connector 3">
                <a:extLst>
                  <a:ext uri="{FF2B5EF4-FFF2-40B4-BE49-F238E27FC236}">
                    <a16:creationId xmlns:a16="http://schemas.microsoft.com/office/drawing/2014/main" id="{6B57F377-6370-AE28-372B-B4F693D48287}"/>
                  </a:ext>
                </a:extLst>
              </p:cNvPr>
              <p:cNvSpPr/>
              <p:nvPr/>
            </p:nvSpPr>
            <p:spPr>
              <a:xfrm>
                <a:off x="2930769" y="363415"/>
                <a:ext cx="6107723" cy="6107723"/>
              </a:xfrm>
              <a:prstGeom prst="flowChartConnector">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5" name="Flowchart: Connector 4">
                <a:extLst>
                  <a:ext uri="{FF2B5EF4-FFF2-40B4-BE49-F238E27FC236}">
                    <a16:creationId xmlns:a16="http://schemas.microsoft.com/office/drawing/2014/main" id="{A7D5BF23-AA1F-22EC-2E14-FF4BD4C88E5B}"/>
                  </a:ext>
                </a:extLst>
              </p:cNvPr>
              <p:cNvSpPr/>
              <p:nvPr/>
            </p:nvSpPr>
            <p:spPr>
              <a:xfrm>
                <a:off x="3511061" y="943707"/>
                <a:ext cx="4947138" cy="4947138"/>
              </a:xfrm>
              <a:prstGeom prst="flowChartConnector">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sp>
          <p:nvSpPr>
            <p:cNvPr id="7" name="Flowchart: Connector 6">
              <a:extLst>
                <a:ext uri="{FF2B5EF4-FFF2-40B4-BE49-F238E27FC236}">
                  <a16:creationId xmlns:a16="http://schemas.microsoft.com/office/drawing/2014/main" id="{C46E5395-CD92-C535-0F9F-9147F778B204}"/>
                </a:ext>
              </a:extLst>
            </p:cNvPr>
            <p:cNvSpPr/>
            <p:nvPr/>
          </p:nvSpPr>
          <p:spPr>
            <a:xfrm>
              <a:off x="4314092" y="1090246"/>
              <a:ext cx="1453662" cy="1453662"/>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1" name="Flowchart: Connector 10">
              <a:extLst>
                <a:ext uri="{FF2B5EF4-FFF2-40B4-BE49-F238E27FC236}">
                  <a16:creationId xmlns:a16="http://schemas.microsoft.com/office/drawing/2014/main" id="{73ADA966-016D-95BE-0A79-90AA777DB9FD}"/>
                </a:ext>
              </a:extLst>
            </p:cNvPr>
            <p:cNvSpPr/>
            <p:nvPr/>
          </p:nvSpPr>
          <p:spPr>
            <a:xfrm>
              <a:off x="6096000" y="1090246"/>
              <a:ext cx="1638302" cy="1638302"/>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2" name="Flowchart: Connector 11">
              <a:extLst>
                <a:ext uri="{FF2B5EF4-FFF2-40B4-BE49-F238E27FC236}">
                  <a16:creationId xmlns:a16="http://schemas.microsoft.com/office/drawing/2014/main" id="{17EFB3E6-FE1F-94EB-5435-6D86FD553330}"/>
                </a:ext>
              </a:extLst>
            </p:cNvPr>
            <p:cNvSpPr/>
            <p:nvPr/>
          </p:nvSpPr>
          <p:spPr>
            <a:xfrm>
              <a:off x="5099539" y="2385647"/>
              <a:ext cx="1453662" cy="1453662"/>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3" name="Flowchart: Connector 12">
              <a:extLst>
                <a:ext uri="{FF2B5EF4-FFF2-40B4-BE49-F238E27FC236}">
                  <a16:creationId xmlns:a16="http://schemas.microsoft.com/office/drawing/2014/main" id="{2EBFF11F-35D2-98FE-706C-216C4C9F363F}"/>
                </a:ext>
              </a:extLst>
            </p:cNvPr>
            <p:cNvSpPr/>
            <p:nvPr/>
          </p:nvSpPr>
          <p:spPr>
            <a:xfrm>
              <a:off x="4314091" y="3751384"/>
              <a:ext cx="1619339" cy="1619339"/>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4" name="Flowchart: Connector 13">
              <a:extLst>
                <a:ext uri="{FF2B5EF4-FFF2-40B4-BE49-F238E27FC236}">
                  <a16:creationId xmlns:a16="http://schemas.microsoft.com/office/drawing/2014/main" id="{FE8E10B5-948E-ACDA-A268-4A4A8F8958EA}"/>
                </a:ext>
              </a:extLst>
            </p:cNvPr>
            <p:cNvSpPr/>
            <p:nvPr/>
          </p:nvSpPr>
          <p:spPr>
            <a:xfrm>
              <a:off x="6280640" y="3587262"/>
              <a:ext cx="1453662" cy="1453662"/>
            </a:xfrm>
            <a:prstGeom prst="flowChartConnector">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5" name="TextBox 14">
              <a:extLst>
                <a:ext uri="{FF2B5EF4-FFF2-40B4-BE49-F238E27FC236}">
                  <a16:creationId xmlns:a16="http://schemas.microsoft.com/office/drawing/2014/main" id="{9E5BFFCB-277F-511B-AEF4-F3F376D5507F}"/>
                </a:ext>
              </a:extLst>
            </p:cNvPr>
            <p:cNvSpPr txBox="1"/>
            <p:nvPr/>
          </p:nvSpPr>
          <p:spPr>
            <a:xfrm>
              <a:off x="4982306" y="248280"/>
              <a:ext cx="2074985" cy="461665"/>
            </a:xfrm>
            <a:prstGeom prst="rect">
              <a:avLst/>
            </a:prstGeom>
            <a:noFill/>
            <a:ln>
              <a:noFill/>
            </a:ln>
          </p:spPr>
          <p:txBody>
            <a:bodyPr wrap="square" rtlCol="0">
              <a:spAutoFit/>
            </a:bodyPr>
            <a:lstStyle/>
            <a:p>
              <a:r>
                <a:rPr lang="en-GB" sz="2400" b="1" dirty="0"/>
                <a:t>INFORMATION</a:t>
              </a:r>
            </a:p>
          </p:txBody>
        </p:sp>
        <p:sp>
          <p:nvSpPr>
            <p:cNvPr id="16" name="TextBox 15">
              <a:extLst>
                <a:ext uri="{FF2B5EF4-FFF2-40B4-BE49-F238E27FC236}">
                  <a16:creationId xmlns:a16="http://schemas.microsoft.com/office/drawing/2014/main" id="{1B4798A5-D575-C421-1305-89BED0F18F25}"/>
                </a:ext>
              </a:extLst>
            </p:cNvPr>
            <p:cNvSpPr txBox="1"/>
            <p:nvPr/>
          </p:nvSpPr>
          <p:spPr>
            <a:xfrm>
              <a:off x="5005752" y="5702579"/>
              <a:ext cx="2074985" cy="461665"/>
            </a:xfrm>
            <a:prstGeom prst="rect">
              <a:avLst/>
            </a:prstGeom>
            <a:noFill/>
            <a:ln>
              <a:noFill/>
            </a:ln>
          </p:spPr>
          <p:txBody>
            <a:bodyPr wrap="square" rtlCol="0">
              <a:spAutoFit/>
            </a:bodyPr>
            <a:lstStyle/>
            <a:p>
              <a:pPr algn="ctr"/>
              <a:r>
                <a:rPr lang="en-GB" sz="2400" b="1" dirty="0"/>
                <a:t>LITERACY</a:t>
              </a:r>
            </a:p>
          </p:txBody>
        </p:sp>
        <p:sp>
          <p:nvSpPr>
            <p:cNvPr id="17" name="TextBox 16">
              <a:extLst>
                <a:ext uri="{FF2B5EF4-FFF2-40B4-BE49-F238E27FC236}">
                  <a16:creationId xmlns:a16="http://schemas.microsoft.com/office/drawing/2014/main" id="{207C1AC2-66F9-8CBC-B17B-F6D6F9DFEA4E}"/>
                </a:ext>
              </a:extLst>
            </p:cNvPr>
            <p:cNvSpPr txBox="1"/>
            <p:nvPr/>
          </p:nvSpPr>
          <p:spPr>
            <a:xfrm>
              <a:off x="4407874" y="1524689"/>
              <a:ext cx="1289540" cy="646331"/>
            </a:xfrm>
            <a:prstGeom prst="rect">
              <a:avLst/>
            </a:prstGeom>
            <a:noFill/>
            <a:ln>
              <a:noFill/>
            </a:ln>
          </p:spPr>
          <p:txBody>
            <a:bodyPr wrap="square" rtlCol="0">
              <a:spAutoFit/>
            </a:bodyPr>
            <a:lstStyle/>
            <a:p>
              <a:pPr algn="ctr"/>
              <a:r>
                <a:rPr lang="en-GB" dirty="0"/>
                <a:t>Business acumen</a:t>
              </a:r>
            </a:p>
          </p:txBody>
        </p:sp>
        <p:sp>
          <p:nvSpPr>
            <p:cNvPr id="18" name="TextBox 17">
              <a:extLst>
                <a:ext uri="{FF2B5EF4-FFF2-40B4-BE49-F238E27FC236}">
                  <a16:creationId xmlns:a16="http://schemas.microsoft.com/office/drawing/2014/main" id="{D2671157-8E4A-EB87-228D-3E19D9E01D06}"/>
                </a:ext>
              </a:extLst>
            </p:cNvPr>
            <p:cNvSpPr txBox="1"/>
            <p:nvPr/>
          </p:nvSpPr>
          <p:spPr>
            <a:xfrm>
              <a:off x="6119446" y="1493140"/>
              <a:ext cx="1614856" cy="923330"/>
            </a:xfrm>
            <a:prstGeom prst="rect">
              <a:avLst/>
            </a:prstGeom>
            <a:noFill/>
            <a:ln>
              <a:noFill/>
            </a:ln>
          </p:spPr>
          <p:txBody>
            <a:bodyPr wrap="square" rtlCol="0">
              <a:spAutoFit/>
            </a:bodyPr>
            <a:lstStyle/>
            <a:p>
              <a:pPr algn="ctr"/>
              <a:r>
                <a:rPr lang="en-GB" dirty="0"/>
                <a:t>Understanding information  technology</a:t>
              </a:r>
            </a:p>
          </p:txBody>
        </p:sp>
        <p:sp>
          <p:nvSpPr>
            <p:cNvPr id="19" name="TextBox 18">
              <a:extLst>
                <a:ext uri="{FF2B5EF4-FFF2-40B4-BE49-F238E27FC236}">
                  <a16:creationId xmlns:a16="http://schemas.microsoft.com/office/drawing/2014/main" id="{A2153E85-8C4B-15DE-A06A-2928B712E430}"/>
                </a:ext>
              </a:extLst>
            </p:cNvPr>
            <p:cNvSpPr txBox="1"/>
            <p:nvPr/>
          </p:nvSpPr>
          <p:spPr>
            <a:xfrm>
              <a:off x="5185996" y="2816379"/>
              <a:ext cx="1289540" cy="646331"/>
            </a:xfrm>
            <a:prstGeom prst="rect">
              <a:avLst/>
            </a:prstGeom>
            <a:noFill/>
            <a:ln>
              <a:noFill/>
            </a:ln>
          </p:spPr>
          <p:txBody>
            <a:bodyPr wrap="square" rtlCol="0">
              <a:spAutoFit/>
            </a:bodyPr>
            <a:lstStyle/>
            <a:p>
              <a:pPr algn="ctr"/>
              <a:r>
                <a:rPr lang="en-GB" dirty="0"/>
                <a:t>Computer Literacy</a:t>
              </a:r>
            </a:p>
          </p:txBody>
        </p:sp>
        <p:sp>
          <p:nvSpPr>
            <p:cNvPr id="20" name="TextBox 19">
              <a:extLst>
                <a:ext uri="{FF2B5EF4-FFF2-40B4-BE49-F238E27FC236}">
                  <a16:creationId xmlns:a16="http://schemas.microsoft.com/office/drawing/2014/main" id="{4A659BBF-5302-831F-2F6A-970F55094B6E}"/>
                </a:ext>
              </a:extLst>
            </p:cNvPr>
            <p:cNvSpPr txBox="1"/>
            <p:nvPr/>
          </p:nvSpPr>
          <p:spPr>
            <a:xfrm>
              <a:off x="4337536" y="4193841"/>
              <a:ext cx="1572448" cy="923330"/>
            </a:xfrm>
            <a:prstGeom prst="rect">
              <a:avLst/>
            </a:prstGeom>
            <a:noFill/>
            <a:ln>
              <a:noFill/>
            </a:ln>
          </p:spPr>
          <p:txBody>
            <a:bodyPr wrap="square" rtlCol="0">
              <a:spAutoFit/>
            </a:bodyPr>
            <a:lstStyle/>
            <a:p>
              <a:pPr algn="ctr"/>
              <a:r>
                <a:rPr lang="en-GB" dirty="0"/>
                <a:t>Understanding organization’s mission</a:t>
              </a:r>
            </a:p>
          </p:txBody>
        </p:sp>
        <p:sp>
          <p:nvSpPr>
            <p:cNvPr id="21" name="TextBox 20">
              <a:extLst>
                <a:ext uri="{FF2B5EF4-FFF2-40B4-BE49-F238E27FC236}">
                  <a16:creationId xmlns:a16="http://schemas.microsoft.com/office/drawing/2014/main" id="{F8F1FD1D-9776-A36F-D6E1-4AA9B88F14BB}"/>
                </a:ext>
              </a:extLst>
            </p:cNvPr>
            <p:cNvSpPr txBox="1"/>
            <p:nvPr/>
          </p:nvSpPr>
          <p:spPr>
            <a:xfrm>
              <a:off x="6365629" y="3893442"/>
              <a:ext cx="1289540" cy="923330"/>
            </a:xfrm>
            <a:prstGeom prst="rect">
              <a:avLst/>
            </a:prstGeom>
            <a:noFill/>
            <a:ln>
              <a:noFill/>
            </a:ln>
          </p:spPr>
          <p:txBody>
            <a:bodyPr wrap="square" rtlCol="0">
              <a:spAutoFit/>
            </a:bodyPr>
            <a:lstStyle/>
            <a:p>
              <a:pPr algn="ctr"/>
              <a:r>
                <a:rPr lang="en-GB" dirty="0"/>
                <a:t>Problem solving skills</a:t>
              </a:r>
            </a:p>
          </p:txBody>
        </p:sp>
      </p:grpSp>
      <p:sp>
        <p:nvSpPr>
          <p:cNvPr id="23" name="TextBox 22">
            <a:extLst>
              <a:ext uri="{FF2B5EF4-FFF2-40B4-BE49-F238E27FC236}">
                <a16:creationId xmlns:a16="http://schemas.microsoft.com/office/drawing/2014/main" id="{26C5ABC9-4784-00CB-BBF6-56DCD58ED2A0}"/>
              </a:ext>
            </a:extLst>
          </p:cNvPr>
          <p:cNvSpPr txBox="1"/>
          <p:nvPr/>
        </p:nvSpPr>
        <p:spPr>
          <a:xfrm>
            <a:off x="2710962" y="6330462"/>
            <a:ext cx="6770076" cy="400110"/>
          </a:xfrm>
          <a:prstGeom prst="rect">
            <a:avLst/>
          </a:prstGeom>
          <a:noFill/>
        </p:spPr>
        <p:txBody>
          <a:bodyPr wrap="square" rtlCol="0">
            <a:spAutoFit/>
          </a:bodyPr>
          <a:lstStyle/>
          <a:p>
            <a:r>
              <a:rPr lang="en-US" sz="2000" b="1" dirty="0">
                <a:solidFill>
                  <a:srgbClr val="000000"/>
                </a:solidFill>
                <a:effectLst/>
                <a:latin typeface="Segoe UI" panose="020B0502040204020203" pitchFamily="34" charset="0"/>
                <a:ea typeface="Calibri" panose="020F0502020204030204" pitchFamily="34" charset="0"/>
              </a:rPr>
              <a:t>Figure 1.1 - Computer literacy and Information literacy</a:t>
            </a:r>
            <a:endParaRPr lang="en-GB" sz="2000" b="1" dirty="0"/>
          </a:p>
        </p:txBody>
      </p:sp>
      <p:sp>
        <p:nvSpPr>
          <p:cNvPr id="2" name="Slide Number Placeholder 1">
            <a:extLst>
              <a:ext uri="{FF2B5EF4-FFF2-40B4-BE49-F238E27FC236}">
                <a16:creationId xmlns:a16="http://schemas.microsoft.com/office/drawing/2014/main" id="{FAAE8BBD-B51D-F5D1-A442-75E3D9967313}"/>
              </a:ext>
            </a:extLst>
          </p:cNvPr>
          <p:cNvSpPr>
            <a:spLocks noGrp="1"/>
          </p:cNvSpPr>
          <p:nvPr>
            <p:ph type="sldNum" sz="quarter" idx="12"/>
          </p:nvPr>
        </p:nvSpPr>
        <p:spPr/>
        <p:txBody>
          <a:bodyPr/>
          <a:lstStyle/>
          <a:p>
            <a:fld id="{F7F6A55E-33C2-478F-BF95-3903EF7A103F}" type="slidenum">
              <a:rPr lang="en-US" smtClean="0"/>
              <a:t>22</a:t>
            </a:fld>
            <a:endParaRPr lang="en-US"/>
          </a:p>
        </p:txBody>
      </p:sp>
    </p:spTree>
    <p:extLst>
      <p:ext uri="{BB962C8B-B14F-4D97-AF65-F5344CB8AC3E}">
        <p14:creationId xmlns:p14="http://schemas.microsoft.com/office/powerpoint/2010/main" val="1429752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F9AB-4A42-7794-0C29-6BD4EEED3FEE}"/>
              </a:ext>
            </a:extLst>
          </p:cNvPr>
          <p:cNvSpPr>
            <a:spLocks noGrp="1"/>
          </p:cNvSpPr>
          <p:nvPr>
            <p:ph type="title"/>
          </p:nvPr>
        </p:nvSpPr>
        <p:spPr>
          <a:xfrm>
            <a:off x="838200" y="211015"/>
            <a:ext cx="10515600" cy="773723"/>
          </a:xfrm>
        </p:spPr>
        <p:txBody>
          <a:bodyPr>
            <a:normAutofit/>
          </a:bodyPr>
          <a:lstStyle/>
          <a:p>
            <a:r>
              <a:rPr lang="en-US" sz="3200" b="1" dirty="0">
                <a:solidFill>
                  <a:srgbClr val="000000"/>
                </a:solidFill>
                <a:effectLst/>
                <a:latin typeface="Segoe UI" panose="020B0502040204020203" pitchFamily="34" charset="0"/>
                <a:ea typeface="Calibri" panose="020F0502020204030204" pitchFamily="34" charset="0"/>
              </a:rPr>
              <a:t>Data and Information</a:t>
            </a:r>
            <a:endParaRPr lang="en-GB" sz="6600" dirty="0"/>
          </a:p>
        </p:txBody>
      </p:sp>
      <p:sp>
        <p:nvSpPr>
          <p:cNvPr id="3" name="Content Placeholder 2">
            <a:extLst>
              <a:ext uri="{FF2B5EF4-FFF2-40B4-BE49-F238E27FC236}">
                <a16:creationId xmlns:a16="http://schemas.microsoft.com/office/drawing/2014/main" id="{7C5C404D-DE3D-22BF-0583-FA1B4412940B}"/>
              </a:ext>
            </a:extLst>
          </p:cNvPr>
          <p:cNvSpPr>
            <a:spLocks noGrp="1"/>
          </p:cNvSpPr>
          <p:nvPr>
            <p:ph idx="1"/>
          </p:nvPr>
        </p:nvSpPr>
        <p:spPr>
          <a:xfrm>
            <a:off x="838200" y="1289538"/>
            <a:ext cx="10515600" cy="4887425"/>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Although the terms Data &amp; Information are sometimes used interchangeably, they have distinct implications in the study of information systems. </a:t>
            </a:r>
          </a:p>
          <a:p>
            <a:r>
              <a:rPr lang="en-US" dirty="0">
                <a:solidFill>
                  <a:srgbClr val="000000"/>
                </a:solidFill>
                <a:effectLst/>
                <a:latin typeface="Segoe UI" panose="020B0502040204020203" pitchFamily="34" charset="0"/>
                <a:ea typeface="Calibri" panose="020F0502020204030204" pitchFamily="34" charset="0"/>
              </a:rPr>
              <a:t>Data is raw, unorganized facts that need to be processed. </a:t>
            </a:r>
          </a:p>
          <a:p>
            <a:r>
              <a:rPr lang="en-US" dirty="0">
                <a:solidFill>
                  <a:srgbClr val="000000"/>
                </a:solidFill>
                <a:effectLst/>
                <a:latin typeface="Segoe UI" panose="020B0502040204020203" pitchFamily="34" charset="0"/>
                <a:ea typeface="Calibri" panose="020F0502020204030204" pitchFamily="34" charset="0"/>
              </a:rPr>
              <a:t>Data can be something simple and seemingly random and useless until it is organized. </a:t>
            </a:r>
          </a:p>
          <a:p>
            <a:r>
              <a:rPr lang="en-US" dirty="0">
                <a:solidFill>
                  <a:srgbClr val="000000"/>
                </a:solidFill>
                <a:effectLst/>
                <a:latin typeface="Segoe UI" panose="020B0502040204020203" pitchFamily="34" charset="0"/>
                <a:ea typeface="Calibri" panose="020F0502020204030204" pitchFamily="34" charset="0"/>
              </a:rPr>
              <a:t>Data are simply facts or figures bits of information, but not information itself. </a:t>
            </a:r>
          </a:p>
          <a:p>
            <a:r>
              <a:rPr lang="en-US" dirty="0">
                <a:solidFill>
                  <a:srgbClr val="000000"/>
                </a:solidFill>
                <a:effectLst/>
                <a:latin typeface="Segoe UI" panose="020B0502040204020203" pitchFamily="34" charset="0"/>
                <a:ea typeface="Calibri" panose="020F0502020204030204" pitchFamily="34" charset="0"/>
              </a:rPr>
              <a:t>Data is raw material for generating information. </a:t>
            </a:r>
          </a:p>
          <a:p>
            <a:r>
              <a:rPr lang="en-US" dirty="0">
                <a:solidFill>
                  <a:srgbClr val="000000"/>
                </a:solidFill>
                <a:effectLst/>
                <a:latin typeface="Segoe UI" panose="020B0502040204020203" pitchFamily="34" charset="0"/>
                <a:ea typeface="Calibri" panose="020F0502020204030204" pitchFamily="34" charset="0"/>
              </a:rPr>
              <a:t>Data relates to facts, events, and transactions. </a:t>
            </a:r>
          </a:p>
        </p:txBody>
      </p:sp>
      <p:sp>
        <p:nvSpPr>
          <p:cNvPr id="4" name="Slide Number Placeholder 3">
            <a:extLst>
              <a:ext uri="{FF2B5EF4-FFF2-40B4-BE49-F238E27FC236}">
                <a16:creationId xmlns:a16="http://schemas.microsoft.com/office/drawing/2014/main" id="{2BB136E5-4C43-5608-36A5-AD9E8F64F541}"/>
              </a:ext>
            </a:extLst>
          </p:cNvPr>
          <p:cNvSpPr>
            <a:spLocks noGrp="1"/>
          </p:cNvSpPr>
          <p:nvPr>
            <p:ph type="sldNum" sz="quarter" idx="12"/>
          </p:nvPr>
        </p:nvSpPr>
        <p:spPr/>
        <p:txBody>
          <a:bodyPr/>
          <a:lstStyle/>
          <a:p>
            <a:fld id="{F7F6A55E-33C2-478F-BF95-3903EF7A103F}" type="slidenum">
              <a:rPr lang="en-US" smtClean="0"/>
              <a:t>23</a:t>
            </a:fld>
            <a:endParaRPr lang="en-US"/>
          </a:p>
        </p:txBody>
      </p:sp>
    </p:spTree>
    <p:extLst>
      <p:ext uri="{BB962C8B-B14F-4D97-AF65-F5344CB8AC3E}">
        <p14:creationId xmlns:p14="http://schemas.microsoft.com/office/powerpoint/2010/main" val="2377106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E7C06-693A-9266-1EB9-9723341A871C}"/>
              </a:ext>
            </a:extLst>
          </p:cNvPr>
          <p:cNvSpPr>
            <a:spLocks noGrp="1"/>
          </p:cNvSpPr>
          <p:nvPr>
            <p:ph idx="1"/>
          </p:nvPr>
        </p:nvSpPr>
        <p:spPr>
          <a:xfrm>
            <a:off x="838200" y="351692"/>
            <a:ext cx="10515600" cy="5825271"/>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Data in the organization may come from different sources in the form of text, numbers, image, audio, video etc. </a:t>
            </a:r>
          </a:p>
          <a:p>
            <a:r>
              <a:rPr lang="en-US" dirty="0">
                <a:solidFill>
                  <a:srgbClr val="000000"/>
                </a:solidFill>
                <a:effectLst/>
                <a:latin typeface="Segoe UI" panose="020B0502040204020203" pitchFamily="34" charset="0"/>
                <a:ea typeface="Calibri" panose="020F0502020204030204" pitchFamily="34" charset="0"/>
              </a:rPr>
              <a:t>For example, 97714530239 is a data because it does not clearly tell us whether it is a registration number, passport number, PAN number, phone number or something else. </a:t>
            </a:r>
            <a:endParaRPr lang="en-GB" sz="4000" dirty="0"/>
          </a:p>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Looking upon this data we can only say it has numerical value. </a:t>
            </a:r>
          </a:p>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Similarly, another example of data can be taken as ('Anmol', '1991', 'A). </a:t>
            </a:r>
          </a:p>
          <a:p>
            <a:r>
              <a:rPr lang="en-US"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It does not specify who or what 'Anmol' is, and other values also do not give any sense.</a:t>
            </a:r>
          </a:p>
          <a:p>
            <a:endParaRPr lang="en-GB" sz="3600" dirty="0"/>
          </a:p>
        </p:txBody>
      </p:sp>
      <p:sp>
        <p:nvSpPr>
          <p:cNvPr id="2" name="Slide Number Placeholder 1">
            <a:extLst>
              <a:ext uri="{FF2B5EF4-FFF2-40B4-BE49-F238E27FC236}">
                <a16:creationId xmlns:a16="http://schemas.microsoft.com/office/drawing/2014/main" id="{57546F55-873D-2AE1-8D7F-668444DFEEC4}"/>
              </a:ext>
            </a:extLst>
          </p:cNvPr>
          <p:cNvSpPr>
            <a:spLocks noGrp="1"/>
          </p:cNvSpPr>
          <p:nvPr>
            <p:ph type="sldNum" sz="quarter" idx="12"/>
          </p:nvPr>
        </p:nvSpPr>
        <p:spPr/>
        <p:txBody>
          <a:bodyPr/>
          <a:lstStyle/>
          <a:p>
            <a:fld id="{F7F6A55E-33C2-478F-BF95-3903EF7A103F}" type="slidenum">
              <a:rPr lang="en-US" smtClean="0"/>
              <a:t>24</a:t>
            </a:fld>
            <a:endParaRPr lang="en-US"/>
          </a:p>
        </p:txBody>
      </p:sp>
    </p:spTree>
    <p:extLst>
      <p:ext uri="{BB962C8B-B14F-4D97-AF65-F5344CB8AC3E}">
        <p14:creationId xmlns:p14="http://schemas.microsoft.com/office/powerpoint/2010/main" val="421730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B210C5-63FB-E2F8-DDCC-09448CB5742C}"/>
              </a:ext>
            </a:extLst>
          </p:cNvPr>
          <p:cNvSpPr>
            <a:spLocks noGrp="1"/>
          </p:cNvSpPr>
          <p:nvPr>
            <p:ph idx="1"/>
          </p:nvPr>
        </p:nvSpPr>
        <p:spPr>
          <a:xfrm>
            <a:off x="838200" y="656491"/>
            <a:ext cx="10515600" cy="5978771"/>
          </a:xfrm>
        </p:spPr>
        <p:txBody>
          <a:bodyPr>
            <a:normAutofit fontScale="92500" lnSpcReduction="10000"/>
          </a:bodyPr>
          <a:lstStyle/>
          <a:p>
            <a:r>
              <a:rPr lang="en-US" sz="28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When data is processed, organized, structured, or presented in each context so as to make it useful, it is called information. </a:t>
            </a:r>
          </a:p>
          <a:p>
            <a:r>
              <a:rPr lang="en-US" sz="28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Data must first be processed to generate information that is used by the decision makers to make strategic and business decisions. </a:t>
            </a:r>
          </a:p>
          <a:p>
            <a:r>
              <a:rPr lang="en-US" sz="28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Thus, Information is data that has been processed in such a way as to be meaningful to the person who receives it. </a:t>
            </a:r>
          </a:p>
          <a:p>
            <a:r>
              <a:rPr lang="en-US" sz="28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It is anything that is communicated. </a:t>
            </a:r>
          </a:p>
          <a:p>
            <a:r>
              <a:rPr lang="en-US" sz="28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For example, the same data given can be processed to make information as +977-1 4530239. </a:t>
            </a:r>
          </a:p>
          <a:p>
            <a:r>
              <a:rPr lang="en-US" sz="28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Here to transform it into information some manipulations such as adding '+', hyphens and separating digits are done. </a:t>
            </a:r>
          </a:p>
          <a:p>
            <a:r>
              <a:rPr lang="en-US" sz="28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So that one can now recognize it as a phone number. </a:t>
            </a:r>
          </a:p>
          <a:p>
            <a:r>
              <a:rPr lang="en-US" sz="28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While transforming the data into information from the second example stated above it can be stated as: 'Anmol' is a student whose roll number is '1991' has got grade 'A'.</a:t>
            </a:r>
            <a:endParaRPr lang="en-GB"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2" name="Slide Number Placeholder 1">
            <a:extLst>
              <a:ext uri="{FF2B5EF4-FFF2-40B4-BE49-F238E27FC236}">
                <a16:creationId xmlns:a16="http://schemas.microsoft.com/office/drawing/2014/main" id="{3D5FE8FF-5B08-363D-F8E4-7F707B72E560}"/>
              </a:ext>
            </a:extLst>
          </p:cNvPr>
          <p:cNvSpPr>
            <a:spLocks noGrp="1"/>
          </p:cNvSpPr>
          <p:nvPr>
            <p:ph type="sldNum" sz="quarter" idx="12"/>
          </p:nvPr>
        </p:nvSpPr>
        <p:spPr/>
        <p:txBody>
          <a:bodyPr/>
          <a:lstStyle/>
          <a:p>
            <a:fld id="{F7F6A55E-33C2-478F-BF95-3903EF7A103F}" type="slidenum">
              <a:rPr lang="en-US" smtClean="0"/>
              <a:t>25</a:t>
            </a:fld>
            <a:endParaRPr lang="en-US"/>
          </a:p>
        </p:txBody>
      </p:sp>
    </p:spTree>
    <p:extLst>
      <p:ext uri="{BB962C8B-B14F-4D97-AF65-F5344CB8AC3E}">
        <p14:creationId xmlns:p14="http://schemas.microsoft.com/office/powerpoint/2010/main" val="2469690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AC70F-6EEC-4B80-0376-E12033E4697D}"/>
              </a:ext>
            </a:extLst>
          </p:cNvPr>
          <p:cNvSpPr>
            <a:spLocks noGrp="1"/>
          </p:cNvSpPr>
          <p:nvPr>
            <p:ph type="title"/>
          </p:nvPr>
        </p:nvSpPr>
        <p:spPr>
          <a:xfrm>
            <a:off x="838200" y="365125"/>
            <a:ext cx="10515600" cy="959583"/>
          </a:xfrm>
        </p:spPr>
        <p:txBody>
          <a:bodyPr>
            <a:normAutofit/>
          </a:bodyPr>
          <a:lstStyle/>
          <a:p>
            <a:r>
              <a:rPr lang="en-US" sz="3200" b="1" dirty="0">
                <a:solidFill>
                  <a:srgbClr val="000000"/>
                </a:solidFill>
                <a:effectLst/>
                <a:latin typeface="Segoe UI" panose="020B0502040204020203" pitchFamily="34" charset="0"/>
                <a:ea typeface="Calibri" panose="020F0502020204030204" pitchFamily="34" charset="0"/>
              </a:rPr>
              <a:t>Process of converting data into information</a:t>
            </a:r>
            <a:endParaRPr lang="en-GB" sz="6600" dirty="0"/>
          </a:p>
        </p:txBody>
      </p:sp>
      <p:sp>
        <p:nvSpPr>
          <p:cNvPr id="3" name="Content Placeholder 2">
            <a:extLst>
              <a:ext uri="{FF2B5EF4-FFF2-40B4-BE49-F238E27FC236}">
                <a16:creationId xmlns:a16="http://schemas.microsoft.com/office/drawing/2014/main" id="{716CD0D9-0D55-DCCE-8EA5-12F27D7E4570}"/>
              </a:ext>
            </a:extLst>
          </p:cNvPr>
          <p:cNvSpPr>
            <a:spLocks noGrp="1"/>
          </p:cNvSpPr>
          <p:nvPr>
            <p:ph idx="1"/>
          </p:nvPr>
        </p:nvSpPr>
        <p:spPr>
          <a:xfrm>
            <a:off x="838200" y="1570892"/>
            <a:ext cx="10515600" cy="4606071"/>
          </a:xfrm>
        </p:spPr>
        <p:txBody>
          <a:bodyPr>
            <a:normAutofit/>
          </a:bodyPr>
          <a:lstStyle/>
          <a:p>
            <a:r>
              <a:rPr lang="en-US" sz="2400" dirty="0">
                <a:solidFill>
                  <a:srgbClr val="000000"/>
                </a:solidFill>
                <a:effectLst/>
                <a:latin typeface="Segoe UI" panose="020B0502040204020203" pitchFamily="34" charset="0"/>
                <a:ea typeface="Calibri" panose="020F0502020204030204" pitchFamily="34" charset="0"/>
              </a:rPr>
              <a:t>The conversion of data into information includes following steps:</a:t>
            </a:r>
          </a:p>
          <a:p>
            <a:pPr lvl="1"/>
            <a:r>
              <a:rPr lang="en-US" sz="2000" dirty="0">
                <a:solidFill>
                  <a:srgbClr val="000000"/>
                </a:solidFill>
                <a:effectLst/>
                <a:latin typeface="Segoe UI" panose="020B0502040204020203" pitchFamily="34" charset="0"/>
                <a:ea typeface="Calibri" panose="020F0502020204030204" pitchFamily="34" charset="0"/>
              </a:rPr>
              <a:t>Data Collection</a:t>
            </a:r>
          </a:p>
          <a:p>
            <a:pPr lvl="1"/>
            <a:r>
              <a:rPr lang="en-US" sz="2000" dirty="0">
                <a:solidFill>
                  <a:srgbClr val="000000"/>
                </a:solidFill>
                <a:effectLst/>
                <a:latin typeface="Segoe UI" panose="020B0502040204020203" pitchFamily="34" charset="0"/>
                <a:ea typeface="Calibri" panose="020F0502020204030204" pitchFamily="34" charset="0"/>
              </a:rPr>
              <a:t>Classification</a:t>
            </a:r>
          </a:p>
          <a:p>
            <a:pPr lvl="1"/>
            <a:r>
              <a:rPr lang="en-US" sz="2000" dirty="0">
                <a:solidFill>
                  <a:srgbClr val="000000"/>
                </a:solidFill>
                <a:effectLst/>
                <a:latin typeface="Segoe UI" panose="020B0502040204020203" pitchFamily="34" charset="0"/>
                <a:ea typeface="Calibri" panose="020F0502020204030204" pitchFamily="34" charset="0"/>
              </a:rPr>
              <a:t>Sorting</a:t>
            </a:r>
          </a:p>
          <a:p>
            <a:pPr lvl="1"/>
            <a:r>
              <a:rPr lang="en-US" sz="2000" dirty="0">
                <a:solidFill>
                  <a:srgbClr val="000000"/>
                </a:solidFill>
                <a:effectLst/>
                <a:latin typeface="Segoe UI" panose="020B0502040204020203" pitchFamily="34" charset="0"/>
                <a:ea typeface="Calibri" panose="020F0502020204030204" pitchFamily="34" charset="0"/>
              </a:rPr>
              <a:t>Processing</a:t>
            </a:r>
          </a:p>
          <a:p>
            <a:pPr lvl="1"/>
            <a:r>
              <a:rPr lang="en-US" sz="2000" dirty="0">
                <a:solidFill>
                  <a:srgbClr val="000000"/>
                </a:solidFill>
                <a:effectLst/>
                <a:latin typeface="Segoe UI" panose="020B0502040204020203" pitchFamily="34" charset="0"/>
                <a:ea typeface="Calibri" panose="020F0502020204030204" pitchFamily="34" charset="0"/>
              </a:rPr>
              <a:t>Storing</a:t>
            </a:r>
          </a:p>
          <a:p>
            <a:pPr lvl="1"/>
            <a:r>
              <a:rPr lang="en-US" sz="2000" dirty="0">
                <a:solidFill>
                  <a:srgbClr val="000000"/>
                </a:solidFill>
                <a:effectLst/>
                <a:latin typeface="Segoe UI" panose="020B0502040204020203" pitchFamily="34" charset="0"/>
                <a:ea typeface="Calibri" panose="020F0502020204030204" pitchFamily="34" charset="0"/>
              </a:rPr>
              <a:t>Retrieval</a:t>
            </a:r>
          </a:p>
          <a:p>
            <a:pPr lvl="1"/>
            <a:r>
              <a:rPr lang="en-US" sz="2000" dirty="0">
                <a:solidFill>
                  <a:srgbClr val="000000"/>
                </a:solidFill>
                <a:effectLst/>
                <a:latin typeface="Segoe UI" panose="020B0502040204020203" pitchFamily="34" charset="0"/>
                <a:ea typeface="Calibri" panose="020F0502020204030204" pitchFamily="34" charset="0"/>
              </a:rPr>
              <a:t>Dissemination</a:t>
            </a:r>
          </a:p>
          <a:p>
            <a:r>
              <a:rPr lang="en-US" sz="2400" dirty="0">
                <a:solidFill>
                  <a:srgbClr val="000000"/>
                </a:solidFill>
                <a:effectLst/>
                <a:latin typeface="Segoe UI" panose="020B0502040204020203" pitchFamily="34" charset="0"/>
                <a:ea typeface="Calibri" panose="020F0502020204030204" pitchFamily="34" charset="0"/>
              </a:rPr>
              <a:t>First, data has to be collected from different sources through surveys, interviews, documents, newspapers, and any other appropriate means. </a:t>
            </a:r>
          </a:p>
          <a:p>
            <a:r>
              <a:rPr lang="en-US" sz="2400" dirty="0">
                <a:solidFill>
                  <a:srgbClr val="000000"/>
                </a:solidFill>
                <a:effectLst/>
                <a:latin typeface="Segoe UI" panose="020B0502040204020203" pitchFamily="34" charset="0"/>
                <a:ea typeface="Calibri" panose="020F0502020204030204" pitchFamily="34" charset="0"/>
              </a:rPr>
              <a:t>After the data is collected it needs to be classified to make sure that where the data came from. </a:t>
            </a:r>
            <a:endParaRPr lang="en-GB" sz="3600" dirty="0"/>
          </a:p>
        </p:txBody>
      </p:sp>
      <p:sp>
        <p:nvSpPr>
          <p:cNvPr id="4" name="Slide Number Placeholder 3">
            <a:extLst>
              <a:ext uri="{FF2B5EF4-FFF2-40B4-BE49-F238E27FC236}">
                <a16:creationId xmlns:a16="http://schemas.microsoft.com/office/drawing/2014/main" id="{6D59E65F-8A9F-0B33-344A-5AF8A36C12BB}"/>
              </a:ext>
            </a:extLst>
          </p:cNvPr>
          <p:cNvSpPr>
            <a:spLocks noGrp="1"/>
          </p:cNvSpPr>
          <p:nvPr>
            <p:ph type="sldNum" sz="quarter" idx="12"/>
          </p:nvPr>
        </p:nvSpPr>
        <p:spPr/>
        <p:txBody>
          <a:bodyPr/>
          <a:lstStyle/>
          <a:p>
            <a:fld id="{F7F6A55E-33C2-478F-BF95-3903EF7A103F}" type="slidenum">
              <a:rPr lang="en-US" smtClean="0"/>
              <a:t>26</a:t>
            </a:fld>
            <a:endParaRPr lang="en-US"/>
          </a:p>
        </p:txBody>
      </p:sp>
    </p:spTree>
    <p:extLst>
      <p:ext uri="{BB962C8B-B14F-4D97-AF65-F5344CB8AC3E}">
        <p14:creationId xmlns:p14="http://schemas.microsoft.com/office/powerpoint/2010/main" val="79044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7FE89-0151-976D-B8F2-553C972AEFB3}"/>
              </a:ext>
            </a:extLst>
          </p:cNvPr>
          <p:cNvSpPr>
            <a:spLocks noGrp="1"/>
          </p:cNvSpPr>
          <p:nvPr>
            <p:ph idx="1"/>
          </p:nvPr>
        </p:nvSpPr>
        <p:spPr>
          <a:xfrm>
            <a:off x="700454" y="668214"/>
            <a:ext cx="10791092" cy="5896709"/>
          </a:xfrm>
        </p:spPr>
        <p:txBody>
          <a:bodyPr>
            <a:normAutofit/>
          </a:bodyPr>
          <a:lstStyle/>
          <a:p>
            <a:r>
              <a:rPr lang="en-US" sz="24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Once the classification has been done it is now necessary to sort the data so that it will be easier for people to search the data and to make access to it. </a:t>
            </a:r>
          </a:p>
          <a:p>
            <a:r>
              <a:rPr lang="en-US" sz="24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When the data is sorted, some manipulation and transformation on data should take place to convert it into meaningful information. </a:t>
            </a:r>
          </a:p>
          <a:p>
            <a:r>
              <a:rPr lang="en-US" sz="24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It is called processing. When processed data becomes information it is then stored carefully for future use. </a:t>
            </a:r>
          </a:p>
          <a:p>
            <a:r>
              <a:rPr lang="en-US" sz="24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The stored information can be retrieved whenever required by th</a:t>
            </a:r>
            <a:r>
              <a:rPr lang="en-US" sz="2400" dirty="0">
                <a:solidFill>
                  <a:srgbClr val="000000"/>
                </a:solidFill>
                <a:latin typeface="Segoe UI" panose="020B0502040204020203" pitchFamily="34" charset="0"/>
                <a:ea typeface="Calibri" panose="020F0502020204030204" pitchFamily="34" charset="0"/>
                <a:cs typeface="Times New Roman" panose="02020603050405020304" pitchFamily="18" charset="0"/>
              </a:rPr>
              <a:t>e </a:t>
            </a:r>
            <a:r>
              <a:rPr lang="en-US" sz="24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organization for taking decisions. </a:t>
            </a:r>
          </a:p>
          <a:p>
            <a:r>
              <a:rPr lang="en-US" sz="24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And finally, that information must be disseminated in the right format at the right time to the right place and to the right people if it is to be useful.</a:t>
            </a:r>
          </a:p>
          <a:p>
            <a:r>
              <a:rPr lang="en-US" sz="24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Decision makers will now take the information and generate several alternative solutions to a given problem. </a:t>
            </a:r>
          </a:p>
          <a:p>
            <a:r>
              <a:rPr lang="en-US" sz="24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One of the generated solutions is taken as the best solution that will be</a:t>
            </a:r>
            <a:br>
              <a:rPr lang="en-US" sz="2400" dirty="0">
                <a:effectLst/>
                <a:latin typeface="Segoe UI" panose="020B0502040204020203" pitchFamily="34" charset="0"/>
                <a:ea typeface="Calibri" panose="020F0502020204030204" pitchFamily="34" charset="0"/>
                <a:cs typeface="Times New Roman" panose="02020603050405020304" pitchFamily="18" charset="0"/>
              </a:rPr>
            </a:br>
            <a:r>
              <a:rPr lang="en-US" sz="240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implemented to achieve the goals and missions of the organizations.</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3600" dirty="0"/>
          </a:p>
        </p:txBody>
      </p:sp>
      <p:sp>
        <p:nvSpPr>
          <p:cNvPr id="2" name="Slide Number Placeholder 1">
            <a:extLst>
              <a:ext uri="{FF2B5EF4-FFF2-40B4-BE49-F238E27FC236}">
                <a16:creationId xmlns:a16="http://schemas.microsoft.com/office/drawing/2014/main" id="{11E4A743-6EDA-CA4B-3F20-F4880F0633B1}"/>
              </a:ext>
            </a:extLst>
          </p:cNvPr>
          <p:cNvSpPr>
            <a:spLocks noGrp="1"/>
          </p:cNvSpPr>
          <p:nvPr>
            <p:ph type="sldNum" sz="quarter" idx="12"/>
          </p:nvPr>
        </p:nvSpPr>
        <p:spPr/>
        <p:txBody>
          <a:bodyPr/>
          <a:lstStyle/>
          <a:p>
            <a:fld id="{F7F6A55E-33C2-478F-BF95-3903EF7A103F}" type="slidenum">
              <a:rPr lang="en-US" smtClean="0"/>
              <a:t>27</a:t>
            </a:fld>
            <a:endParaRPr lang="en-US"/>
          </a:p>
        </p:txBody>
      </p:sp>
    </p:spTree>
    <p:extLst>
      <p:ext uri="{BB962C8B-B14F-4D97-AF65-F5344CB8AC3E}">
        <p14:creationId xmlns:p14="http://schemas.microsoft.com/office/powerpoint/2010/main" val="2447930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CAABE9-CFFC-97A5-D8E0-75C5CD0B09F0}"/>
              </a:ext>
            </a:extLst>
          </p:cNvPr>
          <p:cNvSpPr txBox="1"/>
          <p:nvPr/>
        </p:nvSpPr>
        <p:spPr>
          <a:xfrm>
            <a:off x="2710962" y="6342185"/>
            <a:ext cx="6770076" cy="400110"/>
          </a:xfrm>
          <a:prstGeom prst="rect">
            <a:avLst/>
          </a:prstGeom>
          <a:noFill/>
        </p:spPr>
        <p:txBody>
          <a:bodyPr wrap="square" rtlCol="0">
            <a:spAutoFit/>
          </a:bodyPr>
          <a:lstStyle/>
          <a:p>
            <a:r>
              <a:rPr lang="en-US" sz="2000" b="1" dirty="0">
                <a:solidFill>
                  <a:srgbClr val="000000"/>
                </a:solidFill>
                <a:latin typeface="Segoe UI" panose="020B0502040204020203" pitchFamily="34" charset="0"/>
                <a:ea typeface="Calibri" panose="020F0502020204030204" pitchFamily="34" charset="0"/>
              </a:rPr>
              <a:t>Figure 1.2-Process of converting data into information.</a:t>
            </a:r>
            <a:endParaRPr lang="en-GB" sz="2000" b="1" dirty="0"/>
          </a:p>
        </p:txBody>
      </p:sp>
      <p:sp>
        <p:nvSpPr>
          <p:cNvPr id="5" name="Slide Number Placeholder 4">
            <a:extLst>
              <a:ext uri="{FF2B5EF4-FFF2-40B4-BE49-F238E27FC236}">
                <a16:creationId xmlns:a16="http://schemas.microsoft.com/office/drawing/2014/main" id="{21A5F477-BD6A-3D0B-F33D-0B35604BE517}"/>
              </a:ext>
            </a:extLst>
          </p:cNvPr>
          <p:cNvSpPr>
            <a:spLocks noGrp="1"/>
          </p:cNvSpPr>
          <p:nvPr>
            <p:ph type="sldNum" sz="quarter" idx="12"/>
          </p:nvPr>
        </p:nvSpPr>
        <p:spPr/>
        <p:txBody>
          <a:bodyPr/>
          <a:lstStyle/>
          <a:p>
            <a:fld id="{F7F6A55E-33C2-478F-BF95-3903EF7A103F}" type="slidenum">
              <a:rPr lang="en-US" smtClean="0"/>
              <a:t>28</a:t>
            </a:fld>
            <a:endParaRPr lang="en-US"/>
          </a:p>
        </p:txBody>
      </p:sp>
      <p:grpSp>
        <p:nvGrpSpPr>
          <p:cNvPr id="60" name="Group 59"/>
          <p:cNvGrpSpPr/>
          <p:nvPr/>
        </p:nvGrpSpPr>
        <p:grpSpPr>
          <a:xfrm>
            <a:off x="1664353" y="386317"/>
            <a:ext cx="8863295" cy="5846087"/>
            <a:chOff x="1664353" y="386317"/>
            <a:chExt cx="8863295" cy="5846087"/>
          </a:xfrm>
        </p:grpSpPr>
        <p:grpSp>
          <p:nvGrpSpPr>
            <p:cNvPr id="37" name="Group 36"/>
            <p:cNvGrpSpPr/>
            <p:nvPr/>
          </p:nvGrpSpPr>
          <p:grpSpPr>
            <a:xfrm>
              <a:off x="1664353" y="386317"/>
              <a:ext cx="8863295" cy="1771392"/>
              <a:chOff x="886761" y="386317"/>
              <a:chExt cx="10418478" cy="2082206"/>
            </a:xfrm>
          </p:grpSpPr>
          <p:sp>
            <p:nvSpPr>
              <p:cNvPr id="2" name="Rectangle 1"/>
              <p:cNvSpPr/>
              <p:nvPr/>
            </p:nvSpPr>
            <p:spPr>
              <a:xfrm>
                <a:off x="5324422" y="1928034"/>
                <a:ext cx="1669312" cy="3934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t>Data Collection</a:t>
                </a:r>
              </a:p>
            </p:txBody>
          </p:sp>
          <p:sp>
            <p:nvSpPr>
              <p:cNvPr id="8" name="Oval 7"/>
              <p:cNvSpPr/>
              <p:nvPr/>
            </p:nvSpPr>
            <p:spPr>
              <a:xfrm>
                <a:off x="4002442" y="386317"/>
                <a:ext cx="1878420" cy="6875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Business</a:t>
                </a:r>
              </a:p>
              <a:p>
                <a:pPr algn="ctr"/>
                <a:r>
                  <a:rPr lang="en-US" sz="1500" dirty="0"/>
                  <a:t>Units</a:t>
                </a:r>
              </a:p>
            </p:txBody>
          </p:sp>
          <p:sp>
            <p:nvSpPr>
              <p:cNvPr id="10" name="Oval 9"/>
              <p:cNvSpPr/>
              <p:nvPr/>
            </p:nvSpPr>
            <p:spPr>
              <a:xfrm>
                <a:off x="6054524" y="386317"/>
                <a:ext cx="1878420" cy="6875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Functional</a:t>
                </a:r>
              </a:p>
              <a:p>
                <a:pPr algn="ctr"/>
                <a:r>
                  <a:rPr lang="en-US" sz="1500" dirty="0"/>
                  <a:t>Department</a:t>
                </a:r>
              </a:p>
            </p:txBody>
          </p:sp>
          <p:sp>
            <p:nvSpPr>
              <p:cNvPr id="11" name="Oval 10"/>
              <p:cNvSpPr/>
              <p:nvPr/>
            </p:nvSpPr>
            <p:spPr>
              <a:xfrm>
                <a:off x="7932944" y="1088053"/>
                <a:ext cx="1956392" cy="6875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Competitors</a:t>
                </a:r>
              </a:p>
            </p:txBody>
          </p:sp>
          <p:sp>
            <p:nvSpPr>
              <p:cNvPr id="12" name="Oval 11"/>
              <p:cNvSpPr/>
              <p:nvPr/>
            </p:nvSpPr>
            <p:spPr>
              <a:xfrm>
                <a:off x="2393211" y="1088053"/>
                <a:ext cx="1878420" cy="6875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Suppliers</a:t>
                </a:r>
              </a:p>
            </p:txBody>
          </p:sp>
          <p:sp>
            <p:nvSpPr>
              <p:cNvPr id="13" name="Oval 12"/>
              <p:cNvSpPr/>
              <p:nvPr/>
            </p:nvSpPr>
            <p:spPr>
              <a:xfrm>
                <a:off x="886761" y="1780952"/>
                <a:ext cx="1878420" cy="6875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Customers</a:t>
                </a:r>
              </a:p>
            </p:txBody>
          </p:sp>
          <p:sp>
            <p:nvSpPr>
              <p:cNvPr id="14" name="Oval 13"/>
              <p:cNvSpPr/>
              <p:nvPr/>
            </p:nvSpPr>
            <p:spPr>
              <a:xfrm>
                <a:off x="9426819" y="1780952"/>
                <a:ext cx="1878420" cy="6875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Others</a:t>
                </a:r>
              </a:p>
            </p:txBody>
          </p:sp>
          <p:cxnSp>
            <p:nvCxnSpPr>
              <p:cNvPr id="17" name="Straight Arrow Connector 16"/>
              <p:cNvCxnSpPr>
                <a:stCxn id="13" idx="6"/>
                <a:endCxn id="2" idx="1"/>
              </p:cNvCxnSpPr>
              <p:nvPr/>
            </p:nvCxnSpPr>
            <p:spPr>
              <a:xfrm flipV="1">
                <a:off x="2765181" y="2124737"/>
                <a:ext cx="2559241"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2" idx="6"/>
              </p:cNvCxnSpPr>
              <p:nvPr/>
            </p:nvCxnSpPr>
            <p:spPr>
              <a:xfrm>
                <a:off x="4271631" y="1431839"/>
                <a:ext cx="1052791" cy="4935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8" idx="4"/>
              </p:cNvCxnSpPr>
              <p:nvPr/>
            </p:nvCxnSpPr>
            <p:spPr>
              <a:xfrm>
                <a:off x="4941652" y="1073888"/>
                <a:ext cx="836429" cy="8541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10" idx="4"/>
                <a:endCxn id="2" idx="0"/>
              </p:cNvCxnSpPr>
              <p:nvPr/>
            </p:nvCxnSpPr>
            <p:spPr>
              <a:xfrm flipH="1">
                <a:off x="6159078" y="1073888"/>
                <a:ext cx="834656" cy="8541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11" idx="3"/>
              </p:cNvCxnSpPr>
              <p:nvPr/>
            </p:nvCxnSpPr>
            <p:spPr>
              <a:xfrm flipH="1">
                <a:off x="6993734" y="1674932"/>
                <a:ext cx="1225717" cy="250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a:stCxn id="14" idx="2"/>
                <a:endCxn id="2" idx="3"/>
              </p:cNvCxnSpPr>
              <p:nvPr/>
            </p:nvCxnSpPr>
            <p:spPr>
              <a:xfrm flipH="1" flipV="1">
                <a:off x="6993734" y="2124737"/>
                <a:ext cx="2433085"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8" name="TextBox 27"/>
            <p:cNvSpPr txBox="1"/>
            <p:nvPr/>
          </p:nvSpPr>
          <p:spPr>
            <a:xfrm>
              <a:off x="5505176" y="2093859"/>
              <a:ext cx="1307804" cy="323165"/>
            </a:xfrm>
            <a:prstGeom prst="rect">
              <a:avLst/>
            </a:prstGeom>
            <a:noFill/>
          </p:spPr>
          <p:txBody>
            <a:bodyPr wrap="square" rtlCol="0">
              <a:spAutoFit/>
            </a:bodyPr>
            <a:lstStyle/>
            <a:p>
              <a:pPr algn="ctr"/>
              <a:r>
                <a:rPr lang="en-US" sz="1500" dirty="0"/>
                <a:t>Classify</a:t>
              </a:r>
            </a:p>
          </p:txBody>
        </p:sp>
        <p:sp>
          <p:nvSpPr>
            <p:cNvPr id="29" name="TextBox 28"/>
            <p:cNvSpPr txBox="1"/>
            <p:nvPr/>
          </p:nvSpPr>
          <p:spPr>
            <a:xfrm>
              <a:off x="5505176" y="2430177"/>
              <a:ext cx="1307804" cy="323165"/>
            </a:xfrm>
            <a:prstGeom prst="rect">
              <a:avLst/>
            </a:prstGeom>
            <a:noFill/>
          </p:spPr>
          <p:txBody>
            <a:bodyPr wrap="square" rtlCol="0">
              <a:spAutoFit/>
            </a:bodyPr>
            <a:lstStyle/>
            <a:p>
              <a:pPr algn="ctr"/>
              <a:r>
                <a:rPr lang="en-US" sz="1500" dirty="0"/>
                <a:t>Sort</a:t>
              </a:r>
            </a:p>
          </p:txBody>
        </p:sp>
        <p:sp>
          <p:nvSpPr>
            <p:cNvPr id="30" name="TextBox 29"/>
            <p:cNvSpPr txBox="1"/>
            <p:nvPr/>
          </p:nvSpPr>
          <p:spPr>
            <a:xfrm>
              <a:off x="5505176" y="2766495"/>
              <a:ext cx="1307804" cy="323165"/>
            </a:xfrm>
            <a:prstGeom prst="rect">
              <a:avLst/>
            </a:prstGeom>
            <a:noFill/>
          </p:spPr>
          <p:txBody>
            <a:bodyPr wrap="square" rtlCol="0">
              <a:spAutoFit/>
            </a:bodyPr>
            <a:lstStyle/>
            <a:p>
              <a:pPr algn="ctr"/>
              <a:r>
                <a:rPr lang="en-US" sz="1500" dirty="0"/>
                <a:t>Process</a:t>
              </a:r>
            </a:p>
          </p:txBody>
        </p:sp>
        <p:sp>
          <p:nvSpPr>
            <p:cNvPr id="31" name="TextBox 30"/>
            <p:cNvSpPr txBox="1"/>
            <p:nvPr/>
          </p:nvSpPr>
          <p:spPr>
            <a:xfrm>
              <a:off x="5505176" y="3102813"/>
              <a:ext cx="1307804" cy="323165"/>
            </a:xfrm>
            <a:prstGeom prst="rect">
              <a:avLst/>
            </a:prstGeom>
            <a:noFill/>
          </p:spPr>
          <p:txBody>
            <a:bodyPr wrap="square" rtlCol="0">
              <a:spAutoFit/>
            </a:bodyPr>
            <a:lstStyle/>
            <a:p>
              <a:pPr algn="ctr"/>
              <a:r>
                <a:rPr lang="en-US" sz="1500" dirty="0"/>
                <a:t>Store</a:t>
              </a:r>
            </a:p>
          </p:txBody>
        </p:sp>
        <p:sp>
          <p:nvSpPr>
            <p:cNvPr id="32" name="TextBox 31"/>
            <p:cNvSpPr txBox="1"/>
            <p:nvPr/>
          </p:nvSpPr>
          <p:spPr>
            <a:xfrm>
              <a:off x="5505176" y="3439131"/>
              <a:ext cx="1307804" cy="323165"/>
            </a:xfrm>
            <a:prstGeom prst="rect">
              <a:avLst/>
            </a:prstGeom>
            <a:noFill/>
          </p:spPr>
          <p:txBody>
            <a:bodyPr wrap="square" rtlCol="0">
              <a:spAutoFit/>
            </a:bodyPr>
            <a:lstStyle/>
            <a:p>
              <a:pPr algn="ctr"/>
              <a:r>
                <a:rPr lang="en-US" sz="1500" dirty="0"/>
                <a:t>Retrieve</a:t>
              </a:r>
            </a:p>
          </p:txBody>
        </p:sp>
        <p:sp>
          <p:nvSpPr>
            <p:cNvPr id="33" name="TextBox 32"/>
            <p:cNvSpPr txBox="1"/>
            <p:nvPr/>
          </p:nvSpPr>
          <p:spPr>
            <a:xfrm>
              <a:off x="5505176" y="3775449"/>
              <a:ext cx="1307804" cy="323165"/>
            </a:xfrm>
            <a:prstGeom prst="rect">
              <a:avLst/>
            </a:prstGeom>
            <a:noFill/>
          </p:spPr>
          <p:txBody>
            <a:bodyPr wrap="square" rtlCol="0">
              <a:spAutoFit/>
            </a:bodyPr>
            <a:lstStyle/>
            <a:p>
              <a:pPr marL="0" lvl="1" algn="ctr"/>
              <a:r>
                <a:rPr lang="en-US" sz="1500" dirty="0"/>
                <a:t>Dissemination</a:t>
              </a:r>
            </a:p>
          </p:txBody>
        </p:sp>
        <p:sp>
          <p:nvSpPr>
            <p:cNvPr id="34" name="Rectangle 33"/>
            <p:cNvSpPr/>
            <p:nvPr/>
          </p:nvSpPr>
          <p:spPr>
            <a:xfrm>
              <a:off x="5163689" y="4528814"/>
              <a:ext cx="1990778" cy="3934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t>Decision Marker 2</a:t>
              </a:r>
            </a:p>
          </p:txBody>
        </p:sp>
        <p:sp>
          <p:nvSpPr>
            <p:cNvPr id="35" name="Rectangle 34"/>
            <p:cNvSpPr/>
            <p:nvPr/>
          </p:nvSpPr>
          <p:spPr>
            <a:xfrm>
              <a:off x="2280853" y="4523228"/>
              <a:ext cx="1990778" cy="3934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t>Decision Marker 1</a:t>
              </a:r>
            </a:p>
          </p:txBody>
        </p:sp>
        <p:sp>
          <p:nvSpPr>
            <p:cNvPr id="36" name="Rectangle 35"/>
            <p:cNvSpPr/>
            <p:nvPr/>
          </p:nvSpPr>
          <p:spPr>
            <a:xfrm>
              <a:off x="8046525" y="4533476"/>
              <a:ext cx="2065038" cy="3934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t>Decision Marker ‘N’</a:t>
              </a:r>
            </a:p>
          </p:txBody>
        </p:sp>
        <p:sp>
          <p:nvSpPr>
            <p:cNvPr id="38" name="Rectangle 37"/>
            <p:cNvSpPr/>
            <p:nvPr/>
          </p:nvSpPr>
          <p:spPr>
            <a:xfrm>
              <a:off x="5163689" y="5184660"/>
              <a:ext cx="1990778" cy="3934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t>ACTION</a:t>
              </a:r>
            </a:p>
          </p:txBody>
        </p:sp>
        <p:sp>
          <p:nvSpPr>
            <p:cNvPr id="39" name="Rectangle 38"/>
            <p:cNvSpPr/>
            <p:nvPr/>
          </p:nvSpPr>
          <p:spPr>
            <a:xfrm>
              <a:off x="5163689" y="5838999"/>
              <a:ext cx="1990778" cy="3934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500" b="1" dirty="0"/>
                <a:t>Goals &amp; Mission</a:t>
              </a:r>
            </a:p>
          </p:txBody>
        </p:sp>
        <p:cxnSp>
          <p:nvCxnSpPr>
            <p:cNvPr id="41" name="Elbow Connector 40"/>
            <p:cNvCxnSpPr>
              <a:stCxn id="35" idx="0"/>
              <a:endCxn id="36" idx="0"/>
            </p:cNvCxnSpPr>
            <p:nvPr/>
          </p:nvCxnSpPr>
          <p:spPr>
            <a:xfrm rot="16200000" flipH="1">
              <a:off x="6172519" y="1626951"/>
              <a:ext cx="10248" cy="5802802"/>
            </a:xfrm>
            <a:prstGeom prst="bentConnector3">
              <a:avLst>
                <a:gd name="adj1" fmla="val -2230679"/>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34" idx="0"/>
            </p:cNvCxnSpPr>
            <p:nvPr/>
          </p:nvCxnSpPr>
          <p:spPr>
            <a:xfrm flipV="1">
              <a:off x="6159078" y="4306754"/>
              <a:ext cx="0" cy="222060"/>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p:cNvCxnSpPr>
              <a:stCxn id="34" idx="2"/>
              <a:endCxn id="38" idx="0"/>
            </p:cNvCxnSpPr>
            <p:nvPr/>
          </p:nvCxnSpPr>
          <p:spPr>
            <a:xfrm>
              <a:off x="6159078" y="4922219"/>
              <a:ext cx="0" cy="262441"/>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Arrow Connector 46"/>
            <p:cNvCxnSpPr>
              <a:stCxn id="38" idx="2"/>
              <a:endCxn id="39" idx="0"/>
            </p:cNvCxnSpPr>
            <p:nvPr/>
          </p:nvCxnSpPr>
          <p:spPr>
            <a:xfrm>
              <a:off x="6159078" y="5578065"/>
              <a:ext cx="0" cy="2609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p:cNvCxnSpPr>
              <a:stCxn id="36" idx="2"/>
              <a:endCxn id="38" idx="3"/>
            </p:cNvCxnSpPr>
            <p:nvPr/>
          </p:nvCxnSpPr>
          <p:spPr>
            <a:xfrm flipH="1">
              <a:off x="7154467" y="4926881"/>
              <a:ext cx="1924577" cy="4544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a:stCxn id="35" idx="2"/>
              <a:endCxn id="38" idx="1"/>
            </p:cNvCxnSpPr>
            <p:nvPr/>
          </p:nvCxnSpPr>
          <p:spPr>
            <a:xfrm>
              <a:off x="3276242" y="4916633"/>
              <a:ext cx="1887447" cy="4647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Box 52"/>
            <p:cNvSpPr txBox="1"/>
            <p:nvPr/>
          </p:nvSpPr>
          <p:spPr>
            <a:xfrm>
              <a:off x="5954737" y="1955223"/>
              <a:ext cx="389850" cy="369332"/>
            </a:xfrm>
            <a:prstGeom prst="rect">
              <a:avLst/>
            </a:prstGeom>
            <a:noFill/>
          </p:spPr>
          <p:txBody>
            <a:bodyPr wrap="none" rtlCol="0">
              <a:spAutoFit/>
            </a:bodyPr>
            <a:lstStyle/>
            <a:p>
              <a:r>
                <a:rPr lang="en-US" dirty="0">
                  <a:sym typeface="Wingdings 3" panose="05040102010807070707" pitchFamily="18" charset="2"/>
                </a:rPr>
                <a:t></a:t>
              </a:r>
              <a:endParaRPr lang="en-US" dirty="0"/>
            </a:p>
          </p:txBody>
        </p:sp>
        <p:sp>
          <p:nvSpPr>
            <p:cNvPr id="54" name="TextBox 53"/>
            <p:cNvSpPr txBox="1"/>
            <p:nvPr/>
          </p:nvSpPr>
          <p:spPr>
            <a:xfrm>
              <a:off x="5968910" y="2256473"/>
              <a:ext cx="389850" cy="369332"/>
            </a:xfrm>
            <a:prstGeom prst="rect">
              <a:avLst/>
            </a:prstGeom>
            <a:noFill/>
          </p:spPr>
          <p:txBody>
            <a:bodyPr wrap="none" rtlCol="0">
              <a:spAutoFit/>
            </a:bodyPr>
            <a:lstStyle/>
            <a:p>
              <a:r>
                <a:rPr lang="en-US" dirty="0">
                  <a:sym typeface="Wingdings 3" panose="05040102010807070707" pitchFamily="18" charset="2"/>
                </a:rPr>
                <a:t></a:t>
              </a:r>
              <a:endParaRPr lang="en-US" dirty="0"/>
            </a:p>
          </p:txBody>
        </p:sp>
        <p:sp>
          <p:nvSpPr>
            <p:cNvPr id="56" name="TextBox 55"/>
            <p:cNvSpPr txBox="1"/>
            <p:nvPr/>
          </p:nvSpPr>
          <p:spPr>
            <a:xfrm>
              <a:off x="5968911" y="2586083"/>
              <a:ext cx="389850" cy="369332"/>
            </a:xfrm>
            <a:prstGeom prst="rect">
              <a:avLst/>
            </a:prstGeom>
            <a:noFill/>
          </p:spPr>
          <p:txBody>
            <a:bodyPr wrap="none" rtlCol="0">
              <a:spAutoFit/>
            </a:bodyPr>
            <a:lstStyle/>
            <a:p>
              <a:r>
                <a:rPr lang="en-US" dirty="0">
                  <a:sym typeface="Wingdings 3" panose="05040102010807070707" pitchFamily="18" charset="2"/>
                </a:rPr>
                <a:t></a:t>
              </a:r>
              <a:endParaRPr lang="en-US" dirty="0"/>
            </a:p>
          </p:txBody>
        </p:sp>
        <p:sp>
          <p:nvSpPr>
            <p:cNvPr id="57" name="TextBox 56"/>
            <p:cNvSpPr txBox="1"/>
            <p:nvPr/>
          </p:nvSpPr>
          <p:spPr>
            <a:xfrm>
              <a:off x="5979547" y="2936961"/>
              <a:ext cx="389850" cy="369332"/>
            </a:xfrm>
            <a:prstGeom prst="rect">
              <a:avLst/>
            </a:prstGeom>
            <a:noFill/>
          </p:spPr>
          <p:txBody>
            <a:bodyPr wrap="none" rtlCol="0">
              <a:spAutoFit/>
            </a:bodyPr>
            <a:lstStyle/>
            <a:p>
              <a:r>
                <a:rPr lang="en-US" dirty="0">
                  <a:sym typeface="Wingdings 3" panose="05040102010807070707" pitchFamily="18" charset="2"/>
                </a:rPr>
                <a:t></a:t>
              </a:r>
              <a:endParaRPr lang="en-US" dirty="0"/>
            </a:p>
          </p:txBody>
        </p:sp>
        <p:sp>
          <p:nvSpPr>
            <p:cNvPr id="58" name="TextBox 57"/>
            <p:cNvSpPr txBox="1"/>
            <p:nvPr/>
          </p:nvSpPr>
          <p:spPr>
            <a:xfrm>
              <a:off x="5979541" y="3277201"/>
              <a:ext cx="389850" cy="369332"/>
            </a:xfrm>
            <a:prstGeom prst="rect">
              <a:avLst/>
            </a:prstGeom>
            <a:noFill/>
          </p:spPr>
          <p:txBody>
            <a:bodyPr wrap="none" rtlCol="0">
              <a:spAutoFit/>
            </a:bodyPr>
            <a:lstStyle/>
            <a:p>
              <a:r>
                <a:rPr lang="en-US" dirty="0">
                  <a:sym typeface="Wingdings 3" panose="05040102010807070707" pitchFamily="18" charset="2"/>
                </a:rPr>
                <a:t></a:t>
              </a:r>
              <a:endParaRPr lang="en-US" dirty="0"/>
            </a:p>
          </p:txBody>
        </p:sp>
        <p:sp>
          <p:nvSpPr>
            <p:cNvPr id="59" name="TextBox 58"/>
            <p:cNvSpPr txBox="1"/>
            <p:nvPr/>
          </p:nvSpPr>
          <p:spPr>
            <a:xfrm>
              <a:off x="5979541" y="3585546"/>
              <a:ext cx="389850" cy="369332"/>
            </a:xfrm>
            <a:prstGeom prst="rect">
              <a:avLst/>
            </a:prstGeom>
            <a:noFill/>
          </p:spPr>
          <p:txBody>
            <a:bodyPr wrap="none" rtlCol="0">
              <a:spAutoFit/>
            </a:bodyPr>
            <a:lstStyle/>
            <a:p>
              <a:r>
                <a:rPr lang="en-US" dirty="0">
                  <a:sym typeface="Wingdings 3" panose="05040102010807070707" pitchFamily="18" charset="2"/>
                </a:rPr>
                <a:t></a:t>
              </a:r>
              <a:endParaRPr lang="en-US" dirty="0"/>
            </a:p>
          </p:txBody>
        </p:sp>
      </p:grpSp>
    </p:spTree>
    <p:extLst>
      <p:ext uri="{BB962C8B-B14F-4D97-AF65-F5344CB8AC3E}">
        <p14:creationId xmlns:p14="http://schemas.microsoft.com/office/powerpoint/2010/main" val="4187912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CF74D-CAF5-A431-5490-760C2B65CB31}"/>
              </a:ext>
            </a:extLst>
          </p:cNvPr>
          <p:cNvSpPr>
            <a:spLocks noGrp="1"/>
          </p:cNvSpPr>
          <p:nvPr>
            <p:ph type="title"/>
          </p:nvPr>
        </p:nvSpPr>
        <p:spPr/>
        <p:txBody>
          <a:bodyPr>
            <a:normAutofit/>
          </a:bodyPr>
          <a:lstStyle/>
          <a:p>
            <a:r>
              <a:rPr lang="en-US" sz="4000" b="1" dirty="0">
                <a:solidFill>
                  <a:srgbClr val="000000"/>
                </a:solidFill>
                <a:latin typeface="Segoe UI" panose="020B0502040204020203" pitchFamily="34" charset="0"/>
                <a:ea typeface="Calibri" panose="020F0502020204030204" pitchFamily="34" charset="0"/>
              </a:rPr>
              <a:t>Characteristics of Information</a:t>
            </a:r>
            <a:endParaRPr lang="en-GB" sz="4000" b="1" dirty="0">
              <a:solidFill>
                <a:srgbClr val="000000"/>
              </a:solidFill>
              <a:latin typeface="Segoe UI" panose="020B0502040204020203" pitchFamily="34" charset="0"/>
              <a:ea typeface="Calibri" panose="020F0502020204030204" pitchFamily="34" charset="0"/>
            </a:endParaRPr>
          </a:p>
        </p:txBody>
      </p:sp>
      <p:sp>
        <p:nvSpPr>
          <p:cNvPr id="3" name="Content Placeholder 2">
            <a:extLst>
              <a:ext uri="{FF2B5EF4-FFF2-40B4-BE49-F238E27FC236}">
                <a16:creationId xmlns:a16="http://schemas.microsoft.com/office/drawing/2014/main" id="{EB21F81F-8FB3-B852-7509-83E3018E08DE}"/>
              </a:ext>
            </a:extLst>
          </p:cNvPr>
          <p:cNvSpPr>
            <a:spLocks noGrp="1"/>
          </p:cNvSpPr>
          <p:nvPr>
            <p:ph idx="1"/>
          </p:nvPr>
        </p:nvSpPr>
        <p:spPr>
          <a:xfrm>
            <a:off x="682869" y="1825625"/>
            <a:ext cx="10826262" cy="4667250"/>
          </a:xfrm>
        </p:spPr>
        <p:txBody>
          <a:bodyPr>
            <a:normAutofit fontScale="92500"/>
          </a:bodyPr>
          <a:lstStyle/>
          <a:p>
            <a:pPr marL="0" indent="0">
              <a:buNone/>
            </a:pPr>
            <a:r>
              <a:rPr lang="en-US" b="1" dirty="0"/>
              <a:t>Good information has the following characteristics:</a:t>
            </a:r>
          </a:p>
          <a:p>
            <a:r>
              <a:rPr lang="en-US" b="1" dirty="0"/>
              <a:t>Subjectivity: </a:t>
            </a:r>
          </a:p>
          <a:p>
            <a:pPr lvl="1"/>
            <a:r>
              <a:rPr lang="en-US" dirty="0"/>
              <a:t>The Information used by one person may not give sense to</a:t>
            </a:r>
            <a:br>
              <a:rPr lang="en-US" dirty="0"/>
            </a:br>
            <a:r>
              <a:rPr lang="en-US" dirty="0"/>
              <a:t>another person. </a:t>
            </a:r>
          </a:p>
          <a:p>
            <a:pPr lvl="1"/>
            <a:r>
              <a:rPr lang="en-US" dirty="0"/>
              <a:t>The value and usefulness of information are highly subjective because information would be useful only to the specific user.</a:t>
            </a:r>
          </a:p>
          <a:p>
            <a:r>
              <a:rPr lang="en-US" b="1" dirty="0"/>
              <a:t>Relevance:</a:t>
            </a:r>
            <a:r>
              <a:rPr lang="en-US" dirty="0"/>
              <a:t> </a:t>
            </a:r>
          </a:p>
          <a:p>
            <a:pPr lvl="1"/>
            <a:r>
              <a:rPr lang="en-US" dirty="0"/>
              <a:t>Information is useful only when it is relevant. Information should be valid and actionable to the decision makers.</a:t>
            </a:r>
          </a:p>
          <a:p>
            <a:r>
              <a:rPr lang="en-US" b="1" dirty="0"/>
              <a:t>Timelines:</a:t>
            </a:r>
            <a:r>
              <a:rPr lang="en-US" dirty="0"/>
              <a:t> </a:t>
            </a:r>
          </a:p>
          <a:p>
            <a:pPr lvl="1"/>
            <a:r>
              <a:rPr lang="en-US" dirty="0"/>
              <a:t>Information must be conveyed at the right time and the right place to the right person. </a:t>
            </a:r>
          </a:p>
          <a:p>
            <a:pPr lvl="1"/>
            <a:r>
              <a:rPr lang="en-US" dirty="0"/>
              <a:t>Delayed information is same as having no information.</a:t>
            </a:r>
            <a:endParaRPr lang="en-GB" dirty="0"/>
          </a:p>
          <a:p>
            <a:endParaRPr lang="en-GB" dirty="0"/>
          </a:p>
        </p:txBody>
      </p:sp>
      <p:sp>
        <p:nvSpPr>
          <p:cNvPr id="4" name="Slide Number Placeholder 3">
            <a:extLst>
              <a:ext uri="{FF2B5EF4-FFF2-40B4-BE49-F238E27FC236}">
                <a16:creationId xmlns:a16="http://schemas.microsoft.com/office/drawing/2014/main" id="{B08579CC-F7BC-7F32-F3D1-A9EF0BE125EA}"/>
              </a:ext>
            </a:extLst>
          </p:cNvPr>
          <p:cNvSpPr>
            <a:spLocks noGrp="1"/>
          </p:cNvSpPr>
          <p:nvPr>
            <p:ph type="sldNum" sz="quarter" idx="12"/>
          </p:nvPr>
        </p:nvSpPr>
        <p:spPr/>
        <p:txBody>
          <a:bodyPr/>
          <a:lstStyle/>
          <a:p>
            <a:fld id="{F7F6A55E-33C2-478F-BF95-3903EF7A103F}" type="slidenum">
              <a:rPr lang="en-US" smtClean="0"/>
              <a:t>29</a:t>
            </a:fld>
            <a:endParaRPr lang="en-US"/>
          </a:p>
        </p:txBody>
      </p:sp>
    </p:spTree>
    <p:extLst>
      <p:ext uri="{BB962C8B-B14F-4D97-AF65-F5344CB8AC3E}">
        <p14:creationId xmlns:p14="http://schemas.microsoft.com/office/powerpoint/2010/main" val="997819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CDA303-9FA2-548C-3BDA-CE12CE2FE2BF}"/>
              </a:ext>
            </a:extLst>
          </p:cNvPr>
          <p:cNvSpPr>
            <a:spLocks noGrp="1"/>
          </p:cNvSpPr>
          <p:nvPr>
            <p:ph idx="1"/>
          </p:nvPr>
        </p:nvSpPr>
        <p:spPr>
          <a:xfrm>
            <a:off x="706316" y="855785"/>
            <a:ext cx="10779369" cy="5321178"/>
          </a:xfrm>
        </p:spPr>
        <p:txBody>
          <a:bodyPr>
            <a:normAutofit/>
          </a:bodyPr>
          <a:lstStyle/>
          <a:p>
            <a:r>
              <a:rPr lang="en-US" b="1" dirty="0"/>
              <a:t>Accuracy: </a:t>
            </a:r>
          </a:p>
          <a:p>
            <a:pPr lvl="1"/>
            <a:r>
              <a:rPr lang="en-US" dirty="0"/>
              <a:t>Information should not contain any jargon and must be free of errors. </a:t>
            </a:r>
          </a:p>
          <a:p>
            <a:pPr lvl="1"/>
            <a:r>
              <a:rPr lang="en-US" dirty="0"/>
              <a:t>Decision made with erroneous information will also be invalid. </a:t>
            </a:r>
          </a:p>
          <a:p>
            <a:pPr lvl="1"/>
            <a:r>
              <a:rPr lang="en-US" dirty="0"/>
              <a:t>Information must be accurate, up to date and consistent.</a:t>
            </a:r>
          </a:p>
          <a:p>
            <a:endParaRPr lang="en-US" dirty="0"/>
          </a:p>
          <a:p>
            <a:r>
              <a:rPr lang="en-US" b="1" dirty="0"/>
              <a:t>Correct Format: </a:t>
            </a:r>
          </a:p>
          <a:p>
            <a:pPr lvl="1"/>
            <a:r>
              <a:rPr lang="en-US" dirty="0"/>
              <a:t>Information can be presented in different formats like in table, graph, charts etc. </a:t>
            </a:r>
          </a:p>
          <a:p>
            <a:pPr lvl="1"/>
            <a:r>
              <a:rPr lang="en-US" dirty="0"/>
              <a:t>While presenting the data it should follow the proper &amp; meaningful format as per the characteristics of data so that it will be easier to understand. </a:t>
            </a:r>
          </a:p>
          <a:p>
            <a:pPr lvl="1"/>
            <a:r>
              <a:rPr lang="en-US" dirty="0"/>
              <a:t>The format should be such that it can be applied directly to the problem at hand without further processing.</a:t>
            </a:r>
            <a:endParaRPr lang="en-GB" dirty="0"/>
          </a:p>
        </p:txBody>
      </p:sp>
      <p:sp>
        <p:nvSpPr>
          <p:cNvPr id="4" name="Slide Number Placeholder 3">
            <a:extLst>
              <a:ext uri="{FF2B5EF4-FFF2-40B4-BE49-F238E27FC236}">
                <a16:creationId xmlns:a16="http://schemas.microsoft.com/office/drawing/2014/main" id="{103FEBBB-1645-A60C-D61A-5BB203B41470}"/>
              </a:ext>
            </a:extLst>
          </p:cNvPr>
          <p:cNvSpPr>
            <a:spLocks noGrp="1"/>
          </p:cNvSpPr>
          <p:nvPr>
            <p:ph type="sldNum" sz="quarter" idx="12"/>
          </p:nvPr>
        </p:nvSpPr>
        <p:spPr/>
        <p:txBody>
          <a:bodyPr/>
          <a:lstStyle/>
          <a:p>
            <a:fld id="{F7F6A55E-33C2-478F-BF95-3903EF7A103F}" type="slidenum">
              <a:rPr lang="en-US" smtClean="0"/>
              <a:t>30</a:t>
            </a:fld>
            <a:endParaRPr lang="en-US"/>
          </a:p>
        </p:txBody>
      </p:sp>
    </p:spTree>
    <p:extLst>
      <p:ext uri="{BB962C8B-B14F-4D97-AF65-F5344CB8AC3E}">
        <p14:creationId xmlns:p14="http://schemas.microsoft.com/office/powerpoint/2010/main" val="3271655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56C0F6-4216-6400-ABC8-95D01DAC68E3}"/>
              </a:ext>
            </a:extLst>
          </p:cNvPr>
          <p:cNvSpPr>
            <a:spLocks noGrp="1"/>
          </p:cNvSpPr>
          <p:nvPr>
            <p:ph idx="1"/>
          </p:nvPr>
        </p:nvSpPr>
        <p:spPr>
          <a:xfrm>
            <a:off x="838200" y="867508"/>
            <a:ext cx="10515600" cy="5309455"/>
          </a:xfrm>
        </p:spPr>
        <p:txBody>
          <a:bodyPr>
            <a:normAutofit/>
          </a:bodyPr>
          <a:lstStyle/>
          <a:p>
            <a:r>
              <a:rPr lang="en-US" b="1" dirty="0"/>
              <a:t>Completeness:</a:t>
            </a:r>
          </a:p>
          <a:p>
            <a:pPr lvl="1"/>
            <a:r>
              <a:rPr lang="en-US" dirty="0"/>
              <a:t>Information should not lack the required values. </a:t>
            </a:r>
          </a:p>
          <a:p>
            <a:pPr lvl="1"/>
            <a:r>
              <a:rPr lang="en-US" dirty="0"/>
              <a:t>Incomplete information will not result in an accurate decision. </a:t>
            </a:r>
          </a:p>
          <a:p>
            <a:pPr lvl="1"/>
            <a:r>
              <a:rPr lang="en-US" dirty="0"/>
              <a:t>Information is set to be complete only if the decision makers can solve the problem at hand using that information.</a:t>
            </a:r>
          </a:p>
          <a:p>
            <a:r>
              <a:rPr lang="en-US" b="1" dirty="0"/>
              <a:t>Accessibility:</a:t>
            </a:r>
          </a:p>
          <a:p>
            <a:pPr lvl="1"/>
            <a:r>
              <a:rPr lang="en-US" dirty="0"/>
              <a:t>If the decision maker cannot access and use the information at</a:t>
            </a:r>
            <a:br>
              <a:rPr lang="en-US" dirty="0"/>
            </a:br>
            <a:r>
              <a:rPr lang="en-US" dirty="0"/>
              <a:t>the required time, it is of no use. </a:t>
            </a:r>
          </a:p>
          <a:p>
            <a:pPr lvl="1"/>
            <a:r>
              <a:rPr lang="en-US" dirty="0"/>
              <a:t>With the use of the latest technologies information is becoming more accessible than ever before. </a:t>
            </a:r>
          </a:p>
          <a:p>
            <a:pPr lvl="1"/>
            <a:r>
              <a:rPr lang="en-US" dirty="0"/>
              <a:t>The important thing to consider here is that the information system should implement proper security mechanisms so that only authorized people can access it.</a:t>
            </a:r>
            <a:endParaRPr lang="en-GB" dirty="0"/>
          </a:p>
        </p:txBody>
      </p:sp>
      <p:sp>
        <p:nvSpPr>
          <p:cNvPr id="4" name="Slide Number Placeholder 3">
            <a:extLst>
              <a:ext uri="{FF2B5EF4-FFF2-40B4-BE49-F238E27FC236}">
                <a16:creationId xmlns:a16="http://schemas.microsoft.com/office/drawing/2014/main" id="{57FB9EC0-66CB-C080-EF68-1FB32ED53AEB}"/>
              </a:ext>
            </a:extLst>
          </p:cNvPr>
          <p:cNvSpPr>
            <a:spLocks noGrp="1"/>
          </p:cNvSpPr>
          <p:nvPr>
            <p:ph type="sldNum" sz="quarter" idx="12"/>
          </p:nvPr>
        </p:nvSpPr>
        <p:spPr/>
        <p:txBody>
          <a:bodyPr/>
          <a:lstStyle/>
          <a:p>
            <a:fld id="{F7F6A55E-33C2-478F-BF95-3903EF7A103F}" type="slidenum">
              <a:rPr lang="en-US" smtClean="0"/>
              <a:t>31</a:t>
            </a:fld>
            <a:endParaRPr lang="en-US"/>
          </a:p>
        </p:txBody>
      </p:sp>
    </p:spTree>
    <p:extLst>
      <p:ext uri="{BB962C8B-B14F-4D97-AF65-F5344CB8AC3E}">
        <p14:creationId xmlns:p14="http://schemas.microsoft.com/office/powerpoint/2010/main" val="595257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738EB-A0DE-47C3-B333-3895D1DFAAF8}"/>
              </a:ext>
            </a:extLst>
          </p:cNvPr>
          <p:cNvSpPr>
            <a:spLocks noGrp="1"/>
          </p:cNvSpPr>
          <p:nvPr>
            <p:ph type="title"/>
          </p:nvPr>
        </p:nvSpPr>
        <p:spPr>
          <a:xfrm>
            <a:off x="838200" y="412018"/>
            <a:ext cx="10515600" cy="1041644"/>
          </a:xfrm>
        </p:spPr>
        <p:txBody>
          <a:bodyPr/>
          <a:lstStyle/>
          <a:p>
            <a:r>
              <a:rPr lang="en-US" b="1" dirty="0"/>
              <a:t>System Components</a:t>
            </a:r>
            <a:endParaRPr lang="en-GB" dirty="0"/>
          </a:p>
        </p:txBody>
      </p:sp>
      <p:sp>
        <p:nvSpPr>
          <p:cNvPr id="3" name="Content Placeholder 2">
            <a:extLst>
              <a:ext uri="{FF2B5EF4-FFF2-40B4-BE49-F238E27FC236}">
                <a16:creationId xmlns:a16="http://schemas.microsoft.com/office/drawing/2014/main" id="{5EEB8E18-6A68-FAC1-6B02-D55C41A42057}"/>
              </a:ext>
            </a:extLst>
          </p:cNvPr>
          <p:cNvSpPr>
            <a:spLocks noGrp="1"/>
          </p:cNvSpPr>
          <p:nvPr>
            <p:ph idx="1"/>
          </p:nvPr>
        </p:nvSpPr>
        <p:spPr>
          <a:xfrm>
            <a:off x="539262" y="1676400"/>
            <a:ext cx="11113477" cy="4677508"/>
          </a:xfrm>
        </p:spPr>
        <p:txBody>
          <a:bodyPr>
            <a:normAutofit/>
          </a:bodyPr>
          <a:lstStyle/>
          <a:p>
            <a:r>
              <a:rPr lang="en-US" dirty="0"/>
              <a:t>System is a collection of components (interrelated parts) that must work together to realize an objective. </a:t>
            </a:r>
          </a:p>
          <a:p>
            <a:r>
              <a:rPr lang="en-US" dirty="0"/>
              <a:t>Basically, a system has five primary components:</a:t>
            </a:r>
          </a:p>
          <a:p>
            <a:r>
              <a:rPr lang="en-US" b="1" dirty="0"/>
              <a:t>Input: </a:t>
            </a:r>
          </a:p>
          <a:p>
            <a:pPr lvl="1"/>
            <a:r>
              <a:rPr lang="en-US" dirty="0"/>
              <a:t>The collection of raw data from within the organization as well as from external environment that need to be processed in an information system.</a:t>
            </a:r>
          </a:p>
          <a:p>
            <a:pPr lvl="1"/>
            <a:r>
              <a:rPr lang="en-US" dirty="0"/>
              <a:t>These could be machines, manpower, raw materials, time, money and so on.</a:t>
            </a:r>
          </a:p>
          <a:p>
            <a:r>
              <a:rPr lang="en-US" b="1" dirty="0"/>
              <a:t>Process: </a:t>
            </a:r>
          </a:p>
          <a:p>
            <a:pPr lvl="1"/>
            <a:r>
              <a:rPr lang="en-US" dirty="0"/>
              <a:t>The transformation and manipulation of raw data into useful information i.e., policies, procedures and operations that convert data into meaningful information.</a:t>
            </a:r>
            <a:endParaRPr lang="en-GB" dirty="0"/>
          </a:p>
        </p:txBody>
      </p:sp>
      <p:sp>
        <p:nvSpPr>
          <p:cNvPr id="4" name="Slide Number Placeholder 3">
            <a:extLst>
              <a:ext uri="{FF2B5EF4-FFF2-40B4-BE49-F238E27FC236}">
                <a16:creationId xmlns:a16="http://schemas.microsoft.com/office/drawing/2014/main" id="{A03C71B3-17F0-0344-C810-81EC026B475D}"/>
              </a:ext>
            </a:extLst>
          </p:cNvPr>
          <p:cNvSpPr>
            <a:spLocks noGrp="1"/>
          </p:cNvSpPr>
          <p:nvPr>
            <p:ph type="sldNum" sz="quarter" idx="12"/>
          </p:nvPr>
        </p:nvSpPr>
        <p:spPr/>
        <p:txBody>
          <a:bodyPr/>
          <a:lstStyle/>
          <a:p>
            <a:fld id="{F7F6A55E-33C2-478F-BF95-3903EF7A103F}" type="slidenum">
              <a:rPr lang="en-US" smtClean="0"/>
              <a:t>32</a:t>
            </a:fld>
            <a:endParaRPr lang="en-US"/>
          </a:p>
        </p:txBody>
      </p:sp>
    </p:spTree>
    <p:extLst>
      <p:ext uri="{BB962C8B-B14F-4D97-AF65-F5344CB8AC3E}">
        <p14:creationId xmlns:p14="http://schemas.microsoft.com/office/powerpoint/2010/main" val="2983988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70B3D3-617F-F8A0-2629-2F59316B3AC0}"/>
              </a:ext>
            </a:extLst>
          </p:cNvPr>
          <p:cNvSpPr>
            <a:spLocks noGrp="1"/>
          </p:cNvSpPr>
          <p:nvPr>
            <p:ph idx="1"/>
          </p:nvPr>
        </p:nvSpPr>
        <p:spPr>
          <a:xfrm>
            <a:off x="786912" y="984738"/>
            <a:ext cx="10618176" cy="5192225"/>
          </a:xfrm>
        </p:spPr>
        <p:txBody>
          <a:bodyPr>
            <a:normAutofit/>
          </a:bodyPr>
          <a:lstStyle/>
          <a:p>
            <a:r>
              <a:rPr lang="en-US" b="1" dirty="0"/>
              <a:t>Output: </a:t>
            </a:r>
          </a:p>
          <a:p>
            <a:pPr lvl="1"/>
            <a:r>
              <a:rPr lang="en-US" dirty="0"/>
              <a:t>The distribution of processed data in the right format at the right time and place to the right person.</a:t>
            </a:r>
          </a:p>
          <a:p>
            <a:r>
              <a:rPr lang="en-US" b="1" dirty="0"/>
              <a:t>Feedback: </a:t>
            </a:r>
          </a:p>
          <a:p>
            <a:pPr lvl="1"/>
            <a:r>
              <a:rPr lang="en-US" dirty="0"/>
              <a:t>It is the data about the performance of the system that is made available to the right person of the organization that will help them to evaluate the performance or to correct inputs.</a:t>
            </a:r>
          </a:p>
          <a:p>
            <a:r>
              <a:rPr lang="en-US" b="1" dirty="0"/>
              <a:t>Control: </a:t>
            </a:r>
          </a:p>
          <a:p>
            <a:pPr lvl="1"/>
            <a:r>
              <a:rPr lang="en-US" dirty="0"/>
              <a:t>It is a mechanism of processing feedback and taking necessary actions.</a:t>
            </a:r>
            <a:endParaRPr lang="en-GB" dirty="0"/>
          </a:p>
        </p:txBody>
      </p:sp>
      <p:sp>
        <p:nvSpPr>
          <p:cNvPr id="4" name="Slide Number Placeholder 3">
            <a:extLst>
              <a:ext uri="{FF2B5EF4-FFF2-40B4-BE49-F238E27FC236}">
                <a16:creationId xmlns:a16="http://schemas.microsoft.com/office/drawing/2014/main" id="{19F1649F-644B-5051-348B-2E794F3134AE}"/>
              </a:ext>
            </a:extLst>
          </p:cNvPr>
          <p:cNvSpPr>
            <a:spLocks noGrp="1"/>
          </p:cNvSpPr>
          <p:nvPr>
            <p:ph type="sldNum" sz="quarter" idx="12"/>
          </p:nvPr>
        </p:nvSpPr>
        <p:spPr/>
        <p:txBody>
          <a:bodyPr/>
          <a:lstStyle/>
          <a:p>
            <a:fld id="{F7F6A55E-33C2-478F-BF95-3903EF7A103F}" type="slidenum">
              <a:rPr lang="en-US" smtClean="0"/>
              <a:t>33</a:t>
            </a:fld>
            <a:endParaRPr lang="en-US"/>
          </a:p>
        </p:txBody>
      </p:sp>
    </p:spTree>
    <p:extLst>
      <p:ext uri="{BB962C8B-B14F-4D97-AF65-F5344CB8AC3E}">
        <p14:creationId xmlns:p14="http://schemas.microsoft.com/office/powerpoint/2010/main" val="17493454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EFA5C-D5DA-B33B-7144-281423B219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EF6E7E7-DA90-7694-2796-42E870BF68FB}"/>
              </a:ext>
            </a:extLst>
          </p:cNvPr>
          <p:cNvSpPr txBox="1"/>
          <p:nvPr/>
        </p:nvSpPr>
        <p:spPr>
          <a:xfrm>
            <a:off x="2804745" y="5487861"/>
            <a:ext cx="6770076" cy="400110"/>
          </a:xfrm>
          <a:prstGeom prst="rect">
            <a:avLst/>
          </a:prstGeom>
          <a:noFill/>
        </p:spPr>
        <p:txBody>
          <a:bodyPr wrap="square" rtlCol="0">
            <a:spAutoFit/>
          </a:bodyPr>
          <a:lstStyle/>
          <a:p>
            <a:pPr algn="ctr"/>
            <a:r>
              <a:rPr lang="en-US" sz="2000" b="1" dirty="0">
                <a:solidFill>
                  <a:srgbClr val="000000"/>
                </a:solidFill>
                <a:latin typeface="Segoe UI" panose="020B0502040204020203" pitchFamily="34" charset="0"/>
                <a:ea typeface="Calibri" panose="020F0502020204030204" pitchFamily="34" charset="0"/>
              </a:rPr>
              <a:t>Figure 1.3 -System Components</a:t>
            </a:r>
            <a:endParaRPr lang="en-GB" sz="2000" b="1" dirty="0">
              <a:solidFill>
                <a:srgbClr val="000000"/>
              </a:solidFill>
              <a:latin typeface="Segoe UI" panose="020B0502040204020203" pitchFamily="34" charset="0"/>
              <a:ea typeface="Calibri" panose="020F0502020204030204" pitchFamily="34" charset="0"/>
            </a:endParaRPr>
          </a:p>
        </p:txBody>
      </p:sp>
      <p:grpSp>
        <p:nvGrpSpPr>
          <p:cNvPr id="24" name="Group 23">
            <a:extLst>
              <a:ext uri="{FF2B5EF4-FFF2-40B4-BE49-F238E27FC236}">
                <a16:creationId xmlns:a16="http://schemas.microsoft.com/office/drawing/2014/main" id="{C45556A1-6718-042F-8BC7-06AAE7D08AC5}"/>
              </a:ext>
            </a:extLst>
          </p:cNvPr>
          <p:cNvGrpSpPr/>
          <p:nvPr/>
        </p:nvGrpSpPr>
        <p:grpSpPr>
          <a:xfrm>
            <a:off x="1225061" y="1500554"/>
            <a:ext cx="9929446" cy="3078833"/>
            <a:chOff x="1131277" y="750277"/>
            <a:chExt cx="9929446" cy="3078833"/>
          </a:xfrm>
        </p:grpSpPr>
        <p:sp>
          <p:nvSpPr>
            <p:cNvPr id="2" name="Rectangle 1">
              <a:extLst>
                <a:ext uri="{FF2B5EF4-FFF2-40B4-BE49-F238E27FC236}">
                  <a16:creationId xmlns:a16="http://schemas.microsoft.com/office/drawing/2014/main" id="{640824EE-4F26-0585-394F-EA6CB021AACA}"/>
                </a:ext>
              </a:extLst>
            </p:cNvPr>
            <p:cNvSpPr/>
            <p:nvPr/>
          </p:nvSpPr>
          <p:spPr>
            <a:xfrm>
              <a:off x="4976446" y="750277"/>
              <a:ext cx="2239108" cy="400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Control</a:t>
              </a:r>
              <a:endParaRPr lang="en-GB" b="1" dirty="0"/>
            </a:p>
          </p:txBody>
        </p:sp>
        <p:sp>
          <p:nvSpPr>
            <p:cNvPr id="3" name="Rectangle 2">
              <a:extLst>
                <a:ext uri="{FF2B5EF4-FFF2-40B4-BE49-F238E27FC236}">
                  <a16:creationId xmlns:a16="http://schemas.microsoft.com/office/drawing/2014/main" id="{E8F27FC4-C89A-2C29-54C6-9358ED3456B8}"/>
                </a:ext>
              </a:extLst>
            </p:cNvPr>
            <p:cNvSpPr/>
            <p:nvPr/>
          </p:nvSpPr>
          <p:spPr>
            <a:xfrm>
              <a:off x="1131277" y="3429000"/>
              <a:ext cx="2239108" cy="400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Input</a:t>
              </a:r>
              <a:endParaRPr lang="en-GB" b="1" dirty="0"/>
            </a:p>
          </p:txBody>
        </p:sp>
        <p:sp>
          <p:nvSpPr>
            <p:cNvPr id="5" name="Rectangle 4">
              <a:extLst>
                <a:ext uri="{FF2B5EF4-FFF2-40B4-BE49-F238E27FC236}">
                  <a16:creationId xmlns:a16="http://schemas.microsoft.com/office/drawing/2014/main" id="{E152C4B0-C7AD-433A-E126-43BBC25CFAE4}"/>
                </a:ext>
              </a:extLst>
            </p:cNvPr>
            <p:cNvSpPr/>
            <p:nvPr/>
          </p:nvSpPr>
          <p:spPr>
            <a:xfrm>
              <a:off x="4976446" y="3429000"/>
              <a:ext cx="2239108" cy="400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Processor</a:t>
              </a:r>
              <a:endParaRPr lang="en-GB" b="1" dirty="0"/>
            </a:p>
          </p:txBody>
        </p:sp>
        <p:sp>
          <p:nvSpPr>
            <p:cNvPr id="6" name="Rectangle 5">
              <a:extLst>
                <a:ext uri="{FF2B5EF4-FFF2-40B4-BE49-F238E27FC236}">
                  <a16:creationId xmlns:a16="http://schemas.microsoft.com/office/drawing/2014/main" id="{8819EA27-2F9F-6D7B-12B0-25EC7E10A842}"/>
                </a:ext>
              </a:extLst>
            </p:cNvPr>
            <p:cNvSpPr/>
            <p:nvPr/>
          </p:nvSpPr>
          <p:spPr>
            <a:xfrm>
              <a:off x="8821615" y="3429000"/>
              <a:ext cx="2239108" cy="4001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Output</a:t>
              </a:r>
              <a:endParaRPr lang="en-GB" b="1" dirty="0"/>
            </a:p>
          </p:txBody>
        </p:sp>
        <p:cxnSp>
          <p:nvCxnSpPr>
            <p:cNvPr id="12" name="Connector: Elbow 11">
              <a:extLst>
                <a:ext uri="{FF2B5EF4-FFF2-40B4-BE49-F238E27FC236}">
                  <a16:creationId xmlns:a16="http://schemas.microsoft.com/office/drawing/2014/main" id="{357D57F4-636C-5577-DB7E-F6811F6D0D7A}"/>
                </a:ext>
              </a:extLst>
            </p:cNvPr>
            <p:cNvCxnSpPr>
              <a:stCxn id="3" idx="0"/>
              <a:endCxn id="2" idx="1"/>
            </p:cNvCxnSpPr>
            <p:nvPr/>
          </p:nvCxnSpPr>
          <p:spPr>
            <a:xfrm rot="5400000" flipH="1" flipV="1">
              <a:off x="2374304" y="826859"/>
              <a:ext cx="2478668" cy="2725615"/>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4" name="Connector: Elbow 13">
              <a:extLst>
                <a:ext uri="{FF2B5EF4-FFF2-40B4-BE49-F238E27FC236}">
                  <a16:creationId xmlns:a16="http://schemas.microsoft.com/office/drawing/2014/main" id="{09252CD2-15DA-3170-2B60-8A1DCCAF7515}"/>
                </a:ext>
              </a:extLst>
            </p:cNvPr>
            <p:cNvCxnSpPr>
              <a:stCxn id="6" idx="0"/>
              <a:endCxn id="2" idx="3"/>
            </p:cNvCxnSpPr>
            <p:nvPr/>
          </p:nvCxnSpPr>
          <p:spPr>
            <a:xfrm rot="16200000" flipV="1">
              <a:off x="7339028" y="826858"/>
              <a:ext cx="2478668" cy="2725615"/>
            </a:xfrm>
            <a:prstGeom prst="bentConnector2">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917789B6-C737-60C3-6615-FD089155D5DC}"/>
                </a:ext>
              </a:extLst>
            </p:cNvPr>
            <p:cNvCxnSpPr>
              <a:stCxn id="2" idx="2"/>
              <a:endCxn id="5" idx="0"/>
            </p:cNvCxnSpPr>
            <p:nvPr/>
          </p:nvCxnSpPr>
          <p:spPr>
            <a:xfrm>
              <a:off x="6096000" y="1150387"/>
              <a:ext cx="0" cy="227861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1A7F2F64-6E66-7D6B-37BB-BB29154D1B7A}"/>
                </a:ext>
              </a:extLst>
            </p:cNvPr>
            <p:cNvCxnSpPr>
              <a:stCxn id="3" idx="3"/>
              <a:endCxn id="5" idx="1"/>
            </p:cNvCxnSpPr>
            <p:nvPr/>
          </p:nvCxnSpPr>
          <p:spPr>
            <a:xfrm>
              <a:off x="3370385" y="3629055"/>
              <a:ext cx="16060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1305418E-9C48-A15C-C390-8E62D4C68A4E}"/>
                </a:ext>
              </a:extLst>
            </p:cNvPr>
            <p:cNvCxnSpPr>
              <a:stCxn id="5" idx="3"/>
              <a:endCxn id="6" idx="1"/>
            </p:cNvCxnSpPr>
            <p:nvPr/>
          </p:nvCxnSpPr>
          <p:spPr>
            <a:xfrm>
              <a:off x="7215554" y="3629055"/>
              <a:ext cx="16060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4B95FB13-FC6B-FC72-EFBD-F0B7F5DEF4B1}"/>
                </a:ext>
              </a:extLst>
            </p:cNvPr>
            <p:cNvSpPr txBox="1"/>
            <p:nvPr/>
          </p:nvSpPr>
          <p:spPr>
            <a:xfrm>
              <a:off x="2710962" y="1055077"/>
              <a:ext cx="1708638" cy="369332"/>
            </a:xfrm>
            <a:prstGeom prst="rect">
              <a:avLst/>
            </a:prstGeom>
            <a:noFill/>
          </p:spPr>
          <p:txBody>
            <a:bodyPr wrap="square" rtlCol="0">
              <a:spAutoFit/>
            </a:bodyPr>
            <a:lstStyle/>
            <a:p>
              <a:pPr algn="ctr"/>
              <a:r>
                <a:rPr lang="en-GB" dirty="0"/>
                <a:t>Feedback</a:t>
              </a:r>
            </a:p>
          </p:txBody>
        </p:sp>
        <p:sp>
          <p:nvSpPr>
            <p:cNvPr id="22" name="TextBox 21">
              <a:extLst>
                <a:ext uri="{FF2B5EF4-FFF2-40B4-BE49-F238E27FC236}">
                  <a16:creationId xmlns:a16="http://schemas.microsoft.com/office/drawing/2014/main" id="{1E093DB3-B923-23B8-091A-E4254E9432F4}"/>
                </a:ext>
              </a:extLst>
            </p:cNvPr>
            <p:cNvSpPr txBox="1"/>
            <p:nvPr/>
          </p:nvSpPr>
          <p:spPr>
            <a:xfrm>
              <a:off x="6095999" y="1920361"/>
              <a:ext cx="1708638" cy="369332"/>
            </a:xfrm>
            <a:prstGeom prst="rect">
              <a:avLst/>
            </a:prstGeom>
            <a:noFill/>
          </p:spPr>
          <p:txBody>
            <a:bodyPr wrap="square" rtlCol="0">
              <a:spAutoFit/>
            </a:bodyPr>
            <a:lstStyle/>
            <a:p>
              <a:pPr algn="ctr"/>
              <a:r>
                <a:rPr lang="en-GB" dirty="0"/>
                <a:t>Modification</a:t>
              </a:r>
            </a:p>
          </p:txBody>
        </p:sp>
        <p:sp>
          <p:nvSpPr>
            <p:cNvPr id="23" name="TextBox 22">
              <a:extLst>
                <a:ext uri="{FF2B5EF4-FFF2-40B4-BE49-F238E27FC236}">
                  <a16:creationId xmlns:a16="http://schemas.microsoft.com/office/drawing/2014/main" id="{B2B8DF86-3EDE-4276-2CD3-01E82E66196B}"/>
                </a:ext>
              </a:extLst>
            </p:cNvPr>
            <p:cNvSpPr txBox="1"/>
            <p:nvPr/>
          </p:nvSpPr>
          <p:spPr>
            <a:xfrm>
              <a:off x="7093927" y="3228945"/>
              <a:ext cx="1708638" cy="369332"/>
            </a:xfrm>
            <a:prstGeom prst="rect">
              <a:avLst/>
            </a:prstGeom>
            <a:noFill/>
          </p:spPr>
          <p:txBody>
            <a:bodyPr wrap="square" rtlCol="0">
              <a:spAutoFit/>
            </a:bodyPr>
            <a:lstStyle/>
            <a:p>
              <a:pPr algn="ctr"/>
              <a:r>
                <a:rPr lang="en-GB" dirty="0"/>
                <a:t>Add Value</a:t>
              </a:r>
            </a:p>
          </p:txBody>
        </p:sp>
      </p:grpSp>
      <p:sp>
        <p:nvSpPr>
          <p:cNvPr id="25" name="Slide Number Placeholder 24">
            <a:extLst>
              <a:ext uri="{FF2B5EF4-FFF2-40B4-BE49-F238E27FC236}">
                <a16:creationId xmlns:a16="http://schemas.microsoft.com/office/drawing/2014/main" id="{E26DBD36-A7D2-F118-7950-FA406B9B5CD0}"/>
              </a:ext>
            </a:extLst>
          </p:cNvPr>
          <p:cNvSpPr>
            <a:spLocks noGrp="1"/>
          </p:cNvSpPr>
          <p:nvPr>
            <p:ph type="sldNum" sz="quarter" idx="12"/>
          </p:nvPr>
        </p:nvSpPr>
        <p:spPr/>
        <p:txBody>
          <a:bodyPr/>
          <a:lstStyle/>
          <a:p>
            <a:fld id="{F7F6A55E-33C2-478F-BF95-3903EF7A103F}" type="slidenum">
              <a:rPr lang="en-US" smtClean="0"/>
              <a:t>34</a:t>
            </a:fld>
            <a:endParaRPr lang="en-US"/>
          </a:p>
        </p:txBody>
      </p:sp>
    </p:spTree>
    <p:extLst>
      <p:ext uri="{BB962C8B-B14F-4D97-AF65-F5344CB8AC3E}">
        <p14:creationId xmlns:p14="http://schemas.microsoft.com/office/powerpoint/2010/main" val="3780543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D6AB-FA8E-EC35-AC0C-A324CB276165}"/>
              </a:ext>
            </a:extLst>
          </p:cNvPr>
          <p:cNvSpPr>
            <a:spLocks noGrp="1"/>
          </p:cNvSpPr>
          <p:nvPr>
            <p:ph type="title"/>
          </p:nvPr>
        </p:nvSpPr>
        <p:spPr/>
        <p:txBody>
          <a:bodyPr/>
          <a:lstStyle/>
          <a:p>
            <a:r>
              <a:rPr lang="en-US" b="1" dirty="0"/>
              <a:t>The Role of Information System in Business</a:t>
            </a:r>
            <a:endParaRPr lang="en-GB" b="1" dirty="0"/>
          </a:p>
        </p:txBody>
      </p:sp>
      <p:sp>
        <p:nvSpPr>
          <p:cNvPr id="3" name="Content Placeholder 2">
            <a:extLst>
              <a:ext uri="{FF2B5EF4-FFF2-40B4-BE49-F238E27FC236}">
                <a16:creationId xmlns:a16="http://schemas.microsoft.com/office/drawing/2014/main" id="{E8FD1DBF-145C-865A-5E90-BD388153F130}"/>
              </a:ext>
            </a:extLst>
          </p:cNvPr>
          <p:cNvSpPr>
            <a:spLocks noGrp="1"/>
          </p:cNvSpPr>
          <p:nvPr>
            <p:ph idx="1"/>
          </p:nvPr>
        </p:nvSpPr>
        <p:spPr/>
        <p:txBody>
          <a:bodyPr>
            <a:normAutofit/>
          </a:bodyPr>
          <a:lstStyle/>
          <a:p>
            <a:r>
              <a:rPr lang="en-US" dirty="0"/>
              <a:t>An understanding of the effective, responsible usage and management of information systems is important for managers and other business workers in today's global information society.</a:t>
            </a:r>
          </a:p>
          <a:p>
            <a:r>
              <a:rPr lang="en-US" dirty="0"/>
              <a:t>Information systems and technologies have become a vital component of successful businesses and organizations. </a:t>
            </a:r>
          </a:p>
          <a:p>
            <a:r>
              <a:rPr lang="en-US" dirty="0"/>
              <a:t>Information systems constitute an essential field of study in business administration and management, as they are considered a major</a:t>
            </a:r>
            <a:br>
              <a:rPr lang="en-US" dirty="0"/>
            </a:br>
            <a:r>
              <a:rPr lang="en-US" dirty="0"/>
              <a:t>functional area in business operations. </a:t>
            </a:r>
          </a:p>
          <a:p>
            <a:r>
              <a:rPr lang="en-US" dirty="0"/>
              <a:t>It helps a company to gain a competitive advantage.</a:t>
            </a:r>
            <a:endParaRPr lang="en-GB" dirty="0"/>
          </a:p>
        </p:txBody>
      </p:sp>
      <p:sp>
        <p:nvSpPr>
          <p:cNvPr id="4" name="Slide Number Placeholder 3">
            <a:extLst>
              <a:ext uri="{FF2B5EF4-FFF2-40B4-BE49-F238E27FC236}">
                <a16:creationId xmlns:a16="http://schemas.microsoft.com/office/drawing/2014/main" id="{A3382E14-7762-5816-2CB7-1172F9DC8AA3}"/>
              </a:ext>
            </a:extLst>
          </p:cNvPr>
          <p:cNvSpPr>
            <a:spLocks noGrp="1"/>
          </p:cNvSpPr>
          <p:nvPr>
            <p:ph type="sldNum" sz="quarter" idx="12"/>
          </p:nvPr>
        </p:nvSpPr>
        <p:spPr/>
        <p:txBody>
          <a:bodyPr/>
          <a:lstStyle/>
          <a:p>
            <a:fld id="{F7F6A55E-33C2-478F-BF95-3903EF7A103F}" type="slidenum">
              <a:rPr lang="en-US" smtClean="0"/>
              <a:t>35</a:t>
            </a:fld>
            <a:endParaRPr lang="en-US"/>
          </a:p>
        </p:txBody>
      </p:sp>
    </p:spTree>
    <p:extLst>
      <p:ext uri="{BB962C8B-B14F-4D97-AF65-F5344CB8AC3E}">
        <p14:creationId xmlns:p14="http://schemas.microsoft.com/office/powerpoint/2010/main" val="30613408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5304CE-E685-9478-3ED0-9486738C995D}"/>
              </a:ext>
            </a:extLst>
          </p:cNvPr>
          <p:cNvSpPr>
            <a:spLocks noGrp="1"/>
          </p:cNvSpPr>
          <p:nvPr>
            <p:ph idx="1"/>
          </p:nvPr>
        </p:nvSpPr>
        <p:spPr>
          <a:xfrm>
            <a:off x="838200" y="949569"/>
            <a:ext cx="10515600" cy="5227394"/>
          </a:xfrm>
        </p:spPr>
        <p:txBody>
          <a:bodyPr/>
          <a:lstStyle/>
          <a:p>
            <a:r>
              <a:rPr lang="en-US" dirty="0"/>
              <a:t>The traditional way of doing business has been changed with the development and use the latest technologies. </a:t>
            </a:r>
          </a:p>
          <a:p>
            <a:r>
              <a:rPr lang="en-US" dirty="0"/>
              <a:t>The numbers of smart phone users increased exponentially, an</a:t>
            </a:r>
            <a:br>
              <a:rPr lang="en-US" dirty="0"/>
            </a:br>
            <a:r>
              <a:rPr lang="en-US" dirty="0"/>
              <a:t>people prefer using the Internet on those devices. </a:t>
            </a:r>
          </a:p>
          <a:p>
            <a:r>
              <a:rPr lang="en-US" dirty="0"/>
              <a:t>Smart devices, email, online conferencing over the Internet have all become the essential tools of business. </a:t>
            </a:r>
          </a:p>
          <a:p>
            <a:r>
              <a:rPr lang="en-US" dirty="0"/>
              <a:t>Ecommerce and Internet advertising continue to expand. </a:t>
            </a:r>
          </a:p>
          <a:p>
            <a:r>
              <a:rPr lang="en-US" dirty="0"/>
              <a:t>Millions of businesses worldwide have dot-com Internet sites registered.</a:t>
            </a:r>
            <a:endParaRPr lang="en-GB" dirty="0"/>
          </a:p>
        </p:txBody>
      </p:sp>
      <p:sp>
        <p:nvSpPr>
          <p:cNvPr id="4" name="Slide Number Placeholder 3">
            <a:extLst>
              <a:ext uri="{FF2B5EF4-FFF2-40B4-BE49-F238E27FC236}">
                <a16:creationId xmlns:a16="http://schemas.microsoft.com/office/drawing/2014/main" id="{F5E0BB62-7E4C-7CC1-F8FA-3722BD128E68}"/>
              </a:ext>
            </a:extLst>
          </p:cNvPr>
          <p:cNvSpPr>
            <a:spLocks noGrp="1"/>
          </p:cNvSpPr>
          <p:nvPr>
            <p:ph type="sldNum" sz="quarter" idx="12"/>
          </p:nvPr>
        </p:nvSpPr>
        <p:spPr/>
        <p:txBody>
          <a:bodyPr/>
          <a:lstStyle/>
          <a:p>
            <a:fld id="{F7F6A55E-33C2-478F-BF95-3903EF7A103F}" type="slidenum">
              <a:rPr lang="en-US" smtClean="0"/>
              <a:t>36</a:t>
            </a:fld>
            <a:endParaRPr lang="en-US"/>
          </a:p>
        </p:txBody>
      </p:sp>
    </p:spTree>
    <p:extLst>
      <p:ext uri="{BB962C8B-B14F-4D97-AF65-F5344CB8AC3E}">
        <p14:creationId xmlns:p14="http://schemas.microsoft.com/office/powerpoint/2010/main" val="8520074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AAB275-1D58-F1C9-1C03-CFDA9CEDE44C}"/>
              </a:ext>
            </a:extLst>
          </p:cNvPr>
          <p:cNvSpPr>
            <a:spLocks noGrp="1"/>
          </p:cNvSpPr>
          <p:nvPr>
            <p:ph idx="1"/>
          </p:nvPr>
        </p:nvSpPr>
        <p:spPr>
          <a:xfrm>
            <a:off x="838200" y="750277"/>
            <a:ext cx="10515600" cy="5426686"/>
          </a:xfrm>
        </p:spPr>
        <p:txBody>
          <a:bodyPr>
            <a:normAutofit/>
          </a:bodyPr>
          <a:lstStyle/>
          <a:p>
            <a:r>
              <a:rPr lang="en-US" dirty="0"/>
              <a:t>Businesses have required to sense and respond to rapidly changing customer demand, reduce inventories to the lowest possible levels, and achieve higher levels of operational efficiency.</a:t>
            </a:r>
          </a:p>
          <a:p>
            <a:r>
              <a:rPr lang="en-US" dirty="0"/>
              <a:t>Supply chains have become more fast-paced, with companies of all sizes depending on just in-time inventory to reduce their overhead costs and get to market faster.</a:t>
            </a:r>
          </a:p>
          <a:p>
            <a:r>
              <a:rPr lang="en-US" dirty="0"/>
              <a:t>As newspaper readership continues to decline, millions of people view news online.</a:t>
            </a:r>
          </a:p>
          <a:p>
            <a:r>
              <a:rPr lang="en-US" dirty="0"/>
              <a:t> Similarly, most of the computer literates watch a video online every day and millions read a  blog, post to blogs, creating an explosion of new writers and new forms of customer feedback that did not exist five years ago.</a:t>
            </a:r>
            <a:endParaRPr lang="en-GB" dirty="0"/>
          </a:p>
        </p:txBody>
      </p:sp>
      <p:sp>
        <p:nvSpPr>
          <p:cNvPr id="4" name="Slide Number Placeholder 3">
            <a:extLst>
              <a:ext uri="{FF2B5EF4-FFF2-40B4-BE49-F238E27FC236}">
                <a16:creationId xmlns:a16="http://schemas.microsoft.com/office/drawing/2014/main" id="{EB49DFDF-1101-1B5D-5E7C-F96F0A299C18}"/>
              </a:ext>
            </a:extLst>
          </p:cNvPr>
          <p:cNvSpPr>
            <a:spLocks noGrp="1"/>
          </p:cNvSpPr>
          <p:nvPr>
            <p:ph type="sldNum" sz="quarter" idx="12"/>
          </p:nvPr>
        </p:nvSpPr>
        <p:spPr/>
        <p:txBody>
          <a:bodyPr/>
          <a:lstStyle/>
          <a:p>
            <a:fld id="{F7F6A55E-33C2-478F-BF95-3903EF7A103F}" type="slidenum">
              <a:rPr lang="en-US" smtClean="0"/>
              <a:t>37</a:t>
            </a:fld>
            <a:endParaRPr lang="en-US"/>
          </a:p>
        </p:txBody>
      </p:sp>
    </p:spTree>
    <p:extLst>
      <p:ext uri="{BB962C8B-B14F-4D97-AF65-F5344CB8AC3E}">
        <p14:creationId xmlns:p14="http://schemas.microsoft.com/office/powerpoint/2010/main" val="20724312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D8DEBD-AA52-FD77-82E2-F95A0978DB15}"/>
              </a:ext>
            </a:extLst>
          </p:cNvPr>
          <p:cNvSpPr>
            <a:spLocks noGrp="1"/>
          </p:cNvSpPr>
          <p:nvPr>
            <p:ph idx="1"/>
          </p:nvPr>
        </p:nvSpPr>
        <p:spPr>
          <a:xfrm>
            <a:off x="838200" y="797169"/>
            <a:ext cx="10515600" cy="5379794"/>
          </a:xfrm>
        </p:spPr>
        <p:txBody>
          <a:bodyPr>
            <a:normAutofit/>
          </a:bodyPr>
          <a:lstStyle/>
          <a:p>
            <a:r>
              <a:rPr lang="en-US" dirty="0"/>
              <a:t>Social networking site Facebook attracted almost 3 billion monthly active users globally as  of December 2022, according to Facebook itself. </a:t>
            </a:r>
          </a:p>
          <a:p>
            <a:r>
              <a:rPr lang="en-US" dirty="0"/>
              <a:t>Businesses are still heavily invested in  social networking tools to connect with employees, customers, and managers worldwide.</a:t>
            </a:r>
          </a:p>
          <a:p>
            <a:r>
              <a:rPr lang="en-US" dirty="0"/>
              <a:t>Many Fortune 500 companies continue to maintain Facebook pages alongside potentially using other popular platforms. </a:t>
            </a:r>
          </a:p>
          <a:p>
            <a:r>
              <a:rPr lang="en-US" dirty="0"/>
              <a:t>While the specific figures for Google's online ad revenue aren't readily available, internet advertising remains a major player in the digital economy.</a:t>
            </a:r>
          </a:p>
          <a:p>
            <a:r>
              <a:rPr lang="en-US" dirty="0"/>
              <a:t>According to Statista, the global digital ad spends in 2023 are estimated to be over $600 billion.</a:t>
            </a:r>
            <a:endParaRPr lang="en-GB" dirty="0"/>
          </a:p>
        </p:txBody>
      </p:sp>
      <p:sp>
        <p:nvSpPr>
          <p:cNvPr id="4" name="Slide Number Placeholder 3">
            <a:extLst>
              <a:ext uri="{FF2B5EF4-FFF2-40B4-BE49-F238E27FC236}">
                <a16:creationId xmlns:a16="http://schemas.microsoft.com/office/drawing/2014/main" id="{435B3CDC-1AC8-12E9-38CB-07FCE1968AAC}"/>
              </a:ext>
            </a:extLst>
          </p:cNvPr>
          <p:cNvSpPr>
            <a:spLocks noGrp="1"/>
          </p:cNvSpPr>
          <p:nvPr>
            <p:ph type="sldNum" sz="quarter" idx="12"/>
          </p:nvPr>
        </p:nvSpPr>
        <p:spPr/>
        <p:txBody>
          <a:bodyPr/>
          <a:lstStyle/>
          <a:p>
            <a:fld id="{F7F6A55E-33C2-478F-BF95-3903EF7A103F}" type="slidenum">
              <a:rPr lang="en-US" smtClean="0"/>
              <a:t>38</a:t>
            </a:fld>
            <a:endParaRPr lang="en-US"/>
          </a:p>
        </p:txBody>
      </p:sp>
    </p:spTree>
    <p:extLst>
      <p:ext uri="{BB962C8B-B14F-4D97-AF65-F5344CB8AC3E}">
        <p14:creationId xmlns:p14="http://schemas.microsoft.com/office/powerpoint/2010/main" val="31667480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B81A69-D64B-2266-26CF-0E1195E877AF}"/>
              </a:ext>
            </a:extLst>
          </p:cNvPr>
          <p:cNvSpPr>
            <a:spLocks noGrp="1"/>
          </p:cNvSpPr>
          <p:nvPr>
            <p:ph idx="1"/>
          </p:nvPr>
        </p:nvSpPr>
        <p:spPr>
          <a:xfrm>
            <a:off x="838200" y="785446"/>
            <a:ext cx="10515600" cy="5391517"/>
          </a:xfrm>
        </p:spPr>
        <p:txBody>
          <a:bodyPr>
            <a:normAutofit/>
          </a:bodyPr>
          <a:lstStyle/>
          <a:p>
            <a:r>
              <a:rPr lang="en-US" dirty="0"/>
              <a:t>YouTube claims over 2.5 billion monthly active users, offering a mixture of video content from music hits to educational tutorials.</a:t>
            </a:r>
          </a:p>
          <a:p>
            <a:r>
              <a:rPr lang="en-US" dirty="0"/>
              <a:t>Meanwhile, TikTok has exploded in popularity, attracting over 1 billion monthly users with its focus on short-form videos featuring dance</a:t>
            </a:r>
            <a:br>
              <a:rPr lang="en-US" dirty="0"/>
            </a:br>
            <a:r>
              <a:rPr lang="en-US" dirty="0"/>
              <a:t>trends, challenges, and comedic skits. </a:t>
            </a:r>
          </a:p>
          <a:p>
            <a:r>
              <a:rPr lang="en-US" dirty="0"/>
              <a:t>These are just a few of the many platforms vying for attention, and with the social media world constantly evolving, new contenders are sure to emerge</a:t>
            </a:r>
            <a:r>
              <a:rPr lang="en-US"/>
              <a:t>. </a:t>
            </a:r>
          </a:p>
          <a:p>
            <a:r>
              <a:rPr lang="en-US"/>
              <a:t>It's </a:t>
            </a:r>
            <a:r>
              <a:rPr lang="en-US" dirty="0"/>
              <a:t>important for businesses to stay informed about the latest trends and user demographics to effectively utilize these platforms and connect with their target audiences.</a:t>
            </a:r>
            <a:endParaRPr lang="en-GB" dirty="0"/>
          </a:p>
        </p:txBody>
      </p:sp>
      <p:sp>
        <p:nvSpPr>
          <p:cNvPr id="4" name="Slide Number Placeholder 3">
            <a:extLst>
              <a:ext uri="{FF2B5EF4-FFF2-40B4-BE49-F238E27FC236}">
                <a16:creationId xmlns:a16="http://schemas.microsoft.com/office/drawing/2014/main" id="{351A34C7-69AA-D01A-6B8C-57854C1CD5E6}"/>
              </a:ext>
            </a:extLst>
          </p:cNvPr>
          <p:cNvSpPr>
            <a:spLocks noGrp="1"/>
          </p:cNvSpPr>
          <p:nvPr>
            <p:ph type="sldNum" sz="quarter" idx="12"/>
          </p:nvPr>
        </p:nvSpPr>
        <p:spPr/>
        <p:txBody>
          <a:bodyPr/>
          <a:lstStyle/>
          <a:p>
            <a:fld id="{F7F6A55E-33C2-478F-BF95-3903EF7A103F}" type="slidenum">
              <a:rPr lang="en-US" smtClean="0"/>
              <a:t>39</a:t>
            </a:fld>
            <a:endParaRPr lang="en-US"/>
          </a:p>
        </p:txBody>
      </p:sp>
    </p:spTree>
    <p:extLst>
      <p:ext uri="{BB962C8B-B14F-4D97-AF65-F5344CB8AC3E}">
        <p14:creationId xmlns:p14="http://schemas.microsoft.com/office/powerpoint/2010/main" val="2823442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DB1DA-E6C0-BA95-E079-2BDEF54A0E2D}"/>
              </a:ext>
            </a:extLst>
          </p:cNvPr>
          <p:cNvSpPr>
            <a:spLocks noGrp="1"/>
          </p:cNvSpPr>
          <p:nvPr>
            <p:ph type="title"/>
          </p:nvPr>
        </p:nvSpPr>
        <p:spPr>
          <a:xfrm>
            <a:off x="838200" y="165834"/>
            <a:ext cx="10515600" cy="842352"/>
          </a:xfrm>
        </p:spPr>
        <p:txBody>
          <a:bodyPr>
            <a:normAutofit/>
          </a:bodyPr>
          <a:lstStyle/>
          <a:p>
            <a:r>
              <a:rPr lang="en-US" sz="4000" b="1" dirty="0"/>
              <a:t>Why Do Organizations need Information Systems?</a:t>
            </a:r>
            <a:endParaRPr lang="en-GB" sz="4000" dirty="0"/>
          </a:p>
        </p:txBody>
      </p:sp>
      <p:sp>
        <p:nvSpPr>
          <p:cNvPr id="3" name="Content Placeholder 2">
            <a:extLst>
              <a:ext uri="{FF2B5EF4-FFF2-40B4-BE49-F238E27FC236}">
                <a16:creationId xmlns:a16="http://schemas.microsoft.com/office/drawing/2014/main" id="{8C916EE1-3E2F-2565-79F2-B3287FF0D4EF}"/>
              </a:ext>
            </a:extLst>
          </p:cNvPr>
          <p:cNvSpPr>
            <a:spLocks noGrp="1"/>
          </p:cNvSpPr>
          <p:nvPr>
            <p:ph idx="1"/>
          </p:nvPr>
        </p:nvSpPr>
        <p:spPr>
          <a:xfrm>
            <a:off x="838200" y="1113692"/>
            <a:ext cx="10515600" cy="5416062"/>
          </a:xfrm>
        </p:spPr>
        <p:txBody>
          <a:bodyPr>
            <a:normAutofit fontScale="92500" lnSpcReduction="10000"/>
          </a:bodyPr>
          <a:lstStyle/>
          <a:p>
            <a:r>
              <a:rPr lang="en-US" dirty="0"/>
              <a:t>There are several reasons why information systems are being widely used by organizations.</a:t>
            </a:r>
          </a:p>
          <a:p>
            <a:r>
              <a:rPr lang="en-US" dirty="0"/>
              <a:t>Most of the reasons are stated as follows:</a:t>
            </a:r>
            <a:endParaRPr lang="en-GB" dirty="0"/>
          </a:p>
          <a:p>
            <a:pPr marL="0" indent="0">
              <a:buNone/>
            </a:pPr>
            <a:r>
              <a:rPr lang="en-US" b="1" dirty="0"/>
              <a:t>Meeting global challenges: </a:t>
            </a:r>
          </a:p>
          <a:p>
            <a:pPr lvl="1"/>
            <a:r>
              <a:rPr lang="en-US" dirty="0"/>
              <a:t>Today the competition faced by businesses in the world is no longer limited by geographical boundaries. </a:t>
            </a:r>
          </a:p>
          <a:p>
            <a:pPr lvl="1"/>
            <a:r>
              <a:rPr lang="en-US" dirty="0"/>
              <a:t>Therefore, companies struggle to produce high quality goods and services that can compete in the global markets. </a:t>
            </a:r>
          </a:p>
          <a:p>
            <a:pPr lvl="1"/>
            <a:r>
              <a:rPr lang="en-US" dirty="0"/>
              <a:t>Globalization can help organizations bring many benefits such as increased profits and market shares. </a:t>
            </a:r>
          </a:p>
          <a:p>
            <a:pPr lvl="1"/>
            <a:r>
              <a:rPr lang="en-US" dirty="0"/>
              <a:t>The challenges of running a global company are equally important. </a:t>
            </a:r>
          </a:p>
          <a:p>
            <a:pPr lvl="1"/>
            <a:r>
              <a:rPr lang="en-US" dirty="0"/>
              <a:t>For the company to be successful in the global market it must effectively coordinate and control products, people, and procedures around the world.</a:t>
            </a:r>
          </a:p>
          <a:p>
            <a:pPr lvl="1"/>
            <a:r>
              <a:rPr lang="en-US" dirty="0"/>
              <a:t>Effective execution of business plans requires timely, accurate and reliable information.</a:t>
            </a:r>
            <a:endParaRPr lang="en-GB" dirty="0"/>
          </a:p>
        </p:txBody>
      </p:sp>
      <p:sp>
        <p:nvSpPr>
          <p:cNvPr id="4" name="Slide Number Placeholder 3">
            <a:extLst>
              <a:ext uri="{FF2B5EF4-FFF2-40B4-BE49-F238E27FC236}">
                <a16:creationId xmlns:a16="http://schemas.microsoft.com/office/drawing/2014/main" id="{7D8DE7AE-1521-CEFA-D3CA-C9273E489E9D}"/>
              </a:ext>
            </a:extLst>
          </p:cNvPr>
          <p:cNvSpPr>
            <a:spLocks noGrp="1"/>
          </p:cNvSpPr>
          <p:nvPr>
            <p:ph type="sldNum" sz="quarter" idx="12"/>
          </p:nvPr>
        </p:nvSpPr>
        <p:spPr/>
        <p:txBody>
          <a:bodyPr/>
          <a:lstStyle/>
          <a:p>
            <a:fld id="{F7F6A55E-33C2-478F-BF95-3903EF7A103F}" type="slidenum">
              <a:rPr lang="en-US" smtClean="0"/>
              <a:t>40</a:t>
            </a:fld>
            <a:endParaRPr lang="en-US"/>
          </a:p>
        </p:txBody>
      </p:sp>
    </p:spTree>
    <p:extLst>
      <p:ext uri="{BB962C8B-B14F-4D97-AF65-F5344CB8AC3E}">
        <p14:creationId xmlns:p14="http://schemas.microsoft.com/office/powerpoint/2010/main" val="1521199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46BB3-B740-0909-C413-D9096B2D34D5}"/>
              </a:ext>
            </a:extLst>
          </p:cNvPr>
          <p:cNvSpPr>
            <a:spLocks noGrp="1"/>
          </p:cNvSpPr>
          <p:nvPr>
            <p:ph idx="1"/>
          </p:nvPr>
        </p:nvSpPr>
        <p:spPr>
          <a:xfrm>
            <a:off x="838200" y="644768"/>
            <a:ext cx="10515600" cy="5955323"/>
          </a:xfrm>
        </p:spPr>
        <p:txBody>
          <a:bodyPr>
            <a:normAutofit lnSpcReduction="10000"/>
          </a:bodyPr>
          <a:lstStyle/>
          <a:p>
            <a:pPr marL="0" indent="0">
              <a:buNone/>
            </a:pPr>
            <a:r>
              <a:rPr lang="en-US" b="1" dirty="0"/>
              <a:t>Capturing Opportunities in the Marketplace: </a:t>
            </a:r>
          </a:p>
          <a:p>
            <a:pPr lvl="1"/>
            <a:r>
              <a:rPr lang="en-US" dirty="0"/>
              <a:t>Information systems help organizations to take advantage of opportunities in the marketplace, identify strategic growth opportunities and continue to sustain in the long run. </a:t>
            </a:r>
          </a:p>
          <a:p>
            <a:pPr lvl="1"/>
            <a:r>
              <a:rPr lang="en-US" dirty="0"/>
              <a:t>These systems aid most of the companies to the top in their industries, leaving there competitors far behind.</a:t>
            </a:r>
          </a:p>
          <a:p>
            <a:pPr marL="0" indent="0">
              <a:buNone/>
            </a:pPr>
            <a:r>
              <a:rPr lang="en-US" b="1" dirty="0"/>
              <a:t>Supporting Corporate Strategies: </a:t>
            </a:r>
          </a:p>
          <a:p>
            <a:pPr lvl="1"/>
            <a:r>
              <a:rPr lang="en-US" dirty="0"/>
              <a:t>Information systems and technologies play an important role on implementation of business strategies such as: </a:t>
            </a:r>
          </a:p>
          <a:p>
            <a:pPr marL="914400" lvl="2" indent="0">
              <a:buNone/>
            </a:pPr>
            <a:r>
              <a:rPr lang="en-US" dirty="0" err="1"/>
              <a:t>i</a:t>
            </a:r>
            <a:r>
              <a:rPr lang="en-US" dirty="0"/>
              <a:t>) Provide goods and services at a lower cost than their competitors </a:t>
            </a:r>
          </a:p>
          <a:p>
            <a:pPr marL="914400" lvl="2" indent="0">
              <a:buNone/>
            </a:pPr>
            <a:r>
              <a:rPr lang="en-US" dirty="0"/>
              <a:t>ii) Produce specialized or unique goods and services that allow them to stand apart from the competitors </a:t>
            </a:r>
          </a:p>
          <a:p>
            <a:pPr marL="914400" lvl="2" indent="0">
              <a:buNone/>
            </a:pPr>
            <a:r>
              <a:rPr lang="en-US" dirty="0"/>
              <a:t>iii) Focus on meeting the needs of special groups. </a:t>
            </a:r>
          </a:p>
          <a:p>
            <a:pPr lvl="1"/>
            <a:r>
              <a:rPr lang="en-US" dirty="0"/>
              <a:t>Many companies today use information systems to cut costs, improve productivity, create unique and innovative products and services, and better serve customers.</a:t>
            </a:r>
            <a:br>
              <a:rPr lang="en-US" dirty="0"/>
            </a:br>
            <a:endParaRPr lang="en-GB" dirty="0"/>
          </a:p>
        </p:txBody>
      </p:sp>
      <p:sp>
        <p:nvSpPr>
          <p:cNvPr id="4" name="Slide Number Placeholder 3">
            <a:extLst>
              <a:ext uri="{FF2B5EF4-FFF2-40B4-BE49-F238E27FC236}">
                <a16:creationId xmlns:a16="http://schemas.microsoft.com/office/drawing/2014/main" id="{D6FF083E-A290-BDA4-64F8-0FDFBB562612}"/>
              </a:ext>
            </a:extLst>
          </p:cNvPr>
          <p:cNvSpPr>
            <a:spLocks noGrp="1"/>
          </p:cNvSpPr>
          <p:nvPr>
            <p:ph type="sldNum" sz="quarter" idx="12"/>
          </p:nvPr>
        </p:nvSpPr>
        <p:spPr/>
        <p:txBody>
          <a:bodyPr/>
          <a:lstStyle/>
          <a:p>
            <a:fld id="{F7F6A55E-33C2-478F-BF95-3903EF7A103F}" type="slidenum">
              <a:rPr lang="en-US" smtClean="0"/>
              <a:t>41</a:t>
            </a:fld>
            <a:endParaRPr lang="en-US"/>
          </a:p>
        </p:txBody>
      </p:sp>
    </p:spTree>
    <p:extLst>
      <p:ext uri="{BB962C8B-B14F-4D97-AF65-F5344CB8AC3E}">
        <p14:creationId xmlns:p14="http://schemas.microsoft.com/office/powerpoint/2010/main" val="34774664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7BA1FF-828D-791D-794B-5C2A64FEA81C}"/>
              </a:ext>
            </a:extLst>
          </p:cNvPr>
          <p:cNvSpPr>
            <a:spLocks noGrp="1"/>
          </p:cNvSpPr>
          <p:nvPr>
            <p:ph idx="1"/>
          </p:nvPr>
        </p:nvSpPr>
        <p:spPr>
          <a:xfrm>
            <a:off x="838200" y="914400"/>
            <a:ext cx="10515600" cy="5262563"/>
          </a:xfrm>
        </p:spPr>
        <p:txBody>
          <a:bodyPr>
            <a:normAutofit/>
          </a:bodyPr>
          <a:lstStyle/>
          <a:p>
            <a:pPr marL="0" indent="0">
              <a:buNone/>
            </a:pPr>
            <a:r>
              <a:rPr lang="en-US" b="1" dirty="0"/>
              <a:t>Linking Departments whose functions are different: </a:t>
            </a:r>
          </a:p>
          <a:p>
            <a:pPr lvl="1"/>
            <a:r>
              <a:rPr lang="en-US" dirty="0"/>
              <a:t>Departments with different functions in business such as accounting, finance, marketing, manufacturing, and human resources were isolated from each other in the traditional system. </a:t>
            </a:r>
          </a:p>
          <a:p>
            <a:pPr lvl="1"/>
            <a:r>
              <a:rPr lang="en-US" dirty="0"/>
              <a:t>Since those departments were viewed as separate business  entities, the efforts within these units were not coordinated, which resulted in </a:t>
            </a:r>
            <a:br>
              <a:rPr lang="en-US" dirty="0"/>
            </a:br>
            <a:r>
              <a:rPr lang="en-US" dirty="0"/>
              <a:t>inefficiencies and lost opportunities for the company. </a:t>
            </a:r>
          </a:p>
          <a:p>
            <a:pPr lvl="1"/>
            <a:r>
              <a:rPr lang="en-US" dirty="0"/>
              <a:t>Nowadays, Information systems have brought different functioning units together by coordinating the tasks and functions.</a:t>
            </a:r>
            <a:endParaRPr lang="en-GB" dirty="0"/>
          </a:p>
          <a:p>
            <a:endParaRPr lang="en-GB" dirty="0"/>
          </a:p>
        </p:txBody>
      </p:sp>
      <p:sp>
        <p:nvSpPr>
          <p:cNvPr id="4" name="Slide Number Placeholder 3">
            <a:extLst>
              <a:ext uri="{FF2B5EF4-FFF2-40B4-BE49-F238E27FC236}">
                <a16:creationId xmlns:a16="http://schemas.microsoft.com/office/drawing/2014/main" id="{F91FF12F-B5B5-5095-36F9-26834807D46A}"/>
              </a:ext>
            </a:extLst>
          </p:cNvPr>
          <p:cNvSpPr>
            <a:spLocks noGrp="1"/>
          </p:cNvSpPr>
          <p:nvPr>
            <p:ph type="sldNum" sz="quarter" idx="12"/>
          </p:nvPr>
        </p:nvSpPr>
        <p:spPr/>
        <p:txBody>
          <a:bodyPr/>
          <a:lstStyle/>
          <a:p>
            <a:fld id="{F7F6A55E-33C2-478F-BF95-3903EF7A103F}" type="slidenum">
              <a:rPr lang="en-US" smtClean="0"/>
              <a:t>42</a:t>
            </a:fld>
            <a:endParaRPr lang="en-US"/>
          </a:p>
        </p:txBody>
      </p:sp>
    </p:spTree>
    <p:extLst>
      <p:ext uri="{BB962C8B-B14F-4D97-AF65-F5344CB8AC3E}">
        <p14:creationId xmlns:p14="http://schemas.microsoft.com/office/powerpoint/2010/main" val="62620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94C9A8-F776-C58A-C5A5-C055D0390674}"/>
              </a:ext>
            </a:extLst>
          </p:cNvPr>
          <p:cNvSpPr>
            <a:spLocks noGrp="1"/>
          </p:cNvSpPr>
          <p:nvPr>
            <p:ph idx="1"/>
          </p:nvPr>
        </p:nvSpPr>
        <p:spPr>
          <a:xfrm>
            <a:off x="838200" y="773723"/>
            <a:ext cx="10515600" cy="5403240"/>
          </a:xfrm>
        </p:spPr>
        <p:txBody>
          <a:bodyPr>
            <a:normAutofit lnSpcReduction="10000"/>
          </a:bodyPr>
          <a:lstStyle/>
          <a:p>
            <a:pPr marL="0" indent="0">
              <a:buNone/>
            </a:pPr>
            <a:r>
              <a:rPr lang="en-US" b="1" dirty="0"/>
              <a:t>Enhancing Worker Productivity: </a:t>
            </a:r>
          </a:p>
          <a:p>
            <a:pPr lvl="1"/>
            <a:r>
              <a:rPr lang="en-US" dirty="0"/>
              <a:t>The use of information systems in organizations assists to enhance the productivity of clerical and knowledge workers and to enhance communication in the workplace. </a:t>
            </a:r>
          </a:p>
          <a:p>
            <a:pPr lvl="1"/>
            <a:r>
              <a:rPr lang="en-US" dirty="0"/>
              <a:t>Information systems can also be used to evaluate the performance of employees, track customers track inventories, reorder items and generate payroll.</a:t>
            </a:r>
          </a:p>
          <a:p>
            <a:endParaRPr lang="en-GB" dirty="0"/>
          </a:p>
          <a:p>
            <a:pPr marL="0" indent="0">
              <a:buNone/>
            </a:pPr>
            <a:r>
              <a:rPr lang="en-US" b="1" dirty="0"/>
              <a:t>Increasing the quality of goods and services: </a:t>
            </a:r>
          </a:p>
          <a:p>
            <a:pPr lvl="1"/>
            <a:r>
              <a:rPr lang="en-US" dirty="0"/>
              <a:t>Computer based information systems help a company achieve its quality goals by providing the right information in the right format at the right time to the right person. </a:t>
            </a:r>
          </a:p>
          <a:p>
            <a:pPr lvl="1"/>
            <a:r>
              <a:rPr lang="en-US" dirty="0"/>
              <a:t>Coordinating the task and decisions of many departments and units located worldwide with the help of information systems helps to enhance the total quality of goods and services the organization is providing.</a:t>
            </a:r>
            <a:endParaRPr lang="en-GB" dirty="0"/>
          </a:p>
          <a:p>
            <a:endParaRPr lang="en-GB" dirty="0"/>
          </a:p>
        </p:txBody>
      </p:sp>
      <p:sp>
        <p:nvSpPr>
          <p:cNvPr id="4" name="Slide Number Placeholder 3">
            <a:extLst>
              <a:ext uri="{FF2B5EF4-FFF2-40B4-BE49-F238E27FC236}">
                <a16:creationId xmlns:a16="http://schemas.microsoft.com/office/drawing/2014/main" id="{1AD5D673-D70E-3109-7335-B44D0373065E}"/>
              </a:ext>
            </a:extLst>
          </p:cNvPr>
          <p:cNvSpPr>
            <a:spLocks noGrp="1"/>
          </p:cNvSpPr>
          <p:nvPr>
            <p:ph type="sldNum" sz="quarter" idx="12"/>
          </p:nvPr>
        </p:nvSpPr>
        <p:spPr/>
        <p:txBody>
          <a:bodyPr/>
          <a:lstStyle/>
          <a:p>
            <a:fld id="{F7F6A55E-33C2-478F-BF95-3903EF7A103F}" type="slidenum">
              <a:rPr lang="en-US" smtClean="0"/>
              <a:t>43</a:t>
            </a:fld>
            <a:endParaRPr lang="en-US"/>
          </a:p>
        </p:txBody>
      </p:sp>
    </p:spTree>
    <p:extLst>
      <p:ext uri="{BB962C8B-B14F-4D97-AF65-F5344CB8AC3E}">
        <p14:creationId xmlns:p14="http://schemas.microsoft.com/office/powerpoint/2010/main" val="2741281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44DC3-5072-34D0-417D-9D8F9D7CA93E}"/>
              </a:ext>
            </a:extLst>
          </p:cNvPr>
          <p:cNvSpPr>
            <a:spLocks noGrp="1"/>
          </p:cNvSpPr>
          <p:nvPr>
            <p:ph type="title"/>
          </p:nvPr>
        </p:nvSpPr>
        <p:spPr>
          <a:xfrm>
            <a:off x="838200" y="177558"/>
            <a:ext cx="10515600" cy="971306"/>
          </a:xfrm>
        </p:spPr>
        <p:txBody>
          <a:bodyPr/>
          <a:lstStyle/>
          <a:p>
            <a:r>
              <a:rPr lang="en-US" b="1" dirty="0"/>
              <a:t>Dimensions of Information Systems</a:t>
            </a:r>
            <a:endParaRPr lang="en-GB" b="1" dirty="0"/>
          </a:p>
        </p:txBody>
      </p:sp>
      <p:sp>
        <p:nvSpPr>
          <p:cNvPr id="3" name="Content Placeholder 2">
            <a:extLst>
              <a:ext uri="{FF2B5EF4-FFF2-40B4-BE49-F238E27FC236}">
                <a16:creationId xmlns:a16="http://schemas.microsoft.com/office/drawing/2014/main" id="{88B7730A-F68B-01C0-F25E-887A3CCCA248}"/>
              </a:ext>
            </a:extLst>
          </p:cNvPr>
          <p:cNvSpPr>
            <a:spLocks noGrp="1"/>
          </p:cNvSpPr>
          <p:nvPr>
            <p:ph idx="1"/>
          </p:nvPr>
        </p:nvSpPr>
        <p:spPr>
          <a:xfrm>
            <a:off x="838200" y="1148864"/>
            <a:ext cx="10515600" cy="5531578"/>
          </a:xfrm>
        </p:spPr>
        <p:txBody>
          <a:bodyPr>
            <a:normAutofit fontScale="92500"/>
          </a:bodyPr>
          <a:lstStyle/>
          <a:p>
            <a:r>
              <a:rPr lang="en-US" dirty="0"/>
              <a:t>Information systems are more than computers. </a:t>
            </a:r>
          </a:p>
          <a:p>
            <a:r>
              <a:rPr lang="en-US" dirty="0"/>
              <a:t>To create and use the information system in the organizations one should understand the broader organization, management, and information technology dimensions of systems. </a:t>
            </a:r>
          </a:p>
          <a:p>
            <a:r>
              <a:rPr lang="en-US" dirty="0"/>
              <a:t>Using information systems effectively also requires the power to provide solutions to challenges and problems in the business environment. </a:t>
            </a:r>
          </a:p>
          <a:p>
            <a:r>
              <a:rPr lang="en-US" dirty="0"/>
              <a:t>The capability of understanding the information system, management, organizational dimension, and business acumen is referred to as information systems literacy. </a:t>
            </a:r>
          </a:p>
          <a:p>
            <a:r>
              <a:rPr lang="en-US" dirty="0"/>
              <a:t>The field of management information system (MIS) tries to achieve this broader information system literacy dealing with behavioral issues as well as technical issues encompassing the development, use and impact of information system used by managers and employees in the firm.</a:t>
            </a:r>
            <a:endParaRPr lang="en-GB" dirty="0"/>
          </a:p>
        </p:txBody>
      </p:sp>
      <p:sp>
        <p:nvSpPr>
          <p:cNvPr id="4" name="Slide Number Placeholder 3">
            <a:extLst>
              <a:ext uri="{FF2B5EF4-FFF2-40B4-BE49-F238E27FC236}">
                <a16:creationId xmlns:a16="http://schemas.microsoft.com/office/drawing/2014/main" id="{E3AA6DF6-8898-33C2-237E-20E2BA28F39E}"/>
              </a:ext>
            </a:extLst>
          </p:cNvPr>
          <p:cNvSpPr>
            <a:spLocks noGrp="1"/>
          </p:cNvSpPr>
          <p:nvPr>
            <p:ph type="sldNum" sz="quarter" idx="12"/>
          </p:nvPr>
        </p:nvSpPr>
        <p:spPr/>
        <p:txBody>
          <a:bodyPr/>
          <a:lstStyle/>
          <a:p>
            <a:fld id="{F7F6A55E-33C2-478F-BF95-3903EF7A103F}" type="slidenum">
              <a:rPr lang="en-US" smtClean="0"/>
              <a:t>44</a:t>
            </a:fld>
            <a:endParaRPr lang="en-US"/>
          </a:p>
        </p:txBody>
      </p:sp>
    </p:spTree>
    <p:extLst>
      <p:ext uri="{BB962C8B-B14F-4D97-AF65-F5344CB8AC3E}">
        <p14:creationId xmlns:p14="http://schemas.microsoft.com/office/powerpoint/2010/main" val="32303657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A6981FB-B36F-75EB-697C-1A48917B9B82}"/>
              </a:ext>
            </a:extLst>
          </p:cNvPr>
          <p:cNvGrpSpPr/>
          <p:nvPr/>
        </p:nvGrpSpPr>
        <p:grpSpPr>
          <a:xfrm>
            <a:off x="3628292" y="562708"/>
            <a:ext cx="4935415" cy="4935415"/>
            <a:chOff x="3628292" y="562708"/>
            <a:chExt cx="4935415" cy="4935415"/>
          </a:xfrm>
        </p:grpSpPr>
        <p:sp>
          <p:nvSpPr>
            <p:cNvPr id="4" name="Oval 3">
              <a:extLst>
                <a:ext uri="{FF2B5EF4-FFF2-40B4-BE49-F238E27FC236}">
                  <a16:creationId xmlns:a16="http://schemas.microsoft.com/office/drawing/2014/main" id="{E3013587-F634-E11D-4B0D-C5C81D269922}"/>
                </a:ext>
              </a:extLst>
            </p:cNvPr>
            <p:cNvSpPr/>
            <p:nvPr/>
          </p:nvSpPr>
          <p:spPr>
            <a:xfrm>
              <a:off x="3628292" y="562708"/>
              <a:ext cx="4935415" cy="493541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5" name="Oval 4">
              <a:extLst>
                <a:ext uri="{FF2B5EF4-FFF2-40B4-BE49-F238E27FC236}">
                  <a16:creationId xmlns:a16="http://schemas.microsoft.com/office/drawing/2014/main" id="{4EBA37EB-0D26-6DC4-33DC-A930C43119E1}"/>
                </a:ext>
              </a:extLst>
            </p:cNvPr>
            <p:cNvSpPr/>
            <p:nvPr/>
          </p:nvSpPr>
          <p:spPr>
            <a:xfrm>
              <a:off x="5040922" y="1975338"/>
              <a:ext cx="2110154" cy="211015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cxnSp>
        <p:nvCxnSpPr>
          <p:cNvPr id="8" name="Straight Connector 7">
            <a:extLst>
              <a:ext uri="{FF2B5EF4-FFF2-40B4-BE49-F238E27FC236}">
                <a16:creationId xmlns:a16="http://schemas.microsoft.com/office/drawing/2014/main" id="{44F7F334-D907-F675-01CC-89A71449D31A}"/>
              </a:ext>
            </a:extLst>
          </p:cNvPr>
          <p:cNvCxnSpPr>
            <a:stCxn id="4" idx="0"/>
            <a:endCxn id="5" idx="0"/>
          </p:cNvCxnSpPr>
          <p:nvPr/>
        </p:nvCxnSpPr>
        <p:spPr>
          <a:xfrm flipH="1">
            <a:off x="6095999" y="562708"/>
            <a:ext cx="1" cy="141263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0198855-EE56-95B4-343D-641D580B2099}"/>
              </a:ext>
            </a:extLst>
          </p:cNvPr>
          <p:cNvCxnSpPr>
            <a:stCxn id="5" idx="3"/>
            <a:endCxn id="4" idx="3"/>
          </p:cNvCxnSpPr>
          <p:nvPr/>
        </p:nvCxnSpPr>
        <p:spPr>
          <a:xfrm flipH="1">
            <a:off x="4351067" y="3776467"/>
            <a:ext cx="998880" cy="998881"/>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D70B1B3C-DE02-F6BC-8736-80940F34F9F0}"/>
              </a:ext>
            </a:extLst>
          </p:cNvPr>
          <p:cNvCxnSpPr>
            <a:cxnSpLocks/>
            <a:stCxn id="5" idx="5"/>
            <a:endCxn id="4" idx="5"/>
          </p:cNvCxnSpPr>
          <p:nvPr/>
        </p:nvCxnSpPr>
        <p:spPr>
          <a:xfrm>
            <a:off x="6842051" y="3776467"/>
            <a:ext cx="998881" cy="998881"/>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8E9302DC-7BB8-528E-8E12-5CDBCC2795B4}"/>
              </a:ext>
            </a:extLst>
          </p:cNvPr>
          <p:cNvSpPr txBox="1"/>
          <p:nvPr/>
        </p:nvSpPr>
        <p:spPr>
          <a:xfrm>
            <a:off x="4015153" y="1559169"/>
            <a:ext cx="2051538" cy="461665"/>
          </a:xfrm>
          <a:prstGeom prst="rect">
            <a:avLst/>
          </a:prstGeom>
          <a:noFill/>
        </p:spPr>
        <p:txBody>
          <a:bodyPr wrap="square" rtlCol="0">
            <a:spAutoFit/>
          </a:bodyPr>
          <a:lstStyle/>
          <a:p>
            <a:pPr algn="ctr"/>
            <a:r>
              <a:rPr lang="en-GB" sz="2400" b="1" dirty="0"/>
              <a:t>Organizations</a:t>
            </a:r>
          </a:p>
        </p:txBody>
      </p:sp>
      <p:sp>
        <p:nvSpPr>
          <p:cNvPr id="16" name="TextBox 15">
            <a:extLst>
              <a:ext uri="{FF2B5EF4-FFF2-40B4-BE49-F238E27FC236}">
                <a16:creationId xmlns:a16="http://schemas.microsoft.com/office/drawing/2014/main" id="{0FB00845-65A4-002C-4B52-09541AF6C3DB}"/>
              </a:ext>
            </a:extLst>
          </p:cNvPr>
          <p:cNvSpPr txBox="1"/>
          <p:nvPr/>
        </p:nvSpPr>
        <p:spPr>
          <a:xfrm>
            <a:off x="6066691" y="1559169"/>
            <a:ext cx="2051538" cy="461665"/>
          </a:xfrm>
          <a:prstGeom prst="rect">
            <a:avLst/>
          </a:prstGeom>
          <a:noFill/>
        </p:spPr>
        <p:txBody>
          <a:bodyPr wrap="square" rtlCol="0">
            <a:spAutoFit/>
          </a:bodyPr>
          <a:lstStyle/>
          <a:p>
            <a:pPr algn="ctr"/>
            <a:r>
              <a:rPr lang="en-GB" sz="2400" b="1" dirty="0"/>
              <a:t>Technology</a:t>
            </a:r>
          </a:p>
        </p:txBody>
      </p:sp>
      <p:sp>
        <p:nvSpPr>
          <p:cNvPr id="17" name="TextBox 16">
            <a:extLst>
              <a:ext uri="{FF2B5EF4-FFF2-40B4-BE49-F238E27FC236}">
                <a16:creationId xmlns:a16="http://schemas.microsoft.com/office/drawing/2014/main" id="{75030C7F-D182-B7B6-0BCC-633174E9E30B}"/>
              </a:ext>
            </a:extLst>
          </p:cNvPr>
          <p:cNvSpPr txBox="1"/>
          <p:nvPr/>
        </p:nvSpPr>
        <p:spPr>
          <a:xfrm>
            <a:off x="5040922" y="4444238"/>
            <a:ext cx="2051538" cy="461665"/>
          </a:xfrm>
          <a:prstGeom prst="rect">
            <a:avLst/>
          </a:prstGeom>
          <a:noFill/>
        </p:spPr>
        <p:txBody>
          <a:bodyPr wrap="square" rtlCol="0">
            <a:spAutoFit/>
          </a:bodyPr>
          <a:lstStyle/>
          <a:p>
            <a:pPr algn="ctr"/>
            <a:r>
              <a:rPr lang="en-GB" sz="2400" b="1" dirty="0"/>
              <a:t>Management</a:t>
            </a:r>
          </a:p>
        </p:txBody>
      </p:sp>
      <p:sp>
        <p:nvSpPr>
          <p:cNvPr id="18" name="TextBox 17">
            <a:extLst>
              <a:ext uri="{FF2B5EF4-FFF2-40B4-BE49-F238E27FC236}">
                <a16:creationId xmlns:a16="http://schemas.microsoft.com/office/drawing/2014/main" id="{5887296D-63A4-44AD-3D62-01E8558C82B8}"/>
              </a:ext>
            </a:extLst>
          </p:cNvPr>
          <p:cNvSpPr txBox="1"/>
          <p:nvPr/>
        </p:nvSpPr>
        <p:spPr>
          <a:xfrm>
            <a:off x="5070230" y="2740966"/>
            <a:ext cx="2051538" cy="830997"/>
          </a:xfrm>
          <a:prstGeom prst="rect">
            <a:avLst/>
          </a:prstGeom>
          <a:noFill/>
        </p:spPr>
        <p:txBody>
          <a:bodyPr wrap="square" rtlCol="0">
            <a:spAutoFit/>
          </a:bodyPr>
          <a:lstStyle/>
          <a:p>
            <a:pPr algn="ctr"/>
            <a:r>
              <a:rPr lang="en-GB" sz="2400" b="1" dirty="0"/>
              <a:t>Information Systems</a:t>
            </a:r>
          </a:p>
        </p:txBody>
      </p:sp>
      <p:sp>
        <p:nvSpPr>
          <p:cNvPr id="19" name="TextBox 18">
            <a:extLst>
              <a:ext uri="{FF2B5EF4-FFF2-40B4-BE49-F238E27FC236}">
                <a16:creationId xmlns:a16="http://schemas.microsoft.com/office/drawing/2014/main" id="{EAA6FF44-8899-5F9E-A8B9-E37C4F7D9E61}"/>
              </a:ext>
            </a:extLst>
          </p:cNvPr>
          <p:cNvSpPr txBox="1"/>
          <p:nvPr/>
        </p:nvSpPr>
        <p:spPr>
          <a:xfrm>
            <a:off x="2710961" y="5775774"/>
            <a:ext cx="6770076" cy="400110"/>
          </a:xfrm>
          <a:prstGeom prst="rect">
            <a:avLst/>
          </a:prstGeom>
          <a:noFill/>
        </p:spPr>
        <p:txBody>
          <a:bodyPr wrap="square" rtlCol="0">
            <a:spAutoFit/>
          </a:bodyPr>
          <a:lstStyle/>
          <a:p>
            <a:pPr algn="ctr"/>
            <a:r>
              <a:rPr lang="en-US" sz="2000" b="1" dirty="0">
                <a:solidFill>
                  <a:srgbClr val="000000"/>
                </a:solidFill>
                <a:latin typeface="Segoe UI" panose="020B0502040204020203" pitchFamily="34" charset="0"/>
                <a:ea typeface="Calibri" panose="020F0502020204030204" pitchFamily="34" charset="0"/>
              </a:rPr>
              <a:t>Figure 1.4 –Dimensions of Information Systems</a:t>
            </a:r>
            <a:endParaRPr lang="en-GB" sz="2000" b="1" dirty="0">
              <a:solidFill>
                <a:srgbClr val="000000"/>
              </a:solidFill>
              <a:latin typeface="Segoe UI" panose="020B0502040204020203" pitchFamily="34" charset="0"/>
              <a:ea typeface="Calibri" panose="020F0502020204030204" pitchFamily="34" charset="0"/>
            </a:endParaRPr>
          </a:p>
        </p:txBody>
      </p:sp>
      <p:sp>
        <p:nvSpPr>
          <p:cNvPr id="20" name="Slide Number Placeholder 19">
            <a:extLst>
              <a:ext uri="{FF2B5EF4-FFF2-40B4-BE49-F238E27FC236}">
                <a16:creationId xmlns:a16="http://schemas.microsoft.com/office/drawing/2014/main" id="{AFDBEC4E-B054-6224-9EA5-BAF33D72F2EC}"/>
              </a:ext>
            </a:extLst>
          </p:cNvPr>
          <p:cNvSpPr>
            <a:spLocks noGrp="1"/>
          </p:cNvSpPr>
          <p:nvPr>
            <p:ph type="sldNum" sz="quarter" idx="12"/>
          </p:nvPr>
        </p:nvSpPr>
        <p:spPr/>
        <p:txBody>
          <a:bodyPr/>
          <a:lstStyle/>
          <a:p>
            <a:fld id="{F7F6A55E-33C2-478F-BF95-3903EF7A103F}" type="slidenum">
              <a:rPr lang="en-US" smtClean="0"/>
              <a:t>45</a:t>
            </a:fld>
            <a:endParaRPr lang="en-US"/>
          </a:p>
        </p:txBody>
      </p:sp>
    </p:spTree>
    <p:extLst>
      <p:ext uri="{BB962C8B-B14F-4D97-AF65-F5344CB8AC3E}">
        <p14:creationId xmlns:p14="http://schemas.microsoft.com/office/powerpoint/2010/main" val="32084598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1D271-20A3-D6CC-7A68-D963C6DD15FF}"/>
              </a:ext>
            </a:extLst>
          </p:cNvPr>
          <p:cNvSpPr>
            <a:spLocks noGrp="1"/>
          </p:cNvSpPr>
          <p:nvPr>
            <p:ph type="title"/>
          </p:nvPr>
        </p:nvSpPr>
        <p:spPr>
          <a:xfrm>
            <a:off x="838200" y="230553"/>
            <a:ext cx="10515600" cy="900967"/>
          </a:xfrm>
        </p:spPr>
        <p:txBody>
          <a:bodyPr/>
          <a:lstStyle/>
          <a:p>
            <a:r>
              <a:rPr lang="en-US" b="1" dirty="0"/>
              <a:t>Organizations</a:t>
            </a:r>
            <a:endParaRPr lang="en-GB" dirty="0"/>
          </a:p>
        </p:txBody>
      </p:sp>
      <p:sp>
        <p:nvSpPr>
          <p:cNvPr id="3" name="Content Placeholder 2">
            <a:extLst>
              <a:ext uri="{FF2B5EF4-FFF2-40B4-BE49-F238E27FC236}">
                <a16:creationId xmlns:a16="http://schemas.microsoft.com/office/drawing/2014/main" id="{A556B491-3119-B709-99B1-FC32F41E6EDD}"/>
              </a:ext>
            </a:extLst>
          </p:cNvPr>
          <p:cNvSpPr>
            <a:spLocks noGrp="1"/>
          </p:cNvSpPr>
          <p:nvPr>
            <p:ph idx="1"/>
          </p:nvPr>
        </p:nvSpPr>
        <p:spPr>
          <a:xfrm>
            <a:off x="838200" y="1312984"/>
            <a:ext cx="10515600" cy="5043365"/>
          </a:xfrm>
        </p:spPr>
        <p:txBody>
          <a:bodyPr>
            <a:normAutofit/>
          </a:bodyPr>
          <a:lstStyle/>
          <a:p>
            <a:r>
              <a:rPr lang="en-US" dirty="0"/>
              <a:t>Organization is a social unit, which systematically arranges the people to accomplish collective goals. </a:t>
            </a:r>
          </a:p>
          <a:p>
            <a:r>
              <a:rPr lang="en-US" dirty="0"/>
              <a:t>Every organization is composed of three elements i.e., people, goals, and the system. </a:t>
            </a:r>
          </a:p>
          <a:p>
            <a:r>
              <a:rPr lang="en-US" dirty="0"/>
              <a:t>Each organization has distinct objectives. </a:t>
            </a:r>
          </a:p>
          <a:p>
            <a:r>
              <a:rPr lang="en-US" dirty="0"/>
              <a:t>Every organization develops a systematic structure that defines the limit of each member. </a:t>
            </a:r>
          </a:p>
          <a:p>
            <a:r>
              <a:rPr lang="en-US" dirty="0"/>
              <a:t>Some members are managers, and some are operatives. </a:t>
            </a:r>
          </a:p>
          <a:p>
            <a:r>
              <a:rPr lang="en-US" dirty="0"/>
              <a:t>That management structure determines relationships between different activities and members, and it also helps to divide the roles, responsibilities, and authority to carry out different tasks.</a:t>
            </a:r>
            <a:endParaRPr lang="en-GB" dirty="0"/>
          </a:p>
        </p:txBody>
      </p:sp>
      <p:sp>
        <p:nvSpPr>
          <p:cNvPr id="4" name="Slide Number Placeholder 3">
            <a:extLst>
              <a:ext uri="{FF2B5EF4-FFF2-40B4-BE49-F238E27FC236}">
                <a16:creationId xmlns:a16="http://schemas.microsoft.com/office/drawing/2014/main" id="{88D79867-0839-2563-F571-6B6FB4A9CBA8}"/>
              </a:ext>
            </a:extLst>
          </p:cNvPr>
          <p:cNvSpPr>
            <a:spLocks noGrp="1"/>
          </p:cNvSpPr>
          <p:nvPr>
            <p:ph type="sldNum" sz="quarter" idx="12"/>
          </p:nvPr>
        </p:nvSpPr>
        <p:spPr/>
        <p:txBody>
          <a:bodyPr/>
          <a:lstStyle/>
          <a:p>
            <a:fld id="{F7F6A55E-33C2-478F-BF95-3903EF7A103F}" type="slidenum">
              <a:rPr lang="en-US" smtClean="0"/>
              <a:t>46</a:t>
            </a:fld>
            <a:endParaRPr lang="en-US"/>
          </a:p>
        </p:txBody>
      </p:sp>
    </p:spTree>
    <p:extLst>
      <p:ext uri="{BB962C8B-B14F-4D97-AF65-F5344CB8AC3E}">
        <p14:creationId xmlns:p14="http://schemas.microsoft.com/office/powerpoint/2010/main" val="37695338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D21F7083-66AC-B19D-2F41-3CF944BFDFE6}"/>
              </a:ext>
            </a:extLst>
          </p:cNvPr>
          <p:cNvGrpSpPr/>
          <p:nvPr/>
        </p:nvGrpSpPr>
        <p:grpSpPr>
          <a:xfrm>
            <a:off x="2942492" y="368058"/>
            <a:ext cx="6307016" cy="5465396"/>
            <a:chOff x="2942492" y="485288"/>
            <a:chExt cx="6307016" cy="5465396"/>
          </a:xfrm>
        </p:grpSpPr>
        <p:grpSp>
          <p:nvGrpSpPr>
            <p:cNvPr id="14" name="Group 13">
              <a:extLst>
                <a:ext uri="{FF2B5EF4-FFF2-40B4-BE49-F238E27FC236}">
                  <a16:creationId xmlns:a16="http://schemas.microsoft.com/office/drawing/2014/main" id="{602B84BD-E82F-51D0-0104-A3E6C9A1BF2B}"/>
                </a:ext>
              </a:extLst>
            </p:cNvPr>
            <p:cNvGrpSpPr/>
            <p:nvPr/>
          </p:nvGrpSpPr>
          <p:grpSpPr>
            <a:xfrm>
              <a:off x="2942492" y="485288"/>
              <a:ext cx="6307016" cy="5465396"/>
              <a:chOff x="2942492" y="485288"/>
              <a:chExt cx="6307016" cy="5465396"/>
            </a:xfrm>
          </p:grpSpPr>
          <p:grpSp>
            <p:nvGrpSpPr>
              <p:cNvPr id="7" name="Group 6">
                <a:extLst>
                  <a:ext uri="{FF2B5EF4-FFF2-40B4-BE49-F238E27FC236}">
                    <a16:creationId xmlns:a16="http://schemas.microsoft.com/office/drawing/2014/main" id="{8E9DA117-5337-2A0B-A22D-05BD4CC28563}"/>
                  </a:ext>
                </a:extLst>
              </p:cNvPr>
              <p:cNvGrpSpPr/>
              <p:nvPr/>
            </p:nvGrpSpPr>
            <p:grpSpPr>
              <a:xfrm>
                <a:off x="2942492" y="485288"/>
                <a:ext cx="6307016" cy="5465396"/>
                <a:chOff x="3994638" y="827332"/>
                <a:chExt cx="6307016" cy="5465396"/>
              </a:xfrm>
            </p:grpSpPr>
            <p:sp>
              <p:nvSpPr>
                <p:cNvPr id="5" name="Isosceles Triangle 4">
                  <a:extLst>
                    <a:ext uri="{FF2B5EF4-FFF2-40B4-BE49-F238E27FC236}">
                      <a16:creationId xmlns:a16="http://schemas.microsoft.com/office/drawing/2014/main" id="{BA344506-EA7E-95D0-221B-28D7B8E401F1}"/>
                    </a:ext>
                  </a:extLst>
                </p:cNvPr>
                <p:cNvSpPr/>
                <p:nvPr/>
              </p:nvSpPr>
              <p:spPr>
                <a:xfrm>
                  <a:off x="3994638" y="827332"/>
                  <a:ext cx="6307016" cy="5465396"/>
                </a:xfrm>
                <a:prstGeom prst="triangl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6" name="Isosceles Triangle 5">
                  <a:extLst>
                    <a:ext uri="{FF2B5EF4-FFF2-40B4-BE49-F238E27FC236}">
                      <a16:creationId xmlns:a16="http://schemas.microsoft.com/office/drawing/2014/main" id="{DD6B5ABB-5046-CD34-A88C-8CEAFA3BB557}"/>
                    </a:ext>
                  </a:extLst>
                </p:cNvPr>
                <p:cNvSpPr/>
                <p:nvPr/>
              </p:nvSpPr>
              <p:spPr>
                <a:xfrm>
                  <a:off x="4171916" y="980954"/>
                  <a:ext cx="5952460" cy="5220554"/>
                </a:xfrm>
                <a:prstGeom prst="triangle">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cxnSp>
            <p:nvCxnSpPr>
              <p:cNvPr id="9" name="Straight Connector 8">
                <a:extLst>
                  <a:ext uri="{FF2B5EF4-FFF2-40B4-BE49-F238E27FC236}">
                    <a16:creationId xmlns:a16="http://schemas.microsoft.com/office/drawing/2014/main" id="{35AB61FF-2F19-73BC-174E-E4AB56E2B94A}"/>
                  </a:ext>
                </a:extLst>
              </p:cNvPr>
              <p:cNvCxnSpPr/>
              <p:nvPr/>
            </p:nvCxnSpPr>
            <p:spPr>
              <a:xfrm>
                <a:off x="5040923" y="2497015"/>
                <a:ext cx="2098431"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856CC27A-3E60-A5B0-9FEF-8BBEE5C7868E}"/>
                  </a:ext>
                </a:extLst>
              </p:cNvPr>
              <p:cNvCxnSpPr>
                <a:cxnSpLocks/>
              </p:cNvCxnSpPr>
              <p:nvPr/>
            </p:nvCxnSpPr>
            <p:spPr>
              <a:xfrm>
                <a:off x="4056185" y="4243753"/>
                <a:ext cx="4067907" cy="0"/>
              </a:xfrm>
              <a:prstGeom prst="line">
                <a:avLst/>
              </a:prstGeom>
            </p:spPr>
            <p:style>
              <a:lnRef idx="1">
                <a:schemeClr val="dk1"/>
              </a:lnRef>
              <a:fillRef idx="0">
                <a:schemeClr val="dk1"/>
              </a:fillRef>
              <a:effectRef idx="0">
                <a:schemeClr val="dk1"/>
              </a:effectRef>
              <a:fontRef idx="minor">
                <a:schemeClr val="tx1"/>
              </a:fontRef>
            </p:style>
          </p:cxnSp>
        </p:grpSp>
        <p:sp>
          <p:nvSpPr>
            <p:cNvPr id="15" name="TextBox 14">
              <a:extLst>
                <a:ext uri="{FF2B5EF4-FFF2-40B4-BE49-F238E27FC236}">
                  <a16:creationId xmlns:a16="http://schemas.microsoft.com/office/drawing/2014/main" id="{45D57E2F-6991-B7CB-AFD4-D16D9B9A4D38}"/>
                </a:ext>
              </a:extLst>
            </p:cNvPr>
            <p:cNvSpPr txBox="1"/>
            <p:nvPr/>
          </p:nvSpPr>
          <p:spPr>
            <a:xfrm>
              <a:off x="5246076" y="1548450"/>
              <a:ext cx="1688123" cy="646331"/>
            </a:xfrm>
            <a:prstGeom prst="rect">
              <a:avLst/>
            </a:prstGeom>
            <a:noFill/>
          </p:spPr>
          <p:txBody>
            <a:bodyPr wrap="square" rtlCol="0">
              <a:spAutoFit/>
            </a:bodyPr>
            <a:lstStyle/>
            <a:p>
              <a:pPr algn="ctr"/>
              <a:r>
                <a:rPr lang="en-GB" b="1" dirty="0"/>
                <a:t>Senior Management</a:t>
              </a:r>
            </a:p>
          </p:txBody>
        </p:sp>
        <p:sp>
          <p:nvSpPr>
            <p:cNvPr id="16" name="TextBox 15">
              <a:extLst>
                <a:ext uri="{FF2B5EF4-FFF2-40B4-BE49-F238E27FC236}">
                  <a16:creationId xmlns:a16="http://schemas.microsoft.com/office/drawing/2014/main" id="{9CFD6BB2-D0EB-5C93-ACD0-7E9DD206AE6B}"/>
                </a:ext>
              </a:extLst>
            </p:cNvPr>
            <p:cNvSpPr txBox="1"/>
            <p:nvPr/>
          </p:nvSpPr>
          <p:spPr>
            <a:xfrm>
              <a:off x="4413737" y="3319868"/>
              <a:ext cx="3352799" cy="646331"/>
            </a:xfrm>
            <a:prstGeom prst="rect">
              <a:avLst/>
            </a:prstGeom>
            <a:noFill/>
          </p:spPr>
          <p:txBody>
            <a:bodyPr wrap="square" rtlCol="0">
              <a:spAutoFit/>
            </a:bodyPr>
            <a:lstStyle/>
            <a:p>
              <a:pPr algn="ctr"/>
              <a:r>
                <a:rPr lang="en-GB" b="1" dirty="0"/>
                <a:t>Middle Management</a:t>
              </a:r>
            </a:p>
            <a:p>
              <a:pPr algn="ctr"/>
              <a:r>
                <a:rPr lang="en-GB" dirty="0"/>
                <a:t>Scientists and Knowledge workers</a:t>
              </a:r>
            </a:p>
          </p:txBody>
        </p:sp>
        <p:sp>
          <p:nvSpPr>
            <p:cNvPr id="17" name="TextBox 16">
              <a:extLst>
                <a:ext uri="{FF2B5EF4-FFF2-40B4-BE49-F238E27FC236}">
                  <a16:creationId xmlns:a16="http://schemas.microsoft.com/office/drawing/2014/main" id="{16AFA9CB-F2CC-0CF3-7156-BB2D42D80F0F}"/>
                </a:ext>
              </a:extLst>
            </p:cNvPr>
            <p:cNvSpPr txBox="1"/>
            <p:nvPr/>
          </p:nvSpPr>
          <p:spPr>
            <a:xfrm>
              <a:off x="4419598" y="4716806"/>
              <a:ext cx="3352799" cy="923330"/>
            </a:xfrm>
            <a:prstGeom prst="rect">
              <a:avLst/>
            </a:prstGeom>
            <a:noFill/>
          </p:spPr>
          <p:txBody>
            <a:bodyPr wrap="square" rtlCol="0">
              <a:spAutoFit/>
            </a:bodyPr>
            <a:lstStyle/>
            <a:p>
              <a:pPr algn="ctr"/>
              <a:r>
                <a:rPr lang="en-GB" b="1" dirty="0"/>
                <a:t>Operational Management</a:t>
              </a:r>
            </a:p>
            <a:p>
              <a:pPr algn="ctr"/>
              <a:r>
                <a:rPr lang="en-GB" dirty="0"/>
                <a:t>Production and Service workers</a:t>
              </a:r>
            </a:p>
            <a:p>
              <a:pPr algn="ctr"/>
              <a:r>
                <a:rPr lang="en-GB" dirty="0"/>
                <a:t>Data workers</a:t>
              </a:r>
            </a:p>
          </p:txBody>
        </p:sp>
      </p:grpSp>
      <p:sp>
        <p:nvSpPr>
          <p:cNvPr id="20" name="TextBox 19">
            <a:extLst>
              <a:ext uri="{FF2B5EF4-FFF2-40B4-BE49-F238E27FC236}">
                <a16:creationId xmlns:a16="http://schemas.microsoft.com/office/drawing/2014/main" id="{B66949B7-6F33-1885-2A67-0EF36296C445}"/>
              </a:ext>
            </a:extLst>
          </p:cNvPr>
          <p:cNvSpPr txBox="1"/>
          <p:nvPr/>
        </p:nvSpPr>
        <p:spPr>
          <a:xfrm>
            <a:off x="2705098" y="6044468"/>
            <a:ext cx="6770076" cy="400110"/>
          </a:xfrm>
          <a:prstGeom prst="rect">
            <a:avLst/>
          </a:prstGeom>
          <a:noFill/>
        </p:spPr>
        <p:txBody>
          <a:bodyPr wrap="square" rtlCol="0">
            <a:spAutoFit/>
          </a:bodyPr>
          <a:lstStyle/>
          <a:p>
            <a:pPr algn="ctr"/>
            <a:r>
              <a:rPr lang="en-US" sz="2000" b="1" dirty="0">
                <a:solidFill>
                  <a:srgbClr val="000000"/>
                </a:solidFill>
                <a:latin typeface="Segoe UI" panose="020B0502040204020203" pitchFamily="34" charset="0"/>
                <a:ea typeface="Calibri" panose="020F0502020204030204" pitchFamily="34" charset="0"/>
              </a:rPr>
              <a:t>Figure 1.5 –Business Organizations Hierarchies</a:t>
            </a:r>
            <a:endParaRPr lang="en-GB" sz="2000" b="1" dirty="0">
              <a:solidFill>
                <a:srgbClr val="000000"/>
              </a:solidFill>
              <a:latin typeface="Segoe UI" panose="020B0502040204020203" pitchFamily="34" charset="0"/>
              <a:ea typeface="Calibri" panose="020F0502020204030204" pitchFamily="34" charset="0"/>
            </a:endParaRPr>
          </a:p>
        </p:txBody>
      </p:sp>
    </p:spTree>
    <p:extLst>
      <p:ext uri="{BB962C8B-B14F-4D97-AF65-F5344CB8AC3E}">
        <p14:creationId xmlns:p14="http://schemas.microsoft.com/office/powerpoint/2010/main" val="2603956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85491-26FB-1063-D4A3-1E004EC4F52B}"/>
              </a:ext>
            </a:extLst>
          </p:cNvPr>
          <p:cNvSpPr>
            <a:spLocks noGrp="1"/>
          </p:cNvSpPr>
          <p:nvPr>
            <p:ph idx="1"/>
          </p:nvPr>
        </p:nvSpPr>
        <p:spPr>
          <a:xfrm>
            <a:off x="838200" y="550985"/>
            <a:ext cx="10515600" cy="5625978"/>
          </a:xfrm>
        </p:spPr>
        <p:txBody>
          <a:bodyPr>
            <a:normAutofit fontScale="92500" lnSpcReduction="10000"/>
          </a:bodyPr>
          <a:lstStyle/>
          <a:p>
            <a:r>
              <a:rPr lang="en-US" dirty="0"/>
              <a:t>Organizations have a structure which consists of different levels. </a:t>
            </a:r>
          </a:p>
          <a:p>
            <a:r>
              <a:rPr lang="en-US" dirty="0"/>
              <a:t>The structural decomposition of organization clearly determines the division of labor. </a:t>
            </a:r>
          </a:p>
          <a:p>
            <a:r>
              <a:rPr lang="en-US" dirty="0"/>
              <a:t>Authorities and responsibilities in a business firm are organized in a pyramid structure i.e., the management structure is hierarchical and elaborates strategic objectives in a top-down way until task, which defines the work needed to realize the objectives, are identified for the operational level. </a:t>
            </a:r>
          </a:p>
          <a:p>
            <a:r>
              <a:rPr lang="en-US" dirty="0"/>
              <a:t>Thus, people at each management level determine the task needed to be</a:t>
            </a:r>
            <a:br>
              <a:rPr lang="en-US" dirty="0"/>
            </a:br>
            <a:r>
              <a:rPr lang="en-US" dirty="0"/>
              <a:t>carried out in the next level and delegate these tasks to the lower levels. </a:t>
            </a:r>
          </a:p>
          <a:p>
            <a:r>
              <a:rPr lang="en-US" dirty="0"/>
              <a:t>The people at the strategic or top management level decide on broad objectives for an organization. </a:t>
            </a:r>
          </a:p>
          <a:p>
            <a:r>
              <a:rPr lang="en-US" dirty="0"/>
              <a:t>The middle management level must acquire and arrange the resources to meet the goals and define the detailed tasks to be carried out at the operational level. </a:t>
            </a:r>
          </a:p>
        </p:txBody>
      </p:sp>
      <p:sp>
        <p:nvSpPr>
          <p:cNvPr id="4" name="Slide Number Placeholder 3">
            <a:extLst>
              <a:ext uri="{FF2B5EF4-FFF2-40B4-BE49-F238E27FC236}">
                <a16:creationId xmlns:a16="http://schemas.microsoft.com/office/drawing/2014/main" id="{B5DC86E4-79C6-CDC0-8EA2-AA5B6A3428FE}"/>
              </a:ext>
            </a:extLst>
          </p:cNvPr>
          <p:cNvSpPr>
            <a:spLocks noGrp="1"/>
          </p:cNvSpPr>
          <p:nvPr>
            <p:ph type="sldNum" sz="quarter" idx="12"/>
          </p:nvPr>
        </p:nvSpPr>
        <p:spPr/>
        <p:txBody>
          <a:bodyPr/>
          <a:lstStyle/>
          <a:p>
            <a:fld id="{F7F6A55E-33C2-478F-BF95-3903EF7A103F}" type="slidenum">
              <a:rPr lang="en-US" smtClean="0"/>
              <a:t>48</a:t>
            </a:fld>
            <a:endParaRPr lang="en-US"/>
          </a:p>
        </p:txBody>
      </p:sp>
    </p:spTree>
    <p:extLst>
      <p:ext uri="{BB962C8B-B14F-4D97-AF65-F5344CB8AC3E}">
        <p14:creationId xmlns:p14="http://schemas.microsoft.com/office/powerpoint/2010/main" val="28539604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694F8-969D-9DD3-F92E-60F60E5BE4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FEC71E-EEBB-27BD-1322-2F0A26FC46B0}"/>
              </a:ext>
            </a:extLst>
          </p:cNvPr>
          <p:cNvSpPr>
            <a:spLocks noGrp="1"/>
          </p:cNvSpPr>
          <p:nvPr>
            <p:ph idx="1"/>
          </p:nvPr>
        </p:nvSpPr>
        <p:spPr>
          <a:xfrm>
            <a:off x="838200" y="550985"/>
            <a:ext cx="10515600" cy="5625978"/>
          </a:xfrm>
        </p:spPr>
        <p:txBody>
          <a:bodyPr>
            <a:normAutofit/>
          </a:bodyPr>
          <a:lstStyle/>
          <a:p>
            <a:r>
              <a:rPr lang="en-US" dirty="0"/>
              <a:t>These resources are the people, machines, building, and computers needed to accomplish the goals. </a:t>
            </a:r>
            <a:endParaRPr lang="en-GB" dirty="0"/>
          </a:p>
          <a:p>
            <a:r>
              <a:rPr lang="en-US" dirty="0"/>
              <a:t>Knowledge workers, such as engineers, scientists or architects are positioned at this level, and they design products or services and create new knowledge for the form. </a:t>
            </a:r>
          </a:p>
          <a:p>
            <a:r>
              <a:rPr lang="en-US" dirty="0"/>
              <a:t>Likewise, the people at the operational level carry out the detailed tasks. </a:t>
            </a:r>
          </a:p>
          <a:p>
            <a:r>
              <a:rPr lang="en-US" dirty="0"/>
              <a:t>Data workers, such as secretaries or clerks, work at the operational level and they assist with scheduling and communications at all levels of the firm. </a:t>
            </a:r>
          </a:p>
          <a:p>
            <a:r>
              <a:rPr lang="en-US" dirty="0"/>
              <a:t>Similarly, production or service workers are also employed in the</a:t>
            </a:r>
            <a:br>
              <a:rPr lang="en-US" dirty="0"/>
            </a:br>
            <a:r>
              <a:rPr lang="en-US" dirty="0"/>
              <a:t>same hierarchy and their responsibility is to produce the product and deliver the service.</a:t>
            </a:r>
            <a:endParaRPr lang="en-GB" dirty="0"/>
          </a:p>
        </p:txBody>
      </p:sp>
      <p:sp>
        <p:nvSpPr>
          <p:cNvPr id="4" name="Slide Number Placeholder 3">
            <a:extLst>
              <a:ext uri="{FF2B5EF4-FFF2-40B4-BE49-F238E27FC236}">
                <a16:creationId xmlns:a16="http://schemas.microsoft.com/office/drawing/2014/main" id="{FB7AAB3A-F8E3-D10A-9DB1-3D7C5A3D6CC4}"/>
              </a:ext>
            </a:extLst>
          </p:cNvPr>
          <p:cNvSpPr>
            <a:spLocks noGrp="1"/>
          </p:cNvSpPr>
          <p:nvPr>
            <p:ph type="sldNum" sz="quarter" idx="12"/>
          </p:nvPr>
        </p:nvSpPr>
        <p:spPr/>
        <p:txBody>
          <a:bodyPr/>
          <a:lstStyle/>
          <a:p>
            <a:fld id="{F7F6A55E-33C2-478F-BF95-3903EF7A103F}" type="slidenum">
              <a:rPr lang="en-US" smtClean="0"/>
              <a:t>49</a:t>
            </a:fld>
            <a:endParaRPr lang="en-US"/>
          </a:p>
        </p:txBody>
      </p:sp>
    </p:spTree>
    <p:extLst>
      <p:ext uri="{BB962C8B-B14F-4D97-AF65-F5344CB8AC3E}">
        <p14:creationId xmlns:p14="http://schemas.microsoft.com/office/powerpoint/2010/main" val="33275226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B2ED9-6DFC-BEA2-308B-E22B81244E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18E118-0787-E3ED-1FB1-333CC91DF20B}"/>
              </a:ext>
            </a:extLst>
          </p:cNvPr>
          <p:cNvSpPr>
            <a:spLocks noGrp="1"/>
          </p:cNvSpPr>
          <p:nvPr>
            <p:ph idx="1"/>
          </p:nvPr>
        </p:nvSpPr>
        <p:spPr>
          <a:xfrm>
            <a:off x="838200" y="550985"/>
            <a:ext cx="10515600" cy="5625978"/>
          </a:xfrm>
        </p:spPr>
        <p:txBody>
          <a:bodyPr>
            <a:normAutofit/>
          </a:bodyPr>
          <a:lstStyle/>
          <a:p>
            <a:r>
              <a:rPr lang="en-US" dirty="0"/>
              <a:t>As an example, consider an organization that may be producing a class of product – say perfumes. </a:t>
            </a:r>
          </a:p>
          <a:p>
            <a:r>
              <a:rPr lang="en-US" dirty="0"/>
              <a:t>People at the strategic level may decide on the kind of product, the marketing strategy, including the target consumer group, and the funds to be invested. </a:t>
            </a:r>
          </a:p>
          <a:p>
            <a:r>
              <a:rPr lang="en-US" dirty="0"/>
              <a:t>Management level personnel must then arrange resources to implement this strategy. </a:t>
            </a:r>
          </a:p>
          <a:p>
            <a:r>
              <a:rPr lang="en-US" dirty="0"/>
              <a:t>This may include hiring staff, making promotion arrangements, and even arranging production, if necessary.</a:t>
            </a:r>
          </a:p>
          <a:p>
            <a:r>
              <a:rPr lang="en-US" dirty="0"/>
              <a:t>The operations level people then carry out the operational tasks such as preparing brochures, distributing perfume bottles, or sending out invoices.</a:t>
            </a:r>
            <a:endParaRPr lang="en-GB" dirty="0"/>
          </a:p>
        </p:txBody>
      </p:sp>
      <p:sp>
        <p:nvSpPr>
          <p:cNvPr id="4" name="Slide Number Placeholder 3">
            <a:extLst>
              <a:ext uri="{FF2B5EF4-FFF2-40B4-BE49-F238E27FC236}">
                <a16:creationId xmlns:a16="http://schemas.microsoft.com/office/drawing/2014/main" id="{1227575A-76B6-18DC-3D21-E77337C1BFC6}"/>
              </a:ext>
            </a:extLst>
          </p:cNvPr>
          <p:cNvSpPr>
            <a:spLocks noGrp="1"/>
          </p:cNvSpPr>
          <p:nvPr>
            <p:ph type="sldNum" sz="quarter" idx="12"/>
          </p:nvPr>
        </p:nvSpPr>
        <p:spPr/>
        <p:txBody>
          <a:bodyPr/>
          <a:lstStyle/>
          <a:p>
            <a:fld id="{F7F6A55E-33C2-478F-BF95-3903EF7A103F}" type="slidenum">
              <a:rPr lang="en-US" smtClean="0"/>
              <a:t>50</a:t>
            </a:fld>
            <a:endParaRPr lang="en-US"/>
          </a:p>
        </p:txBody>
      </p:sp>
    </p:spTree>
    <p:extLst>
      <p:ext uri="{BB962C8B-B14F-4D97-AF65-F5344CB8AC3E}">
        <p14:creationId xmlns:p14="http://schemas.microsoft.com/office/powerpoint/2010/main" val="19053340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2A683-9A36-E3E4-CD03-984C456EE8FA}"/>
              </a:ext>
            </a:extLst>
          </p:cNvPr>
          <p:cNvSpPr>
            <a:spLocks noGrp="1"/>
          </p:cNvSpPr>
          <p:nvPr>
            <p:ph type="title"/>
          </p:nvPr>
        </p:nvSpPr>
        <p:spPr>
          <a:xfrm>
            <a:off x="838200" y="212727"/>
            <a:ext cx="10515600" cy="760290"/>
          </a:xfrm>
        </p:spPr>
        <p:txBody>
          <a:bodyPr/>
          <a:lstStyle/>
          <a:p>
            <a:r>
              <a:rPr lang="en-US" b="1" dirty="0"/>
              <a:t>Management</a:t>
            </a:r>
            <a:endParaRPr lang="en-GB" dirty="0"/>
          </a:p>
        </p:txBody>
      </p:sp>
      <p:sp>
        <p:nvSpPr>
          <p:cNvPr id="3" name="Content Placeholder 2">
            <a:extLst>
              <a:ext uri="{FF2B5EF4-FFF2-40B4-BE49-F238E27FC236}">
                <a16:creationId xmlns:a16="http://schemas.microsoft.com/office/drawing/2014/main" id="{51B85733-E7F2-10E5-92C4-27F4BB578A24}"/>
              </a:ext>
            </a:extLst>
          </p:cNvPr>
          <p:cNvSpPr>
            <a:spLocks noGrp="1"/>
          </p:cNvSpPr>
          <p:nvPr>
            <p:ph idx="1"/>
          </p:nvPr>
        </p:nvSpPr>
        <p:spPr>
          <a:xfrm>
            <a:off x="392724" y="1125414"/>
            <a:ext cx="11406553" cy="5322277"/>
          </a:xfrm>
        </p:spPr>
        <p:txBody>
          <a:bodyPr>
            <a:normAutofit lnSpcReduction="10000"/>
          </a:bodyPr>
          <a:lstStyle/>
          <a:p>
            <a:r>
              <a:rPr lang="en-US" dirty="0"/>
              <a:t>The job of management is to organize and coordinate the activities of a business to achieve defined objectives. </a:t>
            </a:r>
          </a:p>
          <a:p>
            <a:r>
              <a:rPr lang="en-US" dirty="0"/>
              <a:t>Management is often included as a factor of production along with machines, materials, and money. </a:t>
            </a:r>
          </a:p>
          <a:p>
            <a:r>
              <a:rPr lang="en-US" dirty="0"/>
              <a:t>The basic task of management includes both marketing and innovation.</a:t>
            </a:r>
          </a:p>
          <a:p>
            <a:r>
              <a:rPr lang="en-US" dirty="0"/>
              <a:t>Management consists of the interconnecting functions of creating corporate policy and organizing, planning, controlling, and influencing an organization’s resources to achieve the objectives. </a:t>
            </a:r>
          </a:p>
          <a:p>
            <a:r>
              <a:rPr lang="en-US" dirty="0"/>
              <a:t>The size of management can range from one person in a small organization to hundreds or thousands of managers in multinational companies. </a:t>
            </a:r>
          </a:p>
          <a:p>
            <a:r>
              <a:rPr lang="en-US" dirty="0"/>
              <a:t>In large organizations, the board of directors defines the policy, which is then carried out by the chief executive officer, or CEO.</a:t>
            </a:r>
            <a:endParaRPr lang="en-GB" dirty="0"/>
          </a:p>
          <a:p>
            <a:endParaRPr lang="en-GB" dirty="0"/>
          </a:p>
        </p:txBody>
      </p:sp>
      <p:sp>
        <p:nvSpPr>
          <p:cNvPr id="4" name="Slide Number Placeholder 3">
            <a:extLst>
              <a:ext uri="{FF2B5EF4-FFF2-40B4-BE49-F238E27FC236}">
                <a16:creationId xmlns:a16="http://schemas.microsoft.com/office/drawing/2014/main" id="{C675CFFF-39B1-5F93-A327-151BFA70202C}"/>
              </a:ext>
            </a:extLst>
          </p:cNvPr>
          <p:cNvSpPr>
            <a:spLocks noGrp="1"/>
          </p:cNvSpPr>
          <p:nvPr>
            <p:ph type="sldNum" sz="quarter" idx="12"/>
          </p:nvPr>
        </p:nvSpPr>
        <p:spPr/>
        <p:txBody>
          <a:bodyPr/>
          <a:lstStyle/>
          <a:p>
            <a:fld id="{F7F6A55E-33C2-478F-BF95-3903EF7A103F}" type="slidenum">
              <a:rPr lang="en-US" smtClean="0"/>
              <a:t>51</a:t>
            </a:fld>
            <a:endParaRPr lang="en-US"/>
          </a:p>
        </p:txBody>
      </p:sp>
    </p:spTree>
    <p:extLst>
      <p:ext uri="{BB962C8B-B14F-4D97-AF65-F5344CB8AC3E}">
        <p14:creationId xmlns:p14="http://schemas.microsoft.com/office/powerpoint/2010/main" val="2082825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59E3A-495B-5D0C-7D0E-6383298994BB}"/>
              </a:ext>
            </a:extLst>
          </p:cNvPr>
          <p:cNvSpPr>
            <a:spLocks noGrp="1"/>
          </p:cNvSpPr>
          <p:nvPr>
            <p:ph type="title"/>
          </p:nvPr>
        </p:nvSpPr>
        <p:spPr/>
        <p:txBody>
          <a:bodyPr>
            <a:normAutofit/>
          </a:bodyPr>
          <a:lstStyle/>
          <a:p>
            <a:r>
              <a:rPr lang="en-US" sz="4000" b="1" dirty="0"/>
              <a:t>Management has the following 3 characteristics:</a:t>
            </a:r>
            <a:endParaRPr lang="en-GB" sz="4000" dirty="0"/>
          </a:p>
        </p:txBody>
      </p:sp>
      <p:sp>
        <p:nvSpPr>
          <p:cNvPr id="3" name="Content Placeholder 2">
            <a:extLst>
              <a:ext uri="{FF2B5EF4-FFF2-40B4-BE49-F238E27FC236}">
                <a16:creationId xmlns:a16="http://schemas.microsoft.com/office/drawing/2014/main" id="{96E8D309-B4B5-70F5-5349-BE5D2F2DBE92}"/>
              </a:ext>
            </a:extLst>
          </p:cNvPr>
          <p:cNvSpPr>
            <a:spLocks noGrp="1"/>
          </p:cNvSpPr>
          <p:nvPr>
            <p:ph idx="1"/>
          </p:nvPr>
        </p:nvSpPr>
        <p:spPr/>
        <p:txBody>
          <a:bodyPr/>
          <a:lstStyle/>
          <a:p>
            <a:r>
              <a:rPr lang="en-US" dirty="0"/>
              <a:t>It is a process or series of continuing and related activities.</a:t>
            </a:r>
          </a:p>
          <a:p>
            <a:r>
              <a:rPr lang="en-US" dirty="0"/>
              <a:t>It involves and concentrates on reaching organizational goals.</a:t>
            </a:r>
          </a:p>
          <a:p>
            <a:r>
              <a:rPr lang="en-US" dirty="0"/>
              <a:t>It reaches these goals by working with and through people and other organizational resources.</a:t>
            </a:r>
            <a:endParaRPr lang="en-GB" dirty="0"/>
          </a:p>
        </p:txBody>
      </p:sp>
      <p:sp>
        <p:nvSpPr>
          <p:cNvPr id="4" name="Slide Number Placeholder 3">
            <a:extLst>
              <a:ext uri="{FF2B5EF4-FFF2-40B4-BE49-F238E27FC236}">
                <a16:creationId xmlns:a16="http://schemas.microsoft.com/office/drawing/2014/main" id="{F778C848-78D8-1D82-F44A-DF13FA7C6D5F}"/>
              </a:ext>
            </a:extLst>
          </p:cNvPr>
          <p:cNvSpPr>
            <a:spLocks noGrp="1"/>
          </p:cNvSpPr>
          <p:nvPr>
            <p:ph type="sldNum" sz="quarter" idx="12"/>
          </p:nvPr>
        </p:nvSpPr>
        <p:spPr/>
        <p:txBody>
          <a:bodyPr/>
          <a:lstStyle/>
          <a:p>
            <a:fld id="{F7F6A55E-33C2-478F-BF95-3903EF7A103F}" type="slidenum">
              <a:rPr lang="en-US" smtClean="0"/>
              <a:t>52</a:t>
            </a:fld>
            <a:endParaRPr lang="en-US"/>
          </a:p>
        </p:txBody>
      </p:sp>
    </p:spTree>
    <p:extLst>
      <p:ext uri="{BB962C8B-B14F-4D97-AF65-F5344CB8AC3E}">
        <p14:creationId xmlns:p14="http://schemas.microsoft.com/office/powerpoint/2010/main" val="21568780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5D95D-39DD-B119-1CED-61BFB99623F9}"/>
              </a:ext>
            </a:extLst>
          </p:cNvPr>
          <p:cNvSpPr>
            <a:spLocks noGrp="1"/>
          </p:cNvSpPr>
          <p:nvPr>
            <p:ph type="title"/>
          </p:nvPr>
        </p:nvSpPr>
        <p:spPr/>
        <p:txBody>
          <a:bodyPr/>
          <a:lstStyle/>
          <a:p>
            <a:r>
              <a:rPr lang="en-US" b="1" dirty="0"/>
              <a:t>Functions of Management</a:t>
            </a:r>
            <a:endParaRPr lang="en-GB" dirty="0"/>
          </a:p>
        </p:txBody>
      </p:sp>
      <p:sp>
        <p:nvSpPr>
          <p:cNvPr id="3" name="Content Placeholder 2">
            <a:extLst>
              <a:ext uri="{FF2B5EF4-FFF2-40B4-BE49-F238E27FC236}">
                <a16:creationId xmlns:a16="http://schemas.microsoft.com/office/drawing/2014/main" id="{524B3394-357D-56F9-A4EA-4FE258954866}"/>
              </a:ext>
            </a:extLst>
          </p:cNvPr>
          <p:cNvSpPr>
            <a:spLocks noGrp="1"/>
          </p:cNvSpPr>
          <p:nvPr>
            <p:ph idx="1"/>
          </p:nvPr>
        </p:nvSpPr>
        <p:spPr/>
        <p:txBody>
          <a:bodyPr/>
          <a:lstStyle/>
          <a:p>
            <a:r>
              <a:rPr lang="en-US" dirty="0"/>
              <a:t>The 4 basic management functions that make up the management process are described as follows:</a:t>
            </a:r>
          </a:p>
          <a:p>
            <a:pPr lvl="1"/>
            <a:r>
              <a:rPr lang="en-US" b="1" dirty="0"/>
              <a:t>Planning </a:t>
            </a:r>
          </a:p>
          <a:p>
            <a:pPr lvl="1"/>
            <a:r>
              <a:rPr lang="en-US" b="1" dirty="0"/>
              <a:t>Organizing</a:t>
            </a:r>
          </a:p>
          <a:p>
            <a:pPr lvl="1"/>
            <a:r>
              <a:rPr lang="en-US" b="1" dirty="0"/>
              <a:t>Influencing</a:t>
            </a:r>
          </a:p>
          <a:p>
            <a:pPr lvl="1"/>
            <a:r>
              <a:rPr lang="en-US" b="1" dirty="0"/>
              <a:t>Controlling</a:t>
            </a:r>
            <a:endParaRPr lang="en-GB" b="1" dirty="0"/>
          </a:p>
        </p:txBody>
      </p:sp>
      <p:sp>
        <p:nvSpPr>
          <p:cNvPr id="4" name="Slide Number Placeholder 3">
            <a:extLst>
              <a:ext uri="{FF2B5EF4-FFF2-40B4-BE49-F238E27FC236}">
                <a16:creationId xmlns:a16="http://schemas.microsoft.com/office/drawing/2014/main" id="{22282634-9BDA-D5A6-814E-07F4E6372AD8}"/>
              </a:ext>
            </a:extLst>
          </p:cNvPr>
          <p:cNvSpPr>
            <a:spLocks noGrp="1"/>
          </p:cNvSpPr>
          <p:nvPr>
            <p:ph type="sldNum" sz="quarter" idx="12"/>
          </p:nvPr>
        </p:nvSpPr>
        <p:spPr/>
        <p:txBody>
          <a:bodyPr/>
          <a:lstStyle/>
          <a:p>
            <a:fld id="{F7F6A55E-33C2-478F-BF95-3903EF7A103F}" type="slidenum">
              <a:rPr lang="en-US" smtClean="0"/>
              <a:t>53</a:t>
            </a:fld>
            <a:endParaRPr lang="en-US"/>
          </a:p>
        </p:txBody>
      </p:sp>
    </p:spTree>
    <p:extLst>
      <p:ext uri="{BB962C8B-B14F-4D97-AF65-F5344CB8AC3E}">
        <p14:creationId xmlns:p14="http://schemas.microsoft.com/office/powerpoint/2010/main" val="19431651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0D91-DAE4-8FBA-86F0-1E8BF1B3B848}"/>
              </a:ext>
            </a:extLst>
          </p:cNvPr>
          <p:cNvSpPr>
            <a:spLocks noGrp="1"/>
          </p:cNvSpPr>
          <p:nvPr>
            <p:ph type="title"/>
          </p:nvPr>
        </p:nvSpPr>
        <p:spPr/>
        <p:txBody>
          <a:bodyPr/>
          <a:lstStyle/>
          <a:p>
            <a:r>
              <a:rPr lang="en-US" b="1" dirty="0"/>
              <a:t>Planning:</a:t>
            </a:r>
            <a:endParaRPr lang="en-GB" dirty="0"/>
          </a:p>
        </p:txBody>
      </p:sp>
      <p:sp>
        <p:nvSpPr>
          <p:cNvPr id="3" name="Content Placeholder 2">
            <a:extLst>
              <a:ext uri="{FF2B5EF4-FFF2-40B4-BE49-F238E27FC236}">
                <a16:creationId xmlns:a16="http://schemas.microsoft.com/office/drawing/2014/main" id="{EFB2C290-9789-40D7-C72E-D8B5166E6C70}"/>
              </a:ext>
            </a:extLst>
          </p:cNvPr>
          <p:cNvSpPr>
            <a:spLocks noGrp="1"/>
          </p:cNvSpPr>
          <p:nvPr>
            <p:ph idx="1"/>
          </p:nvPr>
        </p:nvSpPr>
        <p:spPr/>
        <p:txBody>
          <a:bodyPr/>
          <a:lstStyle/>
          <a:p>
            <a:r>
              <a:rPr lang="en-US" dirty="0"/>
              <a:t>Planning involves choosing tasks that must be performed to attain organizational goals, outlining how the tasks must be performed, and indicating when they should be performed. </a:t>
            </a:r>
          </a:p>
          <a:p>
            <a:r>
              <a:rPr lang="en-US" dirty="0"/>
              <a:t>Planning activity focuses on attaining goals. </a:t>
            </a:r>
          </a:p>
          <a:p>
            <a:r>
              <a:rPr lang="en-US" dirty="0"/>
              <a:t>Managers outline exactly what organizations should do to be successful. </a:t>
            </a:r>
          </a:p>
          <a:p>
            <a:r>
              <a:rPr lang="en-US" dirty="0"/>
              <a:t>Planning is concerned with the success of the organization in the short term as well as in the long term.</a:t>
            </a:r>
            <a:endParaRPr lang="en-GB" dirty="0"/>
          </a:p>
        </p:txBody>
      </p:sp>
      <p:sp>
        <p:nvSpPr>
          <p:cNvPr id="4" name="Slide Number Placeholder 3">
            <a:extLst>
              <a:ext uri="{FF2B5EF4-FFF2-40B4-BE49-F238E27FC236}">
                <a16:creationId xmlns:a16="http://schemas.microsoft.com/office/drawing/2014/main" id="{872EB7C7-327A-3EE6-1127-CCC11BB6A3FC}"/>
              </a:ext>
            </a:extLst>
          </p:cNvPr>
          <p:cNvSpPr>
            <a:spLocks noGrp="1"/>
          </p:cNvSpPr>
          <p:nvPr>
            <p:ph type="sldNum" sz="quarter" idx="12"/>
          </p:nvPr>
        </p:nvSpPr>
        <p:spPr/>
        <p:txBody>
          <a:bodyPr/>
          <a:lstStyle/>
          <a:p>
            <a:fld id="{F7F6A55E-33C2-478F-BF95-3903EF7A103F}" type="slidenum">
              <a:rPr lang="en-US" smtClean="0"/>
              <a:t>54</a:t>
            </a:fld>
            <a:endParaRPr lang="en-US"/>
          </a:p>
        </p:txBody>
      </p:sp>
    </p:spTree>
    <p:extLst>
      <p:ext uri="{BB962C8B-B14F-4D97-AF65-F5344CB8AC3E}">
        <p14:creationId xmlns:p14="http://schemas.microsoft.com/office/powerpoint/2010/main" val="28665521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EFD5D-0017-1D81-CAF8-4C116AA6AF2E}"/>
              </a:ext>
            </a:extLst>
          </p:cNvPr>
          <p:cNvSpPr>
            <a:spLocks noGrp="1"/>
          </p:cNvSpPr>
          <p:nvPr>
            <p:ph type="title"/>
          </p:nvPr>
        </p:nvSpPr>
        <p:spPr/>
        <p:txBody>
          <a:bodyPr/>
          <a:lstStyle/>
          <a:p>
            <a:r>
              <a:rPr lang="en-US" b="1" dirty="0"/>
              <a:t>Organizing:</a:t>
            </a:r>
            <a:endParaRPr lang="en-GB" b="1" dirty="0"/>
          </a:p>
        </p:txBody>
      </p:sp>
      <p:sp>
        <p:nvSpPr>
          <p:cNvPr id="3" name="Content Placeholder 2">
            <a:extLst>
              <a:ext uri="{FF2B5EF4-FFF2-40B4-BE49-F238E27FC236}">
                <a16:creationId xmlns:a16="http://schemas.microsoft.com/office/drawing/2014/main" id="{69B0D956-F33C-5DA7-468C-F248C531C930}"/>
              </a:ext>
            </a:extLst>
          </p:cNvPr>
          <p:cNvSpPr>
            <a:spLocks noGrp="1"/>
          </p:cNvSpPr>
          <p:nvPr>
            <p:ph idx="1"/>
          </p:nvPr>
        </p:nvSpPr>
        <p:spPr/>
        <p:txBody>
          <a:bodyPr>
            <a:normAutofit/>
          </a:bodyPr>
          <a:lstStyle/>
          <a:p>
            <a:r>
              <a:rPr lang="en-US" dirty="0"/>
              <a:t>Organizing can be thought of assigning the tasks developed in the</a:t>
            </a:r>
            <a:br>
              <a:rPr lang="en-US" dirty="0"/>
            </a:br>
            <a:r>
              <a:rPr lang="en-US" dirty="0"/>
              <a:t>planning stages, to various individuals or groups within the organization. </a:t>
            </a:r>
          </a:p>
          <a:p>
            <a:r>
              <a:rPr lang="en-US" dirty="0"/>
              <a:t>Organizing is to create a mechanism to put plans into action. </a:t>
            </a:r>
          </a:p>
          <a:p>
            <a:r>
              <a:rPr lang="en-US" dirty="0"/>
              <a:t>People within the organization are given work assignments that contribute to the company's goals. </a:t>
            </a:r>
          </a:p>
          <a:p>
            <a:r>
              <a:rPr lang="en-US" dirty="0"/>
              <a:t>Tasks are organized so that the output of everyone contributes to the success of departments, which, in turn, contributes to the success of divisions, which ultimately contributes to the success of the organization.</a:t>
            </a:r>
            <a:endParaRPr lang="en-GB" dirty="0"/>
          </a:p>
          <a:p>
            <a:endParaRPr lang="en-GB" dirty="0"/>
          </a:p>
        </p:txBody>
      </p:sp>
      <p:sp>
        <p:nvSpPr>
          <p:cNvPr id="4" name="Slide Number Placeholder 3">
            <a:extLst>
              <a:ext uri="{FF2B5EF4-FFF2-40B4-BE49-F238E27FC236}">
                <a16:creationId xmlns:a16="http://schemas.microsoft.com/office/drawing/2014/main" id="{804F5285-A2E3-6838-4E52-3DE87CB5E5C1}"/>
              </a:ext>
            </a:extLst>
          </p:cNvPr>
          <p:cNvSpPr>
            <a:spLocks noGrp="1"/>
          </p:cNvSpPr>
          <p:nvPr>
            <p:ph type="sldNum" sz="quarter" idx="12"/>
          </p:nvPr>
        </p:nvSpPr>
        <p:spPr/>
        <p:txBody>
          <a:bodyPr/>
          <a:lstStyle/>
          <a:p>
            <a:fld id="{F7F6A55E-33C2-478F-BF95-3903EF7A103F}" type="slidenum">
              <a:rPr lang="en-US" smtClean="0"/>
              <a:t>55</a:t>
            </a:fld>
            <a:endParaRPr lang="en-US"/>
          </a:p>
        </p:txBody>
      </p:sp>
    </p:spTree>
    <p:extLst>
      <p:ext uri="{BB962C8B-B14F-4D97-AF65-F5344CB8AC3E}">
        <p14:creationId xmlns:p14="http://schemas.microsoft.com/office/powerpoint/2010/main" val="37835089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2C233-2E60-DF7F-6CD7-2BA19BA6EFEC}"/>
              </a:ext>
            </a:extLst>
          </p:cNvPr>
          <p:cNvSpPr>
            <a:spLocks noGrp="1"/>
          </p:cNvSpPr>
          <p:nvPr>
            <p:ph type="title"/>
          </p:nvPr>
        </p:nvSpPr>
        <p:spPr/>
        <p:txBody>
          <a:bodyPr/>
          <a:lstStyle/>
          <a:p>
            <a:r>
              <a:rPr lang="en-US" b="1" dirty="0"/>
              <a:t>Influencing:</a:t>
            </a:r>
            <a:endParaRPr lang="en-GB" b="1" dirty="0"/>
          </a:p>
        </p:txBody>
      </p:sp>
      <p:sp>
        <p:nvSpPr>
          <p:cNvPr id="3" name="Content Placeholder 2">
            <a:extLst>
              <a:ext uri="{FF2B5EF4-FFF2-40B4-BE49-F238E27FC236}">
                <a16:creationId xmlns:a16="http://schemas.microsoft.com/office/drawing/2014/main" id="{691EFB26-13C6-0048-A0FD-698DF9BF27A9}"/>
              </a:ext>
            </a:extLst>
          </p:cNvPr>
          <p:cNvSpPr>
            <a:spLocks noGrp="1"/>
          </p:cNvSpPr>
          <p:nvPr>
            <p:ph idx="1"/>
          </p:nvPr>
        </p:nvSpPr>
        <p:spPr/>
        <p:txBody>
          <a:bodyPr/>
          <a:lstStyle/>
          <a:p>
            <a:r>
              <a:rPr lang="en-US" dirty="0"/>
              <a:t>Influencing is also referred to as motivating, leading or directing.</a:t>
            </a:r>
          </a:p>
          <a:p>
            <a:r>
              <a:rPr lang="en-US" dirty="0"/>
              <a:t>Influencing can be defined as guiding the activities of organization members in the direction that helps the organization move towards the fulfillment of the goals. </a:t>
            </a:r>
          </a:p>
          <a:p>
            <a:r>
              <a:rPr lang="en-US" dirty="0"/>
              <a:t>The purpose of influencing is to increase productivity. </a:t>
            </a:r>
          </a:p>
          <a:p>
            <a:r>
              <a:rPr lang="en-US" dirty="0"/>
              <a:t>Human-oriented work situations usually generate higher levels of production over the long term than do task-oriented work situations.</a:t>
            </a:r>
            <a:endParaRPr lang="en-GB" dirty="0"/>
          </a:p>
          <a:p>
            <a:endParaRPr lang="en-GB" dirty="0"/>
          </a:p>
        </p:txBody>
      </p:sp>
      <p:sp>
        <p:nvSpPr>
          <p:cNvPr id="4" name="Slide Number Placeholder 3">
            <a:extLst>
              <a:ext uri="{FF2B5EF4-FFF2-40B4-BE49-F238E27FC236}">
                <a16:creationId xmlns:a16="http://schemas.microsoft.com/office/drawing/2014/main" id="{027CE59A-47BF-A03B-6E4A-D53A53C8D387}"/>
              </a:ext>
            </a:extLst>
          </p:cNvPr>
          <p:cNvSpPr>
            <a:spLocks noGrp="1"/>
          </p:cNvSpPr>
          <p:nvPr>
            <p:ph type="sldNum" sz="quarter" idx="12"/>
          </p:nvPr>
        </p:nvSpPr>
        <p:spPr/>
        <p:txBody>
          <a:bodyPr/>
          <a:lstStyle/>
          <a:p>
            <a:fld id="{F7F6A55E-33C2-478F-BF95-3903EF7A103F}" type="slidenum">
              <a:rPr lang="en-US" smtClean="0"/>
              <a:t>56</a:t>
            </a:fld>
            <a:endParaRPr lang="en-US"/>
          </a:p>
        </p:txBody>
      </p:sp>
    </p:spTree>
    <p:extLst>
      <p:ext uri="{BB962C8B-B14F-4D97-AF65-F5344CB8AC3E}">
        <p14:creationId xmlns:p14="http://schemas.microsoft.com/office/powerpoint/2010/main" val="23423920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74D8D-E576-B1D6-2DC6-8A53118E6EEE}"/>
              </a:ext>
            </a:extLst>
          </p:cNvPr>
          <p:cNvSpPr>
            <a:spLocks noGrp="1"/>
          </p:cNvSpPr>
          <p:nvPr>
            <p:ph type="title"/>
          </p:nvPr>
        </p:nvSpPr>
        <p:spPr/>
        <p:txBody>
          <a:bodyPr/>
          <a:lstStyle/>
          <a:p>
            <a:r>
              <a:rPr lang="en-US" b="1" dirty="0"/>
              <a:t>Controlling:</a:t>
            </a:r>
            <a:endParaRPr lang="en-GB" b="1" dirty="0"/>
          </a:p>
        </p:txBody>
      </p:sp>
      <p:sp>
        <p:nvSpPr>
          <p:cNvPr id="3" name="Content Placeholder 2">
            <a:extLst>
              <a:ext uri="{FF2B5EF4-FFF2-40B4-BE49-F238E27FC236}">
                <a16:creationId xmlns:a16="http://schemas.microsoft.com/office/drawing/2014/main" id="{9F2652B3-F433-A48E-A402-8F8A43F3547C}"/>
              </a:ext>
            </a:extLst>
          </p:cNvPr>
          <p:cNvSpPr>
            <a:spLocks noGrp="1"/>
          </p:cNvSpPr>
          <p:nvPr>
            <p:ph idx="1"/>
          </p:nvPr>
        </p:nvSpPr>
        <p:spPr/>
        <p:txBody>
          <a:bodyPr>
            <a:normAutofit/>
          </a:bodyPr>
          <a:lstStyle/>
          <a:p>
            <a:r>
              <a:rPr lang="en-US" dirty="0"/>
              <a:t>Controlling is the mode of checking the progress of plan and correcting any deviations that may occur along the way. </a:t>
            </a:r>
          </a:p>
          <a:p>
            <a:r>
              <a:rPr lang="en-US" dirty="0"/>
              <a:t>Controlling is the following roles played by  the manager:</a:t>
            </a:r>
            <a:endParaRPr lang="en-GB" dirty="0"/>
          </a:p>
          <a:p>
            <a:pPr lvl="1"/>
            <a:r>
              <a:rPr lang="en-US" dirty="0"/>
              <a:t>Gather information that measures performance.</a:t>
            </a:r>
          </a:p>
          <a:p>
            <a:pPr lvl="1"/>
            <a:r>
              <a:rPr lang="en-US" dirty="0"/>
              <a:t>Compare present performance to pre-established performance norms.</a:t>
            </a:r>
          </a:p>
          <a:p>
            <a:pPr lvl="1"/>
            <a:r>
              <a:rPr lang="en-US" dirty="0"/>
              <a:t>Determine the next action plan and modifications for meeting the desired</a:t>
            </a:r>
            <a:br>
              <a:rPr lang="en-US" dirty="0"/>
            </a:br>
            <a:r>
              <a:rPr lang="en-US" dirty="0"/>
              <a:t>performance parameters.</a:t>
            </a:r>
            <a:endParaRPr lang="en-GB" dirty="0"/>
          </a:p>
          <a:p>
            <a:endParaRPr lang="en-GB" dirty="0"/>
          </a:p>
        </p:txBody>
      </p:sp>
      <p:sp>
        <p:nvSpPr>
          <p:cNvPr id="4" name="Slide Number Placeholder 3">
            <a:extLst>
              <a:ext uri="{FF2B5EF4-FFF2-40B4-BE49-F238E27FC236}">
                <a16:creationId xmlns:a16="http://schemas.microsoft.com/office/drawing/2014/main" id="{FFC23CE8-C7F1-94D7-5176-C297D2F4F9A8}"/>
              </a:ext>
            </a:extLst>
          </p:cNvPr>
          <p:cNvSpPr>
            <a:spLocks noGrp="1"/>
          </p:cNvSpPr>
          <p:nvPr>
            <p:ph type="sldNum" sz="quarter" idx="12"/>
          </p:nvPr>
        </p:nvSpPr>
        <p:spPr/>
        <p:txBody>
          <a:bodyPr/>
          <a:lstStyle/>
          <a:p>
            <a:fld id="{F7F6A55E-33C2-478F-BF95-3903EF7A103F}" type="slidenum">
              <a:rPr lang="en-US" smtClean="0"/>
              <a:t>57</a:t>
            </a:fld>
            <a:endParaRPr lang="en-US"/>
          </a:p>
        </p:txBody>
      </p:sp>
    </p:spTree>
    <p:extLst>
      <p:ext uri="{BB962C8B-B14F-4D97-AF65-F5344CB8AC3E}">
        <p14:creationId xmlns:p14="http://schemas.microsoft.com/office/powerpoint/2010/main" val="6666785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A3C1-D202-D68E-C50F-A29D3968FA9E}"/>
              </a:ext>
            </a:extLst>
          </p:cNvPr>
          <p:cNvSpPr>
            <a:spLocks noGrp="1"/>
          </p:cNvSpPr>
          <p:nvPr>
            <p:ph type="title"/>
          </p:nvPr>
        </p:nvSpPr>
        <p:spPr/>
        <p:txBody>
          <a:bodyPr/>
          <a:lstStyle/>
          <a:p>
            <a:r>
              <a:rPr lang="en-US" b="1" dirty="0"/>
              <a:t>Levels of Management</a:t>
            </a:r>
            <a:endParaRPr lang="en-GB" dirty="0"/>
          </a:p>
        </p:txBody>
      </p:sp>
      <p:sp>
        <p:nvSpPr>
          <p:cNvPr id="3" name="Content Placeholder 2">
            <a:extLst>
              <a:ext uri="{FF2B5EF4-FFF2-40B4-BE49-F238E27FC236}">
                <a16:creationId xmlns:a16="http://schemas.microsoft.com/office/drawing/2014/main" id="{EF7ACE9E-3218-83BA-36F7-EE8863547080}"/>
              </a:ext>
            </a:extLst>
          </p:cNvPr>
          <p:cNvSpPr>
            <a:spLocks noGrp="1"/>
          </p:cNvSpPr>
          <p:nvPr>
            <p:ph idx="1"/>
          </p:nvPr>
        </p:nvSpPr>
        <p:spPr/>
        <p:txBody>
          <a:bodyPr/>
          <a:lstStyle/>
          <a:p>
            <a:r>
              <a:rPr lang="en-US" dirty="0"/>
              <a:t>Management can be grouped into three hierarchical levels: </a:t>
            </a:r>
          </a:p>
          <a:p>
            <a:pPr lvl="1"/>
            <a:r>
              <a:rPr lang="en-US" b="1" dirty="0"/>
              <a:t>Top Level Management</a:t>
            </a:r>
          </a:p>
          <a:p>
            <a:pPr lvl="1"/>
            <a:r>
              <a:rPr lang="en-US" b="1" dirty="0"/>
              <a:t>Middle Level Management</a:t>
            </a:r>
          </a:p>
          <a:p>
            <a:pPr lvl="1"/>
            <a:r>
              <a:rPr lang="en-US" b="1" dirty="0"/>
              <a:t>Junior Level Management</a:t>
            </a:r>
          </a:p>
          <a:p>
            <a:pPr marL="0" indent="0">
              <a:buNone/>
            </a:pPr>
            <a:endParaRPr lang="en-US" dirty="0"/>
          </a:p>
        </p:txBody>
      </p:sp>
      <p:sp>
        <p:nvSpPr>
          <p:cNvPr id="4" name="Slide Number Placeholder 3">
            <a:extLst>
              <a:ext uri="{FF2B5EF4-FFF2-40B4-BE49-F238E27FC236}">
                <a16:creationId xmlns:a16="http://schemas.microsoft.com/office/drawing/2014/main" id="{ECB104D8-ACEA-070D-0819-7ACF63FBFDEF}"/>
              </a:ext>
            </a:extLst>
          </p:cNvPr>
          <p:cNvSpPr>
            <a:spLocks noGrp="1"/>
          </p:cNvSpPr>
          <p:nvPr>
            <p:ph type="sldNum" sz="quarter" idx="12"/>
          </p:nvPr>
        </p:nvSpPr>
        <p:spPr/>
        <p:txBody>
          <a:bodyPr/>
          <a:lstStyle/>
          <a:p>
            <a:fld id="{F7F6A55E-33C2-478F-BF95-3903EF7A103F}" type="slidenum">
              <a:rPr lang="en-US" smtClean="0"/>
              <a:t>58</a:t>
            </a:fld>
            <a:endParaRPr lang="en-US"/>
          </a:p>
        </p:txBody>
      </p:sp>
    </p:spTree>
    <p:extLst>
      <p:ext uri="{BB962C8B-B14F-4D97-AF65-F5344CB8AC3E}">
        <p14:creationId xmlns:p14="http://schemas.microsoft.com/office/powerpoint/2010/main" val="4015915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6482E-0C9C-2A6A-FAA5-92465B52C8D4}"/>
              </a:ext>
            </a:extLst>
          </p:cNvPr>
          <p:cNvSpPr>
            <a:spLocks noGrp="1"/>
          </p:cNvSpPr>
          <p:nvPr>
            <p:ph type="title"/>
          </p:nvPr>
        </p:nvSpPr>
        <p:spPr/>
        <p:txBody>
          <a:bodyPr/>
          <a:lstStyle/>
          <a:p>
            <a:r>
              <a:rPr lang="en-US" b="1" dirty="0"/>
              <a:t>Top Level:</a:t>
            </a:r>
            <a:endParaRPr lang="en-GB" dirty="0"/>
          </a:p>
        </p:txBody>
      </p:sp>
      <p:sp>
        <p:nvSpPr>
          <p:cNvPr id="3" name="Content Placeholder 2">
            <a:extLst>
              <a:ext uri="{FF2B5EF4-FFF2-40B4-BE49-F238E27FC236}">
                <a16:creationId xmlns:a16="http://schemas.microsoft.com/office/drawing/2014/main" id="{437304E3-3FDB-EA86-A42F-31C0D7F9FAE2}"/>
              </a:ext>
            </a:extLst>
          </p:cNvPr>
          <p:cNvSpPr>
            <a:spLocks noGrp="1"/>
          </p:cNvSpPr>
          <p:nvPr>
            <p:ph idx="1"/>
          </p:nvPr>
        </p:nvSpPr>
        <p:spPr/>
        <p:txBody>
          <a:bodyPr>
            <a:normAutofit/>
          </a:bodyPr>
          <a:lstStyle/>
          <a:p>
            <a:r>
              <a:rPr lang="en-US" dirty="0"/>
              <a:t>The top-level management establishes the policies, plans, and the objectives of the organizations as well as the budget framework under which various departments will operate. </a:t>
            </a:r>
          </a:p>
          <a:p>
            <a:r>
              <a:rPr lang="en-US" dirty="0"/>
              <a:t>The main role of the top-level management is summarized as follows:</a:t>
            </a:r>
          </a:p>
          <a:p>
            <a:pPr lvl="1"/>
            <a:r>
              <a:rPr lang="en-US" dirty="0"/>
              <a:t>The top-level management determines the objectives, policies, and plans of the  organization.</a:t>
            </a:r>
          </a:p>
          <a:p>
            <a:pPr lvl="1"/>
            <a:r>
              <a:rPr lang="en-US" dirty="0"/>
              <a:t>They assemble and bring together the available resources.</a:t>
            </a:r>
          </a:p>
          <a:p>
            <a:pPr lvl="1"/>
            <a:r>
              <a:rPr lang="en-US" dirty="0"/>
              <a:t>The top-level management does mostly the work of thinking, planning, and</a:t>
            </a:r>
            <a:br>
              <a:rPr lang="en-US" dirty="0"/>
            </a:br>
            <a:r>
              <a:rPr lang="en-US" dirty="0"/>
              <a:t>deciding. </a:t>
            </a:r>
          </a:p>
          <a:p>
            <a:endParaRPr lang="en-US" dirty="0"/>
          </a:p>
          <a:p>
            <a:endParaRPr lang="en-GB" dirty="0"/>
          </a:p>
        </p:txBody>
      </p:sp>
      <p:sp>
        <p:nvSpPr>
          <p:cNvPr id="4" name="Slide Number Placeholder 3">
            <a:extLst>
              <a:ext uri="{FF2B5EF4-FFF2-40B4-BE49-F238E27FC236}">
                <a16:creationId xmlns:a16="http://schemas.microsoft.com/office/drawing/2014/main" id="{AE080AF9-032E-5D50-C8C2-D3D3F134B193}"/>
              </a:ext>
            </a:extLst>
          </p:cNvPr>
          <p:cNvSpPr>
            <a:spLocks noGrp="1"/>
          </p:cNvSpPr>
          <p:nvPr>
            <p:ph type="sldNum" sz="quarter" idx="12"/>
          </p:nvPr>
        </p:nvSpPr>
        <p:spPr/>
        <p:txBody>
          <a:bodyPr/>
          <a:lstStyle/>
          <a:p>
            <a:fld id="{F7F6A55E-33C2-478F-BF95-3903EF7A103F}" type="slidenum">
              <a:rPr lang="en-US" smtClean="0"/>
              <a:t>59</a:t>
            </a:fld>
            <a:endParaRPr lang="en-US"/>
          </a:p>
        </p:txBody>
      </p:sp>
    </p:spTree>
    <p:extLst>
      <p:ext uri="{BB962C8B-B14F-4D97-AF65-F5344CB8AC3E}">
        <p14:creationId xmlns:p14="http://schemas.microsoft.com/office/powerpoint/2010/main" val="3147649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A8EDC-62A0-F697-F215-F50AA5038DE2}"/>
              </a:ext>
            </a:extLst>
          </p:cNvPr>
          <p:cNvSpPr>
            <a:spLocks noGrp="1"/>
          </p:cNvSpPr>
          <p:nvPr>
            <p:ph type="title"/>
          </p:nvPr>
        </p:nvSpPr>
        <p:spPr/>
        <p:txBody>
          <a:bodyPr>
            <a:normAutofit/>
          </a:bodyPr>
          <a:lstStyle/>
          <a:p>
            <a:br>
              <a:rPr lang="en-GB" dirty="0"/>
            </a:br>
            <a:endParaRPr lang="en-GB" dirty="0"/>
          </a:p>
        </p:txBody>
      </p:sp>
      <p:sp>
        <p:nvSpPr>
          <p:cNvPr id="3" name="Content Placeholder 2">
            <a:extLst>
              <a:ext uri="{FF2B5EF4-FFF2-40B4-BE49-F238E27FC236}">
                <a16:creationId xmlns:a16="http://schemas.microsoft.com/office/drawing/2014/main" id="{05C3224B-02FE-487D-A9FE-B1E6B227153B}"/>
              </a:ext>
            </a:extLst>
          </p:cNvPr>
          <p:cNvSpPr>
            <a:spLocks noGrp="1"/>
          </p:cNvSpPr>
          <p:nvPr>
            <p:ph idx="1"/>
          </p:nvPr>
        </p:nvSpPr>
        <p:spPr>
          <a:xfrm>
            <a:off x="838200" y="574432"/>
            <a:ext cx="10515601" cy="5287106"/>
          </a:xfrm>
        </p:spPr>
        <p:txBody>
          <a:bodyPr>
            <a:normAutofit/>
          </a:bodyPr>
          <a:lstStyle/>
          <a:p>
            <a:r>
              <a:rPr lang="en-US" dirty="0"/>
              <a:t>Therefore, they are also termed as the ‘</a:t>
            </a:r>
            <a:r>
              <a:rPr lang="en-US" i="1" dirty="0"/>
              <a:t>Brain of the organization</a:t>
            </a:r>
            <a:r>
              <a:rPr lang="en-US" dirty="0"/>
              <a:t>’.</a:t>
            </a:r>
          </a:p>
          <a:p>
            <a:r>
              <a:rPr lang="en-US" dirty="0"/>
              <a:t>They prepare long-term plans of the organization, which are generally made for 5 to 20 years.</a:t>
            </a:r>
          </a:p>
          <a:p>
            <a:r>
              <a:rPr lang="en-US" dirty="0"/>
              <a:t>The top-level management has maximum authority and responsibility. </a:t>
            </a:r>
          </a:p>
          <a:p>
            <a:r>
              <a:rPr lang="en-US" dirty="0"/>
              <a:t>They are the final authority in the organization. </a:t>
            </a:r>
          </a:p>
          <a:p>
            <a:r>
              <a:rPr lang="en-US" dirty="0"/>
              <a:t>They are directly responsible to the Shareholders, Government, and the General Public. </a:t>
            </a:r>
          </a:p>
          <a:p>
            <a:r>
              <a:rPr lang="en-US" dirty="0"/>
              <a:t>The success or failure of the organization largely depends on their efficiency and decision-making.</a:t>
            </a:r>
          </a:p>
          <a:p>
            <a:r>
              <a:rPr lang="en-US" dirty="0"/>
              <a:t>They require more conceptual skills and less technical Skills.</a:t>
            </a:r>
            <a:endParaRPr lang="en-GB" dirty="0"/>
          </a:p>
          <a:p>
            <a:endParaRPr lang="en-GB" dirty="0"/>
          </a:p>
        </p:txBody>
      </p:sp>
      <p:sp>
        <p:nvSpPr>
          <p:cNvPr id="4" name="Slide Number Placeholder 3">
            <a:extLst>
              <a:ext uri="{FF2B5EF4-FFF2-40B4-BE49-F238E27FC236}">
                <a16:creationId xmlns:a16="http://schemas.microsoft.com/office/drawing/2014/main" id="{9241E0A4-375C-F3CE-A788-960CA52579B4}"/>
              </a:ext>
            </a:extLst>
          </p:cNvPr>
          <p:cNvSpPr>
            <a:spLocks noGrp="1"/>
          </p:cNvSpPr>
          <p:nvPr>
            <p:ph type="sldNum" sz="quarter" idx="12"/>
          </p:nvPr>
        </p:nvSpPr>
        <p:spPr/>
        <p:txBody>
          <a:bodyPr/>
          <a:lstStyle/>
          <a:p>
            <a:fld id="{F7F6A55E-33C2-478F-BF95-3903EF7A103F}" type="slidenum">
              <a:rPr lang="en-US" smtClean="0"/>
              <a:t>60</a:t>
            </a:fld>
            <a:endParaRPr lang="en-US"/>
          </a:p>
        </p:txBody>
      </p:sp>
    </p:spTree>
    <p:extLst>
      <p:ext uri="{BB962C8B-B14F-4D97-AF65-F5344CB8AC3E}">
        <p14:creationId xmlns:p14="http://schemas.microsoft.com/office/powerpoint/2010/main" val="381992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E40F4-77F7-7382-200A-D1B753EC0DC3}"/>
              </a:ext>
            </a:extLst>
          </p:cNvPr>
          <p:cNvSpPr>
            <a:spLocks noGrp="1"/>
          </p:cNvSpPr>
          <p:nvPr>
            <p:ph type="title"/>
          </p:nvPr>
        </p:nvSpPr>
        <p:spPr/>
        <p:txBody>
          <a:bodyPr/>
          <a:lstStyle/>
          <a:p>
            <a:r>
              <a:rPr lang="en-US" b="1" dirty="0"/>
              <a:t>Middle Level:</a:t>
            </a:r>
            <a:r>
              <a:rPr lang="en-US" dirty="0"/>
              <a:t> </a:t>
            </a:r>
            <a:endParaRPr lang="en-GB" dirty="0"/>
          </a:p>
        </p:txBody>
      </p:sp>
      <p:sp>
        <p:nvSpPr>
          <p:cNvPr id="3" name="Content Placeholder 2">
            <a:extLst>
              <a:ext uri="{FF2B5EF4-FFF2-40B4-BE49-F238E27FC236}">
                <a16:creationId xmlns:a16="http://schemas.microsoft.com/office/drawing/2014/main" id="{95C09EAF-AA43-3159-2BBC-C7E975AC4C29}"/>
              </a:ext>
            </a:extLst>
          </p:cNvPr>
          <p:cNvSpPr>
            <a:spLocks noGrp="1"/>
          </p:cNvSpPr>
          <p:nvPr>
            <p:ph idx="1"/>
          </p:nvPr>
        </p:nvSpPr>
        <p:spPr/>
        <p:txBody>
          <a:bodyPr/>
          <a:lstStyle/>
          <a:p>
            <a:r>
              <a:rPr lang="en-US" dirty="0"/>
              <a:t>Middle level management carries out the programs and plans of senior management. </a:t>
            </a:r>
          </a:p>
          <a:p>
            <a:r>
              <a:rPr lang="en-US" dirty="0"/>
              <a:t>The middle level management emphasizes more on following tasks:</a:t>
            </a:r>
          </a:p>
          <a:p>
            <a:pPr lvl="1"/>
            <a:r>
              <a:rPr lang="en-US" dirty="0"/>
              <a:t>Middle level management gives recommendations to the top-level</a:t>
            </a:r>
            <a:br>
              <a:rPr lang="en-US" dirty="0"/>
            </a:br>
            <a:r>
              <a:rPr lang="en-US" dirty="0"/>
              <a:t>management.</a:t>
            </a:r>
          </a:p>
          <a:p>
            <a:pPr lvl="1"/>
            <a:r>
              <a:rPr lang="en-US" dirty="0"/>
              <a:t>It executes the policies and plans, which are made by the top-level</a:t>
            </a:r>
            <a:br>
              <a:rPr lang="en-US" dirty="0"/>
            </a:br>
            <a:r>
              <a:rPr lang="en-US" dirty="0"/>
              <a:t>management.</a:t>
            </a:r>
          </a:p>
          <a:p>
            <a:pPr lvl="1"/>
            <a:r>
              <a:rPr lang="en-US" dirty="0"/>
              <a:t>It coordinates the activities of all the departments.</a:t>
            </a:r>
          </a:p>
          <a:p>
            <a:pPr lvl="1"/>
            <a:r>
              <a:rPr lang="en-US" dirty="0"/>
              <a:t>They must communicate with the top-level Management and the lower-</a:t>
            </a:r>
            <a:br>
              <a:rPr lang="en-US" dirty="0"/>
            </a:br>
            <a:r>
              <a:rPr lang="en-US" dirty="0"/>
              <a:t>level management.</a:t>
            </a:r>
            <a:br>
              <a:rPr lang="en-US" dirty="0"/>
            </a:br>
            <a:endParaRPr lang="en-GB" dirty="0"/>
          </a:p>
        </p:txBody>
      </p:sp>
      <p:sp>
        <p:nvSpPr>
          <p:cNvPr id="4" name="Slide Number Placeholder 3">
            <a:extLst>
              <a:ext uri="{FF2B5EF4-FFF2-40B4-BE49-F238E27FC236}">
                <a16:creationId xmlns:a16="http://schemas.microsoft.com/office/drawing/2014/main" id="{86D3F1D0-5131-43F7-14FB-8168877CAEF1}"/>
              </a:ext>
            </a:extLst>
          </p:cNvPr>
          <p:cNvSpPr>
            <a:spLocks noGrp="1"/>
          </p:cNvSpPr>
          <p:nvPr>
            <p:ph type="sldNum" sz="quarter" idx="12"/>
          </p:nvPr>
        </p:nvSpPr>
        <p:spPr/>
        <p:txBody>
          <a:bodyPr/>
          <a:lstStyle/>
          <a:p>
            <a:fld id="{F7F6A55E-33C2-478F-BF95-3903EF7A103F}" type="slidenum">
              <a:rPr lang="en-US" smtClean="0"/>
              <a:t>61</a:t>
            </a:fld>
            <a:endParaRPr lang="en-US"/>
          </a:p>
        </p:txBody>
      </p:sp>
    </p:spTree>
    <p:extLst>
      <p:ext uri="{BB962C8B-B14F-4D97-AF65-F5344CB8AC3E}">
        <p14:creationId xmlns:p14="http://schemas.microsoft.com/office/powerpoint/2010/main" val="34015586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ACC3EB-08CE-5A74-4E3D-BE69F4C441AA}"/>
              </a:ext>
            </a:extLst>
          </p:cNvPr>
          <p:cNvSpPr>
            <a:spLocks noGrp="1"/>
          </p:cNvSpPr>
          <p:nvPr>
            <p:ph idx="1"/>
          </p:nvPr>
        </p:nvSpPr>
        <p:spPr>
          <a:xfrm>
            <a:off x="838200" y="937846"/>
            <a:ext cx="10515600" cy="5239117"/>
          </a:xfrm>
        </p:spPr>
        <p:txBody>
          <a:bodyPr/>
          <a:lstStyle/>
          <a:p>
            <a:r>
              <a:rPr lang="en-US" dirty="0"/>
              <a:t>They spend more time coordinating and communicating.</a:t>
            </a:r>
          </a:p>
          <a:p>
            <a:r>
              <a:rPr lang="en-US" dirty="0"/>
              <a:t>They prepare short-term plans for their departments, which are generally made for 1 to 5 years.</a:t>
            </a:r>
          </a:p>
          <a:p>
            <a:r>
              <a:rPr lang="en-US" dirty="0"/>
              <a:t>The middle Level Management has limited authority and responsibility. </a:t>
            </a:r>
          </a:p>
          <a:p>
            <a:r>
              <a:rPr lang="en-US" dirty="0"/>
              <a:t>They are intermediaries between top and lower management. </a:t>
            </a:r>
          </a:p>
          <a:p>
            <a:r>
              <a:rPr lang="en-US" dirty="0"/>
              <a:t>They are directly responsible to the chief executive officer and board of directors.</a:t>
            </a:r>
          </a:p>
          <a:p>
            <a:r>
              <a:rPr lang="en-US" dirty="0"/>
              <a:t>Require more managerial and technical skills and less conceptual skills.</a:t>
            </a:r>
            <a:endParaRPr lang="en-GB" dirty="0"/>
          </a:p>
          <a:p>
            <a:endParaRPr lang="en-GB" dirty="0"/>
          </a:p>
        </p:txBody>
      </p:sp>
      <p:sp>
        <p:nvSpPr>
          <p:cNvPr id="4" name="Slide Number Placeholder 3">
            <a:extLst>
              <a:ext uri="{FF2B5EF4-FFF2-40B4-BE49-F238E27FC236}">
                <a16:creationId xmlns:a16="http://schemas.microsoft.com/office/drawing/2014/main" id="{D76FF79B-A53A-FAC8-952C-685D8F8E27A7}"/>
              </a:ext>
            </a:extLst>
          </p:cNvPr>
          <p:cNvSpPr>
            <a:spLocks noGrp="1"/>
          </p:cNvSpPr>
          <p:nvPr>
            <p:ph type="sldNum" sz="quarter" idx="12"/>
          </p:nvPr>
        </p:nvSpPr>
        <p:spPr/>
        <p:txBody>
          <a:bodyPr/>
          <a:lstStyle/>
          <a:p>
            <a:fld id="{F7F6A55E-33C2-478F-BF95-3903EF7A103F}" type="slidenum">
              <a:rPr lang="en-US" smtClean="0"/>
              <a:t>62</a:t>
            </a:fld>
            <a:endParaRPr lang="en-US"/>
          </a:p>
        </p:txBody>
      </p:sp>
    </p:spTree>
    <p:extLst>
      <p:ext uri="{BB962C8B-B14F-4D97-AF65-F5344CB8AC3E}">
        <p14:creationId xmlns:p14="http://schemas.microsoft.com/office/powerpoint/2010/main" val="29564424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8660-4E91-22D1-7AD6-75539B7B19C5}"/>
              </a:ext>
            </a:extLst>
          </p:cNvPr>
          <p:cNvSpPr>
            <a:spLocks noGrp="1"/>
          </p:cNvSpPr>
          <p:nvPr>
            <p:ph type="title"/>
          </p:nvPr>
        </p:nvSpPr>
        <p:spPr/>
        <p:txBody>
          <a:bodyPr/>
          <a:lstStyle/>
          <a:p>
            <a:r>
              <a:rPr lang="en-US" b="1" dirty="0"/>
              <a:t>Junior Level:</a:t>
            </a:r>
            <a:r>
              <a:rPr lang="en-US" dirty="0"/>
              <a:t> </a:t>
            </a:r>
            <a:endParaRPr lang="en-GB" dirty="0"/>
          </a:p>
        </p:txBody>
      </p:sp>
      <p:sp>
        <p:nvSpPr>
          <p:cNvPr id="3" name="Content Placeholder 2">
            <a:extLst>
              <a:ext uri="{FF2B5EF4-FFF2-40B4-BE49-F238E27FC236}">
                <a16:creationId xmlns:a16="http://schemas.microsoft.com/office/drawing/2014/main" id="{1F93F179-1D31-C9AC-D707-F6E34B27E27C}"/>
              </a:ext>
            </a:extLst>
          </p:cNvPr>
          <p:cNvSpPr>
            <a:spLocks noGrp="1"/>
          </p:cNvSpPr>
          <p:nvPr>
            <p:ph idx="1"/>
          </p:nvPr>
        </p:nvSpPr>
        <p:spPr/>
        <p:txBody>
          <a:bodyPr>
            <a:normAutofit/>
          </a:bodyPr>
          <a:lstStyle/>
          <a:p>
            <a:r>
              <a:rPr lang="en-US" dirty="0"/>
              <a:t>Junior level management has the responsibility of implementing day-to-day objectives and decisions of middle management to produce goods and services to meet revenue, profit, and other goals. </a:t>
            </a:r>
          </a:p>
          <a:p>
            <a:r>
              <a:rPr lang="en-US" dirty="0"/>
              <a:t>The lower-level management performs following activities:</a:t>
            </a:r>
          </a:p>
          <a:p>
            <a:pPr lvl="1"/>
            <a:r>
              <a:rPr lang="en-US" dirty="0"/>
              <a:t>The tasks of junior level management include scheduling, budgeting, human resources activities and disciplinary measures.</a:t>
            </a:r>
          </a:p>
          <a:p>
            <a:pPr lvl="1"/>
            <a:r>
              <a:rPr lang="en-US" dirty="0"/>
              <a:t>Develop determination in the workers.</a:t>
            </a:r>
          </a:p>
          <a:p>
            <a:pPr lvl="1"/>
            <a:r>
              <a:rPr lang="en-US" dirty="0"/>
              <a:t>It maintains a link between workers and the middle level management.</a:t>
            </a:r>
          </a:p>
        </p:txBody>
      </p:sp>
      <p:sp>
        <p:nvSpPr>
          <p:cNvPr id="4" name="Slide Number Placeholder 3">
            <a:extLst>
              <a:ext uri="{FF2B5EF4-FFF2-40B4-BE49-F238E27FC236}">
                <a16:creationId xmlns:a16="http://schemas.microsoft.com/office/drawing/2014/main" id="{BBBD4CD7-CC55-BA82-02B3-D50074485937}"/>
              </a:ext>
            </a:extLst>
          </p:cNvPr>
          <p:cNvSpPr>
            <a:spLocks noGrp="1"/>
          </p:cNvSpPr>
          <p:nvPr>
            <p:ph type="sldNum" sz="quarter" idx="12"/>
          </p:nvPr>
        </p:nvSpPr>
        <p:spPr/>
        <p:txBody>
          <a:bodyPr/>
          <a:lstStyle/>
          <a:p>
            <a:fld id="{F7F6A55E-33C2-478F-BF95-3903EF7A103F}" type="slidenum">
              <a:rPr lang="en-US" smtClean="0"/>
              <a:t>63</a:t>
            </a:fld>
            <a:endParaRPr lang="en-US"/>
          </a:p>
        </p:txBody>
      </p:sp>
    </p:spTree>
    <p:extLst>
      <p:ext uri="{BB962C8B-B14F-4D97-AF65-F5344CB8AC3E}">
        <p14:creationId xmlns:p14="http://schemas.microsoft.com/office/powerpoint/2010/main" val="17907823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8674C0-D0E2-027F-D407-B9A26BBE8E8B}"/>
              </a:ext>
            </a:extLst>
          </p:cNvPr>
          <p:cNvSpPr>
            <a:spLocks noGrp="1"/>
          </p:cNvSpPr>
          <p:nvPr>
            <p:ph idx="1"/>
          </p:nvPr>
        </p:nvSpPr>
        <p:spPr>
          <a:xfrm>
            <a:off x="838200" y="750277"/>
            <a:ext cx="10515600" cy="5426686"/>
          </a:xfrm>
        </p:spPr>
        <p:txBody>
          <a:bodyPr>
            <a:normAutofit fontScale="92500"/>
          </a:bodyPr>
          <a:lstStyle/>
          <a:p>
            <a:r>
              <a:rPr lang="en-US" dirty="0"/>
              <a:t>The lower-level management informs the workers about the decisions which are taken by the management.</a:t>
            </a:r>
          </a:p>
          <a:p>
            <a:r>
              <a:rPr lang="en-US" dirty="0"/>
              <a:t>They also inform the management about the performance, difficulties, feelings, demands, etc., of the workers.</a:t>
            </a:r>
          </a:p>
          <a:p>
            <a:r>
              <a:rPr lang="en-US" dirty="0"/>
              <a:t>They spend more time in directing and controlling.</a:t>
            </a:r>
          </a:p>
          <a:p>
            <a:r>
              <a:rPr lang="en-US" dirty="0"/>
              <a:t>The lower-level managers make daily, weekly, and monthly plans.</a:t>
            </a:r>
          </a:p>
          <a:p>
            <a:r>
              <a:rPr lang="en-US" dirty="0"/>
              <a:t>They have limited authority but the important responsibility of getting the</a:t>
            </a:r>
            <a:br>
              <a:rPr lang="en-US" dirty="0"/>
            </a:br>
            <a:r>
              <a:rPr lang="en-US" dirty="0"/>
              <a:t>work done. </a:t>
            </a:r>
          </a:p>
          <a:p>
            <a:r>
              <a:rPr lang="en-US" dirty="0"/>
              <a:t>They regularly report and are directly responsible for the middle level management.</a:t>
            </a:r>
          </a:p>
          <a:p>
            <a:r>
              <a:rPr lang="en-US" dirty="0"/>
              <a:t>Along with experience and basic management skills, they also require more</a:t>
            </a:r>
            <a:br>
              <a:rPr lang="en-US" dirty="0"/>
            </a:br>
            <a:r>
              <a:rPr lang="en-US" dirty="0"/>
              <a:t>technical and communication skills.</a:t>
            </a:r>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E5D3941E-7CDC-4F40-1100-4BAD26637E59}"/>
              </a:ext>
            </a:extLst>
          </p:cNvPr>
          <p:cNvSpPr>
            <a:spLocks noGrp="1"/>
          </p:cNvSpPr>
          <p:nvPr>
            <p:ph type="sldNum" sz="quarter" idx="12"/>
          </p:nvPr>
        </p:nvSpPr>
        <p:spPr/>
        <p:txBody>
          <a:bodyPr/>
          <a:lstStyle/>
          <a:p>
            <a:fld id="{F7F6A55E-33C2-478F-BF95-3903EF7A103F}" type="slidenum">
              <a:rPr lang="en-US" smtClean="0"/>
              <a:t>64</a:t>
            </a:fld>
            <a:endParaRPr lang="en-US"/>
          </a:p>
        </p:txBody>
      </p:sp>
    </p:spTree>
    <p:extLst>
      <p:ext uri="{BB962C8B-B14F-4D97-AF65-F5344CB8AC3E}">
        <p14:creationId xmlns:p14="http://schemas.microsoft.com/office/powerpoint/2010/main" val="36518212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87505-4234-BE53-EC89-DB6D832735FD}"/>
              </a:ext>
            </a:extLst>
          </p:cNvPr>
          <p:cNvSpPr>
            <a:spLocks noGrp="1"/>
          </p:cNvSpPr>
          <p:nvPr>
            <p:ph type="title"/>
          </p:nvPr>
        </p:nvSpPr>
        <p:spPr/>
        <p:txBody>
          <a:bodyPr/>
          <a:lstStyle/>
          <a:p>
            <a:r>
              <a:rPr lang="en-US" b="1" dirty="0"/>
              <a:t>Technology</a:t>
            </a:r>
            <a:endParaRPr lang="en-GB" dirty="0"/>
          </a:p>
        </p:txBody>
      </p:sp>
      <p:sp>
        <p:nvSpPr>
          <p:cNvPr id="3" name="Content Placeholder 2">
            <a:extLst>
              <a:ext uri="{FF2B5EF4-FFF2-40B4-BE49-F238E27FC236}">
                <a16:creationId xmlns:a16="http://schemas.microsoft.com/office/drawing/2014/main" id="{B758FFE8-E448-0A92-FDBB-874734CF77FC}"/>
              </a:ext>
            </a:extLst>
          </p:cNvPr>
          <p:cNvSpPr>
            <a:spLocks noGrp="1"/>
          </p:cNvSpPr>
          <p:nvPr>
            <p:ph idx="1"/>
          </p:nvPr>
        </p:nvSpPr>
        <p:spPr/>
        <p:txBody>
          <a:bodyPr/>
          <a:lstStyle/>
          <a:p>
            <a:r>
              <a:rPr lang="en-US" dirty="0"/>
              <a:t>Information technologies are the major tools &amp; techniques that support the development of information systems. </a:t>
            </a:r>
          </a:p>
          <a:p>
            <a:r>
              <a:rPr lang="en-US" dirty="0"/>
              <a:t>Information technology comprises of </a:t>
            </a:r>
            <a:r>
              <a:rPr lang="en-US" b="1" dirty="0"/>
              <a:t>computer hardware, computer software, data management technology, network, and telecommunication</a:t>
            </a:r>
            <a:r>
              <a:rPr lang="en-US" dirty="0"/>
              <a:t> etc.</a:t>
            </a:r>
            <a:endParaRPr lang="en-GB" dirty="0"/>
          </a:p>
        </p:txBody>
      </p:sp>
      <p:sp>
        <p:nvSpPr>
          <p:cNvPr id="4" name="Slide Number Placeholder 3">
            <a:extLst>
              <a:ext uri="{FF2B5EF4-FFF2-40B4-BE49-F238E27FC236}">
                <a16:creationId xmlns:a16="http://schemas.microsoft.com/office/drawing/2014/main" id="{FF35618C-7C89-513A-924E-8A0CD6B3C91B}"/>
              </a:ext>
            </a:extLst>
          </p:cNvPr>
          <p:cNvSpPr>
            <a:spLocks noGrp="1"/>
          </p:cNvSpPr>
          <p:nvPr>
            <p:ph type="sldNum" sz="quarter" idx="12"/>
          </p:nvPr>
        </p:nvSpPr>
        <p:spPr/>
        <p:txBody>
          <a:bodyPr/>
          <a:lstStyle/>
          <a:p>
            <a:fld id="{F7F6A55E-33C2-478F-BF95-3903EF7A103F}" type="slidenum">
              <a:rPr lang="en-US" smtClean="0"/>
              <a:t>65</a:t>
            </a:fld>
            <a:endParaRPr lang="en-US"/>
          </a:p>
        </p:txBody>
      </p:sp>
    </p:spTree>
    <p:extLst>
      <p:ext uri="{BB962C8B-B14F-4D97-AF65-F5344CB8AC3E}">
        <p14:creationId xmlns:p14="http://schemas.microsoft.com/office/powerpoint/2010/main" val="2551564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04A3-D552-ADA7-18E2-852FD03512E9}"/>
              </a:ext>
            </a:extLst>
          </p:cNvPr>
          <p:cNvSpPr>
            <a:spLocks noGrp="1"/>
          </p:cNvSpPr>
          <p:nvPr>
            <p:ph type="title"/>
          </p:nvPr>
        </p:nvSpPr>
        <p:spPr/>
        <p:txBody>
          <a:bodyPr/>
          <a:lstStyle/>
          <a:p>
            <a:r>
              <a:rPr lang="en-US" b="1" dirty="0"/>
              <a:t>Computer Hardware: </a:t>
            </a:r>
            <a:endParaRPr lang="en-GB" b="1" dirty="0"/>
          </a:p>
        </p:txBody>
      </p:sp>
      <p:sp>
        <p:nvSpPr>
          <p:cNvPr id="3" name="Content Placeholder 2">
            <a:extLst>
              <a:ext uri="{FF2B5EF4-FFF2-40B4-BE49-F238E27FC236}">
                <a16:creationId xmlns:a16="http://schemas.microsoft.com/office/drawing/2014/main" id="{1F2E0917-8155-581B-9A49-AE0218A4F2A4}"/>
              </a:ext>
            </a:extLst>
          </p:cNvPr>
          <p:cNvSpPr>
            <a:spLocks noGrp="1"/>
          </p:cNvSpPr>
          <p:nvPr>
            <p:ph idx="1"/>
          </p:nvPr>
        </p:nvSpPr>
        <p:spPr/>
        <p:txBody>
          <a:bodyPr>
            <a:normAutofit/>
          </a:bodyPr>
          <a:lstStyle/>
          <a:p>
            <a:r>
              <a:rPr lang="en-US" dirty="0"/>
              <a:t>Computer hardware is the physical equipment comprising input</a:t>
            </a:r>
            <a:br>
              <a:rPr lang="en-US" dirty="0"/>
            </a:br>
            <a:r>
              <a:rPr lang="en-US" dirty="0"/>
              <a:t>devices, processing &amp; storing devices, and output devices. </a:t>
            </a:r>
          </a:p>
          <a:p>
            <a:r>
              <a:rPr lang="en-US" dirty="0"/>
              <a:t>These devices are used for taking input, processing, storage, and output activities in an information system.</a:t>
            </a:r>
          </a:p>
        </p:txBody>
      </p:sp>
      <p:sp>
        <p:nvSpPr>
          <p:cNvPr id="4" name="Slide Number Placeholder 3">
            <a:extLst>
              <a:ext uri="{FF2B5EF4-FFF2-40B4-BE49-F238E27FC236}">
                <a16:creationId xmlns:a16="http://schemas.microsoft.com/office/drawing/2014/main" id="{C13FFBB3-8C87-F43E-5AD5-47E1E30A07D5}"/>
              </a:ext>
            </a:extLst>
          </p:cNvPr>
          <p:cNvSpPr>
            <a:spLocks noGrp="1"/>
          </p:cNvSpPr>
          <p:nvPr>
            <p:ph type="sldNum" sz="quarter" idx="12"/>
          </p:nvPr>
        </p:nvSpPr>
        <p:spPr/>
        <p:txBody>
          <a:bodyPr/>
          <a:lstStyle/>
          <a:p>
            <a:fld id="{F7F6A55E-33C2-478F-BF95-3903EF7A103F}" type="slidenum">
              <a:rPr lang="en-US" smtClean="0"/>
              <a:t>66</a:t>
            </a:fld>
            <a:endParaRPr lang="en-US"/>
          </a:p>
        </p:txBody>
      </p:sp>
    </p:spTree>
    <p:extLst>
      <p:ext uri="{BB962C8B-B14F-4D97-AF65-F5344CB8AC3E}">
        <p14:creationId xmlns:p14="http://schemas.microsoft.com/office/powerpoint/2010/main" val="6350759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E59F0-C908-C381-1589-A5BB05168CD2}"/>
              </a:ext>
            </a:extLst>
          </p:cNvPr>
          <p:cNvSpPr>
            <a:spLocks noGrp="1"/>
          </p:cNvSpPr>
          <p:nvPr>
            <p:ph type="title"/>
          </p:nvPr>
        </p:nvSpPr>
        <p:spPr/>
        <p:txBody>
          <a:bodyPr/>
          <a:lstStyle/>
          <a:p>
            <a:r>
              <a:rPr lang="en-US" b="1" dirty="0"/>
              <a:t>Computer Software:</a:t>
            </a:r>
            <a:endParaRPr lang="en-GB" b="1" dirty="0"/>
          </a:p>
        </p:txBody>
      </p:sp>
      <p:sp>
        <p:nvSpPr>
          <p:cNvPr id="3" name="Content Placeholder 2">
            <a:extLst>
              <a:ext uri="{FF2B5EF4-FFF2-40B4-BE49-F238E27FC236}">
                <a16:creationId xmlns:a16="http://schemas.microsoft.com/office/drawing/2014/main" id="{2441F19C-9302-0253-8D9C-18ADB3910FD7}"/>
              </a:ext>
            </a:extLst>
          </p:cNvPr>
          <p:cNvSpPr>
            <a:spLocks noGrp="1"/>
          </p:cNvSpPr>
          <p:nvPr>
            <p:ph idx="1"/>
          </p:nvPr>
        </p:nvSpPr>
        <p:spPr/>
        <p:txBody>
          <a:bodyPr/>
          <a:lstStyle/>
          <a:p>
            <a:r>
              <a:rPr lang="en-US" dirty="0"/>
              <a:t>Computer software is the logical components or set of procedures or</a:t>
            </a:r>
            <a:br>
              <a:rPr lang="en-US" dirty="0"/>
            </a:br>
            <a:r>
              <a:rPr lang="en-US" dirty="0"/>
              <a:t>machine-readable instructions that coordinate and control the computer hardware in an information system. </a:t>
            </a:r>
          </a:p>
          <a:p>
            <a:r>
              <a:rPr lang="en-US" dirty="0"/>
              <a:t>Computer hardware and software require each other, and neither can</a:t>
            </a:r>
            <a:br>
              <a:rPr lang="en-US" dirty="0"/>
            </a:br>
            <a:r>
              <a:rPr lang="en-US" dirty="0"/>
              <a:t>be realistically used without the other.</a:t>
            </a:r>
            <a:br>
              <a:rPr lang="en-US" dirty="0"/>
            </a:br>
            <a:endParaRPr lang="en-GB" dirty="0"/>
          </a:p>
          <a:p>
            <a:endParaRPr lang="en-GB" dirty="0"/>
          </a:p>
        </p:txBody>
      </p:sp>
      <p:sp>
        <p:nvSpPr>
          <p:cNvPr id="4" name="Slide Number Placeholder 3">
            <a:extLst>
              <a:ext uri="{FF2B5EF4-FFF2-40B4-BE49-F238E27FC236}">
                <a16:creationId xmlns:a16="http://schemas.microsoft.com/office/drawing/2014/main" id="{B2644168-74E3-E34A-0C32-785DAD8A9234}"/>
              </a:ext>
            </a:extLst>
          </p:cNvPr>
          <p:cNvSpPr>
            <a:spLocks noGrp="1"/>
          </p:cNvSpPr>
          <p:nvPr>
            <p:ph type="sldNum" sz="quarter" idx="12"/>
          </p:nvPr>
        </p:nvSpPr>
        <p:spPr/>
        <p:txBody>
          <a:bodyPr/>
          <a:lstStyle/>
          <a:p>
            <a:fld id="{F7F6A55E-33C2-478F-BF95-3903EF7A103F}" type="slidenum">
              <a:rPr lang="en-US" smtClean="0"/>
              <a:t>67</a:t>
            </a:fld>
            <a:endParaRPr lang="en-US"/>
          </a:p>
        </p:txBody>
      </p:sp>
    </p:spTree>
    <p:extLst>
      <p:ext uri="{BB962C8B-B14F-4D97-AF65-F5344CB8AC3E}">
        <p14:creationId xmlns:p14="http://schemas.microsoft.com/office/powerpoint/2010/main" val="19337588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AFF43-DEFA-6930-923F-B943E6A6631E}"/>
              </a:ext>
            </a:extLst>
          </p:cNvPr>
          <p:cNvSpPr>
            <a:spLocks noGrp="1"/>
          </p:cNvSpPr>
          <p:nvPr>
            <p:ph type="title"/>
          </p:nvPr>
        </p:nvSpPr>
        <p:spPr/>
        <p:txBody>
          <a:bodyPr/>
          <a:lstStyle/>
          <a:p>
            <a:r>
              <a:rPr lang="en-US" b="1" dirty="0"/>
              <a:t>Data Management Technology: </a:t>
            </a:r>
            <a:endParaRPr lang="en-GB" b="1" dirty="0"/>
          </a:p>
        </p:txBody>
      </p:sp>
      <p:sp>
        <p:nvSpPr>
          <p:cNvPr id="3" name="Content Placeholder 2">
            <a:extLst>
              <a:ext uri="{FF2B5EF4-FFF2-40B4-BE49-F238E27FC236}">
                <a16:creationId xmlns:a16="http://schemas.microsoft.com/office/drawing/2014/main" id="{7020EC39-EC4E-93B4-9AC2-37ADF8D6A1E1}"/>
              </a:ext>
            </a:extLst>
          </p:cNvPr>
          <p:cNvSpPr>
            <a:spLocks noGrp="1"/>
          </p:cNvSpPr>
          <p:nvPr>
            <p:ph idx="1"/>
          </p:nvPr>
        </p:nvSpPr>
        <p:spPr/>
        <p:txBody>
          <a:bodyPr/>
          <a:lstStyle/>
          <a:p>
            <a:r>
              <a:rPr lang="en-US" dirty="0"/>
              <a:t>Database management technology consists of programs for storing, indexing, retrieving, and manipulating large amounts of data.</a:t>
            </a:r>
            <a:br>
              <a:rPr lang="en-US" dirty="0"/>
            </a:br>
            <a:endParaRPr lang="en-GB" dirty="0"/>
          </a:p>
        </p:txBody>
      </p:sp>
      <p:sp>
        <p:nvSpPr>
          <p:cNvPr id="4" name="Slide Number Placeholder 3">
            <a:extLst>
              <a:ext uri="{FF2B5EF4-FFF2-40B4-BE49-F238E27FC236}">
                <a16:creationId xmlns:a16="http://schemas.microsoft.com/office/drawing/2014/main" id="{E7090905-5DF6-48B8-D776-C8BB2AAB7664}"/>
              </a:ext>
            </a:extLst>
          </p:cNvPr>
          <p:cNvSpPr>
            <a:spLocks noGrp="1"/>
          </p:cNvSpPr>
          <p:nvPr>
            <p:ph type="sldNum" sz="quarter" idx="12"/>
          </p:nvPr>
        </p:nvSpPr>
        <p:spPr/>
        <p:txBody>
          <a:bodyPr/>
          <a:lstStyle/>
          <a:p>
            <a:fld id="{F7F6A55E-33C2-478F-BF95-3903EF7A103F}" type="slidenum">
              <a:rPr lang="en-US" smtClean="0"/>
              <a:t>68</a:t>
            </a:fld>
            <a:endParaRPr lang="en-US"/>
          </a:p>
        </p:txBody>
      </p:sp>
    </p:spTree>
    <p:extLst>
      <p:ext uri="{BB962C8B-B14F-4D97-AF65-F5344CB8AC3E}">
        <p14:creationId xmlns:p14="http://schemas.microsoft.com/office/powerpoint/2010/main" val="20326540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528F-77F8-83F2-4986-08601BE00D87}"/>
              </a:ext>
            </a:extLst>
          </p:cNvPr>
          <p:cNvSpPr>
            <a:spLocks noGrp="1"/>
          </p:cNvSpPr>
          <p:nvPr>
            <p:ph type="title"/>
          </p:nvPr>
        </p:nvSpPr>
        <p:spPr/>
        <p:txBody>
          <a:bodyPr/>
          <a:lstStyle/>
          <a:p>
            <a:r>
              <a:rPr lang="en-US" b="1" dirty="0"/>
              <a:t>Network and Telecommunication Technology: </a:t>
            </a:r>
            <a:endParaRPr lang="en-GB" b="1" dirty="0"/>
          </a:p>
        </p:txBody>
      </p:sp>
      <p:sp>
        <p:nvSpPr>
          <p:cNvPr id="3" name="Content Placeholder 2">
            <a:extLst>
              <a:ext uri="{FF2B5EF4-FFF2-40B4-BE49-F238E27FC236}">
                <a16:creationId xmlns:a16="http://schemas.microsoft.com/office/drawing/2014/main" id="{29F6DE5C-C125-E825-3703-C8A8C1E8777E}"/>
              </a:ext>
            </a:extLst>
          </p:cNvPr>
          <p:cNvSpPr>
            <a:spLocks noGrp="1"/>
          </p:cNvSpPr>
          <p:nvPr>
            <p:ph idx="1"/>
          </p:nvPr>
        </p:nvSpPr>
        <p:spPr/>
        <p:txBody>
          <a:bodyPr>
            <a:normAutofit/>
          </a:bodyPr>
          <a:lstStyle/>
          <a:p>
            <a:r>
              <a:rPr lang="en-US" dirty="0"/>
              <a:t>Network and telecommunication technology consists of hardware devices, software, links, and any intermediate nodes, which</a:t>
            </a:r>
            <a:br>
              <a:rPr lang="en-US" dirty="0"/>
            </a:br>
            <a:r>
              <a:rPr lang="en-US" dirty="0"/>
              <a:t>are connected to enable transfer of data from one physical location to another. </a:t>
            </a:r>
          </a:p>
          <a:p>
            <a:r>
              <a:rPr lang="en-US" dirty="0"/>
              <a:t>Computers and communication equipment can be connected in networks for sharing data in the form of text, images, audio, and video. </a:t>
            </a:r>
          </a:p>
          <a:p>
            <a:r>
              <a:rPr lang="en-US" dirty="0"/>
              <a:t>A network links two or more computers so that share and</a:t>
            </a:r>
            <a:br>
              <a:rPr lang="en-US" dirty="0"/>
            </a:br>
            <a:r>
              <a:rPr lang="en-US" dirty="0"/>
              <a:t>exchange information and resources such as a printer.</a:t>
            </a:r>
            <a:br>
              <a:rPr lang="en-US" dirty="0"/>
            </a:br>
            <a:endParaRPr lang="en-GB" dirty="0"/>
          </a:p>
        </p:txBody>
      </p:sp>
      <p:sp>
        <p:nvSpPr>
          <p:cNvPr id="4" name="Slide Number Placeholder 3">
            <a:extLst>
              <a:ext uri="{FF2B5EF4-FFF2-40B4-BE49-F238E27FC236}">
                <a16:creationId xmlns:a16="http://schemas.microsoft.com/office/drawing/2014/main" id="{B900257F-AAB6-97FB-4671-8F8CFC40217A}"/>
              </a:ext>
            </a:extLst>
          </p:cNvPr>
          <p:cNvSpPr>
            <a:spLocks noGrp="1"/>
          </p:cNvSpPr>
          <p:nvPr>
            <p:ph type="sldNum" sz="quarter" idx="12"/>
          </p:nvPr>
        </p:nvSpPr>
        <p:spPr/>
        <p:txBody>
          <a:bodyPr/>
          <a:lstStyle/>
          <a:p>
            <a:fld id="{F7F6A55E-33C2-478F-BF95-3903EF7A103F}" type="slidenum">
              <a:rPr lang="en-US" smtClean="0"/>
              <a:t>69</a:t>
            </a:fld>
            <a:endParaRPr lang="en-US"/>
          </a:p>
        </p:txBody>
      </p:sp>
    </p:spTree>
    <p:extLst>
      <p:ext uri="{BB962C8B-B14F-4D97-AF65-F5344CB8AC3E}">
        <p14:creationId xmlns:p14="http://schemas.microsoft.com/office/powerpoint/2010/main" val="6892287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9F7DFB-7F8A-8968-6A19-1FE9D233CA9C}"/>
              </a:ext>
            </a:extLst>
          </p:cNvPr>
          <p:cNvSpPr>
            <a:spLocks noGrp="1"/>
          </p:cNvSpPr>
          <p:nvPr>
            <p:ph idx="1"/>
          </p:nvPr>
        </p:nvSpPr>
        <p:spPr>
          <a:xfrm>
            <a:off x="838200" y="808892"/>
            <a:ext cx="10515600" cy="5368071"/>
          </a:xfrm>
        </p:spPr>
        <p:txBody>
          <a:bodyPr>
            <a:normAutofit/>
          </a:bodyPr>
          <a:lstStyle/>
          <a:p>
            <a:r>
              <a:rPr lang="en-US" b="1" dirty="0"/>
              <a:t>Intranet: </a:t>
            </a:r>
          </a:p>
          <a:p>
            <a:pPr lvl="1"/>
            <a:r>
              <a:rPr lang="en-US" dirty="0"/>
              <a:t>Intranet refers to the private network that uses Internet protocols, network connectivity and possibly the public telecommunication system to securely share part of an organization's information or operations with its employees. </a:t>
            </a:r>
          </a:p>
          <a:p>
            <a:pPr lvl="1"/>
            <a:r>
              <a:rPr lang="en-US" dirty="0"/>
              <a:t>The Intranet is accessible only to the organization's employees.</a:t>
            </a:r>
          </a:p>
          <a:p>
            <a:r>
              <a:rPr lang="en-US" b="1" dirty="0"/>
              <a:t>Extranet: </a:t>
            </a:r>
          </a:p>
          <a:p>
            <a:pPr lvl="1"/>
            <a:r>
              <a:rPr lang="en-US" dirty="0"/>
              <a:t>An extranet is an intranet that can be accessed by outside user over the Internet. </a:t>
            </a:r>
          </a:p>
          <a:p>
            <a:pPr lvl="1"/>
            <a:r>
              <a:rPr lang="en-US" dirty="0"/>
              <a:t>To gain entrance to the extranet's resource, an external user</a:t>
            </a:r>
            <a:br>
              <a:rPr lang="en-US" dirty="0"/>
            </a:br>
            <a:r>
              <a:rPr lang="en-US" dirty="0"/>
              <a:t>(such as a business partner) typically must log on to the networks by providing a valid user ID and password.</a:t>
            </a:r>
            <a:endParaRPr lang="en-GB" dirty="0"/>
          </a:p>
        </p:txBody>
      </p:sp>
      <p:sp>
        <p:nvSpPr>
          <p:cNvPr id="4" name="Slide Number Placeholder 3">
            <a:extLst>
              <a:ext uri="{FF2B5EF4-FFF2-40B4-BE49-F238E27FC236}">
                <a16:creationId xmlns:a16="http://schemas.microsoft.com/office/drawing/2014/main" id="{B6B1C50A-2616-1350-7702-268DBE39E8F5}"/>
              </a:ext>
            </a:extLst>
          </p:cNvPr>
          <p:cNvSpPr>
            <a:spLocks noGrp="1"/>
          </p:cNvSpPr>
          <p:nvPr>
            <p:ph type="sldNum" sz="quarter" idx="12"/>
          </p:nvPr>
        </p:nvSpPr>
        <p:spPr/>
        <p:txBody>
          <a:bodyPr/>
          <a:lstStyle/>
          <a:p>
            <a:fld id="{F7F6A55E-33C2-478F-BF95-3903EF7A103F}" type="slidenum">
              <a:rPr lang="en-US" smtClean="0"/>
              <a:t>70</a:t>
            </a:fld>
            <a:endParaRPr lang="en-US"/>
          </a:p>
        </p:txBody>
      </p:sp>
    </p:spTree>
    <p:extLst>
      <p:ext uri="{BB962C8B-B14F-4D97-AF65-F5344CB8AC3E}">
        <p14:creationId xmlns:p14="http://schemas.microsoft.com/office/powerpoint/2010/main" val="2668149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2CBE53-CAAA-C200-39CF-2E67B9BB9D4C}"/>
              </a:ext>
            </a:extLst>
          </p:cNvPr>
          <p:cNvSpPr>
            <a:spLocks noGrp="1"/>
          </p:cNvSpPr>
          <p:nvPr>
            <p:ph idx="1"/>
          </p:nvPr>
        </p:nvSpPr>
        <p:spPr>
          <a:xfrm>
            <a:off x="838200" y="574431"/>
            <a:ext cx="10515600" cy="5602532"/>
          </a:xfrm>
        </p:spPr>
        <p:txBody>
          <a:bodyPr>
            <a:normAutofit fontScale="92500" lnSpcReduction="10000"/>
          </a:bodyPr>
          <a:lstStyle/>
          <a:p>
            <a:r>
              <a:rPr lang="en-US" b="1" dirty="0"/>
              <a:t>Internet: </a:t>
            </a:r>
          </a:p>
          <a:p>
            <a:pPr lvl="1"/>
            <a:r>
              <a:rPr lang="en-US" dirty="0"/>
              <a:t>The Internet is the interconnected network of thousands of networks</a:t>
            </a:r>
            <a:br>
              <a:rPr lang="en-US" dirty="0"/>
            </a:br>
            <a:r>
              <a:rPr lang="en-US" dirty="0"/>
              <a:t>and millions of computers linking business, educational institutes, government</a:t>
            </a:r>
            <a:br>
              <a:rPr lang="en-US" dirty="0"/>
            </a:br>
            <a:r>
              <a:rPr lang="en-US" dirty="0"/>
              <a:t>agencies and individuals together. </a:t>
            </a:r>
          </a:p>
          <a:p>
            <a:pPr lvl="1"/>
            <a:r>
              <a:rPr lang="en-US" dirty="0"/>
              <a:t>The Internet is the worldwide public network allowing global exchange of information as a result virtually any computer on any network can communicate with any other computer on the networks.</a:t>
            </a:r>
            <a:endParaRPr lang="en-GB" dirty="0"/>
          </a:p>
          <a:p>
            <a:endParaRPr lang="en-GB" dirty="0"/>
          </a:p>
          <a:p>
            <a:r>
              <a:rPr lang="en-US" b="1" dirty="0"/>
              <a:t>World Wide Web: </a:t>
            </a:r>
          </a:p>
          <a:p>
            <a:pPr lvl="1"/>
            <a:r>
              <a:rPr lang="en-US" dirty="0"/>
              <a:t>The World Wide Web also referred, as WWW is the service running on the Internet.</a:t>
            </a:r>
          </a:p>
          <a:p>
            <a:pPr lvl="1"/>
            <a:r>
              <a:rPr lang="en-US" dirty="0"/>
              <a:t>It is one of the most popular hypertext-based Internet</a:t>
            </a:r>
            <a:endParaRPr lang="en-GB" dirty="0"/>
          </a:p>
          <a:p>
            <a:pPr lvl="1"/>
            <a:r>
              <a:rPr lang="en-US" dirty="0"/>
              <a:t>tools that allow users to access and display documents and graphics stored on</a:t>
            </a:r>
            <a:br>
              <a:rPr lang="en-US" dirty="0"/>
            </a:br>
            <a:r>
              <a:rPr lang="en-US" dirty="0"/>
              <a:t>any server on the Internet. </a:t>
            </a:r>
          </a:p>
          <a:p>
            <a:pPr lvl="1"/>
            <a:r>
              <a:rPr lang="en-US" dirty="0"/>
              <a:t>It is the best model to share information effectively.</a:t>
            </a:r>
          </a:p>
          <a:p>
            <a:pPr lvl="1"/>
            <a:r>
              <a:rPr lang="en-US" dirty="0"/>
              <a:t>WWW uses special software called browsers such as Google chrome, Mozilla</a:t>
            </a:r>
            <a:br>
              <a:rPr lang="en-US" dirty="0"/>
            </a:br>
            <a:r>
              <a:rPr lang="en-US" dirty="0"/>
              <a:t>Firefox, Safari, or Internet Explorer to access web documents called web pages.</a:t>
            </a:r>
          </a:p>
          <a:p>
            <a:pPr lvl="1"/>
            <a:r>
              <a:rPr lang="en-US" dirty="0"/>
              <a:t>Web pages encompass text, graphics, audio, video etc.</a:t>
            </a:r>
            <a:endParaRPr lang="en-GB" dirty="0"/>
          </a:p>
          <a:p>
            <a:endParaRPr lang="en-GB" dirty="0"/>
          </a:p>
        </p:txBody>
      </p:sp>
      <p:sp>
        <p:nvSpPr>
          <p:cNvPr id="4" name="Slide Number Placeholder 3">
            <a:extLst>
              <a:ext uri="{FF2B5EF4-FFF2-40B4-BE49-F238E27FC236}">
                <a16:creationId xmlns:a16="http://schemas.microsoft.com/office/drawing/2014/main" id="{2C7FF08C-BC3C-846F-FE63-E212C175F5ED}"/>
              </a:ext>
            </a:extLst>
          </p:cNvPr>
          <p:cNvSpPr>
            <a:spLocks noGrp="1"/>
          </p:cNvSpPr>
          <p:nvPr>
            <p:ph type="sldNum" sz="quarter" idx="12"/>
          </p:nvPr>
        </p:nvSpPr>
        <p:spPr/>
        <p:txBody>
          <a:bodyPr/>
          <a:lstStyle/>
          <a:p>
            <a:fld id="{F7F6A55E-33C2-478F-BF95-3903EF7A103F}" type="slidenum">
              <a:rPr lang="en-US" smtClean="0"/>
              <a:t>71</a:t>
            </a:fld>
            <a:endParaRPr lang="en-US"/>
          </a:p>
        </p:txBody>
      </p:sp>
    </p:spTree>
    <p:extLst>
      <p:ext uri="{BB962C8B-B14F-4D97-AF65-F5344CB8AC3E}">
        <p14:creationId xmlns:p14="http://schemas.microsoft.com/office/powerpoint/2010/main" val="5025722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319DB-E5D1-1680-3F9E-6044E16B7E4A}"/>
              </a:ext>
            </a:extLst>
          </p:cNvPr>
          <p:cNvSpPr>
            <a:spLocks noGrp="1"/>
          </p:cNvSpPr>
          <p:nvPr>
            <p:ph type="title"/>
          </p:nvPr>
        </p:nvSpPr>
        <p:spPr/>
        <p:txBody>
          <a:bodyPr/>
          <a:lstStyle/>
          <a:p>
            <a:r>
              <a:rPr lang="en-US" b="1" dirty="0"/>
              <a:t>Computer Based Information System (CBIS)</a:t>
            </a:r>
            <a:endParaRPr lang="en-GB" dirty="0"/>
          </a:p>
        </p:txBody>
      </p:sp>
      <p:sp>
        <p:nvSpPr>
          <p:cNvPr id="3" name="Content Placeholder 2">
            <a:extLst>
              <a:ext uri="{FF2B5EF4-FFF2-40B4-BE49-F238E27FC236}">
                <a16:creationId xmlns:a16="http://schemas.microsoft.com/office/drawing/2014/main" id="{E4885A66-946C-44A1-55DC-6D8D2638526A}"/>
              </a:ext>
            </a:extLst>
          </p:cNvPr>
          <p:cNvSpPr>
            <a:spLocks noGrp="1"/>
          </p:cNvSpPr>
          <p:nvPr>
            <p:ph idx="1"/>
          </p:nvPr>
        </p:nvSpPr>
        <p:spPr/>
        <p:txBody>
          <a:bodyPr>
            <a:normAutofit fontScale="92500" lnSpcReduction="10000"/>
          </a:bodyPr>
          <a:lstStyle/>
          <a:p>
            <a:r>
              <a:rPr lang="en-US" dirty="0"/>
              <a:t>From the moment you sit at the work desk and boot the computer, you depend on them to perform virtually every task that you are charged with completing throughout the day.</a:t>
            </a:r>
          </a:p>
          <a:p>
            <a:r>
              <a:rPr lang="en-US" dirty="0"/>
              <a:t>Computer-based information systems are the core of the modern workplace. </a:t>
            </a:r>
          </a:p>
          <a:p>
            <a:r>
              <a:rPr lang="en-US" dirty="0"/>
              <a:t>They include hardware, software and the people tasked with providing these systems with input as well as utilizing the data that is stored and disseminated by the system.</a:t>
            </a:r>
          </a:p>
          <a:p>
            <a:r>
              <a:rPr lang="en-US" b="1" dirty="0"/>
              <a:t>CBIS</a:t>
            </a:r>
            <a:r>
              <a:rPr lang="en-US" dirty="0"/>
              <a:t> includes data collection elements, data storage systems, processing capacities, network transmission, indexing services, and the procedures by which all these elements are integrated under a common electronic architecture. </a:t>
            </a:r>
            <a:endParaRPr lang="en-GB" dirty="0"/>
          </a:p>
        </p:txBody>
      </p:sp>
      <p:sp>
        <p:nvSpPr>
          <p:cNvPr id="4" name="Slide Number Placeholder 3">
            <a:extLst>
              <a:ext uri="{FF2B5EF4-FFF2-40B4-BE49-F238E27FC236}">
                <a16:creationId xmlns:a16="http://schemas.microsoft.com/office/drawing/2014/main" id="{E4DBF3A3-E206-53F3-FE5E-603C7C8AC321}"/>
              </a:ext>
            </a:extLst>
          </p:cNvPr>
          <p:cNvSpPr>
            <a:spLocks noGrp="1"/>
          </p:cNvSpPr>
          <p:nvPr>
            <p:ph type="sldNum" sz="quarter" idx="12"/>
          </p:nvPr>
        </p:nvSpPr>
        <p:spPr/>
        <p:txBody>
          <a:bodyPr/>
          <a:lstStyle/>
          <a:p>
            <a:fld id="{F7F6A55E-33C2-478F-BF95-3903EF7A103F}" type="slidenum">
              <a:rPr lang="en-US" smtClean="0"/>
              <a:t>72</a:t>
            </a:fld>
            <a:endParaRPr lang="en-US"/>
          </a:p>
        </p:txBody>
      </p:sp>
    </p:spTree>
    <p:extLst>
      <p:ext uri="{BB962C8B-B14F-4D97-AF65-F5344CB8AC3E}">
        <p14:creationId xmlns:p14="http://schemas.microsoft.com/office/powerpoint/2010/main" val="7182417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3600AB-F5B4-9C44-4D6E-3B0BB079A4FC}"/>
              </a:ext>
            </a:extLst>
          </p:cNvPr>
          <p:cNvSpPr>
            <a:spLocks noGrp="1"/>
          </p:cNvSpPr>
          <p:nvPr>
            <p:ph idx="1"/>
          </p:nvPr>
        </p:nvSpPr>
        <p:spPr>
          <a:xfrm>
            <a:off x="838200" y="621323"/>
            <a:ext cx="10515600" cy="5555640"/>
          </a:xfrm>
        </p:spPr>
        <p:txBody>
          <a:bodyPr>
            <a:normAutofit fontScale="92500" lnSpcReduction="10000"/>
          </a:bodyPr>
          <a:lstStyle/>
          <a:p>
            <a:r>
              <a:rPr lang="en-US" dirty="0"/>
              <a:t>While most of these processes are digitized and automated, there are specific mechanisms within any computer-based system that require</a:t>
            </a:r>
            <a:br>
              <a:rPr lang="en-US" dirty="0"/>
            </a:br>
            <a:r>
              <a:rPr lang="en-US" dirty="0"/>
              <a:t>human supervision and intervention to ensure things continue to run smoothly.</a:t>
            </a:r>
          </a:p>
          <a:p>
            <a:r>
              <a:rPr lang="en-US" dirty="0"/>
              <a:t>Computer Based Information System (CBIS) is an information system in which the computer plays a major role. </a:t>
            </a:r>
          </a:p>
          <a:p>
            <a:r>
              <a:rPr lang="en-US" dirty="0"/>
              <a:t>A CBIS is the integration of hardware, software and human elements designed to produce timely, integrated, accurate and useful information for</a:t>
            </a:r>
            <a:br>
              <a:rPr lang="en-US" dirty="0"/>
            </a:br>
            <a:r>
              <a:rPr lang="en-US" dirty="0"/>
              <a:t>decision making purposes. </a:t>
            </a:r>
          </a:p>
          <a:p>
            <a:r>
              <a:rPr lang="en-US" dirty="0"/>
              <a:t>The CBIS provides an easy to use and interactive graphical user interface where user interacts through input devices such as keyboard, mouse, touch screen or even voice command. </a:t>
            </a:r>
          </a:p>
          <a:p>
            <a:r>
              <a:rPr lang="en-US" dirty="0"/>
              <a:t>The system processes the user inputs and responds accordingly to the output devices such as monitors.</a:t>
            </a:r>
            <a:endParaRPr lang="en-GB" dirty="0"/>
          </a:p>
          <a:p>
            <a:endParaRPr lang="en-GB" dirty="0"/>
          </a:p>
        </p:txBody>
      </p:sp>
      <p:sp>
        <p:nvSpPr>
          <p:cNvPr id="4" name="Slide Number Placeholder 3">
            <a:extLst>
              <a:ext uri="{FF2B5EF4-FFF2-40B4-BE49-F238E27FC236}">
                <a16:creationId xmlns:a16="http://schemas.microsoft.com/office/drawing/2014/main" id="{7C8EA4D3-4F6F-BA16-4671-1062F2D31176}"/>
              </a:ext>
            </a:extLst>
          </p:cNvPr>
          <p:cNvSpPr>
            <a:spLocks noGrp="1"/>
          </p:cNvSpPr>
          <p:nvPr>
            <p:ph type="sldNum" sz="quarter" idx="12"/>
          </p:nvPr>
        </p:nvSpPr>
        <p:spPr/>
        <p:txBody>
          <a:bodyPr/>
          <a:lstStyle/>
          <a:p>
            <a:fld id="{F7F6A55E-33C2-478F-BF95-3903EF7A103F}" type="slidenum">
              <a:rPr lang="en-US" smtClean="0"/>
              <a:t>73</a:t>
            </a:fld>
            <a:endParaRPr lang="en-US"/>
          </a:p>
        </p:txBody>
      </p:sp>
    </p:spTree>
    <p:extLst>
      <p:ext uri="{BB962C8B-B14F-4D97-AF65-F5344CB8AC3E}">
        <p14:creationId xmlns:p14="http://schemas.microsoft.com/office/powerpoint/2010/main" val="288835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9EE4-21BF-B8B8-EB40-CA73A5CD5910}"/>
              </a:ext>
            </a:extLst>
          </p:cNvPr>
          <p:cNvSpPr>
            <a:spLocks noGrp="1"/>
          </p:cNvSpPr>
          <p:nvPr>
            <p:ph type="title"/>
          </p:nvPr>
        </p:nvSpPr>
        <p:spPr/>
        <p:txBody>
          <a:bodyPr>
            <a:normAutofit/>
          </a:bodyPr>
          <a:lstStyle/>
          <a:p>
            <a:r>
              <a:rPr lang="en-US" sz="3600" b="1" dirty="0"/>
              <a:t>A typical system consists of the following elements:</a:t>
            </a:r>
            <a:endParaRPr lang="en-GB" sz="3600" b="1" dirty="0"/>
          </a:p>
        </p:txBody>
      </p:sp>
      <p:sp>
        <p:nvSpPr>
          <p:cNvPr id="3" name="Content Placeholder 2">
            <a:extLst>
              <a:ext uri="{FF2B5EF4-FFF2-40B4-BE49-F238E27FC236}">
                <a16:creationId xmlns:a16="http://schemas.microsoft.com/office/drawing/2014/main" id="{D92E561F-A22B-A5F8-1EEE-FBBC94AAA74B}"/>
              </a:ext>
            </a:extLst>
          </p:cNvPr>
          <p:cNvSpPr>
            <a:spLocks noGrp="1"/>
          </p:cNvSpPr>
          <p:nvPr>
            <p:ph idx="1"/>
          </p:nvPr>
        </p:nvSpPr>
        <p:spPr/>
        <p:txBody>
          <a:bodyPr>
            <a:normAutofit fontScale="92500" lnSpcReduction="10000"/>
          </a:bodyPr>
          <a:lstStyle/>
          <a:p>
            <a:r>
              <a:rPr lang="en-US" b="1" dirty="0"/>
              <a:t>Hardware: </a:t>
            </a:r>
          </a:p>
          <a:p>
            <a:pPr lvl="1"/>
            <a:r>
              <a:rPr lang="en-US" dirty="0"/>
              <a:t>This element includes the physical components of the computer itself, which is consists of input and output devices, storage devices and communications devices such as the monitor, processor, memory, hard disk, printer, keyboard, mouse </a:t>
            </a:r>
            <a:r>
              <a:rPr lang="en-US" dirty="0" err="1"/>
              <a:t>etc</a:t>
            </a:r>
            <a:r>
              <a:rPr lang="en-US" dirty="0"/>
              <a:t> which work together to accept, process, and show the output.</a:t>
            </a:r>
            <a:endParaRPr lang="en-GB" dirty="0"/>
          </a:p>
          <a:p>
            <a:pPr marL="0" indent="0">
              <a:buNone/>
            </a:pPr>
            <a:br>
              <a:rPr lang="en-US" dirty="0"/>
            </a:br>
            <a:r>
              <a:rPr lang="en-US" b="1" dirty="0"/>
              <a:t>Software: </a:t>
            </a:r>
          </a:p>
          <a:p>
            <a:pPr lvl="1"/>
            <a:r>
              <a:rPr lang="en-US" dirty="0"/>
              <a:t>The term software refers to computer programs and the manuals that support them. </a:t>
            </a:r>
          </a:p>
          <a:p>
            <a:pPr lvl="1"/>
            <a:r>
              <a:rPr lang="en-US" dirty="0"/>
              <a:t>Computer programs are machine-readable instructions that direct the circuitry within the hardware parts of the CBIS to function in ways that produce useful information from data. </a:t>
            </a:r>
          </a:p>
          <a:p>
            <a:pPr lvl="1"/>
            <a:r>
              <a:rPr lang="en-US" dirty="0"/>
              <a:t>Programs are generally stored on the storage device.</a:t>
            </a:r>
            <a:br>
              <a:rPr lang="en-US" dirty="0"/>
            </a:br>
            <a:endParaRPr lang="en-GB" dirty="0"/>
          </a:p>
        </p:txBody>
      </p:sp>
      <p:sp>
        <p:nvSpPr>
          <p:cNvPr id="4" name="Slide Number Placeholder 3">
            <a:extLst>
              <a:ext uri="{FF2B5EF4-FFF2-40B4-BE49-F238E27FC236}">
                <a16:creationId xmlns:a16="http://schemas.microsoft.com/office/drawing/2014/main" id="{57580AED-85D3-29AF-094E-2C2C4E253733}"/>
              </a:ext>
            </a:extLst>
          </p:cNvPr>
          <p:cNvSpPr>
            <a:spLocks noGrp="1"/>
          </p:cNvSpPr>
          <p:nvPr>
            <p:ph type="sldNum" sz="quarter" idx="12"/>
          </p:nvPr>
        </p:nvSpPr>
        <p:spPr/>
        <p:txBody>
          <a:bodyPr/>
          <a:lstStyle/>
          <a:p>
            <a:fld id="{F7F6A55E-33C2-478F-BF95-3903EF7A103F}" type="slidenum">
              <a:rPr lang="en-US" smtClean="0"/>
              <a:t>74</a:t>
            </a:fld>
            <a:endParaRPr lang="en-US"/>
          </a:p>
        </p:txBody>
      </p:sp>
    </p:spTree>
    <p:extLst>
      <p:ext uri="{BB962C8B-B14F-4D97-AF65-F5344CB8AC3E}">
        <p14:creationId xmlns:p14="http://schemas.microsoft.com/office/powerpoint/2010/main" val="8846368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549C48-7A8E-E257-6A9C-02C6D5880F94}"/>
              </a:ext>
            </a:extLst>
          </p:cNvPr>
          <p:cNvSpPr>
            <a:spLocks noGrp="1"/>
          </p:cNvSpPr>
          <p:nvPr>
            <p:ph idx="1"/>
          </p:nvPr>
        </p:nvSpPr>
        <p:spPr>
          <a:xfrm>
            <a:off x="838200" y="773723"/>
            <a:ext cx="10515600" cy="5403240"/>
          </a:xfrm>
        </p:spPr>
        <p:txBody>
          <a:bodyPr>
            <a:normAutofit lnSpcReduction="10000"/>
          </a:bodyPr>
          <a:lstStyle/>
          <a:p>
            <a:r>
              <a:rPr lang="en-US" b="1" dirty="0"/>
              <a:t>Data: </a:t>
            </a:r>
          </a:p>
          <a:p>
            <a:pPr lvl="1"/>
            <a:r>
              <a:rPr lang="en-US" dirty="0"/>
              <a:t>Data are facts that are used by programs to produce useful information.</a:t>
            </a:r>
            <a:br>
              <a:rPr lang="en-US" dirty="0"/>
            </a:br>
            <a:r>
              <a:rPr lang="en-US" dirty="0"/>
              <a:t>Like programs, data are generally stored in machine-readable from on disk</a:t>
            </a:r>
            <a:br>
              <a:rPr lang="en-US" dirty="0"/>
            </a:br>
            <a:r>
              <a:rPr lang="en-US" dirty="0"/>
              <a:t>until the computer needs them.</a:t>
            </a:r>
          </a:p>
          <a:p>
            <a:r>
              <a:rPr lang="en-US" b="1" dirty="0"/>
              <a:t>Procedures: </a:t>
            </a:r>
          </a:p>
          <a:p>
            <a:pPr lvl="1"/>
            <a:r>
              <a:rPr lang="en-US" dirty="0"/>
              <a:t>Procedures are the policies that govern the operation of</a:t>
            </a:r>
            <a:br>
              <a:rPr lang="en-US" dirty="0"/>
            </a:br>
            <a:r>
              <a:rPr lang="en-US" dirty="0"/>
              <a:t>a computer system. </a:t>
            </a:r>
          </a:p>
          <a:p>
            <a:pPr lvl="1"/>
            <a:r>
              <a:rPr lang="en-US" dirty="0"/>
              <a:t>"Procedures are to people what software is to hardware” is a common analogy that is used to illustrate the role of procedures in a CBIS.</a:t>
            </a:r>
          </a:p>
          <a:p>
            <a:r>
              <a:rPr lang="en-US" b="1" dirty="0"/>
              <a:t>People: </a:t>
            </a:r>
          </a:p>
          <a:p>
            <a:pPr lvl="1"/>
            <a:r>
              <a:rPr lang="en-US" dirty="0"/>
              <a:t>Every Computer Based Information System (CBIS) need people if it is</a:t>
            </a:r>
            <a:br>
              <a:rPr lang="en-US" dirty="0"/>
            </a:br>
            <a:r>
              <a:rPr lang="en-US" dirty="0"/>
              <a:t>to be useful. </a:t>
            </a:r>
          </a:p>
          <a:p>
            <a:pPr lvl="1"/>
            <a:r>
              <a:rPr lang="en-US" dirty="0"/>
              <a:t>Often the most overlooked element of the CBIS is the people, probably the components that most influence the success or failure of the</a:t>
            </a:r>
            <a:br>
              <a:rPr lang="en-US" dirty="0"/>
            </a:br>
            <a:r>
              <a:rPr lang="en-US" dirty="0"/>
              <a:t>information system.</a:t>
            </a:r>
            <a:endParaRPr lang="en-GB" dirty="0"/>
          </a:p>
          <a:p>
            <a:endParaRPr lang="en-GB" dirty="0"/>
          </a:p>
        </p:txBody>
      </p:sp>
      <p:sp>
        <p:nvSpPr>
          <p:cNvPr id="4" name="Slide Number Placeholder 3">
            <a:extLst>
              <a:ext uri="{FF2B5EF4-FFF2-40B4-BE49-F238E27FC236}">
                <a16:creationId xmlns:a16="http://schemas.microsoft.com/office/drawing/2014/main" id="{331D9E43-6FBD-4B1D-6157-790F8E51264F}"/>
              </a:ext>
            </a:extLst>
          </p:cNvPr>
          <p:cNvSpPr>
            <a:spLocks noGrp="1"/>
          </p:cNvSpPr>
          <p:nvPr>
            <p:ph type="sldNum" sz="quarter" idx="12"/>
          </p:nvPr>
        </p:nvSpPr>
        <p:spPr/>
        <p:txBody>
          <a:bodyPr/>
          <a:lstStyle/>
          <a:p>
            <a:fld id="{F7F6A55E-33C2-478F-BF95-3903EF7A103F}" type="slidenum">
              <a:rPr lang="en-US" smtClean="0"/>
              <a:t>75</a:t>
            </a:fld>
            <a:endParaRPr lang="en-US"/>
          </a:p>
        </p:txBody>
      </p:sp>
    </p:spTree>
    <p:extLst>
      <p:ext uri="{BB962C8B-B14F-4D97-AF65-F5344CB8AC3E}">
        <p14:creationId xmlns:p14="http://schemas.microsoft.com/office/powerpoint/2010/main" val="5519674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A6D3D-D491-618E-6270-550A12A21205}"/>
              </a:ext>
            </a:extLst>
          </p:cNvPr>
          <p:cNvSpPr>
            <a:spLocks noGrp="1"/>
          </p:cNvSpPr>
          <p:nvPr>
            <p:ph type="title"/>
          </p:nvPr>
        </p:nvSpPr>
        <p:spPr/>
        <p:txBody>
          <a:bodyPr>
            <a:normAutofit/>
          </a:bodyPr>
          <a:lstStyle/>
          <a:p>
            <a:r>
              <a:rPr lang="en-US" sz="4000" b="1" dirty="0"/>
              <a:t>Types of Computers Based Information Systems</a:t>
            </a:r>
            <a:endParaRPr lang="en-GB" sz="4000" dirty="0"/>
          </a:p>
        </p:txBody>
      </p:sp>
      <p:sp>
        <p:nvSpPr>
          <p:cNvPr id="3" name="Content Placeholder 2">
            <a:extLst>
              <a:ext uri="{FF2B5EF4-FFF2-40B4-BE49-F238E27FC236}">
                <a16:creationId xmlns:a16="http://schemas.microsoft.com/office/drawing/2014/main" id="{CF253450-F929-A099-4A3C-0767ED6604C5}"/>
              </a:ext>
            </a:extLst>
          </p:cNvPr>
          <p:cNvSpPr>
            <a:spLocks noGrp="1"/>
          </p:cNvSpPr>
          <p:nvPr>
            <p:ph idx="1"/>
          </p:nvPr>
        </p:nvSpPr>
        <p:spPr/>
        <p:txBody>
          <a:bodyPr>
            <a:normAutofit lnSpcReduction="10000"/>
          </a:bodyPr>
          <a:lstStyle/>
          <a:p>
            <a:r>
              <a:rPr lang="en-US" dirty="0"/>
              <a:t>Information systems play a crucial role in organizations across different sectors, enabling them to streamline processes, enhance communication, and gain insights into business performance. </a:t>
            </a:r>
          </a:p>
          <a:p>
            <a:r>
              <a:rPr lang="en-US" dirty="0"/>
              <a:t>Categories of different information systems listed below. </a:t>
            </a:r>
          </a:p>
          <a:p>
            <a:pPr lvl="1"/>
            <a:r>
              <a:rPr lang="en-US" b="1" dirty="0"/>
              <a:t>Transaction Processing System (TPS)</a:t>
            </a:r>
          </a:p>
          <a:p>
            <a:pPr lvl="1"/>
            <a:r>
              <a:rPr lang="en-US" b="1" dirty="0"/>
              <a:t>Management Information Systems (MIS)</a:t>
            </a:r>
          </a:p>
          <a:p>
            <a:pPr lvl="1"/>
            <a:r>
              <a:rPr lang="en-US" b="1" dirty="0"/>
              <a:t>Decision Support Systems (DDS)</a:t>
            </a:r>
          </a:p>
          <a:p>
            <a:pPr lvl="1"/>
            <a:r>
              <a:rPr lang="en-US" b="1" dirty="0"/>
              <a:t>Executive Information Systems (EIS)</a:t>
            </a:r>
          </a:p>
          <a:p>
            <a:pPr lvl="1"/>
            <a:r>
              <a:rPr lang="en-US" b="1" dirty="0"/>
              <a:t>Expert Systems (ES)</a:t>
            </a:r>
          </a:p>
          <a:p>
            <a:pPr lvl="1"/>
            <a:r>
              <a:rPr lang="en-US" b="1" dirty="0"/>
              <a:t>Enterprise Resource Planning (ERP)</a:t>
            </a:r>
          </a:p>
          <a:p>
            <a:pPr lvl="1"/>
            <a:r>
              <a:rPr lang="en-US" b="1" dirty="0"/>
              <a:t>Office Automation Systems (OAS)</a:t>
            </a:r>
            <a:endParaRPr lang="en-US" dirty="0"/>
          </a:p>
          <a:p>
            <a:pPr marL="0" indent="0">
              <a:buNone/>
            </a:pPr>
            <a:endParaRPr lang="en-GB" dirty="0"/>
          </a:p>
        </p:txBody>
      </p:sp>
      <p:sp>
        <p:nvSpPr>
          <p:cNvPr id="4" name="Slide Number Placeholder 3">
            <a:extLst>
              <a:ext uri="{FF2B5EF4-FFF2-40B4-BE49-F238E27FC236}">
                <a16:creationId xmlns:a16="http://schemas.microsoft.com/office/drawing/2014/main" id="{B6987EF0-99B2-8A46-9065-7630FEBD8C7F}"/>
              </a:ext>
            </a:extLst>
          </p:cNvPr>
          <p:cNvSpPr>
            <a:spLocks noGrp="1"/>
          </p:cNvSpPr>
          <p:nvPr>
            <p:ph type="sldNum" sz="quarter" idx="12"/>
          </p:nvPr>
        </p:nvSpPr>
        <p:spPr/>
        <p:txBody>
          <a:bodyPr/>
          <a:lstStyle/>
          <a:p>
            <a:fld id="{F7F6A55E-33C2-478F-BF95-3903EF7A103F}" type="slidenum">
              <a:rPr lang="en-US" smtClean="0"/>
              <a:t>76</a:t>
            </a:fld>
            <a:endParaRPr lang="en-US"/>
          </a:p>
        </p:txBody>
      </p:sp>
    </p:spTree>
    <p:extLst>
      <p:ext uri="{BB962C8B-B14F-4D97-AF65-F5344CB8AC3E}">
        <p14:creationId xmlns:p14="http://schemas.microsoft.com/office/powerpoint/2010/main" val="1847683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99693-7D15-9881-77E7-940589BFC748}"/>
              </a:ext>
            </a:extLst>
          </p:cNvPr>
          <p:cNvSpPr>
            <a:spLocks noGrp="1"/>
          </p:cNvSpPr>
          <p:nvPr>
            <p:ph type="title"/>
          </p:nvPr>
        </p:nvSpPr>
        <p:spPr/>
        <p:txBody>
          <a:bodyPr/>
          <a:lstStyle/>
          <a:p>
            <a:r>
              <a:rPr lang="en-US" b="1" dirty="0"/>
              <a:t>Impact of IT on Organizations</a:t>
            </a:r>
            <a:endParaRPr lang="en-GB" dirty="0"/>
          </a:p>
        </p:txBody>
      </p:sp>
      <p:sp>
        <p:nvSpPr>
          <p:cNvPr id="3" name="Content Placeholder 2">
            <a:extLst>
              <a:ext uri="{FF2B5EF4-FFF2-40B4-BE49-F238E27FC236}">
                <a16:creationId xmlns:a16="http://schemas.microsoft.com/office/drawing/2014/main" id="{ADF5D029-0589-38DE-A18A-D381EAA0F361}"/>
              </a:ext>
            </a:extLst>
          </p:cNvPr>
          <p:cNvSpPr>
            <a:spLocks noGrp="1"/>
          </p:cNvSpPr>
          <p:nvPr>
            <p:ph idx="1"/>
          </p:nvPr>
        </p:nvSpPr>
        <p:spPr/>
        <p:txBody>
          <a:bodyPr>
            <a:normAutofit/>
          </a:bodyPr>
          <a:lstStyle/>
          <a:p>
            <a:r>
              <a:rPr lang="en-US" dirty="0"/>
              <a:t>As we all know, Information Technology (IT) has become the lifeblood of modern organizations. </a:t>
            </a:r>
          </a:p>
          <a:p>
            <a:r>
              <a:rPr lang="en-US" dirty="0"/>
              <a:t>It's no longer just a department handling computers and networks; it’s a strategic force that spreads through every part of an organization's operations. </a:t>
            </a:r>
          </a:p>
          <a:p>
            <a:r>
              <a:rPr lang="en-US" dirty="0"/>
              <a:t>From streamlining internal processes to enhancing customer interactions and driving innovation, IT has fundamentally reshaped the way businesses operate and compete. </a:t>
            </a:r>
          </a:p>
          <a:p>
            <a:r>
              <a:rPr lang="en-US" dirty="0"/>
              <a:t>The impact of IT on organizations are described in the points mentioned below:</a:t>
            </a:r>
            <a:endParaRPr lang="en-GB" dirty="0"/>
          </a:p>
          <a:p>
            <a:endParaRPr lang="en-GB" dirty="0"/>
          </a:p>
        </p:txBody>
      </p:sp>
      <p:sp>
        <p:nvSpPr>
          <p:cNvPr id="4" name="Slide Number Placeholder 3">
            <a:extLst>
              <a:ext uri="{FF2B5EF4-FFF2-40B4-BE49-F238E27FC236}">
                <a16:creationId xmlns:a16="http://schemas.microsoft.com/office/drawing/2014/main" id="{5E8F4741-0A72-0CC0-ED29-3DE3916F2408}"/>
              </a:ext>
            </a:extLst>
          </p:cNvPr>
          <p:cNvSpPr>
            <a:spLocks noGrp="1"/>
          </p:cNvSpPr>
          <p:nvPr>
            <p:ph type="sldNum" sz="quarter" idx="12"/>
          </p:nvPr>
        </p:nvSpPr>
        <p:spPr/>
        <p:txBody>
          <a:bodyPr/>
          <a:lstStyle/>
          <a:p>
            <a:fld id="{F7F6A55E-33C2-478F-BF95-3903EF7A103F}" type="slidenum">
              <a:rPr lang="en-US" smtClean="0"/>
              <a:t>77</a:t>
            </a:fld>
            <a:endParaRPr lang="en-US"/>
          </a:p>
        </p:txBody>
      </p:sp>
    </p:spTree>
    <p:extLst>
      <p:ext uri="{BB962C8B-B14F-4D97-AF65-F5344CB8AC3E}">
        <p14:creationId xmlns:p14="http://schemas.microsoft.com/office/powerpoint/2010/main" val="28325420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4D973-A4A1-73FC-28E9-167F0C46498E}"/>
              </a:ext>
            </a:extLst>
          </p:cNvPr>
          <p:cNvSpPr>
            <a:spLocks noGrp="1"/>
          </p:cNvSpPr>
          <p:nvPr>
            <p:ph type="title"/>
          </p:nvPr>
        </p:nvSpPr>
        <p:spPr/>
        <p:txBody>
          <a:bodyPr/>
          <a:lstStyle/>
          <a:p>
            <a:r>
              <a:rPr lang="en-US" b="1" dirty="0"/>
              <a:t>Enhanced Efficiency and Productivity:</a:t>
            </a:r>
            <a:endParaRPr lang="en-GB" dirty="0"/>
          </a:p>
        </p:txBody>
      </p:sp>
      <p:sp>
        <p:nvSpPr>
          <p:cNvPr id="3" name="Content Placeholder 2">
            <a:extLst>
              <a:ext uri="{FF2B5EF4-FFF2-40B4-BE49-F238E27FC236}">
                <a16:creationId xmlns:a16="http://schemas.microsoft.com/office/drawing/2014/main" id="{50630168-0298-726F-3860-13F0A3E0DDA8}"/>
              </a:ext>
            </a:extLst>
          </p:cNvPr>
          <p:cNvSpPr>
            <a:spLocks noGrp="1"/>
          </p:cNvSpPr>
          <p:nvPr>
            <p:ph idx="1"/>
          </p:nvPr>
        </p:nvSpPr>
        <p:spPr/>
        <p:txBody>
          <a:bodyPr>
            <a:normAutofit fontScale="92500"/>
          </a:bodyPr>
          <a:lstStyle/>
          <a:p>
            <a:r>
              <a:rPr lang="en-US" dirty="0"/>
              <a:t>Automation: </a:t>
            </a:r>
          </a:p>
          <a:p>
            <a:pPr lvl="1"/>
            <a:r>
              <a:rPr lang="en-US" dirty="0"/>
              <a:t>Repetitive tasks that were once handled manually are now automated with software and digital workflows. </a:t>
            </a:r>
          </a:p>
          <a:p>
            <a:pPr lvl="1"/>
            <a:r>
              <a:rPr lang="en-US" dirty="0"/>
              <a:t>Think of automated payroll processing, invoice generation, or customer service chatbots. </a:t>
            </a:r>
          </a:p>
          <a:p>
            <a:pPr lvl="1"/>
            <a:r>
              <a:rPr lang="en-US" dirty="0"/>
              <a:t>This frees up employee time for more strategic tasks, boosting overall productivity.</a:t>
            </a:r>
          </a:p>
          <a:p>
            <a:pPr lvl="1"/>
            <a:endParaRPr lang="en-GB" dirty="0"/>
          </a:p>
          <a:p>
            <a:r>
              <a:rPr lang="en-US" dirty="0"/>
              <a:t>Improved Communication and Collaboration: </a:t>
            </a:r>
          </a:p>
          <a:p>
            <a:pPr lvl="1"/>
            <a:r>
              <a:rPr lang="en-US" dirty="0"/>
              <a:t>Email, instant messaging platforms, and video conferencing tools have revolutionized communication within and across teams. Instant access to information and colleagues fosters efficient collaboration and faster decision-making.</a:t>
            </a:r>
            <a:endParaRPr lang="en-GB" dirty="0"/>
          </a:p>
          <a:p>
            <a:endParaRPr lang="en-GB" dirty="0"/>
          </a:p>
        </p:txBody>
      </p:sp>
      <p:sp>
        <p:nvSpPr>
          <p:cNvPr id="4" name="Slide Number Placeholder 3">
            <a:extLst>
              <a:ext uri="{FF2B5EF4-FFF2-40B4-BE49-F238E27FC236}">
                <a16:creationId xmlns:a16="http://schemas.microsoft.com/office/drawing/2014/main" id="{C63AFFE6-1E1B-0D9B-B256-9B7000BD4AB1}"/>
              </a:ext>
            </a:extLst>
          </p:cNvPr>
          <p:cNvSpPr>
            <a:spLocks noGrp="1"/>
          </p:cNvSpPr>
          <p:nvPr>
            <p:ph type="sldNum" sz="quarter" idx="12"/>
          </p:nvPr>
        </p:nvSpPr>
        <p:spPr/>
        <p:txBody>
          <a:bodyPr/>
          <a:lstStyle/>
          <a:p>
            <a:fld id="{F7F6A55E-33C2-478F-BF95-3903EF7A103F}" type="slidenum">
              <a:rPr lang="en-US" smtClean="0"/>
              <a:t>78</a:t>
            </a:fld>
            <a:endParaRPr lang="en-US"/>
          </a:p>
        </p:txBody>
      </p:sp>
    </p:spTree>
    <p:extLst>
      <p:ext uri="{BB962C8B-B14F-4D97-AF65-F5344CB8AC3E}">
        <p14:creationId xmlns:p14="http://schemas.microsoft.com/office/powerpoint/2010/main" val="22767927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6C041F-F6B8-0316-BFAE-8F479E50E7F8}"/>
              </a:ext>
            </a:extLst>
          </p:cNvPr>
          <p:cNvSpPr>
            <a:spLocks noGrp="1"/>
          </p:cNvSpPr>
          <p:nvPr>
            <p:ph idx="1"/>
          </p:nvPr>
        </p:nvSpPr>
        <p:spPr>
          <a:xfrm>
            <a:off x="838200" y="797169"/>
            <a:ext cx="10515600" cy="5379794"/>
          </a:xfrm>
        </p:spPr>
        <p:txBody>
          <a:bodyPr>
            <a:normAutofit/>
          </a:bodyPr>
          <a:lstStyle/>
          <a:p>
            <a:r>
              <a:rPr lang="en-US" b="1" dirty="0"/>
              <a:t>Data-Driven Decision Making: </a:t>
            </a:r>
          </a:p>
          <a:p>
            <a:pPr lvl="1"/>
            <a:r>
              <a:rPr lang="en-US" dirty="0"/>
              <a:t>IT empowers organizations to collect analyze, and utilize vast amounts of data. </a:t>
            </a:r>
          </a:p>
          <a:p>
            <a:pPr lvl="1"/>
            <a:r>
              <a:rPr lang="en-US" dirty="0"/>
              <a:t>Business intelligence tools and analytics software enable data-driven decision making, allowing organizations to optimize processes, identify trends, and target resources effectively.</a:t>
            </a:r>
          </a:p>
          <a:p>
            <a:pPr lvl="1"/>
            <a:endParaRPr lang="en-US" dirty="0"/>
          </a:p>
          <a:p>
            <a:pPr lvl="1"/>
            <a:r>
              <a:rPr lang="en-US" dirty="0"/>
              <a:t>For Example, A retail chain can leverage sales data to understand customer preferences, optimize inventory management, and tailor targeted marketing campaigns based on buying patterns.</a:t>
            </a:r>
            <a:endParaRPr lang="en-GB" dirty="0"/>
          </a:p>
          <a:p>
            <a:endParaRPr lang="en-GB" dirty="0"/>
          </a:p>
        </p:txBody>
      </p:sp>
      <p:sp>
        <p:nvSpPr>
          <p:cNvPr id="4" name="Slide Number Placeholder 3">
            <a:extLst>
              <a:ext uri="{FF2B5EF4-FFF2-40B4-BE49-F238E27FC236}">
                <a16:creationId xmlns:a16="http://schemas.microsoft.com/office/drawing/2014/main" id="{08F9D5EC-122F-6671-9E1D-09D299833E30}"/>
              </a:ext>
            </a:extLst>
          </p:cNvPr>
          <p:cNvSpPr>
            <a:spLocks noGrp="1"/>
          </p:cNvSpPr>
          <p:nvPr>
            <p:ph type="sldNum" sz="quarter" idx="12"/>
          </p:nvPr>
        </p:nvSpPr>
        <p:spPr/>
        <p:txBody>
          <a:bodyPr/>
          <a:lstStyle/>
          <a:p>
            <a:fld id="{F7F6A55E-33C2-478F-BF95-3903EF7A103F}" type="slidenum">
              <a:rPr lang="en-US" smtClean="0"/>
              <a:t>79</a:t>
            </a:fld>
            <a:endParaRPr lang="en-US"/>
          </a:p>
        </p:txBody>
      </p:sp>
    </p:spTree>
    <p:extLst>
      <p:ext uri="{BB962C8B-B14F-4D97-AF65-F5344CB8AC3E}">
        <p14:creationId xmlns:p14="http://schemas.microsoft.com/office/powerpoint/2010/main" val="17745771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C0359-87C7-F946-3BD5-F7C00DCE1215}"/>
              </a:ext>
            </a:extLst>
          </p:cNvPr>
          <p:cNvSpPr>
            <a:spLocks noGrp="1"/>
          </p:cNvSpPr>
          <p:nvPr>
            <p:ph type="title"/>
          </p:nvPr>
        </p:nvSpPr>
        <p:spPr/>
        <p:txBody>
          <a:bodyPr/>
          <a:lstStyle/>
          <a:p>
            <a:r>
              <a:rPr lang="en-US" b="1" dirty="0"/>
              <a:t>Redefining Customer Experience:</a:t>
            </a:r>
            <a:endParaRPr lang="en-GB" dirty="0"/>
          </a:p>
        </p:txBody>
      </p:sp>
      <p:sp>
        <p:nvSpPr>
          <p:cNvPr id="3" name="Content Placeholder 2">
            <a:extLst>
              <a:ext uri="{FF2B5EF4-FFF2-40B4-BE49-F238E27FC236}">
                <a16:creationId xmlns:a16="http://schemas.microsoft.com/office/drawing/2014/main" id="{77FCF89D-43B8-FAB5-BF7E-97A623A1A039}"/>
              </a:ext>
            </a:extLst>
          </p:cNvPr>
          <p:cNvSpPr>
            <a:spLocks noGrp="1"/>
          </p:cNvSpPr>
          <p:nvPr>
            <p:ph idx="1"/>
          </p:nvPr>
        </p:nvSpPr>
        <p:spPr/>
        <p:txBody>
          <a:bodyPr>
            <a:normAutofit lnSpcReduction="10000"/>
          </a:bodyPr>
          <a:lstStyle/>
          <a:p>
            <a:r>
              <a:rPr lang="en-US" b="1" dirty="0"/>
              <a:t>Online Presence: </a:t>
            </a:r>
          </a:p>
          <a:p>
            <a:pPr lvl="1"/>
            <a:r>
              <a:rPr lang="en-US" dirty="0"/>
              <a:t>IT empowers organizations to establish a strong online presence through websites, e-commerce platforms, and social media channels.</a:t>
            </a:r>
          </a:p>
          <a:p>
            <a:pPr lvl="1"/>
            <a:r>
              <a:rPr lang="en-US" dirty="0"/>
              <a:t>This allows them to reach a wider audience, promote products and services</a:t>
            </a:r>
            <a:br>
              <a:rPr lang="en-US" dirty="0"/>
            </a:br>
            <a:r>
              <a:rPr lang="en-US" dirty="0"/>
              <a:t>and engage with customers directly.</a:t>
            </a:r>
          </a:p>
          <a:p>
            <a:endParaRPr lang="en-GB" dirty="0"/>
          </a:p>
          <a:p>
            <a:r>
              <a:rPr lang="en-US" b="1" dirty="0"/>
              <a:t>Omnichannel Experience: </a:t>
            </a:r>
          </a:p>
          <a:p>
            <a:pPr lvl="1"/>
            <a:r>
              <a:rPr lang="en-US" dirty="0"/>
              <a:t>Customers today expect a seamless experience across all touchpoints, whether it's visiting a physical store, browsing online, or interacting through a mobile app. </a:t>
            </a:r>
          </a:p>
          <a:p>
            <a:pPr lvl="1"/>
            <a:r>
              <a:rPr lang="en-US" dirty="0"/>
              <a:t>IT enables organizations to create an omnichannel experience by integrating data and functionalities across all these platforms.</a:t>
            </a:r>
            <a:endParaRPr lang="en-GB" dirty="0"/>
          </a:p>
        </p:txBody>
      </p:sp>
      <p:sp>
        <p:nvSpPr>
          <p:cNvPr id="4" name="Slide Number Placeholder 3">
            <a:extLst>
              <a:ext uri="{FF2B5EF4-FFF2-40B4-BE49-F238E27FC236}">
                <a16:creationId xmlns:a16="http://schemas.microsoft.com/office/drawing/2014/main" id="{A9235879-9C92-FCA8-14BD-118BA2E5B9C4}"/>
              </a:ext>
            </a:extLst>
          </p:cNvPr>
          <p:cNvSpPr>
            <a:spLocks noGrp="1"/>
          </p:cNvSpPr>
          <p:nvPr>
            <p:ph type="sldNum" sz="quarter" idx="12"/>
          </p:nvPr>
        </p:nvSpPr>
        <p:spPr/>
        <p:txBody>
          <a:bodyPr/>
          <a:lstStyle/>
          <a:p>
            <a:fld id="{F7F6A55E-33C2-478F-BF95-3903EF7A103F}" type="slidenum">
              <a:rPr lang="en-US" smtClean="0"/>
              <a:t>80</a:t>
            </a:fld>
            <a:endParaRPr lang="en-US"/>
          </a:p>
        </p:txBody>
      </p:sp>
    </p:spTree>
    <p:extLst>
      <p:ext uri="{BB962C8B-B14F-4D97-AF65-F5344CB8AC3E}">
        <p14:creationId xmlns:p14="http://schemas.microsoft.com/office/powerpoint/2010/main" val="37658292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F592AA-6F8A-58D0-14A2-41A4F5D603A9}"/>
              </a:ext>
            </a:extLst>
          </p:cNvPr>
          <p:cNvSpPr>
            <a:spLocks noGrp="1"/>
          </p:cNvSpPr>
          <p:nvPr>
            <p:ph idx="1"/>
          </p:nvPr>
        </p:nvSpPr>
        <p:spPr>
          <a:xfrm>
            <a:off x="838200" y="785446"/>
            <a:ext cx="10515600" cy="5391517"/>
          </a:xfrm>
        </p:spPr>
        <p:txBody>
          <a:bodyPr>
            <a:normAutofit/>
          </a:bodyPr>
          <a:lstStyle/>
          <a:p>
            <a:r>
              <a:rPr lang="en-US" b="1" dirty="0"/>
              <a:t>Personalized Interactions: </a:t>
            </a:r>
          </a:p>
          <a:p>
            <a:pPr lvl="1"/>
            <a:r>
              <a:rPr lang="en-US" dirty="0"/>
              <a:t>Customer Relationship Management (CRM) systems and marketing automation tools allow organizations to personalize interactions with individual customers. </a:t>
            </a:r>
          </a:p>
          <a:p>
            <a:pPr lvl="1"/>
            <a:r>
              <a:rPr lang="en-US" dirty="0"/>
              <a:t>This can include targeted email campaigns, product recommendations, and loyalty programs, fostering customer engagement and loyalty.</a:t>
            </a:r>
          </a:p>
          <a:p>
            <a:pPr lvl="1"/>
            <a:endParaRPr lang="en-GB" dirty="0"/>
          </a:p>
          <a:p>
            <a:pPr lvl="1"/>
            <a:r>
              <a:rPr lang="en-US" dirty="0"/>
              <a:t>For Example, A travel agency can utilize IT to personalize travel</a:t>
            </a:r>
            <a:br>
              <a:rPr lang="en-US" dirty="0"/>
            </a:br>
            <a:r>
              <a:rPr lang="en-US" dirty="0"/>
              <a:t>recommendations for customers based on their past travel history and</a:t>
            </a:r>
            <a:br>
              <a:rPr lang="en-US" dirty="0"/>
            </a:br>
            <a:r>
              <a:rPr lang="en-US" dirty="0"/>
              <a:t>preferences.</a:t>
            </a:r>
            <a:endParaRPr lang="en-GB" dirty="0"/>
          </a:p>
        </p:txBody>
      </p:sp>
      <p:sp>
        <p:nvSpPr>
          <p:cNvPr id="4" name="Slide Number Placeholder 3">
            <a:extLst>
              <a:ext uri="{FF2B5EF4-FFF2-40B4-BE49-F238E27FC236}">
                <a16:creationId xmlns:a16="http://schemas.microsoft.com/office/drawing/2014/main" id="{00A5DC50-5719-A44A-7A92-BEBC86561DB7}"/>
              </a:ext>
            </a:extLst>
          </p:cNvPr>
          <p:cNvSpPr>
            <a:spLocks noGrp="1"/>
          </p:cNvSpPr>
          <p:nvPr>
            <p:ph type="sldNum" sz="quarter" idx="12"/>
          </p:nvPr>
        </p:nvSpPr>
        <p:spPr/>
        <p:txBody>
          <a:bodyPr/>
          <a:lstStyle/>
          <a:p>
            <a:fld id="{F7F6A55E-33C2-478F-BF95-3903EF7A103F}" type="slidenum">
              <a:rPr lang="en-US" smtClean="0"/>
              <a:t>81</a:t>
            </a:fld>
            <a:endParaRPr lang="en-US"/>
          </a:p>
        </p:txBody>
      </p:sp>
    </p:spTree>
    <p:extLst>
      <p:ext uri="{BB962C8B-B14F-4D97-AF65-F5344CB8AC3E}">
        <p14:creationId xmlns:p14="http://schemas.microsoft.com/office/powerpoint/2010/main" val="23367626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6C3B2-639F-CC91-6003-B524196EBBA1}"/>
              </a:ext>
            </a:extLst>
          </p:cNvPr>
          <p:cNvSpPr>
            <a:spLocks noGrp="1"/>
          </p:cNvSpPr>
          <p:nvPr>
            <p:ph type="title"/>
          </p:nvPr>
        </p:nvSpPr>
        <p:spPr/>
        <p:txBody>
          <a:bodyPr>
            <a:normAutofit/>
          </a:bodyPr>
          <a:lstStyle/>
          <a:p>
            <a:r>
              <a:rPr lang="en-US" sz="4000" b="1" dirty="0"/>
              <a:t>Fostering Innovation and Competitive Advantage:</a:t>
            </a:r>
            <a:endParaRPr lang="en-GB" sz="4000" b="1" dirty="0"/>
          </a:p>
        </p:txBody>
      </p:sp>
      <p:sp>
        <p:nvSpPr>
          <p:cNvPr id="3" name="Content Placeholder 2">
            <a:extLst>
              <a:ext uri="{FF2B5EF4-FFF2-40B4-BE49-F238E27FC236}">
                <a16:creationId xmlns:a16="http://schemas.microsoft.com/office/drawing/2014/main" id="{4BD28CBE-2B71-CCC1-827C-DC097AFE389C}"/>
              </a:ext>
            </a:extLst>
          </p:cNvPr>
          <p:cNvSpPr>
            <a:spLocks noGrp="1"/>
          </p:cNvSpPr>
          <p:nvPr>
            <p:ph idx="1"/>
          </p:nvPr>
        </p:nvSpPr>
        <p:spPr/>
        <p:txBody>
          <a:bodyPr>
            <a:normAutofit/>
          </a:bodyPr>
          <a:lstStyle/>
          <a:p>
            <a:r>
              <a:rPr lang="en-US" b="1" dirty="0"/>
              <a:t>Research and Development: </a:t>
            </a:r>
          </a:p>
          <a:p>
            <a:pPr lvl="1"/>
            <a:r>
              <a:rPr lang="en-US" dirty="0"/>
              <a:t>IT tools and software facilitate research and development activities. </a:t>
            </a:r>
            <a:r>
              <a:rPr lang="en-US" b="1" dirty="0"/>
              <a:t>Computer-Aided Design (CAD) </a:t>
            </a:r>
            <a:r>
              <a:rPr lang="en-US" dirty="0"/>
              <a:t>software allows engineering teams to create and test new product prototypes efficiently.</a:t>
            </a:r>
          </a:p>
          <a:p>
            <a:endParaRPr lang="en-US" dirty="0"/>
          </a:p>
          <a:p>
            <a:r>
              <a:rPr lang="en-US" b="1" dirty="0"/>
              <a:t>Innovation through Collaboration: </a:t>
            </a:r>
          </a:p>
          <a:p>
            <a:pPr lvl="1"/>
            <a:r>
              <a:rPr lang="en-US" dirty="0"/>
              <a:t>Cloud-based platforms and collaborative tools enable geographically dispersed teams to work together seamlessly on projects, fostering innovation and accelerating product development cycles.</a:t>
            </a:r>
            <a:endParaRPr lang="en-GB" dirty="0"/>
          </a:p>
        </p:txBody>
      </p:sp>
      <p:sp>
        <p:nvSpPr>
          <p:cNvPr id="4" name="Slide Number Placeholder 3">
            <a:extLst>
              <a:ext uri="{FF2B5EF4-FFF2-40B4-BE49-F238E27FC236}">
                <a16:creationId xmlns:a16="http://schemas.microsoft.com/office/drawing/2014/main" id="{A7729171-24E9-456C-695A-0AD823F513B4}"/>
              </a:ext>
            </a:extLst>
          </p:cNvPr>
          <p:cNvSpPr>
            <a:spLocks noGrp="1"/>
          </p:cNvSpPr>
          <p:nvPr>
            <p:ph type="sldNum" sz="quarter" idx="12"/>
          </p:nvPr>
        </p:nvSpPr>
        <p:spPr/>
        <p:txBody>
          <a:bodyPr/>
          <a:lstStyle/>
          <a:p>
            <a:fld id="{F7F6A55E-33C2-478F-BF95-3903EF7A103F}" type="slidenum">
              <a:rPr lang="en-US" smtClean="0"/>
              <a:t>82</a:t>
            </a:fld>
            <a:endParaRPr lang="en-US"/>
          </a:p>
        </p:txBody>
      </p:sp>
    </p:spTree>
    <p:extLst>
      <p:ext uri="{BB962C8B-B14F-4D97-AF65-F5344CB8AC3E}">
        <p14:creationId xmlns:p14="http://schemas.microsoft.com/office/powerpoint/2010/main" val="15251951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AB2263-03F7-527F-5701-0BDF6D6DC3F1}"/>
              </a:ext>
            </a:extLst>
          </p:cNvPr>
          <p:cNvSpPr>
            <a:spLocks noGrp="1"/>
          </p:cNvSpPr>
          <p:nvPr>
            <p:ph idx="1"/>
          </p:nvPr>
        </p:nvSpPr>
        <p:spPr>
          <a:xfrm>
            <a:off x="838200" y="926123"/>
            <a:ext cx="10515600" cy="5250840"/>
          </a:xfrm>
        </p:spPr>
        <p:txBody>
          <a:bodyPr/>
          <a:lstStyle/>
          <a:p>
            <a:r>
              <a:rPr lang="en-US" b="1" dirty="0"/>
              <a:t>Competitive Advantage: </a:t>
            </a:r>
          </a:p>
          <a:p>
            <a:pPr lvl="1"/>
            <a:r>
              <a:rPr lang="en-US" dirty="0"/>
              <a:t>By leveraging IT to streamline operations, personalize customer experiences, and drive innovation, organizations can gain a competitive advantage in their respective industries.</a:t>
            </a:r>
          </a:p>
          <a:p>
            <a:endParaRPr lang="en-US" dirty="0"/>
          </a:p>
          <a:p>
            <a:pPr lvl="1"/>
            <a:r>
              <a:rPr lang="en-US" dirty="0"/>
              <a:t>For Example, A pharmaceutical company can develop new drugs faster and</a:t>
            </a:r>
            <a:br>
              <a:rPr lang="en-US" dirty="0"/>
            </a:br>
            <a:r>
              <a:rPr lang="en-US" dirty="0"/>
              <a:t>more efficiently using advanced simulation software for drug discovery and</a:t>
            </a:r>
            <a:br>
              <a:rPr lang="en-US" dirty="0"/>
            </a:br>
            <a:r>
              <a:rPr lang="en-US" dirty="0"/>
              <a:t>testing.</a:t>
            </a:r>
            <a:br>
              <a:rPr lang="en-US" dirty="0"/>
            </a:br>
            <a:endParaRPr lang="en-GB" dirty="0"/>
          </a:p>
        </p:txBody>
      </p:sp>
      <p:sp>
        <p:nvSpPr>
          <p:cNvPr id="4" name="Slide Number Placeholder 3">
            <a:extLst>
              <a:ext uri="{FF2B5EF4-FFF2-40B4-BE49-F238E27FC236}">
                <a16:creationId xmlns:a16="http://schemas.microsoft.com/office/drawing/2014/main" id="{7057E28E-5967-F1B2-8EF2-36530568ADC9}"/>
              </a:ext>
            </a:extLst>
          </p:cNvPr>
          <p:cNvSpPr>
            <a:spLocks noGrp="1"/>
          </p:cNvSpPr>
          <p:nvPr>
            <p:ph type="sldNum" sz="quarter" idx="12"/>
          </p:nvPr>
        </p:nvSpPr>
        <p:spPr/>
        <p:txBody>
          <a:bodyPr/>
          <a:lstStyle/>
          <a:p>
            <a:fld id="{F7F6A55E-33C2-478F-BF95-3903EF7A103F}" type="slidenum">
              <a:rPr lang="en-US" smtClean="0"/>
              <a:t>83</a:t>
            </a:fld>
            <a:endParaRPr lang="en-US"/>
          </a:p>
        </p:txBody>
      </p:sp>
    </p:spTree>
    <p:extLst>
      <p:ext uri="{BB962C8B-B14F-4D97-AF65-F5344CB8AC3E}">
        <p14:creationId xmlns:p14="http://schemas.microsoft.com/office/powerpoint/2010/main" val="11464357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8DAC30-A9CD-8B4F-2C1E-19B2361DDC35}"/>
              </a:ext>
            </a:extLst>
          </p:cNvPr>
          <p:cNvSpPr>
            <a:spLocks noGrp="1"/>
          </p:cNvSpPr>
          <p:nvPr>
            <p:ph idx="1"/>
          </p:nvPr>
        </p:nvSpPr>
        <p:spPr>
          <a:xfrm>
            <a:off x="838200" y="926123"/>
            <a:ext cx="10515600" cy="5250840"/>
          </a:xfrm>
        </p:spPr>
        <p:txBody>
          <a:bodyPr/>
          <a:lstStyle/>
          <a:p>
            <a:r>
              <a:rPr lang="en-US" dirty="0"/>
              <a:t>The impact of IT on organizations is profound and far-reaching. It has redefined how businesses operate, compete, and interact with customers. </a:t>
            </a:r>
          </a:p>
          <a:p>
            <a:r>
              <a:rPr lang="en-US" dirty="0"/>
              <a:t>As technology continues to evolve, organizations that embrace IT strategically and address the associated challenges will be well-positioned to thrive in the ever-changing digital landscape. </a:t>
            </a:r>
          </a:p>
          <a:p>
            <a:r>
              <a:rPr lang="en-US" dirty="0"/>
              <a:t>By harnessing the power of IT, organizations can unlock new opportunities, drive innovation, and create a sustainable path for success in the digital age.</a:t>
            </a:r>
            <a:endParaRPr lang="en-GB" dirty="0"/>
          </a:p>
        </p:txBody>
      </p:sp>
      <p:sp>
        <p:nvSpPr>
          <p:cNvPr id="4" name="Slide Number Placeholder 3">
            <a:extLst>
              <a:ext uri="{FF2B5EF4-FFF2-40B4-BE49-F238E27FC236}">
                <a16:creationId xmlns:a16="http://schemas.microsoft.com/office/drawing/2014/main" id="{D705F25D-61D9-2B76-14C5-AFF9F8839AD4}"/>
              </a:ext>
            </a:extLst>
          </p:cNvPr>
          <p:cNvSpPr>
            <a:spLocks noGrp="1"/>
          </p:cNvSpPr>
          <p:nvPr>
            <p:ph type="sldNum" sz="quarter" idx="12"/>
          </p:nvPr>
        </p:nvSpPr>
        <p:spPr/>
        <p:txBody>
          <a:bodyPr/>
          <a:lstStyle/>
          <a:p>
            <a:fld id="{F7F6A55E-33C2-478F-BF95-3903EF7A103F}" type="slidenum">
              <a:rPr lang="en-US" smtClean="0"/>
              <a:t>84</a:t>
            </a:fld>
            <a:endParaRPr lang="en-US"/>
          </a:p>
        </p:txBody>
      </p:sp>
    </p:spTree>
    <p:extLst>
      <p:ext uri="{BB962C8B-B14F-4D97-AF65-F5344CB8AC3E}">
        <p14:creationId xmlns:p14="http://schemas.microsoft.com/office/powerpoint/2010/main" val="12043837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2CBAF-4E36-65C2-9918-604006EA6ECC}"/>
              </a:ext>
            </a:extLst>
          </p:cNvPr>
          <p:cNvSpPr>
            <a:spLocks noGrp="1"/>
          </p:cNvSpPr>
          <p:nvPr>
            <p:ph type="title"/>
          </p:nvPr>
        </p:nvSpPr>
        <p:spPr/>
        <p:txBody>
          <a:bodyPr/>
          <a:lstStyle/>
          <a:p>
            <a:r>
              <a:rPr lang="en-US" b="1" dirty="0"/>
              <a:t>Importance of Information Systems to Society</a:t>
            </a:r>
            <a:endParaRPr lang="en-GB" dirty="0"/>
          </a:p>
        </p:txBody>
      </p:sp>
      <p:sp>
        <p:nvSpPr>
          <p:cNvPr id="3" name="Content Placeholder 2">
            <a:extLst>
              <a:ext uri="{FF2B5EF4-FFF2-40B4-BE49-F238E27FC236}">
                <a16:creationId xmlns:a16="http://schemas.microsoft.com/office/drawing/2014/main" id="{5209FA3D-8A1E-E3B9-FC8E-8D51BE391A64}"/>
              </a:ext>
            </a:extLst>
          </p:cNvPr>
          <p:cNvSpPr>
            <a:spLocks noGrp="1"/>
          </p:cNvSpPr>
          <p:nvPr>
            <p:ph idx="1"/>
          </p:nvPr>
        </p:nvSpPr>
        <p:spPr/>
        <p:txBody>
          <a:bodyPr/>
          <a:lstStyle/>
          <a:p>
            <a:r>
              <a:rPr lang="en-US" dirty="0"/>
              <a:t>Information systems have become indispensable tools that shape and enhance various aspects of society. </a:t>
            </a:r>
          </a:p>
          <a:p>
            <a:r>
              <a:rPr lang="en-US" dirty="0"/>
              <a:t>From revolutionizing communication to transforming healthcare and</a:t>
            </a:r>
            <a:br>
              <a:rPr lang="en-US" dirty="0"/>
            </a:br>
            <a:r>
              <a:rPr lang="en-US" dirty="0"/>
              <a:t>education, information systems play a pivotal role in driving innovation, efficiency, and progress. </a:t>
            </a:r>
          </a:p>
          <a:p>
            <a:r>
              <a:rPr lang="en-US" dirty="0"/>
              <a:t>Importance of information systems to society, is illustrated below exploring their diverse applications and real-world examples.</a:t>
            </a:r>
            <a:endParaRPr lang="en-GB" dirty="0"/>
          </a:p>
        </p:txBody>
      </p:sp>
      <p:sp>
        <p:nvSpPr>
          <p:cNvPr id="4" name="Slide Number Placeholder 3">
            <a:extLst>
              <a:ext uri="{FF2B5EF4-FFF2-40B4-BE49-F238E27FC236}">
                <a16:creationId xmlns:a16="http://schemas.microsoft.com/office/drawing/2014/main" id="{406F725B-17BE-F842-3215-D999452A2FDE}"/>
              </a:ext>
            </a:extLst>
          </p:cNvPr>
          <p:cNvSpPr>
            <a:spLocks noGrp="1"/>
          </p:cNvSpPr>
          <p:nvPr>
            <p:ph type="sldNum" sz="quarter" idx="12"/>
          </p:nvPr>
        </p:nvSpPr>
        <p:spPr/>
        <p:txBody>
          <a:bodyPr/>
          <a:lstStyle/>
          <a:p>
            <a:fld id="{F7F6A55E-33C2-478F-BF95-3903EF7A103F}" type="slidenum">
              <a:rPr lang="en-US" smtClean="0"/>
              <a:t>85</a:t>
            </a:fld>
            <a:endParaRPr lang="en-US"/>
          </a:p>
        </p:txBody>
      </p:sp>
    </p:spTree>
    <p:extLst>
      <p:ext uri="{BB962C8B-B14F-4D97-AF65-F5344CB8AC3E}">
        <p14:creationId xmlns:p14="http://schemas.microsoft.com/office/powerpoint/2010/main" val="28293791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94DCB-D58B-D773-89EC-BED6E2772BF2}"/>
              </a:ext>
            </a:extLst>
          </p:cNvPr>
          <p:cNvSpPr>
            <a:spLocks noGrp="1"/>
          </p:cNvSpPr>
          <p:nvPr>
            <p:ph type="title"/>
          </p:nvPr>
        </p:nvSpPr>
        <p:spPr/>
        <p:txBody>
          <a:bodyPr/>
          <a:lstStyle/>
          <a:p>
            <a:r>
              <a:rPr lang="en-US" b="1" dirty="0"/>
              <a:t>Enhanced Communication and Connectivity:</a:t>
            </a:r>
            <a:r>
              <a:rPr lang="en-US" dirty="0"/>
              <a:t> </a:t>
            </a:r>
            <a:endParaRPr lang="en-GB" dirty="0"/>
          </a:p>
        </p:txBody>
      </p:sp>
      <p:sp>
        <p:nvSpPr>
          <p:cNvPr id="3" name="Content Placeholder 2">
            <a:extLst>
              <a:ext uri="{FF2B5EF4-FFF2-40B4-BE49-F238E27FC236}">
                <a16:creationId xmlns:a16="http://schemas.microsoft.com/office/drawing/2014/main" id="{32D9714C-1C13-5B89-C4CC-D146DBB38751}"/>
              </a:ext>
            </a:extLst>
          </p:cNvPr>
          <p:cNvSpPr>
            <a:spLocks noGrp="1"/>
          </p:cNvSpPr>
          <p:nvPr>
            <p:ph idx="1"/>
          </p:nvPr>
        </p:nvSpPr>
        <p:spPr/>
        <p:txBody>
          <a:bodyPr/>
          <a:lstStyle/>
          <a:p>
            <a:r>
              <a:rPr lang="en-US" dirty="0"/>
              <a:t>Information systems facilitate seamless communication and connectivity, enabling individuals and communities to connect, collaborate, and exchange information across geographical boundaries.</a:t>
            </a:r>
            <a:endParaRPr lang="en-GB" dirty="0"/>
          </a:p>
          <a:p>
            <a:endParaRPr lang="en-GB" dirty="0"/>
          </a:p>
        </p:txBody>
      </p:sp>
      <p:sp>
        <p:nvSpPr>
          <p:cNvPr id="4" name="Slide Number Placeholder 3">
            <a:extLst>
              <a:ext uri="{FF2B5EF4-FFF2-40B4-BE49-F238E27FC236}">
                <a16:creationId xmlns:a16="http://schemas.microsoft.com/office/drawing/2014/main" id="{7976D533-9811-9390-0A95-D23ACCEF9603}"/>
              </a:ext>
            </a:extLst>
          </p:cNvPr>
          <p:cNvSpPr>
            <a:spLocks noGrp="1"/>
          </p:cNvSpPr>
          <p:nvPr>
            <p:ph type="sldNum" sz="quarter" idx="12"/>
          </p:nvPr>
        </p:nvSpPr>
        <p:spPr/>
        <p:txBody>
          <a:bodyPr/>
          <a:lstStyle/>
          <a:p>
            <a:fld id="{F7F6A55E-33C2-478F-BF95-3903EF7A103F}" type="slidenum">
              <a:rPr lang="en-US" smtClean="0"/>
              <a:t>86</a:t>
            </a:fld>
            <a:endParaRPr lang="en-US"/>
          </a:p>
        </p:txBody>
      </p:sp>
    </p:spTree>
    <p:extLst>
      <p:ext uri="{BB962C8B-B14F-4D97-AF65-F5344CB8AC3E}">
        <p14:creationId xmlns:p14="http://schemas.microsoft.com/office/powerpoint/2010/main" val="2450683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31BBF3-49CB-6507-D813-78ACEFABB1A5}"/>
              </a:ext>
            </a:extLst>
          </p:cNvPr>
          <p:cNvSpPr>
            <a:spLocks noGrp="1"/>
          </p:cNvSpPr>
          <p:nvPr>
            <p:ph idx="1"/>
          </p:nvPr>
        </p:nvSpPr>
        <p:spPr>
          <a:xfrm>
            <a:off x="838200" y="902677"/>
            <a:ext cx="10515600" cy="5274286"/>
          </a:xfrm>
        </p:spPr>
        <p:txBody>
          <a:bodyPr>
            <a:normAutofit/>
          </a:bodyPr>
          <a:lstStyle/>
          <a:p>
            <a:pPr marL="0" indent="0">
              <a:buNone/>
            </a:pPr>
            <a:r>
              <a:rPr lang="en-US" b="1" dirty="0"/>
              <a:t>Social Media Platforms: </a:t>
            </a:r>
          </a:p>
          <a:p>
            <a:r>
              <a:rPr lang="en-US" dirty="0"/>
              <a:t>Social media platforms like Facebook, X (formerly Twitter). </a:t>
            </a:r>
          </a:p>
          <a:p>
            <a:r>
              <a:rPr lang="en-US" dirty="0"/>
              <a:t>TikTok, and Instagram provide channels for people to connect, share ideas, and engage in discussions on various topics. </a:t>
            </a:r>
          </a:p>
          <a:p>
            <a:r>
              <a:rPr lang="en-US" dirty="0"/>
              <a:t>These platforms foster virtual communities, facilitate social interactions, and empower individuals to voice their opinions and perspectives on global issues. </a:t>
            </a:r>
          </a:p>
          <a:p>
            <a:r>
              <a:rPr lang="en-US" dirty="0"/>
              <a:t>For example, social media played a crucial role in mobilizing social movements like the Arab Spring and the Black Lives Matter movement, demonstrating the power of information systems in driving social change and activism.</a:t>
            </a:r>
            <a:endParaRPr lang="en-GB" dirty="0"/>
          </a:p>
          <a:p>
            <a:endParaRPr lang="en-GB" dirty="0"/>
          </a:p>
        </p:txBody>
      </p:sp>
      <p:sp>
        <p:nvSpPr>
          <p:cNvPr id="4" name="Slide Number Placeholder 3">
            <a:extLst>
              <a:ext uri="{FF2B5EF4-FFF2-40B4-BE49-F238E27FC236}">
                <a16:creationId xmlns:a16="http://schemas.microsoft.com/office/drawing/2014/main" id="{60F57CCE-327C-3946-0CEE-56EE99EA6E37}"/>
              </a:ext>
            </a:extLst>
          </p:cNvPr>
          <p:cNvSpPr>
            <a:spLocks noGrp="1"/>
          </p:cNvSpPr>
          <p:nvPr>
            <p:ph type="sldNum" sz="quarter" idx="12"/>
          </p:nvPr>
        </p:nvSpPr>
        <p:spPr/>
        <p:txBody>
          <a:bodyPr/>
          <a:lstStyle/>
          <a:p>
            <a:fld id="{F7F6A55E-33C2-478F-BF95-3903EF7A103F}" type="slidenum">
              <a:rPr lang="en-US" smtClean="0"/>
              <a:t>87</a:t>
            </a:fld>
            <a:endParaRPr lang="en-US"/>
          </a:p>
        </p:txBody>
      </p:sp>
    </p:spTree>
    <p:extLst>
      <p:ext uri="{BB962C8B-B14F-4D97-AF65-F5344CB8AC3E}">
        <p14:creationId xmlns:p14="http://schemas.microsoft.com/office/powerpoint/2010/main" val="196829600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E42412-306B-E40F-A7CB-625EF04A173C}"/>
              </a:ext>
            </a:extLst>
          </p:cNvPr>
          <p:cNvSpPr>
            <a:spLocks noGrp="1"/>
          </p:cNvSpPr>
          <p:nvPr>
            <p:ph idx="1"/>
          </p:nvPr>
        </p:nvSpPr>
        <p:spPr>
          <a:xfrm>
            <a:off x="838200" y="844062"/>
            <a:ext cx="10515600" cy="5332901"/>
          </a:xfrm>
        </p:spPr>
        <p:txBody>
          <a:bodyPr/>
          <a:lstStyle/>
          <a:p>
            <a:pPr marL="0" indent="0">
              <a:buNone/>
            </a:pPr>
            <a:r>
              <a:rPr lang="en-US" b="1" dirty="0"/>
              <a:t>Email and Instant Messaging: </a:t>
            </a:r>
          </a:p>
          <a:p>
            <a:r>
              <a:rPr lang="en-US" dirty="0"/>
              <a:t>Email and instant messaging applications like Gmail, WhatsApp, Viber, etc. enable real-time communication and collaboration among individuals and teams. </a:t>
            </a:r>
          </a:p>
          <a:p>
            <a:r>
              <a:rPr lang="en-US" dirty="0"/>
              <a:t>These tools streamline communication, facilitate information sharing, and support remote work and virtual meetings. </a:t>
            </a:r>
          </a:p>
          <a:p>
            <a:r>
              <a:rPr lang="en-US" dirty="0"/>
              <a:t>For instance, email allows professionals to exchange messages, share documents, and coordinate projects efficiently, regardless of</a:t>
            </a:r>
            <a:br>
              <a:rPr lang="en-US" dirty="0"/>
            </a:br>
            <a:r>
              <a:rPr lang="en-US" dirty="0"/>
              <a:t>their location or time zone.</a:t>
            </a:r>
            <a:endParaRPr lang="en-GB" dirty="0"/>
          </a:p>
          <a:p>
            <a:endParaRPr lang="en-GB" dirty="0"/>
          </a:p>
        </p:txBody>
      </p:sp>
      <p:sp>
        <p:nvSpPr>
          <p:cNvPr id="4" name="Slide Number Placeholder 3">
            <a:extLst>
              <a:ext uri="{FF2B5EF4-FFF2-40B4-BE49-F238E27FC236}">
                <a16:creationId xmlns:a16="http://schemas.microsoft.com/office/drawing/2014/main" id="{827D56D5-AC55-BC29-6175-A107DE5D865F}"/>
              </a:ext>
            </a:extLst>
          </p:cNvPr>
          <p:cNvSpPr>
            <a:spLocks noGrp="1"/>
          </p:cNvSpPr>
          <p:nvPr>
            <p:ph type="sldNum" sz="quarter" idx="12"/>
          </p:nvPr>
        </p:nvSpPr>
        <p:spPr/>
        <p:txBody>
          <a:bodyPr/>
          <a:lstStyle/>
          <a:p>
            <a:fld id="{F7F6A55E-33C2-478F-BF95-3903EF7A103F}" type="slidenum">
              <a:rPr lang="en-US" smtClean="0"/>
              <a:t>88</a:t>
            </a:fld>
            <a:endParaRPr lang="en-US"/>
          </a:p>
        </p:txBody>
      </p:sp>
    </p:spTree>
    <p:extLst>
      <p:ext uri="{BB962C8B-B14F-4D97-AF65-F5344CB8AC3E}">
        <p14:creationId xmlns:p14="http://schemas.microsoft.com/office/powerpoint/2010/main" val="4865628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6D2E1-91EA-5BCA-BFCF-2A4247197CEC}"/>
              </a:ext>
            </a:extLst>
          </p:cNvPr>
          <p:cNvSpPr>
            <a:spLocks noGrp="1"/>
          </p:cNvSpPr>
          <p:nvPr>
            <p:ph type="title"/>
          </p:nvPr>
        </p:nvSpPr>
        <p:spPr/>
        <p:txBody>
          <a:bodyPr/>
          <a:lstStyle/>
          <a:p>
            <a:r>
              <a:rPr lang="en-US" b="1" dirty="0"/>
              <a:t>Enhanced Access to Education and Healthcare:</a:t>
            </a:r>
            <a:endParaRPr lang="en-GB" dirty="0"/>
          </a:p>
        </p:txBody>
      </p:sp>
      <p:sp>
        <p:nvSpPr>
          <p:cNvPr id="3" name="Content Placeholder 2">
            <a:extLst>
              <a:ext uri="{FF2B5EF4-FFF2-40B4-BE49-F238E27FC236}">
                <a16:creationId xmlns:a16="http://schemas.microsoft.com/office/drawing/2014/main" id="{A158CEBB-1E30-4174-3257-8EE4ADEEE6E6}"/>
              </a:ext>
            </a:extLst>
          </p:cNvPr>
          <p:cNvSpPr>
            <a:spLocks noGrp="1"/>
          </p:cNvSpPr>
          <p:nvPr>
            <p:ph idx="1"/>
          </p:nvPr>
        </p:nvSpPr>
        <p:spPr/>
        <p:txBody>
          <a:bodyPr>
            <a:normAutofit lnSpcReduction="10000"/>
          </a:bodyPr>
          <a:lstStyle/>
          <a:p>
            <a:r>
              <a:rPr lang="en-US" dirty="0"/>
              <a:t>Information systems democratize access to education and healthcare services, bridging gaps and expanding opportunities for individuals in underserved communities.</a:t>
            </a:r>
          </a:p>
          <a:p>
            <a:endParaRPr lang="en-US" dirty="0"/>
          </a:p>
          <a:p>
            <a:pPr marL="0" indent="0">
              <a:buNone/>
            </a:pPr>
            <a:r>
              <a:rPr lang="en-US" b="1" dirty="0"/>
              <a:t>Enhanced Learning Opportunities: </a:t>
            </a:r>
          </a:p>
          <a:p>
            <a:r>
              <a:rPr lang="en-US" dirty="0"/>
              <a:t>Online learning platforms and educational resources accessible through IS provide flexible learning opportunities for people of all ages and backgrounds. </a:t>
            </a:r>
          </a:p>
          <a:p>
            <a:r>
              <a:rPr lang="en-US" dirty="0"/>
              <a:t>Blended learning, combining online and in-person classes, caters to different learning styles and can make education more accessible.</a:t>
            </a:r>
            <a:endParaRPr lang="en-GB" dirty="0"/>
          </a:p>
        </p:txBody>
      </p:sp>
      <p:sp>
        <p:nvSpPr>
          <p:cNvPr id="4" name="Slide Number Placeholder 3">
            <a:extLst>
              <a:ext uri="{FF2B5EF4-FFF2-40B4-BE49-F238E27FC236}">
                <a16:creationId xmlns:a16="http://schemas.microsoft.com/office/drawing/2014/main" id="{C1F333E8-A20A-D206-D4CB-142B13BD5E36}"/>
              </a:ext>
            </a:extLst>
          </p:cNvPr>
          <p:cNvSpPr>
            <a:spLocks noGrp="1"/>
          </p:cNvSpPr>
          <p:nvPr>
            <p:ph type="sldNum" sz="quarter" idx="12"/>
          </p:nvPr>
        </p:nvSpPr>
        <p:spPr/>
        <p:txBody>
          <a:bodyPr/>
          <a:lstStyle/>
          <a:p>
            <a:fld id="{F7F6A55E-33C2-478F-BF95-3903EF7A103F}" type="slidenum">
              <a:rPr lang="en-US" smtClean="0"/>
              <a:t>89</a:t>
            </a:fld>
            <a:endParaRPr lang="en-US"/>
          </a:p>
        </p:txBody>
      </p:sp>
    </p:spTree>
    <p:extLst>
      <p:ext uri="{BB962C8B-B14F-4D97-AF65-F5344CB8AC3E}">
        <p14:creationId xmlns:p14="http://schemas.microsoft.com/office/powerpoint/2010/main" val="7114367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6EDAE6-6685-9D54-7BE6-4E00989B6F8B}"/>
              </a:ext>
            </a:extLst>
          </p:cNvPr>
          <p:cNvSpPr>
            <a:spLocks noGrp="1"/>
          </p:cNvSpPr>
          <p:nvPr>
            <p:ph idx="1"/>
          </p:nvPr>
        </p:nvSpPr>
        <p:spPr>
          <a:xfrm>
            <a:off x="838200" y="820615"/>
            <a:ext cx="10515600" cy="5356348"/>
          </a:xfrm>
        </p:spPr>
        <p:txBody>
          <a:bodyPr>
            <a:normAutofit/>
          </a:bodyPr>
          <a:lstStyle/>
          <a:p>
            <a:pPr marL="0" indent="0">
              <a:buNone/>
            </a:pPr>
            <a:r>
              <a:rPr lang="en-US" b="1" dirty="0"/>
              <a:t>E-Learning Platforms: </a:t>
            </a:r>
          </a:p>
          <a:p>
            <a:r>
              <a:rPr lang="en-US" dirty="0"/>
              <a:t>Massive Open Online Courses (MOOCs) offered by universities worldwide provide access to quality education and knowledge to</a:t>
            </a:r>
            <a:br>
              <a:rPr lang="en-US" dirty="0"/>
            </a:br>
            <a:r>
              <a:rPr lang="en-US" dirty="0"/>
              <a:t>individuals who might not have access to traditional educational institutions. </a:t>
            </a:r>
          </a:p>
          <a:p>
            <a:r>
              <a:rPr lang="en-US" dirty="0"/>
              <a:t>E-learning platforms like Coursera, Khan Academy, and Udemy provide access to online courses, lectures, and educational resources, allowing learners to acquire new skills and knowledge anytime, anywhere. </a:t>
            </a:r>
          </a:p>
          <a:p>
            <a:r>
              <a:rPr lang="en-US" dirty="0"/>
              <a:t>These platforms support lifelong learning, skill development, and professional advancement, transcending geographical barriers and socioeconomic constraints.</a:t>
            </a:r>
            <a:endParaRPr lang="en-GB" dirty="0"/>
          </a:p>
          <a:p>
            <a:endParaRPr lang="en-GB" dirty="0"/>
          </a:p>
        </p:txBody>
      </p:sp>
      <p:sp>
        <p:nvSpPr>
          <p:cNvPr id="4" name="Slide Number Placeholder 3">
            <a:extLst>
              <a:ext uri="{FF2B5EF4-FFF2-40B4-BE49-F238E27FC236}">
                <a16:creationId xmlns:a16="http://schemas.microsoft.com/office/drawing/2014/main" id="{44CD5ED5-78D1-52C1-B0BB-310EFBBD160F}"/>
              </a:ext>
            </a:extLst>
          </p:cNvPr>
          <p:cNvSpPr>
            <a:spLocks noGrp="1"/>
          </p:cNvSpPr>
          <p:nvPr>
            <p:ph type="sldNum" sz="quarter" idx="12"/>
          </p:nvPr>
        </p:nvSpPr>
        <p:spPr/>
        <p:txBody>
          <a:bodyPr/>
          <a:lstStyle/>
          <a:p>
            <a:fld id="{F7F6A55E-33C2-478F-BF95-3903EF7A103F}" type="slidenum">
              <a:rPr lang="en-US" smtClean="0"/>
              <a:t>90</a:t>
            </a:fld>
            <a:endParaRPr lang="en-US"/>
          </a:p>
        </p:txBody>
      </p:sp>
    </p:spTree>
    <p:extLst>
      <p:ext uri="{BB962C8B-B14F-4D97-AF65-F5344CB8AC3E}">
        <p14:creationId xmlns:p14="http://schemas.microsoft.com/office/powerpoint/2010/main" val="3513550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703AF3-D532-833E-EEAD-8A5DB70949A5}"/>
              </a:ext>
            </a:extLst>
          </p:cNvPr>
          <p:cNvSpPr>
            <a:spLocks noGrp="1"/>
          </p:cNvSpPr>
          <p:nvPr>
            <p:ph idx="1"/>
          </p:nvPr>
        </p:nvSpPr>
        <p:spPr>
          <a:xfrm>
            <a:off x="838200" y="738554"/>
            <a:ext cx="10515600" cy="5438409"/>
          </a:xfrm>
        </p:spPr>
        <p:txBody>
          <a:bodyPr/>
          <a:lstStyle/>
          <a:p>
            <a:pPr marL="0" indent="0">
              <a:buNone/>
            </a:pPr>
            <a:r>
              <a:rPr lang="en-US" b="1" dirty="0"/>
              <a:t>Promoting Collaboration and Knowledge Sharing:</a:t>
            </a:r>
          </a:p>
          <a:p>
            <a:r>
              <a:rPr lang="en-US" dirty="0"/>
              <a:t> Information systems facilitate collaboration between students and educators. </a:t>
            </a:r>
          </a:p>
          <a:p>
            <a:r>
              <a:rPr lang="en-US" dirty="0"/>
              <a:t>Online learning platforms allow for discussions, peer feedback and the sharing of resources, fostering a more interactive learning environment.</a:t>
            </a:r>
            <a:endParaRPr lang="en-GB" dirty="0"/>
          </a:p>
          <a:p>
            <a:endParaRPr lang="en-GB" dirty="0"/>
          </a:p>
        </p:txBody>
      </p:sp>
      <p:sp>
        <p:nvSpPr>
          <p:cNvPr id="4" name="Slide Number Placeholder 3">
            <a:extLst>
              <a:ext uri="{FF2B5EF4-FFF2-40B4-BE49-F238E27FC236}">
                <a16:creationId xmlns:a16="http://schemas.microsoft.com/office/drawing/2014/main" id="{76123478-6677-4613-E9BC-62BB27A05C31}"/>
              </a:ext>
            </a:extLst>
          </p:cNvPr>
          <p:cNvSpPr>
            <a:spLocks noGrp="1"/>
          </p:cNvSpPr>
          <p:nvPr>
            <p:ph type="sldNum" sz="quarter" idx="12"/>
          </p:nvPr>
        </p:nvSpPr>
        <p:spPr/>
        <p:txBody>
          <a:bodyPr/>
          <a:lstStyle/>
          <a:p>
            <a:fld id="{F7F6A55E-33C2-478F-BF95-3903EF7A103F}" type="slidenum">
              <a:rPr lang="en-US" smtClean="0"/>
              <a:t>91</a:t>
            </a:fld>
            <a:endParaRPr lang="en-US"/>
          </a:p>
        </p:txBody>
      </p:sp>
    </p:spTree>
    <p:extLst>
      <p:ext uri="{BB962C8B-B14F-4D97-AF65-F5344CB8AC3E}">
        <p14:creationId xmlns:p14="http://schemas.microsoft.com/office/powerpoint/2010/main" val="19472183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9F1F3D-189F-8A43-DD52-07AA5BA0451D}"/>
              </a:ext>
            </a:extLst>
          </p:cNvPr>
          <p:cNvSpPr>
            <a:spLocks noGrp="1"/>
          </p:cNvSpPr>
          <p:nvPr>
            <p:ph idx="1"/>
          </p:nvPr>
        </p:nvSpPr>
        <p:spPr>
          <a:xfrm>
            <a:off x="838200" y="656492"/>
            <a:ext cx="10515600" cy="5520471"/>
          </a:xfrm>
        </p:spPr>
        <p:txBody>
          <a:bodyPr>
            <a:normAutofit fontScale="92500" lnSpcReduction="10000"/>
          </a:bodyPr>
          <a:lstStyle/>
          <a:p>
            <a:pPr marL="0" indent="0">
              <a:buNone/>
            </a:pPr>
            <a:r>
              <a:rPr lang="en-US" b="1" dirty="0"/>
              <a:t>Telemedicine and Remote Healthcare: </a:t>
            </a:r>
          </a:p>
          <a:p>
            <a:r>
              <a:rPr lang="en-US" dirty="0"/>
              <a:t>Telemedicine platforms and remote healthcare solutions leverage information technology to deliver medical services, consultations, and remote monitoring to patients in remote or underserved areas via video conferencing. </a:t>
            </a:r>
          </a:p>
          <a:p>
            <a:r>
              <a:rPr lang="en-US" dirty="0"/>
              <a:t>These platforms enable healthcare providers to diagnose illnesses, prescribe medications, and monitor patients’ health remotely, improving access to healthcare and reducing barriers to medical services. </a:t>
            </a:r>
          </a:p>
          <a:p>
            <a:r>
              <a:rPr lang="en-US" dirty="0"/>
              <a:t>Wearable health monitors with wireless connections can transmit real-time health data, allowing healthcare providers to remotely track and manage chronic conditions. </a:t>
            </a:r>
          </a:p>
          <a:p>
            <a:r>
              <a:rPr lang="en-US" dirty="0"/>
              <a:t>The development of telemedicine platforms during the COVID-19 pandemic allowed for remote consultations, ensuring continued access to healthcare services while minimizing the risk of exposure.</a:t>
            </a:r>
            <a:endParaRPr lang="en-GB" dirty="0"/>
          </a:p>
          <a:p>
            <a:endParaRPr lang="en-GB" dirty="0"/>
          </a:p>
        </p:txBody>
      </p:sp>
      <p:sp>
        <p:nvSpPr>
          <p:cNvPr id="4" name="Slide Number Placeholder 3">
            <a:extLst>
              <a:ext uri="{FF2B5EF4-FFF2-40B4-BE49-F238E27FC236}">
                <a16:creationId xmlns:a16="http://schemas.microsoft.com/office/drawing/2014/main" id="{3D9899D8-01C4-F0A7-A019-50876F6DCAC0}"/>
              </a:ext>
            </a:extLst>
          </p:cNvPr>
          <p:cNvSpPr>
            <a:spLocks noGrp="1"/>
          </p:cNvSpPr>
          <p:nvPr>
            <p:ph type="sldNum" sz="quarter" idx="12"/>
          </p:nvPr>
        </p:nvSpPr>
        <p:spPr/>
        <p:txBody>
          <a:bodyPr/>
          <a:lstStyle/>
          <a:p>
            <a:fld id="{F7F6A55E-33C2-478F-BF95-3903EF7A103F}" type="slidenum">
              <a:rPr lang="en-US" smtClean="0"/>
              <a:t>92</a:t>
            </a:fld>
            <a:endParaRPr lang="en-US"/>
          </a:p>
        </p:txBody>
      </p:sp>
    </p:spTree>
    <p:extLst>
      <p:ext uri="{BB962C8B-B14F-4D97-AF65-F5344CB8AC3E}">
        <p14:creationId xmlns:p14="http://schemas.microsoft.com/office/powerpoint/2010/main" val="6046877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0E2BA1-CAC3-1732-75AE-FC8273B3F854}"/>
              </a:ext>
            </a:extLst>
          </p:cNvPr>
          <p:cNvSpPr>
            <a:spLocks noGrp="1"/>
          </p:cNvSpPr>
          <p:nvPr>
            <p:ph idx="1"/>
          </p:nvPr>
        </p:nvSpPr>
        <p:spPr>
          <a:xfrm>
            <a:off x="838200" y="867508"/>
            <a:ext cx="10515600" cy="5309455"/>
          </a:xfrm>
        </p:spPr>
        <p:txBody>
          <a:bodyPr/>
          <a:lstStyle/>
          <a:p>
            <a:pPr marL="0" indent="0">
              <a:buNone/>
            </a:pPr>
            <a:r>
              <a:rPr lang="en-US" b="1" dirty="0"/>
              <a:t>Improved Patient Care: </a:t>
            </a:r>
          </a:p>
          <a:p>
            <a:r>
              <a:rPr lang="en-US" dirty="0"/>
              <a:t>Electronic Health Records (EHR) systems store a patient's medical history securely, allowing healthcare professionals to access</a:t>
            </a:r>
            <a:br>
              <a:rPr lang="en-US" dirty="0"/>
            </a:br>
            <a:r>
              <a:rPr lang="en-US" dirty="0"/>
              <a:t>crucial information quickly and easily. </a:t>
            </a:r>
          </a:p>
          <a:p>
            <a:r>
              <a:rPr lang="en-US" dirty="0"/>
              <a:t>This facilitates more informed diagnoses, better treatment plans, and improved overall patient care.</a:t>
            </a:r>
            <a:endParaRPr lang="en-GB" dirty="0"/>
          </a:p>
          <a:p>
            <a:endParaRPr lang="en-GB" dirty="0"/>
          </a:p>
        </p:txBody>
      </p:sp>
      <p:sp>
        <p:nvSpPr>
          <p:cNvPr id="4" name="Slide Number Placeholder 3">
            <a:extLst>
              <a:ext uri="{FF2B5EF4-FFF2-40B4-BE49-F238E27FC236}">
                <a16:creationId xmlns:a16="http://schemas.microsoft.com/office/drawing/2014/main" id="{F74B322C-86BD-A604-8BB5-50E24653EE86}"/>
              </a:ext>
            </a:extLst>
          </p:cNvPr>
          <p:cNvSpPr>
            <a:spLocks noGrp="1"/>
          </p:cNvSpPr>
          <p:nvPr>
            <p:ph type="sldNum" sz="quarter" idx="12"/>
          </p:nvPr>
        </p:nvSpPr>
        <p:spPr/>
        <p:txBody>
          <a:bodyPr/>
          <a:lstStyle/>
          <a:p>
            <a:fld id="{F7F6A55E-33C2-478F-BF95-3903EF7A103F}" type="slidenum">
              <a:rPr lang="en-US" smtClean="0"/>
              <a:t>93</a:t>
            </a:fld>
            <a:endParaRPr lang="en-US"/>
          </a:p>
        </p:txBody>
      </p:sp>
    </p:spTree>
    <p:extLst>
      <p:ext uri="{BB962C8B-B14F-4D97-AF65-F5344CB8AC3E}">
        <p14:creationId xmlns:p14="http://schemas.microsoft.com/office/powerpoint/2010/main" val="16772521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36F83-E14F-8065-6C3B-5CE90AAA4A6F}"/>
              </a:ext>
            </a:extLst>
          </p:cNvPr>
          <p:cNvSpPr>
            <a:spLocks noGrp="1"/>
          </p:cNvSpPr>
          <p:nvPr>
            <p:ph type="title"/>
          </p:nvPr>
        </p:nvSpPr>
        <p:spPr>
          <a:xfrm>
            <a:off x="838200" y="136525"/>
            <a:ext cx="10515600" cy="807183"/>
          </a:xfrm>
        </p:spPr>
        <p:txBody>
          <a:bodyPr/>
          <a:lstStyle/>
          <a:p>
            <a:r>
              <a:rPr lang="en-US" b="1" dirty="0"/>
              <a:t>Connecting and Informing Citizens:</a:t>
            </a:r>
            <a:endParaRPr lang="en-GB" dirty="0"/>
          </a:p>
        </p:txBody>
      </p:sp>
      <p:sp>
        <p:nvSpPr>
          <p:cNvPr id="3" name="Content Placeholder 2">
            <a:extLst>
              <a:ext uri="{FF2B5EF4-FFF2-40B4-BE49-F238E27FC236}">
                <a16:creationId xmlns:a16="http://schemas.microsoft.com/office/drawing/2014/main" id="{1A3FF132-4F30-C725-093D-EB996EB229A2}"/>
              </a:ext>
            </a:extLst>
          </p:cNvPr>
          <p:cNvSpPr>
            <a:spLocks noGrp="1"/>
          </p:cNvSpPr>
          <p:nvPr>
            <p:ph idx="1"/>
          </p:nvPr>
        </p:nvSpPr>
        <p:spPr>
          <a:xfrm>
            <a:off x="838200" y="1055077"/>
            <a:ext cx="10515600" cy="5121886"/>
          </a:xfrm>
        </p:spPr>
        <p:txBody>
          <a:bodyPr>
            <a:normAutofit fontScale="92500" lnSpcReduction="20000"/>
          </a:bodyPr>
          <a:lstStyle/>
          <a:p>
            <a:pPr marL="0" indent="0">
              <a:buNone/>
            </a:pPr>
            <a:r>
              <a:rPr lang="en-US" b="1" dirty="0"/>
              <a:t>E-Government Services: </a:t>
            </a:r>
          </a:p>
          <a:p>
            <a:r>
              <a:rPr lang="en-US" dirty="0"/>
              <a:t>IS enable governments to offer e-government services, allowing citizens to pay taxes, apply for permits, and access government information online. </a:t>
            </a:r>
          </a:p>
          <a:p>
            <a:r>
              <a:rPr lang="en-US" dirty="0"/>
              <a:t>This improves transparency, streamlines bureaucratic processes, and increases citizen engagement.</a:t>
            </a:r>
          </a:p>
          <a:p>
            <a:endParaRPr lang="en-US" dirty="0"/>
          </a:p>
          <a:p>
            <a:pPr marL="0" indent="0">
              <a:buNone/>
            </a:pPr>
            <a:r>
              <a:rPr lang="en-US" b="1" dirty="0"/>
              <a:t>Social Change and Civic Engagement: </a:t>
            </a:r>
          </a:p>
          <a:p>
            <a:r>
              <a:rPr lang="en-US" dirty="0"/>
              <a:t>Information systems empower social movements and facilitate civic engagement. </a:t>
            </a:r>
          </a:p>
          <a:p>
            <a:r>
              <a:rPr lang="en-US" dirty="0"/>
              <a:t>Social media platforms provide a platform for citizens to connect, share information, and organize around causes they care about. </a:t>
            </a:r>
          </a:p>
          <a:p>
            <a:r>
              <a:rPr lang="en-US" dirty="0"/>
              <a:t>Social media platforms played a crucial role in mobilizing citizens during the 'Occupy </a:t>
            </a:r>
            <a:r>
              <a:rPr lang="en-US" dirty="0" err="1"/>
              <a:t>Baluwatar</a:t>
            </a:r>
            <a:r>
              <a:rPr lang="en-US" dirty="0"/>
              <a:t>' protests, allowing for the rapid dissemination of information and coordination of activities. </a:t>
            </a:r>
            <a:endParaRPr lang="en-GB" dirty="0"/>
          </a:p>
        </p:txBody>
      </p:sp>
      <p:sp>
        <p:nvSpPr>
          <p:cNvPr id="4" name="Slide Number Placeholder 3">
            <a:extLst>
              <a:ext uri="{FF2B5EF4-FFF2-40B4-BE49-F238E27FC236}">
                <a16:creationId xmlns:a16="http://schemas.microsoft.com/office/drawing/2014/main" id="{B3B12D18-F612-2E4A-47AF-9EE062A2FF03}"/>
              </a:ext>
            </a:extLst>
          </p:cNvPr>
          <p:cNvSpPr>
            <a:spLocks noGrp="1"/>
          </p:cNvSpPr>
          <p:nvPr>
            <p:ph type="sldNum" sz="quarter" idx="12"/>
          </p:nvPr>
        </p:nvSpPr>
        <p:spPr/>
        <p:txBody>
          <a:bodyPr/>
          <a:lstStyle/>
          <a:p>
            <a:fld id="{F7F6A55E-33C2-478F-BF95-3903EF7A103F}" type="slidenum">
              <a:rPr lang="en-US" smtClean="0"/>
              <a:t>94</a:t>
            </a:fld>
            <a:endParaRPr lang="en-US"/>
          </a:p>
        </p:txBody>
      </p:sp>
    </p:spTree>
    <p:extLst>
      <p:ext uri="{BB962C8B-B14F-4D97-AF65-F5344CB8AC3E}">
        <p14:creationId xmlns:p14="http://schemas.microsoft.com/office/powerpoint/2010/main" val="28079433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013BC9-A929-69B3-79BA-706860CF9D6C}"/>
              </a:ext>
            </a:extLst>
          </p:cNvPr>
          <p:cNvSpPr>
            <a:spLocks noGrp="1"/>
          </p:cNvSpPr>
          <p:nvPr>
            <p:ph idx="1"/>
          </p:nvPr>
        </p:nvSpPr>
        <p:spPr>
          <a:xfrm>
            <a:off x="838200" y="820615"/>
            <a:ext cx="10515600" cy="5356348"/>
          </a:xfrm>
        </p:spPr>
        <p:txBody>
          <a:bodyPr/>
          <a:lstStyle/>
          <a:p>
            <a:r>
              <a:rPr lang="en-US" dirty="0"/>
              <a:t>Information systems are the backbone of modern society, enabling efficient business operations, improving healthcare delivery, and fostering educational opportunities. </a:t>
            </a:r>
          </a:p>
          <a:p>
            <a:r>
              <a:rPr lang="en-US" dirty="0"/>
              <a:t>As we move forward, addressing the challenges associated with IT, such as the digital divide and privacy concerns, will be crucial to ensure that everyone can benefit from the power of information systems. </a:t>
            </a:r>
          </a:p>
          <a:p>
            <a:r>
              <a:rPr lang="en-US" dirty="0"/>
              <a:t>By harnessing the potential of IS responsibly, we can create a more</a:t>
            </a:r>
            <a:br>
              <a:rPr lang="en-US" dirty="0"/>
            </a:br>
            <a:r>
              <a:rPr lang="en-US" dirty="0"/>
              <a:t>informed, connected, and equitable society for all.</a:t>
            </a:r>
            <a:endParaRPr lang="en-GB" dirty="0"/>
          </a:p>
        </p:txBody>
      </p:sp>
      <p:sp>
        <p:nvSpPr>
          <p:cNvPr id="4" name="Slide Number Placeholder 3">
            <a:extLst>
              <a:ext uri="{FF2B5EF4-FFF2-40B4-BE49-F238E27FC236}">
                <a16:creationId xmlns:a16="http://schemas.microsoft.com/office/drawing/2014/main" id="{6A7E4F31-5306-0D32-99FC-EB1E0E81B6FD}"/>
              </a:ext>
            </a:extLst>
          </p:cNvPr>
          <p:cNvSpPr>
            <a:spLocks noGrp="1"/>
          </p:cNvSpPr>
          <p:nvPr>
            <p:ph type="sldNum" sz="quarter" idx="12"/>
          </p:nvPr>
        </p:nvSpPr>
        <p:spPr/>
        <p:txBody>
          <a:bodyPr/>
          <a:lstStyle/>
          <a:p>
            <a:fld id="{F7F6A55E-33C2-478F-BF95-3903EF7A103F}" type="slidenum">
              <a:rPr lang="en-US" smtClean="0"/>
              <a:t>95</a:t>
            </a:fld>
            <a:endParaRPr lang="en-US"/>
          </a:p>
        </p:txBody>
      </p:sp>
    </p:spTree>
    <p:extLst>
      <p:ext uri="{BB962C8B-B14F-4D97-AF65-F5344CB8AC3E}">
        <p14:creationId xmlns:p14="http://schemas.microsoft.com/office/powerpoint/2010/main" val="1858222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654</TotalTime>
  <Words>8192</Words>
  <Application>Microsoft Office PowerPoint</Application>
  <PresentationFormat>Widescreen</PresentationFormat>
  <Paragraphs>642</Paragraphs>
  <Slides>95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95</vt:i4>
      </vt:variant>
    </vt:vector>
  </HeadingPairs>
  <TitlesOfParts>
    <vt:vector size="103" baseType="lpstr">
      <vt:lpstr>Arial</vt:lpstr>
      <vt:lpstr>Cabin-semi-bold</vt:lpstr>
      <vt:lpstr>Calibri</vt:lpstr>
      <vt:lpstr>Calibri Light</vt:lpstr>
      <vt:lpstr>Roboto</vt:lpstr>
      <vt:lpstr>Segoe UI</vt:lpstr>
      <vt:lpstr>Wingdings 3</vt:lpstr>
      <vt:lpstr>Office Theme</vt:lpstr>
      <vt:lpstr>Introduction to  Information System</vt:lpstr>
      <vt:lpstr>Introduction</vt:lpstr>
      <vt:lpstr>PowerPoint Presentation</vt:lpstr>
      <vt:lpstr>PowerPoint Presentation</vt:lpstr>
      <vt:lpstr>PowerPoint Presentation</vt:lpstr>
      <vt:lpstr>PowerPoint Presentation</vt:lpstr>
      <vt:lpstr>PowerPoint Presentation</vt:lpstr>
      <vt:lpstr>Why should we Study Information Systems?</vt:lpstr>
      <vt:lpstr>Following are the important reasons behind the requirement to study IS.</vt:lpstr>
      <vt:lpstr>PowerPoint Presentation</vt:lpstr>
      <vt:lpstr>PowerPoint Presentation</vt:lpstr>
      <vt:lpstr>PowerPoint Presentation</vt:lpstr>
      <vt:lpstr>PowerPoint Presentation</vt:lpstr>
      <vt:lpstr>PowerPoint Presentation</vt:lpstr>
      <vt:lpstr>PowerPoint Presentation</vt:lpstr>
      <vt:lpstr>Information Technology and Information System</vt:lpstr>
      <vt:lpstr>PowerPoint Presentation</vt:lpstr>
      <vt:lpstr>PowerPoint Presentation</vt:lpstr>
      <vt:lpstr>PowerPoint Presentation</vt:lpstr>
      <vt:lpstr>PowerPoint Presentation</vt:lpstr>
      <vt:lpstr>Computer Literacy and Information Literacy</vt:lpstr>
      <vt:lpstr>PowerPoint Presentation</vt:lpstr>
      <vt:lpstr>Data and Information</vt:lpstr>
      <vt:lpstr>PowerPoint Presentation</vt:lpstr>
      <vt:lpstr>PowerPoint Presentation</vt:lpstr>
      <vt:lpstr>Process of converting data into information</vt:lpstr>
      <vt:lpstr>PowerPoint Presentation</vt:lpstr>
      <vt:lpstr>PowerPoint Presentation</vt:lpstr>
      <vt:lpstr>Characteristics of Information</vt:lpstr>
      <vt:lpstr>PowerPoint Presentation</vt:lpstr>
      <vt:lpstr>PowerPoint Presentation</vt:lpstr>
      <vt:lpstr>System Components</vt:lpstr>
      <vt:lpstr>PowerPoint Presentation</vt:lpstr>
      <vt:lpstr>PowerPoint Presentation</vt:lpstr>
      <vt:lpstr>The Role of Information System in Business</vt:lpstr>
      <vt:lpstr>PowerPoint Presentation</vt:lpstr>
      <vt:lpstr>PowerPoint Presentation</vt:lpstr>
      <vt:lpstr>PowerPoint Presentation</vt:lpstr>
      <vt:lpstr>PowerPoint Presentation</vt:lpstr>
      <vt:lpstr>Why Do Organizations need Information Systems?</vt:lpstr>
      <vt:lpstr>PowerPoint Presentation</vt:lpstr>
      <vt:lpstr>PowerPoint Presentation</vt:lpstr>
      <vt:lpstr>PowerPoint Presentation</vt:lpstr>
      <vt:lpstr>Dimensions of Information Systems</vt:lpstr>
      <vt:lpstr>PowerPoint Presentation</vt:lpstr>
      <vt:lpstr>Organizations</vt:lpstr>
      <vt:lpstr>PowerPoint Presentation</vt:lpstr>
      <vt:lpstr>PowerPoint Presentation</vt:lpstr>
      <vt:lpstr>PowerPoint Presentation</vt:lpstr>
      <vt:lpstr>PowerPoint Presentation</vt:lpstr>
      <vt:lpstr>Management</vt:lpstr>
      <vt:lpstr>Management has the following 3 characteristics:</vt:lpstr>
      <vt:lpstr>Functions of Management</vt:lpstr>
      <vt:lpstr>Planning:</vt:lpstr>
      <vt:lpstr>Organizing:</vt:lpstr>
      <vt:lpstr>Influencing:</vt:lpstr>
      <vt:lpstr>Controlling:</vt:lpstr>
      <vt:lpstr>Levels of Management</vt:lpstr>
      <vt:lpstr>Top Level:</vt:lpstr>
      <vt:lpstr> </vt:lpstr>
      <vt:lpstr>Middle Level: </vt:lpstr>
      <vt:lpstr>PowerPoint Presentation</vt:lpstr>
      <vt:lpstr>Junior Level: </vt:lpstr>
      <vt:lpstr>PowerPoint Presentation</vt:lpstr>
      <vt:lpstr>Technology</vt:lpstr>
      <vt:lpstr>Computer Hardware: </vt:lpstr>
      <vt:lpstr>Computer Software:</vt:lpstr>
      <vt:lpstr>Data Management Technology: </vt:lpstr>
      <vt:lpstr>Network and Telecommunication Technology: </vt:lpstr>
      <vt:lpstr>PowerPoint Presentation</vt:lpstr>
      <vt:lpstr>PowerPoint Presentation</vt:lpstr>
      <vt:lpstr>Computer Based Information System (CBIS)</vt:lpstr>
      <vt:lpstr>PowerPoint Presentation</vt:lpstr>
      <vt:lpstr>A typical system consists of the following elements:</vt:lpstr>
      <vt:lpstr>PowerPoint Presentation</vt:lpstr>
      <vt:lpstr>Types of Computers Based Information Systems</vt:lpstr>
      <vt:lpstr>Impact of IT on Organizations</vt:lpstr>
      <vt:lpstr>Enhanced Efficiency and Productivity:</vt:lpstr>
      <vt:lpstr>PowerPoint Presentation</vt:lpstr>
      <vt:lpstr>Redefining Customer Experience:</vt:lpstr>
      <vt:lpstr>PowerPoint Presentation</vt:lpstr>
      <vt:lpstr>Fostering Innovation and Competitive Advantage:</vt:lpstr>
      <vt:lpstr>PowerPoint Presentation</vt:lpstr>
      <vt:lpstr>PowerPoint Presentation</vt:lpstr>
      <vt:lpstr>Importance of Information Systems to Society</vt:lpstr>
      <vt:lpstr>Enhanced Communication and Connectivity: </vt:lpstr>
      <vt:lpstr>PowerPoint Presentation</vt:lpstr>
      <vt:lpstr>PowerPoint Presentation</vt:lpstr>
      <vt:lpstr>Enhanced Access to Education and Healthcare:</vt:lpstr>
      <vt:lpstr>PowerPoint Presentation</vt:lpstr>
      <vt:lpstr>PowerPoint Presentation</vt:lpstr>
      <vt:lpstr>PowerPoint Presentation</vt:lpstr>
      <vt:lpstr>PowerPoint Presentation</vt:lpstr>
      <vt:lpstr>Connecting and Informing Citizens: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System</dc:title>
  <dc:creator>SUDIL</dc:creator>
  <cp:lastModifiedBy>Sudil</cp:lastModifiedBy>
  <cp:revision>131</cp:revision>
  <dcterms:created xsi:type="dcterms:W3CDTF">2024-11-09T14:23:51Z</dcterms:created>
  <dcterms:modified xsi:type="dcterms:W3CDTF">2026-06-30T04:40:00Z</dcterms:modified>
</cp:coreProperties>
</file>