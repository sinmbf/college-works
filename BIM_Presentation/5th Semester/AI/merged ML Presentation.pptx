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71"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31" r:id="rId60"/>
    <p:sldId id="332" r:id="rId61"/>
    <p:sldId id="333" r:id="rId62"/>
    <p:sldId id="334" r:id="rId63"/>
    <p:sldId id="335" r:id="rId64"/>
    <p:sldId id="336" r:id="rId65"/>
    <p:sldId id="337" r:id="rId66"/>
    <p:sldId id="338" r:id="rId67"/>
    <p:sldId id="339" r:id="rId68"/>
    <p:sldId id="340" r:id="rId69"/>
    <p:sldId id="341" r:id="rId70"/>
    <p:sldId id="342" r:id="rId71"/>
    <p:sldId id="343" r:id="rId72"/>
    <p:sldId id="344" r:id="rId73"/>
    <p:sldId id="345" r:id="rId74"/>
    <p:sldId id="346" r:id="rId75"/>
    <p:sldId id="347" r:id="rId76"/>
    <p:sldId id="348" r:id="rId77"/>
    <p:sldId id="316" r:id="rId78"/>
    <p:sldId id="317" r:id="rId79"/>
    <p:sldId id="318" r:id="rId80"/>
    <p:sldId id="319" r:id="rId81"/>
    <p:sldId id="320" r:id="rId82"/>
    <p:sldId id="321" r:id="rId83"/>
    <p:sldId id="322" r:id="rId84"/>
    <p:sldId id="323" r:id="rId85"/>
    <p:sldId id="324" r:id="rId86"/>
    <p:sldId id="325" r:id="rId87"/>
    <p:sldId id="326" r:id="rId88"/>
    <p:sldId id="327" r:id="rId89"/>
    <p:sldId id="328" r:id="rId90"/>
    <p:sldId id="329" r:id="rId91"/>
    <p:sldId id="330" r:id="rId9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1B2A"/>
    <a:srgbClr val="0A1628"/>
    <a:srgbClr val="1E3A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10"/>
  </p:normalViewPr>
  <p:slideViewPr>
    <p:cSldViewPr snapToGrid="0" snapToObjects="1">
      <p:cViewPr varScale="1">
        <p:scale>
          <a:sx n="109" d="100"/>
          <a:sy n="109" d="100"/>
        </p:scale>
        <p:origin x="691"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877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4462701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792965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d535c3d7b6_2_2: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g3d535c3d7b6_2_2: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 name="Google Shape;55;g3d535c3d7b6_2_2: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59</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d535c3d7b6_2_3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 name="Google Shape;82;g3d535c3d7b6_2_30: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 name="Google Shape;83;g3d535c3d7b6_2_30: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60</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d535c3d7b6_2_53: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g3d535c3d7b6_2_53: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g3d535c3d7b6_2_53: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61</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d535c3d7b6_2_64: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g3d535c3d7b6_2_64: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g3d535c3d7b6_2_64: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62</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d535c3d7b6_2_104: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g3d535c3d7b6_2_104: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g3d535c3d7b6_2_104: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63</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d535c3d7b6_2_131: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g3d535c3d7b6_2_131: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8" name="Google Shape;188;g3d535c3d7b6_2_131: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64</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d535c3d7b6_2_237: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g3d535c3d7b6_2_237: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 name="Google Shape;298;g3d535c3d7b6_2_237: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65</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d535c3d7b6_2_248: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9" name="Google Shape;309;g3d535c3d7b6_2_248: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g3d535c3d7b6_2_248: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66</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d535c3d7b6_2_299: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1" name="Google Shape;361;g3d535c3d7b6_2_299: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g3d535c3d7b6_2_299: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67</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4B58C629-5AB1-5D0E-3618-C9E4CB0E41FF}"/>
            </a:ext>
          </a:extLst>
        </p:cNvPr>
        <p:cNvGrpSpPr/>
        <p:nvPr/>
      </p:nvGrpSpPr>
      <p:grpSpPr>
        <a:xfrm>
          <a:off x="0" y="0"/>
          <a:ext cx="0" cy="0"/>
          <a:chOff x="0" y="0"/>
          <a:chExt cx="0" cy="0"/>
        </a:xfrm>
      </p:grpSpPr>
      <p:sp>
        <p:nvSpPr>
          <p:cNvPr id="360" name="Google Shape;360;g3d535c3d7b6_2_299:notes">
            <a:extLst>
              <a:ext uri="{FF2B5EF4-FFF2-40B4-BE49-F238E27FC236}">
                <a16:creationId xmlns:a16="http://schemas.microsoft.com/office/drawing/2014/main" id="{CCE690A9-CBF5-F6FC-1138-9262B612280D}"/>
              </a:ext>
            </a:extLst>
          </p:cNvPr>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1" name="Google Shape;361;g3d535c3d7b6_2_299:notes">
            <a:extLst>
              <a:ext uri="{FF2B5EF4-FFF2-40B4-BE49-F238E27FC236}">
                <a16:creationId xmlns:a16="http://schemas.microsoft.com/office/drawing/2014/main" id="{695786DB-DCB8-5A7B-0075-5BE1BE23852A}"/>
              </a:ext>
            </a:extLst>
          </p:cNvPr>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g3d535c3d7b6_2_299:notes">
            <a:extLst>
              <a:ext uri="{FF2B5EF4-FFF2-40B4-BE49-F238E27FC236}">
                <a16:creationId xmlns:a16="http://schemas.microsoft.com/office/drawing/2014/main" id="{6D0F680E-670C-9787-3D24-6A7564BAB847}"/>
              </a:ext>
            </a:extLst>
          </p:cNvPr>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68</a:t>
            </a:fld>
            <a:endParaRPr/>
          </a:p>
        </p:txBody>
      </p:sp>
    </p:spTree>
    <p:extLst>
      <p:ext uri="{BB962C8B-B14F-4D97-AF65-F5344CB8AC3E}">
        <p14:creationId xmlns:p14="http://schemas.microsoft.com/office/powerpoint/2010/main" val="8660248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d535c3d7b6_2_329: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g3d535c3d7b6_2_329: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g3d535c3d7b6_2_329: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69</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a:extLst>
            <a:ext uri="{FF2B5EF4-FFF2-40B4-BE49-F238E27FC236}">
              <a16:creationId xmlns:a16="http://schemas.microsoft.com/office/drawing/2014/main" id="{0E6E1984-08F1-3DE7-A898-B8D2B0F69A8A}"/>
            </a:ext>
          </a:extLst>
        </p:cNvPr>
        <p:cNvGrpSpPr/>
        <p:nvPr/>
      </p:nvGrpSpPr>
      <p:grpSpPr>
        <a:xfrm>
          <a:off x="0" y="0"/>
          <a:ext cx="0" cy="0"/>
          <a:chOff x="0" y="0"/>
          <a:chExt cx="0" cy="0"/>
        </a:xfrm>
      </p:grpSpPr>
      <p:sp>
        <p:nvSpPr>
          <p:cNvPr id="391" name="Google Shape;391;g3d535c3d7b6_2_329:notes">
            <a:extLst>
              <a:ext uri="{FF2B5EF4-FFF2-40B4-BE49-F238E27FC236}">
                <a16:creationId xmlns:a16="http://schemas.microsoft.com/office/drawing/2014/main" id="{CD2AA5CE-CD77-BF03-3BD3-1B37B0EDE980}"/>
              </a:ext>
            </a:extLst>
          </p:cNvPr>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g3d535c3d7b6_2_329:notes">
            <a:extLst>
              <a:ext uri="{FF2B5EF4-FFF2-40B4-BE49-F238E27FC236}">
                <a16:creationId xmlns:a16="http://schemas.microsoft.com/office/drawing/2014/main" id="{DE78B051-9381-49F3-C3D2-F46EF71B15D4}"/>
              </a:ext>
            </a:extLst>
          </p:cNvPr>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g3d535c3d7b6_2_329:notes">
            <a:extLst>
              <a:ext uri="{FF2B5EF4-FFF2-40B4-BE49-F238E27FC236}">
                <a16:creationId xmlns:a16="http://schemas.microsoft.com/office/drawing/2014/main" id="{C7FC9617-F0B6-4AB2-817F-0BC4E6330953}"/>
              </a:ext>
            </a:extLst>
          </p:cNvPr>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70</a:t>
            </a:fld>
            <a:endParaRPr/>
          </a:p>
        </p:txBody>
      </p:sp>
    </p:spTree>
    <p:extLst>
      <p:ext uri="{BB962C8B-B14F-4D97-AF65-F5344CB8AC3E}">
        <p14:creationId xmlns:p14="http://schemas.microsoft.com/office/powerpoint/2010/main" val="48164484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28DB8F08-40CB-701B-4003-7D3259E3E5CA}"/>
            </a:ext>
          </a:extLst>
        </p:cNvPr>
        <p:cNvGrpSpPr/>
        <p:nvPr/>
      </p:nvGrpSpPr>
      <p:grpSpPr>
        <a:xfrm>
          <a:off x="0" y="0"/>
          <a:ext cx="0" cy="0"/>
          <a:chOff x="0" y="0"/>
          <a:chExt cx="0" cy="0"/>
        </a:xfrm>
      </p:grpSpPr>
      <p:sp>
        <p:nvSpPr>
          <p:cNvPr id="360" name="Google Shape;360;g3d535c3d7b6_2_299:notes">
            <a:extLst>
              <a:ext uri="{FF2B5EF4-FFF2-40B4-BE49-F238E27FC236}">
                <a16:creationId xmlns:a16="http://schemas.microsoft.com/office/drawing/2014/main" id="{63BA5633-B6DB-18E3-4451-421175B42EC1}"/>
              </a:ext>
            </a:extLst>
          </p:cNvPr>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1" name="Google Shape;361;g3d535c3d7b6_2_299:notes">
            <a:extLst>
              <a:ext uri="{FF2B5EF4-FFF2-40B4-BE49-F238E27FC236}">
                <a16:creationId xmlns:a16="http://schemas.microsoft.com/office/drawing/2014/main" id="{9BC9CF94-4938-0E24-07EF-F572D3106A48}"/>
              </a:ext>
            </a:extLst>
          </p:cNvPr>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g3d535c3d7b6_2_299:notes">
            <a:extLst>
              <a:ext uri="{FF2B5EF4-FFF2-40B4-BE49-F238E27FC236}">
                <a16:creationId xmlns:a16="http://schemas.microsoft.com/office/drawing/2014/main" id="{48CB7B11-7012-73D0-C6BE-9962FA65F169}"/>
              </a:ext>
            </a:extLst>
          </p:cNvPr>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71</a:t>
            </a:fld>
            <a:endParaRPr/>
          </a:p>
        </p:txBody>
      </p:sp>
    </p:spTree>
    <p:extLst>
      <p:ext uri="{BB962C8B-B14F-4D97-AF65-F5344CB8AC3E}">
        <p14:creationId xmlns:p14="http://schemas.microsoft.com/office/powerpoint/2010/main" val="106481081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a:extLst>
            <a:ext uri="{FF2B5EF4-FFF2-40B4-BE49-F238E27FC236}">
              <a16:creationId xmlns:a16="http://schemas.microsoft.com/office/drawing/2014/main" id="{19F31BE2-C304-1A09-583E-1A79FA273F0F}"/>
            </a:ext>
          </a:extLst>
        </p:cNvPr>
        <p:cNvGrpSpPr/>
        <p:nvPr/>
      </p:nvGrpSpPr>
      <p:grpSpPr>
        <a:xfrm>
          <a:off x="0" y="0"/>
          <a:ext cx="0" cy="0"/>
          <a:chOff x="0" y="0"/>
          <a:chExt cx="0" cy="0"/>
        </a:xfrm>
      </p:grpSpPr>
      <p:sp>
        <p:nvSpPr>
          <p:cNvPr id="391" name="Google Shape;391;g3d535c3d7b6_2_329:notes">
            <a:extLst>
              <a:ext uri="{FF2B5EF4-FFF2-40B4-BE49-F238E27FC236}">
                <a16:creationId xmlns:a16="http://schemas.microsoft.com/office/drawing/2014/main" id="{AD7F1568-C8C5-3A5E-FE65-EABC2B70D144}"/>
              </a:ext>
            </a:extLst>
          </p:cNvPr>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g3d535c3d7b6_2_329:notes">
            <a:extLst>
              <a:ext uri="{FF2B5EF4-FFF2-40B4-BE49-F238E27FC236}">
                <a16:creationId xmlns:a16="http://schemas.microsoft.com/office/drawing/2014/main" id="{3B05BB99-27ED-B8C6-5311-D1337F7CDE0E}"/>
              </a:ext>
            </a:extLst>
          </p:cNvPr>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g3d535c3d7b6_2_329:notes">
            <a:extLst>
              <a:ext uri="{FF2B5EF4-FFF2-40B4-BE49-F238E27FC236}">
                <a16:creationId xmlns:a16="http://schemas.microsoft.com/office/drawing/2014/main" id="{128C8170-3F3D-4B2A-0DE8-64FBE858FAE7}"/>
              </a:ext>
            </a:extLst>
          </p:cNvPr>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72</a:t>
            </a:fld>
            <a:endParaRPr/>
          </a:p>
        </p:txBody>
      </p:sp>
    </p:spTree>
    <p:extLst>
      <p:ext uri="{BB962C8B-B14F-4D97-AF65-F5344CB8AC3E}">
        <p14:creationId xmlns:p14="http://schemas.microsoft.com/office/powerpoint/2010/main" val="80862399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a:extLst>
            <a:ext uri="{FF2B5EF4-FFF2-40B4-BE49-F238E27FC236}">
              <a16:creationId xmlns:a16="http://schemas.microsoft.com/office/drawing/2014/main" id="{FD835143-4F4C-9DC8-285B-22449893CBC1}"/>
            </a:ext>
          </a:extLst>
        </p:cNvPr>
        <p:cNvGrpSpPr/>
        <p:nvPr/>
      </p:nvGrpSpPr>
      <p:grpSpPr>
        <a:xfrm>
          <a:off x="0" y="0"/>
          <a:ext cx="0" cy="0"/>
          <a:chOff x="0" y="0"/>
          <a:chExt cx="0" cy="0"/>
        </a:xfrm>
      </p:grpSpPr>
      <p:sp>
        <p:nvSpPr>
          <p:cNvPr id="391" name="Google Shape;391;g3d535c3d7b6_2_329:notes">
            <a:extLst>
              <a:ext uri="{FF2B5EF4-FFF2-40B4-BE49-F238E27FC236}">
                <a16:creationId xmlns:a16="http://schemas.microsoft.com/office/drawing/2014/main" id="{DA0442D2-3186-D6E2-2C84-C82A0AD7BD7F}"/>
              </a:ext>
            </a:extLst>
          </p:cNvPr>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g3d535c3d7b6_2_329:notes">
            <a:extLst>
              <a:ext uri="{FF2B5EF4-FFF2-40B4-BE49-F238E27FC236}">
                <a16:creationId xmlns:a16="http://schemas.microsoft.com/office/drawing/2014/main" id="{F32264A8-7A65-4CD6-D769-9B2FE47D691E}"/>
              </a:ext>
            </a:extLst>
          </p:cNvPr>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g3d535c3d7b6_2_329:notes">
            <a:extLst>
              <a:ext uri="{FF2B5EF4-FFF2-40B4-BE49-F238E27FC236}">
                <a16:creationId xmlns:a16="http://schemas.microsoft.com/office/drawing/2014/main" id="{CF2CC087-1168-6F44-857A-8FA482FBD153}"/>
              </a:ext>
            </a:extLst>
          </p:cNvPr>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73</a:t>
            </a:fld>
            <a:endParaRPr/>
          </a:p>
        </p:txBody>
      </p:sp>
    </p:spTree>
    <p:extLst>
      <p:ext uri="{BB962C8B-B14F-4D97-AF65-F5344CB8AC3E}">
        <p14:creationId xmlns:p14="http://schemas.microsoft.com/office/powerpoint/2010/main" val="426315589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a:extLst>
            <a:ext uri="{FF2B5EF4-FFF2-40B4-BE49-F238E27FC236}">
              <a16:creationId xmlns:a16="http://schemas.microsoft.com/office/drawing/2014/main" id="{E75A0F5B-2546-AD9A-00A0-616719328584}"/>
            </a:ext>
          </a:extLst>
        </p:cNvPr>
        <p:cNvGrpSpPr/>
        <p:nvPr/>
      </p:nvGrpSpPr>
      <p:grpSpPr>
        <a:xfrm>
          <a:off x="0" y="0"/>
          <a:ext cx="0" cy="0"/>
          <a:chOff x="0" y="0"/>
          <a:chExt cx="0" cy="0"/>
        </a:xfrm>
      </p:grpSpPr>
      <p:sp>
        <p:nvSpPr>
          <p:cNvPr id="391" name="Google Shape;391;g3d535c3d7b6_2_329:notes">
            <a:extLst>
              <a:ext uri="{FF2B5EF4-FFF2-40B4-BE49-F238E27FC236}">
                <a16:creationId xmlns:a16="http://schemas.microsoft.com/office/drawing/2014/main" id="{6C587349-BB88-C03B-9504-510A62FC4397}"/>
              </a:ext>
            </a:extLst>
          </p:cNvPr>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g3d535c3d7b6_2_329:notes">
            <a:extLst>
              <a:ext uri="{FF2B5EF4-FFF2-40B4-BE49-F238E27FC236}">
                <a16:creationId xmlns:a16="http://schemas.microsoft.com/office/drawing/2014/main" id="{2F7130FD-CEAB-01F2-864E-6E937831B58A}"/>
              </a:ext>
            </a:extLst>
          </p:cNvPr>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g3d535c3d7b6_2_329:notes">
            <a:extLst>
              <a:ext uri="{FF2B5EF4-FFF2-40B4-BE49-F238E27FC236}">
                <a16:creationId xmlns:a16="http://schemas.microsoft.com/office/drawing/2014/main" id="{5835D445-B07E-D689-E7B2-3DC692198756}"/>
              </a:ext>
            </a:extLst>
          </p:cNvPr>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74</a:t>
            </a:fld>
            <a:endParaRPr/>
          </a:p>
        </p:txBody>
      </p:sp>
    </p:spTree>
    <p:extLst>
      <p:ext uri="{BB962C8B-B14F-4D97-AF65-F5344CB8AC3E}">
        <p14:creationId xmlns:p14="http://schemas.microsoft.com/office/powerpoint/2010/main" val="380513206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a:extLst>
            <a:ext uri="{FF2B5EF4-FFF2-40B4-BE49-F238E27FC236}">
              <a16:creationId xmlns:a16="http://schemas.microsoft.com/office/drawing/2014/main" id="{810F8CCE-2328-C507-4D94-BAF1074A2E23}"/>
            </a:ext>
          </a:extLst>
        </p:cNvPr>
        <p:cNvGrpSpPr/>
        <p:nvPr/>
      </p:nvGrpSpPr>
      <p:grpSpPr>
        <a:xfrm>
          <a:off x="0" y="0"/>
          <a:ext cx="0" cy="0"/>
          <a:chOff x="0" y="0"/>
          <a:chExt cx="0" cy="0"/>
        </a:xfrm>
      </p:grpSpPr>
      <p:sp>
        <p:nvSpPr>
          <p:cNvPr id="391" name="Google Shape;391;g3d535c3d7b6_2_329:notes">
            <a:extLst>
              <a:ext uri="{FF2B5EF4-FFF2-40B4-BE49-F238E27FC236}">
                <a16:creationId xmlns:a16="http://schemas.microsoft.com/office/drawing/2014/main" id="{88604592-B441-01D9-8269-5228495FBBCB}"/>
              </a:ext>
            </a:extLst>
          </p:cNvPr>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g3d535c3d7b6_2_329:notes">
            <a:extLst>
              <a:ext uri="{FF2B5EF4-FFF2-40B4-BE49-F238E27FC236}">
                <a16:creationId xmlns:a16="http://schemas.microsoft.com/office/drawing/2014/main" id="{A59C579A-652E-5AC6-1F4C-FF8E530192DE}"/>
              </a:ext>
            </a:extLst>
          </p:cNvPr>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g3d535c3d7b6_2_329:notes">
            <a:extLst>
              <a:ext uri="{FF2B5EF4-FFF2-40B4-BE49-F238E27FC236}">
                <a16:creationId xmlns:a16="http://schemas.microsoft.com/office/drawing/2014/main" id="{D3C285D6-F7D2-C04B-5FEA-779555210781}"/>
              </a:ext>
            </a:extLst>
          </p:cNvPr>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75</a:t>
            </a:fld>
            <a:endParaRPr/>
          </a:p>
        </p:txBody>
      </p:sp>
    </p:spTree>
    <p:extLst>
      <p:ext uri="{BB962C8B-B14F-4D97-AF65-F5344CB8AC3E}">
        <p14:creationId xmlns:p14="http://schemas.microsoft.com/office/powerpoint/2010/main" val="241539997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a:extLst>
            <a:ext uri="{FF2B5EF4-FFF2-40B4-BE49-F238E27FC236}">
              <a16:creationId xmlns:a16="http://schemas.microsoft.com/office/drawing/2014/main" id="{FC4C7D24-2197-FCDC-232D-BDC14860969E}"/>
            </a:ext>
          </a:extLst>
        </p:cNvPr>
        <p:cNvGrpSpPr/>
        <p:nvPr/>
      </p:nvGrpSpPr>
      <p:grpSpPr>
        <a:xfrm>
          <a:off x="0" y="0"/>
          <a:ext cx="0" cy="0"/>
          <a:chOff x="0" y="0"/>
          <a:chExt cx="0" cy="0"/>
        </a:xfrm>
      </p:grpSpPr>
      <p:sp>
        <p:nvSpPr>
          <p:cNvPr id="391" name="Google Shape;391;g3d535c3d7b6_2_329:notes">
            <a:extLst>
              <a:ext uri="{FF2B5EF4-FFF2-40B4-BE49-F238E27FC236}">
                <a16:creationId xmlns:a16="http://schemas.microsoft.com/office/drawing/2014/main" id="{39B87E47-85F9-6B83-AD90-27FBD7F716B9}"/>
              </a:ext>
            </a:extLst>
          </p:cNvPr>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g3d535c3d7b6_2_329:notes">
            <a:extLst>
              <a:ext uri="{FF2B5EF4-FFF2-40B4-BE49-F238E27FC236}">
                <a16:creationId xmlns:a16="http://schemas.microsoft.com/office/drawing/2014/main" id="{170038F6-5533-9A5F-5BB6-7D041E45E8E7}"/>
              </a:ext>
            </a:extLst>
          </p:cNvPr>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g3d535c3d7b6_2_329:notes">
            <a:extLst>
              <a:ext uri="{FF2B5EF4-FFF2-40B4-BE49-F238E27FC236}">
                <a16:creationId xmlns:a16="http://schemas.microsoft.com/office/drawing/2014/main" id="{350184FB-CEA0-3ED0-C6D2-1F37F1EC1352}"/>
              </a:ext>
            </a:extLst>
          </p:cNvPr>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76</a:t>
            </a:fld>
            <a:endParaRPr/>
          </a:p>
        </p:txBody>
      </p:sp>
    </p:spTree>
    <p:extLst>
      <p:ext uri="{BB962C8B-B14F-4D97-AF65-F5344CB8AC3E}">
        <p14:creationId xmlns:p14="http://schemas.microsoft.com/office/powerpoint/2010/main" val="246596337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328819304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7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3B82F6"/>
          </a:solidFill>
          <a:ln/>
        </p:spPr>
        <p:txBody>
          <a:bodyPr/>
          <a:lstStyle/>
          <a:p>
            <a:endParaRPr lang="en-US"/>
          </a:p>
        </p:txBody>
      </p:sp>
      <p:sp>
        <p:nvSpPr>
          <p:cNvPr id="3" name="Shape 1"/>
          <p:cNvSpPr/>
          <p:nvPr/>
        </p:nvSpPr>
        <p:spPr>
          <a:xfrm>
            <a:off x="7132320" y="-731520"/>
            <a:ext cx="2926080" cy="2926080"/>
          </a:xfrm>
          <a:prstGeom prst="ellipse">
            <a:avLst/>
          </a:prstGeom>
          <a:solidFill>
            <a:srgbClr val="1E40AF">
              <a:alpha val="30000"/>
            </a:srgbClr>
          </a:solidFill>
          <a:ln w="12700">
            <a:solidFill>
              <a:srgbClr val="3B82F6"/>
            </a:solidFill>
            <a:prstDash val="solid"/>
          </a:ln>
        </p:spPr>
        <p:txBody>
          <a:bodyPr/>
          <a:lstStyle/>
          <a:p>
            <a:endParaRPr lang="en-US" dirty="0"/>
          </a:p>
        </p:txBody>
      </p:sp>
      <p:sp>
        <p:nvSpPr>
          <p:cNvPr id="4" name="Shape 2"/>
          <p:cNvSpPr/>
          <p:nvPr/>
        </p:nvSpPr>
        <p:spPr>
          <a:xfrm>
            <a:off x="7680960" y="-182880"/>
            <a:ext cx="1828800" cy="1828800"/>
          </a:xfrm>
          <a:prstGeom prst="ellipse">
            <a:avLst/>
          </a:prstGeom>
          <a:solidFill>
            <a:srgbClr val="3B82F6">
              <a:alpha val="20000"/>
            </a:srgbClr>
          </a:solidFill>
          <a:ln w="12700">
            <a:solidFill>
              <a:srgbClr val="3B82F6"/>
            </a:solidFill>
            <a:prstDash val="solid"/>
          </a:ln>
        </p:spPr>
        <p:txBody>
          <a:bodyPr/>
          <a:lstStyle/>
          <a:p>
            <a:endParaRPr lang="en-US"/>
          </a:p>
        </p:txBody>
      </p:sp>
      <p:sp>
        <p:nvSpPr>
          <p:cNvPr id="5" name="Shape 3"/>
          <p:cNvSpPr/>
          <p:nvPr/>
        </p:nvSpPr>
        <p:spPr>
          <a:xfrm>
            <a:off x="228600" y="4663440"/>
            <a:ext cx="8915400" cy="91440"/>
          </a:xfrm>
          <a:prstGeom prst="rect">
            <a:avLst/>
          </a:prstGeom>
          <a:solidFill>
            <a:srgbClr val="3B82F6"/>
          </a:solidFill>
          <a:ln/>
        </p:spPr>
        <p:txBody>
          <a:bodyPr/>
          <a:lstStyle/>
          <a:p>
            <a:endParaRPr lang="en-US"/>
          </a:p>
        </p:txBody>
      </p:sp>
      <p:sp>
        <p:nvSpPr>
          <p:cNvPr id="9" name="Text 7"/>
          <p:cNvSpPr/>
          <p:nvPr/>
        </p:nvSpPr>
        <p:spPr>
          <a:xfrm>
            <a:off x="457200" y="594360"/>
            <a:ext cx="8229600" cy="1005840"/>
          </a:xfrm>
          <a:prstGeom prst="rect">
            <a:avLst/>
          </a:prstGeom>
          <a:noFill/>
          <a:ln/>
        </p:spPr>
        <p:txBody>
          <a:bodyPr wrap="square" rtlCol="0" anchor="ctr"/>
          <a:lstStyle/>
          <a:p>
            <a:pPr marL="0" indent="0">
              <a:buNone/>
            </a:pPr>
            <a:r>
              <a:rPr lang="en-US" sz="6000" b="1" dirty="0">
                <a:solidFill>
                  <a:srgbClr val="FFFFFF"/>
                </a:solidFill>
                <a:latin typeface="Calibri" pitchFamily="34" charset="0"/>
                <a:ea typeface="Calibri" pitchFamily="34" charset="-122"/>
                <a:cs typeface="Calibri" pitchFamily="34" charset="-120"/>
              </a:rPr>
              <a:t>Machine Learning</a:t>
            </a:r>
            <a:endParaRPr lang="en-US" sz="6000" dirty="0"/>
          </a:p>
        </p:txBody>
      </p:sp>
      <p:sp>
        <p:nvSpPr>
          <p:cNvPr id="10" name="Text 8"/>
          <p:cNvSpPr/>
          <p:nvPr/>
        </p:nvSpPr>
        <p:spPr>
          <a:xfrm>
            <a:off x="365760" y="3413760"/>
            <a:ext cx="7315200" cy="457200"/>
          </a:xfrm>
          <a:prstGeom prst="rect">
            <a:avLst/>
          </a:prstGeom>
          <a:noFill/>
          <a:ln/>
        </p:spPr>
        <p:txBody>
          <a:bodyPr wrap="square" rtlCol="0" anchor="ctr"/>
          <a:lstStyle/>
          <a:p>
            <a:pPr marL="0" indent="0">
              <a:buNone/>
            </a:pPr>
            <a:endParaRPr lang="en-US" sz="1600" dirty="0">
              <a:solidFill>
                <a:schemeClr val="bg1"/>
              </a:solidFill>
            </a:endParaRPr>
          </a:p>
        </p:txBody>
      </p:sp>
      <p:sp>
        <p:nvSpPr>
          <p:cNvPr id="6" name="TextBox 5">
            <a:extLst>
              <a:ext uri="{FF2B5EF4-FFF2-40B4-BE49-F238E27FC236}">
                <a16:creationId xmlns:a16="http://schemas.microsoft.com/office/drawing/2014/main" id="{C7A07AD8-949F-415A-A8DE-3A4FB40F8728}"/>
              </a:ext>
            </a:extLst>
          </p:cNvPr>
          <p:cNvSpPr txBox="1"/>
          <p:nvPr/>
        </p:nvSpPr>
        <p:spPr>
          <a:xfrm>
            <a:off x="439829" y="2539782"/>
            <a:ext cx="2568102" cy="2123658"/>
          </a:xfrm>
          <a:prstGeom prst="rect">
            <a:avLst/>
          </a:prstGeom>
          <a:noFill/>
        </p:spPr>
        <p:txBody>
          <a:bodyPr wrap="square" rtlCol="0">
            <a:spAutoFit/>
          </a:bodyPr>
          <a:lstStyle/>
          <a:p>
            <a:r>
              <a:rPr lang="en-US" sz="2400" b="1" dirty="0">
                <a:solidFill>
                  <a:schemeClr val="bg1"/>
                </a:solidFill>
              </a:rPr>
              <a:t>Presented By:</a:t>
            </a:r>
          </a:p>
          <a:p>
            <a:r>
              <a:rPr lang="en-US" dirty="0">
                <a:solidFill>
                  <a:schemeClr val="bg1"/>
                </a:solidFill>
              </a:rPr>
              <a:t>Shaishab Joshi</a:t>
            </a:r>
          </a:p>
          <a:p>
            <a:r>
              <a:rPr lang="en-US" dirty="0">
                <a:solidFill>
                  <a:schemeClr val="bg1"/>
                </a:solidFill>
              </a:rPr>
              <a:t>Sonika </a:t>
            </a:r>
            <a:r>
              <a:rPr lang="en-US" dirty="0" err="1">
                <a:solidFill>
                  <a:schemeClr val="bg1"/>
                </a:solidFill>
              </a:rPr>
              <a:t>Bohora</a:t>
            </a:r>
            <a:endParaRPr lang="en-US" dirty="0">
              <a:solidFill>
                <a:schemeClr val="bg1"/>
              </a:solidFill>
            </a:endParaRPr>
          </a:p>
          <a:p>
            <a:r>
              <a:rPr lang="en-US" dirty="0" err="1">
                <a:solidFill>
                  <a:schemeClr val="bg1"/>
                </a:solidFill>
              </a:rPr>
              <a:t>Minisha</a:t>
            </a:r>
            <a:r>
              <a:rPr lang="en-US" dirty="0">
                <a:solidFill>
                  <a:schemeClr val="bg1"/>
                </a:solidFill>
              </a:rPr>
              <a:t> </a:t>
            </a:r>
            <a:r>
              <a:rPr lang="en-US" dirty="0" err="1">
                <a:solidFill>
                  <a:schemeClr val="bg1"/>
                </a:solidFill>
              </a:rPr>
              <a:t>Dangol</a:t>
            </a:r>
            <a:endParaRPr lang="en-US" dirty="0">
              <a:solidFill>
                <a:schemeClr val="bg1"/>
              </a:solidFill>
            </a:endParaRPr>
          </a:p>
          <a:p>
            <a:r>
              <a:rPr lang="en-US" dirty="0">
                <a:solidFill>
                  <a:schemeClr val="bg1"/>
                </a:solidFill>
              </a:rPr>
              <a:t>Raj Gurung</a:t>
            </a:r>
          </a:p>
          <a:p>
            <a:r>
              <a:rPr lang="en-US" dirty="0">
                <a:solidFill>
                  <a:schemeClr val="bg1"/>
                </a:solidFill>
              </a:rPr>
              <a:t>Siddhartha Shakya </a:t>
            </a:r>
          </a:p>
          <a:p>
            <a:r>
              <a:rPr lang="en-US" dirty="0" err="1">
                <a:solidFill>
                  <a:schemeClr val="bg1"/>
                </a:solidFill>
              </a:rPr>
              <a:t>Richina</a:t>
            </a:r>
            <a:r>
              <a:rPr lang="en-US" dirty="0">
                <a:solidFill>
                  <a:schemeClr val="bg1"/>
                </a:solidFill>
              </a:rPr>
              <a:t> Pradhan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a:p>
        </p:txBody>
      </p:sp>
      <p:sp>
        <p:nvSpPr>
          <p:cNvPr id="3" name="Text 1"/>
          <p:cNvSpPr/>
          <p:nvPr/>
        </p:nvSpPr>
        <p:spPr>
          <a:xfrm>
            <a:off x="365760" y="0"/>
            <a:ext cx="8229600" cy="8229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CONTENTS</a:t>
            </a:r>
            <a:endParaRPr lang="en-US" sz="2200" dirty="0"/>
          </a:p>
        </p:txBody>
      </p:sp>
      <p:sp>
        <p:nvSpPr>
          <p:cNvPr id="5" name="Shape 3"/>
          <p:cNvSpPr/>
          <p:nvPr/>
        </p:nvSpPr>
        <p:spPr>
          <a:xfrm>
            <a:off x="274320" y="1005840"/>
            <a:ext cx="4206240" cy="1097280"/>
          </a:xfrm>
          <a:prstGeom prst="rect">
            <a:avLst/>
          </a:prstGeom>
          <a:solidFill>
            <a:srgbClr val="FFFFFF"/>
          </a:solidFill>
          <a:ln w="6350">
            <a:solidFill>
              <a:srgbClr val="334155"/>
            </a:solidFill>
            <a:prstDash val="solid"/>
          </a:ln>
          <a:effectLst>
            <a:outerShdw blurRad="101600" dist="38100" dir="8100000" algn="bl" rotWithShape="0">
              <a:srgbClr val="000000">
                <a:alpha val="20000"/>
              </a:srgbClr>
            </a:outerShdw>
          </a:effectLst>
        </p:spPr>
        <p:txBody>
          <a:bodyPr/>
          <a:lstStyle/>
          <a:p>
            <a:endParaRPr lang="en-US"/>
          </a:p>
        </p:txBody>
      </p:sp>
      <p:sp>
        <p:nvSpPr>
          <p:cNvPr id="6" name="Shape 4"/>
          <p:cNvSpPr/>
          <p:nvPr/>
        </p:nvSpPr>
        <p:spPr>
          <a:xfrm>
            <a:off x="274320" y="1005840"/>
            <a:ext cx="64008" cy="1097280"/>
          </a:xfrm>
          <a:prstGeom prst="rect">
            <a:avLst/>
          </a:prstGeom>
          <a:solidFill>
            <a:srgbClr val="3B82F6"/>
          </a:solidFill>
          <a:ln/>
        </p:spPr>
        <p:txBody>
          <a:bodyPr/>
          <a:lstStyle/>
          <a:p>
            <a:endParaRPr lang="en-US"/>
          </a:p>
        </p:txBody>
      </p:sp>
      <p:sp>
        <p:nvSpPr>
          <p:cNvPr id="7" name="Text 5"/>
          <p:cNvSpPr/>
          <p:nvPr/>
        </p:nvSpPr>
        <p:spPr>
          <a:xfrm>
            <a:off x="411480" y="1097280"/>
            <a:ext cx="548640" cy="365760"/>
          </a:xfrm>
          <a:prstGeom prst="rect">
            <a:avLst/>
          </a:prstGeom>
          <a:noFill/>
          <a:ln/>
        </p:spPr>
        <p:txBody>
          <a:bodyPr wrap="square" lIns="0" tIns="0" rIns="0" bIns="0" rtlCol="0" anchor="ctr"/>
          <a:lstStyle/>
          <a:p>
            <a:pPr marL="0" indent="0">
              <a:buNone/>
            </a:pPr>
            <a:r>
              <a:rPr lang="en-US" sz="2000" b="1" dirty="0">
                <a:solidFill>
                  <a:srgbClr val="3B82F6"/>
                </a:solidFill>
                <a:latin typeface="Calibri" pitchFamily="34" charset="0"/>
                <a:ea typeface="Calibri" pitchFamily="34" charset="-122"/>
                <a:cs typeface="Calibri" pitchFamily="34" charset="-120"/>
              </a:rPr>
              <a:t>01</a:t>
            </a:r>
            <a:endParaRPr lang="en-US" sz="2000" dirty="0"/>
          </a:p>
        </p:txBody>
      </p:sp>
      <p:sp>
        <p:nvSpPr>
          <p:cNvPr id="8" name="Text 6"/>
          <p:cNvSpPr/>
          <p:nvPr/>
        </p:nvSpPr>
        <p:spPr>
          <a:xfrm>
            <a:off x="411480" y="1417320"/>
            <a:ext cx="384048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What is Machine Learning?</a:t>
            </a:r>
            <a:endParaRPr lang="en-US" sz="1300" dirty="0"/>
          </a:p>
        </p:txBody>
      </p:sp>
      <p:sp>
        <p:nvSpPr>
          <p:cNvPr id="9" name="Text 7"/>
          <p:cNvSpPr/>
          <p:nvPr/>
        </p:nvSpPr>
        <p:spPr>
          <a:xfrm>
            <a:off x="411480" y="1719072"/>
            <a:ext cx="384048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Definition, history &amp; key concepts</a:t>
            </a:r>
            <a:endParaRPr lang="en-US" sz="900" dirty="0"/>
          </a:p>
        </p:txBody>
      </p:sp>
      <p:sp>
        <p:nvSpPr>
          <p:cNvPr id="10" name="Shape 8"/>
          <p:cNvSpPr/>
          <p:nvPr/>
        </p:nvSpPr>
        <p:spPr>
          <a:xfrm>
            <a:off x="274320" y="2286000"/>
            <a:ext cx="4206240" cy="1097280"/>
          </a:xfrm>
          <a:prstGeom prst="rect">
            <a:avLst/>
          </a:prstGeom>
          <a:solidFill>
            <a:srgbClr val="FFFFFF"/>
          </a:solidFill>
          <a:ln w="6350">
            <a:solidFill>
              <a:srgbClr val="334155"/>
            </a:solidFill>
            <a:prstDash val="solid"/>
          </a:ln>
          <a:effectLst>
            <a:outerShdw blurRad="101600" dist="38100" dir="8100000" algn="bl" rotWithShape="0">
              <a:srgbClr val="000000">
                <a:alpha val="20000"/>
              </a:srgbClr>
            </a:outerShdw>
          </a:effectLst>
        </p:spPr>
        <p:txBody>
          <a:bodyPr/>
          <a:lstStyle/>
          <a:p>
            <a:endParaRPr lang="en-US"/>
          </a:p>
        </p:txBody>
      </p:sp>
      <p:sp>
        <p:nvSpPr>
          <p:cNvPr id="11" name="Shape 9"/>
          <p:cNvSpPr/>
          <p:nvPr/>
        </p:nvSpPr>
        <p:spPr>
          <a:xfrm>
            <a:off x="274320" y="2286000"/>
            <a:ext cx="64008" cy="1097280"/>
          </a:xfrm>
          <a:prstGeom prst="rect">
            <a:avLst/>
          </a:prstGeom>
          <a:solidFill>
            <a:srgbClr val="3B82F6"/>
          </a:solidFill>
          <a:ln/>
        </p:spPr>
        <p:txBody>
          <a:bodyPr/>
          <a:lstStyle/>
          <a:p>
            <a:endParaRPr lang="en-US"/>
          </a:p>
        </p:txBody>
      </p:sp>
      <p:sp>
        <p:nvSpPr>
          <p:cNvPr id="12" name="Text 10"/>
          <p:cNvSpPr/>
          <p:nvPr/>
        </p:nvSpPr>
        <p:spPr>
          <a:xfrm>
            <a:off x="411480" y="2377440"/>
            <a:ext cx="548640" cy="365760"/>
          </a:xfrm>
          <a:prstGeom prst="rect">
            <a:avLst/>
          </a:prstGeom>
          <a:noFill/>
          <a:ln/>
        </p:spPr>
        <p:txBody>
          <a:bodyPr wrap="square" lIns="0" tIns="0" rIns="0" bIns="0" rtlCol="0" anchor="ctr"/>
          <a:lstStyle/>
          <a:p>
            <a:pPr marL="0" indent="0">
              <a:buNone/>
            </a:pPr>
            <a:r>
              <a:rPr lang="en-US" sz="2000" b="1" dirty="0">
                <a:solidFill>
                  <a:srgbClr val="3B82F6"/>
                </a:solidFill>
                <a:latin typeface="Calibri" pitchFamily="34" charset="0"/>
                <a:ea typeface="Calibri" pitchFamily="34" charset="-122"/>
                <a:cs typeface="Calibri" pitchFamily="34" charset="-120"/>
              </a:rPr>
              <a:t>02</a:t>
            </a:r>
            <a:endParaRPr lang="en-US" sz="2000" dirty="0"/>
          </a:p>
        </p:txBody>
      </p:sp>
      <p:sp>
        <p:nvSpPr>
          <p:cNvPr id="13" name="Text 11"/>
          <p:cNvSpPr/>
          <p:nvPr/>
        </p:nvSpPr>
        <p:spPr>
          <a:xfrm>
            <a:off x="411480" y="2697480"/>
            <a:ext cx="384048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Supervised Learning</a:t>
            </a:r>
            <a:endParaRPr lang="en-US" sz="1300" dirty="0"/>
          </a:p>
        </p:txBody>
      </p:sp>
      <p:sp>
        <p:nvSpPr>
          <p:cNvPr id="14" name="Text 12"/>
          <p:cNvSpPr/>
          <p:nvPr/>
        </p:nvSpPr>
        <p:spPr>
          <a:xfrm>
            <a:off x="411480" y="2999232"/>
            <a:ext cx="384048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Regression &amp; Classification with examples</a:t>
            </a:r>
            <a:endParaRPr lang="en-US" sz="900" dirty="0"/>
          </a:p>
        </p:txBody>
      </p:sp>
      <p:sp>
        <p:nvSpPr>
          <p:cNvPr id="15" name="Shape 13"/>
          <p:cNvSpPr/>
          <p:nvPr/>
        </p:nvSpPr>
        <p:spPr>
          <a:xfrm>
            <a:off x="274320" y="3566160"/>
            <a:ext cx="4206240" cy="1097280"/>
          </a:xfrm>
          <a:prstGeom prst="rect">
            <a:avLst/>
          </a:prstGeom>
          <a:solidFill>
            <a:srgbClr val="FFFFFF"/>
          </a:solidFill>
          <a:ln w="6350">
            <a:solidFill>
              <a:srgbClr val="334155"/>
            </a:solidFill>
            <a:prstDash val="solid"/>
          </a:ln>
          <a:effectLst>
            <a:outerShdw blurRad="101600" dist="38100" dir="8100000" algn="bl" rotWithShape="0">
              <a:srgbClr val="000000">
                <a:alpha val="20000"/>
              </a:srgbClr>
            </a:outerShdw>
          </a:effectLst>
        </p:spPr>
        <p:txBody>
          <a:bodyPr/>
          <a:lstStyle/>
          <a:p>
            <a:endParaRPr lang="en-US"/>
          </a:p>
        </p:txBody>
      </p:sp>
      <p:sp>
        <p:nvSpPr>
          <p:cNvPr id="16" name="Shape 14"/>
          <p:cNvSpPr/>
          <p:nvPr/>
        </p:nvSpPr>
        <p:spPr>
          <a:xfrm>
            <a:off x="274320" y="3566160"/>
            <a:ext cx="64008" cy="1097280"/>
          </a:xfrm>
          <a:prstGeom prst="rect">
            <a:avLst/>
          </a:prstGeom>
          <a:solidFill>
            <a:srgbClr val="3B82F6"/>
          </a:solidFill>
          <a:ln/>
        </p:spPr>
        <p:txBody>
          <a:bodyPr/>
          <a:lstStyle/>
          <a:p>
            <a:endParaRPr lang="en-US"/>
          </a:p>
        </p:txBody>
      </p:sp>
      <p:sp>
        <p:nvSpPr>
          <p:cNvPr id="17" name="Text 15"/>
          <p:cNvSpPr/>
          <p:nvPr/>
        </p:nvSpPr>
        <p:spPr>
          <a:xfrm>
            <a:off x="411480" y="3657600"/>
            <a:ext cx="548640" cy="365760"/>
          </a:xfrm>
          <a:prstGeom prst="rect">
            <a:avLst/>
          </a:prstGeom>
          <a:noFill/>
          <a:ln/>
        </p:spPr>
        <p:txBody>
          <a:bodyPr wrap="square" lIns="0" tIns="0" rIns="0" bIns="0" rtlCol="0" anchor="ctr"/>
          <a:lstStyle/>
          <a:p>
            <a:pPr marL="0" indent="0">
              <a:buNone/>
            </a:pPr>
            <a:r>
              <a:rPr lang="en-US" sz="2000" b="1" dirty="0">
                <a:solidFill>
                  <a:srgbClr val="3B82F6"/>
                </a:solidFill>
                <a:latin typeface="Calibri" pitchFamily="34" charset="0"/>
                <a:ea typeface="Calibri" pitchFamily="34" charset="-122"/>
                <a:cs typeface="Calibri" pitchFamily="34" charset="-120"/>
              </a:rPr>
              <a:t>03</a:t>
            </a:r>
            <a:endParaRPr lang="en-US" sz="2000" dirty="0"/>
          </a:p>
        </p:txBody>
      </p:sp>
      <p:sp>
        <p:nvSpPr>
          <p:cNvPr id="18" name="Text 16"/>
          <p:cNvSpPr/>
          <p:nvPr/>
        </p:nvSpPr>
        <p:spPr>
          <a:xfrm>
            <a:off x="411480" y="3977640"/>
            <a:ext cx="384048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Unsupervised Learning</a:t>
            </a:r>
            <a:endParaRPr lang="en-US" sz="1300" dirty="0"/>
          </a:p>
        </p:txBody>
      </p:sp>
      <p:sp>
        <p:nvSpPr>
          <p:cNvPr id="19" name="Text 17"/>
          <p:cNvSpPr/>
          <p:nvPr/>
        </p:nvSpPr>
        <p:spPr>
          <a:xfrm>
            <a:off x="411480" y="4279392"/>
            <a:ext cx="384048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Clustering, Dimensionality Reduction, Anomaly Detection &amp; Association Rules</a:t>
            </a:r>
            <a:endParaRPr lang="en-US" sz="900" dirty="0"/>
          </a:p>
        </p:txBody>
      </p:sp>
      <p:sp>
        <p:nvSpPr>
          <p:cNvPr id="20" name="Shape 18"/>
          <p:cNvSpPr/>
          <p:nvPr/>
        </p:nvSpPr>
        <p:spPr>
          <a:xfrm>
            <a:off x="4754880" y="1005840"/>
            <a:ext cx="4206240" cy="1097280"/>
          </a:xfrm>
          <a:prstGeom prst="rect">
            <a:avLst/>
          </a:prstGeom>
          <a:solidFill>
            <a:srgbClr val="FFFFFF"/>
          </a:solidFill>
          <a:ln w="6350">
            <a:solidFill>
              <a:srgbClr val="334155"/>
            </a:solidFill>
            <a:prstDash val="solid"/>
          </a:ln>
          <a:effectLst>
            <a:outerShdw blurRad="101600" dist="38100" dir="8100000" algn="bl" rotWithShape="0">
              <a:srgbClr val="000000">
                <a:alpha val="20000"/>
              </a:srgbClr>
            </a:outerShdw>
          </a:effectLst>
        </p:spPr>
        <p:txBody>
          <a:bodyPr/>
          <a:lstStyle/>
          <a:p>
            <a:endParaRPr lang="en-US"/>
          </a:p>
        </p:txBody>
      </p:sp>
      <p:sp>
        <p:nvSpPr>
          <p:cNvPr id="21" name="Shape 19"/>
          <p:cNvSpPr/>
          <p:nvPr/>
        </p:nvSpPr>
        <p:spPr>
          <a:xfrm>
            <a:off x="4754880" y="1005840"/>
            <a:ext cx="64008" cy="1097280"/>
          </a:xfrm>
          <a:prstGeom prst="rect">
            <a:avLst/>
          </a:prstGeom>
          <a:solidFill>
            <a:srgbClr val="3B82F6"/>
          </a:solidFill>
          <a:ln/>
        </p:spPr>
        <p:txBody>
          <a:bodyPr/>
          <a:lstStyle/>
          <a:p>
            <a:endParaRPr lang="en-US"/>
          </a:p>
        </p:txBody>
      </p:sp>
      <p:sp>
        <p:nvSpPr>
          <p:cNvPr id="22" name="Text 20"/>
          <p:cNvSpPr/>
          <p:nvPr/>
        </p:nvSpPr>
        <p:spPr>
          <a:xfrm>
            <a:off x="4892040" y="1097280"/>
            <a:ext cx="548640" cy="365760"/>
          </a:xfrm>
          <a:prstGeom prst="rect">
            <a:avLst/>
          </a:prstGeom>
          <a:noFill/>
          <a:ln/>
        </p:spPr>
        <p:txBody>
          <a:bodyPr wrap="square" lIns="0" tIns="0" rIns="0" bIns="0" rtlCol="0" anchor="ctr"/>
          <a:lstStyle/>
          <a:p>
            <a:pPr marL="0" indent="0">
              <a:buNone/>
            </a:pPr>
            <a:r>
              <a:rPr lang="en-US" sz="2000" b="1" dirty="0">
                <a:solidFill>
                  <a:srgbClr val="3B82F6"/>
                </a:solidFill>
                <a:latin typeface="Calibri" pitchFamily="34" charset="0"/>
                <a:ea typeface="Calibri" pitchFamily="34" charset="-122"/>
                <a:cs typeface="Calibri" pitchFamily="34" charset="-120"/>
              </a:rPr>
              <a:t>04</a:t>
            </a:r>
            <a:endParaRPr lang="en-US" sz="2000" dirty="0"/>
          </a:p>
        </p:txBody>
      </p:sp>
      <p:sp>
        <p:nvSpPr>
          <p:cNvPr id="23" name="Text 21"/>
          <p:cNvSpPr/>
          <p:nvPr/>
        </p:nvSpPr>
        <p:spPr>
          <a:xfrm>
            <a:off x="4892040" y="1417320"/>
            <a:ext cx="384048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Semi-Supervised Learning</a:t>
            </a:r>
            <a:endParaRPr lang="en-US" sz="1300" dirty="0"/>
          </a:p>
        </p:txBody>
      </p:sp>
      <p:sp>
        <p:nvSpPr>
          <p:cNvPr id="24" name="Text 22"/>
          <p:cNvSpPr/>
          <p:nvPr/>
        </p:nvSpPr>
        <p:spPr>
          <a:xfrm>
            <a:off x="4892040" y="1719072"/>
            <a:ext cx="384048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Combining labeled and unlabeled data</a:t>
            </a:r>
            <a:endParaRPr lang="en-US" sz="900" dirty="0"/>
          </a:p>
        </p:txBody>
      </p:sp>
      <p:sp>
        <p:nvSpPr>
          <p:cNvPr id="25" name="Shape 23"/>
          <p:cNvSpPr/>
          <p:nvPr/>
        </p:nvSpPr>
        <p:spPr>
          <a:xfrm>
            <a:off x="4754880" y="2286000"/>
            <a:ext cx="4206240" cy="1097280"/>
          </a:xfrm>
          <a:prstGeom prst="rect">
            <a:avLst/>
          </a:prstGeom>
          <a:solidFill>
            <a:srgbClr val="FFFFFF"/>
          </a:solidFill>
          <a:ln w="6350">
            <a:solidFill>
              <a:srgbClr val="334155"/>
            </a:solidFill>
            <a:prstDash val="solid"/>
          </a:ln>
          <a:effectLst>
            <a:outerShdw blurRad="101600" dist="38100" dir="8100000" algn="bl" rotWithShape="0">
              <a:srgbClr val="000000">
                <a:alpha val="20000"/>
              </a:srgbClr>
            </a:outerShdw>
          </a:effectLst>
        </p:spPr>
        <p:txBody>
          <a:bodyPr/>
          <a:lstStyle/>
          <a:p>
            <a:endParaRPr lang="en-US"/>
          </a:p>
        </p:txBody>
      </p:sp>
      <p:sp>
        <p:nvSpPr>
          <p:cNvPr id="26" name="Shape 24"/>
          <p:cNvSpPr/>
          <p:nvPr/>
        </p:nvSpPr>
        <p:spPr>
          <a:xfrm>
            <a:off x="4754880" y="2286000"/>
            <a:ext cx="64008" cy="1097280"/>
          </a:xfrm>
          <a:prstGeom prst="rect">
            <a:avLst/>
          </a:prstGeom>
          <a:solidFill>
            <a:srgbClr val="3B82F6"/>
          </a:solidFill>
          <a:ln/>
        </p:spPr>
        <p:txBody>
          <a:bodyPr/>
          <a:lstStyle/>
          <a:p>
            <a:endParaRPr lang="en-US"/>
          </a:p>
        </p:txBody>
      </p:sp>
      <p:sp>
        <p:nvSpPr>
          <p:cNvPr id="27" name="Text 25"/>
          <p:cNvSpPr/>
          <p:nvPr/>
        </p:nvSpPr>
        <p:spPr>
          <a:xfrm>
            <a:off x="4892040" y="2377440"/>
            <a:ext cx="548640" cy="365760"/>
          </a:xfrm>
          <a:prstGeom prst="rect">
            <a:avLst/>
          </a:prstGeom>
          <a:noFill/>
          <a:ln/>
        </p:spPr>
        <p:txBody>
          <a:bodyPr wrap="square" lIns="0" tIns="0" rIns="0" bIns="0" rtlCol="0" anchor="ctr"/>
          <a:lstStyle/>
          <a:p>
            <a:pPr marL="0" indent="0">
              <a:buNone/>
            </a:pPr>
            <a:r>
              <a:rPr lang="en-US" sz="2000" b="1" dirty="0">
                <a:solidFill>
                  <a:srgbClr val="3B82F6"/>
                </a:solidFill>
                <a:latin typeface="Calibri" pitchFamily="34" charset="0"/>
                <a:ea typeface="Calibri" pitchFamily="34" charset="-122"/>
                <a:cs typeface="Calibri" pitchFamily="34" charset="-120"/>
              </a:rPr>
              <a:t>05</a:t>
            </a:r>
            <a:endParaRPr lang="en-US" sz="2000" dirty="0"/>
          </a:p>
        </p:txBody>
      </p:sp>
      <p:sp>
        <p:nvSpPr>
          <p:cNvPr id="28" name="Text 26"/>
          <p:cNvSpPr/>
          <p:nvPr/>
        </p:nvSpPr>
        <p:spPr>
          <a:xfrm>
            <a:off x="4892040" y="2697480"/>
            <a:ext cx="384048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Reinforcement Learning</a:t>
            </a:r>
            <a:endParaRPr lang="en-US" sz="1300" dirty="0"/>
          </a:p>
        </p:txBody>
      </p:sp>
      <p:sp>
        <p:nvSpPr>
          <p:cNvPr id="29" name="Text 27"/>
          <p:cNvSpPr/>
          <p:nvPr/>
        </p:nvSpPr>
        <p:spPr>
          <a:xfrm>
            <a:off x="4892040" y="2999232"/>
            <a:ext cx="384048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Agent-based learning through rewards</a:t>
            </a:r>
            <a:endParaRPr lang="en-US" sz="900" dirty="0"/>
          </a:p>
        </p:txBody>
      </p:sp>
      <p:sp>
        <p:nvSpPr>
          <p:cNvPr id="30" name="Shape 28"/>
          <p:cNvSpPr/>
          <p:nvPr/>
        </p:nvSpPr>
        <p:spPr>
          <a:xfrm>
            <a:off x="4754880" y="3566160"/>
            <a:ext cx="4206240" cy="1097280"/>
          </a:xfrm>
          <a:prstGeom prst="rect">
            <a:avLst/>
          </a:prstGeom>
          <a:solidFill>
            <a:srgbClr val="FFFFFF"/>
          </a:solidFill>
          <a:ln w="6350">
            <a:solidFill>
              <a:srgbClr val="334155"/>
            </a:solidFill>
            <a:prstDash val="solid"/>
          </a:ln>
          <a:effectLst>
            <a:outerShdw blurRad="101600" dist="38100" dir="8100000" algn="bl" rotWithShape="0">
              <a:srgbClr val="000000">
                <a:alpha val="20000"/>
              </a:srgbClr>
            </a:outerShdw>
          </a:effectLst>
        </p:spPr>
        <p:txBody>
          <a:bodyPr/>
          <a:lstStyle/>
          <a:p>
            <a:endParaRPr lang="en-US"/>
          </a:p>
        </p:txBody>
      </p:sp>
      <p:sp>
        <p:nvSpPr>
          <p:cNvPr id="31" name="Shape 29"/>
          <p:cNvSpPr/>
          <p:nvPr/>
        </p:nvSpPr>
        <p:spPr>
          <a:xfrm>
            <a:off x="4754880" y="3566160"/>
            <a:ext cx="64008" cy="1097280"/>
          </a:xfrm>
          <a:prstGeom prst="rect">
            <a:avLst/>
          </a:prstGeom>
          <a:solidFill>
            <a:srgbClr val="3B82F6"/>
          </a:solidFill>
          <a:ln/>
        </p:spPr>
        <p:txBody>
          <a:bodyPr/>
          <a:lstStyle/>
          <a:p>
            <a:endParaRPr lang="en-US"/>
          </a:p>
        </p:txBody>
      </p:sp>
      <p:sp>
        <p:nvSpPr>
          <p:cNvPr id="32" name="Text 30"/>
          <p:cNvSpPr/>
          <p:nvPr/>
        </p:nvSpPr>
        <p:spPr>
          <a:xfrm>
            <a:off x="4892040" y="3657600"/>
            <a:ext cx="548640" cy="365760"/>
          </a:xfrm>
          <a:prstGeom prst="rect">
            <a:avLst/>
          </a:prstGeom>
          <a:noFill/>
          <a:ln/>
        </p:spPr>
        <p:txBody>
          <a:bodyPr wrap="square" lIns="0" tIns="0" rIns="0" bIns="0" rtlCol="0" anchor="ctr"/>
          <a:lstStyle/>
          <a:p>
            <a:pPr marL="0" indent="0">
              <a:buNone/>
            </a:pPr>
            <a:r>
              <a:rPr lang="en-US" sz="2000" b="1" dirty="0">
                <a:solidFill>
                  <a:srgbClr val="3B82F6"/>
                </a:solidFill>
                <a:latin typeface="Calibri" pitchFamily="34" charset="0"/>
                <a:ea typeface="Calibri" pitchFamily="34" charset="-122"/>
                <a:cs typeface="Calibri" pitchFamily="34" charset="-120"/>
              </a:rPr>
              <a:t>06</a:t>
            </a:r>
            <a:endParaRPr lang="en-US" sz="2000" dirty="0"/>
          </a:p>
        </p:txBody>
      </p:sp>
      <p:sp>
        <p:nvSpPr>
          <p:cNvPr id="33" name="Text 31"/>
          <p:cNvSpPr/>
          <p:nvPr/>
        </p:nvSpPr>
        <p:spPr>
          <a:xfrm>
            <a:off x="4892040" y="3977640"/>
            <a:ext cx="384048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Statistical-Based Learning</a:t>
            </a:r>
            <a:endParaRPr lang="en-US" sz="1300" dirty="0"/>
          </a:p>
        </p:txBody>
      </p:sp>
      <p:sp>
        <p:nvSpPr>
          <p:cNvPr id="34" name="Text 32"/>
          <p:cNvSpPr/>
          <p:nvPr/>
        </p:nvSpPr>
        <p:spPr>
          <a:xfrm>
            <a:off x="4892040" y="4279392"/>
            <a:ext cx="384048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Naive Bayes model with example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a:p>
        </p:txBody>
      </p:sp>
      <p:sp>
        <p:nvSpPr>
          <p:cNvPr id="3" name="Text 1"/>
          <p:cNvSpPr/>
          <p:nvPr/>
        </p:nvSpPr>
        <p:spPr>
          <a:xfrm>
            <a:off x="365760" y="0"/>
            <a:ext cx="8229600" cy="8229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is Machine Learning?</a:t>
            </a:r>
            <a:endParaRPr lang="en-US" sz="2200" dirty="0"/>
          </a:p>
        </p:txBody>
      </p:sp>
      <p:sp>
        <p:nvSpPr>
          <p:cNvPr id="4" name="Shape 2"/>
          <p:cNvSpPr/>
          <p:nvPr/>
        </p:nvSpPr>
        <p:spPr>
          <a:xfrm>
            <a:off x="274320" y="960120"/>
            <a:ext cx="5029200" cy="3840480"/>
          </a:xfrm>
          <a:prstGeom prst="rect">
            <a:avLst/>
          </a:prstGeom>
          <a:solidFill>
            <a:srgbClr val="FFFFFF"/>
          </a:solidFill>
          <a:ln/>
          <a:effectLst>
            <a:outerShdw blurRad="101600" dist="38100" dir="8100000" algn="bl" rotWithShape="0">
              <a:srgbClr val="000000">
                <a:alpha val="20000"/>
              </a:srgbClr>
            </a:outerShdw>
          </a:effectLst>
        </p:spPr>
        <p:txBody>
          <a:bodyPr/>
          <a:lstStyle/>
          <a:p>
            <a:endParaRPr lang="en-US" dirty="0"/>
          </a:p>
        </p:txBody>
      </p:sp>
      <p:sp>
        <p:nvSpPr>
          <p:cNvPr id="5" name="Text 3"/>
          <p:cNvSpPr/>
          <p:nvPr/>
        </p:nvSpPr>
        <p:spPr>
          <a:xfrm>
            <a:off x="457200" y="1097280"/>
            <a:ext cx="4572000" cy="320040"/>
          </a:xfrm>
          <a:prstGeom prst="rect">
            <a:avLst/>
          </a:prstGeom>
          <a:noFill/>
          <a:ln/>
        </p:spPr>
        <p:txBody>
          <a:bodyPr wrap="square" lIns="0" tIns="0" rIns="0" bIns="0" rtlCol="0" anchor="ctr"/>
          <a:lstStyle/>
          <a:p>
            <a:pPr marL="0" indent="0">
              <a:buNone/>
            </a:pPr>
            <a:r>
              <a:rPr lang="en-US" sz="1600" b="1" dirty="0">
                <a:solidFill>
                  <a:srgbClr val="1E40AF"/>
                </a:solidFill>
                <a:latin typeface="Calibri" pitchFamily="34" charset="0"/>
                <a:ea typeface="Calibri" pitchFamily="34" charset="-122"/>
                <a:cs typeface="Calibri" pitchFamily="34" charset="-120"/>
              </a:rPr>
              <a:t>Definition</a:t>
            </a:r>
            <a:endParaRPr lang="en-US" sz="1600" dirty="0"/>
          </a:p>
        </p:txBody>
      </p:sp>
      <p:sp>
        <p:nvSpPr>
          <p:cNvPr id="6" name="Text 4"/>
          <p:cNvSpPr/>
          <p:nvPr/>
        </p:nvSpPr>
        <p:spPr>
          <a:xfrm>
            <a:off x="457200" y="1463040"/>
            <a:ext cx="4846320" cy="82296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Machine Learning (ML) is a subset of Artificial Intelligence that enables systems to learn and improve from experience automatically — without being explicitly programmed.</a:t>
            </a:r>
            <a:endParaRPr lang="en-US" sz="1400" dirty="0"/>
          </a:p>
        </p:txBody>
      </p:sp>
      <p:sp>
        <p:nvSpPr>
          <p:cNvPr id="7" name="Text 5"/>
          <p:cNvSpPr/>
          <p:nvPr/>
        </p:nvSpPr>
        <p:spPr>
          <a:xfrm>
            <a:off x="457200" y="2331720"/>
            <a:ext cx="4572000" cy="274320"/>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Arthur Samuel (1959):</a:t>
            </a:r>
            <a:endParaRPr lang="en-US" sz="1100" dirty="0"/>
          </a:p>
        </p:txBody>
      </p:sp>
      <p:sp>
        <p:nvSpPr>
          <p:cNvPr id="8" name="Shape 6"/>
          <p:cNvSpPr/>
          <p:nvPr/>
        </p:nvSpPr>
        <p:spPr>
          <a:xfrm>
            <a:off x="457200" y="2633472"/>
            <a:ext cx="4572000" cy="685800"/>
          </a:xfrm>
          <a:prstGeom prst="rect">
            <a:avLst/>
          </a:prstGeom>
          <a:solidFill>
            <a:srgbClr val="EFF6FF"/>
          </a:solidFill>
          <a:ln w="12700">
            <a:solidFill>
              <a:srgbClr val="3B82F6"/>
            </a:solidFill>
            <a:prstDash val="solid"/>
          </a:ln>
        </p:spPr>
        <p:txBody>
          <a:bodyPr/>
          <a:lstStyle/>
          <a:p>
            <a:endParaRPr lang="en-US"/>
          </a:p>
        </p:txBody>
      </p:sp>
      <p:sp>
        <p:nvSpPr>
          <p:cNvPr id="9" name="Text 7"/>
          <p:cNvSpPr/>
          <p:nvPr/>
        </p:nvSpPr>
        <p:spPr>
          <a:xfrm>
            <a:off x="548640" y="2670048"/>
            <a:ext cx="4389120" cy="594360"/>
          </a:xfrm>
          <a:prstGeom prst="rect">
            <a:avLst/>
          </a:prstGeom>
          <a:noFill/>
          <a:ln/>
        </p:spPr>
        <p:txBody>
          <a:bodyPr wrap="square" lIns="0" tIns="0" rIns="0" bIns="0" rtlCol="0" anchor="ctr"/>
          <a:lstStyle/>
          <a:p>
            <a:pPr marL="0" indent="0">
              <a:buNone/>
            </a:pPr>
            <a:r>
              <a:rPr lang="en-US" sz="1100" i="1" dirty="0">
                <a:solidFill>
                  <a:srgbClr val="1E40AF"/>
                </a:solidFill>
                <a:latin typeface="Calibri" pitchFamily="34" charset="0"/>
                <a:ea typeface="Calibri" pitchFamily="34" charset="-122"/>
                <a:cs typeface="Calibri" pitchFamily="34" charset="-120"/>
              </a:rPr>
              <a:t>"The field of study that gives computers the ability to learn without being explicitly programmed."</a:t>
            </a:r>
            <a:endParaRPr lang="en-US" sz="1100" dirty="0"/>
          </a:p>
        </p:txBody>
      </p:sp>
      <p:sp>
        <p:nvSpPr>
          <p:cNvPr id="10" name="Text 8"/>
          <p:cNvSpPr/>
          <p:nvPr/>
        </p:nvSpPr>
        <p:spPr>
          <a:xfrm>
            <a:off x="457200" y="3429000"/>
            <a:ext cx="4572000" cy="274320"/>
          </a:xfrm>
          <a:prstGeom prst="rect">
            <a:avLst/>
          </a:prstGeom>
          <a:noFill/>
          <a:ln/>
        </p:spPr>
        <p:txBody>
          <a:bodyPr wrap="square" lIns="0" tIns="0" rIns="0" bIns="0" rtlCol="0" anchor="ctr"/>
          <a:lstStyle/>
          <a:p>
            <a:pPr marL="0" indent="0">
              <a:buNone/>
            </a:pPr>
            <a:r>
              <a:rPr lang="en-US" sz="1400" b="1" dirty="0">
                <a:solidFill>
                  <a:srgbClr val="1E40AF"/>
                </a:solidFill>
                <a:latin typeface="Calibri" pitchFamily="34" charset="0"/>
                <a:ea typeface="Calibri" pitchFamily="34" charset="-122"/>
                <a:cs typeface="Calibri" pitchFamily="34" charset="-120"/>
              </a:rPr>
              <a:t>Key Characteristics</a:t>
            </a:r>
            <a:endParaRPr lang="en-US" sz="1400" dirty="0"/>
          </a:p>
        </p:txBody>
      </p:sp>
      <p:sp>
        <p:nvSpPr>
          <p:cNvPr id="11" name="Shape 9"/>
          <p:cNvSpPr/>
          <p:nvPr/>
        </p:nvSpPr>
        <p:spPr>
          <a:xfrm>
            <a:off x="457200" y="3749040"/>
            <a:ext cx="109728" cy="109728"/>
          </a:xfrm>
          <a:prstGeom prst="ellipse">
            <a:avLst/>
          </a:prstGeom>
          <a:solidFill>
            <a:srgbClr val="3B82F6"/>
          </a:solidFill>
          <a:ln/>
        </p:spPr>
        <p:txBody>
          <a:bodyPr/>
          <a:lstStyle/>
          <a:p>
            <a:endParaRPr lang="en-US"/>
          </a:p>
        </p:txBody>
      </p:sp>
      <p:sp>
        <p:nvSpPr>
          <p:cNvPr id="12" name="Text 10"/>
          <p:cNvSpPr/>
          <p:nvPr/>
        </p:nvSpPr>
        <p:spPr>
          <a:xfrm>
            <a:off x="640080" y="3721608"/>
            <a:ext cx="4389120" cy="201168"/>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Learns from data patterns</a:t>
            </a:r>
            <a:endParaRPr lang="en-US" sz="1200" dirty="0"/>
          </a:p>
        </p:txBody>
      </p:sp>
      <p:sp>
        <p:nvSpPr>
          <p:cNvPr id="13" name="Shape 11"/>
          <p:cNvSpPr/>
          <p:nvPr/>
        </p:nvSpPr>
        <p:spPr>
          <a:xfrm>
            <a:off x="457200" y="3968496"/>
            <a:ext cx="109728" cy="109728"/>
          </a:xfrm>
          <a:prstGeom prst="ellipse">
            <a:avLst/>
          </a:prstGeom>
          <a:solidFill>
            <a:srgbClr val="3B82F6"/>
          </a:solidFill>
          <a:ln/>
        </p:spPr>
        <p:txBody>
          <a:bodyPr/>
          <a:lstStyle/>
          <a:p>
            <a:endParaRPr lang="en-US"/>
          </a:p>
        </p:txBody>
      </p:sp>
      <p:sp>
        <p:nvSpPr>
          <p:cNvPr id="14" name="Text 12"/>
          <p:cNvSpPr/>
          <p:nvPr/>
        </p:nvSpPr>
        <p:spPr>
          <a:xfrm>
            <a:off x="640080" y="3941064"/>
            <a:ext cx="4389120" cy="201168"/>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Improves with experience</a:t>
            </a:r>
            <a:endParaRPr lang="en-US" sz="1200" dirty="0"/>
          </a:p>
        </p:txBody>
      </p:sp>
      <p:sp>
        <p:nvSpPr>
          <p:cNvPr id="15" name="Shape 13"/>
          <p:cNvSpPr/>
          <p:nvPr/>
        </p:nvSpPr>
        <p:spPr>
          <a:xfrm>
            <a:off x="457200" y="4187952"/>
            <a:ext cx="109728" cy="109728"/>
          </a:xfrm>
          <a:prstGeom prst="ellipse">
            <a:avLst/>
          </a:prstGeom>
          <a:solidFill>
            <a:srgbClr val="3B82F6"/>
          </a:solidFill>
          <a:ln/>
        </p:spPr>
        <p:txBody>
          <a:bodyPr/>
          <a:lstStyle/>
          <a:p>
            <a:endParaRPr lang="en-US"/>
          </a:p>
        </p:txBody>
      </p:sp>
      <p:sp>
        <p:nvSpPr>
          <p:cNvPr id="16" name="Text 14"/>
          <p:cNvSpPr/>
          <p:nvPr/>
        </p:nvSpPr>
        <p:spPr>
          <a:xfrm>
            <a:off x="640080" y="4160520"/>
            <a:ext cx="4389120" cy="201168"/>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Makes predictions or decisions</a:t>
            </a:r>
            <a:endParaRPr lang="en-US" sz="1200" dirty="0"/>
          </a:p>
        </p:txBody>
      </p:sp>
      <p:sp>
        <p:nvSpPr>
          <p:cNvPr id="17" name="Shape 15"/>
          <p:cNvSpPr/>
          <p:nvPr/>
        </p:nvSpPr>
        <p:spPr>
          <a:xfrm>
            <a:off x="457200" y="4407408"/>
            <a:ext cx="109728" cy="109728"/>
          </a:xfrm>
          <a:prstGeom prst="ellipse">
            <a:avLst/>
          </a:prstGeom>
          <a:solidFill>
            <a:srgbClr val="3B82F6"/>
          </a:solidFill>
          <a:ln/>
        </p:spPr>
        <p:txBody>
          <a:bodyPr/>
          <a:lstStyle/>
          <a:p>
            <a:endParaRPr lang="en-US"/>
          </a:p>
        </p:txBody>
      </p:sp>
      <p:sp>
        <p:nvSpPr>
          <p:cNvPr id="18" name="Text 16"/>
          <p:cNvSpPr/>
          <p:nvPr/>
        </p:nvSpPr>
        <p:spPr>
          <a:xfrm>
            <a:off x="640080" y="4379976"/>
            <a:ext cx="4389120" cy="201168"/>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Adapts without explicit rules</a:t>
            </a:r>
            <a:endParaRPr lang="en-US" sz="1200" dirty="0"/>
          </a:p>
        </p:txBody>
      </p:sp>
      <p:sp>
        <p:nvSpPr>
          <p:cNvPr id="19" name="Shape 17"/>
          <p:cNvSpPr/>
          <p:nvPr/>
        </p:nvSpPr>
        <p:spPr>
          <a:xfrm>
            <a:off x="5486400" y="960120"/>
            <a:ext cx="3383280" cy="3840480"/>
          </a:xfrm>
          <a:prstGeom prst="rect">
            <a:avLst/>
          </a:prstGeom>
          <a:solidFill>
            <a:srgbClr val="FFFFFF"/>
          </a:solidFill>
          <a:ln/>
          <a:effectLst>
            <a:outerShdw blurRad="101600" dist="38100" dir="8100000" algn="bl" rotWithShape="0">
              <a:srgbClr val="000000">
                <a:alpha val="20000"/>
              </a:srgbClr>
            </a:outerShdw>
          </a:effectLst>
        </p:spPr>
        <p:txBody>
          <a:bodyPr/>
          <a:lstStyle/>
          <a:p>
            <a:endParaRPr lang="en-US"/>
          </a:p>
        </p:txBody>
      </p:sp>
      <p:sp>
        <p:nvSpPr>
          <p:cNvPr id="20" name="Text 18"/>
          <p:cNvSpPr/>
          <p:nvPr/>
        </p:nvSpPr>
        <p:spPr>
          <a:xfrm>
            <a:off x="5577840" y="1051560"/>
            <a:ext cx="3200400" cy="274320"/>
          </a:xfrm>
          <a:prstGeom prst="rect">
            <a:avLst/>
          </a:prstGeom>
          <a:noFill/>
          <a:ln/>
        </p:spPr>
        <p:txBody>
          <a:bodyPr wrap="square" lIns="0" tIns="0" rIns="0" bIns="0" rtlCol="0" anchor="ctr"/>
          <a:lstStyle/>
          <a:p>
            <a:pPr marL="0" indent="0" algn="ctr">
              <a:buNone/>
            </a:pPr>
            <a:r>
              <a:rPr lang="en-US" sz="1100" b="1" dirty="0">
                <a:solidFill>
                  <a:srgbClr val="1E40AF"/>
                </a:solidFill>
                <a:latin typeface="Calibri" pitchFamily="34" charset="0"/>
                <a:ea typeface="Calibri" pitchFamily="34" charset="-122"/>
                <a:cs typeface="Calibri" pitchFamily="34" charset="-120"/>
              </a:rPr>
              <a:t>ML in the AI Ecosystem</a:t>
            </a:r>
            <a:endParaRPr lang="en-US" sz="1100" dirty="0"/>
          </a:p>
        </p:txBody>
      </p:sp>
      <p:sp>
        <p:nvSpPr>
          <p:cNvPr id="21" name="Shape 19"/>
          <p:cNvSpPr/>
          <p:nvPr/>
        </p:nvSpPr>
        <p:spPr>
          <a:xfrm>
            <a:off x="5715000" y="1463040"/>
            <a:ext cx="3017520" cy="3017520"/>
          </a:xfrm>
          <a:prstGeom prst="ellipse">
            <a:avLst/>
          </a:prstGeom>
          <a:solidFill>
            <a:srgbClr val="DBEAFE"/>
          </a:solidFill>
          <a:ln w="19050">
            <a:solidFill>
              <a:srgbClr val="3B82F6"/>
            </a:solidFill>
            <a:prstDash val="solid"/>
          </a:ln>
        </p:spPr>
        <p:txBody>
          <a:bodyPr/>
          <a:lstStyle/>
          <a:p>
            <a:endParaRPr lang="en-US"/>
          </a:p>
        </p:txBody>
      </p:sp>
      <p:sp>
        <p:nvSpPr>
          <p:cNvPr id="22" name="Shape 20"/>
          <p:cNvSpPr/>
          <p:nvPr/>
        </p:nvSpPr>
        <p:spPr>
          <a:xfrm>
            <a:off x="6080760" y="1828800"/>
            <a:ext cx="2286000" cy="2286000"/>
          </a:xfrm>
          <a:prstGeom prst="ellipse">
            <a:avLst/>
          </a:prstGeom>
          <a:solidFill>
            <a:srgbClr val="BFDBFE"/>
          </a:solidFill>
          <a:ln w="19050">
            <a:solidFill>
              <a:srgbClr val="1E40AF"/>
            </a:solidFill>
            <a:prstDash val="solid"/>
          </a:ln>
        </p:spPr>
        <p:txBody>
          <a:bodyPr/>
          <a:lstStyle/>
          <a:p>
            <a:endParaRPr lang="en-US"/>
          </a:p>
        </p:txBody>
      </p:sp>
      <p:sp>
        <p:nvSpPr>
          <p:cNvPr id="23" name="Shape 21"/>
          <p:cNvSpPr/>
          <p:nvPr/>
        </p:nvSpPr>
        <p:spPr>
          <a:xfrm>
            <a:off x="6446520" y="2194560"/>
            <a:ext cx="1554480" cy="1554480"/>
          </a:xfrm>
          <a:prstGeom prst="ellipse">
            <a:avLst/>
          </a:prstGeom>
          <a:solidFill>
            <a:srgbClr val="3B82F6"/>
          </a:solidFill>
          <a:ln w="19050">
            <a:solidFill>
              <a:srgbClr val="0F172A"/>
            </a:solidFill>
            <a:prstDash val="solid"/>
          </a:ln>
        </p:spPr>
        <p:txBody>
          <a:bodyPr/>
          <a:lstStyle/>
          <a:p>
            <a:endParaRPr lang="en-US"/>
          </a:p>
        </p:txBody>
      </p:sp>
      <p:sp>
        <p:nvSpPr>
          <p:cNvPr id="24" name="Text 22"/>
          <p:cNvSpPr/>
          <p:nvPr/>
        </p:nvSpPr>
        <p:spPr>
          <a:xfrm>
            <a:off x="5715000" y="1508760"/>
            <a:ext cx="3017520" cy="274320"/>
          </a:xfrm>
          <a:prstGeom prst="rect">
            <a:avLst/>
          </a:prstGeom>
          <a:noFill/>
          <a:ln/>
        </p:spPr>
        <p:txBody>
          <a:bodyPr wrap="square" lIns="0" tIns="0" rIns="0" bIns="0" rtlCol="0" anchor="ctr"/>
          <a:lstStyle/>
          <a:p>
            <a:pPr marL="0" indent="0" algn="ctr">
              <a:buNone/>
            </a:pPr>
            <a:r>
              <a:rPr lang="en-US" sz="800" b="1" dirty="0">
                <a:solidFill>
                  <a:srgbClr val="1E40AF"/>
                </a:solidFill>
                <a:latin typeface="Calibri" pitchFamily="34" charset="0"/>
                <a:ea typeface="Calibri" pitchFamily="34" charset="-122"/>
                <a:cs typeface="Calibri" pitchFamily="34" charset="-120"/>
              </a:rPr>
              <a:t>Artificial Intelligence</a:t>
            </a:r>
            <a:endParaRPr lang="en-US" sz="800" dirty="0"/>
          </a:p>
        </p:txBody>
      </p:sp>
      <p:sp>
        <p:nvSpPr>
          <p:cNvPr id="25" name="Text 23"/>
          <p:cNvSpPr/>
          <p:nvPr/>
        </p:nvSpPr>
        <p:spPr>
          <a:xfrm>
            <a:off x="6080760" y="1901952"/>
            <a:ext cx="2286000" cy="256032"/>
          </a:xfrm>
          <a:prstGeom prst="rect">
            <a:avLst/>
          </a:prstGeom>
          <a:noFill/>
          <a:ln/>
        </p:spPr>
        <p:txBody>
          <a:bodyPr wrap="square" lIns="0" tIns="0" rIns="0" bIns="0" rtlCol="0" anchor="ctr"/>
          <a:lstStyle/>
          <a:p>
            <a:pPr marL="0" indent="0" algn="ctr">
              <a:buNone/>
            </a:pPr>
            <a:r>
              <a:rPr lang="en-US" sz="800" b="1" dirty="0">
                <a:solidFill>
                  <a:srgbClr val="0F172A"/>
                </a:solidFill>
                <a:latin typeface="Calibri" pitchFamily="34" charset="0"/>
                <a:ea typeface="Calibri" pitchFamily="34" charset="-122"/>
                <a:cs typeface="Calibri" pitchFamily="34" charset="-120"/>
              </a:rPr>
              <a:t>Machine Learning</a:t>
            </a:r>
            <a:endParaRPr lang="en-US" sz="800" dirty="0"/>
          </a:p>
        </p:txBody>
      </p:sp>
      <p:sp>
        <p:nvSpPr>
          <p:cNvPr id="26" name="Text 24"/>
          <p:cNvSpPr/>
          <p:nvPr/>
        </p:nvSpPr>
        <p:spPr>
          <a:xfrm>
            <a:off x="6446520" y="2542032"/>
            <a:ext cx="1554480" cy="4572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Deep</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Learning</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365760" y="228600"/>
            <a:ext cx="841248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Types of Machine Learning</a:t>
            </a:r>
            <a:endParaRPr lang="en-US" sz="2800" dirty="0"/>
          </a:p>
        </p:txBody>
      </p:sp>
      <p:sp>
        <p:nvSpPr>
          <p:cNvPr id="3" name="Text 1"/>
          <p:cNvSpPr/>
          <p:nvPr/>
        </p:nvSpPr>
        <p:spPr>
          <a:xfrm>
            <a:off x="365760" y="822960"/>
            <a:ext cx="8229600" cy="2743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A high-level overview of the major learning paradigms</a:t>
            </a:r>
            <a:endParaRPr lang="en-US" sz="1200" dirty="0"/>
          </a:p>
        </p:txBody>
      </p:sp>
      <p:sp>
        <p:nvSpPr>
          <p:cNvPr id="4" name="Shape 2"/>
          <p:cNvSpPr/>
          <p:nvPr/>
        </p:nvSpPr>
        <p:spPr>
          <a:xfrm>
            <a:off x="274320" y="1234440"/>
            <a:ext cx="1920240" cy="3566160"/>
          </a:xfrm>
          <a:prstGeom prst="rect">
            <a:avLst/>
          </a:prstGeom>
          <a:solidFill>
            <a:srgbClr val="1E293B"/>
          </a:solidFill>
          <a:ln/>
          <a:effectLst>
            <a:outerShdw blurRad="101600" dist="38100" dir="8100000" algn="bl" rotWithShape="0">
              <a:srgbClr val="000000">
                <a:alpha val="20000"/>
              </a:srgbClr>
            </a:outerShdw>
          </a:effectLst>
        </p:spPr>
        <p:txBody>
          <a:bodyPr/>
          <a:lstStyle/>
          <a:p>
            <a:endParaRPr lang="en-US"/>
          </a:p>
        </p:txBody>
      </p:sp>
      <p:sp>
        <p:nvSpPr>
          <p:cNvPr id="5" name="Shape 3"/>
          <p:cNvSpPr/>
          <p:nvPr/>
        </p:nvSpPr>
        <p:spPr>
          <a:xfrm>
            <a:off x="274320" y="1234440"/>
            <a:ext cx="1920240" cy="73152"/>
          </a:xfrm>
          <a:prstGeom prst="rect">
            <a:avLst/>
          </a:prstGeom>
          <a:solidFill>
            <a:srgbClr val="3B82F6"/>
          </a:solidFill>
          <a:ln/>
        </p:spPr>
        <p:txBody>
          <a:bodyPr/>
          <a:lstStyle/>
          <a:p>
            <a:endParaRPr lang="en-US"/>
          </a:p>
        </p:txBody>
      </p:sp>
      <p:sp>
        <p:nvSpPr>
          <p:cNvPr id="6" name="Text 4"/>
          <p:cNvSpPr/>
          <p:nvPr/>
        </p:nvSpPr>
        <p:spPr>
          <a:xfrm>
            <a:off x="274320" y="1371600"/>
            <a:ext cx="1920240" cy="548640"/>
          </a:xfrm>
          <a:prstGeom prst="rect">
            <a:avLst/>
          </a:prstGeom>
          <a:noFill/>
          <a:ln/>
        </p:spPr>
        <p:txBody>
          <a:bodyPr wrap="square" lIns="0" tIns="0" rIns="0" bIns="0"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7" name="Text 5"/>
          <p:cNvSpPr/>
          <p:nvPr/>
        </p:nvSpPr>
        <p:spPr>
          <a:xfrm>
            <a:off x="274320" y="1965960"/>
            <a:ext cx="1920240" cy="594360"/>
          </a:xfrm>
          <a:prstGeom prst="rect">
            <a:avLst/>
          </a:prstGeom>
          <a:noFill/>
          <a:ln/>
        </p:spPr>
        <p:txBody>
          <a:bodyPr wrap="square" lIns="0" tIns="0" rIns="0" bIns="0" rtlCol="0" anchor="ctr"/>
          <a:lstStyle/>
          <a:p>
            <a:pPr marL="0" indent="0" algn="ctr">
              <a:buNone/>
            </a:pPr>
            <a:r>
              <a:rPr lang="en-US" sz="1300" b="1" dirty="0">
                <a:solidFill>
                  <a:srgbClr val="3B82F6"/>
                </a:solidFill>
                <a:latin typeface="Calibri" pitchFamily="34" charset="0"/>
                <a:ea typeface="Calibri" pitchFamily="34" charset="-122"/>
                <a:cs typeface="Calibri" pitchFamily="34" charset="-120"/>
              </a:rPr>
              <a:t>Supervised</a:t>
            </a:r>
            <a:endParaRPr lang="en-US" sz="1300" dirty="0"/>
          </a:p>
          <a:p>
            <a:pPr marL="0" indent="0" algn="ctr">
              <a:buNone/>
            </a:pPr>
            <a:r>
              <a:rPr lang="en-US" sz="1300" b="1" dirty="0">
                <a:solidFill>
                  <a:srgbClr val="3B82F6"/>
                </a:solidFill>
                <a:latin typeface="Calibri" pitchFamily="34" charset="0"/>
                <a:ea typeface="Calibri" pitchFamily="34" charset="-122"/>
                <a:cs typeface="Calibri" pitchFamily="34" charset="-120"/>
              </a:rPr>
              <a:t>Learning</a:t>
            </a:r>
            <a:endParaRPr lang="en-US" sz="1300" dirty="0"/>
          </a:p>
        </p:txBody>
      </p:sp>
      <p:sp>
        <p:nvSpPr>
          <p:cNvPr id="8" name="Text 6"/>
          <p:cNvSpPr/>
          <p:nvPr/>
        </p:nvSpPr>
        <p:spPr>
          <a:xfrm>
            <a:off x="365760" y="2633472"/>
            <a:ext cx="1737360" cy="914400"/>
          </a:xfrm>
          <a:prstGeom prst="rect">
            <a:avLst/>
          </a:prstGeom>
          <a:noFill/>
          <a:ln/>
        </p:spPr>
        <p:txBody>
          <a:bodyPr wrap="square" lIns="0" tIns="0" rIns="0" bIns="0" rtlCol="0" anchor="ctr"/>
          <a:lstStyle/>
          <a:p>
            <a:pPr marL="0" indent="0">
              <a:buNone/>
            </a:pPr>
            <a:r>
              <a:rPr lang="en-US" sz="950" dirty="0">
                <a:solidFill>
                  <a:srgbClr val="F8FAFC"/>
                </a:solidFill>
                <a:latin typeface="Calibri" pitchFamily="34" charset="0"/>
                <a:ea typeface="Calibri" pitchFamily="34" charset="-122"/>
                <a:cs typeface="Calibri" pitchFamily="34" charset="-120"/>
              </a:rPr>
              <a:t>Trains on labeled data with input-output pairs</a:t>
            </a:r>
            <a:endParaRPr lang="en-US" sz="950" dirty="0"/>
          </a:p>
        </p:txBody>
      </p:sp>
      <p:sp>
        <p:nvSpPr>
          <p:cNvPr id="9" name="Shape 7"/>
          <p:cNvSpPr/>
          <p:nvPr/>
        </p:nvSpPr>
        <p:spPr>
          <a:xfrm>
            <a:off x="365760" y="3657600"/>
            <a:ext cx="1737360" cy="36576"/>
          </a:xfrm>
          <a:prstGeom prst="rect">
            <a:avLst/>
          </a:prstGeom>
          <a:solidFill>
            <a:srgbClr val="3B82F6">
              <a:alpha val="50000"/>
            </a:srgbClr>
          </a:solidFill>
          <a:ln/>
        </p:spPr>
        <p:txBody>
          <a:bodyPr/>
          <a:lstStyle/>
          <a:p>
            <a:endParaRPr lang="en-US"/>
          </a:p>
        </p:txBody>
      </p:sp>
      <p:sp>
        <p:nvSpPr>
          <p:cNvPr id="10" name="Text 8"/>
          <p:cNvSpPr/>
          <p:nvPr/>
        </p:nvSpPr>
        <p:spPr>
          <a:xfrm>
            <a:off x="365760" y="3749040"/>
            <a:ext cx="1737360" cy="868680"/>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e.g. Spam detection, Price prediction</a:t>
            </a:r>
            <a:endParaRPr lang="en-US" sz="850" dirty="0"/>
          </a:p>
        </p:txBody>
      </p:sp>
      <p:sp>
        <p:nvSpPr>
          <p:cNvPr id="11" name="Shape 9"/>
          <p:cNvSpPr/>
          <p:nvPr/>
        </p:nvSpPr>
        <p:spPr>
          <a:xfrm>
            <a:off x="2450592" y="1234440"/>
            <a:ext cx="1920240" cy="3566160"/>
          </a:xfrm>
          <a:prstGeom prst="rect">
            <a:avLst/>
          </a:prstGeom>
          <a:solidFill>
            <a:srgbClr val="1E293B"/>
          </a:solidFill>
          <a:ln/>
          <a:effectLst>
            <a:outerShdw blurRad="101600" dist="38100" dir="8100000" algn="bl" rotWithShape="0">
              <a:srgbClr val="000000">
                <a:alpha val="20000"/>
              </a:srgbClr>
            </a:outerShdw>
          </a:effectLst>
        </p:spPr>
        <p:txBody>
          <a:bodyPr/>
          <a:lstStyle/>
          <a:p>
            <a:endParaRPr lang="en-US"/>
          </a:p>
        </p:txBody>
      </p:sp>
      <p:sp>
        <p:nvSpPr>
          <p:cNvPr id="12" name="Shape 10"/>
          <p:cNvSpPr/>
          <p:nvPr/>
        </p:nvSpPr>
        <p:spPr>
          <a:xfrm>
            <a:off x="2450592" y="1234440"/>
            <a:ext cx="1920240" cy="73152"/>
          </a:xfrm>
          <a:prstGeom prst="rect">
            <a:avLst/>
          </a:prstGeom>
          <a:solidFill>
            <a:srgbClr val="0D9488"/>
          </a:solidFill>
          <a:ln/>
        </p:spPr>
        <p:txBody>
          <a:bodyPr/>
          <a:lstStyle/>
          <a:p>
            <a:endParaRPr lang="en-US"/>
          </a:p>
        </p:txBody>
      </p:sp>
      <p:sp>
        <p:nvSpPr>
          <p:cNvPr id="13" name="Text 11"/>
          <p:cNvSpPr/>
          <p:nvPr/>
        </p:nvSpPr>
        <p:spPr>
          <a:xfrm>
            <a:off x="2450592" y="1371600"/>
            <a:ext cx="1920240" cy="548640"/>
          </a:xfrm>
          <a:prstGeom prst="rect">
            <a:avLst/>
          </a:prstGeom>
          <a:noFill/>
          <a:ln/>
        </p:spPr>
        <p:txBody>
          <a:bodyPr wrap="square" lIns="0" tIns="0" rIns="0" bIns="0"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4" name="Text 12"/>
          <p:cNvSpPr/>
          <p:nvPr/>
        </p:nvSpPr>
        <p:spPr>
          <a:xfrm>
            <a:off x="2450592" y="1965960"/>
            <a:ext cx="1920240" cy="594360"/>
          </a:xfrm>
          <a:prstGeom prst="rect">
            <a:avLst/>
          </a:prstGeom>
          <a:noFill/>
          <a:ln/>
        </p:spPr>
        <p:txBody>
          <a:bodyPr wrap="square" lIns="0" tIns="0" rIns="0" bIns="0" rtlCol="0" anchor="ctr"/>
          <a:lstStyle/>
          <a:p>
            <a:pPr marL="0" indent="0" algn="ctr">
              <a:buNone/>
            </a:pPr>
            <a:r>
              <a:rPr lang="en-US" sz="1300" b="1" dirty="0">
                <a:solidFill>
                  <a:srgbClr val="0D9488"/>
                </a:solidFill>
                <a:latin typeface="Calibri" pitchFamily="34" charset="0"/>
                <a:ea typeface="Calibri" pitchFamily="34" charset="-122"/>
                <a:cs typeface="Calibri" pitchFamily="34" charset="-120"/>
              </a:rPr>
              <a:t>Unsupervised</a:t>
            </a:r>
            <a:endParaRPr lang="en-US" sz="1300" dirty="0"/>
          </a:p>
          <a:p>
            <a:pPr marL="0" indent="0" algn="ctr">
              <a:buNone/>
            </a:pPr>
            <a:r>
              <a:rPr lang="en-US" sz="1300" b="1" dirty="0">
                <a:solidFill>
                  <a:srgbClr val="0D9488"/>
                </a:solidFill>
                <a:latin typeface="Calibri" pitchFamily="34" charset="0"/>
                <a:ea typeface="Calibri" pitchFamily="34" charset="-122"/>
                <a:cs typeface="Calibri" pitchFamily="34" charset="-120"/>
              </a:rPr>
              <a:t>Learning</a:t>
            </a:r>
            <a:endParaRPr lang="en-US" sz="1300" dirty="0"/>
          </a:p>
        </p:txBody>
      </p:sp>
      <p:sp>
        <p:nvSpPr>
          <p:cNvPr id="15" name="Text 13"/>
          <p:cNvSpPr/>
          <p:nvPr/>
        </p:nvSpPr>
        <p:spPr>
          <a:xfrm>
            <a:off x="2542032" y="2633472"/>
            <a:ext cx="1737360" cy="914400"/>
          </a:xfrm>
          <a:prstGeom prst="rect">
            <a:avLst/>
          </a:prstGeom>
          <a:noFill/>
          <a:ln/>
        </p:spPr>
        <p:txBody>
          <a:bodyPr wrap="square" lIns="0" tIns="0" rIns="0" bIns="0" rtlCol="0" anchor="ctr"/>
          <a:lstStyle/>
          <a:p>
            <a:pPr marL="0" indent="0">
              <a:buNone/>
            </a:pPr>
            <a:r>
              <a:rPr lang="en-US" sz="950" dirty="0">
                <a:solidFill>
                  <a:srgbClr val="F8FAFC"/>
                </a:solidFill>
                <a:latin typeface="Calibri" pitchFamily="34" charset="0"/>
                <a:ea typeface="Calibri" pitchFamily="34" charset="-122"/>
                <a:cs typeface="Calibri" pitchFamily="34" charset="-120"/>
              </a:rPr>
              <a:t>Finds hidden patterns in unlabeled data</a:t>
            </a:r>
            <a:endParaRPr lang="en-US" sz="950" dirty="0"/>
          </a:p>
        </p:txBody>
      </p:sp>
      <p:sp>
        <p:nvSpPr>
          <p:cNvPr id="16" name="Shape 14"/>
          <p:cNvSpPr/>
          <p:nvPr/>
        </p:nvSpPr>
        <p:spPr>
          <a:xfrm>
            <a:off x="2542032" y="3657600"/>
            <a:ext cx="1737360" cy="36576"/>
          </a:xfrm>
          <a:prstGeom prst="rect">
            <a:avLst/>
          </a:prstGeom>
          <a:solidFill>
            <a:srgbClr val="0D9488">
              <a:alpha val="50000"/>
            </a:srgbClr>
          </a:solidFill>
          <a:ln/>
        </p:spPr>
        <p:txBody>
          <a:bodyPr/>
          <a:lstStyle/>
          <a:p>
            <a:endParaRPr lang="en-US"/>
          </a:p>
        </p:txBody>
      </p:sp>
      <p:sp>
        <p:nvSpPr>
          <p:cNvPr id="17" name="Text 15"/>
          <p:cNvSpPr/>
          <p:nvPr/>
        </p:nvSpPr>
        <p:spPr>
          <a:xfrm>
            <a:off x="2542032" y="3749040"/>
            <a:ext cx="1737360" cy="868680"/>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e.g. Customer segmentation, Anomaly detection</a:t>
            </a:r>
            <a:endParaRPr lang="en-US" sz="850" dirty="0"/>
          </a:p>
        </p:txBody>
      </p:sp>
      <p:sp>
        <p:nvSpPr>
          <p:cNvPr id="18" name="Shape 16"/>
          <p:cNvSpPr/>
          <p:nvPr/>
        </p:nvSpPr>
        <p:spPr>
          <a:xfrm>
            <a:off x="4626864" y="1234440"/>
            <a:ext cx="1920240" cy="3566160"/>
          </a:xfrm>
          <a:prstGeom prst="rect">
            <a:avLst/>
          </a:prstGeom>
          <a:solidFill>
            <a:srgbClr val="1E293B"/>
          </a:solidFill>
          <a:ln/>
          <a:effectLst>
            <a:outerShdw blurRad="101600" dist="38100" dir="8100000" algn="bl" rotWithShape="0">
              <a:srgbClr val="000000">
                <a:alpha val="20000"/>
              </a:srgbClr>
            </a:outerShdw>
          </a:effectLst>
        </p:spPr>
        <p:txBody>
          <a:bodyPr/>
          <a:lstStyle/>
          <a:p>
            <a:endParaRPr lang="en-US"/>
          </a:p>
        </p:txBody>
      </p:sp>
      <p:sp>
        <p:nvSpPr>
          <p:cNvPr id="19" name="Shape 17"/>
          <p:cNvSpPr/>
          <p:nvPr/>
        </p:nvSpPr>
        <p:spPr>
          <a:xfrm>
            <a:off x="4626864" y="1234440"/>
            <a:ext cx="1920240" cy="73152"/>
          </a:xfrm>
          <a:prstGeom prst="rect">
            <a:avLst/>
          </a:prstGeom>
          <a:solidFill>
            <a:srgbClr val="F59E0B"/>
          </a:solidFill>
          <a:ln/>
        </p:spPr>
        <p:txBody>
          <a:bodyPr/>
          <a:lstStyle/>
          <a:p>
            <a:endParaRPr lang="en-US"/>
          </a:p>
        </p:txBody>
      </p:sp>
      <p:sp>
        <p:nvSpPr>
          <p:cNvPr id="20" name="Text 18"/>
          <p:cNvSpPr/>
          <p:nvPr/>
        </p:nvSpPr>
        <p:spPr>
          <a:xfrm>
            <a:off x="4626864" y="1371600"/>
            <a:ext cx="1920240" cy="548640"/>
          </a:xfrm>
          <a:prstGeom prst="rect">
            <a:avLst/>
          </a:prstGeom>
          <a:noFill/>
          <a:ln/>
        </p:spPr>
        <p:txBody>
          <a:bodyPr wrap="square" lIns="0" tIns="0" rIns="0" bIns="0"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21" name="Text 19"/>
          <p:cNvSpPr/>
          <p:nvPr/>
        </p:nvSpPr>
        <p:spPr>
          <a:xfrm>
            <a:off x="4626864" y="1965960"/>
            <a:ext cx="1920240" cy="594360"/>
          </a:xfrm>
          <a:prstGeom prst="rect">
            <a:avLst/>
          </a:prstGeom>
          <a:noFill/>
          <a:ln/>
        </p:spPr>
        <p:txBody>
          <a:bodyPr wrap="square" lIns="0" tIns="0" rIns="0" bIns="0" rtlCol="0" anchor="ctr"/>
          <a:lstStyle/>
          <a:p>
            <a:pPr marL="0" indent="0" algn="ctr">
              <a:buNone/>
            </a:pPr>
            <a:r>
              <a:rPr lang="en-US" sz="1300" b="1" dirty="0">
                <a:solidFill>
                  <a:srgbClr val="F59E0B"/>
                </a:solidFill>
                <a:latin typeface="Calibri" pitchFamily="34" charset="0"/>
                <a:ea typeface="Calibri" pitchFamily="34" charset="-122"/>
                <a:cs typeface="Calibri" pitchFamily="34" charset="-120"/>
              </a:rPr>
              <a:t>Semi-</a:t>
            </a:r>
            <a:endParaRPr lang="en-US" sz="1300" dirty="0"/>
          </a:p>
          <a:p>
            <a:pPr marL="0" indent="0" algn="ctr">
              <a:buNone/>
            </a:pPr>
            <a:r>
              <a:rPr lang="en-US" sz="1300" b="1" dirty="0">
                <a:solidFill>
                  <a:srgbClr val="F59E0B"/>
                </a:solidFill>
                <a:latin typeface="Calibri" pitchFamily="34" charset="0"/>
                <a:ea typeface="Calibri" pitchFamily="34" charset="-122"/>
                <a:cs typeface="Calibri" pitchFamily="34" charset="-120"/>
              </a:rPr>
              <a:t>Supervised</a:t>
            </a:r>
            <a:endParaRPr lang="en-US" sz="1300" dirty="0"/>
          </a:p>
        </p:txBody>
      </p:sp>
      <p:sp>
        <p:nvSpPr>
          <p:cNvPr id="22" name="Text 20"/>
          <p:cNvSpPr/>
          <p:nvPr/>
        </p:nvSpPr>
        <p:spPr>
          <a:xfrm>
            <a:off x="4718304" y="2633472"/>
            <a:ext cx="1737360" cy="914400"/>
          </a:xfrm>
          <a:prstGeom prst="rect">
            <a:avLst/>
          </a:prstGeom>
          <a:noFill/>
          <a:ln/>
        </p:spPr>
        <p:txBody>
          <a:bodyPr wrap="square" lIns="0" tIns="0" rIns="0" bIns="0" rtlCol="0" anchor="ctr"/>
          <a:lstStyle/>
          <a:p>
            <a:pPr marL="0" indent="0">
              <a:buNone/>
            </a:pPr>
            <a:r>
              <a:rPr lang="en-US" sz="950" dirty="0">
                <a:solidFill>
                  <a:srgbClr val="F8FAFC"/>
                </a:solidFill>
                <a:latin typeface="Calibri" pitchFamily="34" charset="0"/>
                <a:ea typeface="Calibri" pitchFamily="34" charset="-122"/>
                <a:cs typeface="Calibri" pitchFamily="34" charset="-120"/>
              </a:rPr>
              <a:t>Combines small labeled data with large unlabeled data</a:t>
            </a:r>
            <a:endParaRPr lang="en-US" sz="950" dirty="0"/>
          </a:p>
        </p:txBody>
      </p:sp>
      <p:sp>
        <p:nvSpPr>
          <p:cNvPr id="23" name="Shape 21"/>
          <p:cNvSpPr/>
          <p:nvPr/>
        </p:nvSpPr>
        <p:spPr>
          <a:xfrm>
            <a:off x="4718304" y="3657600"/>
            <a:ext cx="1737360" cy="36576"/>
          </a:xfrm>
          <a:prstGeom prst="rect">
            <a:avLst/>
          </a:prstGeom>
          <a:solidFill>
            <a:srgbClr val="F59E0B">
              <a:alpha val="50000"/>
            </a:srgbClr>
          </a:solidFill>
          <a:ln/>
        </p:spPr>
        <p:txBody>
          <a:bodyPr/>
          <a:lstStyle/>
          <a:p>
            <a:endParaRPr lang="en-US"/>
          </a:p>
        </p:txBody>
      </p:sp>
      <p:sp>
        <p:nvSpPr>
          <p:cNvPr id="24" name="Text 22"/>
          <p:cNvSpPr/>
          <p:nvPr/>
        </p:nvSpPr>
        <p:spPr>
          <a:xfrm>
            <a:off x="4718304" y="3749040"/>
            <a:ext cx="1737360" cy="868680"/>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e.g. Image classification, Text analysis</a:t>
            </a:r>
            <a:endParaRPr lang="en-US" sz="850" dirty="0"/>
          </a:p>
        </p:txBody>
      </p:sp>
      <p:sp>
        <p:nvSpPr>
          <p:cNvPr id="25" name="Shape 23"/>
          <p:cNvSpPr/>
          <p:nvPr/>
        </p:nvSpPr>
        <p:spPr>
          <a:xfrm>
            <a:off x="6803136" y="1234440"/>
            <a:ext cx="1920240" cy="3566160"/>
          </a:xfrm>
          <a:prstGeom prst="rect">
            <a:avLst/>
          </a:prstGeom>
          <a:solidFill>
            <a:srgbClr val="1E293B"/>
          </a:solidFill>
          <a:ln/>
          <a:effectLst>
            <a:outerShdw blurRad="101600" dist="38100" dir="8100000" algn="bl" rotWithShape="0">
              <a:srgbClr val="000000">
                <a:alpha val="20000"/>
              </a:srgbClr>
            </a:outerShdw>
          </a:effectLst>
        </p:spPr>
        <p:txBody>
          <a:bodyPr/>
          <a:lstStyle/>
          <a:p>
            <a:endParaRPr lang="en-US"/>
          </a:p>
        </p:txBody>
      </p:sp>
      <p:sp>
        <p:nvSpPr>
          <p:cNvPr id="26" name="Shape 24"/>
          <p:cNvSpPr/>
          <p:nvPr/>
        </p:nvSpPr>
        <p:spPr>
          <a:xfrm>
            <a:off x="6803136" y="1234440"/>
            <a:ext cx="1920240" cy="73152"/>
          </a:xfrm>
          <a:prstGeom prst="rect">
            <a:avLst/>
          </a:prstGeom>
          <a:solidFill>
            <a:srgbClr val="7C3AED"/>
          </a:solidFill>
          <a:ln/>
        </p:spPr>
        <p:txBody>
          <a:bodyPr/>
          <a:lstStyle/>
          <a:p>
            <a:endParaRPr lang="en-US"/>
          </a:p>
        </p:txBody>
      </p:sp>
      <p:sp>
        <p:nvSpPr>
          <p:cNvPr id="27" name="Text 25"/>
          <p:cNvSpPr/>
          <p:nvPr/>
        </p:nvSpPr>
        <p:spPr>
          <a:xfrm>
            <a:off x="6803136" y="1371600"/>
            <a:ext cx="1920240" cy="548640"/>
          </a:xfrm>
          <a:prstGeom prst="rect">
            <a:avLst/>
          </a:prstGeom>
          <a:noFill/>
          <a:ln/>
        </p:spPr>
        <p:txBody>
          <a:bodyPr wrap="square" lIns="0" tIns="0" rIns="0" bIns="0"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28" name="Text 26"/>
          <p:cNvSpPr/>
          <p:nvPr/>
        </p:nvSpPr>
        <p:spPr>
          <a:xfrm>
            <a:off x="6803136" y="1965960"/>
            <a:ext cx="1920240" cy="594360"/>
          </a:xfrm>
          <a:prstGeom prst="rect">
            <a:avLst/>
          </a:prstGeom>
          <a:noFill/>
          <a:ln/>
        </p:spPr>
        <p:txBody>
          <a:bodyPr wrap="square" lIns="0" tIns="0" rIns="0" bIns="0" rtlCol="0" anchor="ctr"/>
          <a:lstStyle/>
          <a:p>
            <a:pPr marL="0" indent="0" algn="ctr">
              <a:buNone/>
            </a:pPr>
            <a:r>
              <a:rPr lang="en-US" sz="1300" b="1" dirty="0">
                <a:solidFill>
                  <a:srgbClr val="7C3AED"/>
                </a:solidFill>
                <a:latin typeface="Calibri" pitchFamily="34" charset="0"/>
                <a:ea typeface="Calibri" pitchFamily="34" charset="-122"/>
                <a:cs typeface="Calibri" pitchFamily="34" charset="-120"/>
              </a:rPr>
              <a:t>Reinforcement</a:t>
            </a:r>
            <a:endParaRPr lang="en-US" sz="1300" dirty="0"/>
          </a:p>
          <a:p>
            <a:pPr marL="0" indent="0" algn="ctr">
              <a:buNone/>
            </a:pPr>
            <a:r>
              <a:rPr lang="en-US" sz="1300" b="1" dirty="0">
                <a:solidFill>
                  <a:srgbClr val="7C3AED"/>
                </a:solidFill>
                <a:latin typeface="Calibri" pitchFamily="34" charset="0"/>
                <a:ea typeface="Calibri" pitchFamily="34" charset="-122"/>
                <a:cs typeface="Calibri" pitchFamily="34" charset="-120"/>
              </a:rPr>
              <a:t>Learning</a:t>
            </a:r>
            <a:endParaRPr lang="en-US" sz="1300" dirty="0"/>
          </a:p>
        </p:txBody>
      </p:sp>
      <p:sp>
        <p:nvSpPr>
          <p:cNvPr id="29" name="Text 27"/>
          <p:cNvSpPr/>
          <p:nvPr/>
        </p:nvSpPr>
        <p:spPr>
          <a:xfrm>
            <a:off x="6894576" y="2633472"/>
            <a:ext cx="1737360" cy="914400"/>
          </a:xfrm>
          <a:prstGeom prst="rect">
            <a:avLst/>
          </a:prstGeom>
          <a:noFill/>
          <a:ln/>
        </p:spPr>
        <p:txBody>
          <a:bodyPr wrap="square" lIns="0" tIns="0" rIns="0" bIns="0" rtlCol="0" anchor="ctr"/>
          <a:lstStyle/>
          <a:p>
            <a:pPr marL="0" indent="0">
              <a:buNone/>
            </a:pPr>
            <a:r>
              <a:rPr lang="en-US" sz="950" dirty="0">
                <a:solidFill>
                  <a:srgbClr val="F8FAFC"/>
                </a:solidFill>
                <a:latin typeface="Calibri" pitchFamily="34" charset="0"/>
                <a:ea typeface="Calibri" pitchFamily="34" charset="-122"/>
                <a:cs typeface="Calibri" pitchFamily="34" charset="-120"/>
              </a:rPr>
              <a:t>Agent learns through rewards &amp; penalties</a:t>
            </a:r>
            <a:endParaRPr lang="en-US" sz="950" dirty="0"/>
          </a:p>
        </p:txBody>
      </p:sp>
      <p:sp>
        <p:nvSpPr>
          <p:cNvPr id="30" name="Shape 28"/>
          <p:cNvSpPr/>
          <p:nvPr/>
        </p:nvSpPr>
        <p:spPr>
          <a:xfrm>
            <a:off x="6894576" y="3657600"/>
            <a:ext cx="1737360" cy="36576"/>
          </a:xfrm>
          <a:prstGeom prst="rect">
            <a:avLst/>
          </a:prstGeom>
          <a:solidFill>
            <a:srgbClr val="7C3AED">
              <a:alpha val="50000"/>
            </a:srgbClr>
          </a:solidFill>
          <a:ln/>
        </p:spPr>
        <p:txBody>
          <a:bodyPr/>
          <a:lstStyle/>
          <a:p>
            <a:endParaRPr lang="en-US"/>
          </a:p>
        </p:txBody>
      </p:sp>
      <p:sp>
        <p:nvSpPr>
          <p:cNvPr id="31" name="Text 29"/>
          <p:cNvSpPr/>
          <p:nvPr/>
        </p:nvSpPr>
        <p:spPr>
          <a:xfrm>
            <a:off x="6894576" y="3749040"/>
            <a:ext cx="1737360" cy="868680"/>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e.g. Game AI, Robot navigation, Trading bots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40AF"/>
          </a:solidFill>
          <a:ln/>
        </p:spPr>
        <p:txBody>
          <a:bodyPr/>
          <a:lstStyle/>
          <a:p>
            <a:endParaRPr lang="en-US"/>
          </a:p>
        </p:txBody>
      </p:sp>
      <p:sp>
        <p:nvSpPr>
          <p:cNvPr id="3" name="Text 1"/>
          <p:cNvSpPr/>
          <p:nvPr/>
        </p:nvSpPr>
        <p:spPr>
          <a:xfrm>
            <a:off x="365760" y="0"/>
            <a:ext cx="8229600" cy="82296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Supervised Learning</a:t>
            </a:r>
            <a:endParaRPr lang="en-US" sz="2400" dirty="0"/>
          </a:p>
        </p:txBody>
      </p:sp>
      <p:sp>
        <p:nvSpPr>
          <p:cNvPr id="18" name="Shape 16"/>
          <p:cNvSpPr/>
          <p:nvPr/>
        </p:nvSpPr>
        <p:spPr>
          <a:xfrm>
            <a:off x="274320" y="1900785"/>
            <a:ext cx="4114800" cy="2926080"/>
          </a:xfrm>
          <a:prstGeom prst="rect">
            <a:avLst/>
          </a:prstGeom>
          <a:solidFill>
            <a:srgbClr val="FFFFFF"/>
          </a:solidFill>
          <a:ln/>
          <a:effectLst>
            <a:outerShdw blurRad="101600" dist="38100" dir="8100000" algn="bl" rotWithShape="0">
              <a:srgbClr val="000000">
                <a:alpha val="20000"/>
              </a:srgbClr>
            </a:outerShdw>
          </a:effectLst>
        </p:spPr>
        <p:txBody>
          <a:bodyPr/>
          <a:lstStyle/>
          <a:p>
            <a:endParaRPr lang="en-US"/>
          </a:p>
        </p:txBody>
      </p:sp>
      <p:sp>
        <p:nvSpPr>
          <p:cNvPr id="19" name="Shape 17"/>
          <p:cNvSpPr/>
          <p:nvPr/>
        </p:nvSpPr>
        <p:spPr>
          <a:xfrm>
            <a:off x="274320" y="1920240"/>
            <a:ext cx="4114800" cy="73152"/>
          </a:xfrm>
          <a:prstGeom prst="rect">
            <a:avLst/>
          </a:prstGeom>
          <a:solidFill>
            <a:srgbClr val="0D9488"/>
          </a:solidFill>
          <a:ln/>
        </p:spPr>
        <p:txBody>
          <a:bodyPr/>
          <a:lstStyle/>
          <a:p>
            <a:endParaRPr lang="en-US"/>
          </a:p>
        </p:txBody>
      </p:sp>
      <p:sp>
        <p:nvSpPr>
          <p:cNvPr id="20" name="Text 18"/>
          <p:cNvSpPr/>
          <p:nvPr/>
        </p:nvSpPr>
        <p:spPr>
          <a:xfrm>
            <a:off x="457200" y="2011680"/>
            <a:ext cx="3657600" cy="365760"/>
          </a:xfrm>
          <a:prstGeom prst="rect">
            <a:avLst/>
          </a:prstGeom>
          <a:noFill/>
          <a:ln/>
        </p:spPr>
        <p:txBody>
          <a:bodyPr wrap="square" lIns="0" tIns="0" rIns="0" bIns="0"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  REGRESSION</a:t>
            </a:r>
            <a:endParaRPr lang="en-US" sz="1400" dirty="0"/>
          </a:p>
        </p:txBody>
      </p:sp>
      <p:sp>
        <p:nvSpPr>
          <p:cNvPr id="21" name="Text 19"/>
          <p:cNvSpPr/>
          <p:nvPr/>
        </p:nvSpPr>
        <p:spPr>
          <a:xfrm>
            <a:off x="457200" y="2423160"/>
            <a:ext cx="3749040" cy="64008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Predicts a continuous numerical value.</a:t>
            </a:r>
            <a:endParaRPr lang="en-US" sz="1200" dirty="0"/>
          </a:p>
          <a:p>
            <a:pPr marL="0" indent="0">
              <a:buNone/>
            </a:pPr>
            <a:r>
              <a:rPr lang="en-US" sz="1200" dirty="0">
                <a:solidFill>
                  <a:srgbClr val="0F172A"/>
                </a:solidFill>
                <a:latin typeface="Calibri" pitchFamily="34" charset="0"/>
                <a:ea typeface="Calibri" pitchFamily="34" charset="-122"/>
                <a:cs typeface="Calibri" pitchFamily="34" charset="-120"/>
              </a:rPr>
              <a:t>Output: a number on a continuous scale.</a:t>
            </a:r>
            <a:endParaRPr lang="en-US" sz="1200" dirty="0"/>
          </a:p>
        </p:txBody>
      </p:sp>
      <p:sp>
        <p:nvSpPr>
          <p:cNvPr id="22" name="Text 20"/>
          <p:cNvSpPr/>
          <p:nvPr/>
        </p:nvSpPr>
        <p:spPr>
          <a:xfrm>
            <a:off x="457200" y="3063240"/>
            <a:ext cx="3657600" cy="228600"/>
          </a:xfrm>
          <a:prstGeom prst="rect">
            <a:avLst/>
          </a:prstGeom>
          <a:noFill/>
          <a:ln/>
        </p:spPr>
        <p:txBody>
          <a:bodyPr wrap="square" lIns="0" tIns="0" rIns="0" bIns="0" rtlCol="0" anchor="ctr"/>
          <a:lstStyle/>
          <a:p>
            <a:pPr marL="0" indent="0">
              <a:buNone/>
            </a:pPr>
            <a:r>
              <a:rPr lang="en-US" sz="1200" b="1" dirty="0">
                <a:latin typeface="Calibri" pitchFamily="34" charset="0"/>
                <a:ea typeface="Calibri" pitchFamily="34" charset="-122"/>
                <a:cs typeface="Calibri" pitchFamily="34" charset="-120"/>
              </a:rPr>
              <a:t>Key Algorithms:</a:t>
            </a:r>
            <a:endParaRPr lang="en-US" sz="1200" dirty="0"/>
          </a:p>
        </p:txBody>
      </p:sp>
      <p:sp>
        <p:nvSpPr>
          <p:cNvPr id="23" name="Text 21"/>
          <p:cNvSpPr/>
          <p:nvPr/>
        </p:nvSpPr>
        <p:spPr>
          <a:xfrm>
            <a:off x="457200" y="3291840"/>
            <a:ext cx="3749040" cy="27432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Linear Regression · Polynomial Regression · SVR · Ridge / Lasso</a:t>
            </a:r>
            <a:endParaRPr lang="en-US" sz="1100" dirty="0"/>
          </a:p>
        </p:txBody>
      </p:sp>
      <p:sp>
        <p:nvSpPr>
          <p:cNvPr id="24" name="Shape 22"/>
          <p:cNvSpPr/>
          <p:nvPr/>
        </p:nvSpPr>
        <p:spPr>
          <a:xfrm>
            <a:off x="457200" y="3611880"/>
            <a:ext cx="3657600" cy="228600"/>
          </a:xfrm>
          <a:prstGeom prst="rect">
            <a:avLst/>
          </a:prstGeom>
          <a:solidFill>
            <a:srgbClr val="F0FDF4"/>
          </a:solidFill>
          <a:ln/>
        </p:spPr>
        <p:txBody>
          <a:bodyPr/>
          <a:lstStyle/>
          <a:p>
            <a:endParaRPr lang="en-US"/>
          </a:p>
        </p:txBody>
      </p:sp>
      <p:sp>
        <p:nvSpPr>
          <p:cNvPr id="25" name="Text 23"/>
          <p:cNvSpPr/>
          <p:nvPr/>
        </p:nvSpPr>
        <p:spPr>
          <a:xfrm>
            <a:off x="502920" y="3639312"/>
            <a:ext cx="3566160" cy="201168"/>
          </a:xfrm>
          <a:prstGeom prst="rect">
            <a:avLst/>
          </a:prstGeom>
          <a:noFill/>
          <a:ln/>
        </p:spPr>
        <p:txBody>
          <a:bodyPr wrap="square" lIns="0" tIns="0" rIns="0" bIns="0" rtlCol="0" anchor="ctr"/>
          <a:lstStyle/>
          <a:p>
            <a:pPr marL="0" indent="0">
              <a:buNone/>
            </a:pPr>
            <a:r>
              <a:rPr lang="en-US" sz="1000" i="1" dirty="0">
                <a:solidFill>
                  <a:srgbClr val="0D9488"/>
                </a:solidFill>
                <a:latin typeface="Calibri" pitchFamily="34" charset="0"/>
                <a:ea typeface="Calibri" pitchFamily="34" charset="-122"/>
                <a:cs typeface="Calibri" pitchFamily="34" charset="-120"/>
              </a:rPr>
              <a:t>Example: Predicting house prices based on size, location, bedrooms</a:t>
            </a:r>
            <a:endParaRPr lang="en-US" sz="1000" dirty="0"/>
          </a:p>
        </p:txBody>
      </p:sp>
      <p:sp>
        <p:nvSpPr>
          <p:cNvPr id="26" name="Shape 24"/>
          <p:cNvSpPr/>
          <p:nvPr/>
        </p:nvSpPr>
        <p:spPr>
          <a:xfrm>
            <a:off x="4754880" y="1920240"/>
            <a:ext cx="4114800" cy="2926080"/>
          </a:xfrm>
          <a:prstGeom prst="rect">
            <a:avLst/>
          </a:prstGeom>
          <a:solidFill>
            <a:srgbClr val="FFFFFF"/>
          </a:solidFill>
          <a:ln/>
          <a:effectLst>
            <a:outerShdw blurRad="101600" dist="38100" dir="8100000" algn="bl" rotWithShape="0">
              <a:srgbClr val="000000">
                <a:alpha val="20000"/>
              </a:srgbClr>
            </a:outerShdw>
          </a:effectLst>
        </p:spPr>
        <p:txBody>
          <a:bodyPr/>
          <a:lstStyle/>
          <a:p>
            <a:endParaRPr lang="en-US"/>
          </a:p>
        </p:txBody>
      </p:sp>
      <p:sp>
        <p:nvSpPr>
          <p:cNvPr id="27" name="Shape 25"/>
          <p:cNvSpPr/>
          <p:nvPr/>
        </p:nvSpPr>
        <p:spPr>
          <a:xfrm>
            <a:off x="4754880" y="1920240"/>
            <a:ext cx="4114800" cy="73152"/>
          </a:xfrm>
          <a:prstGeom prst="rect">
            <a:avLst/>
          </a:prstGeom>
          <a:solidFill>
            <a:srgbClr val="3B82F6"/>
          </a:solidFill>
          <a:ln/>
        </p:spPr>
        <p:txBody>
          <a:bodyPr/>
          <a:lstStyle/>
          <a:p>
            <a:endParaRPr lang="en-US"/>
          </a:p>
        </p:txBody>
      </p:sp>
      <p:sp>
        <p:nvSpPr>
          <p:cNvPr id="28" name="Text 26"/>
          <p:cNvSpPr/>
          <p:nvPr/>
        </p:nvSpPr>
        <p:spPr>
          <a:xfrm>
            <a:off x="4937760" y="2011680"/>
            <a:ext cx="3657600" cy="365760"/>
          </a:xfrm>
          <a:prstGeom prst="rect">
            <a:avLst/>
          </a:prstGeom>
          <a:noFill/>
          <a:ln/>
        </p:spPr>
        <p:txBody>
          <a:bodyPr wrap="square" lIns="0" tIns="0" rIns="0" bIns="0" rtlCol="0" anchor="ctr"/>
          <a:lstStyle/>
          <a:p>
            <a:pPr marL="0" indent="0">
              <a:buNone/>
            </a:pPr>
            <a:r>
              <a:rPr lang="en-US" sz="1400" b="1" dirty="0">
                <a:solidFill>
                  <a:srgbClr val="3B82F6"/>
                </a:solidFill>
                <a:latin typeface="Calibri" pitchFamily="34" charset="0"/>
                <a:ea typeface="Calibri" pitchFamily="34" charset="-122"/>
                <a:cs typeface="Calibri" pitchFamily="34" charset="-120"/>
              </a:rPr>
              <a:t>🏷️  CLASSIFICATION</a:t>
            </a:r>
            <a:endParaRPr lang="en-US" sz="1400" dirty="0"/>
          </a:p>
        </p:txBody>
      </p:sp>
      <p:sp>
        <p:nvSpPr>
          <p:cNvPr id="29" name="Text 27"/>
          <p:cNvSpPr/>
          <p:nvPr/>
        </p:nvSpPr>
        <p:spPr>
          <a:xfrm>
            <a:off x="4937760" y="2423160"/>
            <a:ext cx="3749040" cy="64008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Predicts a discrete category or class label.</a:t>
            </a:r>
            <a:endParaRPr lang="en-US" sz="1200" dirty="0"/>
          </a:p>
          <a:p>
            <a:pPr marL="0" indent="0">
              <a:buNone/>
            </a:pPr>
            <a:r>
              <a:rPr lang="en-US" sz="1200" dirty="0">
                <a:solidFill>
                  <a:srgbClr val="0F172A"/>
                </a:solidFill>
                <a:latin typeface="Calibri" pitchFamily="34" charset="0"/>
                <a:ea typeface="Calibri" pitchFamily="34" charset="-122"/>
                <a:cs typeface="Calibri" pitchFamily="34" charset="-120"/>
              </a:rPr>
              <a:t>Output: one of several predefined classes.</a:t>
            </a:r>
            <a:endParaRPr lang="en-US" sz="1200" dirty="0"/>
          </a:p>
        </p:txBody>
      </p:sp>
      <p:sp>
        <p:nvSpPr>
          <p:cNvPr id="30" name="Text 28"/>
          <p:cNvSpPr/>
          <p:nvPr/>
        </p:nvSpPr>
        <p:spPr>
          <a:xfrm>
            <a:off x="4937760" y="3063240"/>
            <a:ext cx="3657600" cy="228600"/>
          </a:xfrm>
          <a:prstGeom prst="rect">
            <a:avLst/>
          </a:prstGeom>
          <a:noFill/>
          <a:ln/>
        </p:spPr>
        <p:txBody>
          <a:bodyPr wrap="square" lIns="0" tIns="0" rIns="0" bIns="0" rtlCol="0" anchor="ctr"/>
          <a:lstStyle/>
          <a:p>
            <a:pPr marL="0" indent="0">
              <a:buNone/>
            </a:pPr>
            <a:r>
              <a:rPr lang="en-US" sz="1200" b="1" dirty="0">
                <a:latin typeface="Calibri" pitchFamily="34" charset="0"/>
                <a:ea typeface="Calibri" pitchFamily="34" charset="-122"/>
                <a:cs typeface="Calibri" pitchFamily="34" charset="-120"/>
              </a:rPr>
              <a:t>Key Algorithms:</a:t>
            </a:r>
            <a:endParaRPr lang="en-US" sz="1200" dirty="0"/>
          </a:p>
        </p:txBody>
      </p:sp>
      <p:sp>
        <p:nvSpPr>
          <p:cNvPr id="31" name="Text 29"/>
          <p:cNvSpPr/>
          <p:nvPr/>
        </p:nvSpPr>
        <p:spPr>
          <a:xfrm>
            <a:off x="4937760" y="3291840"/>
            <a:ext cx="3875500" cy="27432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Logistic Regression · Decision Trees · SVM · KNN</a:t>
            </a:r>
            <a:endParaRPr lang="en-US" sz="1100" dirty="0"/>
          </a:p>
        </p:txBody>
      </p:sp>
      <p:sp>
        <p:nvSpPr>
          <p:cNvPr id="32" name="Shape 30"/>
          <p:cNvSpPr/>
          <p:nvPr/>
        </p:nvSpPr>
        <p:spPr>
          <a:xfrm>
            <a:off x="4937760" y="3611880"/>
            <a:ext cx="3657600" cy="228600"/>
          </a:xfrm>
          <a:prstGeom prst="rect">
            <a:avLst/>
          </a:prstGeom>
          <a:solidFill>
            <a:srgbClr val="EFF6FF"/>
          </a:solidFill>
          <a:ln/>
        </p:spPr>
        <p:txBody>
          <a:bodyPr/>
          <a:lstStyle/>
          <a:p>
            <a:endParaRPr lang="en-US"/>
          </a:p>
        </p:txBody>
      </p:sp>
      <p:sp>
        <p:nvSpPr>
          <p:cNvPr id="33" name="Text 31"/>
          <p:cNvSpPr/>
          <p:nvPr/>
        </p:nvSpPr>
        <p:spPr>
          <a:xfrm>
            <a:off x="4983480" y="3639312"/>
            <a:ext cx="3566160" cy="201168"/>
          </a:xfrm>
          <a:prstGeom prst="rect">
            <a:avLst/>
          </a:prstGeom>
          <a:noFill/>
          <a:ln/>
        </p:spPr>
        <p:txBody>
          <a:bodyPr wrap="square" lIns="0" tIns="0" rIns="0" bIns="0" rtlCol="0" anchor="ctr"/>
          <a:lstStyle/>
          <a:p>
            <a:pPr marL="0" indent="0">
              <a:buNone/>
            </a:pPr>
            <a:r>
              <a:rPr lang="en-US" sz="1000" i="1" dirty="0">
                <a:solidFill>
                  <a:srgbClr val="3B82F6"/>
                </a:solidFill>
                <a:latin typeface="Calibri" pitchFamily="34" charset="0"/>
                <a:ea typeface="Calibri" pitchFamily="34" charset="-122"/>
                <a:cs typeface="Calibri" pitchFamily="34" charset="-120"/>
              </a:rPr>
              <a:t>Example: Classifying email as Spam or Not Spam</a:t>
            </a:r>
            <a:endParaRPr lang="en-US" sz="1000" dirty="0"/>
          </a:p>
        </p:txBody>
      </p:sp>
      <p:sp>
        <p:nvSpPr>
          <p:cNvPr id="34" name="Text 4">
            <a:extLst>
              <a:ext uri="{FF2B5EF4-FFF2-40B4-BE49-F238E27FC236}">
                <a16:creationId xmlns:a16="http://schemas.microsoft.com/office/drawing/2014/main" id="{E1D08FC4-AC96-433C-897A-0721639D0F7B}"/>
              </a:ext>
            </a:extLst>
          </p:cNvPr>
          <p:cNvSpPr/>
          <p:nvPr/>
        </p:nvSpPr>
        <p:spPr>
          <a:xfrm>
            <a:off x="365759" y="997957"/>
            <a:ext cx="8503921" cy="822960"/>
          </a:xfrm>
          <a:prstGeom prst="rect">
            <a:avLst/>
          </a:prstGeom>
          <a:noFill/>
          <a:ln/>
        </p:spPr>
        <p:txBody>
          <a:bodyPr wrap="square" lIns="0" tIns="0" rIns="0" bIns="0" rtlCol="0" anchor="ctr"/>
          <a:lstStyle/>
          <a:p>
            <a:pPr marL="0" indent="0">
              <a:buNone/>
            </a:pPr>
            <a:endParaRPr lang="en-US" sz="1100" dirty="0"/>
          </a:p>
        </p:txBody>
      </p:sp>
      <p:sp>
        <p:nvSpPr>
          <p:cNvPr id="35" name="Rectangle 34">
            <a:extLst>
              <a:ext uri="{FF2B5EF4-FFF2-40B4-BE49-F238E27FC236}">
                <a16:creationId xmlns:a16="http://schemas.microsoft.com/office/drawing/2014/main" id="{E96338C4-2595-4AD6-9A01-5C479E1D4CA4}"/>
              </a:ext>
            </a:extLst>
          </p:cNvPr>
          <p:cNvSpPr/>
          <p:nvPr/>
        </p:nvSpPr>
        <p:spPr>
          <a:xfrm>
            <a:off x="274320" y="1163215"/>
            <a:ext cx="8595360" cy="292388"/>
          </a:xfrm>
          <a:prstGeom prst="rect">
            <a:avLst/>
          </a:prstGeom>
        </p:spPr>
        <p:txBody>
          <a:bodyPr wrap="square">
            <a:spAutoFit/>
          </a:bodyPr>
          <a:lstStyle/>
          <a:p>
            <a:pPr lvl="0"/>
            <a:r>
              <a:rPr lang="en-US" sz="1300" dirty="0">
                <a:solidFill>
                  <a:srgbClr val="1A2E3B"/>
                </a:solidFill>
                <a:latin typeface="Calibri" pitchFamily="34" charset="0"/>
                <a:ea typeface="Calibri" pitchFamily="34" charset="-122"/>
                <a:cs typeface="Calibri" pitchFamily="34" charset="-120"/>
              </a:rPr>
              <a:t>The algorithm learns from a labeled training dataset, where each data has an input and a known correct output.</a:t>
            </a:r>
            <a:endParaRPr lang="en-US" sz="1300" dirty="0">
              <a:solidFill>
                <a:prstClr val="black"/>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9488"/>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Regression Example: House Price Prediction</a:t>
            </a:r>
            <a:endParaRPr lang="en-US" sz="2000" dirty="0"/>
          </a:p>
        </p:txBody>
      </p:sp>
      <p:sp>
        <p:nvSpPr>
          <p:cNvPr id="4" name="Shape 2"/>
          <p:cNvSpPr/>
          <p:nvPr/>
        </p:nvSpPr>
        <p:spPr>
          <a:xfrm>
            <a:off x="274320" y="914400"/>
            <a:ext cx="3474720" cy="3931920"/>
          </a:xfrm>
          <a:prstGeom prst="rect">
            <a:avLst/>
          </a:prstGeom>
          <a:solidFill>
            <a:srgbClr val="FFFFFF"/>
          </a:solidFill>
          <a:ln/>
          <a:effectLst>
            <a:outerShdw blurRad="101600" dist="38100" dir="8100000" algn="bl" rotWithShape="0">
              <a:srgbClr val="000000">
                <a:alpha val="20000"/>
              </a:srgbClr>
            </a:outerShdw>
          </a:effectLst>
        </p:spPr>
        <p:txBody>
          <a:bodyPr/>
          <a:lstStyle/>
          <a:p>
            <a:endParaRPr lang="en-US"/>
          </a:p>
        </p:txBody>
      </p:sp>
      <p:sp>
        <p:nvSpPr>
          <p:cNvPr id="5" name="Text 3"/>
          <p:cNvSpPr/>
          <p:nvPr/>
        </p:nvSpPr>
        <p:spPr>
          <a:xfrm>
            <a:off x="457200" y="1051560"/>
            <a:ext cx="3108960" cy="27432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How it Works</a:t>
            </a:r>
            <a:endParaRPr lang="en-US" sz="1300" dirty="0"/>
          </a:p>
        </p:txBody>
      </p:sp>
      <p:sp>
        <p:nvSpPr>
          <p:cNvPr id="6" name="Shape 4"/>
          <p:cNvSpPr/>
          <p:nvPr/>
        </p:nvSpPr>
        <p:spPr>
          <a:xfrm>
            <a:off x="457200" y="1417320"/>
            <a:ext cx="3108960" cy="530352"/>
          </a:xfrm>
          <a:prstGeom prst="rect">
            <a:avLst/>
          </a:prstGeom>
          <a:solidFill>
            <a:srgbClr val="F0FDF4"/>
          </a:solidFill>
          <a:ln w="6350">
            <a:solidFill>
              <a:srgbClr val="D1FAE5"/>
            </a:solidFill>
            <a:prstDash val="solid"/>
          </a:ln>
        </p:spPr>
        <p:txBody>
          <a:bodyPr/>
          <a:lstStyle/>
          <a:p>
            <a:endParaRPr lang="en-US"/>
          </a:p>
        </p:txBody>
      </p:sp>
      <p:sp>
        <p:nvSpPr>
          <p:cNvPr id="7" name="Text 5"/>
          <p:cNvSpPr/>
          <p:nvPr/>
        </p:nvSpPr>
        <p:spPr>
          <a:xfrm>
            <a:off x="548640" y="1444752"/>
            <a:ext cx="2926080" cy="475488"/>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1. Collect training data (size → price)</a:t>
            </a:r>
            <a:endParaRPr lang="en-US" sz="1000" dirty="0"/>
          </a:p>
        </p:txBody>
      </p:sp>
      <p:sp>
        <p:nvSpPr>
          <p:cNvPr id="8" name="Shape 6"/>
          <p:cNvSpPr/>
          <p:nvPr/>
        </p:nvSpPr>
        <p:spPr>
          <a:xfrm>
            <a:off x="457200" y="2057400"/>
            <a:ext cx="3108960" cy="530352"/>
          </a:xfrm>
          <a:prstGeom prst="rect">
            <a:avLst/>
          </a:prstGeom>
          <a:solidFill>
            <a:srgbClr val="ECFDF5"/>
          </a:solidFill>
          <a:ln w="6350">
            <a:solidFill>
              <a:srgbClr val="D1FAE5"/>
            </a:solidFill>
            <a:prstDash val="solid"/>
          </a:ln>
        </p:spPr>
        <p:txBody>
          <a:bodyPr/>
          <a:lstStyle/>
          <a:p>
            <a:endParaRPr lang="en-US"/>
          </a:p>
        </p:txBody>
      </p:sp>
      <p:sp>
        <p:nvSpPr>
          <p:cNvPr id="9" name="Text 7"/>
          <p:cNvSpPr/>
          <p:nvPr/>
        </p:nvSpPr>
        <p:spPr>
          <a:xfrm>
            <a:off x="548640" y="2084832"/>
            <a:ext cx="2926080" cy="475488"/>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2. Fit a line: Price = m×Size + b</a:t>
            </a:r>
            <a:endParaRPr lang="en-US" sz="1000" dirty="0"/>
          </a:p>
        </p:txBody>
      </p:sp>
      <p:sp>
        <p:nvSpPr>
          <p:cNvPr id="10" name="Shape 8"/>
          <p:cNvSpPr/>
          <p:nvPr/>
        </p:nvSpPr>
        <p:spPr>
          <a:xfrm>
            <a:off x="457200" y="2697480"/>
            <a:ext cx="3108960" cy="530352"/>
          </a:xfrm>
          <a:prstGeom prst="rect">
            <a:avLst/>
          </a:prstGeom>
          <a:solidFill>
            <a:srgbClr val="F0FDF4"/>
          </a:solidFill>
          <a:ln w="6350">
            <a:solidFill>
              <a:srgbClr val="D1FAE5"/>
            </a:solidFill>
            <a:prstDash val="solid"/>
          </a:ln>
        </p:spPr>
        <p:txBody>
          <a:bodyPr/>
          <a:lstStyle/>
          <a:p>
            <a:endParaRPr lang="en-US"/>
          </a:p>
        </p:txBody>
      </p:sp>
      <p:sp>
        <p:nvSpPr>
          <p:cNvPr id="11" name="Text 9"/>
          <p:cNvSpPr/>
          <p:nvPr/>
        </p:nvSpPr>
        <p:spPr>
          <a:xfrm>
            <a:off x="548640" y="2724912"/>
            <a:ext cx="2926080" cy="475488"/>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3. Minimize prediction error (MSE)</a:t>
            </a:r>
            <a:endParaRPr lang="en-US" sz="1000" dirty="0"/>
          </a:p>
        </p:txBody>
      </p:sp>
      <p:sp>
        <p:nvSpPr>
          <p:cNvPr id="12" name="Shape 10"/>
          <p:cNvSpPr/>
          <p:nvPr/>
        </p:nvSpPr>
        <p:spPr>
          <a:xfrm>
            <a:off x="457200" y="3337560"/>
            <a:ext cx="3108960" cy="530352"/>
          </a:xfrm>
          <a:prstGeom prst="rect">
            <a:avLst/>
          </a:prstGeom>
          <a:solidFill>
            <a:srgbClr val="ECFDF5"/>
          </a:solidFill>
          <a:ln w="6350">
            <a:solidFill>
              <a:srgbClr val="D1FAE5"/>
            </a:solidFill>
            <a:prstDash val="solid"/>
          </a:ln>
        </p:spPr>
        <p:txBody>
          <a:bodyPr/>
          <a:lstStyle/>
          <a:p>
            <a:endParaRPr lang="en-US"/>
          </a:p>
        </p:txBody>
      </p:sp>
      <p:sp>
        <p:nvSpPr>
          <p:cNvPr id="13" name="Text 11"/>
          <p:cNvSpPr/>
          <p:nvPr/>
        </p:nvSpPr>
        <p:spPr>
          <a:xfrm>
            <a:off x="548640" y="3364992"/>
            <a:ext cx="2926080" cy="475488"/>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4. Use learned model for new houses</a:t>
            </a:r>
            <a:endParaRPr lang="en-US" sz="1000" dirty="0"/>
          </a:p>
        </p:txBody>
      </p:sp>
      <p:sp>
        <p:nvSpPr>
          <p:cNvPr id="16" name="Shape 14"/>
          <p:cNvSpPr/>
          <p:nvPr/>
        </p:nvSpPr>
        <p:spPr>
          <a:xfrm>
            <a:off x="3975275" y="914400"/>
            <a:ext cx="4894405" cy="3931920"/>
          </a:xfrm>
          <a:prstGeom prst="rect">
            <a:avLst/>
          </a:prstGeom>
          <a:solidFill>
            <a:srgbClr val="FFFFFF"/>
          </a:solidFill>
          <a:ln/>
          <a:effectLst>
            <a:outerShdw blurRad="101600" dist="38100" dir="8100000" algn="bl" rotWithShape="0">
              <a:srgbClr val="000000">
                <a:alpha val="20000"/>
              </a:srgbClr>
            </a:outerShdw>
          </a:effectLst>
        </p:spPr>
        <p:txBody>
          <a:bodyPr/>
          <a:lstStyle/>
          <a:p>
            <a:endParaRPr lang="en-US"/>
          </a:p>
        </p:txBody>
      </p:sp>
      <p:sp>
        <p:nvSpPr>
          <p:cNvPr id="17" name="Text 15"/>
          <p:cNvSpPr/>
          <p:nvPr/>
        </p:nvSpPr>
        <p:spPr>
          <a:xfrm>
            <a:off x="4206240" y="1005840"/>
            <a:ext cx="457200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Linear Regression — House Price vs. Size</a:t>
            </a:r>
            <a:endParaRPr lang="en-US" sz="1100" dirty="0"/>
          </a:p>
        </p:txBody>
      </p:sp>
      <p:sp>
        <p:nvSpPr>
          <p:cNvPr id="18" name="Shape 16"/>
          <p:cNvSpPr/>
          <p:nvPr/>
        </p:nvSpPr>
        <p:spPr>
          <a:xfrm>
            <a:off x="4389120" y="1417320"/>
            <a:ext cx="0" cy="2743200"/>
          </a:xfrm>
          <a:prstGeom prst="line">
            <a:avLst/>
          </a:prstGeom>
          <a:noFill/>
          <a:ln w="19050">
            <a:solidFill>
              <a:srgbClr val="0F172A"/>
            </a:solidFill>
            <a:prstDash val="solid"/>
          </a:ln>
        </p:spPr>
        <p:txBody>
          <a:bodyPr/>
          <a:lstStyle/>
          <a:p>
            <a:endParaRPr lang="en-US"/>
          </a:p>
        </p:txBody>
      </p:sp>
      <p:sp>
        <p:nvSpPr>
          <p:cNvPr id="19" name="Shape 17"/>
          <p:cNvSpPr/>
          <p:nvPr/>
        </p:nvSpPr>
        <p:spPr>
          <a:xfrm>
            <a:off x="4389120" y="4160520"/>
            <a:ext cx="4297680" cy="0"/>
          </a:xfrm>
          <a:prstGeom prst="line">
            <a:avLst/>
          </a:prstGeom>
          <a:noFill/>
          <a:ln w="19050">
            <a:solidFill>
              <a:srgbClr val="0F172A"/>
            </a:solidFill>
            <a:prstDash val="solid"/>
          </a:ln>
        </p:spPr>
        <p:txBody>
          <a:bodyPr/>
          <a:lstStyle/>
          <a:p>
            <a:endParaRPr lang="en-US"/>
          </a:p>
        </p:txBody>
      </p:sp>
      <p:sp>
        <p:nvSpPr>
          <p:cNvPr id="20" name="Text 18"/>
          <p:cNvSpPr/>
          <p:nvPr/>
        </p:nvSpPr>
        <p:spPr>
          <a:xfrm>
            <a:off x="3956357" y="2857500"/>
            <a:ext cx="457200" cy="457200"/>
          </a:xfrm>
          <a:prstGeom prst="rect">
            <a:avLst/>
          </a:prstGeom>
          <a:noFill/>
          <a:ln/>
        </p:spPr>
        <p:txBody>
          <a:bodyPr wrap="square" lIns="0" tIns="0" rIns="0" bIns="0"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Price ($K)</a:t>
            </a:r>
            <a:endParaRPr lang="en-US" sz="800" dirty="0"/>
          </a:p>
        </p:txBody>
      </p:sp>
      <p:sp>
        <p:nvSpPr>
          <p:cNvPr id="21" name="Text 19"/>
          <p:cNvSpPr/>
          <p:nvPr/>
        </p:nvSpPr>
        <p:spPr>
          <a:xfrm>
            <a:off x="6291072" y="4434839"/>
            <a:ext cx="1463040" cy="228600"/>
          </a:xfrm>
          <a:prstGeom prst="rect">
            <a:avLst/>
          </a:prstGeom>
          <a:noFill/>
          <a:ln/>
        </p:spPr>
        <p:txBody>
          <a:bodyPr wrap="square" lIns="0" tIns="0" rIns="0" bIns="0" rtlCol="0" anchor="ctr"/>
          <a:lstStyle/>
          <a:p>
            <a:pPr marL="0" indent="0">
              <a:buNone/>
            </a:pPr>
            <a:r>
              <a:rPr lang="en-US" sz="800" dirty="0">
                <a:solidFill>
                  <a:srgbClr val="94A3B8"/>
                </a:solidFill>
                <a:latin typeface="Calibri" pitchFamily="34" charset="0"/>
                <a:ea typeface="Calibri" pitchFamily="34" charset="-122"/>
                <a:cs typeface="Calibri" pitchFamily="34" charset="-120"/>
              </a:rPr>
              <a:t>House Size (sqft)</a:t>
            </a:r>
            <a:endParaRPr lang="en-US" sz="800" dirty="0"/>
          </a:p>
        </p:txBody>
      </p:sp>
      <p:sp>
        <p:nvSpPr>
          <p:cNvPr id="22" name="Shape 20"/>
          <p:cNvSpPr/>
          <p:nvPr/>
        </p:nvSpPr>
        <p:spPr>
          <a:xfrm>
            <a:off x="4297680" y="1554480"/>
            <a:ext cx="91440" cy="0"/>
          </a:xfrm>
          <a:prstGeom prst="line">
            <a:avLst/>
          </a:prstGeom>
          <a:noFill/>
          <a:ln w="12700">
            <a:solidFill>
              <a:srgbClr val="0F172A"/>
            </a:solidFill>
            <a:prstDash val="solid"/>
          </a:ln>
        </p:spPr>
        <p:txBody>
          <a:bodyPr/>
          <a:lstStyle/>
          <a:p>
            <a:endParaRPr lang="en-US"/>
          </a:p>
        </p:txBody>
      </p:sp>
      <p:sp>
        <p:nvSpPr>
          <p:cNvPr id="23" name="Text 21"/>
          <p:cNvSpPr/>
          <p:nvPr/>
        </p:nvSpPr>
        <p:spPr>
          <a:xfrm>
            <a:off x="3886200" y="1463040"/>
            <a:ext cx="411480" cy="182880"/>
          </a:xfrm>
          <a:prstGeom prst="rect">
            <a:avLst/>
          </a:prstGeom>
          <a:noFill/>
          <a:ln/>
        </p:spPr>
        <p:txBody>
          <a:bodyPr wrap="square" lIns="0" tIns="0" rIns="0" bIns="0"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500</a:t>
            </a:r>
            <a:endParaRPr lang="en-US" sz="800" dirty="0"/>
          </a:p>
        </p:txBody>
      </p:sp>
      <p:sp>
        <p:nvSpPr>
          <p:cNvPr id="24" name="Shape 22"/>
          <p:cNvSpPr/>
          <p:nvPr/>
        </p:nvSpPr>
        <p:spPr>
          <a:xfrm>
            <a:off x="4389120" y="1554480"/>
            <a:ext cx="4297680" cy="0"/>
          </a:xfrm>
          <a:prstGeom prst="line">
            <a:avLst/>
          </a:prstGeom>
          <a:noFill/>
          <a:ln w="6350">
            <a:solidFill>
              <a:srgbClr val="E2E8F0"/>
            </a:solidFill>
            <a:prstDash val="solid"/>
          </a:ln>
        </p:spPr>
        <p:txBody>
          <a:bodyPr/>
          <a:lstStyle/>
          <a:p>
            <a:endParaRPr lang="en-US"/>
          </a:p>
        </p:txBody>
      </p:sp>
      <p:sp>
        <p:nvSpPr>
          <p:cNvPr id="25" name="Shape 23"/>
          <p:cNvSpPr/>
          <p:nvPr/>
        </p:nvSpPr>
        <p:spPr>
          <a:xfrm>
            <a:off x="4297680" y="2171700"/>
            <a:ext cx="91440" cy="0"/>
          </a:xfrm>
          <a:prstGeom prst="line">
            <a:avLst/>
          </a:prstGeom>
          <a:noFill/>
          <a:ln w="12700">
            <a:solidFill>
              <a:srgbClr val="0F172A"/>
            </a:solidFill>
            <a:prstDash val="solid"/>
          </a:ln>
        </p:spPr>
        <p:txBody>
          <a:bodyPr/>
          <a:lstStyle/>
          <a:p>
            <a:endParaRPr lang="en-US"/>
          </a:p>
        </p:txBody>
      </p:sp>
      <p:sp>
        <p:nvSpPr>
          <p:cNvPr id="26" name="Text 24"/>
          <p:cNvSpPr/>
          <p:nvPr/>
        </p:nvSpPr>
        <p:spPr>
          <a:xfrm>
            <a:off x="3886200" y="2080260"/>
            <a:ext cx="411480" cy="182880"/>
          </a:xfrm>
          <a:prstGeom prst="rect">
            <a:avLst/>
          </a:prstGeom>
          <a:noFill/>
          <a:ln/>
        </p:spPr>
        <p:txBody>
          <a:bodyPr wrap="square" lIns="0" tIns="0" rIns="0" bIns="0"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400</a:t>
            </a:r>
            <a:endParaRPr lang="en-US" sz="800" dirty="0"/>
          </a:p>
        </p:txBody>
      </p:sp>
      <p:sp>
        <p:nvSpPr>
          <p:cNvPr id="27" name="Shape 25"/>
          <p:cNvSpPr/>
          <p:nvPr/>
        </p:nvSpPr>
        <p:spPr>
          <a:xfrm>
            <a:off x="4389120" y="2171700"/>
            <a:ext cx="4297680" cy="0"/>
          </a:xfrm>
          <a:prstGeom prst="line">
            <a:avLst/>
          </a:prstGeom>
          <a:noFill/>
          <a:ln w="6350">
            <a:solidFill>
              <a:srgbClr val="E2E8F0"/>
            </a:solidFill>
            <a:prstDash val="solid"/>
          </a:ln>
        </p:spPr>
        <p:txBody>
          <a:bodyPr/>
          <a:lstStyle/>
          <a:p>
            <a:endParaRPr lang="en-US"/>
          </a:p>
        </p:txBody>
      </p:sp>
      <p:sp>
        <p:nvSpPr>
          <p:cNvPr id="28" name="Shape 26"/>
          <p:cNvSpPr/>
          <p:nvPr/>
        </p:nvSpPr>
        <p:spPr>
          <a:xfrm>
            <a:off x="4297680" y="2788920"/>
            <a:ext cx="91440" cy="0"/>
          </a:xfrm>
          <a:prstGeom prst="line">
            <a:avLst/>
          </a:prstGeom>
          <a:noFill/>
          <a:ln w="12700">
            <a:solidFill>
              <a:srgbClr val="0F172A"/>
            </a:solidFill>
            <a:prstDash val="solid"/>
          </a:ln>
        </p:spPr>
        <p:txBody>
          <a:bodyPr/>
          <a:lstStyle/>
          <a:p>
            <a:endParaRPr lang="en-US"/>
          </a:p>
        </p:txBody>
      </p:sp>
      <p:sp>
        <p:nvSpPr>
          <p:cNvPr id="29" name="Text 27"/>
          <p:cNvSpPr/>
          <p:nvPr/>
        </p:nvSpPr>
        <p:spPr>
          <a:xfrm>
            <a:off x="3792551" y="2675172"/>
            <a:ext cx="502920" cy="214884"/>
          </a:xfrm>
          <a:prstGeom prst="rect">
            <a:avLst/>
          </a:prstGeom>
          <a:noFill/>
          <a:ln/>
        </p:spPr>
        <p:txBody>
          <a:bodyPr wrap="square" lIns="0" tIns="0" rIns="0" bIns="0"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300</a:t>
            </a:r>
            <a:endParaRPr lang="en-US" sz="800" dirty="0"/>
          </a:p>
        </p:txBody>
      </p:sp>
      <p:sp>
        <p:nvSpPr>
          <p:cNvPr id="30" name="Shape 28"/>
          <p:cNvSpPr/>
          <p:nvPr/>
        </p:nvSpPr>
        <p:spPr>
          <a:xfrm>
            <a:off x="4389120" y="2788920"/>
            <a:ext cx="4297680" cy="0"/>
          </a:xfrm>
          <a:prstGeom prst="line">
            <a:avLst/>
          </a:prstGeom>
          <a:noFill/>
          <a:ln w="6350">
            <a:solidFill>
              <a:srgbClr val="E2E8F0"/>
            </a:solidFill>
            <a:prstDash val="solid"/>
          </a:ln>
        </p:spPr>
        <p:txBody>
          <a:bodyPr/>
          <a:lstStyle/>
          <a:p>
            <a:endParaRPr lang="en-US"/>
          </a:p>
        </p:txBody>
      </p:sp>
      <p:sp>
        <p:nvSpPr>
          <p:cNvPr id="31" name="Shape 29"/>
          <p:cNvSpPr/>
          <p:nvPr/>
        </p:nvSpPr>
        <p:spPr>
          <a:xfrm>
            <a:off x="4297680" y="3406140"/>
            <a:ext cx="91440" cy="0"/>
          </a:xfrm>
          <a:prstGeom prst="line">
            <a:avLst/>
          </a:prstGeom>
          <a:noFill/>
          <a:ln w="12700">
            <a:solidFill>
              <a:srgbClr val="0F172A"/>
            </a:solidFill>
            <a:prstDash val="solid"/>
          </a:ln>
        </p:spPr>
        <p:txBody>
          <a:bodyPr/>
          <a:lstStyle/>
          <a:p>
            <a:endParaRPr lang="en-US"/>
          </a:p>
        </p:txBody>
      </p:sp>
      <p:sp>
        <p:nvSpPr>
          <p:cNvPr id="32" name="Text 30"/>
          <p:cNvSpPr/>
          <p:nvPr/>
        </p:nvSpPr>
        <p:spPr>
          <a:xfrm>
            <a:off x="3886200" y="3314700"/>
            <a:ext cx="411480" cy="182880"/>
          </a:xfrm>
          <a:prstGeom prst="rect">
            <a:avLst/>
          </a:prstGeom>
          <a:noFill/>
          <a:ln/>
        </p:spPr>
        <p:txBody>
          <a:bodyPr wrap="square" lIns="0" tIns="0" rIns="0" bIns="0"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200</a:t>
            </a:r>
            <a:endParaRPr lang="en-US" sz="800" dirty="0"/>
          </a:p>
        </p:txBody>
      </p:sp>
      <p:sp>
        <p:nvSpPr>
          <p:cNvPr id="33" name="Shape 31"/>
          <p:cNvSpPr/>
          <p:nvPr/>
        </p:nvSpPr>
        <p:spPr>
          <a:xfrm>
            <a:off x="4389120" y="3406140"/>
            <a:ext cx="4297680" cy="0"/>
          </a:xfrm>
          <a:prstGeom prst="line">
            <a:avLst/>
          </a:prstGeom>
          <a:noFill/>
          <a:ln w="6350">
            <a:solidFill>
              <a:srgbClr val="E2E8F0"/>
            </a:solidFill>
            <a:prstDash val="solid"/>
          </a:ln>
        </p:spPr>
        <p:txBody>
          <a:bodyPr/>
          <a:lstStyle/>
          <a:p>
            <a:endParaRPr lang="en-US"/>
          </a:p>
        </p:txBody>
      </p:sp>
      <p:sp>
        <p:nvSpPr>
          <p:cNvPr id="34" name="Shape 32"/>
          <p:cNvSpPr/>
          <p:nvPr/>
        </p:nvSpPr>
        <p:spPr>
          <a:xfrm>
            <a:off x="4297680" y="4023360"/>
            <a:ext cx="91440" cy="0"/>
          </a:xfrm>
          <a:prstGeom prst="line">
            <a:avLst/>
          </a:prstGeom>
          <a:noFill/>
          <a:ln w="12700">
            <a:solidFill>
              <a:srgbClr val="0F172A"/>
            </a:solidFill>
            <a:prstDash val="solid"/>
          </a:ln>
        </p:spPr>
        <p:txBody>
          <a:bodyPr/>
          <a:lstStyle/>
          <a:p>
            <a:endParaRPr lang="en-US"/>
          </a:p>
        </p:txBody>
      </p:sp>
      <p:sp>
        <p:nvSpPr>
          <p:cNvPr id="35" name="Text 33"/>
          <p:cNvSpPr/>
          <p:nvPr/>
        </p:nvSpPr>
        <p:spPr>
          <a:xfrm>
            <a:off x="3886200" y="3931920"/>
            <a:ext cx="411480" cy="182880"/>
          </a:xfrm>
          <a:prstGeom prst="rect">
            <a:avLst/>
          </a:prstGeom>
          <a:noFill/>
          <a:ln/>
        </p:spPr>
        <p:txBody>
          <a:bodyPr wrap="square" lIns="0" tIns="0" rIns="0" bIns="0"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100</a:t>
            </a:r>
            <a:endParaRPr lang="en-US" sz="800" dirty="0"/>
          </a:p>
        </p:txBody>
      </p:sp>
      <p:sp>
        <p:nvSpPr>
          <p:cNvPr id="36" name="Shape 34"/>
          <p:cNvSpPr/>
          <p:nvPr/>
        </p:nvSpPr>
        <p:spPr>
          <a:xfrm>
            <a:off x="4389120" y="4023360"/>
            <a:ext cx="4297680" cy="0"/>
          </a:xfrm>
          <a:prstGeom prst="line">
            <a:avLst/>
          </a:prstGeom>
          <a:noFill/>
          <a:ln w="6350">
            <a:solidFill>
              <a:srgbClr val="E2E8F0"/>
            </a:solidFill>
            <a:prstDash val="solid"/>
          </a:ln>
        </p:spPr>
        <p:txBody>
          <a:bodyPr/>
          <a:lstStyle/>
          <a:p>
            <a:endParaRPr lang="en-US"/>
          </a:p>
        </p:txBody>
      </p:sp>
      <p:sp>
        <p:nvSpPr>
          <p:cNvPr id="37" name="Shape 35"/>
          <p:cNvSpPr/>
          <p:nvPr/>
        </p:nvSpPr>
        <p:spPr>
          <a:xfrm>
            <a:off x="4572000" y="4160520"/>
            <a:ext cx="0" cy="91440"/>
          </a:xfrm>
          <a:prstGeom prst="line">
            <a:avLst/>
          </a:prstGeom>
          <a:noFill/>
          <a:ln w="12700">
            <a:solidFill>
              <a:srgbClr val="0F172A"/>
            </a:solidFill>
            <a:prstDash val="solid"/>
          </a:ln>
        </p:spPr>
        <p:txBody>
          <a:bodyPr/>
          <a:lstStyle/>
          <a:p>
            <a:endParaRPr lang="en-US"/>
          </a:p>
        </p:txBody>
      </p:sp>
      <p:sp>
        <p:nvSpPr>
          <p:cNvPr id="38" name="Text 36"/>
          <p:cNvSpPr/>
          <p:nvPr/>
        </p:nvSpPr>
        <p:spPr>
          <a:xfrm>
            <a:off x="4343400" y="4270248"/>
            <a:ext cx="502920" cy="182880"/>
          </a:xfrm>
          <a:prstGeom prst="rect">
            <a:avLst/>
          </a:prstGeom>
          <a:noFill/>
          <a:ln/>
        </p:spPr>
        <p:txBody>
          <a:bodyPr wrap="square" lIns="0" tIns="0" rIns="0" bIns="0" rtlCol="0" anchor="ctr"/>
          <a:lstStyle/>
          <a:p>
            <a:pPr marL="0" indent="0" algn="ctr">
              <a:buNone/>
            </a:pPr>
            <a:r>
              <a:rPr lang="en-US" sz="750" dirty="0">
                <a:solidFill>
                  <a:srgbClr val="94A3B8"/>
                </a:solidFill>
                <a:latin typeface="Calibri" pitchFamily="34" charset="0"/>
                <a:ea typeface="Calibri" pitchFamily="34" charset="-122"/>
                <a:cs typeface="Calibri" pitchFamily="34" charset="-120"/>
              </a:rPr>
              <a:t>1000</a:t>
            </a:r>
            <a:endParaRPr lang="en-US" sz="750" dirty="0"/>
          </a:p>
        </p:txBody>
      </p:sp>
      <p:sp>
        <p:nvSpPr>
          <p:cNvPr id="39" name="Shape 37"/>
          <p:cNvSpPr/>
          <p:nvPr/>
        </p:nvSpPr>
        <p:spPr>
          <a:xfrm>
            <a:off x="5600700" y="4160520"/>
            <a:ext cx="0" cy="91440"/>
          </a:xfrm>
          <a:prstGeom prst="line">
            <a:avLst/>
          </a:prstGeom>
          <a:noFill/>
          <a:ln w="12700">
            <a:solidFill>
              <a:srgbClr val="0F172A"/>
            </a:solidFill>
            <a:prstDash val="solid"/>
          </a:ln>
        </p:spPr>
        <p:txBody>
          <a:bodyPr/>
          <a:lstStyle/>
          <a:p>
            <a:endParaRPr lang="en-US"/>
          </a:p>
        </p:txBody>
      </p:sp>
      <p:sp>
        <p:nvSpPr>
          <p:cNvPr id="40" name="Text 38"/>
          <p:cNvSpPr/>
          <p:nvPr/>
        </p:nvSpPr>
        <p:spPr>
          <a:xfrm>
            <a:off x="5372100" y="4270248"/>
            <a:ext cx="502920" cy="182880"/>
          </a:xfrm>
          <a:prstGeom prst="rect">
            <a:avLst/>
          </a:prstGeom>
          <a:noFill/>
          <a:ln/>
        </p:spPr>
        <p:txBody>
          <a:bodyPr wrap="square" lIns="0" tIns="0" rIns="0" bIns="0" rtlCol="0" anchor="ctr"/>
          <a:lstStyle/>
          <a:p>
            <a:pPr marL="0" indent="0" algn="ctr">
              <a:buNone/>
            </a:pPr>
            <a:r>
              <a:rPr lang="en-US" sz="750" dirty="0">
                <a:solidFill>
                  <a:srgbClr val="94A3B8"/>
                </a:solidFill>
                <a:latin typeface="Calibri" pitchFamily="34" charset="0"/>
                <a:ea typeface="Calibri" pitchFamily="34" charset="-122"/>
                <a:cs typeface="Calibri" pitchFamily="34" charset="-120"/>
              </a:rPr>
              <a:t>1500</a:t>
            </a:r>
            <a:endParaRPr lang="en-US" sz="750" dirty="0"/>
          </a:p>
        </p:txBody>
      </p:sp>
      <p:sp>
        <p:nvSpPr>
          <p:cNvPr id="41" name="Shape 39"/>
          <p:cNvSpPr/>
          <p:nvPr/>
        </p:nvSpPr>
        <p:spPr>
          <a:xfrm>
            <a:off x="6629400" y="4160520"/>
            <a:ext cx="0" cy="91440"/>
          </a:xfrm>
          <a:prstGeom prst="line">
            <a:avLst/>
          </a:prstGeom>
          <a:noFill/>
          <a:ln w="12700">
            <a:solidFill>
              <a:srgbClr val="0F172A"/>
            </a:solidFill>
            <a:prstDash val="solid"/>
          </a:ln>
        </p:spPr>
        <p:txBody>
          <a:bodyPr/>
          <a:lstStyle/>
          <a:p>
            <a:endParaRPr lang="en-US"/>
          </a:p>
        </p:txBody>
      </p:sp>
      <p:sp>
        <p:nvSpPr>
          <p:cNvPr id="42" name="Text 40"/>
          <p:cNvSpPr/>
          <p:nvPr/>
        </p:nvSpPr>
        <p:spPr>
          <a:xfrm>
            <a:off x="6400800" y="4270248"/>
            <a:ext cx="502920" cy="182880"/>
          </a:xfrm>
          <a:prstGeom prst="rect">
            <a:avLst/>
          </a:prstGeom>
          <a:noFill/>
          <a:ln/>
        </p:spPr>
        <p:txBody>
          <a:bodyPr wrap="square" lIns="0" tIns="0" rIns="0" bIns="0" rtlCol="0" anchor="ctr"/>
          <a:lstStyle/>
          <a:p>
            <a:pPr marL="0" indent="0" algn="ctr">
              <a:buNone/>
            </a:pPr>
            <a:r>
              <a:rPr lang="en-US" sz="750" dirty="0">
                <a:solidFill>
                  <a:srgbClr val="94A3B8"/>
                </a:solidFill>
                <a:latin typeface="Calibri" pitchFamily="34" charset="0"/>
                <a:ea typeface="Calibri" pitchFamily="34" charset="-122"/>
                <a:cs typeface="Calibri" pitchFamily="34" charset="-120"/>
              </a:rPr>
              <a:t>2000</a:t>
            </a:r>
            <a:endParaRPr lang="en-US" sz="750" dirty="0"/>
          </a:p>
        </p:txBody>
      </p:sp>
      <p:sp>
        <p:nvSpPr>
          <p:cNvPr id="43" name="Shape 41"/>
          <p:cNvSpPr/>
          <p:nvPr/>
        </p:nvSpPr>
        <p:spPr>
          <a:xfrm>
            <a:off x="7658100" y="4160520"/>
            <a:ext cx="0" cy="91440"/>
          </a:xfrm>
          <a:prstGeom prst="line">
            <a:avLst/>
          </a:prstGeom>
          <a:noFill/>
          <a:ln w="12700">
            <a:solidFill>
              <a:srgbClr val="0F172A"/>
            </a:solidFill>
            <a:prstDash val="solid"/>
          </a:ln>
        </p:spPr>
        <p:txBody>
          <a:bodyPr/>
          <a:lstStyle/>
          <a:p>
            <a:endParaRPr lang="en-US"/>
          </a:p>
        </p:txBody>
      </p:sp>
      <p:sp>
        <p:nvSpPr>
          <p:cNvPr id="44" name="Text 42"/>
          <p:cNvSpPr/>
          <p:nvPr/>
        </p:nvSpPr>
        <p:spPr>
          <a:xfrm>
            <a:off x="7429500" y="4270248"/>
            <a:ext cx="502920" cy="182880"/>
          </a:xfrm>
          <a:prstGeom prst="rect">
            <a:avLst/>
          </a:prstGeom>
          <a:noFill/>
          <a:ln/>
        </p:spPr>
        <p:txBody>
          <a:bodyPr wrap="square" lIns="0" tIns="0" rIns="0" bIns="0" rtlCol="0" anchor="ctr"/>
          <a:lstStyle/>
          <a:p>
            <a:pPr marL="0" indent="0" algn="ctr">
              <a:buNone/>
            </a:pPr>
            <a:r>
              <a:rPr lang="en-US" sz="750" dirty="0">
                <a:solidFill>
                  <a:srgbClr val="94A3B8"/>
                </a:solidFill>
                <a:latin typeface="Calibri" pitchFamily="34" charset="0"/>
                <a:ea typeface="Calibri" pitchFamily="34" charset="-122"/>
                <a:cs typeface="Calibri" pitchFamily="34" charset="-120"/>
              </a:rPr>
              <a:t>2500</a:t>
            </a:r>
            <a:endParaRPr lang="en-US" sz="750" dirty="0"/>
          </a:p>
        </p:txBody>
      </p:sp>
      <p:sp>
        <p:nvSpPr>
          <p:cNvPr id="45" name="Shape 43"/>
          <p:cNvSpPr/>
          <p:nvPr/>
        </p:nvSpPr>
        <p:spPr>
          <a:xfrm>
            <a:off x="8686800" y="4160520"/>
            <a:ext cx="0" cy="91440"/>
          </a:xfrm>
          <a:prstGeom prst="line">
            <a:avLst/>
          </a:prstGeom>
          <a:noFill/>
          <a:ln w="12700">
            <a:solidFill>
              <a:srgbClr val="0F172A"/>
            </a:solidFill>
            <a:prstDash val="solid"/>
          </a:ln>
        </p:spPr>
        <p:txBody>
          <a:bodyPr/>
          <a:lstStyle/>
          <a:p>
            <a:endParaRPr lang="en-US"/>
          </a:p>
        </p:txBody>
      </p:sp>
      <p:sp>
        <p:nvSpPr>
          <p:cNvPr id="46" name="Text 44"/>
          <p:cNvSpPr/>
          <p:nvPr/>
        </p:nvSpPr>
        <p:spPr>
          <a:xfrm>
            <a:off x="8458200" y="4270248"/>
            <a:ext cx="502920" cy="182880"/>
          </a:xfrm>
          <a:prstGeom prst="rect">
            <a:avLst/>
          </a:prstGeom>
          <a:noFill/>
          <a:ln/>
        </p:spPr>
        <p:txBody>
          <a:bodyPr wrap="square" lIns="0" tIns="0" rIns="0" bIns="0" rtlCol="0" anchor="ctr"/>
          <a:lstStyle/>
          <a:p>
            <a:pPr marL="0" indent="0" algn="ctr">
              <a:buNone/>
            </a:pPr>
            <a:r>
              <a:rPr lang="en-US" sz="750" dirty="0">
                <a:solidFill>
                  <a:srgbClr val="94A3B8"/>
                </a:solidFill>
                <a:latin typeface="Calibri" pitchFamily="34" charset="0"/>
                <a:ea typeface="Calibri" pitchFamily="34" charset="-122"/>
                <a:cs typeface="Calibri" pitchFamily="34" charset="-120"/>
              </a:rPr>
              <a:t>3000</a:t>
            </a:r>
            <a:endParaRPr lang="en-US" sz="750" dirty="0"/>
          </a:p>
        </p:txBody>
      </p:sp>
      <p:sp>
        <p:nvSpPr>
          <p:cNvPr id="47" name="Shape 45"/>
          <p:cNvSpPr/>
          <p:nvPr/>
        </p:nvSpPr>
        <p:spPr>
          <a:xfrm>
            <a:off x="4549140" y="3454146"/>
            <a:ext cx="109728" cy="109728"/>
          </a:xfrm>
          <a:prstGeom prst="ellipse">
            <a:avLst/>
          </a:prstGeom>
          <a:solidFill>
            <a:srgbClr val="0D9488"/>
          </a:solidFill>
          <a:ln/>
        </p:spPr>
        <p:txBody>
          <a:bodyPr/>
          <a:lstStyle/>
          <a:p>
            <a:endParaRPr lang="en-US"/>
          </a:p>
        </p:txBody>
      </p:sp>
      <p:sp>
        <p:nvSpPr>
          <p:cNvPr id="48" name="Shape 46"/>
          <p:cNvSpPr/>
          <p:nvPr/>
        </p:nvSpPr>
        <p:spPr>
          <a:xfrm>
            <a:off x="4978908" y="3111246"/>
            <a:ext cx="109728" cy="109728"/>
          </a:xfrm>
          <a:prstGeom prst="ellipse">
            <a:avLst/>
          </a:prstGeom>
          <a:solidFill>
            <a:srgbClr val="0D9488"/>
          </a:solidFill>
          <a:ln/>
        </p:spPr>
        <p:txBody>
          <a:bodyPr/>
          <a:lstStyle/>
          <a:p>
            <a:endParaRPr lang="en-US"/>
          </a:p>
        </p:txBody>
      </p:sp>
      <p:sp>
        <p:nvSpPr>
          <p:cNvPr id="49" name="Shape 47"/>
          <p:cNvSpPr/>
          <p:nvPr/>
        </p:nvSpPr>
        <p:spPr>
          <a:xfrm>
            <a:off x="5193792" y="2974086"/>
            <a:ext cx="109728" cy="109728"/>
          </a:xfrm>
          <a:prstGeom prst="ellipse">
            <a:avLst/>
          </a:prstGeom>
          <a:solidFill>
            <a:srgbClr val="0D9488"/>
          </a:solidFill>
          <a:ln/>
        </p:spPr>
        <p:txBody>
          <a:bodyPr/>
          <a:lstStyle/>
          <a:p>
            <a:endParaRPr lang="en-US"/>
          </a:p>
        </p:txBody>
      </p:sp>
      <p:sp>
        <p:nvSpPr>
          <p:cNvPr id="50" name="Shape 48"/>
          <p:cNvSpPr/>
          <p:nvPr/>
        </p:nvSpPr>
        <p:spPr>
          <a:xfrm>
            <a:off x="5623560" y="2802636"/>
            <a:ext cx="109728" cy="109728"/>
          </a:xfrm>
          <a:prstGeom prst="ellipse">
            <a:avLst/>
          </a:prstGeom>
          <a:solidFill>
            <a:srgbClr val="0D9488"/>
          </a:solidFill>
          <a:ln/>
        </p:spPr>
        <p:txBody>
          <a:bodyPr/>
          <a:lstStyle/>
          <a:p>
            <a:endParaRPr lang="en-US"/>
          </a:p>
        </p:txBody>
      </p:sp>
      <p:sp>
        <p:nvSpPr>
          <p:cNvPr id="51" name="Shape 49"/>
          <p:cNvSpPr/>
          <p:nvPr/>
        </p:nvSpPr>
        <p:spPr>
          <a:xfrm>
            <a:off x="6053328" y="2562606"/>
            <a:ext cx="109728" cy="109728"/>
          </a:xfrm>
          <a:prstGeom prst="ellipse">
            <a:avLst/>
          </a:prstGeom>
          <a:solidFill>
            <a:srgbClr val="0D9488"/>
          </a:solidFill>
          <a:ln/>
        </p:spPr>
        <p:txBody>
          <a:bodyPr/>
          <a:lstStyle/>
          <a:p>
            <a:endParaRPr lang="en-US"/>
          </a:p>
        </p:txBody>
      </p:sp>
      <p:sp>
        <p:nvSpPr>
          <p:cNvPr id="52" name="Shape 50"/>
          <p:cNvSpPr/>
          <p:nvPr/>
        </p:nvSpPr>
        <p:spPr>
          <a:xfrm>
            <a:off x="6483096" y="2322576"/>
            <a:ext cx="109728" cy="109728"/>
          </a:xfrm>
          <a:prstGeom prst="ellipse">
            <a:avLst/>
          </a:prstGeom>
          <a:solidFill>
            <a:srgbClr val="0D9488"/>
          </a:solidFill>
          <a:ln/>
        </p:spPr>
        <p:txBody>
          <a:bodyPr/>
          <a:lstStyle/>
          <a:p>
            <a:endParaRPr lang="en-US"/>
          </a:p>
        </p:txBody>
      </p:sp>
      <p:sp>
        <p:nvSpPr>
          <p:cNvPr id="53" name="Shape 51"/>
          <p:cNvSpPr/>
          <p:nvPr/>
        </p:nvSpPr>
        <p:spPr>
          <a:xfrm>
            <a:off x="6912864" y="2151126"/>
            <a:ext cx="109728" cy="109728"/>
          </a:xfrm>
          <a:prstGeom prst="ellipse">
            <a:avLst/>
          </a:prstGeom>
          <a:solidFill>
            <a:srgbClr val="0D9488"/>
          </a:solidFill>
          <a:ln/>
        </p:spPr>
        <p:txBody>
          <a:bodyPr/>
          <a:lstStyle/>
          <a:p>
            <a:endParaRPr lang="en-US"/>
          </a:p>
        </p:txBody>
      </p:sp>
      <p:sp>
        <p:nvSpPr>
          <p:cNvPr id="54" name="Shape 52"/>
          <p:cNvSpPr/>
          <p:nvPr/>
        </p:nvSpPr>
        <p:spPr>
          <a:xfrm>
            <a:off x="7557516" y="1842516"/>
            <a:ext cx="109728" cy="109728"/>
          </a:xfrm>
          <a:prstGeom prst="ellipse">
            <a:avLst/>
          </a:prstGeom>
          <a:solidFill>
            <a:srgbClr val="0D9488"/>
          </a:solidFill>
          <a:ln/>
        </p:spPr>
        <p:txBody>
          <a:bodyPr/>
          <a:lstStyle/>
          <a:p>
            <a:endParaRPr lang="en-US"/>
          </a:p>
        </p:txBody>
      </p:sp>
      <p:sp>
        <p:nvSpPr>
          <p:cNvPr id="55" name="Shape 53"/>
          <p:cNvSpPr/>
          <p:nvPr/>
        </p:nvSpPr>
        <p:spPr>
          <a:xfrm>
            <a:off x="7987284" y="1636776"/>
            <a:ext cx="109728" cy="109728"/>
          </a:xfrm>
          <a:prstGeom prst="ellipse">
            <a:avLst/>
          </a:prstGeom>
          <a:solidFill>
            <a:srgbClr val="0D9488"/>
          </a:solidFill>
          <a:ln/>
        </p:spPr>
        <p:txBody>
          <a:bodyPr/>
          <a:lstStyle/>
          <a:p>
            <a:endParaRPr lang="en-US"/>
          </a:p>
        </p:txBody>
      </p:sp>
      <p:sp>
        <p:nvSpPr>
          <p:cNvPr id="56" name="Shape 54"/>
          <p:cNvSpPr/>
          <p:nvPr/>
        </p:nvSpPr>
        <p:spPr>
          <a:xfrm>
            <a:off x="8417052" y="1431036"/>
            <a:ext cx="109728" cy="109728"/>
          </a:xfrm>
          <a:prstGeom prst="ellipse">
            <a:avLst/>
          </a:prstGeom>
          <a:solidFill>
            <a:srgbClr val="0D9488"/>
          </a:solidFill>
          <a:ln/>
        </p:spPr>
        <p:txBody>
          <a:bodyPr/>
          <a:lstStyle/>
          <a:p>
            <a:endParaRPr lang="en-US"/>
          </a:p>
        </p:txBody>
      </p:sp>
      <p:sp>
        <p:nvSpPr>
          <p:cNvPr id="57" name="Shape 55"/>
          <p:cNvSpPr/>
          <p:nvPr/>
        </p:nvSpPr>
        <p:spPr>
          <a:xfrm flipV="1">
            <a:off x="4389119" y="1268497"/>
            <a:ext cx="4206239" cy="2473451"/>
          </a:xfrm>
          <a:prstGeom prst="line">
            <a:avLst/>
          </a:prstGeom>
          <a:noFill/>
          <a:ln w="31750">
            <a:solidFill>
              <a:srgbClr val="EF4444"/>
            </a:solidFill>
            <a:prstDash val="solid"/>
          </a:ln>
        </p:spPr>
        <p:txBody>
          <a:bodyPr/>
          <a:lstStyle/>
          <a:p>
            <a:endParaRPr lang="en-US"/>
          </a:p>
        </p:txBody>
      </p:sp>
      <p:sp>
        <p:nvSpPr>
          <p:cNvPr id="58" name="Text 56"/>
          <p:cNvSpPr/>
          <p:nvPr/>
        </p:nvSpPr>
        <p:spPr>
          <a:xfrm>
            <a:off x="4849475" y="1548725"/>
            <a:ext cx="1371600" cy="228600"/>
          </a:xfrm>
          <a:prstGeom prst="rect">
            <a:avLst/>
          </a:prstGeom>
          <a:noFill/>
          <a:ln/>
        </p:spPr>
        <p:txBody>
          <a:bodyPr wrap="square" lIns="0" tIns="0" rIns="0" bIns="0" rtlCol="0" anchor="ctr"/>
          <a:lstStyle/>
          <a:p>
            <a:pPr marL="0" indent="0">
              <a:buNone/>
            </a:pPr>
            <a:r>
              <a:rPr lang="en-US" sz="800" b="1" dirty="0">
                <a:solidFill>
                  <a:srgbClr val="EF4444"/>
                </a:solidFill>
                <a:latin typeface="Calibri" pitchFamily="34" charset="0"/>
                <a:ea typeface="Calibri" pitchFamily="34" charset="-122"/>
                <a:cs typeface="Calibri" pitchFamily="34" charset="-120"/>
              </a:rPr>
              <a:t>Best Fit Line</a:t>
            </a:r>
            <a:endParaRPr lang="en-US" sz="800" dirty="0"/>
          </a:p>
        </p:txBody>
      </p:sp>
      <p:sp>
        <p:nvSpPr>
          <p:cNvPr id="59" name="Shape 55">
            <a:extLst>
              <a:ext uri="{FF2B5EF4-FFF2-40B4-BE49-F238E27FC236}">
                <a16:creationId xmlns:a16="http://schemas.microsoft.com/office/drawing/2014/main" id="{A173BF59-88F5-4FF2-8910-8559F9680BF6}"/>
              </a:ext>
            </a:extLst>
          </p:cNvPr>
          <p:cNvSpPr/>
          <p:nvPr/>
        </p:nvSpPr>
        <p:spPr>
          <a:xfrm>
            <a:off x="4477410" y="1659108"/>
            <a:ext cx="304800" cy="0"/>
          </a:xfrm>
          <a:prstGeom prst="line">
            <a:avLst/>
          </a:prstGeom>
          <a:noFill/>
          <a:ln w="31750">
            <a:solidFill>
              <a:srgbClr val="EF4444"/>
            </a:solidFill>
            <a:prstDash val="solid"/>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3B82F6"/>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Classification Example: Email Spam Detection</a:t>
            </a:r>
            <a:endParaRPr lang="en-US" sz="2000" dirty="0"/>
          </a:p>
        </p:txBody>
      </p:sp>
      <p:sp>
        <p:nvSpPr>
          <p:cNvPr id="4" name="Shape 2"/>
          <p:cNvSpPr/>
          <p:nvPr/>
        </p:nvSpPr>
        <p:spPr>
          <a:xfrm>
            <a:off x="274320" y="914400"/>
            <a:ext cx="4114800" cy="3931920"/>
          </a:xfrm>
          <a:prstGeom prst="rect">
            <a:avLst/>
          </a:prstGeom>
          <a:solidFill>
            <a:srgbClr val="FFFFFF"/>
          </a:solidFill>
          <a:ln/>
          <a:effectLst>
            <a:outerShdw blurRad="101600" dist="38100" dir="8100000" algn="bl" rotWithShape="0">
              <a:srgbClr val="000000">
                <a:alpha val="20000"/>
              </a:srgbClr>
            </a:outerShdw>
          </a:effectLst>
        </p:spPr>
        <p:txBody>
          <a:bodyPr/>
          <a:lstStyle/>
          <a:p>
            <a:endParaRPr lang="en-US"/>
          </a:p>
        </p:txBody>
      </p:sp>
      <p:sp>
        <p:nvSpPr>
          <p:cNvPr id="5" name="Text 3"/>
          <p:cNvSpPr/>
          <p:nvPr/>
        </p:nvSpPr>
        <p:spPr>
          <a:xfrm>
            <a:off x="457200" y="1005840"/>
            <a:ext cx="3749040" cy="274320"/>
          </a:xfrm>
          <a:prstGeom prst="rect">
            <a:avLst/>
          </a:prstGeom>
          <a:noFill/>
          <a:ln/>
        </p:spPr>
        <p:txBody>
          <a:bodyPr wrap="square" lIns="0" tIns="0" rIns="0" bIns="0" rtlCol="0" anchor="ctr"/>
          <a:lstStyle/>
          <a:p>
            <a:pPr marL="0" indent="0">
              <a:buNone/>
            </a:pPr>
            <a:r>
              <a:rPr lang="en-US" sz="1200" b="1" dirty="0">
                <a:solidFill>
                  <a:srgbClr val="3B82F6"/>
                </a:solidFill>
                <a:latin typeface="Calibri" pitchFamily="34" charset="0"/>
                <a:ea typeface="Calibri" pitchFamily="34" charset="-122"/>
                <a:cs typeface="Calibri" pitchFamily="34" charset="-120"/>
              </a:rPr>
              <a:t>Classification Flow Diagram</a:t>
            </a:r>
            <a:endParaRPr lang="en-US" sz="1200" dirty="0"/>
          </a:p>
        </p:txBody>
      </p:sp>
      <p:sp>
        <p:nvSpPr>
          <p:cNvPr id="6" name="Shape 4"/>
          <p:cNvSpPr/>
          <p:nvPr/>
        </p:nvSpPr>
        <p:spPr>
          <a:xfrm>
            <a:off x="1097280" y="1417320"/>
            <a:ext cx="2468880" cy="502920"/>
          </a:xfrm>
          <a:prstGeom prst="rect">
            <a:avLst/>
          </a:prstGeom>
          <a:solidFill>
            <a:srgbClr val="EFF6FF"/>
          </a:solidFill>
          <a:ln w="19050">
            <a:solidFill>
              <a:srgbClr val="3B82F6"/>
            </a:solidFill>
            <a:prstDash val="solid"/>
          </a:ln>
        </p:spPr>
        <p:txBody>
          <a:bodyPr/>
          <a:lstStyle/>
          <a:p>
            <a:endParaRPr lang="en-US"/>
          </a:p>
        </p:txBody>
      </p:sp>
      <p:sp>
        <p:nvSpPr>
          <p:cNvPr id="7" name="Text 5"/>
          <p:cNvSpPr/>
          <p:nvPr/>
        </p:nvSpPr>
        <p:spPr>
          <a:xfrm>
            <a:off x="1097280" y="1417320"/>
            <a:ext cx="2468880" cy="502920"/>
          </a:xfrm>
          <a:prstGeom prst="rect">
            <a:avLst/>
          </a:prstGeom>
          <a:noFill/>
          <a:ln/>
        </p:spPr>
        <p:txBody>
          <a:bodyPr wrap="square" lIns="0" tIns="0" rIns="0" bIns="0" rtlCol="0" anchor="ctr"/>
          <a:lstStyle/>
          <a:p>
            <a:pPr marL="0" indent="0" algn="ctr">
              <a:buNone/>
            </a:pPr>
            <a:r>
              <a:rPr lang="en-US" sz="1100" b="1" dirty="0">
                <a:solidFill>
                  <a:srgbClr val="3B82F6"/>
                </a:solidFill>
                <a:latin typeface="Calibri" pitchFamily="34" charset="0"/>
                <a:ea typeface="Calibri" pitchFamily="34" charset="-122"/>
                <a:cs typeface="Calibri" pitchFamily="34" charset="-120"/>
              </a:rPr>
              <a:t>📧 Incoming Email</a:t>
            </a:r>
            <a:endParaRPr lang="en-US" sz="1100" dirty="0"/>
          </a:p>
        </p:txBody>
      </p:sp>
      <p:sp>
        <p:nvSpPr>
          <p:cNvPr id="8" name="Shape 6"/>
          <p:cNvSpPr/>
          <p:nvPr/>
        </p:nvSpPr>
        <p:spPr>
          <a:xfrm>
            <a:off x="2331720" y="1920240"/>
            <a:ext cx="0" cy="274320"/>
          </a:xfrm>
          <a:prstGeom prst="line">
            <a:avLst/>
          </a:prstGeom>
          <a:noFill/>
          <a:ln w="19050">
            <a:solidFill>
              <a:srgbClr val="0F172A"/>
            </a:solidFill>
            <a:prstDash val="solid"/>
          </a:ln>
        </p:spPr>
        <p:txBody>
          <a:bodyPr/>
          <a:lstStyle/>
          <a:p>
            <a:endParaRPr lang="en-US"/>
          </a:p>
        </p:txBody>
      </p:sp>
      <p:sp>
        <p:nvSpPr>
          <p:cNvPr id="9" name="Shape 7"/>
          <p:cNvSpPr/>
          <p:nvPr/>
        </p:nvSpPr>
        <p:spPr>
          <a:xfrm>
            <a:off x="822960" y="2194560"/>
            <a:ext cx="3017520" cy="594360"/>
          </a:xfrm>
          <a:prstGeom prst="rect">
            <a:avLst/>
          </a:prstGeom>
          <a:solidFill>
            <a:srgbClr val="FFF7ED"/>
          </a:solidFill>
          <a:ln w="19050">
            <a:solidFill>
              <a:srgbClr val="F59E0B"/>
            </a:solidFill>
            <a:prstDash val="solid"/>
          </a:ln>
        </p:spPr>
        <p:txBody>
          <a:bodyPr/>
          <a:lstStyle/>
          <a:p>
            <a:endParaRPr lang="en-US"/>
          </a:p>
        </p:txBody>
      </p:sp>
      <p:sp>
        <p:nvSpPr>
          <p:cNvPr id="10" name="Text 8"/>
          <p:cNvSpPr/>
          <p:nvPr/>
        </p:nvSpPr>
        <p:spPr>
          <a:xfrm>
            <a:off x="822960" y="2194560"/>
            <a:ext cx="3017520" cy="594360"/>
          </a:xfrm>
          <a:prstGeom prst="rect">
            <a:avLst/>
          </a:prstGeom>
          <a:noFill/>
          <a:ln/>
        </p:spPr>
        <p:txBody>
          <a:bodyPr wrap="square" lIns="0" tIns="0" rIns="0" bIns="0" rtlCol="0" anchor="ctr"/>
          <a:lstStyle/>
          <a:p>
            <a:pPr marL="0" indent="0" algn="ctr">
              <a:buNone/>
            </a:pPr>
            <a:r>
              <a:rPr lang="en-US" sz="950" dirty="0">
                <a:solidFill>
                  <a:srgbClr val="0F172A"/>
                </a:solidFill>
                <a:latin typeface="Calibri" pitchFamily="34" charset="0"/>
                <a:ea typeface="Calibri" pitchFamily="34" charset="-122"/>
                <a:cs typeface="Calibri" pitchFamily="34" charset="-120"/>
              </a:rPr>
              <a:t>⚙️ Feature Extraction</a:t>
            </a:r>
            <a:endParaRPr lang="en-US" sz="950" dirty="0"/>
          </a:p>
          <a:p>
            <a:pPr marL="0" indent="0" algn="ctr">
              <a:buNone/>
            </a:pPr>
            <a:r>
              <a:rPr lang="en-US" sz="950" dirty="0">
                <a:solidFill>
                  <a:srgbClr val="0F172A"/>
                </a:solidFill>
                <a:latin typeface="Calibri" pitchFamily="34" charset="0"/>
                <a:ea typeface="Calibri" pitchFamily="34" charset="-122"/>
                <a:cs typeface="Calibri" pitchFamily="34" charset="-120"/>
              </a:rPr>
              <a:t>(word freq, links, sender)</a:t>
            </a:r>
            <a:endParaRPr lang="en-US" sz="950" dirty="0"/>
          </a:p>
        </p:txBody>
      </p:sp>
      <p:sp>
        <p:nvSpPr>
          <p:cNvPr id="11" name="Shape 9"/>
          <p:cNvSpPr/>
          <p:nvPr/>
        </p:nvSpPr>
        <p:spPr>
          <a:xfrm>
            <a:off x="2331720" y="2788920"/>
            <a:ext cx="0" cy="274320"/>
          </a:xfrm>
          <a:prstGeom prst="line">
            <a:avLst/>
          </a:prstGeom>
          <a:noFill/>
          <a:ln w="19050">
            <a:solidFill>
              <a:srgbClr val="0F172A"/>
            </a:solidFill>
            <a:prstDash val="solid"/>
          </a:ln>
        </p:spPr>
        <p:txBody>
          <a:bodyPr/>
          <a:lstStyle/>
          <a:p>
            <a:endParaRPr lang="en-US"/>
          </a:p>
        </p:txBody>
      </p:sp>
      <p:sp>
        <p:nvSpPr>
          <p:cNvPr id="12" name="Shape 10"/>
          <p:cNvSpPr/>
          <p:nvPr/>
        </p:nvSpPr>
        <p:spPr>
          <a:xfrm>
            <a:off x="1005840" y="3063240"/>
            <a:ext cx="2651760" cy="548640"/>
          </a:xfrm>
          <a:prstGeom prst="rect">
            <a:avLst/>
          </a:prstGeom>
          <a:solidFill>
            <a:srgbClr val="F0FDF4"/>
          </a:solidFill>
          <a:ln w="19050">
            <a:solidFill>
              <a:srgbClr val="0D9488"/>
            </a:solidFill>
            <a:prstDash val="solid"/>
          </a:ln>
        </p:spPr>
        <p:txBody>
          <a:bodyPr/>
          <a:lstStyle/>
          <a:p>
            <a:endParaRPr lang="en-US"/>
          </a:p>
        </p:txBody>
      </p:sp>
      <p:sp>
        <p:nvSpPr>
          <p:cNvPr id="13" name="Text 11"/>
          <p:cNvSpPr/>
          <p:nvPr/>
        </p:nvSpPr>
        <p:spPr>
          <a:xfrm>
            <a:off x="1005840" y="3063240"/>
            <a:ext cx="2651760" cy="548640"/>
          </a:xfrm>
          <a:prstGeom prst="rect">
            <a:avLst/>
          </a:prstGeom>
          <a:noFill/>
          <a:ln/>
        </p:spPr>
        <p:txBody>
          <a:bodyPr wrap="square" lIns="0" tIns="0" rIns="0" bIns="0" rtlCol="0" anchor="ctr"/>
          <a:lstStyle/>
          <a:p>
            <a:pPr marL="0" indent="0" algn="ctr">
              <a:buNone/>
            </a:pPr>
            <a:r>
              <a:rPr lang="en-US" sz="950" dirty="0">
                <a:solidFill>
                  <a:srgbClr val="0F172A"/>
                </a:solidFill>
                <a:latin typeface="Calibri" pitchFamily="34" charset="0"/>
                <a:ea typeface="Calibri" pitchFamily="34" charset="-122"/>
                <a:cs typeface="Calibri" pitchFamily="34" charset="-120"/>
              </a:rPr>
              <a:t>🧠 Classification Model</a:t>
            </a:r>
            <a:endParaRPr lang="en-US" sz="950" dirty="0"/>
          </a:p>
          <a:p>
            <a:pPr marL="0" indent="0" algn="ctr">
              <a:buNone/>
            </a:pPr>
            <a:r>
              <a:rPr lang="en-US" sz="950" dirty="0">
                <a:solidFill>
                  <a:srgbClr val="0F172A"/>
                </a:solidFill>
                <a:latin typeface="Calibri" pitchFamily="34" charset="0"/>
                <a:ea typeface="Calibri" pitchFamily="34" charset="-122"/>
                <a:cs typeface="Calibri" pitchFamily="34" charset="-120"/>
              </a:rPr>
              <a:t>(Logistic Regression / SVM)</a:t>
            </a:r>
            <a:endParaRPr lang="en-US" sz="950" dirty="0"/>
          </a:p>
        </p:txBody>
      </p:sp>
      <p:sp>
        <p:nvSpPr>
          <p:cNvPr id="14" name="Shape 12"/>
          <p:cNvSpPr/>
          <p:nvPr/>
        </p:nvSpPr>
        <p:spPr>
          <a:xfrm>
            <a:off x="1417320" y="3611880"/>
            <a:ext cx="0" cy="365760"/>
          </a:xfrm>
          <a:prstGeom prst="line">
            <a:avLst/>
          </a:prstGeom>
          <a:noFill/>
          <a:ln w="25400">
            <a:solidFill>
              <a:srgbClr val="EF4444"/>
            </a:solidFill>
            <a:prstDash val="solid"/>
          </a:ln>
        </p:spPr>
        <p:txBody>
          <a:bodyPr/>
          <a:lstStyle/>
          <a:p>
            <a:endParaRPr lang="en-US"/>
          </a:p>
        </p:txBody>
      </p:sp>
      <p:sp>
        <p:nvSpPr>
          <p:cNvPr id="15" name="Shape 13"/>
          <p:cNvSpPr/>
          <p:nvPr/>
        </p:nvSpPr>
        <p:spPr>
          <a:xfrm>
            <a:off x="3246120" y="3611880"/>
            <a:ext cx="731520" cy="365760"/>
          </a:xfrm>
          <a:prstGeom prst="line">
            <a:avLst/>
          </a:prstGeom>
          <a:noFill/>
          <a:ln w="25400">
            <a:solidFill>
              <a:srgbClr val="10B981"/>
            </a:solidFill>
            <a:prstDash val="solid"/>
          </a:ln>
        </p:spPr>
        <p:txBody>
          <a:bodyPr/>
          <a:lstStyle/>
          <a:p>
            <a:endParaRPr lang="en-US"/>
          </a:p>
        </p:txBody>
      </p:sp>
      <p:sp>
        <p:nvSpPr>
          <p:cNvPr id="16" name="Shape 14"/>
          <p:cNvSpPr/>
          <p:nvPr/>
        </p:nvSpPr>
        <p:spPr>
          <a:xfrm>
            <a:off x="365760" y="3977640"/>
            <a:ext cx="1280160" cy="502920"/>
          </a:xfrm>
          <a:prstGeom prst="rect">
            <a:avLst/>
          </a:prstGeom>
          <a:solidFill>
            <a:srgbClr val="EF4444"/>
          </a:solidFill>
          <a:ln/>
        </p:spPr>
        <p:txBody>
          <a:bodyPr/>
          <a:lstStyle/>
          <a:p>
            <a:endParaRPr lang="en-US"/>
          </a:p>
        </p:txBody>
      </p:sp>
      <p:sp>
        <p:nvSpPr>
          <p:cNvPr id="17" name="Text 15"/>
          <p:cNvSpPr/>
          <p:nvPr/>
        </p:nvSpPr>
        <p:spPr>
          <a:xfrm>
            <a:off x="365760" y="3977640"/>
            <a:ext cx="128016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SPAM</a:t>
            </a:r>
            <a:endParaRPr lang="en-US" sz="1100" dirty="0"/>
          </a:p>
        </p:txBody>
      </p:sp>
      <p:sp>
        <p:nvSpPr>
          <p:cNvPr id="18" name="Shape 16"/>
          <p:cNvSpPr/>
          <p:nvPr/>
        </p:nvSpPr>
        <p:spPr>
          <a:xfrm>
            <a:off x="3017520" y="3977640"/>
            <a:ext cx="1280160" cy="502920"/>
          </a:xfrm>
          <a:prstGeom prst="rect">
            <a:avLst/>
          </a:prstGeom>
          <a:solidFill>
            <a:srgbClr val="10B981"/>
          </a:solidFill>
          <a:ln/>
        </p:spPr>
        <p:txBody>
          <a:bodyPr/>
          <a:lstStyle/>
          <a:p>
            <a:endParaRPr lang="en-US"/>
          </a:p>
        </p:txBody>
      </p:sp>
      <p:sp>
        <p:nvSpPr>
          <p:cNvPr id="19" name="Text 17"/>
          <p:cNvSpPr/>
          <p:nvPr/>
        </p:nvSpPr>
        <p:spPr>
          <a:xfrm>
            <a:off x="3017520" y="3977640"/>
            <a:ext cx="128016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NOT SPAM</a:t>
            </a:r>
            <a:endParaRPr lang="en-US" sz="1100" dirty="0"/>
          </a:p>
        </p:txBody>
      </p:sp>
      <p:sp>
        <p:nvSpPr>
          <p:cNvPr id="20" name="Shape 18"/>
          <p:cNvSpPr/>
          <p:nvPr/>
        </p:nvSpPr>
        <p:spPr>
          <a:xfrm>
            <a:off x="4638216" y="914400"/>
            <a:ext cx="4206240" cy="3931920"/>
          </a:xfrm>
          <a:prstGeom prst="rect">
            <a:avLst/>
          </a:prstGeom>
          <a:solidFill>
            <a:srgbClr val="FFFFFF"/>
          </a:solidFill>
          <a:ln/>
          <a:effectLst>
            <a:outerShdw blurRad="101600" dist="38100" dir="8100000" algn="bl" rotWithShape="0">
              <a:srgbClr val="000000">
                <a:alpha val="20000"/>
              </a:srgbClr>
            </a:outerShdw>
          </a:effectLst>
        </p:spPr>
        <p:txBody>
          <a:bodyPr/>
          <a:lstStyle/>
          <a:p>
            <a:endParaRPr lang="en-US"/>
          </a:p>
        </p:txBody>
      </p:sp>
      <p:sp>
        <p:nvSpPr>
          <p:cNvPr id="21" name="Text 19"/>
          <p:cNvSpPr/>
          <p:nvPr/>
        </p:nvSpPr>
        <p:spPr>
          <a:xfrm>
            <a:off x="4846320" y="1005840"/>
            <a:ext cx="3840480" cy="274320"/>
          </a:xfrm>
          <a:prstGeom prst="rect">
            <a:avLst/>
          </a:prstGeom>
          <a:noFill/>
          <a:ln/>
        </p:spPr>
        <p:txBody>
          <a:bodyPr wrap="square" lIns="0" tIns="0" rIns="0" bIns="0" rtlCol="0" anchor="ctr"/>
          <a:lstStyle/>
          <a:p>
            <a:pPr marL="0" indent="0">
              <a:buNone/>
            </a:pPr>
            <a:r>
              <a:rPr lang="en-US" sz="1200" b="1" dirty="0">
                <a:solidFill>
                  <a:srgbClr val="3B82F6"/>
                </a:solidFill>
                <a:latin typeface="Calibri" pitchFamily="34" charset="0"/>
                <a:ea typeface="Calibri" pitchFamily="34" charset="-122"/>
                <a:cs typeface="Calibri" pitchFamily="34" charset="-120"/>
              </a:rPr>
              <a:t>Spam Detection Features</a:t>
            </a:r>
            <a:endParaRPr lang="en-US" sz="1200" dirty="0"/>
          </a:p>
        </p:txBody>
      </p:sp>
      <p:sp>
        <p:nvSpPr>
          <p:cNvPr id="22" name="Shape 20"/>
          <p:cNvSpPr/>
          <p:nvPr/>
        </p:nvSpPr>
        <p:spPr>
          <a:xfrm>
            <a:off x="4754880" y="1325880"/>
            <a:ext cx="3931920" cy="292608"/>
          </a:xfrm>
          <a:prstGeom prst="rect">
            <a:avLst/>
          </a:prstGeom>
          <a:solidFill>
            <a:srgbClr val="3B82F6"/>
          </a:solidFill>
          <a:ln/>
        </p:spPr>
        <p:txBody>
          <a:bodyPr/>
          <a:lstStyle/>
          <a:p>
            <a:endParaRPr lang="en-US"/>
          </a:p>
        </p:txBody>
      </p:sp>
      <p:sp>
        <p:nvSpPr>
          <p:cNvPr id="23" name="Text 21"/>
          <p:cNvSpPr/>
          <p:nvPr/>
        </p:nvSpPr>
        <p:spPr>
          <a:xfrm>
            <a:off x="4874694" y="1325880"/>
            <a:ext cx="1828800" cy="29260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Feature</a:t>
            </a:r>
            <a:endParaRPr lang="en-US" sz="900" dirty="0"/>
          </a:p>
        </p:txBody>
      </p:sp>
      <p:sp>
        <p:nvSpPr>
          <p:cNvPr id="24" name="Text 22"/>
          <p:cNvSpPr/>
          <p:nvPr/>
        </p:nvSpPr>
        <p:spPr>
          <a:xfrm>
            <a:off x="6583680" y="1325880"/>
            <a:ext cx="9144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Spam</a:t>
            </a:r>
            <a:endParaRPr lang="en-US" sz="900" dirty="0"/>
          </a:p>
        </p:txBody>
      </p:sp>
      <p:sp>
        <p:nvSpPr>
          <p:cNvPr id="25" name="Text 23"/>
          <p:cNvSpPr/>
          <p:nvPr/>
        </p:nvSpPr>
        <p:spPr>
          <a:xfrm>
            <a:off x="7498080" y="1325880"/>
            <a:ext cx="10972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Normal</a:t>
            </a:r>
            <a:endParaRPr lang="en-US" sz="900" dirty="0"/>
          </a:p>
        </p:txBody>
      </p:sp>
      <p:sp>
        <p:nvSpPr>
          <p:cNvPr id="26" name="Shape 24"/>
          <p:cNvSpPr/>
          <p:nvPr/>
        </p:nvSpPr>
        <p:spPr>
          <a:xfrm>
            <a:off x="4754880" y="1618488"/>
            <a:ext cx="3931920" cy="384048"/>
          </a:xfrm>
          <a:prstGeom prst="rect">
            <a:avLst/>
          </a:prstGeom>
          <a:solidFill>
            <a:srgbClr val="F8FAFC"/>
          </a:solidFill>
          <a:ln/>
        </p:spPr>
        <p:txBody>
          <a:bodyPr/>
          <a:lstStyle/>
          <a:p>
            <a:endParaRPr lang="en-US"/>
          </a:p>
        </p:txBody>
      </p:sp>
      <p:sp>
        <p:nvSpPr>
          <p:cNvPr id="27" name="Text 25"/>
          <p:cNvSpPr/>
          <p:nvPr/>
        </p:nvSpPr>
        <p:spPr>
          <a:xfrm>
            <a:off x="4800600" y="1645920"/>
            <a:ext cx="1828800" cy="347472"/>
          </a:xfrm>
          <a:prstGeom prst="rect">
            <a:avLst/>
          </a:prstGeom>
          <a:noFill/>
          <a:ln/>
        </p:spPr>
        <p:txBody>
          <a:bodyPr wrap="square" lIns="0" tIns="0" rIns="0" bIns="0" rtlCol="0" anchor="ctr"/>
          <a:lstStyle/>
          <a:p>
            <a:pPr marL="0" indent="0">
              <a:buNone/>
            </a:pPr>
            <a:r>
              <a:rPr lang="en-US" sz="900" dirty="0">
                <a:solidFill>
                  <a:srgbClr val="0F172A"/>
                </a:solidFill>
                <a:latin typeface="Calibri" pitchFamily="34" charset="0"/>
                <a:ea typeface="Calibri" pitchFamily="34" charset="-122"/>
                <a:cs typeface="Calibri" pitchFamily="34" charset="-120"/>
              </a:rPr>
              <a:t>🔗 Suspicious links</a:t>
            </a:r>
            <a:endParaRPr lang="en-US" sz="900" dirty="0"/>
          </a:p>
        </p:txBody>
      </p:sp>
      <p:sp>
        <p:nvSpPr>
          <p:cNvPr id="28" name="Text 26"/>
          <p:cNvSpPr/>
          <p:nvPr/>
        </p:nvSpPr>
        <p:spPr>
          <a:xfrm>
            <a:off x="6583680" y="1645920"/>
            <a:ext cx="914400" cy="347472"/>
          </a:xfrm>
          <a:prstGeom prst="rect">
            <a:avLst/>
          </a:prstGeom>
          <a:noFill/>
          <a:ln/>
        </p:spPr>
        <p:txBody>
          <a:bodyPr wrap="square" lIns="0" tIns="0" rIns="0" bIns="0" rtlCol="0" anchor="ctr"/>
          <a:lstStyle/>
          <a:p>
            <a:pPr marL="0" indent="0" algn="ctr">
              <a:buNone/>
            </a:pPr>
            <a:r>
              <a:rPr lang="en-US" sz="900" dirty="0">
                <a:solidFill>
                  <a:srgbClr val="EF4444"/>
                </a:solidFill>
                <a:latin typeface="Calibri" pitchFamily="34" charset="0"/>
                <a:ea typeface="Calibri" pitchFamily="34" charset="-122"/>
                <a:cs typeface="Calibri" pitchFamily="34" charset="-120"/>
              </a:rPr>
              <a:t>High</a:t>
            </a:r>
            <a:endParaRPr lang="en-US" sz="900" dirty="0"/>
          </a:p>
        </p:txBody>
      </p:sp>
      <p:sp>
        <p:nvSpPr>
          <p:cNvPr id="29" name="Text 27"/>
          <p:cNvSpPr/>
          <p:nvPr/>
        </p:nvSpPr>
        <p:spPr>
          <a:xfrm>
            <a:off x="7498080" y="1645920"/>
            <a:ext cx="1097280" cy="347472"/>
          </a:xfrm>
          <a:prstGeom prst="rect">
            <a:avLst/>
          </a:prstGeom>
          <a:noFill/>
          <a:ln/>
        </p:spPr>
        <p:txBody>
          <a:bodyPr wrap="square" lIns="0" tIns="0" rIns="0" bIns="0" rtlCol="0" anchor="ctr"/>
          <a:lstStyle/>
          <a:p>
            <a:pPr marL="0" indent="0" algn="ctr">
              <a:buNone/>
            </a:pPr>
            <a:r>
              <a:rPr lang="en-US" sz="900" dirty="0">
                <a:solidFill>
                  <a:srgbClr val="0D9488"/>
                </a:solidFill>
                <a:latin typeface="Calibri" pitchFamily="34" charset="0"/>
                <a:ea typeface="Calibri" pitchFamily="34" charset="-122"/>
                <a:cs typeface="Calibri" pitchFamily="34" charset="-120"/>
              </a:rPr>
              <a:t>Low</a:t>
            </a:r>
            <a:endParaRPr lang="en-US" sz="900" dirty="0"/>
          </a:p>
        </p:txBody>
      </p:sp>
      <p:sp>
        <p:nvSpPr>
          <p:cNvPr id="30" name="Shape 28"/>
          <p:cNvSpPr/>
          <p:nvPr/>
        </p:nvSpPr>
        <p:spPr>
          <a:xfrm>
            <a:off x="4754880" y="2002536"/>
            <a:ext cx="3931920" cy="384048"/>
          </a:xfrm>
          <a:prstGeom prst="rect">
            <a:avLst/>
          </a:prstGeom>
          <a:solidFill>
            <a:srgbClr val="FFFFFF"/>
          </a:solidFill>
          <a:ln/>
        </p:spPr>
        <p:txBody>
          <a:bodyPr/>
          <a:lstStyle/>
          <a:p>
            <a:endParaRPr lang="en-US"/>
          </a:p>
        </p:txBody>
      </p:sp>
      <p:sp>
        <p:nvSpPr>
          <p:cNvPr id="31" name="Text 29"/>
          <p:cNvSpPr/>
          <p:nvPr/>
        </p:nvSpPr>
        <p:spPr>
          <a:xfrm>
            <a:off x="4800600" y="2029968"/>
            <a:ext cx="1828800" cy="347472"/>
          </a:xfrm>
          <a:prstGeom prst="rect">
            <a:avLst/>
          </a:prstGeom>
          <a:noFill/>
          <a:ln/>
        </p:spPr>
        <p:txBody>
          <a:bodyPr wrap="square" lIns="0" tIns="0" rIns="0" bIns="0" rtlCol="0" anchor="ctr"/>
          <a:lstStyle/>
          <a:p>
            <a:pPr marL="0" indent="0">
              <a:buNone/>
            </a:pPr>
            <a:r>
              <a:rPr lang="en-US" sz="900" dirty="0">
                <a:solidFill>
                  <a:srgbClr val="0F172A"/>
                </a:solidFill>
                <a:latin typeface="Calibri" pitchFamily="34" charset="0"/>
                <a:ea typeface="Calibri" pitchFamily="34" charset="-122"/>
                <a:cs typeface="Calibri" pitchFamily="34" charset="-120"/>
              </a:rPr>
              <a:t>💰 Money keywords (FREE!)</a:t>
            </a:r>
            <a:endParaRPr lang="en-US" sz="900" dirty="0"/>
          </a:p>
        </p:txBody>
      </p:sp>
      <p:sp>
        <p:nvSpPr>
          <p:cNvPr id="32" name="Text 30"/>
          <p:cNvSpPr/>
          <p:nvPr/>
        </p:nvSpPr>
        <p:spPr>
          <a:xfrm>
            <a:off x="6583680" y="2029968"/>
            <a:ext cx="914400" cy="347472"/>
          </a:xfrm>
          <a:prstGeom prst="rect">
            <a:avLst/>
          </a:prstGeom>
          <a:noFill/>
          <a:ln/>
        </p:spPr>
        <p:txBody>
          <a:bodyPr wrap="square" lIns="0" tIns="0" rIns="0" bIns="0" rtlCol="0" anchor="ctr"/>
          <a:lstStyle/>
          <a:p>
            <a:pPr marL="0" indent="0" algn="ctr">
              <a:buNone/>
            </a:pPr>
            <a:r>
              <a:rPr lang="en-US" sz="900" dirty="0">
                <a:solidFill>
                  <a:srgbClr val="EF4444"/>
                </a:solidFill>
                <a:latin typeface="Calibri" pitchFamily="34" charset="0"/>
                <a:ea typeface="Calibri" pitchFamily="34" charset="-122"/>
                <a:cs typeface="Calibri" pitchFamily="34" charset="-120"/>
              </a:rPr>
              <a:t>High</a:t>
            </a:r>
            <a:endParaRPr lang="en-US" sz="900" dirty="0"/>
          </a:p>
        </p:txBody>
      </p:sp>
      <p:sp>
        <p:nvSpPr>
          <p:cNvPr id="33" name="Text 31"/>
          <p:cNvSpPr/>
          <p:nvPr/>
        </p:nvSpPr>
        <p:spPr>
          <a:xfrm>
            <a:off x="7498080" y="2029968"/>
            <a:ext cx="1097280" cy="347472"/>
          </a:xfrm>
          <a:prstGeom prst="rect">
            <a:avLst/>
          </a:prstGeom>
          <a:noFill/>
          <a:ln/>
        </p:spPr>
        <p:txBody>
          <a:bodyPr wrap="square" lIns="0" tIns="0" rIns="0" bIns="0" rtlCol="0" anchor="ctr"/>
          <a:lstStyle/>
          <a:p>
            <a:pPr marL="0" indent="0" algn="ctr">
              <a:buNone/>
            </a:pPr>
            <a:r>
              <a:rPr lang="en-US" sz="900" dirty="0">
                <a:solidFill>
                  <a:srgbClr val="0D9488"/>
                </a:solidFill>
                <a:latin typeface="Calibri" pitchFamily="34" charset="0"/>
                <a:ea typeface="Calibri" pitchFamily="34" charset="-122"/>
                <a:cs typeface="Calibri" pitchFamily="34" charset="-120"/>
              </a:rPr>
              <a:t>Rare</a:t>
            </a:r>
            <a:endParaRPr lang="en-US" sz="900" dirty="0"/>
          </a:p>
        </p:txBody>
      </p:sp>
      <p:sp>
        <p:nvSpPr>
          <p:cNvPr id="34" name="Shape 32"/>
          <p:cNvSpPr/>
          <p:nvPr/>
        </p:nvSpPr>
        <p:spPr>
          <a:xfrm>
            <a:off x="4754880" y="2386584"/>
            <a:ext cx="3931920" cy="384048"/>
          </a:xfrm>
          <a:prstGeom prst="rect">
            <a:avLst/>
          </a:prstGeom>
          <a:solidFill>
            <a:srgbClr val="F8FAFC"/>
          </a:solidFill>
          <a:ln/>
        </p:spPr>
        <p:txBody>
          <a:bodyPr/>
          <a:lstStyle/>
          <a:p>
            <a:endParaRPr lang="en-US"/>
          </a:p>
        </p:txBody>
      </p:sp>
      <p:sp>
        <p:nvSpPr>
          <p:cNvPr id="35" name="Text 33"/>
          <p:cNvSpPr/>
          <p:nvPr/>
        </p:nvSpPr>
        <p:spPr>
          <a:xfrm>
            <a:off x="4800600" y="2414016"/>
            <a:ext cx="1828800" cy="347472"/>
          </a:xfrm>
          <a:prstGeom prst="rect">
            <a:avLst/>
          </a:prstGeom>
          <a:noFill/>
          <a:ln/>
        </p:spPr>
        <p:txBody>
          <a:bodyPr wrap="square" lIns="0" tIns="0" rIns="0" bIns="0" rtlCol="0" anchor="ctr"/>
          <a:lstStyle/>
          <a:p>
            <a:pPr marL="0" indent="0">
              <a:buNone/>
            </a:pPr>
            <a:r>
              <a:rPr lang="en-US" sz="900" dirty="0">
                <a:solidFill>
                  <a:srgbClr val="0F172A"/>
                </a:solidFill>
                <a:latin typeface="Calibri" pitchFamily="34" charset="0"/>
                <a:ea typeface="Calibri" pitchFamily="34" charset="-122"/>
                <a:cs typeface="Calibri" pitchFamily="34" charset="-120"/>
              </a:rPr>
              <a:t>👤 Unknown sender</a:t>
            </a:r>
            <a:endParaRPr lang="en-US" sz="900" dirty="0"/>
          </a:p>
        </p:txBody>
      </p:sp>
      <p:sp>
        <p:nvSpPr>
          <p:cNvPr id="36" name="Text 34"/>
          <p:cNvSpPr/>
          <p:nvPr/>
        </p:nvSpPr>
        <p:spPr>
          <a:xfrm>
            <a:off x="6583680" y="2414016"/>
            <a:ext cx="914400" cy="347472"/>
          </a:xfrm>
          <a:prstGeom prst="rect">
            <a:avLst/>
          </a:prstGeom>
          <a:noFill/>
          <a:ln/>
        </p:spPr>
        <p:txBody>
          <a:bodyPr wrap="square" lIns="0" tIns="0" rIns="0" bIns="0" rtlCol="0" anchor="ctr"/>
          <a:lstStyle/>
          <a:p>
            <a:pPr marL="0" indent="0" algn="ctr">
              <a:buNone/>
            </a:pPr>
            <a:r>
              <a:rPr lang="en-US" sz="900" dirty="0">
                <a:solidFill>
                  <a:srgbClr val="EF4444"/>
                </a:solidFill>
                <a:latin typeface="Calibri" pitchFamily="34" charset="0"/>
                <a:ea typeface="Calibri" pitchFamily="34" charset="-122"/>
                <a:cs typeface="Calibri" pitchFamily="34" charset="-120"/>
              </a:rPr>
              <a:t>Yes</a:t>
            </a:r>
            <a:endParaRPr lang="en-US" sz="900" dirty="0"/>
          </a:p>
        </p:txBody>
      </p:sp>
      <p:sp>
        <p:nvSpPr>
          <p:cNvPr id="37" name="Text 35"/>
          <p:cNvSpPr/>
          <p:nvPr/>
        </p:nvSpPr>
        <p:spPr>
          <a:xfrm>
            <a:off x="7498080" y="2414016"/>
            <a:ext cx="1097280" cy="347472"/>
          </a:xfrm>
          <a:prstGeom prst="rect">
            <a:avLst/>
          </a:prstGeom>
          <a:noFill/>
          <a:ln/>
        </p:spPr>
        <p:txBody>
          <a:bodyPr wrap="square" lIns="0" tIns="0" rIns="0" bIns="0" rtlCol="0" anchor="ctr"/>
          <a:lstStyle/>
          <a:p>
            <a:pPr marL="0" indent="0" algn="ctr">
              <a:buNone/>
            </a:pPr>
            <a:r>
              <a:rPr lang="en-US" sz="900" dirty="0">
                <a:solidFill>
                  <a:srgbClr val="0D9488"/>
                </a:solidFill>
                <a:latin typeface="Calibri" pitchFamily="34" charset="0"/>
                <a:ea typeface="Calibri" pitchFamily="34" charset="-122"/>
                <a:cs typeface="Calibri" pitchFamily="34" charset="-120"/>
              </a:rPr>
              <a:t>No</a:t>
            </a:r>
            <a:endParaRPr lang="en-US" sz="900" dirty="0"/>
          </a:p>
        </p:txBody>
      </p:sp>
      <p:sp>
        <p:nvSpPr>
          <p:cNvPr id="38" name="Shape 36"/>
          <p:cNvSpPr/>
          <p:nvPr/>
        </p:nvSpPr>
        <p:spPr>
          <a:xfrm>
            <a:off x="4754880" y="2770632"/>
            <a:ext cx="3931920" cy="384048"/>
          </a:xfrm>
          <a:prstGeom prst="rect">
            <a:avLst/>
          </a:prstGeom>
          <a:solidFill>
            <a:srgbClr val="FFFFFF"/>
          </a:solidFill>
          <a:ln/>
        </p:spPr>
        <p:txBody>
          <a:bodyPr/>
          <a:lstStyle/>
          <a:p>
            <a:endParaRPr lang="en-US"/>
          </a:p>
        </p:txBody>
      </p:sp>
      <p:sp>
        <p:nvSpPr>
          <p:cNvPr id="39" name="Text 37"/>
          <p:cNvSpPr/>
          <p:nvPr/>
        </p:nvSpPr>
        <p:spPr>
          <a:xfrm>
            <a:off x="4800600" y="2798064"/>
            <a:ext cx="1828800" cy="347472"/>
          </a:xfrm>
          <a:prstGeom prst="rect">
            <a:avLst/>
          </a:prstGeom>
          <a:noFill/>
          <a:ln/>
        </p:spPr>
        <p:txBody>
          <a:bodyPr wrap="square" lIns="0" tIns="0" rIns="0" bIns="0" rtlCol="0" anchor="ctr"/>
          <a:lstStyle/>
          <a:p>
            <a:pPr marL="0" indent="0">
              <a:buNone/>
            </a:pPr>
            <a:r>
              <a:rPr lang="en-US" sz="900" dirty="0">
                <a:solidFill>
                  <a:srgbClr val="0F172A"/>
                </a:solidFill>
                <a:latin typeface="Calibri" pitchFamily="34" charset="0"/>
                <a:ea typeface="Calibri" pitchFamily="34" charset="-122"/>
                <a:cs typeface="Calibri" pitchFamily="34" charset="-120"/>
              </a:rPr>
              <a:t>📎 Unexpected attachments</a:t>
            </a:r>
            <a:endParaRPr lang="en-US" sz="900" dirty="0"/>
          </a:p>
        </p:txBody>
      </p:sp>
      <p:sp>
        <p:nvSpPr>
          <p:cNvPr id="40" name="Text 38"/>
          <p:cNvSpPr/>
          <p:nvPr/>
        </p:nvSpPr>
        <p:spPr>
          <a:xfrm>
            <a:off x="6583680" y="2798064"/>
            <a:ext cx="914400" cy="347472"/>
          </a:xfrm>
          <a:prstGeom prst="rect">
            <a:avLst/>
          </a:prstGeom>
          <a:noFill/>
          <a:ln/>
        </p:spPr>
        <p:txBody>
          <a:bodyPr wrap="square" lIns="0" tIns="0" rIns="0" bIns="0" rtlCol="0" anchor="ctr"/>
          <a:lstStyle/>
          <a:p>
            <a:pPr marL="0" indent="0" algn="ctr">
              <a:buNone/>
            </a:pPr>
            <a:r>
              <a:rPr lang="en-US" sz="900" dirty="0">
                <a:solidFill>
                  <a:srgbClr val="EF4444"/>
                </a:solidFill>
                <a:latin typeface="Calibri" pitchFamily="34" charset="0"/>
                <a:ea typeface="Calibri" pitchFamily="34" charset="-122"/>
                <a:cs typeface="Calibri" pitchFamily="34" charset="-120"/>
              </a:rPr>
              <a:t>Common</a:t>
            </a:r>
            <a:endParaRPr lang="en-US" sz="900" dirty="0"/>
          </a:p>
        </p:txBody>
      </p:sp>
      <p:sp>
        <p:nvSpPr>
          <p:cNvPr id="41" name="Text 39"/>
          <p:cNvSpPr/>
          <p:nvPr/>
        </p:nvSpPr>
        <p:spPr>
          <a:xfrm>
            <a:off x="7498080" y="2798064"/>
            <a:ext cx="1097280" cy="347472"/>
          </a:xfrm>
          <a:prstGeom prst="rect">
            <a:avLst/>
          </a:prstGeom>
          <a:noFill/>
          <a:ln/>
        </p:spPr>
        <p:txBody>
          <a:bodyPr wrap="square" lIns="0" tIns="0" rIns="0" bIns="0" rtlCol="0" anchor="ctr"/>
          <a:lstStyle/>
          <a:p>
            <a:pPr marL="0" indent="0" algn="ctr">
              <a:buNone/>
            </a:pPr>
            <a:r>
              <a:rPr lang="en-US" sz="900" dirty="0">
                <a:solidFill>
                  <a:srgbClr val="0D9488"/>
                </a:solidFill>
                <a:latin typeface="Calibri" pitchFamily="34" charset="0"/>
                <a:ea typeface="Calibri" pitchFamily="34" charset="-122"/>
                <a:cs typeface="Calibri" pitchFamily="34" charset="-120"/>
              </a:rPr>
              <a:t>Rare</a:t>
            </a:r>
            <a:endParaRPr lang="en-US" sz="900" dirty="0"/>
          </a:p>
        </p:txBody>
      </p:sp>
      <p:sp>
        <p:nvSpPr>
          <p:cNvPr id="42" name="Shape 40"/>
          <p:cNvSpPr/>
          <p:nvPr/>
        </p:nvSpPr>
        <p:spPr>
          <a:xfrm>
            <a:off x="4754880" y="3154680"/>
            <a:ext cx="3931920" cy="384048"/>
          </a:xfrm>
          <a:prstGeom prst="rect">
            <a:avLst/>
          </a:prstGeom>
          <a:solidFill>
            <a:srgbClr val="F8FAFC"/>
          </a:solidFill>
          <a:ln/>
        </p:spPr>
        <p:txBody>
          <a:bodyPr/>
          <a:lstStyle/>
          <a:p>
            <a:endParaRPr lang="en-US"/>
          </a:p>
        </p:txBody>
      </p:sp>
      <p:sp>
        <p:nvSpPr>
          <p:cNvPr id="43" name="Text 41"/>
          <p:cNvSpPr/>
          <p:nvPr/>
        </p:nvSpPr>
        <p:spPr>
          <a:xfrm>
            <a:off x="4800600" y="3182112"/>
            <a:ext cx="1828800" cy="347472"/>
          </a:xfrm>
          <a:prstGeom prst="rect">
            <a:avLst/>
          </a:prstGeom>
          <a:noFill/>
          <a:ln/>
        </p:spPr>
        <p:txBody>
          <a:bodyPr wrap="square" lIns="0" tIns="0" rIns="0" bIns="0" rtlCol="0" anchor="ctr"/>
          <a:lstStyle/>
          <a:p>
            <a:pPr marL="0" indent="0">
              <a:buNone/>
            </a:pPr>
            <a:r>
              <a:rPr lang="en-US" sz="900" dirty="0">
                <a:solidFill>
                  <a:srgbClr val="0F172A"/>
                </a:solidFill>
                <a:latin typeface="Calibri" pitchFamily="34" charset="0"/>
                <a:ea typeface="Calibri" pitchFamily="34" charset="-122"/>
                <a:cs typeface="Calibri" pitchFamily="34" charset="-120"/>
              </a:rPr>
              <a:t>📢 ALL CAPS text</a:t>
            </a:r>
            <a:endParaRPr lang="en-US" sz="900" dirty="0"/>
          </a:p>
        </p:txBody>
      </p:sp>
      <p:sp>
        <p:nvSpPr>
          <p:cNvPr id="44" name="Text 42"/>
          <p:cNvSpPr/>
          <p:nvPr/>
        </p:nvSpPr>
        <p:spPr>
          <a:xfrm>
            <a:off x="6583680" y="3182112"/>
            <a:ext cx="914400" cy="347472"/>
          </a:xfrm>
          <a:prstGeom prst="rect">
            <a:avLst/>
          </a:prstGeom>
          <a:noFill/>
          <a:ln/>
        </p:spPr>
        <p:txBody>
          <a:bodyPr wrap="square" lIns="0" tIns="0" rIns="0" bIns="0" rtlCol="0" anchor="ctr"/>
          <a:lstStyle/>
          <a:p>
            <a:pPr marL="0" indent="0" algn="ctr">
              <a:buNone/>
            </a:pPr>
            <a:r>
              <a:rPr lang="en-US" sz="900" dirty="0">
                <a:solidFill>
                  <a:srgbClr val="EF4444"/>
                </a:solidFill>
                <a:latin typeface="Calibri" pitchFamily="34" charset="0"/>
                <a:ea typeface="Calibri" pitchFamily="34" charset="-122"/>
                <a:cs typeface="Calibri" pitchFamily="34" charset="-120"/>
              </a:rPr>
              <a:t>Frequent</a:t>
            </a:r>
            <a:endParaRPr lang="en-US" sz="900" dirty="0"/>
          </a:p>
        </p:txBody>
      </p:sp>
      <p:sp>
        <p:nvSpPr>
          <p:cNvPr id="45" name="Text 43"/>
          <p:cNvSpPr/>
          <p:nvPr/>
        </p:nvSpPr>
        <p:spPr>
          <a:xfrm>
            <a:off x="7498080" y="3182112"/>
            <a:ext cx="1097280" cy="347472"/>
          </a:xfrm>
          <a:prstGeom prst="rect">
            <a:avLst/>
          </a:prstGeom>
          <a:noFill/>
          <a:ln/>
        </p:spPr>
        <p:txBody>
          <a:bodyPr wrap="square" lIns="0" tIns="0" rIns="0" bIns="0" rtlCol="0" anchor="ctr"/>
          <a:lstStyle/>
          <a:p>
            <a:pPr marL="0" indent="0" algn="ctr">
              <a:buNone/>
            </a:pPr>
            <a:r>
              <a:rPr lang="en-US" sz="900" dirty="0">
                <a:solidFill>
                  <a:srgbClr val="0D9488"/>
                </a:solidFill>
                <a:latin typeface="Calibri" pitchFamily="34" charset="0"/>
                <a:ea typeface="Calibri" pitchFamily="34" charset="-122"/>
                <a:cs typeface="Calibri" pitchFamily="34" charset="-120"/>
              </a:rPr>
              <a:t>Rare</a:t>
            </a:r>
            <a:endParaRPr lang="en-US" sz="900" dirty="0"/>
          </a:p>
        </p:txBody>
      </p:sp>
      <p:sp>
        <p:nvSpPr>
          <p:cNvPr id="46" name="Shape 44"/>
          <p:cNvSpPr/>
          <p:nvPr/>
        </p:nvSpPr>
        <p:spPr>
          <a:xfrm>
            <a:off x="4754880" y="3566160"/>
            <a:ext cx="3931920" cy="1005840"/>
          </a:xfrm>
          <a:prstGeom prst="rect">
            <a:avLst/>
          </a:prstGeom>
          <a:solidFill>
            <a:srgbClr val="EFF6FF"/>
          </a:solidFill>
          <a:ln/>
        </p:spPr>
        <p:txBody>
          <a:bodyPr/>
          <a:lstStyle/>
          <a:p>
            <a:endParaRPr lang="en-US"/>
          </a:p>
        </p:txBody>
      </p:sp>
      <p:sp>
        <p:nvSpPr>
          <p:cNvPr id="47" name="Text 45"/>
          <p:cNvSpPr/>
          <p:nvPr/>
        </p:nvSpPr>
        <p:spPr>
          <a:xfrm>
            <a:off x="4892040" y="3630168"/>
            <a:ext cx="3474720" cy="228600"/>
          </a:xfrm>
          <a:prstGeom prst="rect">
            <a:avLst/>
          </a:prstGeom>
          <a:noFill/>
          <a:ln/>
        </p:spPr>
        <p:txBody>
          <a:bodyPr wrap="square" lIns="0" tIns="0" rIns="0" bIns="0" rtlCol="0" anchor="ctr"/>
          <a:lstStyle/>
          <a:p>
            <a:pPr marL="0" indent="0">
              <a:buNone/>
            </a:pPr>
            <a:r>
              <a:rPr lang="en-US" sz="1000" b="1" dirty="0">
                <a:solidFill>
                  <a:srgbClr val="3B82F6"/>
                </a:solidFill>
                <a:latin typeface="Calibri" pitchFamily="34" charset="0"/>
                <a:ea typeface="Calibri" pitchFamily="34" charset="-122"/>
                <a:cs typeface="Calibri" pitchFamily="34" charset="-120"/>
              </a:rPr>
              <a:t>Outcome</a:t>
            </a:r>
            <a:endParaRPr lang="en-US" sz="1000" dirty="0"/>
          </a:p>
        </p:txBody>
      </p:sp>
      <p:sp>
        <p:nvSpPr>
          <p:cNvPr id="48" name="Text 46"/>
          <p:cNvSpPr/>
          <p:nvPr/>
        </p:nvSpPr>
        <p:spPr>
          <a:xfrm>
            <a:off x="4892040" y="3858768"/>
            <a:ext cx="3657600" cy="658368"/>
          </a:xfrm>
          <a:prstGeom prst="rect">
            <a:avLst/>
          </a:prstGeom>
          <a:noFill/>
          <a:ln/>
        </p:spPr>
        <p:txBody>
          <a:bodyPr wrap="square" lIns="0" tIns="0" rIns="0" bIns="0" rtlCol="0" anchor="ctr"/>
          <a:lstStyle/>
          <a:p>
            <a:pPr marL="0" indent="0">
              <a:buNone/>
            </a:pPr>
            <a:r>
              <a:rPr lang="en-US" sz="900" dirty="0">
                <a:solidFill>
                  <a:srgbClr val="0F172A"/>
                </a:solidFill>
                <a:latin typeface="Calibri" pitchFamily="34" charset="0"/>
                <a:ea typeface="Calibri" pitchFamily="34" charset="-122"/>
                <a:cs typeface="Calibri" pitchFamily="34" charset="-120"/>
              </a:rPr>
              <a:t>The model outputs SPAM or NOT SPAM — a binary classification. Multi-class variants can categorize as Promotions, Social, Updates, etc.</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9488"/>
          </a:solidFill>
          <a:ln/>
        </p:spPr>
        <p:txBody>
          <a:bodyPr/>
          <a:lstStyle/>
          <a:p>
            <a:endParaRPr lang="en-US"/>
          </a:p>
        </p:txBody>
      </p:sp>
      <p:sp>
        <p:nvSpPr>
          <p:cNvPr id="3" name="Text 1"/>
          <p:cNvSpPr/>
          <p:nvPr/>
        </p:nvSpPr>
        <p:spPr>
          <a:xfrm>
            <a:off x="365760" y="0"/>
            <a:ext cx="8229600" cy="82296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Unsupervised Learning</a:t>
            </a:r>
            <a:endParaRPr lang="en-US" sz="2400" dirty="0"/>
          </a:p>
        </p:txBody>
      </p:sp>
      <p:sp>
        <p:nvSpPr>
          <p:cNvPr id="4" name="Text 2"/>
          <p:cNvSpPr/>
          <p:nvPr/>
        </p:nvSpPr>
        <p:spPr>
          <a:xfrm>
            <a:off x="365760" y="868680"/>
            <a:ext cx="8229600" cy="32004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Finding hidden patterns in data with NO labels</a:t>
            </a:r>
            <a:endParaRPr lang="en-US" sz="1200" dirty="0"/>
          </a:p>
        </p:txBody>
      </p:sp>
      <p:sp>
        <p:nvSpPr>
          <p:cNvPr id="5" name="Shape 3"/>
          <p:cNvSpPr/>
          <p:nvPr/>
        </p:nvSpPr>
        <p:spPr>
          <a:xfrm>
            <a:off x="274320" y="1325880"/>
            <a:ext cx="4114800" cy="1645920"/>
          </a:xfrm>
          <a:prstGeom prst="rect">
            <a:avLst/>
          </a:prstGeom>
          <a:solidFill>
            <a:srgbClr val="1E293B"/>
          </a:solidFill>
          <a:ln/>
          <a:effectLst>
            <a:outerShdw blurRad="101600" dist="38100" dir="8100000" algn="bl" rotWithShape="0">
              <a:srgbClr val="000000">
                <a:alpha val="20000"/>
              </a:srgbClr>
            </a:outerShdw>
          </a:effectLst>
        </p:spPr>
        <p:txBody>
          <a:bodyPr/>
          <a:lstStyle/>
          <a:p>
            <a:endParaRPr lang="en-US"/>
          </a:p>
        </p:txBody>
      </p:sp>
      <p:sp>
        <p:nvSpPr>
          <p:cNvPr id="6" name="Shape 4"/>
          <p:cNvSpPr/>
          <p:nvPr/>
        </p:nvSpPr>
        <p:spPr>
          <a:xfrm>
            <a:off x="274320" y="1325880"/>
            <a:ext cx="64008" cy="1645920"/>
          </a:xfrm>
          <a:prstGeom prst="rect">
            <a:avLst/>
          </a:prstGeom>
          <a:solidFill>
            <a:srgbClr val="0D9488"/>
          </a:solidFill>
          <a:ln/>
        </p:spPr>
        <p:txBody>
          <a:bodyPr/>
          <a:lstStyle/>
          <a:p>
            <a:endParaRPr lang="en-US"/>
          </a:p>
        </p:txBody>
      </p:sp>
      <p:sp>
        <p:nvSpPr>
          <p:cNvPr id="7" name="Text 5"/>
          <p:cNvSpPr/>
          <p:nvPr/>
        </p:nvSpPr>
        <p:spPr>
          <a:xfrm>
            <a:off x="438912" y="1435608"/>
            <a:ext cx="3749040" cy="457200"/>
          </a:xfrm>
          <a:prstGeom prst="rect">
            <a:avLst/>
          </a:prstGeom>
          <a:noFill/>
          <a:ln/>
        </p:spPr>
        <p:txBody>
          <a:bodyPr wrap="square" lIns="0" tIns="0" rIns="0" bIns="0"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  Clustering</a:t>
            </a:r>
            <a:endParaRPr lang="en-US" sz="1400" dirty="0"/>
          </a:p>
        </p:txBody>
      </p:sp>
      <p:sp>
        <p:nvSpPr>
          <p:cNvPr id="8" name="Text 6"/>
          <p:cNvSpPr/>
          <p:nvPr/>
        </p:nvSpPr>
        <p:spPr>
          <a:xfrm>
            <a:off x="438912" y="1920240"/>
            <a:ext cx="3749040" cy="502920"/>
          </a:xfrm>
          <a:prstGeom prst="rect">
            <a:avLst/>
          </a:prstGeom>
          <a:noFill/>
          <a:ln/>
        </p:spPr>
        <p:txBody>
          <a:bodyPr wrap="square" lIns="0" tIns="0" rIns="0" bIns="0" rtlCol="0" anchor="ctr"/>
          <a:lstStyle/>
          <a:p>
            <a:pPr marL="0" indent="0">
              <a:buNone/>
            </a:pPr>
            <a:r>
              <a:rPr lang="en-US" sz="950" dirty="0">
                <a:solidFill>
                  <a:srgbClr val="F8FAFC"/>
                </a:solidFill>
                <a:latin typeface="Calibri" pitchFamily="34" charset="0"/>
                <a:ea typeface="Calibri" pitchFamily="34" charset="-122"/>
                <a:cs typeface="Calibri" pitchFamily="34" charset="-120"/>
              </a:rPr>
              <a:t>Groups similar data points together based on inherent similarity.</a:t>
            </a:r>
            <a:endParaRPr lang="en-US" sz="950" dirty="0"/>
          </a:p>
        </p:txBody>
      </p:sp>
      <p:sp>
        <p:nvSpPr>
          <p:cNvPr id="9" name="Text 7"/>
          <p:cNvSpPr/>
          <p:nvPr/>
        </p:nvSpPr>
        <p:spPr>
          <a:xfrm>
            <a:off x="438912" y="2560320"/>
            <a:ext cx="3749040" cy="274320"/>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Algorithms: K-Means, DBSCAN, Hierarchical, GMM</a:t>
            </a:r>
            <a:endParaRPr lang="en-US" sz="850" dirty="0"/>
          </a:p>
        </p:txBody>
      </p:sp>
      <p:sp>
        <p:nvSpPr>
          <p:cNvPr id="10" name="Shape 8"/>
          <p:cNvSpPr/>
          <p:nvPr/>
        </p:nvSpPr>
        <p:spPr>
          <a:xfrm>
            <a:off x="4754880" y="1325880"/>
            <a:ext cx="4114800" cy="1645920"/>
          </a:xfrm>
          <a:prstGeom prst="rect">
            <a:avLst/>
          </a:prstGeom>
          <a:solidFill>
            <a:srgbClr val="1E293B"/>
          </a:solidFill>
          <a:ln/>
          <a:effectLst>
            <a:outerShdw blurRad="101600" dist="38100" dir="8100000" algn="bl" rotWithShape="0">
              <a:srgbClr val="000000">
                <a:alpha val="20000"/>
              </a:srgbClr>
            </a:outerShdw>
          </a:effectLst>
        </p:spPr>
        <p:txBody>
          <a:bodyPr/>
          <a:lstStyle/>
          <a:p>
            <a:endParaRPr lang="en-US"/>
          </a:p>
        </p:txBody>
      </p:sp>
      <p:sp>
        <p:nvSpPr>
          <p:cNvPr id="11" name="Shape 9"/>
          <p:cNvSpPr/>
          <p:nvPr/>
        </p:nvSpPr>
        <p:spPr>
          <a:xfrm>
            <a:off x="4754880" y="1325880"/>
            <a:ext cx="64008" cy="1645920"/>
          </a:xfrm>
          <a:prstGeom prst="rect">
            <a:avLst/>
          </a:prstGeom>
          <a:solidFill>
            <a:srgbClr val="3B82F6"/>
          </a:solidFill>
          <a:ln/>
        </p:spPr>
        <p:txBody>
          <a:bodyPr/>
          <a:lstStyle/>
          <a:p>
            <a:endParaRPr lang="en-US"/>
          </a:p>
        </p:txBody>
      </p:sp>
      <p:sp>
        <p:nvSpPr>
          <p:cNvPr id="12" name="Text 10"/>
          <p:cNvSpPr/>
          <p:nvPr/>
        </p:nvSpPr>
        <p:spPr>
          <a:xfrm>
            <a:off x="4919472" y="1435608"/>
            <a:ext cx="3749040" cy="457200"/>
          </a:xfrm>
          <a:prstGeom prst="rect">
            <a:avLst/>
          </a:prstGeom>
          <a:noFill/>
          <a:ln/>
        </p:spPr>
        <p:txBody>
          <a:bodyPr wrap="square" lIns="0" tIns="0" rIns="0" bIns="0" rtlCol="0" anchor="ctr"/>
          <a:lstStyle/>
          <a:p>
            <a:pPr marL="0" indent="0">
              <a:buNone/>
            </a:pPr>
            <a:r>
              <a:rPr lang="en-US" sz="1400" b="1" dirty="0">
                <a:solidFill>
                  <a:srgbClr val="3B82F6"/>
                </a:solidFill>
                <a:latin typeface="Calibri" pitchFamily="34" charset="0"/>
                <a:ea typeface="Calibri" pitchFamily="34" charset="-122"/>
                <a:cs typeface="Calibri" pitchFamily="34" charset="-120"/>
              </a:rPr>
              <a:t>⬇️  Dimensionality</a:t>
            </a:r>
            <a:endParaRPr lang="en-US" sz="1400" dirty="0"/>
          </a:p>
          <a:p>
            <a:pPr marL="0" indent="0">
              <a:buNone/>
            </a:pPr>
            <a:r>
              <a:rPr lang="en-US" sz="1400" b="1" dirty="0">
                <a:solidFill>
                  <a:srgbClr val="3B82F6"/>
                </a:solidFill>
                <a:latin typeface="Calibri" pitchFamily="34" charset="0"/>
                <a:ea typeface="Calibri" pitchFamily="34" charset="-122"/>
                <a:cs typeface="Calibri" pitchFamily="34" charset="-120"/>
              </a:rPr>
              <a:t>Reduction</a:t>
            </a:r>
            <a:endParaRPr lang="en-US" sz="1400" dirty="0"/>
          </a:p>
        </p:txBody>
      </p:sp>
      <p:sp>
        <p:nvSpPr>
          <p:cNvPr id="13" name="Text 11"/>
          <p:cNvSpPr/>
          <p:nvPr/>
        </p:nvSpPr>
        <p:spPr>
          <a:xfrm>
            <a:off x="4919472" y="1920240"/>
            <a:ext cx="3749040" cy="502920"/>
          </a:xfrm>
          <a:prstGeom prst="rect">
            <a:avLst/>
          </a:prstGeom>
          <a:noFill/>
          <a:ln/>
        </p:spPr>
        <p:txBody>
          <a:bodyPr wrap="square" lIns="0" tIns="0" rIns="0" bIns="0" rtlCol="0" anchor="ctr"/>
          <a:lstStyle/>
          <a:p>
            <a:pPr marL="0" indent="0">
              <a:buNone/>
            </a:pPr>
            <a:r>
              <a:rPr lang="en-US" sz="950" dirty="0">
                <a:solidFill>
                  <a:srgbClr val="F8FAFC"/>
                </a:solidFill>
                <a:latin typeface="Calibri" pitchFamily="34" charset="0"/>
                <a:ea typeface="Calibri" pitchFamily="34" charset="-122"/>
                <a:cs typeface="Calibri" pitchFamily="34" charset="-120"/>
              </a:rPr>
              <a:t>Reduces the number of features while preserving important information.</a:t>
            </a:r>
            <a:endParaRPr lang="en-US" sz="950" dirty="0"/>
          </a:p>
        </p:txBody>
      </p:sp>
      <p:sp>
        <p:nvSpPr>
          <p:cNvPr id="14" name="Text 12"/>
          <p:cNvSpPr/>
          <p:nvPr/>
        </p:nvSpPr>
        <p:spPr>
          <a:xfrm>
            <a:off x="4919472" y="2560320"/>
            <a:ext cx="3749040" cy="274320"/>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Algorithms: PCA, t-SNE, LDA, Autoencoders</a:t>
            </a:r>
            <a:endParaRPr lang="en-US" sz="850" dirty="0"/>
          </a:p>
        </p:txBody>
      </p:sp>
      <p:sp>
        <p:nvSpPr>
          <p:cNvPr id="15" name="Shape 13"/>
          <p:cNvSpPr/>
          <p:nvPr/>
        </p:nvSpPr>
        <p:spPr>
          <a:xfrm>
            <a:off x="274320" y="3154680"/>
            <a:ext cx="4114800" cy="1645920"/>
          </a:xfrm>
          <a:prstGeom prst="rect">
            <a:avLst/>
          </a:prstGeom>
          <a:solidFill>
            <a:srgbClr val="1E293B"/>
          </a:solidFill>
          <a:ln/>
          <a:effectLst>
            <a:outerShdw blurRad="101600" dist="38100" dir="8100000" algn="bl" rotWithShape="0">
              <a:srgbClr val="000000">
                <a:alpha val="20000"/>
              </a:srgbClr>
            </a:outerShdw>
          </a:effectLst>
        </p:spPr>
        <p:txBody>
          <a:bodyPr/>
          <a:lstStyle/>
          <a:p>
            <a:endParaRPr lang="en-US"/>
          </a:p>
        </p:txBody>
      </p:sp>
      <p:sp>
        <p:nvSpPr>
          <p:cNvPr id="16" name="Shape 14"/>
          <p:cNvSpPr/>
          <p:nvPr/>
        </p:nvSpPr>
        <p:spPr>
          <a:xfrm>
            <a:off x="274320" y="3154680"/>
            <a:ext cx="64008" cy="1645920"/>
          </a:xfrm>
          <a:prstGeom prst="rect">
            <a:avLst/>
          </a:prstGeom>
          <a:solidFill>
            <a:srgbClr val="EF4444"/>
          </a:solidFill>
          <a:ln/>
        </p:spPr>
        <p:txBody>
          <a:bodyPr/>
          <a:lstStyle/>
          <a:p>
            <a:endParaRPr lang="en-US"/>
          </a:p>
        </p:txBody>
      </p:sp>
      <p:sp>
        <p:nvSpPr>
          <p:cNvPr id="17" name="Text 15"/>
          <p:cNvSpPr/>
          <p:nvPr/>
        </p:nvSpPr>
        <p:spPr>
          <a:xfrm>
            <a:off x="438912" y="3264408"/>
            <a:ext cx="3749040" cy="457200"/>
          </a:xfrm>
          <a:prstGeom prst="rect">
            <a:avLst/>
          </a:prstGeom>
          <a:noFill/>
          <a:ln/>
        </p:spPr>
        <p:txBody>
          <a:bodyPr wrap="square" lIns="0" tIns="0" rIns="0" bIns="0" rtlCol="0" anchor="ctr"/>
          <a:lstStyle/>
          <a:p>
            <a:pPr marL="0" indent="0">
              <a:buNone/>
            </a:pPr>
            <a:r>
              <a:rPr lang="en-US" sz="1400" b="1" dirty="0">
                <a:solidFill>
                  <a:srgbClr val="EF4444"/>
                </a:solidFill>
                <a:latin typeface="Calibri" pitchFamily="34" charset="0"/>
                <a:ea typeface="Calibri" pitchFamily="34" charset="-122"/>
                <a:cs typeface="Calibri" pitchFamily="34" charset="-120"/>
              </a:rPr>
              <a:t>🚨  Anomaly</a:t>
            </a:r>
            <a:endParaRPr lang="en-US" sz="1400" dirty="0"/>
          </a:p>
          <a:p>
            <a:pPr marL="0" indent="0">
              <a:buNone/>
            </a:pPr>
            <a:r>
              <a:rPr lang="en-US" sz="1400" b="1" dirty="0">
                <a:solidFill>
                  <a:srgbClr val="EF4444"/>
                </a:solidFill>
                <a:latin typeface="Calibri" pitchFamily="34" charset="0"/>
                <a:ea typeface="Calibri" pitchFamily="34" charset="-122"/>
                <a:cs typeface="Calibri" pitchFamily="34" charset="-120"/>
              </a:rPr>
              <a:t>Detection</a:t>
            </a:r>
            <a:endParaRPr lang="en-US" sz="1400" dirty="0"/>
          </a:p>
        </p:txBody>
      </p:sp>
      <p:sp>
        <p:nvSpPr>
          <p:cNvPr id="18" name="Text 16"/>
          <p:cNvSpPr/>
          <p:nvPr/>
        </p:nvSpPr>
        <p:spPr>
          <a:xfrm>
            <a:off x="438912" y="3749040"/>
            <a:ext cx="3749040" cy="502920"/>
          </a:xfrm>
          <a:prstGeom prst="rect">
            <a:avLst/>
          </a:prstGeom>
          <a:noFill/>
          <a:ln/>
        </p:spPr>
        <p:txBody>
          <a:bodyPr wrap="square" lIns="0" tIns="0" rIns="0" bIns="0" rtlCol="0" anchor="ctr"/>
          <a:lstStyle/>
          <a:p>
            <a:pPr marL="0" indent="0">
              <a:buNone/>
            </a:pPr>
            <a:r>
              <a:rPr lang="en-US" sz="950" dirty="0">
                <a:solidFill>
                  <a:srgbClr val="F8FAFC"/>
                </a:solidFill>
                <a:latin typeface="Calibri" pitchFamily="34" charset="0"/>
                <a:ea typeface="Calibri" pitchFamily="34" charset="-122"/>
                <a:cs typeface="Calibri" pitchFamily="34" charset="-120"/>
              </a:rPr>
              <a:t>Identifies data points that deviate significantly from normal patterns.</a:t>
            </a:r>
            <a:endParaRPr lang="en-US" sz="950" dirty="0"/>
          </a:p>
        </p:txBody>
      </p:sp>
      <p:sp>
        <p:nvSpPr>
          <p:cNvPr id="19" name="Text 17"/>
          <p:cNvSpPr/>
          <p:nvPr/>
        </p:nvSpPr>
        <p:spPr>
          <a:xfrm>
            <a:off x="438912" y="4389120"/>
            <a:ext cx="3749040" cy="274320"/>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Algorithms: Isolation Forest, One-Class SVM, LOF</a:t>
            </a:r>
            <a:endParaRPr lang="en-US" sz="850" dirty="0"/>
          </a:p>
        </p:txBody>
      </p:sp>
      <p:sp>
        <p:nvSpPr>
          <p:cNvPr id="20" name="Shape 18"/>
          <p:cNvSpPr/>
          <p:nvPr/>
        </p:nvSpPr>
        <p:spPr>
          <a:xfrm>
            <a:off x="4754880" y="3154680"/>
            <a:ext cx="4114800" cy="1645920"/>
          </a:xfrm>
          <a:prstGeom prst="rect">
            <a:avLst/>
          </a:prstGeom>
          <a:solidFill>
            <a:srgbClr val="1E293B"/>
          </a:solidFill>
          <a:ln/>
          <a:effectLst>
            <a:outerShdw blurRad="101600" dist="38100" dir="8100000" algn="bl" rotWithShape="0">
              <a:srgbClr val="000000">
                <a:alpha val="20000"/>
              </a:srgbClr>
            </a:outerShdw>
          </a:effectLst>
        </p:spPr>
        <p:txBody>
          <a:bodyPr/>
          <a:lstStyle/>
          <a:p>
            <a:endParaRPr lang="en-US"/>
          </a:p>
        </p:txBody>
      </p:sp>
      <p:sp>
        <p:nvSpPr>
          <p:cNvPr id="21" name="Shape 19"/>
          <p:cNvSpPr/>
          <p:nvPr/>
        </p:nvSpPr>
        <p:spPr>
          <a:xfrm>
            <a:off x="4754880" y="3154680"/>
            <a:ext cx="64008" cy="1645920"/>
          </a:xfrm>
          <a:prstGeom prst="rect">
            <a:avLst/>
          </a:prstGeom>
          <a:solidFill>
            <a:srgbClr val="F59E0B"/>
          </a:solidFill>
          <a:ln/>
        </p:spPr>
        <p:txBody>
          <a:bodyPr/>
          <a:lstStyle/>
          <a:p>
            <a:endParaRPr lang="en-US"/>
          </a:p>
        </p:txBody>
      </p:sp>
      <p:sp>
        <p:nvSpPr>
          <p:cNvPr id="22" name="Text 20"/>
          <p:cNvSpPr/>
          <p:nvPr/>
        </p:nvSpPr>
        <p:spPr>
          <a:xfrm>
            <a:off x="4919472" y="3264408"/>
            <a:ext cx="3749040" cy="457200"/>
          </a:xfrm>
          <a:prstGeom prst="rect">
            <a:avLst/>
          </a:prstGeom>
          <a:noFill/>
          <a:ln/>
        </p:spPr>
        <p:txBody>
          <a:bodyPr wrap="square" lIns="0" tIns="0" rIns="0" bIns="0"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  Association</a:t>
            </a:r>
            <a:endParaRPr lang="en-US" sz="1400" dirty="0"/>
          </a:p>
          <a:p>
            <a:pPr marL="0" indent="0">
              <a:buNone/>
            </a:pPr>
            <a:r>
              <a:rPr lang="en-US" sz="1400" b="1" dirty="0">
                <a:solidFill>
                  <a:srgbClr val="F59E0B"/>
                </a:solidFill>
                <a:latin typeface="Calibri" pitchFamily="34" charset="0"/>
                <a:ea typeface="Calibri" pitchFamily="34" charset="-122"/>
                <a:cs typeface="Calibri" pitchFamily="34" charset="-120"/>
              </a:rPr>
              <a:t>Rule Learning</a:t>
            </a:r>
            <a:endParaRPr lang="en-US" sz="1400" dirty="0"/>
          </a:p>
        </p:txBody>
      </p:sp>
      <p:sp>
        <p:nvSpPr>
          <p:cNvPr id="23" name="Text 21"/>
          <p:cNvSpPr/>
          <p:nvPr/>
        </p:nvSpPr>
        <p:spPr>
          <a:xfrm>
            <a:off x="4919472" y="3749040"/>
            <a:ext cx="3749040" cy="502920"/>
          </a:xfrm>
          <a:prstGeom prst="rect">
            <a:avLst/>
          </a:prstGeom>
          <a:noFill/>
          <a:ln/>
        </p:spPr>
        <p:txBody>
          <a:bodyPr wrap="square" lIns="0" tIns="0" rIns="0" bIns="0" rtlCol="0" anchor="ctr"/>
          <a:lstStyle/>
          <a:p>
            <a:pPr marL="0" indent="0">
              <a:buNone/>
            </a:pPr>
            <a:r>
              <a:rPr lang="en-US" sz="950" dirty="0">
                <a:solidFill>
                  <a:srgbClr val="F8FAFC"/>
                </a:solidFill>
                <a:latin typeface="Calibri" pitchFamily="34" charset="0"/>
                <a:ea typeface="Calibri" pitchFamily="34" charset="-122"/>
                <a:cs typeface="Calibri" pitchFamily="34" charset="-120"/>
              </a:rPr>
              <a:t>Discovers interesting relationships and co-occurrence rules in large datasets.</a:t>
            </a:r>
            <a:endParaRPr lang="en-US" sz="950" dirty="0"/>
          </a:p>
        </p:txBody>
      </p:sp>
      <p:sp>
        <p:nvSpPr>
          <p:cNvPr id="24" name="Text 22"/>
          <p:cNvSpPr/>
          <p:nvPr/>
        </p:nvSpPr>
        <p:spPr>
          <a:xfrm>
            <a:off x="4919472" y="4389120"/>
            <a:ext cx="3749040" cy="274320"/>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Algorithms: Apriori, FP-Growth, Eclat</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9488"/>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Clustering: Customer Segmentation (K-Means)</a:t>
            </a:r>
            <a:endParaRPr lang="en-US" sz="1900" dirty="0"/>
          </a:p>
        </p:txBody>
      </p:sp>
      <p:sp>
        <p:nvSpPr>
          <p:cNvPr id="4" name="Shape 2"/>
          <p:cNvSpPr/>
          <p:nvPr/>
        </p:nvSpPr>
        <p:spPr>
          <a:xfrm>
            <a:off x="274320" y="914400"/>
            <a:ext cx="3474720" cy="3931920"/>
          </a:xfrm>
          <a:prstGeom prst="rect">
            <a:avLst/>
          </a:prstGeom>
          <a:solidFill>
            <a:srgbClr val="FFFFFF"/>
          </a:solidFill>
          <a:ln/>
          <a:effectLst>
            <a:outerShdw blurRad="101600" dist="38100" dir="8100000" algn="bl" rotWithShape="0">
              <a:srgbClr val="000000">
                <a:alpha val="20000"/>
              </a:srgbClr>
            </a:outerShdw>
          </a:effectLst>
        </p:spPr>
        <p:txBody>
          <a:bodyPr/>
          <a:lstStyle/>
          <a:p>
            <a:endParaRPr lang="en-US"/>
          </a:p>
        </p:txBody>
      </p:sp>
      <p:sp>
        <p:nvSpPr>
          <p:cNvPr id="5" name="Text 3"/>
          <p:cNvSpPr/>
          <p:nvPr/>
        </p:nvSpPr>
        <p:spPr>
          <a:xfrm>
            <a:off x="457200" y="1005840"/>
            <a:ext cx="3108960" cy="27432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K-Means Algorithm</a:t>
            </a:r>
            <a:endParaRPr lang="en-US" sz="1300" dirty="0"/>
          </a:p>
        </p:txBody>
      </p:sp>
      <p:sp>
        <p:nvSpPr>
          <p:cNvPr id="6" name="Shape 4"/>
          <p:cNvSpPr/>
          <p:nvPr/>
        </p:nvSpPr>
        <p:spPr>
          <a:xfrm>
            <a:off x="411480" y="1371600"/>
            <a:ext cx="256032" cy="256032"/>
          </a:xfrm>
          <a:prstGeom prst="ellipse">
            <a:avLst/>
          </a:prstGeom>
          <a:solidFill>
            <a:srgbClr val="0D9488"/>
          </a:solidFill>
          <a:ln/>
        </p:spPr>
        <p:txBody>
          <a:bodyPr/>
          <a:lstStyle/>
          <a:p>
            <a:endParaRPr lang="en-US"/>
          </a:p>
        </p:txBody>
      </p:sp>
      <p:sp>
        <p:nvSpPr>
          <p:cNvPr id="7" name="Text 5"/>
          <p:cNvSpPr/>
          <p:nvPr/>
        </p:nvSpPr>
        <p:spPr>
          <a:xfrm>
            <a:off x="411480" y="137160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8" name="Text 6"/>
          <p:cNvSpPr/>
          <p:nvPr/>
        </p:nvSpPr>
        <p:spPr>
          <a:xfrm>
            <a:off x="777240" y="1353312"/>
            <a:ext cx="2834640" cy="182880"/>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Choose K clusters</a:t>
            </a:r>
            <a:endParaRPr lang="en-US" sz="1000" dirty="0"/>
          </a:p>
        </p:txBody>
      </p:sp>
      <p:sp>
        <p:nvSpPr>
          <p:cNvPr id="9" name="Text 7"/>
          <p:cNvSpPr/>
          <p:nvPr/>
        </p:nvSpPr>
        <p:spPr>
          <a:xfrm>
            <a:off x="777240" y="1527048"/>
            <a:ext cx="2834640" cy="182880"/>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Select K=3 (Budget, Mid, Premium)</a:t>
            </a:r>
            <a:endParaRPr lang="en-US" sz="850" dirty="0"/>
          </a:p>
        </p:txBody>
      </p:sp>
      <p:sp>
        <p:nvSpPr>
          <p:cNvPr id="10" name="Shape 8"/>
          <p:cNvSpPr/>
          <p:nvPr/>
        </p:nvSpPr>
        <p:spPr>
          <a:xfrm>
            <a:off x="411480" y="1920240"/>
            <a:ext cx="256032" cy="256032"/>
          </a:xfrm>
          <a:prstGeom prst="ellipse">
            <a:avLst/>
          </a:prstGeom>
          <a:solidFill>
            <a:srgbClr val="0D9488"/>
          </a:solidFill>
          <a:ln/>
        </p:spPr>
        <p:txBody>
          <a:bodyPr/>
          <a:lstStyle/>
          <a:p>
            <a:endParaRPr lang="en-US"/>
          </a:p>
        </p:txBody>
      </p:sp>
      <p:sp>
        <p:nvSpPr>
          <p:cNvPr id="11" name="Text 9"/>
          <p:cNvSpPr/>
          <p:nvPr/>
        </p:nvSpPr>
        <p:spPr>
          <a:xfrm>
            <a:off x="411480" y="192024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2" name="Text 10"/>
          <p:cNvSpPr/>
          <p:nvPr/>
        </p:nvSpPr>
        <p:spPr>
          <a:xfrm>
            <a:off x="777240" y="1901952"/>
            <a:ext cx="2834640" cy="182880"/>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Initialize centroids</a:t>
            </a:r>
            <a:endParaRPr lang="en-US" sz="1000" dirty="0"/>
          </a:p>
        </p:txBody>
      </p:sp>
      <p:sp>
        <p:nvSpPr>
          <p:cNvPr id="13" name="Text 11"/>
          <p:cNvSpPr/>
          <p:nvPr/>
        </p:nvSpPr>
        <p:spPr>
          <a:xfrm>
            <a:off x="777240" y="2075688"/>
            <a:ext cx="2834640" cy="182880"/>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Randomly place 3 center points</a:t>
            </a:r>
            <a:endParaRPr lang="en-US" sz="850" dirty="0"/>
          </a:p>
        </p:txBody>
      </p:sp>
      <p:sp>
        <p:nvSpPr>
          <p:cNvPr id="14" name="Shape 12"/>
          <p:cNvSpPr/>
          <p:nvPr/>
        </p:nvSpPr>
        <p:spPr>
          <a:xfrm>
            <a:off x="411480" y="2468880"/>
            <a:ext cx="256032" cy="256032"/>
          </a:xfrm>
          <a:prstGeom prst="ellipse">
            <a:avLst/>
          </a:prstGeom>
          <a:solidFill>
            <a:srgbClr val="0D9488"/>
          </a:solidFill>
          <a:ln/>
        </p:spPr>
        <p:txBody>
          <a:bodyPr/>
          <a:lstStyle/>
          <a:p>
            <a:endParaRPr lang="en-US"/>
          </a:p>
        </p:txBody>
      </p:sp>
      <p:sp>
        <p:nvSpPr>
          <p:cNvPr id="15" name="Text 13"/>
          <p:cNvSpPr/>
          <p:nvPr/>
        </p:nvSpPr>
        <p:spPr>
          <a:xfrm>
            <a:off x="411480" y="246888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6" name="Text 14"/>
          <p:cNvSpPr/>
          <p:nvPr/>
        </p:nvSpPr>
        <p:spPr>
          <a:xfrm>
            <a:off x="777240" y="2450592"/>
            <a:ext cx="2834640" cy="182880"/>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Assign points</a:t>
            </a:r>
            <a:endParaRPr lang="en-US" sz="1000" dirty="0"/>
          </a:p>
        </p:txBody>
      </p:sp>
      <p:sp>
        <p:nvSpPr>
          <p:cNvPr id="17" name="Text 15"/>
          <p:cNvSpPr/>
          <p:nvPr/>
        </p:nvSpPr>
        <p:spPr>
          <a:xfrm>
            <a:off x="777240" y="2624328"/>
            <a:ext cx="2834640" cy="182880"/>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Each customer → nearest centroid</a:t>
            </a:r>
            <a:endParaRPr lang="en-US" sz="850" dirty="0"/>
          </a:p>
        </p:txBody>
      </p:sp>
      <p:sp>
        <p:nvSpPr>
          <p:cNvPr id="18" name="Shape 16"/>
          <p:cNvSpPr/>
          <p:nvPr/>
        </p:nvSpPr>
        <p:spPr>
          <a:xfrm>
            <a:off x="411480" y="3017520"/>
            <a:ext cx="256032" cy="256032"/>
          </a:xfrm>
          <a:prstGeom prst="ellipse">
            <a:avLst/>
          </a:prstGeom>
          <a:solidFill>
            <a:srgbClr val="0D9488"/>
          </a:solidFill>
          <a:ln/>
        </p:spPr>
        <p:txBody>
          <a:bodyPr/>
          <a:lstStyle/>
          <a:p>
            <a:endParaRPr lang="en-US"/>
          </a:p>
        </p:txBody>
      </p:sp>
      <p:sp>
        <p:nvSpPr>
          <p:cNvPr id="19" name="Text 17"/>
          <p:cNvSpPr/>
          <p:nvPr/>
        </p:nvSpPr>
        <p:spPr>
          <a:xfrm>
            <a:off x="411480" y="301752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Text 18"/>
          <p:cNvSpPr/>
          <p:nvPr/>
        </p:nvSpPr>
        <p:spPr>
          <a:xfrm>
            <a:off x="777240" y="2999232"/>
            <a:ext cx="2834640" cy="182880"/>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Update centroids</a:t>
            </a:r>
            <a:endParaRPr lang="en-US" sz="1000" dirty="0"/>
          </a:p>
        </p:txBody>
      </p:sp>
      <p:sp>
        <p:nvSpPr>
          <p:cNvPr id="21" name="Text 19"/>
          <p:cNvSpPr/>
          <p:nvPr/>
        </p:nvSpPr>
        <p:spPr>
          <a:xfrm>
            <a:off x="777240" y="3172968"/>
            <a:ext cx="2834640" cy="182880"/>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Recalculate center of each cluster</a:t>
            </a:r>
            <a:endParaRPr lang="en-US" sz="850" dirty="0"/>
          </a:p>
        </p:txBody>
      </p:sp>
      <p:sp>
        <p:nvSpPr>
          <p:cNvPr id="22" name="Shape 20"/>
          <p:cNvSpPr/>
          <p:nvPr/>
        </p:nvSpPr>
        <p:spPr>
          <a:xfrm>
            <a:off x="411480" y="3566160"/>
            <a:ext cx="256032" cy="256032"/>
          </a:xfrm>
          <a:prstGeom prst="ellipse">
            <a:avLst/>
          </a:prstGeom>
          <a:solidFill>
            <a:srgbClr val="0D9488"/>
          </a:solidFill>
          <a:ln/>
        </p:spPr>
        <p:txBody>
          <a:bodyPr/>
          <a:lstStyle/>
          <a:p>
            <a:endParaRPr lang="en-US"/>
          </a:p>
        </p:txBody>
      </p:sp>
      <p:sp>
        <p:nvSpPr>
          <p:cNvPr id="23" name="Text 21"/>
          <p:cNvSpPr/>
          <p:nvPr/>
        </p:nvSpPr>
        <p:spPr>
          <a:xfrm>
            <a:off x="411480" y="356616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4" name="Text 22"/>
          <p:cNvSpPr/>
          <p:nvPr/>
        </p:nvSpPr>
        <p:spPr>
          <a:xfrm>
            <a:off x="777240" y="3547872"/>
            <a:ext cx="2834640" cy="182880"/>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Repeat until converged</a:t>
            </a:r>
            <a:endParaRPr lang="en-US" sz="1000" dirty="0"/>
          </a:p>
        </p:txBody>
      </p:sp>
      <p:sp>
        <p:nvSpPr>
          <p:cNvPr id="25" name="Text 23"/>
          <p:cNvSpPr/>
          <p:nvPr/>
        </p:nvSpPr>
        <p:spPr>
          <a:xfrm>
            <a:off x="777240" y="3721608"/>
            <a:ext cx="2834640" cy="182880"/>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Stop when clusters don't change</a:t>
            </a:r>
            <a:endParaRPr lang="en-US" sz="850" dirty="0"/>
          </a:p>
        </p:txBody>
      </p:sp>
      <p:sp>
        <p:nvSpPr>
          <p:cNvPr id="26" name="Shape 24"/>
          <p:cNvSpPr/>
          <p:nvPr/>
        </p:nvSpPr>
        <p:spPr>
          <a:xfrm>
            <a:off x="457200" y="4160520"/>
            <a:ext cx="3108960" cy="502920"/>
          </a:xfrm>
          <a:prstGeom prst="rect">
            <a:avLst/>
          </a:prstGeom>
          <a:solidFill>
            <a:srgbClr val="ECFDF5"/>
          </a:solidFill>
          <a:ln/>
        </p:spPr>
        <p:txBody>
          <a:bodyPr/>
          <a:lstStyle/>
          <a:p>
            <a:endParaRPr lang="en-US"/>
          </a:p>
        </p:txBody>
      </p:sp>
      <p:sp>
        <p:nvSpPr>
          <p:cNvPr id="27" name="Text 25"/>
          <p:cNvSpPr/>
          <p:nvPr/>
        </p:nvSpPr>
        <p:spPr>
          <a:xfrm>
            <a:off x="502920" y="4187952"/>
            <a:ext cx="3017520" cy="457200"/>
          </a:xfrm>
          <a:prstGeom prst="rect">
            <a:avLst/>
          </a:prstGeom>
          <a:noFill/>
          <a:ln/>
        </p:spPr>
        <p:txBody>
          <a:bodyPr wrap="square" lIns="0" tIns="0" rIns="0" bIns="0" rtlCol="0" anchor="ctr"/>
          <a:lstStyle/>
          <a:p>
            <a:pPr marL="0" indent="0">
              <a:buNone/>
            </a:pPr>
            <a:r>
              <a:rPr lang="en-US" sz="900" dirty="0">
                <a:solidFill>
                  <a:srgbClr val="0D9488"/>
                </a:solidFill>
                <a:latin typeface="Calibri" pitchFamily="34" charset="0"/>
                <a:ea typeface="Calibri" pitchFamily="34" charset="-122"/>
                <a:cs typeface="Calibri" pitchFamily="34" charset="-120"/>
              </a:rPr>
              <a:t>Result: 3 customer segments for targeted marketing campaigns</a:t>
            </a:r>
            <a:endParaRPr lang="en-US" sz="900" dirty="0"/>
          </a:p>
        </p:txBody>
      </p:sp>
      <p:sp>
        <p:nvSpPr>
          <p:cNvPr id="28" name="Shape 26"/>
          <p:cNvSpPr/>
          <p:nvPr/>
        </p:nvSpPr>
        <p:spPr>
          <a:xfrm>
            <a:off x="4023359" y="901788"/>
            <a:ext cx="4981903" cy="3931920"/>
          </a:xfrm>
          <a:prstGeom prst="rect">
            <a:avLst/>
          </a:prstGeom>
          <a:solidFill>
            <a:srgbClr val="FFFFFF"/>
          </a:solidFill>
          <a:ln/>
          <a:effectLst>
            <a:outerShdw blurRad="101600" dist="38100" dir="8100000" algn="bl" rotWithShape="0">
              <a:srgbClr val="000000">
                <a:alpha val="20000"/>
              </a:srgbClr>
            </a:outerShdw>
          </a:effectLst>
        </p:spPr>
        <p:txBody>
          <a:bodyPr/>
          <a:lstStyle/>
          <a:p>
            <a:endParaRPr lang="en-US"/>
          </a:p>
        </p:txBody>
      </p:sp>
      <p:sp>
        <p:nvSpPr>
          <p:cNvPr id="29" name="Text 27"/>
          <p:cNvSpPr/>
          <p:nvPr/>
        </p:nvSpPr>
        <p:spPr>
          <a:xfrm>
            <a:off x="4206240" y="987552"/>
            <a:ext cx="4572000" cy="256032"/>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Customer Segmentation Clusters</a:t>
            </a:r>
            <a:endParaRPr lang="en-US" sz="1100" dirty="0"/>
          </a:p>
        </p:txBody>
      </p:sp>
      <p:sp>
        <p:nvSpPr>
          <p:cNvPr id="30" name="Shape 28"/>
          <p:cNvSpPr/>
          <p:nvPr/>
        </p:nvSpPr>
        <p:spPr>
          <a:xfrm>
            <a:off x="4559388" y="1371600"/>
            <a:ext cx="0" cy="3108960"/>
          </a:xfrm>
          <a:prstGeom prst="line">
            <a:avLst/>
          </a:prstGeom>
          <a:noFill/>
          <a:ln w="19050">
            <a:solidFill>
              <a:srgbClr val="0F172A"/>
            </a:solidFill>
            <a:prstDash val="solid"/>
          </a:ln>
        </p:spPr>
        <p:txBody>
          <a:bodyPr/>
          <a:lstStyle/>
          <a:p>
            <a:endParaRPr lang="en-US"/>
          </a:p>
        </p:txBody>
      </p:sp>
      <p:sp>
        <p:nvSpPr>
          <p:cNvPr id="31" name="Shape 29"/>
          <p:cNvSpPr/>
          <p:nvPr/>
        </p:nvSpPr>
        <p:spPr>
          <a:xfrm>
            <a:off x="4559388" y="4480560"/>
            <a:ext cx="4389120" cy="0"/>
          </a:xfrm>
          <a:prstGeom prst="line">
            <a:avLst/>
          </a:prstGeom>
          <a:noFill/>
          <a:ln w="19050">
            <a:solidFill>
              <a:srgbClr val="0F172A"/>
            </a:solidFill>
            <a:prstDash val="solid"/>
          </a:ln>
        </p:spPr>
        <p:txBody>
          <a:bodyPr/>
          <a:lstStyle/>
          <a:p>
            <a:endParaRPr lang="en-US" dirty="0"/>
          </a:p>
        </p:txBody>
      </p:sp>
      <p:sp>
        <p:nvSpPr>
          <p:cNvPr id="32" name="Text 30"/>
          <p:cNvSpPr/>
          <p:nvPr/>
        </p:nvSpPr>
        <p:spPr>
          <a:xfrm>
            <a:off x="4037422" y="2571750"/>
            <a:ext cx="502920" cy="822960"/>
          </a:xfrm>
          <a:prstGeom prst="rect">
            <a:avLst/>
          </a:prstGeom>
          <a:noFill/>
          <a:ln/>
        </p:spPr>
        <p:txBody>
          <a:bodyPr wrap="square" lIns="0" tIns="0" rIns="0" bIns="0" rtlCol="0" anchor="ctr"/>
          <a:lstStyle/>
          <a:p>
            <a:pPr marL="0" indent="0" algn="ctr">
              <a:buNone/>
            </a:pPr>
            <a:r>
              <a:rPr lang="en-US" sz="800" dirty="0">
                <a:latin typeface="Calibri" pitchFamily="34" charset="0"/>
                <a:ea typeface="Calibri" pitchFamily="34" charset="-122"/>
                <a:cs typeface="Calibri" pitchFamily="34" charset="-120"/>
              </a:rPr>
              <a:t>Annual Spend ($K)</a:t>
            </a:r>
            <a:endParaRPr lang="en-US" sz="800" dirty="0"/>
          </a:p>
        </p:txBody>
      </p:sp>
      <p:sp>
        <p:nvSpPr>
          <p:cNvPr id="33" name="Text 31"/>
          <p:cNvSpPr/>
          <p:nvPr/>
        </p:nvSpPr>
        <p:spPr>
          <a:xfrm>
            <a:off x="6332220" y="4449470"/>
            <a:ext cx="1828800" cy="228600"/>
          </a:xfrm>
          <a:prstGeom prst="rect">
            <a:avLst/>
          </a:prstGeom>
          <a:noFill/>
          <a:ln/>
        </p:spPr>
        <p:txBody>
          <a:bodyPr wrap="square" lIns="0" tIns="0" rIns="0" bIns="0" rtlCol="0" anchor="ctr"/>
          <a:lstStyle/>
          <a:p>
            <a:pPr marL="0" indent="0">
              <a:buNone/>
            </a:pPr>
            <a:r>
              <a:rPr lang="en-US" sz="800" dirty="0">
                <a:solidFill>
                  <a:srgbClr val="94A3B8"/>
                </a:solidFill>
                <a:latin typeface="Calibri" pitchFamily="34" charset="0"/>
                <a:ea typeface="Calibri" pitchFamily="34" charset="-122"/>
                <a:cs typeface="Calibri" pitchFamily="34" charset="-120"/>
              </a:rPr>
              <a:t>Annual Income ($K)</a:t>
            </a:r>
            <a:endParaRPr lang="en-US" sz="800" dirty="0"/>
          </a:p>
        </p:txBody>
      </p:sp>
      <p:sp>
        <p:nvSpPr>
          <p:cNvPr id="34" name="Shape 32"/>
          <p:cNvSpPr/>
          <p:nvPr/>
        </p:nvSpPr>
        <p:spPr>
          <a:xfrm>
            <a:off x="4846320" y="3794760"/>
            <a:ext cx="128016" cy="128016"/>
          </a:xfrm>
          <a:prstGeom prst="ellipse">
            <a:avLst/>
          </a:prstGeom>
          <a:solidFill>
            <a:srgbClr val="0D9488"/>
          </a:solidFill>
          <a:ln/>
        </p:spPr>
        <p:txBody>
          <a:bodyPr/>
          <a:lstStyle/>
          <a:p>
            <a:endParaRPr lang="en-US"/>
          </a:p>
        </p:txBody>
      </p:sp>
      <p:sp>
        <p:nvSpPr>
          <p:cNvPr id="35" name="Shape 33"/>
          <p:cNvSpPr/>
          <p:nvPr/>
        </p:nvSpPr>
        <p:spPr>
          <a:xfrm>
            <a:off x="5065776" y="3172968"/>
            <a:ext cx="128016" cy="128016"/>
          </a:xfrm>
          <a:prstGeom prst="ellipse">
            <a:avLst/>
          </a:prstGeom>
          <a:solidFill>
            <a:srgbClr val="0D9488"/>
          </a:solidFill>
          <a:ln/>
        </p:spPr>
        <p:txBody>
          <a:bodyPr/>
          <a:lstStyle/>
          <a:p>
            <a:endParaRPr lang="en-US"/>
          </a:p>
        </p:txBody>
      </p:sp>
      <p:sp>
        <p:nvSpPr>
          <p:cNvPr id="36" name="Shape 34"/>
          <p:cNvSpPr/>
          <p:nvPr/>
        </p:nvSpPr>
        <p:spPr>
          <a:xfrm>
            <a:off x="5504688" y="3639312"/>
            <a:ext cx="128016" cy="128016"/>
          </a:xfrm>
          <a:prstGeom prst="ellipse">
            <a:avLst/>
          </a:prstGeom>
          <a:solidFill>
            <a:srgbClr val="0D9488"/>
          </a:solidFill>
          <a:ln/>
        </p:spPr>
        <p:txBody>
          <a:bodyPr/>
          <a:lstStyle/>
          <a:p>
            <a:endParaRPr lang="en-US"/>
          </a:p>
        </p:txBody>
      </p:sp>
      <p:sp>
        <p:nvSpPr>
          <p:cNvPr id="37" name="Shape 35"/>
          <p:cNvSpPr/>
          <p:nvPr/>
        </p:nvSpPr>
        <p:spPr>
          <a:xfrm>
            <a:off x="5285232" y="3950208"/>
            <a:ext cx="128016" cy="128016"/>
          </a:xfrm>
          <a:prstGeom prst="ellipse">
            <a:avLst/>
          </a:prstGeom>
          <a:solidFill>
            <a:srgbClr val="0D9488"/>
          </a:solidFill>
          <a:ln/>
        </p:spPr>
        <p:txBody>
          <a:bodyPr/>
          <a:lstStyle/>
          <a:p>
            <a:endParaRPr lang="en-US"/>
          </a:p>
        </p:txBody>
      </p:sp>
      <p:sp>
        <p:nvSpPr>
          <p:cNvPr id="38" name="Shape 36"/>
          <p:cNvSpPr/>
          <p:nvPr/>
        </p:nvSpPr>
        <p:spPr>
          <a:xfrm>
            <a:off x="4626864" y="3328416"/>
            <a:ext cx="128016" cy="128016"/>
          </a:xfrm>
          <a:prstGeom prst="ellipse">
            <a:avLst/>
          </a:prstGeom>
          <a:solidFill>
            <a:srgbClr val="0D9488"/>
          </a:solidFill>
          <a:ln/>
        </p:spPr>
        <p:txBody>
          <a:bodyPr/>
          <a:lstStyle/>
          <a:p>
            <a:endParaRPr lang="en-US"/>
          </a:p>
        </p:txBody>
      </p:sp>
      <p:sp>
        <p:nvSpPr>
          <p:cNvPr id="39" name="Shape 37"/>
          <p:cNvSpPr/>
          <p:nvPr/>
        </p:nvSpPr>
        <p:spPr>
          <a:xfrm>
            <a:off x="5724144" y="4105656"/>
            <a:ext cx="128016" cy="128016"/>
          </a:xfrm>
          <a:prstGeom prst="ellipse">
            <a:avLst/>
          </a:prstGeom>
          <a:solidFill>
            <a:srgbClr val="0D9488"/>
          </a:solidFill>
          <a:ln/>
        </p:spPr>
        <p:txBody>
          <a:bodyPr/>
          <a:lstStyle/>
          <a:p>
            <a:endParaRPr lang="en-US"/>
          </a:p>
        </p:txBody>
      </p:sp>
      <p:sp>
        <p:nvSpPr>
          <p:cNvPr id="40" name="Shape 38"/>
          <p:cNvSpPr/>
          <p:nvPr/>
        </p:nvSpPr>
        <p:spPr>
          <a:xfrm>
            <a:off x="5098694" y="3646627"/>
            <a:ext cx="237744" cy="237744"/>
          </a:xfrm>
          <a:prstGeom prst="ellipse">
            <a:avLst/>
          </a:prstGeom>
          <a:solidFill>
            <a:srgbClr val="0D9488"/>
          </a:solidFill>
          <a:ln w="25400">
            <a:solidFill>
              <a:srgbClr val="0F172A"/>
            </a:solidFill>
            <a:prstDash val="solid"/>
          </a:ln>
        </p:spPr>
        <p:txBody>
          <a:bodyPr/>
          <a:lstStyle/>
          <a:p>
            <a:endParaRPr lang="en-US"/>
          </a:p>
        </p:txBody>
      </p:sp>
      <p:sp>
        <p:nvSpPr>
          <p:cNvPr id="41" name="Text 39"/>
          <p:cNvSpPr/>
          <p:nvPr/>
        </p:nvSpPr>
        <p:spPr>
          <a:xfrm>
            <a:off x="5126126" y="3674059"/>
            <a:ext cx="182880" cy="1828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42" name="Shape 40"/>
          <p:cNvSpPr/>
          <p:nvPr/>
        </p:nvSpPr>
        <p:spPr>
          <a:xfrm>
            <a:off x="6163056" y="2613355"/>
            <a:ext cx="128016" cy="128016"/>
          </a:xfrm>
          <a:prstGeom prst="ellipse">
            <a:avLst/>
          </a:prstGeom>
          <a:solidFill>
            <a:srgbClr val="3B82F6"/>
          </a:solidFill>
          <a:ln/>
        </p:spPr>
        <p:txBody>
          <a:bodyPr/>
          <a:lstStyle/>
          <a:p>
            <a:endParaRPr lang="en-US"/>
          </a:p>
        </p:txBody>
      </p:sp>
      <p:sp>
        <p:nvSpPr>
          <p:cNvPr id="43" name="Shape 41"/>
          <p:cNvSpPr/>
          <p:nvPr/>
        </p:nvSpPr>
        <p:spPr>
          <a:xfrm>
            <a:off x="6382512" y="2862072"/>
            <a:ext cx="128016" cy="128016"/>
          </a:xfrm>
          <a:prstGeom prst="ellipse">
            <a:avLst/>
          </a:prstGeom>
          <a:solidFill>
            <a:srgbClr val="3B82F6"/>
          </a:solidFill>
          <a:ln/>
        </p:spPr>
        <p:txBody>
          <a:bodyPr/>
          <a:lstStyle/>
          <a:p>
            <a:endParaRPr lang="en-US"/>
          </a:p>
        </p:txBody>
      </p:sp>
      <p:sp>
        <p:nvSpPr>
          <p:cNvPr id="44" name="Shape 42"/>
          <p:cNvSpPr/>
          <p:nvPr/>
        </p:nvSpPr>
        <p:spPr>
          <a:xfrm>
            <a:off x="6601968" y="2395728"/>
            <a:ext cx="128016" cy="128016"/>
          </a:xfrm>
          <a:prstGeom prst="ellipse">
            <a:avLst/>
          </a:prstGeom>
          <a:solidFill>
            <a:srgbClr val="3B82F6"/>
          </a:solidFill>
          <a:ln/>
        </p:spPr>
        <p:txBody>
          <a:bodyPr/>
          <a:lstStyle/>
          <a:p>
            <a:endParaRPr lang="en-US"/>
          </a:p>
        </p:txBody>
      </p:sp>
      <p:sp>
        <p:nvSpPr>
          <p:cNvPr id="45" name="Shape 43"/>
          <p:cNvSpPr/>
          <p:nvPr/>
        </p:nvSpPr>
        <p:spPr>
          <a:xfrm>
            <a:off x="6821424" y="2706624"/>
            <a:ext cx="128016" cy="128016"/>
          </a:xfrm>
          <a:prstGeom prst="ellipse">
            <a:avLst/>
          </a:prstGeom>
          <a:solidFill>
            <a:srgbClr val="3B82F6"/>
          </a:solidFill>
          <a:ln/>
        </p:spPr>
        <p:txBody>
          <a:bodyPr/>
          <a:lstStyle/>
          <a:p>
            <a:endParaRPr lang="en-US"/>
          </a:p>
        </p:txBody>
      </p:sp>
      <p:sp>
        <p:nvSpPr>
          <p:cNvPr id="46" name="Shape 44"/>
          <p:cNvSpPr/>
          <p:nvPr/>
        </p:nvSpPr>
        <p:spPr>
          <a:xfrm>
            <a:off x="6470294" y="2488997"/>
            <a:ext cx="128016" cy="128016"/>
          </a:xfrm>
          <a:prstGeom prst="ellipse">
            <a:avLst/>
          </a:prstGeom>
          <a:solidFill>
            <a:srgbClr val="3B82F6"/>
          </a:solidFill>
          <a:ln/>
        </p:spPr>
        <p:txBody>
          <a:bodyPr/>
          <a:lstStyle/>
          <a:p>
            <a:endParaRPr lang="en-US"/>
          </a:p>
        </p:txBody>
      </p:sp>
      <p:sp>
        <p:nvSpPr>
          <p:cNvPr id="47" name="Shape 45"/>
          <p:cNvSpPr/>
          <p:nvPr/>
        </p:nvSpPr>
        <p:spPr>
          <a:xfrm>
            <a:off x="6294730" y="3017520"/>
            <a:ext cx="128016" cy="128016"/>
          </a:xfrm>
          <a:prstGeom prst="ellipse">
            <a:avLst/>
          </a:prstGeom>
          <a:solidFill>
            <a:srgbClr val="3B82F6"/>
          </a:solidFill>
          <a:ln/>
        </p:spPr>
        <p:txBody>
          <a:bodyPr/>
          <a:lstStyle/>
          <a:p>
            <a:endParaRPr lang="en-US"/>
          </a:p>
        </p:txBody>
      </p:sp>
      <p:sp>
        <p:nvSpPr>
          <p:cNvPr id="48" name="Shape 46"/>
          <p:cNvSpPr/>
          <p:nvPr/>
        </p:nvSpPr>
        <p:spPr>
          <a:xfrm>
            <a:off x="6415430" y="2620670"/>
            <a:ext cx="237744" cy="237744"/>
          </a:xfrm>
          <a:prstGeom prst="ellipse">
            <a:avLst/>
          </a:prstGeom>
          <a:solidFill>
            <a:srgbClr val="3B82F6"/>
          </a:solidFill>
          <a:ln w="25400">
            <a:solidFill>
              <a:srgbClr val="0F172A"/>
            </a:solidFill>
            <a:prstDash val="solid"/>
          </a:ln>
        </p:spPr>
        <p:txBody>
          <a:bodyPr/>
          <a:lstStyle/>
          <a:p>
            <a:endParaRPr lang="en-US"/>
          </a:p>
        </p:txBody>
      </p:sp>
      <p:sp>
        <p:nvSpPr>
          <p:cNvPr id="49" name="Text 47"/>
          <p:cNvSpPr/>
          <p:nvPr/>
        </p:nvSpPr>
        <p:spPr>
          <a:xfrm>
            <a:off x="6442862" y="2648102"/>
            <a:ext cx="182880" cy="1828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50" name="Shape 48"/>
          <p:cNvSpPr/>
          <p:nvPr/>
        </p:nvSpPr>
        <p:spPr>
          <a:xfrm>
            <a:off x="7479792" y="1773936"/>
            <a:ext cx="128016" cy="128016"/>
          </a:xfrm>
          <a:prstGeom prst="ellipse">
            <a:avLst/>
          </a:prstGeom>
          <a:solidFill>
            <a:srgbClr val="F59E0B"/>
          </a:solidFill>
          <a:ln/>
        </p:spPr>
        <p:txBody>
          <a:bodyPr/>
          <a:lstStyle/>
          <a:p>
            <a:endParaRPr lang="en-US"/>
          </a:p>
        </p:txBody>
      </p:sp>
      <p:sp>
        <p:nvSpPr>
          <p:cNvPr id="51" name="Shape 49"/>
          <p:cNvSpPr/>
          <p:nvPr/>
        </p:nvSpPr>
        <p:spPr>
          <a:xfrm>
            <a:off x="7699248" y="1618488"/>
            <a:ext cx="128016" cy="128016"/>
          </a:xfrm>
          <a:prstGeom prst="ellipse">
            <a:avLst/>
          </a:prstGeom>
          <a:solidFill>
            <a:srgbClr val="F59E0B"/>
          </a:solidFill>
          <a:ln/>
        </p:spPr>
        <p:txBody>
          <a:bodyPr/>
          <a:lstStyle/>
          <a:p>
            <a:endParaRPr lang="en-US"/>
          </a:p>
        </p:txBody>
      </p:sp>
      <p:sp>
        <p:nvSpPr>
          <p:cNvPr id="52" name="Shape 50"/>
          <p:cNvSpPr/>
          <p:nvPr/>
        </p:nvSpPr>
        <p:spPr>
          <a:xfrm>
            <a:off x="7918704" y="1929384"/>
            <a:ext cx="128016" cy="128016"/>
          </a:xfrm>
          <a:prstGeom prst="ellipse">
            <a:avLst/>
          </a:prstGeom>
          <a:solidFill>
            <a:srgbClr val="F59E0B"/>
          </a:solidFill>
          <a:ln/>
        </p:spPr>
        <p:txBody>
          <a:bodyPr/>
          <a:lstStyle/>
          <a:p>
            <a:endParaRPr lang="en-US"/>
          </a:p>
        </p:txBody>
      </p:sp>
      <p:sp>
        <p:nvSpPr>
          <p:cNvPr id="53" name="Shape 51"/>
          <p:cNvSpPr/>
          <p:nvPr/>
        </p:nvSpPr>
        <p:spPr>
          <a:xfrm>
            <a:off x="7611466" y="1556309"/>
            <a:ext cx="128016" cy="128016"/>
          </a:xfrm>
          <a:prstGeom prst="ellipse">
            <a:avLst/>
          </a:prstGeom>
          <a:solidFill>
            <a:srgbClr val="F59E0B"/>
          </a:solidFill>
          <a:ln/>
        </p:spPr>
        <p:txBody>
          <a:bodyPr/>
          <a:lstStyle/>
          <a:p>
            <a:endParaRPr lang="en-US"/>
          </a:p>
        </p:txBody>
      </p:sp>
      <p:sp>
        <p:nvSpPr>
          <p:cNvPr id="54" name="Shape 52"/>
          <p:cNvSpPr/>
          <p:nvPr/>
        </p:nvSpPr>
        <p:spPr>
          <a:xfrm>
            <a:off x="7787030" y="1991563"/>
            <a:ext cx="128016" cy="128016"/>
          </a:xfrm>
          <a:prstGeom prst="ellipse">
            <a:avLst/>
          </a:prstGeom>
          <a:solidFill>
            <a:srgbClr val="F59E0B"/>
          </a:solidFill>
          <a:ln/>
        </p:spPr>
        <p:txBody>
          <a:bodyPr/>
          <a:lstStyle/>
          <a:p>
            <a:endParaRPr lang="en-US"/>
          </a:p>
        </p:txBody>
      </p:sp>
      <p:sp>
        <p:nvSpPr>
          <p:cNvPr id="55" name="Shape 53"/>
          <p:cNvSpPr/>
          <p:nvPr/>
        </p:nvSpPr>
        <p:spPr>
          <a:xfrm>
            <a:off x="8138160" y="1680667"/>
            <a:ext cx="128016" cy="128016"/>
          </a:xfrm>
          <a:prstGeom prst="ellipse">
            <a:avLst/>
          </a:prstGeom>
          <a:solidFill>
            <a:srgbClr val="F59E0B"/>
          </a:solidFill>
          <a:ln/>
        </p:spPr>
        <p:txBody>
          <a:bodyPr/>
          <a:lstStyle/>
          <a:p>
            <a:endParaRPr lang="en-US"/>
          </a:p>
        </p:txBody>
      </p:sp>
      <p:sp>
        <p:nvSpPr>
          <p:cNvPr id="56" name="Shape 54"/>
          <p:cNvSpPr/>
          <p:nvPr/>
        </p:nvSpPr>
        <p:spPr>
          <a:xfrm>
            <a:off x="7732166" y="1719072"/>
            <a:ext cx="237744" cy="237744"/>
          </a:xfrm>
          <a:prstGeom prst="ellipse">
            <a:avLst/>
          </a:prstGeom>
          <a:solidFill>
            <a:srgbClr val="F59E0B"/>
          </a:solidFill>
          <a:ln w="25400">
            <a:solidFill>
              <a:srgbClr val="0F172A"/>
            </a:solidFill>
            <a:prstDash val="solid"/>
          </a:ln>
        </p:spPr>
        <p:txBody>
          <a:bodyPr/>
          <a:lstStyle/>
          <a:p>
            <a:endParaRPr lang="en-US"/>
          </a:p>
        </p:txBody>
      </p:sp>
      <p:sp>
        <p:nvSpPr>
          <p:cNvPr id="57" name="Text 55"/>
          <p:cNvSpPr/>
          <p:nvPr/>
        </p:nvSpPr>
        <p:spPr>
          <a:xfrm>
            <a:off x="7759598" y="1746504"/>
            <a:ext cx="182880" cy="1828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58" name="Shape 56"/>
          <p:cNvSpPr/>
          <p:nvPr/>
        </p:nvSpPr>
        <p:spPr>
          <a:xfrm>
            <a:off x="4993254" y="4665175"/>
            <a:ext cx="137160" cy="137160"/>
          </a:xfrm>
          <a:prstGeom prst="ellipse">
            <a:avLst/>
          </a:prstGeom>
          <a:solidFill>
            <a:srgbClr val="0D9488"/>
          </a:solidFill>
          <a:ln/>
        </p:spPr>
        <p:txBody>
          <a:bodyPr/>
          <a:lstStyle/>
          <a:p>
            <a:endParaRPr lang="en-US" dirty="0"/>
          </a:p>
        </p:txBody>
      </p:sp>
      <p:sp>
        <p:nvSpPr>
          <p:cNvPr id="59" name="Text 57"/>
          <p:cNvSpPr/>
          <p:nvPr/>
        </p:nvSpPr>
        <p:spPr>
          <a:xfrm>
            <a:off x="5164768" y="4641053"/>
            <a:ext cx="1097280" cy="201168"/>
          </a:xfrm>
          <a:prstGeom prst="rect">
            <a:avLst/>
          </a:prstGeom>
          <a:noFill/>
          <a:ln/>
        </p:spPr>
        <p:txBody>
          <a:bodyPr wrap="square" lIns="0" tIns="0" rIns="0" bIns="0" rtlCol="0" anchor="ctr"/>
          <a:lstStyle/>
          <a:p>
            <a:pPr marL="0" indent="0">
              <a:buNone/>
            </a:pPr>
            <a:r>
              <a:rPr lang="en-US" sz="900" dirty="0">
                <a:solidFill>
                  <a:srgbClr val="0F172A"/>
                </a:solidFill>
                <a:latin typeface="Calibri" pitchFamily="34" charset="0"/>
                <a:ea typeface="Calibri" pitchFamily="34" charset="-122"/>
                <a:cs typeface="Calibri" pitchFamily="34" charset="-120"/>
              </a:rPr>
              <a:t>Budget</a:t>
            </a:r>
            <a:endParaRPr lang="en-US" sz="900" dirty="0"/>
          </a:p>
        </p:txBody>
      </p:sp>
      <p:sp>
        <p:nvSpPr>
          <p:cNvPr id="60" name="Shape 58"/>
          <p:cNvSpPr/>
          <p:nvPr/>
        </p:nvSpPr>
        <p:spPr>
          <a:xfrm>
            <a:off x="6598310" y="4674163"/>
            <a:ext cx="137160" cy="137160"/>
          </a:xfrm>
          <a:prstGeom prst="ellipse">
            <a:avLst/>
          </a:prstGeom>
          <a:solidFill>
            <a:srgbClr val="3B82F6"/>
          </a:solidFill>
          <a:ln/>
        </p:spPr>
        <p:txBody>
          <a:bodyPr/>
          <a:lstStyle/>
          <a:p>
            <a:endParaRPr lang="en-US"/>
          </a:p>
        </p:txBody>
      </p:sp>
      <p:sp>
        <p:nvSpPr>
          <p:cNvPr id="61" name="Text 59"/>
          <p:cNvSpPr/>
          <p:nvPr/>
        </p:nvSpPr>
        <p:spPr>
          <a:xfrm>
            <a:off x="6756661" y="4641053"/>
            <a:ext cx="1097280" cy="201168"/>
          </a:xfrm>
          <a:prstGeom prst="rect">
            <a:avLst/>
          </a:prstGeom>
          <a:noFill/>
          <a:ln/>
        </p:spPr>
        <p:txBody>
          <a:bodyPr wrap="square" lIns="0" tIns="0" rIns="0" bIns="0" rtlCol="0" anchor="ctr"/>
          <a:lstStyle/>
          <a:p>
            <a:pPr marL="0" indent="0">
              <a:buNone/>
            </a:pPr>
            <a:r>
              <a:rPr lang="en-US" sz="900" dirty="0">
                <a:solidFill>
                  <a:srgbClr val="0F172A"/>
                </a:solidFill>
                <a:latin typeface="Calibri" pitchFamily="34" charset="0"/>
                <a:ea typeface="Calibri" pitchFamily="34" charset="-122"/>
                <a:cs typeface="Calibri" pitchFamily="34" charset="-120"/>
              </a:rPr>
              <a:t>Mid</a:t>
            </a:r>
            <a:endParaRPr lang="en-US" sz="900" dirty="0"/>
          </a:p>
        </p:txBody>
      </p:sp>
      <p:sp>
        <p:nvSpPr>
          <p:cNvPr id="62" name="Shape 60"/>
          <p:cNvSpPr/>
          <p:nvPr/>
        </p:nvSpPr>
        <p:spPr>
          <a:xfrm>
            <a:off x="8206898" y="4678874"/>
            <a:ext cx="137160" cy="137160"/>
          </a:xfrm>
          <a:prstGeom prst="ellipse">
            <a:avLst/>
          </a:prstGeom>
          <a:solidFill>
            <a:srgbClr val="F59E0B"/>
          </a:solidFill>
          <a:ln/>
        </p:spPr>
        <p:txBody>
          <a:bodyPr/>
          <a:lstStyle/>
          <a:p>
            <a:endParaRPr lang="en-US"/>
          </a:p>
        </p:txBody>
      </p:sp>
      <p:sp>
        <p:nvSpPr>
          <p:cNvPr id="63" name="Text 61"/>
          <p:cNvSpPr/>
          <p:nvPr/>
        </p:nvSpPr>
        <p:spPr>
          <a:xfrm>
            <a:off x="8366760" y="4641685"/>
            <a:ext cx="1097280" cy="201168"/>
          </a:xfrm>
          <a:prstGeom prst="rect">
            <a:avLst/>
          </a:prstGeom>
          <a:noFill/>
          <a:ln/>
        </p:spPr>
        <p:txBody>
          <a:bodyPr wrap="square" lIns="0" tIns="0" rIns="0" bIns="0" rtlCol="0" anchor="ctr"/>
          <a:lstStyle/>
          <a:p>
            <a:pPr marL="0" indent="0">
              <a:buNone/>
            </a:pPr>
            <a:r>
              <a:rPr lang="en-US" sz="900" dirty="0">
                <a:solidFill>
                  <a:srgbClr val="0F172A"/>
                </a:solidFill>
                <a:latin typeface="Calibri" pitchFamily="34" charset="0"/>
                <a:ea typeface="Calibri" pitchFamily="34" charset="-122"/>
                <a:cs typeface="Calibri" pitchFamily="34" charset="-120"/>
              </a:rPr>
              <a:t>Premium</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40AF"/>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Dimensionality Reduction &amp; Anomaly Detection</a:t>
            </a:r>
            <a:endParaRPr lang="en-US" sz="2000" dirty="0"/>
          </a:p>
        </p:txBody>
      </p:sp>
      <p:sp>
        <p:nvSpPr>
          <p:cNvPr id="4" name="Shape 2"/>
          <p:cNvSpPr/>
          <p:nvPr/>
        </p:nvSpPr>
        <p:spPr>
          <a:xfrm>
            <a:off x="274320" y="960120"/>
            <a:ext cx="4114800" cy="3886200"/>
          </a:xfrm>
          <a:prstGeom prst="rect">
            <a:avLst/>
          </a:prstGeom>
          <a:solidFill>
            <a:srgbClr val="FFFFFF"/>
          </a:solidFill>
          <a:ln/>
          <a:effectLst>
            <a:outerShdw blurRad="101600" dist="38100" dir="8100000" algn="bl" rotWithShape="0">
              <a:srgbClr val="000000">
                <a:alpha val="20000"/>
              </a:srgbClr>
            </a:outerShdw>
          </a:effectLst>
        </p:spPr>
        <p:txBody>
          <a:bodyPr/>
          <a:lstStyle/>
          <a:p>
            <a:endParaRPr lang="en-US"/>
          </a:p>
        </p:txBody>
      </p:sp>
      <p:sp>
        <p:nvSpPr>
          <p:cNvPr id="5" name="Shape 3"/>
          <p:cNvSpPr/>
          <p:nvPr/>
        </p:nvSpPr>
        <p:spPr>
          <a:xfrm>
            <a:off x="274320" y="960120"/>
            <a:ext cx="4114800" cy="73152"/>
          </a:xfrm>
          <a:prstGeom prst="rect">
            <a:avLst/>
          </a:prstGeom>
          <a:solidFill>
            <a:srgbClr val="3B82F6"/>
          </a:solidFill>
          <a:ln/>
        </p:spPr>
        <p:txBody>
          <a:bodyPr/>
          <a:lstStyle/>
          <a:p>
            <a:endParaRPr lang="en-US"/>
          </a:p>
        </p:txBody>
      </p:sp>
      <p:sp>
        <p:nvSpPr>
          <p:cNvPr id="6" name="Text 4"/>
          <p:cNvSpPr/>
          <p:nvPr/>
        </p:nvSpPr>
        <p:spPr>
          <a:xfrm>
            <a:off x="457200" y="1051560"/>
            <a:ext cx="3749040" cy="320040"/>
          </a:xfrm>
          <a:prstGeom prst="rect">
            <a:avLst/>
          </a:prstGeom>
          <a:noFill/>
          <a:ln/>
        </p:spPr>
        <p:txBody>
          <a:bodyPr wrap="square" lIns="0" tIns="0" rIns="0" bIns="0" rtlCol="0" anchor="ctr"/>
          <a:lstStyle/>
          <a:p>
            <a:pPr marL="0" indent="0">
              <a:buNone/>
            </a:pPr>
            <a:r>
              <a:rPr lang="en-US" sz="1300" b="1" dirty="0">
                <a:solidFill>
                  <a:srgbClr val="3B82F6"/>
                </a:solidFill>
                <a:latin typeface="Calibri" pitchFamily="34" charset="0"/>
                <a:ea typeface="Calibri" pitchFamily="34" charset="-122"/>
                <a:cs typeface="Calibri" pitchFamily="34" charset="-120"/>
              </a:rPr>
              <a:t>⬇ Dimensionality Reduction</a:t>
            </a:r>
            <a:endParaRPr lang="en-US" sz="1300" dirty="0"/>
          </a:p>
        </p:txBody>
      </p:sp>
      <p:sp>
        <p:nvSpPr>
          <p:cNvPr id="7" name="Text 5"/>
          <p:cNvSpPr/>
          <p:nvPr/>
        </p:nvSpPr>
        <p:spPr>
          <a:xfrm>
            <a:off x="457200" y="1417320"/>
            <a:ext cx="3749040" cy="64008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Compresses high-dimensional data into fewer features while retaining maximum information and structure.</a:t>
            </a:r>
            <a:endParaRPr lang="en-US" sz="1000" dirty="0"/>
          </a:p>
        </p:txBody>
      </p:sp>
      <p:sp>
        <p:nvSpPr>
          <p:cNvPr id="8" name="Text 6"/>
          <p:cNvSpPr/>
          <p:nvPr/>
        </p:nvSpPr>
        <p:spPr>
          <a:xfrm>
            <a:off x="457200" y="2103120"/>
            <a:ext cx="3657600" cy="228600"/>
          </a:xfrm>
          <a:prstGeom prst="rect">
            <a:avLst/>
          </a:prstGeom>
          <a:noFill/>
          <a:ln/>
        </p:spPr>
        <p:txBody>
          <a:bodyPr wrap="square" lIns="0" tIns="0" rIns="0" bIns="0" rtlCol="0" anchor="ctr"/>
          <a:lstStyle/>
          <a:p>
            <a:pPr marL="0" indent="0">
              <a:buNone/>
            </a:pPr>
            <a:r>
              <a:rPr lang="en-US" sz="1000" b="1" dirty="0">
                <a:solidFill>
                  <a:srgbClr val="94A3B8"/>
                </a:solidFill>
                <a:latin typeface="Calibri" pitchFamily="34" charset="0"/>
                <a:ea typeface="Calibri" pitchFamily="34" charset="-122"/>
                <a:cs typeface="Calibri" pitchFamily="34" charset="-120"/>
              </a:rPr>
              <a:t>PCA — Projecting 3D → 2D</a:t>
            </a:r>
            <a:endParaRPr lang="en-US" sz="1000" dirty="0"/>
          </a:p>
        </p:txBody>
      </p:sp>
      <p:sp>
        <p:nvSpPr>
          <p:cNvPr id="9" name="Shape 7"/>
          <p:cNvSpPr/>
          <p:nvPr/>
        </p:nvSpPr>
        <p:spPr>
          <a:xfrm>
            <a:off x="457200" y="2377440"/>
            <a:ext cx="1554480" cy="1188720"/>
          </a:xfrm>
          <a:prstGeom prst="rect">
            <a:avLst/>
          </a:prstGeom>
          <a:solidFill>
            <a:srgbClr val="EFF6FF"/>
          </a:solidFill>
          <a:ln w="12700">
            <a:solidFill>
              <a:srgbClr val="3B82F6"/>
            </a:solidFill>
            <a:prstDash val="solid"/>
          </a:ln>
        </p:spPr>
        <p:txBody>
          <a:bodyPr/>
          <a:lstStyle/>
          <a:p>
            <a:endParaRPr lang="en-US"/>
          </a:p>
        </p:txBody>
      </p:sp>
      <p:sp>
        <p:nvSpPr>
          <p:cNvPr id="10" name="Text 8"/>
          <p:cNvSpPr/>
          <p:nvPr/>
        </p:nvSpPr>
        <p:spPr>
          <a:xfrm>
            <a:off x="457200" y="2377440"/>
            <a:ext cx="1554480" cy="365760"/>
          </a:xfrm>
          <a:prstGeom prst="rect">
            <a:avLst/>
          </a:prstGeom>
          <a:noFill/>
          <a:ln/>
        </p:spPr>
        <p:txBody>
          <a:bodyPr wrap="square" lIns="0" tIns="0" rIns="0" bIns="0" rtlCol="0" anchor="ctr"/>
          <a:lstStyle/>
          <a:p>
            <a:pPr marL="0" indent="0" algn="ctr">
              <a:buNone/>
            </a:pPr>
            <a:r>
              <a:rPr lang="en-US" sz="900" b="1" dirty="0">
                <a:solidFill>
                  <a:srgbClr val="3B82F6"/>
                </a:solidFill>
                <a:latin typeface="Calibri" pitchFamily="34" charset="0"/>
                <a:ea typeface="Calibri" pitchFamily="34" charset="-122"/>
                <a:cs typeface="Calibri" pitchFamily="34" charset="-120"/>
              </a:rPr>
              <a:t>3D Space</a:t>
            </a:r>
            <a:endParaRPr lang="en-US" sz="900" dirty="0"/>
          </a:p>
          <a:p>
            <a:pPr marL="0" indent="0" algn="ctr">
              <a:buNone/>
            </a:pPr>
            <a:r>
              <a:rPr lang="en-US" sz="900" b="1" dirty="0">
                <a:solidFill>
                  <a:srgbClr val="3B82F6"/>
                </a:solidFill>
                <a:latin typeface="Calibri" pitchFamily="34" charset="0"/>
                <a:ea typeface="Calibri" pitchFamily="34" charset="-122"/>
                <a:cs typeface="Calibri" pitchFamily="34" charset="-120"/>
              </a:rPr>
              <a:t>(x, y, z)</a:t>
            </a:r>
            <a:endParaRPr lang="en-US" sz="900" dirty="0"/>
          </a:p>
        </p:txBody>
      </p:sp>
      <p:sp>
        <p:nvSpPr>
          <p:cNvPr id="11" name="Text 9"/>
          <p:cNvSpPr/>
          <p:nvPr/>
        </p:nvSpPr>
        <p:spPr>
          <a:xfrm>
            <a:off x="548640" y="2761488"/>
            <a:ext cx="274320" cy="274320"/>
          </a:xfrm>
          <a:prstGeom prst="rect">
            <a:avLst/>
          </a:prstGeom>
          <a:noFill/>
          <a:ln/>
        </p:spPr>
        <p:txBody>
          <a:bodyPr wrap="square" lIns="0" tIns="0" rIns="0" bIns="0" rtlCol="0" anchor="ctr"/>
          <a:lstStyle/>
          <a:p>
            <a:pPr marL="0" indent="0">
              <a:buNone/>
            </a:pPr>
            <a:r>
              <a:rPr lang="en-US" sz="1400" dirty="0">
                <a:solidFill>
                  <a:srgbClr val="3B82F6"/>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987552" y="2761488"/>
            <a:ext cx="274320" cy="274320"/>
          </a:xfrm>
          <a:prstGeom prst="rect">
            <a:avLst/>
          </a:prstGeom>
          <a:noFill/>
          <a:ln/>
        </p:spPr>
        <p:txBody>
          <a:bodyPr wrap="square" lIns="0" tIns="0" rIns="0" bIns="0" rtlCol="0" anchor="ctr"/>
          <a:lstStyle/>
          <a:p>
            <a:pPr marL="0" indent="0">
              <a:buNone/>
            </a:pPr>
            <a:r>
              <a:rPr lang="en-US" sz="1400" dirty="0">
                <a:solidFill>
                  <a:srgbClr val="0D9488"/>
                </a:solidFill>
                <a:latin typeface="Calibri" pitchFamily="34" charset="0"/>
                <a:ea typeface="Calibri" pitchFamily="34" charset="-122"/>
                <a:cs typeface="Calibri" pitchFamily="34" charset="-120"/>
              </a:rPr>
              <a:t>●</a:t>
            </a:r>
            <a:endParaRPr lang="en-US" sz="1400" dirty="0"/>
          </a:p>
        </p:txBody>
      </p:sp>
      <p:sp>
        <p:nvSpPr>
          <p:cNvPr id="13" name="Text 11"/>
          <p:cNvSpPr/>
          <p:nvPr/>
        </p:nvSpPr>
        <p:spPr>
          <a:xfrm>
            <a:off x="1426464" y="2761488"/>
            <a:ext cx="274320" cy="274320"/>
          </a:xfrm>
          <a:prstGeom prst="rect">
            <a:avLst/>
          </a:prstGeom>
          <a:noFill/>
          <a:ln/>
        </p:spPr>
        <p:txBody>
          <a:bodyPr wrap="square" lIns="0" tIns="0" rIns="0" bIns="0" rtlCol="0" anchor="ctr"/>
          <a:lstStyle/>
          <a:p>
            <a:pPr marL="0" indent="0">
              <a:buNone/>
            </a:pPr>
            <a:r>
              <a:rPr lang="en-US" sz="1400" dirty="0">
                <a:solidFill>
                  <a:srgbClr val="7C3AED"/>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548640" y="3127248"/>
            <a:ext cx="274320" cy="274320"/>
          </a:xfrm>
          <a:prstGeom prst="rect">
            <a:avLst/>
          </a:prstGeom>
          <a:noFill/>
          <a:ln/>
        </p:spPr>
        <p:txBody>
          <a:bodyPr wrap="square" lIns="0" tIns="0" rIns="0" bIns="0" rtlCol="0" anchor="ctr"/>
          <a:lstStyle/>
          <a:p>
            <a:pPr marL="0" indent="0">
              <a:buNone/>
            </a:pPr>
            <a:r>
              <a:rPr lang="en-US" sz="1400" dirty="0">
                <a:solidFill>
                  <a:srgbClr val="3B82F6"/>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987552" y="3127248"/>
            <a:ext cx="274320" cy="274320"/>
          </a:xfrm>
          <a:prstGeom prst="rect">
            <a:avLst/>
          </a:prstGeom>
          <a:noFill/>
          <a:ln/>
        </p:spPr>
        <p:txBody>
          <a:bodyPr wrap="square" lIns="0" tIns="0" rIns="0" bIns="0" rtlCol="0" anchor="ctr"/>
          <a:lstStyle/>
          <a:p>
            <a:pPr marL="0" indent="0">
              <a:buNone/>
            </a:pPr>
            <a:r>
              <a:rPr lang="en-US" sz="1400" dirty="0">
                <a:solidFill>
                  <a:srgbClr val="0D9488"/>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426464" y="3127248"/>
            <a:ext cx="274320" cy="274320"/>
          </a:xfrm>
          <a:prstGeom prst="rect">
            <a:avLst/>
          </a:prstGeom>
          <a:noFill/>
          <a:ln/>
        </p:spPr>
        <p:txBody>
          <a:bodyPr wrap="square" lIns="0" tIns="0" rIns="0" bIns="0" rtlCol="0" anchor="ctr"/>
          <a:lstStyle/>
          <a:p>
            <a:pPr marL="0" indent="0">
              <a:buNone/>
            </a:pPr>
            <a:r>
              <a:rPr lang="en-US" sz="1400" dirty="0">
                <a:solidFill>
                  <a:srgbClr val="7C3AED"/>
                </a:solidFill>
                <a:latin typeface="Calibri" pitchFamily="34" charset="0"/>
                <a:ea typeface="Calibri" pitchFamily="34" charset="-122"/>
                <a:cs typeface="Calibri" pitchFamily="34" charset="-120"/>
              </a:rPr>
              <a:t>●</a:t>
            </a:r>
            <a:endParaRPr lang="en-US" sz="1400" dirty="0"/>
          </a:p>
        </p:txBody>
      </p:sp>
      <p:sp>
        <p:nvSpPr>
          <p:cNvPr id="17" name="Shape 15"/>
          <p:cNvSpPr/>
          <p:nvPr/>
        </p:nvSpPr>
        <p:spPr>
          <a:xfrm>
            <a:off x="2011680" y="2907792"/>
            <a:ext cx="411480" cy="0"/>
          </a:xfrm>
          <a:prstGeom prst="line">
            <a:avLst/>
          </a:prstGeom>
          <a:noFill/>
          <a:ln w="25400">
            <a:solidFill>
              <a:srgbClr val="0F172A"/>
            </a:solidFill>
            <a:prstDash val="solid"/>
          </a:ln>
        </p:spPr>
        <p:txBody>
          <a:bodyPr/>
          <a:lstStyle/>
          <a:p>
            <a:endParaRPr lang="en-US"/>
          </a:p>
        </p:txBody>
      </p:sp>
      <p:sp>
        <p:nvSpPr>
          <p:cNvPr id="18" name="Text 16"/>
          <p:cNvSpPr/>
          <p:nvPr/>
        </p:nvSpPr>
        <p:spPr>
          <a:xfrm>
            <a:off x="2011680" y="2743200"/>
            <a:ext cx="411480" cy="228600"/>
          </a:xfrm>
          <a:prstGeom prst="rect">
            <a:avLst/>
          </a:prstGeom>
          <a:noFill/>
          <a:ln/>
        </p:spPr>
        <p:txBody>
          <a:bodyPr wrap="square" lIns="0" tIns="0" rIns="0" bIns="0" rtlCol="0" anchor="ctr"/>
          <a:lstStyle/>
          <a:p>
            <a:pPr marL="0" indent="0" algn="ctr">
              <a:buNone/>
            </a:pPr>
            <a:r>
              <a:rPr lang="en-US" sz="800" b="1" dirty="0">
                <a:solidFill>
                  <a:srgbClr val="0F172A"/>
                </a:solidFill>
                <a:latin typeface="Calibri" pitchFamily="34" charset="0"/>
                <a:ea typeface="Calibri" pitchFamily="34" charset="-122"/>
                <a:cs typeface="Calibri" pitchFamily="34" charset="-120"/>
              </a:rPr>
              <a:t>PCA</a:t>
            </a:r>
            <a:endParaRPr lang="en-US" sz="800" dirty="0"/>
          </a:p>
        </p:txBody>
      </p:sp>
      <p:sp>
        <p:nvSpPr>
          <p:cNvPr id="19" name="Shape 17"/>
          <p:cNvSpPr/>
          <p:nvPr/>
        </p:nvSpPr>
        <p:spPr>
          <a:xfrm>
            <a:off x="2423160" y="2377440"/>
            <a:ext cx="1554480" cy="1188720"/>
          </a:xfrm>
          <a:prstGeom prst="rect">
            <a:avLst/>
          </a:prstGeom>
          <a:solidFill>
            <a:srgbClr val="F0FDF4"/>
          </a:solidFill>
          <a:ln w="12700">
            <a:solidFill>
              <a:srgbClr val="0D9488"/>
            </a:solidFill>
            <a:prstDash val="solid"/>
          </a:ln>
        </p:spPr>
        <p:txBody>
          <a:bodyPr/>
          <a:lstStyle/>
          <a:p>
            <a:endParaRPr lang="en-US"/>
          </a:p>
        </p:txBody>
      </p:sp>
      <p:sp>
        <p:nvSpPr>
          <p:cNvPr id="20" name="Text 18"/>
          <p:cNvSpPr/>
          <p:nvPr/>
        </p:nvSpPr>
        <p:spPr>
          <a:xfrm>
            <a:off x="2423160" y="2377440"/>
            <a:ext cx="1554480" cy="36576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2D Space</a:t>
            </a:r>
            <a:endParaRPr lang="en-US" sz="900" dirty="0"/>
          </a:p>
          <a:p>
            <a:pPr marL="0" indent="0" algn="ctr">
              <a:buNone/>
            </a:pPr>
            <a:r>
              <a:rPr lang="en-US" sz="900" b="1" dirty="0">
                <a:solidFill>
                  <a:srgbClr val="0D9488"/>
                </a:solidFill>
                <a:latin typeface="Calibri" pitchFamily="34" charset="0"/>
                <a:ea typeface="Calibri" pitchFamily="34" charset="-122"/>
                <a:cs typeface="Calibri" pitchFamily="34" charset="-120"/>
              </a:rPr>
              <a:t>(PC1, PC2)</a:t>
            </a:r>
            <a:endParaRPr lang="en-US" sz="900" dirty="0"/>
          </a:p>
        </p:txBody>
      </p:sp>
      <p:sp>
        <p:nvSpPr>
          <p:cNvPr id="21" name="Text 19"/>
          <p:cNvSpPr/>
          <p:nvPr/>
        </p:nvSpPr>
        <p:spPr>
          <a:xfrm>
            <a:off x="2514600" y="2761488"/>
            <a:ext cx="274320" cy="274320"/>
          </a:xfrm>
          <a:prstGeom prst="rect">
            <a:avLst/>
          </a:prstGeom>
          <a:noFill/>
          <a:ln/>
        </p:spPr>
        <p:txBody>
          <a:bodyPr wrap="square" lIns="0" tIns="0" rIns="0" bIns="0" rtlCol="0" anchor="ctr"/>
          <a:lstStyle/>
          <a:p>
            <a:pPr marL="0" indent="0">
              <a:buNone/>
            </a:pPr>
            <a:r>
              <a:rPr lang="en-US" sz="1400" dirty="0">
                <a:solidFill>
                  <a:srgbClr val="3B82F6"/>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2953512" y="2761488"/>
            <a:ext cx="274320" cy="274320"/>
          </a:xfrm>
          <a:prstGeom prst="rect">
            <a:avLst/>
          </a:prstGeom>
          <a:noFill/>
          <a:ln/>
        </p:spPr>
        <p:txBody>
          <a:bodyPr wrap="square" lIns="0" tIns="0" rIns="0" bIns="0" rtlCol="0" anchor="ctr"/>
          <a:lstStyle/>
          <a:p>
            <a:pPr marL="0" indent="0">
              <a:buNone/>
            </a:pPr>
            <a:r>
              <a:rPr lang="en-US" sz="1400" dirty="0">
                <a:solidFill>
                  <a:srgbClr val="0D9488"/>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3392424" y="2761488"/>
            <a:ext cx="274320" cy="274320"/>
          </a:xfrm>
          <a:prstGeom prst="rect">
            <a:avLst/>
          </a:prstGeom>
          <a:noFill/>
          <a:ln/>
        </p:spPr>
        <p:txBody>
          <a:bodyPr wrap="square" lIns="0" tIns="0" rIns="0" bIns="0" rtlCol="0" anchor="ctr"/>
          <a:lstStyle/>
          <a:p>
            <a:pPr marL="0" indent="0">
              <a:buNone/>
            </a:pPr>
            <a:r>
              <a:rPr lang="en-US" sz="1400" dirty="0">
                <a:solidFill>
                  <a:srgbClr val="7C3AED"/>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2514600" y="3127248"/>
            <a:ext cx="274320" cy="274320"/>
          </a:xfrm>
          <a:prstGeom prst="rect">
            <a:avLst/>
          </a:prstGeom>
          <a:noFill/>
          <a:ln/>
        </p:spPr>
        <p:txBody>
          <a:bodyPr wrap="square" lIns="0" tIns="0" rIns="0" bIns="0" rtlCol="0" anchor="ctr"/>
          <a:lstStyle/>
          <a:p>
            <a:pPr marL="0" indent="0">
              <a:buNone/>
            </a:pPr>
            <a:r>
              <a:rPr lang="en-US" sz="1400" dirty="0">
                <a:solidFill>
                  <a:srgbClr val="3B82F6"/>
                </a:solidFill>
                <a:latin typeface="Calibri" pitchFamily="34" charset="0"/>
                <a:ea typeface="Calibri" pitchFamily="34" charset="-122"/>
                <a:cs typeface="Calibri" pitchFamily="34" charset="-120"/>
              </a:rPr>
              <a:t>●</a:t>
            </a:r>
            <a:endParaRPr lang="en-US" sz="1400" dirty="0"/>
          </a:p>
        </p:txBody>
      </p:sp>
      <p:sp>
        <p:nvSpPr>
          <p:cNvPr id="25" name="Text 23"/>
          <p:cNvSpPr/>
          <p:nvPr/>
        </p:nvSpPr>
        <p:spPr>
          <a:xfrm>
            <a:off x="2953512" y="3127248"/>
            <a:ext cx="274320" cy="274320"/>
          </a:xfrm>
          <a:prstGeom prst="rect">
            <a:avLst/>
          </a:prstGeom>
          <a:noFill/>
          <a:ln/>
        </p:spPr>
        <p:txBody>
          <a:bodyPr wrap="square" lIns="0" tIns="0" rIns="0" bIns="0" rtlCol="0" anchor="ctr"/>
          <a:lstStyle/>
          <a:p>
            <a:pPr marL="0" indent="0">
              <a:buNone/>
            </a:pPr>
            <a:r>
              <a:rPr lang="en-US" sz="1400" dirty="0">
                <a:solidFill>
                  <a:srgbClr val="0D9488"/>
                </a:solidFill>
                <a:latin typeface="Calibri" pitchFamily="34" charset="0"/>
                <a:ea typeface="Calibri" pitchFamily="34" charset="-122"/>
                <a:cs typeface="Calibri" pitchFamily="34" charset="-120"/>
              </a:rPr>
              <a:t>●</a:t>
            </a:r>
            <a:endParaRPr lang="en-US" sz="1400" dirty="0"/>
          </a:p>
        </p:txBody>
      </p:sp>
      <p:sp>
        <p:nvSpPr>
          <p:cNvPr id="26" name="Text 24"/>
          <p:cNvSpPr/>
          <p:nvPr/>
        </p:nvSpPr>
        <p:spPr>
          <a:xfrm>
            <a:off x="3392424" y="3127248"/>
            <a:ext cx="274320" cy="274320"/>
          </a:xfrm>
          <a:prstGeom prst="rect">
            <a:avLst/>
          </a:prstGeom>
          <a:noFill/>
          <a:ln/>
        </p:spPr>
        <p:txBody>
          <a:bodyPr wrap="square" lIns="0" tIns="0" rIns="0" bIns="0" rtlCol="0" anchor="ctr"/>
          <a:lstStyle/>
          <a:p>
            <a:pPr marL="0" indent="0">
              <a:buNone/>
            </a:pPr>
            <a:r>
              <a:rPr lang="en-US" sz="1400" dirty="0">
                <a:solidFill>
                  <a:srgbClr val="7C3AED"/>
                </a:solidFill>
                <a:latin typeface="Calibri" pitchFamily="34" charset="0"/>
                <a:ea typeface="Calibri" pitchFamily="34" charset="-122"/>
                <a:cs typeface="Calibri" pitchFamily="34" charset="-120"/>
              </a:rPr>
              <a:t>●</a:t>
            </a:r>
            <a:endParaRPr lang="en-US" sz="1400" dirty="0"/>
          </a:p>
        </p:txBody>
      </p:sp>
      <p:sp>
        <p:nvSpPr>
          <p:cNvPr id="27" name="Text 25"/>
          <p:cNvSpPr/>
          <p:nvPr/>
        </p:nvSpPr>
        <p:spPr>
          <a:xfrm>
            <a:off x="457200" y="3703320"/>
            <a:ext cx="3657600" cy="594360"/>
          </a:xfrm>
          <a:prstGeom prst="rect">
            <a:avLst/>
          </a:prstGeom>
          <a:noFill/>
          <a:ln/>
        </p:spPr>
        <p:txBody>
          <a:bodyPr wrap="square" lIns="0" tIns="0" rIns="0" bIns="0" rtlCol="0" anchor="ctr"/>
          <a:lstStyle/>
          <a:p>
            <a:pPr marL="0" indent="0">
              <a:buNone/>
            </a:pPr>
            <a:r>
              <a:rPr lang="en-US" sz="900" dirty="0">
                <a:solidFill>
                  <a:srgbClr val="0F172A"/>
                </a:solidFill>
                <a:latin typeface="Calibri" pitchFamily="34" charset="0"/>
                <a:ea typeface="Calibri" pitchFamily="34" charset="-122"/>
                <a:cs typeface="Calibri" pitchFamily="34" charset="-120"/>
              </a:rPr>
              <a:t>Use Cases: Image compression, Visualizing high-dim data, Noise reduction, Feature engineering for ML pipelines</a:t>
            </a:r>
            <a:endParaRPr lang="en-US" sz="900" dirty="0"/>
          </a:p>
        </p:txBody>
      </p:sp>
      <p:sp>
        <p:nvSpPr>
          <p:cNvPr id="28" name="Text 26"/>
          <p:cNvSpPr/>
          <p:nvPr/>
        </p:nvSpPr>
        <p:spPr>
          <a:xfrm>
            <a:off x="457200" y="4315968"/>
            <a:ext cx="3657600" cy="228600"/>
          </a:xfrm>
          <a:prstGeom prst="rect">
            <a:avLst/>
          </a:prstGeom>
          <a:noFill/>
          <a:ln/>
        </p:spPr>
        <p:txBody>
          <a:bodyPr wrap="square" lIns="0" tIns="0" rIns="0" bIns="0" rtlCol="0" anchor="ctr"/>
          <a:lstStyle/>
          <a:p>
            <a:pPr marL="0" indent="0">
              <a:buNone/>
            </a:pPr>
            <a:r>
              <a:rPr lang="en-US" sz="900" b="1" i="1" dirty="0">
                <a:solidFill>
                  <a:srgbClr val="94A3B8"/>
                </a:solidFill>
                <a:latin typeface="Calibri" pitchFamily="34" charset="0"/>
                <a:ea typeface="Calibri" pitchFamily="34" charset="-122"/>
                <a:cs typeface="Calibri" pitchFamily="34" charset="-120"/>
              </a:rPr>
              <a:t>Algorithms: PCA · t-SNE · UMAP · LDA · Autoencoders</a:t>
            </a:r>
            <a:endParaRPr lang="en-US" sz="900" dirty="0"/>
          </a:p>
        </p:txBody>
      </p:sp>
      <p:sp>
        <p:nvSpPr>
          <p:cNvPr id="29" name="Shape 27"/>
          <p:cNvSpPr/>
          <p:nvPr/>
        </p:nvSpPr>
        <p:spPr>
          <a:xfrm>
            <a:off x="4754880" y="960120"/>
            <a:ext cx="4114800" cy="3886200"/>
          </a:xfrm>
          <a:prstGeom prst="rect">
            <a:avLst/>
          </a:prstGeom>
          <a:solidFill>
            <a:srgbClr val="FFFFFF"/>
          </a:solidFill>
          <a:ln/>
          <a:effectLst>
            <a:outerShdw blurRad="101600" dist="38100" dir="8100000" algn="bl" rotWithShape="0">
              <a:srgbClr val="000000">
                <a:alpha val="20000"/>
              </a:srgbClr>
            </a:outerShdw>
          </a:effectLst>
        </p:spPr>
        <p:txBody>
          <a:bodyPr/>
          <a:lstStyle/>
          <a:p>
            <a:endParaRPr lang="en-US"/>
          </a:p>
        </p:txBody>
      </p:sp>
      <p:sp>
        <p:nvSpPr>
          <p:cNvPr id="30" name="Shape 28"/>
          <p:cNvSpPr/>
          <p:nvPr/>
        </p:nvSpPr>
        <p:spPr>
          <a:xfrm>
            <a:off x="4754880" y="960120"/>
            <a:ext cx="4114800" cy="73152"/>
          </a:xfrm>
          <a:prstGeom prst="rect">
            <a:avLst/>
          </a:prstGeom>
          <a:solidFill>
            <a:srgbClr val="EF4444"/>
          </a:solidFill>
          <a:ln/>
        </p:spPr>
        <p:txBody>
          <a:bodyPr/>
          <a:lstStyle/>
          <a:p>
            <a:endParaRPr lang="en-US"/>
          </a:p>
        </p:txBody>
      </p:sp>
      <p:sp>
        <p:nvSpPr>
          <p:cNvPr id="31" name="Text 29"/>
          <p:cNvSpPr/>
          <p:nvPr/>
        </p:nvSpPr>
        <p:spPr>
          <a:xfrm>
            <a:off x="4937760" y="1051560"/>
            <a:ext cx="3749040" cy="320040"/>
          </a:xfrm>
          <a:prstGeom prst="rect">
            <a:avLst/>
          </a:prstGeom>
          <a:noFill/>
          <a:ln/>
        </p:spPr>
        <p:txBody>
          <a:bodyPr wrap="square" lIns="0" tIns="0" rIns="0" bIns="0" rtlCol="0" anchor="ctr"/>
          <a:lstStyle/>
          <a:p>
            <a:pPr marL="0" indent="0">
              <a:buNone/>
            </a:pPr>
            <a:r>
              <a:rPr lang="en-US" sz="1300" b="1" dirty="0">
                <a:solidFill>
                  <a:srgbClr val="EF4444"/>
                </a:solidFill>
                <a:latin typeface="Calibri" pitchFamily="34" charset="0"/>
                <a:ea typeface="Calibri" pitchFamily="34" charset="-122"/>
                <a:cs typeface="Calibri" pitchFamily="34" charset="-120"/>
              </a:rPr>
              <a:t>🚨 Anomaly Detection</a:t>
            </a:r>
            <a:endParaRPr lang="en-US" sz="1300" dirty="0"/>
          </a:p>
        </p:txBody>
      </p:sp>
      <p:sp>
        <p:nvSpPr>
          <p:cNvPr id="32" name="Text 30"/>
          <p:cNvSpPr/>
          <p:nvPr/>
        </p:nvSpPr>
        <p:spPr>
          <a:xfrm>
            <a:off x="4937760" y="1417320"/>
            <a:ext cx="3749040" cy="64008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Identifies rare items, events or observations that raise suspicion by differing significantly from the majority.</a:t>
            </a:r>
            <a:endParaRPr lang="en-US" sz="1000" dirty="0"/>
          </a:p>
        </p:txBody>
      </p:sp>
      <p:sp>
        <p:nvSpPr>
          <p:cNvPr id="33" name="Text 31"/>
          <p:cNvSpPr/>
          <p:nvPr/>
        </p:nvSpPr>
        <p:spPr>
          <a:xfrm>
            <a:off x="4937760" y="2121408"/>
            <a:ext cx="3657600" cy="228600"/>
          </a:xfrm>
          <a:prstGeom prst="rect">
            <a:avLst/>
          </a:prstGeom>
          <a:noFill/>
          <a:ln/>
        </p:spPr>
        <p:txBody>
          <a:bodyPr wrap="square" lIns="0" tIns="0" rIns="0" bIns="0" rtlCol="0" anchor="ctr"/>
          <a:lstStyle/>
          <a:p>
            <a:pPr marL="0" indent="0">
              <a:buNone/>
            </a:pPr>
            <a:r>
              <a:rPr lang="en-US" sz="1000" b="1" dirty="0">
                <a:solidFill>
                  <a:srgbClr val="94A3B8"/>
                </a:solidFill>
                <a:latin typeface="Calibri" pitchFamily="34" charset="0"/>
                <a:ea typeface="Calibri" pitchFamily="34" charset="-122"/>
                <a:cs typeface="Calibri" pitchFamily="34" charset="-120"/>
              </a:rPr>
              <a:t>Network Traffic Anomaly Detection</a:t>
            </a:r>
            <a:endParaRPr lang="en-US" sz="1000" dirty="0"/>
          </a:p>
        </p:txBody>
      </p:sp>
      <p:sp>
        <p:nvSpPr>
          <p:cNvPr id="34" name="Shape 32"/>
          <p:cNvSpPr/>
          <p:nvPr/>
        </p:nvSpPr>
        <p:spPr>
          <a:xfrm>
            <a:off x="4892040" y="2423160"/>
            <a:ext cx="3840480" cy="1371600"/>
          </a:xfrm>
          <a:prstGeom prst="rect">
            <a:avLst/>
          </a:prstGeom>
          <a:solidFill>
            <a:srgbClr val="FFF1F2"/>
          </a:solidFill>
          <a:ln w="12700">
            <a:solidFill>
              <a:srgbClr val="FECDD3"/>
            </a:solidFill>
            <a:prstDash val="solid"/>
          </a:ln>
        </p:spPr>
        <p:txBody>
          <a:bodyPr/>
          <a:lstStyle/>
          <a:p>
            <a:endParaRPr lang="en-US"/>
          </a:p>
        </p:txBody>
      </p:sp>
      <p:sp>
        <p:nvSpPr>
          <p:cNvPr id="35" name="Shape 33"/>
          <p:cNvSpPr/>
          <p:nvPr/>
        </p:nvSpPr>
        <p:spPr>
          <a:xfrm>
            <a:off x="5230368" y="2994660"/>
            <a:ext cx="91440" cy="91440"/>
          </a:xfrm>
          <a:prstGeom prst="ellipse">
            <a:avLst/>
          </a:prstGeom>
          <a:solidFill>
            <a:srgbClr val="3B82F6">
              <a:alpha val="80000"/>
            </a:srgbClr>
          </a:solidFill>
          <a:ln/>
        </p:spPr>
        <p:txBody>
          <a:bodyPr/>
          <a:lstStyle/>
          <a:p>
            <a:endParaRPr lang="en-US"/>
          </a:p>
        </p:txBody>
      </p:sp>
      <p:sp>
        <p:nvSpPr>
          <p:cNvPr id="36" name="Shape 34"/>
          <p:cNvSpPr/>
          <p:nvPr/>
        </p:nvSpPr>
        <p:spPr>
          <a:xfrm>
            <a:off x="5422392" y="3131820"/>
            <a:ext cx="91440" cy="91440"/>
          </a:xfrm>
          <a:prstGeom prst="ellipse">
            <a:avLst/>
          </a:prstGeom>
          <a:solidFill>
            <a:srgbClr val="3B82F6">
              <a:alpha val="80000"/>
            </a:srgbClr>
          </a:solidFill>
          <a:ln/>
        </p:spPr>
        <p:txBody>
          <a:bodyPr/>
          <a:lstStyle/>
          <a:p>
            <a:endParaRPr lang="en-US"/>
          </a:p>
        </p:txBody>
      </p:sp>
      <p:sp>
        <p:nvSpPr>
          <p:cNvPr id="37" name="Shape 35"/>
          <p:cNvSpPr/>
          <p:nvPr/>
        </p:nvSpPr>
        <p:spPr>
          <a:xfrm>
            <a:off x="5614416" y="3035808"/>
            <a:ext cx="91440" cy="91440"/>
          </a:xfrm>
          <a:prstGeom prst="ellipse">
            <a:avLst/>
          </a:prstGeom>
          <a:solidFill>
            <a:srgbClr val="3B82F6">
              <a:alpha val="80000"/>
            </a:srgbClr>
          </a:solidFill>
          <a:ln/>
        </p:spPr>
        <p:txBody>
          <a:bodyPr/>
          <a:lstStyle/>
          <a:p>
            <a:endParaRPr lang="en-US"/>
          </a:p>
        </p:txBody>
      </p:sp>
      <p:sp>
        <p:nvSpPr>
          <p:cNvPr id="38" name="Shape 36"/>
          <p:cNvSpPr/>
          <p:nvPr/>
        </p:nvSpPr>
        <p:spPr>
          <a:xfrm>
            <a:off x="5806440" y="2953512"/>
            <a:ext cx="91440" cy="91440"/>
          </a:xfrm>
          <a:prstGeom prst="ellipse">
            <a:avLst/>
          </a:prstGeom>
          <a:solidFill>
            <a:srgbClr val="3B82F6">
              <a:alpha val="80000"/>
            </a:srgbClr>
          </a:solidFill>
          <a:ln/>
        </p:spPr>
        <p:txBody>
          <a:bodyPr/>
          <a:lstStyle/>
          <a:p>
            <a:endParaRPr lang="en-US"/>
          </a:p>
        </p:txBody>
      </p:sp>
      <p:sp>
        <p:nvSpPr>
          <p:cNvPr id="39" name="Shape 37"/>
          <p:cNvSpPr/>
          <p:nvPr/>
        </p:nvSpPr>
        <p:spPr>
          <a:xfrm>
            <a:off x="5998464" y="3063240"/>
            <a:ext cx="91440" cy="91440"/>
          </a:xfrm>
          <a:prstGeom prst="ellipse">
            <a:avLst/>
          </a:prstGeom>
          <a:solidFill>
            <a:srgbClr val="3B82F6">
              <a:alpha val="80000"/>
            </a:srgbClr>
          </a:solidFill>
          <a:ln/>
        </p:spPr>
        <p:txBody>
          <a:bodyPr/>
          <a:lstStyle/>
          <a:p>
            <a:endParaRPr lang="en-US"/>
          </a:p>
        </p:txBody>
      </p:sp>
      <p:sp>
        <p:nvSpPr>
          <p:cNvPr id="40" name="Shape 38"/>
          <p:cNvSpPr/>
          <p:nvPr/>
        </p:nvSpPr>
        <p:spPr>
          <a:xfrm>
            <a:off x="6190488" y="2980944"/>
            <a:ext cx="91440" cy="91440"/>
          </a:xfrm>
          <a:prstGeom prst="ellipse">
            <a:avLst/>
          </a:prstGeom>
          <a:solidFill>
            <a:srgbClr val="3B82F6">
              <a:alpha val="80000"/>
            </a:srgbClr>
          </a:solidFill>
          <a:ln/>
        </p:spPr>
        <p:txBody>
          <a:bodyPr/>
          <a:lstStyle/>
          <a:p>
            <a:endParaRPr lang="en-US"/>
          </a:p>
        </p:txBody>
      </p:sp>
      <p:sp>
        <p:nvSpPr>
          <p:cNvPr id="41" name="Shape 39"/>
          <p:cNvSpPr/>
          <p:nvPr/>
        </p:nvSpPr>
        <p:spPr>
          <a:xfrm>
            <a:off x="6382512" y="3090672"/>
            <a:ext cx="91440" cy="91440"/>
          </a:xfrm>
          <a:prstGeom prst="ellipse">
            <a:avLst/>
          </a:prstGeom>
          <a:solidFill>
            <a:srgbClr val="3B82F6">
              <a:alpha val="80000"/>
            </a:srgbClr>
          </a:solidFill>
          <a:ln/>
        </p:spPr>
        <p:txBody>
          <a:bodyPr/>
          <a:lstStyle/>
          <a:p>
            <a:endParaRPr lang="en-US"/>
          </a:p>
        </p:txBody>
      </p:sp>
      <p:sp>
        <p:nvSpPr>
          <p:cNvPr id="42" name="Shape 40"/>
          <p:cNvSpPr/>
          <p:nvPr/>
        </p:nvSpPr>
        <p:spPr>
          <a:xfrm>
            <a:off x="6574536" y="3008376"/>
            <a:ext cx="91440" cy="91440"/>
          </a:xfrm>
          <a:prstGeom prst="ellipse">
            <a:avLst/>
          </a:prstGeom>
          <a:solidFill>
            <a:srgbClr val="3B82F6">
              <a:alpha val="80000"/>
            </a:srgbClr>
          </a:solidFill>
          <a:ln/>
        </p:spPr>
        <p:txBody>
          <a:bodyPr/>
          <a:lstStyle/>
          <a:p>
            <a:endParaRPr lang="en-US"/>
          </a:p>
        </p:txBody>
      </p:sp>
      <p:sp>
        <p:nvSpPr>
          <p:cNvPr id="43" name="Shape 41"/>
          <p:cNvSpPr/>
          <p:nvPr/>
        </p:nvSpPr>
        <p:spPr>
          <a:xfrm>
            <a:off x="6766560" y="3104388"/>
            <a:ext cx="91440" cy="91440"/>
          </a:xfrm>
          <a:prstGeom prst="ellipse">
            <a:avLst/>
          </a:prstGeom>
          <a:solidFill>
            <a:srgbClr val="3B82F6">
              <a:alpha val="80000"/>
            </a:srgbClr>
          </a:solidFill>
          <a:ln/>
        </p:spPr>
        <p:txBody>
          <a:bodyPr/>
          <a:lstStyle/>
          <a:p>
            <a:endParaRPr lang="en-US"/>
          </a:p>
        </p:txBody>
      </p:sp>
      <p:sp>
        <p:nvSpPr>
          <p:cNvPr id="44" name="Shape 42"/>
          <p:cNvSpPr/>
          <p:nvPr/>
        </p:nvSpPr>
        <p:spPr>
          <a:xfrm>
            <a:off x="6958584" y="3022092"/>
            <a:ext cx="91440" cy="91440"/>
          </a:xfrm>
          <a:prstGeom prst="ellipse">
            <a:avLst/>
          </a:prstGeom>
          <a:solidFill>
            <a:srgbClr val="3B82F6">
              <a:alpha val="80000"/>
            </a:srgbClr>
          </a:solidFill>
          <a:ln/>
        </p:spPr>
        <p:txBody>
          <a:bodyPr/>
          <a:lstStyle/>
          <a:p>
            <a:endParaRPr lang="en-US"/>
          </a:p>
        </p:txBody>
      </p:sp>
      <p:sp>
        <p:nvSpPr>
          <p:cNvPr id="45" name="Shape 43"/>
          <p:cNvSpPr/>
          <p:nvPr/>
        </p:nvSpPr>
        <p:spPr>
          <a:xfrm>
            <a:off x="7150608" y="3076956"/>
            <a:ext cx="91440" cy="91440"/>
          </a:xfrm>
          <a:prstGeom prst="ellipse">
            <a:avLst/>
          </a:prstGeom>
          <a:solidFill>
            <a:srgbClr val="3B82F6">
              <a:alpha val="80000"/>
            </a:srgbClr>
          </a:solidFill>
          <a:ln/>
        </p:spPr>
        <p:txBody>
          <a:bodyPr/>
          <a:lstStyle/>
          <a:p>
            <a:endParaRPr lang="en-US"/>
          </a:p>
        </p:txBody>
      </p:sp>
      <p:sp>
        <p:nvSpPr>
          <p:cNvPr id="46" name="Shape 44"/>
          <p:cNvSpPr/>
          <p:nvPr/>
        </p:nvSpPr>
        <p:spPr>
          <a:xfrm>
            <a:off x="7342632" y="2994660"/>
            <a:ext cx="91440" cy="91440"/>
          </a:xfrm>
          <a:prstGeom prst="ellipse">
            <a:avLst/>
          </a:prstGeom>
          <a:solidFill>
            <a:srgbClr val="3B82F6">
              <a:alpha val="80000"/>
            </a:srgbClr>
          </a:solidFill>
          <a:ln/>
        </p:spPr>
        <p:txBody>
          <a:bodyPr/>
          <a:lstStyle/>
          <a:p>
            <a:endParaRPr lang="en-US"/>
          </a:p>
        </p:txBody>
      </p:sp>
      <p:sp>
        <p:nvSpPr>
          <p:cNvPr id="47" name="Shape 45"/>
          <p:cNvSpPr/>
          <p:nvPr/>
        </p:nvSpPr>
        <p:spPr>
          <a:xfrm>
            <a:off x="7534656" y="3035808"/>
            <a:ext cx="91440" cy="91440"/>
          </a:xfrm>
          <a:prstGeom prst="ellipse">
            <a:avLst/>
          </a:prstGeom>
          <a:solidFill>
            <a:srgbClr val="3B82F6">
              <a:alpha val="80000"/>
            </a:srgbClr>
          </a:solidFill>
          <a:ln/>
        </p:spPr>
        <p:txBody>
          <a:bodyPr/>
          <a:lstStyle/>
          <a:p>
            <a:endParaRPr lang="en-US"/>
          </a:p>
        </p:txBody>
      </p:sp>
      <p:sp>
        <p:nvSpPr>
          <p:cNvPr id="48" name="Shape 46"/>
          <p:cNvSpPr/>
          <p:nvPr/>
        </p:nvSpPr>
        <p:spPr>
          <a:xfrm>
            <a:off x="7726680" y="3063240"/>
            <a:ext cx="91440" cy="91440"/>
          </a:xfrm>
          <a:prstGeom prst="ellipse">
            <a:avLst/>
          </a:prstGeom>
          <a:solidFill>
            <a:srgbClr val="3B82F6">
              <a:alpha val="80000"/>
            </a:srgbClr>
          </a:solidFill>
          <a:ln/>
        </p:spPr>
        <p:txBody>
          <a:bodyPr/>
          <a:lstStyle/>
          <a:p>
            <a:endParaRPr lang="en-US"/>
          </a:p>
        </p:txBody>
      </p:sp>
      <p:sp>
        <p:nvSpPr>
          <p:cNvPr id="49" name="Shape 47"/>
          <p:cNvSpPr/>
          <p:nvPr/>
        </p:nvSpPr>
        <p:spPr>
          <a:xfrm>
            <a:off x="7918704" y="3008376"/>
            <a:ext cx="91440" cy="91440"/>
          </a:xfrm>
          <a:prstGeom prst="ellipse">
            <a:avLst/>
          </a:prstGeom>
          <a:solidFill>
            <a:srgbClr val="3B82F6">
              <a:alpha val="80000"/>
            </a:srgbClr>
          </a:solidFill>
          <a:ln/>
        </p:spPr>
        <p:txBody>
          <a:bodyPr/>
          <a:lstStyle/>
          <a:p>
            <a:endParaRPr lang="en-US"/>
          </a:p>
        </p:txBody>
      </p:sp>
      <p:sp>
        <p:nvSpPr>
          <p:cNvPr id="50" name="Shape 48"/>
          <p:cNvSpPr/>
          <p:nvPr/>
        </p:nvSpPr>
        <p:spPr>
          <a:xfrm>
            <a:off x="6144768" y="2468880"/>
            <a:ext cx="182880" cy="182880"/>
          </a:xfrm>
          <a:prstGeom prst="ellipse">
            <a:avLst/>
          </a:prstGeom>
          <a:solidFill>
            <a:srgbClr val="EF4444"/>
          </a:solidFill>
          <a:ln/>
        </p:spPr>
        <p:txBody>
          <a:bodyPr/>
          <a:lstStyle/>
          <a:p>
            <a:endParaRPr lang="en-US"/>
          </a:p>
        </p:txBody>
      </p:sp>
      <p:sp>
        <p:nvSpPr>
          <p:cNvPr id="51" name="Text 49"/>
          <p:cNvSpPr/>
          <p:nvPr/>
        </p:nvSpPr>
        <p:spPr>
          <a:xfrm>
            <a:off x="6144768" y="2468880"/>
            <a:ext cx="182880" cy="1828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52" name="Shape 50"/>
          <p:cNvSpPr/>
          <p:nvPr/>
        </p:nvSpPr>
        <p:spPr>
          <a:xfrm>
            <a:off x="7296912" y="3538728"/>
            <a:ext cx="182880" cy="182880"/>
          </a:xfrm>
          <a:prstGeom prst="ellipse">
            <a:avLst/>
          </a:prstGeom>
          <a:solidFill>
            <a:srgbClr val="EF4444"/>
          </a:solidFill>
          <a:ln/>
        </p:spPr>
        <p:txBody>
          <a:bodyPr/>
          <a:lstStyle/>
          <a:p>
            <a:endParaRPr lang="en-US"/>
          </a:p>
        </p:txBody>
      </p:sp>
      <p:sp>
        <p:nvSpPr>
          <p:cNvPr id="53" name="Text 51"/>
          <p:cNvSpPr/>
          <p:nvPr/>
        </p:nvSpPr>
        <p:spPr>
          <a:xfrm>
            <a:off x="7296912" y="3538728"/>
            <a:ext cx="182880" cy="1828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54" name="Shape 52"/>
          <p:cNvSpPr/>
          <p:nvPr/>
        </p:nvSpPr>
        <p:spPr>
          <a:xfrm>
            <a:off x="5261458" y="3538728"/>
            <a:ext cx="182880" cy="182880"/>
          </a:xfrm>
          <a:prstGeom prst="ellipse">
            <a:avLst/>
          </a:prstGeom>
          <a:solidFill>
            <a:srgbClr val="EF4444"/>
          </a:solidFill>
          <a:ln/>
        </p:spPr>
        <p:txBody>
          <a:bodyPr/>
          <a:lstStyle/>
          <a:p>
            <a:endParaRPr lang="en-US"/>
          </a:p>
        </p:txBody>
      </p:sp>
      <p:sp>
        <p:nvSpPr>
          <p:cNvPr id="55" name="Text 53"/>
          <p:cNvSpPr/>
          <p:nvPr/>
        </p:nvSpPr>
        <p:spPr>
          <a:xfrm>
            <a:off x="5261458" y="3538728"/>
            <a:ext cx="182880" cy="1828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56" name="Shape 54"/>
          <p:cNvSpPr/>
          <p:nvPr/>
        </p:nvSpPr>
        <p:spPr>
          <a:xfrm>
            <a:off x="4892040" y="3630168"/>
            <a:ext cx="137160" cy="137160"/>
          </a:xfrm>
          <a:prstGeom prst="ellipse">
            <a:avLst/>
          </a:prstGeom>
          <a:solidFill>
            <a:srgbClr val="3B82F6"/>
          </a:solidFill>
          <a:ln/>
        </p:spPr>
        <p:txBody>
          <a:bodyPr/>
          <a:lstStyle/>
          <a:p>
            <a:endParaRPr lang="en-US"/>
          </a:p>
        </p:txBody>
      </p:sp>
      <p:sp>
        <p:nvSpPr>
          <p:cNvPr id="57" name="Text 55"/>
          <p:cNvSpPr/>
          <p:nvPr/>
        </p:nvSpPr>
        <p:spPr>
          <a:xfrm>
            <a:off x="5056632" y="3621024"/>
            <a:ext cx="640080" cy="164592"/>
          </a:xfrm>
          <a:prstGeom prst="rect">
            <a:avLst/>
          </a:prstGeom>
          <a:noFill/>
          <a:ln/>
        </p:spPr>
        <p:txBody>
          <a:bodyPr wrap="square" lIns="0" tIns="0" rIns="0" bIns="0" rtlCol="0" anchor="ctr"/>
          <a:lstStyle/>
          <a:p>
            <a:pPr marL="0" indent="0">
              <a:buNone/>
            </a:pPr>
            <a:r>
              <a:rPr lang="en-US" sz="800" dirty="0">
                <a:solidFill>
                  <a:srgbClr val="0F172A"/>
                </a:solidFill>
                <a:latin typeface="Calibri" pitchFamily="34" charset="0"/>
                <a:ea typeface="Calibri" pitchFamily="34" charset="-122"/>
                <a:cs typeface="Calibri" pitchFamily="34" charset="-120"/>
              </a:rPr>
              <a:t>Normal</a:t>
            </a:r>
            <a:endParaRPr lang="en-US" sz="800" dirty="0"/>
          </a:p>
        </p:txBody>
      </p:sp>
      <p:sp>
        <p:nvSpPr>
          <p:cNvPr id="58" name="Shape 56"/>
          <p:cNvSpPr/>
          <p:nvPr/>
        </p:nvSpPr>
        <p:spPr>
          <a:xfrm>
            <a:off x="5897880" y="3630168"/>
            <a:ext cx="137160" cy="137160"/>
          </a:xfrm>
          <a:prstGeom prst="ellipse">
            <a:avLst/>
          </a:prstGeom>
          <a:solidFill>
            <a:srgbClr val="EF4444"/>
          </a:solidFill>
          <a:ln/>
        </p:spPr>
        <p:txBody>
          <a:bodyPr/>
          <a:lstStyle/>
          <a:p>
            <a:endParaRPr lang="en-US"/>
          </a:p>
        </p:txBody>
      </p:sp>
      <p:sp>
        <p:nvSpPr>
          <p:cNvPr id="59" name="Text 57"/>
          <p:cNvSpPr/>
          <p:nvPr/>
        </p:nvSpPr>
        <p:spPr>
          <a:xfrm>
            <a:off x="6080760" y="3621024"/>
            <a:ext cx="731520" cy="164592"/>
          </a:xfrm>
          <a:prstGeom prst="rect">
            <a:avLst/>
          </a:prstGeom>
          <a:noFill/>
          <a:ln/>
        </p:spPr>
        <p:txBody>
          <a:bodyPr wrap="square" lIns="0" tIns="0" rIns="0" bIns="0" rtlCol="0" anchor="ctr"/>
          <a:lstStyle/>
          <a:p>
            <a:pPr marL="0" indent="0">
              <a:buNone/>
            </a:pPr>
            <a:r>
              <a:rPr lang="en-US" sz="800" dirty="0">
                <a:solidFill>
                  <a:srgbClr val="0F172A"/>
                </a:solidFill>
                <a:latin typeface="Calibri" pitchFamily="34" charset="0"/>
                <a:ea typeface="Calibri" pitchFamily="34" charset="-122"/>
                <a:cs typeface="Calibri" pitchFamily="34" charset="-120"/>
              </a:rPr>
              <a:t>Anomaly</a:t>
            </a:r>
            <a:endParaRPr lang="en-US" sz="800" dirty="0"/>
          </a:p>
        </p:txBody>
      </p:sp>
      <p:sp>
        <p:nvSpPr>
          <p:cNvPr id="60" name="Text 58"/>
          <p:cNvSpPr/>
          <p:nvPr/>
        </p:nvSpPr>
        <p:spPr>
          <a:xfrm>
            <a:off x="4937760" y="3886200"/>
            <a:ext cx="3749040" cy="502920"/>
          </a:xfrm>
          <a:prstGeom prst="rect">
            <a:avLst/>
          </a:prstGeom>
          <a:noFill/>
          <a:ln/>
        </p:spPr>
        <p:txBody>
          <a:bodyPr wrap="square" lIns="0" tIns="0" rIns="0" bIns="0" rtlCol="0" anchor="ctr"/>
          <a:lstStyle/>
          <a:p>
            <a:pPr marL="0" indent="0">
              <a:buNone/>
            </a:pPr>
            <a:r>
              <a:rPr lang="en-US" sz="900" dirty="0">
                <a:solidFill>
                  <a:srgbClr val="0F172A"/>
                </a:solidFill>
                <a:latin typeface="Calibri" pitchFamily="34" charset="0"/>
                <a:ea typeface="Calibri" pitchFamily="34" charset="-122"/>
                <a:cs typeface="Calibri" pitchFamily="34" charset="-120"/>
              </a:rPr>
              <a:t>Use Cases: Fraud detection, Intrusion detection, Industrial fault detection, Medical diagnostics</a:t>
            </a:r>
            <a:endParaRPr lang="en-US" sz="900" dirty="0"/>
          </a:p>
        </p:txBody>
      </p:sp>
      <p:sp>
        <p:nvSpPr>
          <p:cNvPr id="61" name="Text 59"/>
          <p:cNvSpPr/>
          <p:nvPr/>
        </p:nvSpPr>
        <p:spPr>
          <a:xfrm>
            <a:off x="4937760" y="4370832"/>
            <a:ext cx="3749040" cy="228600"/>
          </a:xfrm>
          <a:prstGeom prst="rect">
            <a:avLst/>
          </a:prstGeom>
          <a:noFill/>
          <a:ln/>
        </p:spPr>
        <p:txBody>
          <a:bodyPr wrap="square" lIns="0" tIns="0" rIns="0" bIns="0" rtlCol="0" anchor="ctr"/>
          <a:lstStyle/>
          <a:p>
            <a:pPr marL="0" indent="0">
              <a:buNone/>
            </a:pPr>
            <a:r>
              <a:rPr lang="en-US" sz="900" b="1" i="1" dirty="0">
                <a:solidFill>
                  <a:srgbClr val="94A3B8"/>
                </a:solidFill>
                <a:latin typeface="Calibri" pitchFamily="34" charset="0"/>
                <a:ea typeface="Calibri" pitchFamily="34" charset="-122"/>
                <a:cs typeface="Calibri" pitchFamily="34" charset="-120"/>
              </a:rPr>
              <a:t>Algorithms: Isolation Forest · One-Class SVM · LOF · Autoencoders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59E0B"/>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Association Rule Learning</a:t>
            </a:r>
            <a:endParaRPr lang="en-US" sz="2400" dirty="0"/>
          </a:p>
        </p:txBody>
      </p:sp>
      <p:sp>
        <p:nvSpPr>
          <p:cNvPr id="4" name="Shape 2"/>
          <p:cNvSpPr/>
          <p:nvPr/>
        </p:nvSpPr>
        <p:spPr>
          <a:xfrm>
            <a:off x="274320" y="992597"/>
            <a:ext cx="8595360" cy="777240"/>
          </a:xfrm>
          <a:prstGeom prst="rect">
            <a:avLst/>
          </a:prstGeom>
          <a:solidFill>
            <a:srgbClr val="FFF7ED"/>
          </a:solidFill>
          <a:ln w="12700">
            <a:solidFill>
              <a:srgbClr val="F59E0B"/>
            </a:solidFill>
            <a:prstDash val="solid"/>
          </a:ln>
        </p:spPr>
        <p:txBody>
          <a:bodyPr/>
          <a:lstStyle/>
          <a:p>
            <a:endParaRPr lang="en-US"/>
          </a:p>
        </p:txBody>
      </p:sp>
      <p:sp>
        <p:nvSpPr>
          <p:cNvPr id="5" name="Text 3"/>
          <p:cNvSpPr/>
          <p:nvPr/>
        </p:nvSpPr>
        <p:spPr>
          <a:xfrm>
            <a:off x="457200" y="1051560"/>
            <a:ext cx="8229600" cy="64008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Discovers interesting relationships between variables in large databases — the classic example: Market Basket Analysis.</a:t>
            </a:r>
            <a:endParaRPr lang="en-US" sz="1200" dirty="0"/>
          </a:p>
        </p:txBody>
      </p:sp>
      <p:sp>
        <p:nvSpPr>
          <p:cNvPr id="24" name="Shape 22"/>
          <p:cNvSpPr/>
          <p:nvPr/>
        </p:nvSpPr>
        <p:spPr>
          <a:xfrm>
            <a:off x="274320" y="2330145"/>
            <a:ext cx="8595360" cy="1463040"/>
          </a:xfrm>
          <a:prstGeom prst="rect">
            <a:avLst/>
          </a:prstGeom>
          <a:solidFill>
            <a:srgbClr val="FFFFFF"/>
          </a:solidFill>
          <a:ln/>
          <a:effectLst>
            <a:outerShdw blurRad="101600" dist="38100" dir="8100000" algn="bl" rotWithShape="0">
              <a:srgbClr val="000000">
                <a:alpha val="20000"/>
              </a:srgbClr>
            </a:outerShdw>
          </a:effectLst>
        </p:spPr>
        <p:txBody>
          <a:bodyPr/>
          <a:lstStyle/>
          <a:p>
            <a:endParaRPr lang="en-US"/>
          </a:p>
        </p:txBody>
      </p:sp>
      <p:sp>
        <p:nvSpPr>
          <p:cNvPr id="25" name="Text 23"/>
          <p:cNvSpPr/>
          <p:nvPr/>
        </p:nvSpPr>
        <p:spPr>
          <a:xfrm>
            <a:off x="457200" y="2421585"/>
            <a:ext cx="8229600" cy="274320"/>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Market Basket Analysis Example</a:t>
            </a:r>
            <a:endParaRPr lang="en-US" sz="1200" dirty="0"/>
          </a:p>
        </p:txBody>
      </p:sp>
      <p:sp>
        <p:nvSpPr>
          <p:cNvPr id="26" name="Shape 24"/>
          <p:cNvSpPr/>
          <p:nvPr/>
        </p:nvSpPr>
        <p:spPr>
          <a:xfrm>
            <a:off x="457200" y="2741625"/>
            <a:ext cx="1828800" cy="640080"/>
          </a:xfrm>
          <a:prstGeom prst="rect">
            <a:avLst/>
          </a:prstGeom>
          <a:solidFill>
            <a:srgbClr val="FFF7ED"/>
          </a:solidFill>
          <a:ln w="19050">
            <a:solidFill>
              <a:srgbClr val="F59E0B"/>
            </a:solidFill>
            <a:prstDash val="solid"/>
          </a:ln>
        </p:spPr>
        <p:txBody>
          <a:bodyPr/>
          <a:lstStyle/>
          <a:p>
            <a:endParaRPr lang="en-US"/>
          </a:p>
        </p:txBody>
      </p:sp>
      <p:sp>
        <p:nvSpPr>
          <p:cNvPr id="27" name="Text 25"/>
          <p:cNvSpPr/>
          <p:nvPr/>
        </p:nvSpPr>
        <p:spPr>
          <a:xfrm>
            <a:off x="457200" y="2741625"/>
            <a:ext cx="1828800" cy="640080"/>
          </a:xfrm>
          <a:prstGeom prst="rect">
            <a:avLst/>
          </a:prstGeom>
          <a:noFill/>
          <a:ln/>
        </p:spPr>
        <p:txBody>
          <a:bodyPr wrap="square" lIns="0" tIns="0" rIns="0" bIns="0" rtlCol="0" anchor="ctr"/>
          <a:lstStyle/>
          <a:p>
            <a:pPr marL="0" indent="0" algn="ctr">
              <a:buNone/>
            </a:pPr>
            <a:r>
              <a:rPr lang="en-US" sz="1000" b="1" dirty="0">
                <a:solidFill>
                  <a:srgbClr val="F59E0B"/>
                </a:solidFill>
                <a:latin typeface="Calibri" pitchFamily="34" charset="0"/>
                <a:ea typeface="Calibri" pitchFamily="34" charset="-122"/>
                <a:cs typeface="Calibri" pitchFamily="34" charset="-120"/>
              </a:rPr>
              <a:t>🛒 {Bread, Butter}</a:t>
            </a:r>
            <a:endParaRPr lang="en-US" sz="1000" dirty="0"/>
          </a:p>
        </p:txBody>
      </p:sp>
      <p:sp>
        <p:nvSpPr>
          <p:cNvPr id="28" name="Shape 26"/>
          <p:cNvSpPr/>
          <p:nvPr/>
        </p:nvSpPr>
        <p:spPr>
          <a:xfrm>
            <a:off x="2286000" y="3061665"/>
            <a:ext cx="548640" cy="0"/>
          </a:xfrm>
          <a:prstGeom prst="line">
            <a:avLst/>
          </a:prstGeom>
          <a:noFill/>
          <a:ln w="25400">
            <a:solidFill>
              <a:srgbClr val="0F172A"/>
            </a:solidFill>
            <a:prstDash val="solid"/>
          </a:ln>
        </p:spPr>
        <p:txBody>
          <a:bodyPr/>
          <a:lstStyle/>
          <a:p>
            <a:endParaRPr lang="en-US"/>
          </a:p>
        </p:txBody>
      </p:sp>
      <p:sp>
        <p:nvSpPr>
          <p:cNvPr id="29" name="Text 27"/>
          <p:cNvSpPr/>
          <p:nvPr/>
        </p:nvSpPr>
        <p:spPr>
          <a:xfrm>
            <a:off x="2194560" y="2851353"/>
            <a:ext cx="731520" cy="228600"/>
          </a:xfrm>
          <a:prstGeom prst="rect">
            <a:avLst/>
          </a:prstGeom>
          <a:noFill/>
          <a:ln/>
        </p:spPr>
        <p:txBody>
          <a:bodyPr wrap="square" lIns="0" tIns="0" rIns="0" bIns="0"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IF...THEN</a:t>
            </a:r>
            <a:endParaRPr lang="en-US" sz="800" dirty="0"/>
          </a:p>
        </p:txBody>
      </p:sp>
      <p:sp>
        <p:nvSpPr>
          <p:cNvPr id="30" name="Shape 28"/>
          <p:cNvSpPr/>
          <p:nvPr/>
        </p:nvSpPr>
        <p:spPr>
          <a:xfrm>
            <a:off x="2834640" y="2741625"/>
            <a:ext cx="1463040" cy="640080"/>
          </a:xfrm>
          <a:prstGeom prst="rect">
            <a:avLst/>
          </a:prstGeom>
          <a:solidFill>
            <a:srgbClr val="F0FDF4"/>
          </a:solidFill>
          <a:ln w="19050">
            <a:solidFill>
              <a:srgbClr val="0D9488"/>
            </a:solidFill>
            <a:prstDash val="solid"/>
          </a:ln>
        </p:spPr>
        <p:txBody>
          <a:bodyPr/>
          <a:lstStyle/>
          <a:p>
            <a:endParaRPr lang="en-US"/>
          </a:p>
        </p:txBody>
      </p:sp>
      <p:sp>
        <p:nvSpPr>
          <p:cNvPr id="31" name="Text 29"/>
          <p:cNvSpPr/>
          <p:nvPr/>
        </p:nvSpPr>
        <p:spPr>
          <a:xfrm>
            <a:off x="2834640" y="2741625"/>
            <a:ext cx="1463040" cy="640080"/>
          </a:xfrm>
          <a:prstGeom prst="rect">
            <a:avLst/>
          </a:prstGeom>
          <a:noFill/>
          <a:ln/>
        </p:spPr>
        <p:txBody>
          <a:bodyPr wrap="square" lIns="0" tIns="0" rIns="0" bIns="0"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 {Milk}</a:t>
            </a:r>
            <a:endParaRPr lang="en-US" sz="1000" dirty="0"/>
          </a:p>
        </p:txBody>
      </p:sp>
      <p:sp>
        <p:nvSpPr>
          <p:cNvPr id="33" name="Text 31"/>
          <p:cNvSpPr/>
          <p:nvPr/>
        </p:nvSpPr>
        <p:spPr>
          <a:xfrm>
            <a:off x="4480560" y="2781986"/>
            <a:ext cx="4297680" cy="54864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Example: 75% of customers who buy Bread &amp; Butter also buy Milk. </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59E0B"/>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Semi-Supervised Learning</a:t>
            </a:r>
            <a:endParaRPr lang="en-US" sz="2400" dirty="0"/>
          </a:p>
        </p:txBody>
      </p:sp>
      <p:sp>
        <p:nvSpPr>
          <p:cNvPr id="4" name="Shape 2"/>
          <p:cNvSpPr/>
          <p:nvPr/>
        </p:nvSpPr>
        <p:spPr>
          <a:xfrm>
            <a:off x="457200" y="960120"/>
            <a:ext cx="2926080" cy="594360"/>
          </a:xfrm>
          <a:prstGeom prst="rect">
            <a:avLst/>
          </a:prstGeom>
          <a:solidFill>
            <a:srgbClr val="0D9488"/>
          </a:solidFill>
          <a:ln/>
        </p:spPr>
        <p:txBody>
          <a:bodyPr/>
          <a:lstStyle/>
          <a:p>
            <a:endParaRPr lang="en-US"/>
          </a:p>
        </p:txBody>
      </p:sp>
      <p:sp>
        <p:nvSpPr>
          <p:cNvPr id="5" name="Text 3"/>
          <p:cNvSpPr/>
          <p:nvPr/>
        </p:nvSpPr>
        <p:spPr>
          <a:xfrm>
            <a:off x="457200" y="960120"/>
            <a:ext cx="2926080" cy="5943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Unsupervised</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(No labels)</a:t>
            </a:r>
            <a:endParaRPr lang="en-US" sz="1100" dirty="0"/>
          </a:p>
        </p:txBody>
      </p:sp>
      <p:sp>
        <p:nvSpPr>
          <p:cNvPr id="6" name="Shape 4"/>
          <p:cNvSpPr/>
          <p:nvPr/>
        </p:nvSpPr>
        <p:spPr>
          <a:xfrm>
            <a:off x="3383280" y="960120"/>
            <a:ext cx="2377440" cy="594360"/>
          </a:xfrm>
          <a:prstGeom prst="rect">
            <a:avLst/>
          </a:prstGeom>
          <a:solidFill>
            <a:srgbClr val="F59E0B"/>
          </a:solidFill>
          <a:ln/>
        </p:spPr>
        <p:txBody>
          <a:bodyPr/>
          <a:lstStyle/>
          <a:p>
            <a:endParaRPr lang="en-US"/>
          </a:p>
        </p:txBody>
      </p:sp>
      <p:sp>
        <p:nvSpPr>
          <p:cNvPr id="7" name="Text 5"/>
          <p:cNvSpPr/>
          <p:nvPr/>
        </p:nvSpPr>
        <p:spPr>
          <a:xfrm>
            <a:off x="3383280" y="960120"/>
            <a:ext cx="2377440" cy="59436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 SEMI-</a:t>
            </a:r>
            <a:endParaRPr lang="en-US" sz="1100" dirty="0"/>
          </a:p>
          <a:p>
            <a:pPr marL="0" indent="0" algn="ctr">
              <a:buNone/>
            </a:pPr>
            <a:r>
              <a:rPr lang="en-US" sz="1100" b="1" dirty="0">
                <a:solidFill>
                  <a:srgbClr val="0F172A"/>
                </a:solidFill>
                <a:latin typeface="Calibri" pitchFamily="34" charset="0"/>
                <a:ea typeface="Calibri" pitchFamily="34" charset="-122"/>
                <a:cs typeface="Calibri" pitchFamily="34" charset="-120"/>
              </a:rPr>
              <a:t>SUPERVISED</a:t>
            </a:r>
            <a:endParaRPr lang="en-US" sz="1100" dirty="0"/>
          </a:p>
        </p:txBody>
      </p:sp>
      <p:sp>
        <p:nvSpPr>
          <p:cNvPr id="8" name="Shape 6"/>
          <p:cNvSpPr/>
          <p:nvPr/>
        </p:nvSpPr>
        <p:spPr>
          <a:xfrm>
            <a:off x="5760720" y="960120"/>
            <a:ext cx="2926080" cy="594360"/>
          </a:xfrm>
          <a:prstGeom prst="rect">
            <a:avLst/>
          </a:prstGeom>
          <a:solidFill>
            <a:srgbClr val="3B82F6"/>
          </a:solidFill>
          <a:ln/>
        </p:spPr>
        <p:txBody>
          <a:bodyPr/>
          <a:lstStyle/>
          <a:p>
            <a:endParaRPr lang="en-US"/>
          </a:p>
        </p:txBody>
      </p:sp>
      <p:sp>
        <p:nvSpPr>
          <p:cNvPr id="9" name="Text 7"/>
          <p:cNvSpPr/>
          <p:nvPr/>
        </p:nvSpPr>
        <p:spPr>
          <a:xfrm>
            <a:off x="5760720" y="960120"/>
            <a:ext cx="2926080" cy="5943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Supervised</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(All labeled)</a:t>
            </a:r>
            <a:endParaRPr lang="en-US" sz="1100" dirty="0"/>
          </a:p>
        </p:txBody>
      </p:sp>
      <p:sp>
        <p:nvSpPr>
          <p:cNvPr id="10" name="Shape 8"/>
          <p:cNvSpPr/>
          <p:nvPr/>
        </p:nvSpPr>
        <p:spPr>
          <a:xfrm>
            <a:off x="274320" y="1691640"/>
            <a:ext cx="5029200" cy="3200400"/>
          </a:xfrm>
          <a:prstGeom prst="rect">
            <a:avLst/>
          </a:prstGeom>
          <a:solidFill>
            <a:srgbClr val="1E293B"/>
          </a:solidFill>
          <a:ln/>
          <a:effectLst>
            <a:outerShdw blurRad="101600" dist="38100" dir="8100000" algn="bl" rotWithShape="0">
              <a:srgbClr val="000000">
                <a:alpha val="20000"/>
              </a:srgbClr>
            </a:outerShdw>
          </a:effectLst>
        </p:spPr>
        <p:txBody>
          <a:bodyPr/>
          <a:lstStyle/>
          <a:p>
            <a:endParaRPr lang="en-US"/>
          </a:p>
        </p:txBody>
      </p:sp>
      <p:sp>
        <p:nvSpPr>
          <p:cNvPr id="11" name="Text 9"/>
          <p:cNvSpPr/>
          <p:nvPr/>
        </p:nvSpPr>
        <p:spPr>
          <a:xfrm>
            <a:off x="457200" y="1810512"/>
            <a:ext cx="4572000" cy="274320"/>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How it Works</a:t>
            </a:r>
            <a:endParaRPr lang="en-US" sz="1300" dirty="0"/>
          </a:p>
        </p:txBody>
      </p:sp>
      <p:sp>
        <p:nvSpPr>
          <p:cNvPr id="12" name="Shape 10"/>
          <p:cNvSpPr/>
          <p:nvPr/>
        </p:nvSpPr>
        <p:spPr>
          <a:xfrm>
            <a:off x="457200" y="2148840"/>
            <a:ext cx="4572000" cy="566928"/>
          </a:xfrm>
          <a:prstGeom prst="rect">
            <a:avLst/>
          </a:prstGeom>
          <a:solidFill>
            <a:srgbClr val="0F172A"/>
          </a:solidFill>
          <a:ln w="6350">
            <a:solidFill>
              <a:srgbClr val="334155"/>
            </a:solidFill>
            <a:prstDash val="solid"/>
          </a:ln>
        </p:spPr>
        <p:txBody>
          <a:bodyPr/>
          <a:lstStyle/>
          <a:p>
            <a:endParaRPr lang="en-US"/>
          </a:p>
        </p:txBody>
      </p:sp>
      <p:sp>
        <p:nvSpPr>
          <p:cNvPr id="13" name="Text 11"/>
          <p:cNvSpPr/>
          <p:nvPr/>
        </p:nvSpPr>
        <p:spPr>
          <a:xfrm>
            <a:off x="502920" y="2176272"/>
            <a:ext cx="365760" cy="502920"/>
          </a:xfrm>
          <a:prstGeom prst="rect">
            <a:avLst/>
          </a:prstGeom>
          <a:noFill/>
          <a:ln/>
        </p:spPr>
        <p:txBody>
          <a:bodyPr wrap="square" lIns="0" tIns="0" rIns="0" bIns="0" rtlCol="0" anchor="ctr"/>
          <a:lstStyle/>
          <a:p>
            <a:pPr marL="0" indent="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4" name="Text 12"/>
          <p:cNvSpPr/>
          <p:nvPr/>
        </p:nvSpPr>
        <p:spPr>
          <a:xfrm>
            <a:off x="914400" y="2194560"/>
            <a:ext cx="3931920" cy="201168"/>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Start with small labeled dataset</a:t>
            </a:r>
            <a:endParaRPr lang="en-US" sz="1000" dirty="0"/>
          </a:p>
        </p:txBody>
      </p:sp>
      <p:sp>
        <p:nvSpPr>
          <p:cNvPr id="15" name="Text 13"/>
          <p:cNvSpPr/>
          <p:nvPr/>
        </p:nvSpPr>
        <p:spPr>
          <a:xfrm>
            <a:off x="914400" y="2386584"/>
            <a:ext cx="3931920" cy="20116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Only a tiny fraction of data has labels (expensive to obtain)</a:t>
            </a:r>
            <a:endParaRPr lang="en-US" sz="900" dirty="0"/>
          </a:p>
        </p:txBody>
      </p:sp>
      <p:sp>
        <p:nvSpPr>
          <p:cNvPr id="16" name="Shape 14"/>
          <p:cNvSpPr/>
          <p:nvPr/>
        </p:nvSpPr>
        <p:spPr>
          <a:xfrm>
            <a:off x="457200" y="2807208"/>
            <a:ext cx="4572000" cy="566928"/>
          </a:xfrm>
          <a:prstGeom prst="rect">
            <a:avLst/>
          </a:prstGeom>
          <a:solidFill>
            <a:srgbClr val="0F172A"/>
          </a:solidFill>
          <a:ln w="6350">
            <a:solidFill>
              <a:srgbClr val="334155"/>
            </a:solidFill>
            <a:prstDash val="solid"/>
          </a:ln>
        </p:spPr>
        <p:txBody>
          <a:bodyPr/>
          <a:lstStyle/>
          <a:p>
            <a:endParaRPr lang="en-US"/>
          </a:p>
        </p:txBody>
      </p:sp>
      <p:sp>
        <p:nvSpPr>
          <p:cNvPr id="17" name="Text 15"/>
          <p:cNvSpPr/>
          <p:nvPr/>
        </p:nvSpPr>
        <p:spPr>
          <a:xfrm>
            <a:off x="502920" y="2834640"/>
            <a:ext cx="365760" cy="502920"/>
          </a:xfrm>
          <a:prstGeom prst="rect">
            <a:avLst/>
          </a:prstGeom>
          <a:noFill/>
          <a:ln/>
        </p:spPr>
        <p:txBody>
          <a:bodyPr wrap="square" lIns="0" tIns="0" rIns="0" bIns="0" rtlCol="0" anchor="ctr"/>
          <a:lstStyle/>
          <a:p>
            <a:pPr marL="0" indent="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914400" y="2852928"/>
            <a:ext cx="3931920" cy="201168"/>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Large unlabeled dataset available</a:t>
            </a:r>
            <a:endParaRPr lang="en-US" sz="1000" dirty="0"/>
          </a:p>
        </p:txBody>
      </p:sp>
      <p:sp>
        <p:nvSpPr>
          <p:cNvPr id="19" name="Text 17"/>
          <p:cNvSpPr/>
          <p:nvPr/>
        </p:nvSpPr>
        <p:spPr>
          <a:xfrm>
            <a:off x="914400" y="3044952"/>
            <a:ext cx="3931920" cy="20116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Vast amounts of raw, unlabeled data are cheap to collect</a:t>
            </a:r>
            <a:endParaRPr lang="en-US" sz="900" dirty="0"/>
          </a:p>
        </p:txBody>
      </p:sp>
      <p:sp>
        <p:nvSpPr>
          <p:cNvPr id="20" name="Shape 18"/>
          <p:cNvSpPr/>
          <p:nvPr/>
        </p:nvSpPr>
        <p:spPr>
          <a:xfrm>
            <a:off x="457200" y="3465576"/>
            <a:ext cx="4572000" cy="566928"/>
          </a:xfrm>
          <a:prstGeom prst="rect">
            <a:avLst/>
          </a:prstGeom>
          <a:solidFill>
            <a:srgbClr val="0F172A"/>
          </a:solidFill>
          <a:ln w="6350">
            <a:solidFill>
              <a:srgbClr val="334155"/>
            </a:solidFill>
            <a:prstDash val="solid"/>
          </a:ln>
        </p:spPr>
        <p:txBody>
          <a:bodyPr/>
          <a:lstStyle/>
          <a:p>
            <a:endParaRPr lang="en-US"/>
          </a:p>
        </p:txBody>
      </p:sp>
      <p:sp>
        <p:nvSpPr>
          <p:cNvPr id="21" name="Text 19"/>
          <p:cNvSpPr/>
          <p:nvPr/>
        </p:nvSpPr>
        <p:spPr>
          <a:xfrm>
            <a:off x="502920" y="3493008"/>
            <a:ext cx="365760" cy="502920"/>
          </a:xfrm>
          <a:prstGeom prst="rect">
            <a:avLst/>
          </a:prstGeom>
          <a:noFill/>
          <a:ln/>
        </p:spPr>
        <p:txBody>
          <a:bodyPr wrap="square" lIns="0" tIns="0" rIns="0" bIns="0" rtlCol="0" anchor="ctr"/>
          <a:lstStyle/>
          <a:p>
            <a:pPr marL="0" indent="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914400" y="3511296"/>
            <a:ext cx="3931920" cy="201168"/>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Pseudo-labeling</a:t>
            </a:r>
            <a:endParaRPr lang="en-US" sz="1000" dirty="0"/>
          </a:p>
        </p:txBody>
      </p:sp>
      <p:sp>
        <p:nvSpPr>
          <p:cNvPr id="23" name="Text 21"/>
          <p:cNvSpPr/>
          <p:nvPr/>
        </p:nvSpPr>
        <p:spPr>
          <a:xfrm>
            <a:off x="914400" y="3703320"/>
            <a:ext cx="3931920" cy="20116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Train on labeled data, predict labels for unlabeled samples</a:t>
            </a:r>
            <a:endParaRPr lang="en-US" sz="900" dirty="0"/>
          </a:p>
        </p:txBody>
      </p:sp>
      <p:sp>
        <p:nvSpPr>
          <p:cNvPr id="24" name="Shape 22"/>
          <p:cNvSpPr/>
          <p:nvPr/>
        </p:nvSpPr>
        <p:spPr>
          <a:xfrm>
            <a:off x="457200" y="4123944"/>
            <a:ext cx="4572000" cy="566928"/>
          </a:xfrm>
          <a:prstGeom prst="rect">
            <a:avLst/>
          </a:prstGeom>
          <a:solidFill>
            <a:srgbClr val="0F172A"/>
          </a:solidFill>
          <a:ln w="6350">
            <a:solidFill>
              <a:srgbClr val="334155"/>
            </a:solidFill>
            <a:prstDash val="solid"/>
          </a:ln>
        </p:spPr>
        <p:txBody>
          <a:bodyPr/>
          <a:lstStyle/>
          <a:p>
            <a:endParaRPr lang="en-US"/>
          </a:p>
        </p:txBody>
      </p:sp>
      <p:sp>
        <p:nvSpPr>
          <p:cNvPr id="25" name="Text 23"/>
          <p:cNvSpPr/>
          <p:nvPr/>
        </p:nvSpPr>
        <p:spPr>
          <a:xfrm>
            <a:off x="502920" y="4151376"/>
            <a:ext cx="365760" cy="502920"/>
          </a:xfrm>
          <a:prstGeom prst="rect">
            <a:avLst/>
          </a:prstGeom>
          <a:noFill/>
          <a:ln/>
        </p:spPr>
        <p:txBody>
          <a:bodyPr wrap="square" lIns="0" tIns="0" rIns="0" bIns="0" rtlCol="0" anchor="ctr"/>
          <a:lstStyle/>
          <a:p>
            <a:pPr marL="0" indent="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6" name="Text 24"/>
          <p:cNvSpPr/>
          <p:nvPr/>
        </p:nvSpPr>
        <p:spPr>
          <a:xfrm>
            <a:off x="914400" y="4169664"/>
            <a:ext cx="3931920" cy="201168"/>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Iterative training</a:t>
            </a:r>
            <a:endParaRPr lang="en-US" sz="1000" dirty="0"/>
          </a:p>
        </p:txBody>
      </p:sp>
      <p:sp>
        <p:nvSpPr>
          <p:cNvPr id="27" name="Text 25"/>
          <p:cNvSpPr/>
          <p:nvPr/>
        </p:nvSpPr>
        <p:spPr>
          <a:xfrm>
            <a:off x="914400" y="4361688"/>
            <a:ext cx="3931920" cy="20116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Add high-confidence pseudo-labels back to training set and repeat</a:t>
            </a:r>
            <a:endParaRPr lang="en-US" sz="900" dirty="0"/>
          </a:p>
        </p:txBody>
      </p:sp>
      <p:sp>
        <p:nvSpPr>
          <p:cNvPr id="28" name="Shape 26"/>
          <p:cNvSpPr/>
          <p:nvPr/>
        </p:nvSpPr>
        <p:spPr>
          <a:xfrm>
            <a:off x="5486400" y="1691640"/>
            <a:ext cx="3383280" cy="3200400"/>
          </a:xfrm>
          <a:prstGeom prst="rect">
            <a:avLst/>
          </a:prstGeom>
          <a:solidFill>
            <a:srgbClr val="1E293B"/>
          </a:solidFill>
          <a:ln/>
          <a:effectLst>
            <a:outerShdw blurRad="101600" dist="38100" dir="8100000" algn="bl" rotWithShape="0">
              <a:srgbClr val="000000">
                <a:alpha val="20000"/>
              </a:srgbClr>
            </a:outerShdw>
          </a:effectLst>
        </p:spPr>
        <p:txBody>
          <a:bodyPr/>
          <a:lstStyle/>
          <a:p>
            <a:endParaRPr lang="en-US"/>
          </a:p>
        </p:txBody>
      </p:sp>
      <p:sp>
        <p:nvSpPr>
          <p:cNvPr id="29" name="Text 27"/>
          <p:cNvSpPr/>
          <p:nvPr/>
        </p:nvSpPr>
        <p:spPr>
          <a:xfrm>
            <a:off x="5669280" y="1810512"/>
            <a:ext cx="3017520" cy="274320"/>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Real-World Examples</a:t>
            </a:r>
            <a:endParaRPr lang="en-US" sz="1300" dirty="0"/>
          </a:p>
        </p:txBody>
      </p:sp>
      <p:sp>
        <p:nvSpPr>
          <p:cNvPr id="30" name="Text 28"/>
          <p:cNvSpPr/>
          <p:nvPr/>
        </p:nvSpPr>
        <p:spPr>
          <a:xfrm>
            <a:off x="5669280" y="2176272"/>
            <a:ext cx="3017520" cy="228600"/>
          </a:xfrm>
          <a:prstGeom prst="rect">
            <a:avLst/>
          </a:prstGeom>
          <a:noFill/>
          <a:ln/>
        </p:spPr>
        <p:txBody>
          <a:bodyPr wrap="square" lIns="0" tIns="0" rIns="0" bIns="0" rtlCol="0" anchor="ctr"/>
          <a:lstStyle/>
          <a:p>
            <a:pPr marL="0" indent="0">
              <a:buNone/>
            </a:pPr>
            <a:r>
              <a:rPr lang="en-US" sz="1000" b="1" dirty="0">
                <a:solidFill>
                  <a:srgbClr val="F8FAFC"/>
                </a:solidFill>
                <a:latin typeface="Calibri" pitchFamily="34" charset="0"/>
                <a:ea typeface="Calibri" pitchFamily="34" charset="-122"/>
                <a:cs typeface="Calibri" pitchFamily="34" charset="-120"/>
              </a:rPr>
              <a:t>🌐 Web Content Classification</a:t>
            </a:r>
            <a:endParaRPr lang="en-US" sz="1000" dirty="0"/>
          </a:p>
        </p:txBody>
      </p:sp>
      <p:sp>
        <p:nvSpPr>
          <p:cNvPr id="31" name="Text 29"/>
          <p:cNvSpPr/>
          <p:nvPr/>
        </p:nvSpPr>
        <p:spPr>
          <a:xfrm>
            <a:off x="5669280" y="2395728"/>
            <a:ext cx="3017520" cy="274320"/>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Few manually tagged pages + billions of unlabeled web pages</a:t>
            </a:r>
            <a:endParaRPr lang="en-US" sz="850" dirty="0"/>
          </a:p>
        </p:txBody>
      </p:sp>
      <p:sp>
        <p:nvSpPr>
          <p:cNvPr id="32" name="Shape 30"/>
          <p:cNvSpPr/>
          <p:nvPr/>
        </p:nvSpPr>
        <p:spPr>
          <a:xfrm>
            <a:off x="5669280" y="2807208"/>
            <a:ext cx="3017520" cy="0"/>
          </a:xfrm>
          <a:prstGeom prst="line">
            <a:avLst/>
          </a:prstGeom>
          <a:noFill/>
          <a:ln w="6350">
            <a:solidFill>
              <a:srgbClr val="334155"/>
            </a:solidFill>
            <a:prstDash val="solid"/>
          </a:ln>
        </p:spPr>
        <p:txBody>
          <a:bodyPr/>
          <a:lstStyle/>
          <a:p>
            <a:endParaRPr lang="en-US"/>
          </a:p>
        </p:txBody>
      </p:sp>
      <p:sp>
        <p:nvSpPr>
          <p:cNvPr id="33" name="Text 31"/>
          <p:cNvSpPr/>
          <p:nvPr/>
        </p:nvSpPr>
        <p:spPr>
          <a:xfrm>
            <a:off x="5669280" y="2889504"/>
            <a:ext cx="3017520" cy="228600"/>
          </a:xfrm>
          <a:prstGeom prst="rect">
            <a:avLst/>
          </a:prstGeom>
          <a:noFill/>
          <a:ln/>
        </p:spPr>
        <p:txBody>
          <a:bodyPr wrap="square" lIns="0" tIns="0" rIns="0" bIns="0" rtlCol="0" anchor="ctr"/>
          <a:lstStyle/>
          <a:p>
            <a:pPr marL="0" indent="0">
              <a:buNone/>
            </a:pPr>
            <a:r>
              <a:rPr lang="en-US" sz="1000" b="1" dirty="0">
                <a:solidFill>
                  <a:srgbClr val="F8FAFC"/>
                </a:solidFill>
                <a:latin typeface="Calibri" pitchFamily="34" charset="0"/>
                <a:ea typeface="Calibri" pitchFamily="34" charset="-122"/>
                <a:cs typeface="Calibri" pitchFamily="34" charset="-120"/>
              </a:rPr>
              <a:t>🏥 Medical Image Analysis</a:t>
            </a:r>
            <a:endParaRPr lang="en-US" sz="1000" dirty="0"/>
          </a:p>
        </p:txBody>
      </p:sp>
      <p:sp>
        <p:nvSpPr>
          <p:cNvPr id="34" name="Text 32"/>
          <p:cNvSpPr/>
          <p:nvPr/>
        </p:nvSpPr>
        <p:spPr>
          <a:xfrm>
            <a:off x="5669280" y="3108960"/>
            <a:ext cx="3017520" cy="274320"/>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Few expert-labeled X-rays + large pools of unlabeled scans</a:t>
            </a:r>
            <a:endParaRPr lang="en-US" sz="850" dirty="0"/>
          </a:p>
        </p:txBody>
      </p:sp>
      <p:sp>
        <p:nvSpPr>
          <p:cNvPr id="35" name="Shape 33"/>
          <p:cNvSpPr/>
          <p:nvPr/>
        </p:nvSpPr>
        <p:spPr>
          <a:xfrm>
            <a:off x="5669280" y="3520440"/>
            <a:ext cx="3017520" cy="0"/>
          </a:xfrm>
          <a:prstGeom prst="line">
            <a:avLst/>
          </a:prstGeom>
          <a:noFill/>
          <a:ln w="6350">
            <a:solidFill>
              <a:srgbClr val="334155"/>
            </a:solidFill>
            <a:prstDash val="solid"/>
          </a:ln>
        </p:spPr>
        <p:txBody>
          <a:bodyPr/>
          <a:lstStyle/>
          <a:p>
            <a:endParaRPr lang="en-US"/>
          </a:p>
        </p:txBody>
      </p:sp>
      <p:sp>
        <p:nvSpPr>
          <p:cNvPr id="36" name="Text 34"/>
          <p:cNvSpPr/>
          <p:nvPr/>
        </p:nvSpPr>
        <p:spPr>
          <a:xfrm>
            <a:off x="5669280" y="3602736"/>
            <a:ext cx="3017520" cy="228600"/>
          </a:xfrm>
          <a:prstGeom prst="rect">
            <a:avLst/>
          </a:prstGeom>
          <a:noFill/>
          <a:ln/>
        </p:spPr>
        <p:txBody>
          <a:bodyPr wrap="square" lIns="0" tIns="0" rIns="0" bIns="0" rtlCol="0" anchor="ctr"/>
          <a:lstStyle/>
          <a:p>
            <a:pPr marL="0" indent="0">
              <a:buNone/>
            </a:pPr>
            <a:r>
              <a:rPr lang="en-US" sz="1000" b="1" dirty="0">
                <a:solidFill>
                  <a:srgbClr val="F8FAFC"/>
                </a:solidFill>
                <a:latin typeface="Calibri" pitchFamily="34" charset="0"/>
                <a:ea typeface="Calibri" pitchFamily="34" charset="-122"/>
                <a:cs typeface="Calibri" pitchFamily="34" charset="-120"/>
              </a:rPr>
              <a:t>💬 Speech Recognition</a:t>
            </a:r>
            <a:endParaRPr lang="en-US" sz="1000" dirty="0"/>
          </a:p>
        </p:txBody>
      </p:sp>
      <p:sp>
        <p:nvSpPr>
          <p:cNvPr id="37" name="Text 35"/>
          <p:cNvSpPr/>
          <p:nvPr/>
        </p:nvSpPr>
        <p:spPr>
          <a:xfrm>
            <a:off x="5669280" y="3822192"/>
            <a:ext cx="3017520" cy="274320"/>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Small transcribed speech + massive unlabeled audio corpora</a:t>
            </a:r>
            <a:endParaRPr lang="en-US" sz="850" dirty="0"/>
          </a:p>
        </p:txBody>
      </p:sp>
      <p:sp>
        <p:nvSpPr>
          <p:cNvPr id="38" name="Shape 36"/>
          <p:cNvSpPr/>
          <p:nvPr/>
        </p:nvSpPr>
        <p:spPr>
          <a:xfrm>
            <a:off x="5669280" y="4233672"/>
            <a:ext cx="3017520" cy="0"/>
          </a:xfrm>
          <a:prstGeom prst="line">
            <a:avLst/>
          </a:prstGeom>
          <a:noFill/>
          <a:ln w="6350">
            <a:solidFill>
              <a:srgbClr val="334155"/>
            </a:solidFill>
            <a:prstDash val="solid"/>
          </a:ln>
        </p:spPr>
        <p:txBody>
          <a:bodyPr/>
          <a:lstStyle/>
          <a:p>
            <a:endParaRPr lang="en-US"/>
          </a:p>
        </p:txBody>
      </p:sp>
      <p:sp>
        <p:nvSpPr>
          <p:cNvPr id="39" name="Text 37"/>
          <p:cNvSpPr/>
          <p:nvPr/>
        </p:nvSpPr>
        <p:spPr>
          <a:xfrm>
            <a:off x="5669280" y="4315968"/>
            <a:ext cx="3017520" cy="228600"/>
          </a:xfrm>
          <a:prstGeom prst="rect">
            <a:avLst/>
          </a:prstGeom>
          <a:noFill/>
          <a:ln/>
        </p:spPr>
        <p:txBody>
          <a:bodyPr wrap="square" lIns="0" tIns="0" rIns="0" bIns="0" rtlCol="0" anchor="ctr"/>
          <a:lstStyle/>
          <a:p>
            <a:pPr marL="0" indent="0">
              <a:buNone/>
            </a:pPr>
            <a:r>
              <a:rPr lang="en-US" sz="1000" b="1" dirty="0">
                <a:solidFill>
                  <a:srgbClr val="F8FAFC"/>
                </a:solidFill>
                <a:latin typeface="Calibri" pitchFamily="34" charset="0"/>
                <a:ea typeface="Calibri" pitchFamily="34" charset="-122"/>
                <a:cs typeface="Calibri" pitchFamily="34" charset="-120"/>
              </a:rPr>
              <a:t>📸 Photo Tagging</a:t>
            </a:r>
            <a:endParaRPr lang="en-US" sz="1000" dirty="0"/>
          </a:p>
        </p:txBody>
      </p:sp>
      <p:sp>
        <p:nvSpPr>
          <p:cNvPr id="40" name="Text 38"/>
          <p:cNvSpPr/>
          <p:nvPr/>
        </p:nvSpPr>
        <p:spPr>
          <a:xfrm>
            <a:off x="5669280" y="4535424"/>
            <a:ext cx="3017520" cy="274320"/>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Google Photos uses few labeled images to tag millions more</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C3AED"/>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Reinforcement Learning</a:t>
            </a:r>
            <a:endParaRPr lang="en-US" sz="2400" dirty="0"/>
          </a:p>
        </p:txBody>
      </p:sp>
      <p:sp>
        <p:nvSpPr>
          <p:cNvPr id="4" name="Shape 2"/>
          <p:cNvSpPr/>
          <p:nvPr/>
        </p:nvSpPr>
        <p:spPr>
          <a:xfrm>
            <a:off x="274320" y="914400"/>
            <a:ext cx="4754880" cy="3931920"/>
          </a:xfrm>
          <a:prstGeom prst="rect">
            <a:avLst/>
          </a:prstGeom>
          <a:solidFill>
            <a:srgbClr val="FFFFFF"/>
          </a:solidFill>
          <a:ln/>
          <a:effectLst>
            <a:outerShdw blurRad="101600" dist="38100" dir="8100000" algn="bl" rotWithShape="0">
              <a:srgbClr val="000000">
                <a:alpha val="20000"/>
              </a:srgbClr>
            </a:outerShdw>
          </a:effectLst>
        </p:spPr>
        <p:txBody>
          <a:bodyPr/>
          <a:lstStyle/>
          <a:p>
            <a:endParaRPr lang="en-US"/>
          </a:p>
        </p:txBody>
      </p:sp>
      <p:sp>
        <p:nvSpPr>
          <p:cNvPr id="5" name="Text 3"/>
          <p:cNvSpPr/>
          <p:nvPr/>
        </p:nvSpPr>
        <p:spPr>
          <a:xfrm>
            <a:off x="457200" y="1005840"/>
            <a:ext cx="4389120" cy="274320"/>
          </a:xfrm>
          <a:prstGeom prst="rect">
            <a:avLst/>
          </a:prstGeom>
          <a:noFill/>
          <a:ln/>
        </p:spPr>
        <p:txBody>
          <a:bodyPr wrap="square" lIns="0" tIns="0" rIns="0" bIns="0"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The RL Feedback Loop</a:t>
            </a:r>
            <a:endParaRPr lang="en-US" sz="1300" dirty="0"/>
          </a:p>
        </p:txBody>
      </p:sp>
      <p:sp>
        <p:nvSpPr>
          <p:cNvPr id="6" name="Shape 4"/>
          <p:cNvSpPr/>
          <p:nvPr/>
        </p:nvSpPr>
        <p:spPr>
          <a:xfrm>
            <a:off x="1005840" y="1429932"/>
            <a:ext cx="2011680" cy="640080"/>
          </a:xfrm>
          <a:prstGeom prst="rect">
            <a:avLst/>
          </a:prstGeom>
          <a:solidFill>
            <a:srgbClr val="7C3AED"/>
          </a:solidFill>
          <a:ln/>
        </p:spPr>
        <p:txBody>
          <a:bodyPr/>
          <a:lstStyle/>
          <a:p>
            <a:endParaRPr lang="en-US"/>
          </a:p>
        </p:txBody>
      </p:sp>
      <p:sp>
        <p:nvSpPr>
          <p:cNvPr id="7" name="Text 5"/>
          <p:cNvSpPr/>
          <p:nvPr/>
        </p:nvSpPr>
        <p:spPr>
          <a:xfrm>
            <a:off x="990074" y="1408491"/>
            <a:ext cx="201168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AGENT</a:t>
            </a:r>
            <a:endParaRPr lang="en-US" sz="1400" dirty="0"/>
          </a:p>
        </p:txBody>
      </p:sp>
      <p:sp>
        <p:nvSpPr>
          <p:cNvPr id="8" name="Shape 6"/>
          <p:cNvSpPr/>
          <p:nvPr/>
        </p:nvSpPr>
        <p:spPr>
          <a:xfrm>
            <a:off x="1005837" y="3175176"/>
            <a:ext cx="2011680" cy="640080"/>
          </a:xfrm>
          <a:prstGeom prst="rect">
            <a:avLst/>
          </a:prstGeom>
          <a:solidFill>
            <a:srgbClr val="0D9488"/>
          </a:solidFill>
          <a:ln/>
        </p:spPr>
        <p:txBody>
          <a:bodyPr/>
          <a:lstStyle/>
          <a:p>
            <a:endParaRPr lang="en-US"/>
          </a:p>
        </p:txBody>
      </p:sp>
      <p:sp>
        <p:nvSpPr>
          <p:cNvPr id="9" name="Text 7"/>
          <p:cNvSpPr/>
          <p:nvPr/>
        </p:nvSpPr>
        <p:spPr>
          <a:xfrm>
            <a:off x="1012140" y="3176123"/>
            <a:ext cx="2011680" cy="6400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ENVIRONMENT</a:t>
            </a:r>
            <a:endParaRPr lang="en-US" sz="1200" dirty="0"/>
          </a:p>
        </p:txBody>
      </p:sp>
      <p:sp>
        <p:nvSpPr>
          <p:cNvPr id="10" name="Shape 8"/>
          <p:cNvSpPr/>
          <p:nvPr/>
        </p:nvSpPr>
        <p:spPr>
          <a:xfrm>
            <a:off x="2377440" y="2057400"/>
            <a:ext cx="0" cy="457200"/>
          </a:xfrm>
          <a:prstGeom prst="line">
            <a:avLst/>
          </a:prstGeom>
          <a:noFill/>
          <a:ln w="25400">
            <a:solidFill>
              <a:srgbClr val="0F172A"/>
            </a:solidFill>
            <a:prstDash val="solid"/>
          </a:ln>
        </p:spPr>
        <p:txBody>
          <a:bodyPr/>
          <a:lstStyle/>
          <a:p>
            <a:endParaRPr lang="en-US"/>
          </a:p>
        </p:txBody>
      </p:sp>
      <p:sp>
        <p:nvSpPr>
          <p:cNvPr id="11" name="Shape 9"/>
          <p:cNvSpPr/>
          <p:nvPr/>
        </p:nvSpPr>
        <p:spPr>
          <a:xfrm>
            <a:off x="2377440" y="2501988"/>
            <a:ext cx="640080" cy="0"/>
          </a:xfrm>
          <a:prstGeom prst="line">
            <a:avLst/>
          </a:prstGeom>
          <a:noFill/>
          <a:ln w="25400">
            <a:solidFill>
              <a:srgbClr val="0F172A"/>
            </a:solidFill>
            <a:prstDash val="solid"/>
          </a:ln>
        </p:spPr>
        <p:txBody>
          <a:bodyPr/>
          <a:lstStyle/>
          <a:p>
            <a:endParaRPr lang="en-US"/>
          </a:p>
        </p:txBody>
      </p:sp>
      <p:sp>
        <p:nvSpPr>
          <p:cNvPr id="12" name="Shape 10"/>
          <p:cNvSpPr/>
          <p:nvPr/>
        </p:nvSpPr>
        <p:spPr>
          <a:xfrm>
            <a:off x="2998602" y="2495682"/>
            <a:ext cx="0" cy="685800"/>
          </a:xfrm>
          <a:prstGeom prst="line">
            <a:avLst/>
          </a:prstGeom>
          <a:noFill/>
          <a:ln w="25400">
            <a:solidFill>
              <a:srgbClr val="0F172A"/>
            </a:solidFill>
            <a:prstDash val="solid"/>
          </a:ln>
        </p:spPr>
        <p:txBody>
          <a:bodyPr/>
          <a:lstStyle/>
          <a:p>
            <a:endParaRPr lang="en-US"/>
          </a:p>
        </p:txBody>
      </p:sp>
      <p:sp>
        <p:nvSpPr>
          <p:cNvPr id="13" name="Text 11"/>
          <p:cNvSpPr/>
          <p:nvPr/>
        </p:nvSpPr>
        <p:spPr>
          <a:xfrm>
            <a:off x="3063240" y="2606040"/>
            <a:ext cx="731520" cy="228600"/>
          </a:xfrm>
          <a:prstGeom prst="rect">
            <a:avLst/>
          </a:prstGeom>
          <a:noFill/>
          <a:ln/>
        </p:spPr>
        <p:txBody>
          <a:bodyPr wrap="square" lIns="0" tIns="0" rIns="0" bIns="0" rtlCol="0" anchor="ctr"/>
          <a:lstStyle/>
          <a:p>
            <a:pPr marL="0" indent="0">
              <a:buNone/>
            </a:pPr>
            <a:r>
              <a:rPr lang="en-US" sz="900" b="1" dirty="0">
                <a:solidFill>
                  <a:srgbClr val="0F172A"/>
                </a:solidFill>
                <a:latin typeface="Calibri" pitchFamily="34" charset="0"/>
                <a:ea typeface="Calibri" pitchFamily="34" charset="-122"/>
                <a:cs typeface="Calibri" pitchFamily="34" charset="-120"/>
              </a:rPr>
              <a:t>Action</a:t>
            </a:r>
            <a:endParaRPr lang="en-US" sz="900" dirty="0"/>
          </a:p>
        </p:txBody>
      </p:sp>
      <p:sp>
        <p:nvSpPr>
          <p:cNvPr id="14" name="Shape 12"/>
          <p:cNvSpPr/>
          <p:nvPr/>
        </p:nvSpPr>
        <p:spPr>
          <a:xfrm>
            <a:off x="1645920" y="2057400"/>
            <a:ext cx="0" cy="457200"/>
          </a:xfrm>
          <a:prstGeom prst="line">
            <a:avLst/>
          </a:prstGeom>
          <a:noFill/>
          <a:ln w="25400">
            <a:solidFill>
              <a:srgbClr val="EF4444"/>
            </a:solidFill>
            <a:prstDash val="solid"/>
          </a:ln>
        </p:spPr>
        <p:txBody>
          <a:bodyPr/>
          <a:lstStyle/>
          <a:p>
            <a:endParaRPr lang="en-US"/>
          </a:p>
        </p:txBody>
      </p:sp>
      <p:sp>
        <p:nvSpPr>
          <p:cNvPr id="15" name="Shape 13"/>
          <p:cNvSpPr/>
          <p:nvPr/>
        </p:nvSpPr>
        <p:spPr>
          <a:xfrm>
            <a:off x="1005840" y="2501988"/>
            <a:ext cx="640080" cy="0"/>
          </a:xfrm>
          <a:prstGeom prst="line">
            <a:avLst/>
          </a:prstGeom>
          <a:noFill/>
          <a:ln w="25400">
            <a:solidFill>
              <a:srgbClr val="EF4444"/>
            </a:solidFill>
            <a:prstDash val="solid"/>
          </a:ln>
        </p:spPr>
        <p:txBody>
          <a:bodyPr/>
          <a:lstStyle/>
          <a:p>
            <a:endParaRPr lang="en-US"/>
          </a:p>
        </p:txBody>
      </p:sp>
      <p:sp>
        <p:nvSpPr>
          <p:cNvPr id="16" name="Shape 14"/>
          <p:cNvSpPr/>
          <p:nvPr/>
        </p:nvSpPr>
        <p:spPr>
          <a:xfrm>
            <a:off x="1018452" y="2489376"/>
            <a:ext cx="0" cy="685800"/>
          </a:xfrm>
          <a:prstGeom prst="line">
            <a:avLst/>
          </a:prstGeom>
          <a:noFill/>
          <a:ln w="25400">
            <a:solidFill>
              <a:srgbClr val="EF4444"/>
            </a:solidFill>
            <a:prstDash val="solid"/>
          </a:ln>
        </p:spPr>
        <p:txBody>
          <a:bodyPr/>
          <a:lstStyle/>
          <a:p>
            <a:endParaRPr lang="en-US"/>
          </a:p>
        </p:txBody>
      </p:sp>
      <p:sp>
        <p:nvSpPr>
          <p:cNvPr id="17" name="Text 15"/>
          <p:cNvSpPr/>
          <p:nvPr/>
        </p:nvSpPr>
        <p:spPr>
          <a:xfrm>
            <a:off x="320040" y="2606040"/>
            <a:ext cx="685800" cy="365760"/>
          </a:xfrm>
          <a:prstGeom prst="rect">
            <a:avLst/>
          </a:prstGeom>
          <a:noFill/>
          <a:ln/>
        </p:spPr>
        <p:txBody>
          <a:bodyPr wrap="square" lIns="0" tIns="0" rIns="0" bIns="0" rtlCol="0" anchor="ctr"/>
          <a:lstStyle/>
          <a:p>
            <a:pPr marL="0" indent="0">
              <a:buNone/>
            </a:pPr>
            <a:r>
              <a:rPr lang="en-US" sz="900" b="1" dirty="0">
                <a:solidFill>
                  <a:srgbClr val="EF4444"/>
                </a:solidFill>
                <a:latin typeface="Calibri" pitchFamily="34" charset="0"/>
                <a:ea typeface="Calibri" pitchFamily="34" charset="-122"/>
                <a:cs typeface="Calibri" pitchFamily="34" charset="-120"/>
              </a:rPr>
              <a:t>Reward</a:t>
            </a:r>
            <a:endParaRPr lang="en-US" sz="900" dirty="0"/>
          </a:p>
          <a:p>
            <a:pPr marL="0" indent="0">
              <a:buNone/>
            </a:pPr>
            <a:r>
              <a:rPr lang="en-US" sz="900" b="1" dirty="0">
                <a:solidFill>
                  <a:srgbClr val="EF4444"/>
                </a:solidFill>
                <a:latin typeface="Calibri" pitchFamily="34" charset="0"/>
                <a:ea typeface="Calibri" pitchFamily="34" charset="-122"/>
                <a:cs typeface="Calibri" pitchFamily="34" charset="-120"/>
              </a:rPr>
              <a:t>+ State</a:t>
            </a:r>
            <a:endParaRPr lang="en-US" sz="900" dirty="0"/>
          </a:p>
        </p:txBody>
      </p:sp>
      <p:sp>
        <p:nvSpPr>
          <p:cNvPr id="18" name="Text 16"/>
          <p:cNvSpPr/>
          <p:nvPr/>
        </p:nvSpPr>
        <p:spPr>
          <a:xfrm>
            <a:off x="457200" y="3950208"/>
            <a:ext cx="4389120" cy="228600"/>
          </a:xfrm>
          <a:prstGeom prst="rect">
            <a:avLst/>
          </a:prstGeom>
          <a:noFill/>
          <a:ln/>
        </p:spPr>
        <p:txBody>
          <a:bodyPr wrap="square" lIns="0" tIns="0" rIns="0" bIns="0"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Key Components</a:t>
            </a:r>
            <a:endParaRPr lang="en-US" sz="1100" dirty="0"/>
          </a:p>
        </p:txBody>
      </p:sp>
      <p:sp>
        <p:nvSpPr>
          <p:cNvPr id="19" name="Shape 17"/>
          <p:cNvSpPr/>
          <p:nvPr/>
        </p:nvSpPr>
        <p:spPr>
          <a:xfrm>
            <a:off x="457200" y="4206240"/>
            <a:ext cx="1325880" cy="502920"/>
          </a:xfrm>
          <a:prstGeom prst="rect">
            <a:avLst/>
          </a:prstGeom>
          <a:solidFill>
            <a:srgbClr val="F5F3FF"/>
          </a:solidFill>
          <a:ln w="10160">
            <a:solidFill>
              <a:srgbClr val="7C3AED"/>
            </a:solidFill>
            <a:prstDash val="solid"/>
          </a:ln>
        </p:spPr>
        <p:txBody>
          <a:bodyPr/>
          <a:lstStyle/>
          <a:p>
            <a:endParaRPr lang="en-US"/>
          </a:p>
        </p:txBody>
      </p:sp>
      <p:sp>
        <p:nvSpPr>
          <p:cNvPr id="20" name="Text 18"/>
          <p:cNvSpPr/>
          <p:nvPr/>
        </p:nvSpPr>
        <p:spPr>
          <a:xfrm>
            <a:off x="457200" y="4224528"/>
            <a:ext cx="1325880" cy="201168"/>
          </a:xfrm>
          <a:prstGeom prst="rect">
            <a:avLst/>
          </a:prstGeom>
          <a:noFill/>
          <a:ln/>
        </p:spPr>
        <p:txBody>
          <a:bodyPr wrap="square" lIns="0" tIns="0" rIns="0" bIns="0" rtlCol="0" anchor="ctr"/>
          <a:lstStyle/>
          <a:p>
            <a:pPr marL="0" indent="0" algn="ctr">
              <a:buNone/>
            </a:pPr>
            <a:r>
              <a:rPr lang="en-US" sz="900" b="1" dirty="0">
                <a:solidFill>
                  <a:srgbClr val="7C3AED"/>
                </a:solidFill>
                <a:latin typeface="Calibri" pitchFamily="34" charset="0"/>
                <a:ea typeface="Calibri" pitchFamily="34" charset="-122"/>
                <a:cs typeface="Calibri" pitchFamily="34" charset="-120"/>
              </a:rPr>
              <a:t>Policy (π)</a:t>
            </a:r>
            <a:endParaRPr lang="en-US" sz="900" dirty="0"/>
          </a:p>
        </p:txBody>
      </p:sp>
      <p:sp>
        <p:nvSpPr>
          <p:cNvPr id="21" name="Text 19"/>
          <p:cNvSpPr/>
          <p:nvPr/>
        </p:nvSpPr>
        <p:spPr>
          <a:xfrm>
            <a:off x="457200" y="4425696"/>
            <a:ext cx="1325880" cy="182880"/>
          </a:xfrm>
          <a:prstGeom prst="rect">
            <a:avLst/>
          </a:prstGeom>
          <a:noFill/>
          <a:ln/>
        </p:spPr>
        <p:txBody>
          <a:bodyPr wrap="square" lIns="0" tIns="0" rIns="0" bIns="0" rtlCol="0" anchor="ctr"/>
          <a:lstStyle/>
          <a:p>
            <a:pPr marL="0" indent="0" algn="ctr">
              <a:buNone/>
            </a:pPr>
            <a:r>
              <a:rPr lang="en-US" sz="750" dirty="0">
                <a:solidFill>
                  <a:srgbClr val="0F172A"/>
                </a:solidFill>
                <a:latin typeface="Calibri" pitchFamily="34" charset="0"/>
                <a:ea typeface="Calibri" pitchFamily="34" charset="-122"/>
                <a:cs typeface="Calibri" pitchFamily="34" charset="-120"/>
              </a:rPr>
              <a:t>Strategy the agent uses</a:t>
            </a:r>
            <a:endParaRPr lang="en-US" sz="750" dirty="0"/>
          </a:p>
        </p:txBody>
      </p:sp>
      <p:sp>
        <p:nvSpPr>
          <p:cNvPr id="22" name="Shape 20"/>
          <p:cNvSpPr/>
          <p:nvPr/>
        </p:nvSpPr>
        <p:spPr>
          <a:xfrm>
            <a:off x="1920240" y="4206240"/>
            <a:ext cx="1325880" cy="502920"/>
          </a:xfrm>
          <a:prstGeom prst="rect">
            <a:avLst/>
          </a:prstGeom>
          <a:solidFill>
            <a:srgbClr val="F5F3FF"/>
          </a:solidFill>
          <a:ln w="10160">
            <a:solidFill>
              <a:srgbClr val="7C3AED"/>
            </a:solidFill>
            <a:prstDash val="solid"/>
          </a:ln>
        </p:spPr>
        <p:txBody>
          <a:bodyPr/>
          <a:lstStyle/>
          <a:p>
            <a:endParaRPr lang="en-US"/>
          </a:p>
        </p:txBody>
      </p:sp>
      <p:sp>
        <p:nvSpPr>
          <p:cNvPr id="23" name="Text 21"/>
          <p:cNvSpPr/>
          <p:nvPr/>
        </p:nvSpPr>
        <p:spPr>
          <a:xfrm>
            <a:off x="1920240" y="4224528"/>
            <a:ext cx="1325880" cy="201168"/>
          </a:xfrm>
          <a:prstGeom prst="rect">
            <a:avLst/>
          </a:prstGeom>
          <a:noFill/>
          <a:ln/>
        </p:spPr>
        <p:txBody>
          <a:bodyPr wrap="square" lIns="0" tIns="0" rIns="0" bIns="0" rtlCol="0" anchor="ctr"/>
          <a:lstStyle/>
          <a:p>
            <a:pPr marL="0" indent="0" algn="ctr">
              <a:buNone/>
            </a:pPr>
            <a:r>
              <a:rPr lang="en-US" sz="900" b="1" dirty="0">
                <a:solidFill>
                  <a:srgbClr val="7C3AED"/>
                </a:solidFill>
                <a:latin typeface="Calibri" pitchFamily="34" charset="0"/>
                <a:ea typeface="Calibri" pitchFamily="34" charset="-122"/>
                <a:cs typeface="Calibri" pitchFamily="34" charset="-120"/>
              </a:rPr>
              <a:t>Reward (R)</a:t>
            </a:r>
            <a:endParaRPr lang="en-US" sz="900" dirty="0"/>
          </a:p>
        </p:txBody>
      </p:sp>
      <p:sp>
        <p:nvSpPr>
          <p:cNvPr id="24" name="Text 22"/>
          <p:cNvSpPr/>
          <p:nvPr/>
        </p:nvSpPr>
        <p:spPr>
          <a:xfrm>
            <a:off x="1920240" y="4425696"/>
            <a:ext cx="1325880" cy="182880"/>
          </a:xfrm>
          <a:prstGeom prst="rect">
            <a:avLst/>
          </a:prstGeom>
          <a:noFill/>
          <a:ln/>
        </p:spPr>
        <p:txBody>
          <a:bodyPr wrap="square" lIns="0" tIns="0" rIns="0" bIns="0" rtlCol="0" anchor="ctr"/>
          <a:lstStyle/>
          <a:p>
            <a:pPr marL="0" indent="0" algn="ctr">
              <a:buNone/>
            </a:pPr>
            <a:r>
              <a:rPr lang="en-US" sz="750" dirty="0">
                <a:solidFill>
                  <a:srgbClr val="0F172A"/>
                </a:solidFill>
                <a:latin typeface="Calibri" pitchFamily="34" charset="0"/>
                <a:ea typeface="Calibri" pitchFamily="34" charset="-122"/>
                <a:cs typeface="Calibri" pitchFamily="34" charset="-120"/>
              </a:rPr>
              <a:t>Feedback signal</a:t>
            </a:r>
            <a:endParaRPr lang="en-US" sz="750" dirty="0"/>
          </a:p>
        </p:txBody>
      </p:sp>
      <p:sp>
        <p:nvSpPr>
          <p:cNvPr id="25" name="Shape 23"/>
          <p:cNvSpPr/>
          <p:nvPr/>
        </p:nvSpPr>
        <p:spPr>
          <a:xfrm>
            <a:off x="3383280" y="4206240"/>
            <a:ext cx="1325880" cy="502920"/>
          </a:xfrm>
          <a:prstGeom prst="rect">
            <a:avLst/>
          </a:prstGeom>
          <a:solidFill>
            <a:srgbClr val="F5F3FF"/>
          </a:solidFill>
          <a:ln w="10160">
            <a:solidFill>
              <a:srgbClr val="7C3AED"/>
            </a:solidFill>
            <a:prstDash val="solid"/>
          </a:ln>
        </p:spPr>
        <p:txBody>
          <a:bodyPr/>
          <a:lstStyle/>
          <a:p>
            <a:endParaRPr lang="en-US"/>
          </a:p>
        </p:txBody>
      </p:sp>
      <p:sp>
        <p:nvSpPr>
          <p:cNvPr id="26" name="Text 24"/>
          <p:cNvSpPr/>
          <p:nvPr/>
        </p:nvSpPr>
        <p:spPr>
          <a:xfrm>
            <a:off x="3383280" y="4224528"/>
            <a:ext cx="1325880" cy="201168"/>
          </a:xfrm>
          <a:prstGeom prst="rect">
            <a:avLst/>
          </a:prstGeom>
          <a:noFill/>
          <a:ln/>
        </p:spPr>
        <p:txBody>
          <a:bodyPr wrap="square" lIns="0" tIns="0" rIns="0" bIns="0" rtlCol="0" anchor="ctr"/>
          <a:lstStyle/>
          <a:p>
            <a:pPr marL="0" indent="0" algn="ctr">
              <a:buNone/>
            </a:pPr>
            <a:r>
              <a:rPr lang="en-US" sz="900" b="1" dirty="0">
                <a:solidFill>
                  <a:srgbClr val="7C3AED"/>
                </a:solidFill>
                <a:latin typeface="Calibri" pitchFamily="34" charset="0"/>
                <a:ea typeface="Calibri" pitchFamily="34" charset="-122"/>
                <a:cs typeface="Calibri" pitchFamily="34" charset="-120"/>
              </a:rPr>
              <a:t>Value Fn (V)</a:t>
            </a:r>
            <a:endParaRPr lang="en-US" sz="900" dirty="0"/>
          </a:p>
        </p:txBody>
      </p:sp>
      <p:sp>
        <p:nvSpPr>
          <p:cNvPr id="27" name="Text 25"/>
          <p:cNvSpPr/>
          <p:nvPr/>
        </p:nvSpPr>
        <p:spPr>
          <a:xfrm>
            <a:off x="3383280" y="4425696"/>
            <a:ext cx="1325880" cy="182880"/>
          </a:xfrm>
          <a:prstGeom prst="rect">
            <a:avLst/>
          </a:prstGeom>
          <a:noFill/>
          <a:ln/>
        </p:spPr>
        <p:txBody>
          <a:bodyPr wrap="square" lIns="0" tIns="0" rIns="0" bIns="0" rtlCol="0" anchor="ctr"/>
          <a:lstStyle/>
          <a:p>
            <a:pPr marL="0" indent="0" algn="ctr">
              <a:buNone/>
            </a:pPr>
            <a:r>
              <a:rPr lang="en-US" sz="750" dirty="0">
                <a:solidFill>
                  <a:srgbClr val="0F172A"/>
                </a:solidFill>
                <a:latin typeface="Calibri" pitchFamily="34" charset="0"/>
                <a:ea typeface="Calibri" pitchFamily="34" charset="-122"/>
                <a:cs typeface="Calibri" pitchFamily="34" charset="-120"/>
              </a:rPr>
              <a:t>Expected future reward</a:t>
            </a:r>
            <a:endParaRPr lang="en-US" sz="750" dirty="0"/>
          </a:p>
        </p:txBody>
      </p:sp>
      <p:sp>
        <p:nvSpPr>
          <p:cNvPr id="28" name="Shape 26"/>
          <p:cNvSpPr/>
          <p:nvPr/>
        </p:nvSpPr>
        <p:spPr>
          <a:xfrm>
            <a:off x="5303520" y="914400"/>
            <a:ext cx="3566160" cy="3931920"/>
          </a:xfrm>
          <a:prstGeom prst="rect">
            <a:avLst/>
          </a:prstGeom>
          <a:solidFill>
            <a:srgbClr val="FFFFFF"/>
          </a:solidFill>
          <a:ln/>
          <a:effectLst>
            <a:outerShdw blurRad="101600" dist="38100" dir="8100000" algn="bl" rotWithShape="0">
              <a:srgbClr val="000000">
                <a:alpha val="20000"/>
              </a:srgbClr>
            </a:outerShdw>
          </a:effectLst>
        </p:spPr>
        <p:txBody>
          <a:bodyPr/>
          <a:lstStyle/>
          <a:p>
            <a:endParaRPr lang="en-US"/>
          </a:p>
        </p:txBody>
      </p:sp>
      <p:sp>
        <p:nvSpPr>
          <p:cNvPr id="29" name="Text 27"/>
          <p:cNvSpPr/>
          <p:nvPr/>
        </p:nvSpPr>
        <p:spPr>
          <a:xfrm>
            <a:off x="5486400" y="1005840"/>
            <a:ext cx="3200400" cy="274320"/>
          </a:xfrm>
          <a:prstGeom prst="rect">
            <a:avLst/>
          </a:prstGeom>
          <a:noFill/>
          <a:ln/>
        </p:spPr>
        <p:txBody>
          <a:bodyPr wrap="square" lIns="0" tIns="0" rIns="0" bIns="0"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Applications</a:t>
            </a:r>
            <a:endParaRPr lang="en-US" sz="1300" dirty="0"/>
          </a:p>
        </p:txBody>
      </p:sp>
      <p:sp>
        <p:nvSpPr>
          <p:cNvPr id="30" name="Shape 28"/>
          <p:cNvSpPr/>
          <p:nvPr/>
        </p:nvSpPr>
        <p:spPr>
          <a:xfrm>
            <a:off x="5486400" y="1371600"/>
            <a:ext cx="3200400" cy="566928"/>
          </a:xfrm>
          <a:prstGeom prst="rect">
            <a:avLst/>
          </a:prstGeom>
          <a:solidFill>
            <a:srgbClr val="FAF5FF"/>
          </a:solidFill>
          <a:ln/>
        </p:spPr>
        <p:txBody>
          <a:bodyPr/>
          <a:lstStyle/>
          <a:p>
            <a:endParaRPr lang="en-US"/>
          </a:p>
        </p:txBody>
      </p:sp>
      <p:sp>
        <p:nvSpPr>
          <p:cNvPr id="31" name="Text 29"/>
          <p:cNvSpPr/>
          <p:nvPr/>
        </p:nvSpPr>
        <p:spPr>
          <a:xfrm>
            <a:off x="5532120" y="1399032"/>
            <a:ext cx="320040" cy="502920"/>
          </a:xfrm>
          <a:prstGeom prst="rect">
            <a:avLst/>
          </a:prstGeom>
          <a:noFill/>
          <a:ln/>
        </p:spPr>
        <p:txBody>
          <a:bodyPr wrap="square" lIns="0" tIns="0" rIns="0" bIns="0" rtlCol="0" anchor="ctr"/>
          <a:lstStyle/>
          <a:p>
            <a:pPr marL="0" indent="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2" name="Text 30"/>
          <p:cNvSpPr/>
          <p:nvPr/>
        </p:nvSpPr>
        <p:spPr>
          <a:xfrm>
            <a:off x="5897880" y="1417320"/>
            <a:ext cx="2743200" cy="201168"/>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Game Playing</a:t>
            </a:r>
            <a:endParaRPr lang="en-US" sz="1000" dirty="0"/>
          </a:p>
        </p:txBody>
      </p:sp>
      <p:sp>
        <p:nvSpPr>
          <p:cNvPr id="33" name="Text 31"/>
          <p:cNvSpPr/>
          <p:nvPr/>
        </p:nvSpPr>
        <p:spPr>
          <a:xfrm>
            <a:off x="5897880" y="1609344"/>
            <a:ext cx="2743200" cy="201168"/>
          </a:xfrm>
          <a:prstGeom prst="rect">
            <a:avLst/>
          </a:prstGeom>
          <a:noFill/>
          <a:ln/>
        </p:spPr>
        <p:txBody>
          <a:bodyPr wrap="square" lIns="0" tIns="0" rIns="0" bIns="0" rtlCol="0" anchor="ctr"/>
          <a:lstStyle/>
          <a:p>
            <a:pPr marL="0" indent="0">
              <a:buNone/>
            </a:pPr>
            <a:r>
              <a:rPr lang="en-US" sz="850" dirty="0">
                <a:solidFill>
                  <a:srgbClr val="0F172A"/>
                </a:solidFill>
                <a:latin typeface="Calibri" pitchFamily="34" charset="0"/>
                <a:ea typeface="Calibri" pitchFamily="34" charset="-122"/>
                <a:cs typeface="Calibri" pitchFamily="34" charset="-120"/>
              </a:rPr>
              <a:t>AlphaGo, OpenAI Five — agents beat world champions</a:t>
            </a:r>
            <a:endParaRPr lang="en-US" sz="850" dirty="0"/>
          </a:p>
        </p:txBody>
      </p:sp>
      <p:sp>
        <p:nvSpPr>
          <p:cNvPr id="34" name="Shape 32"/>
          <p:cNvSpPr/>
          <p:nvPr/>
        </p:nvSpPr>
        <p:spPr>
          <a:xfrm>
            <a:off x="5486400" y="2029968"/>
            <a:ext cx="3200400" cy="566928"/>
          </a:xfrm>
          <a:prstGeom prst="rect">
            <a:avLst/>
          </a:prstGeom>
          <a:solidFill>
            <a:srgbClr val="FFFFFF"/>
          </a:solidFill>
          <a:ln/>
        </p:spPr>
        <p:txBody>
          <a:bodyPr/>
          <a:lstStyle/>
          <a:p>
            <a:endParaRPr lang="en-US"/>
          </a:p>
        </p:txBody>
      </p:sp>
      <p:sp>
        <p:nvSpPr>
          <p:cNvPr id="35" name="Text 33"/>
          <p:cNvSpPr/>
          <p:nvPr/>
        </p:nvSpPr>
        <p:spPr>
          <a:xfrm>
            <a:off x="5532120" y="2057400"/>
            <a:ext cx="320040" cy="502920"/>
          </a:xfrm>
          <a:prstGeom prst="rect">
            <a:avLst/>
          </a:prstGeom>
          <a:noFill/>
          <a:ln/>
        </p:spPr>
        <p:txBody>
          <a:bodyPr wrap="square" lIns="0" tIns="0" rIns="0" bIns="0" rtlCol="0" anchor="ctr"/>
          <a:lstStyle/>
          <a:p>
            <a:pPr marL="0" indent="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6" name="Text 34"/>
          <p:cNvSpPr/>
          <p:nvPr/>
        </p:nvSpPr>
        <p:spPr>
          <a:xfrm>
            <a:off x="5897880" y="2075688"/>
            <a:ext cx="2743200" cy="201168"/>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Robotics</a:t>
            </a:r>
            <a:endParaRPr lang="en-US" sz="1000" dirty="0"/>
          </a:p>
        </p:txBody>
      </p:sp>
      <p:sp>
        <p:nvSpPr>
          <p:cNvPr id="37" name="Text 35"/>
          <p:cNvSpPr/>
          <p:nvPr/>
        </p:nvSpPr>
        <p:spPr>
          <a:xfrm>
            <a:off x="5897880" y="2267712"/>
            <a:ext cx="2743200" cy="201168"/>
          </a:xfrm>
          <a:prstGeom prst="rect">
            <a:avLst/>
          </a:prstGeom>
          <a:noFill/>
          <a:ln/>
        </p:spPr>
        <p:txBody>
          <a:bodyPr wrap="square" lIns="0" tIns="0" rIns="0" bIns="0" rtlCol="0" anchor="ctr"/>
          <a:lstStyle/>
          <a:p>
            <a:pPr marL="0" indent="0">
              <a:buNone/>
            </a:pPr>
            <a:r>
              <a:rPr lang="en-US" sz="850" dirty="0">
                <a:solidFill>
                  <a:srgbClr val="0F172A"/>
                </a:solidFill>
                <a:latin typeface="Calibri" pitchFamily="34" charset="0"/>
                <a:ea typeface="Calibri" pitchFamily="34" charset="-122"/>
                <a:cs typeface="Calibri" pitchFamily="34" charset="-120"/>
              </a:rPr>
              <a:t>Teaching robots to walk, grasp objects, navigate spaces</a:t>
            </a:r>
            <a:endParaRPr lang="en-US" sz="850" dirty="0"/>
          </a:p>
        </p:txBody>
      </p:sp>
      <p:sp>
        <p:nvSpPr>
          <p:cNvPr id="38" name="Shape 36"/>
          <p:cNvSpPr/>
          <p:nvPr/>
        </p:nvSpPr>
        <p:spPr>
          <a:xfrm>
            <a:off x="5486400" y="2688336"/>
            <a:ext cx="3200400" cy="566928"/>
          </a:xfrm>
          <a:prstGeom prst="rect">
            <a:avLst/>
          </a:prstGeom>
          <a:solidFill>
            <a:srgbClr val="FAF5FF"/>
          </a:solidFill>
          <a:ln/>
        </p:spPr>
        <p:txBody>
          <a:bodyPr/>
          <a:lstStyle/>
          <a:p>
            <a:endParaRPr lang="en-US"/>
          </a:p>
        </p:txBody>
      </p:sp>
      <p:sp>
        <p:nvSpPr>
          <p:cNvPr id="39" name="Text 37"/>
          <p:cNvSpPr/>
          <p:nvPr/>
        </p:nvSpPr>
        <p:spPr>
          <a:xfrm>
            <a:off x="5532120" y="2715768"/>
            <a:ext cx="320040" cy="502920"/>
          </a:xfrm>
          <a:prstGeom prst="rect">
            <a:avLst/>
          </a:prstGeom>
          <a:noFill/>
          <a:ln/>
        </p:spPr>
        <p:txBody>
          <a:bodyPr wrap="square" lIns="0" tIns="0" rIns="0" bIns="0" rtlCol="0" anchor="ctr"/>
          <a:lstStyle/>
          <a:p>
            <a:pPr marL="0" indent="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0" name="Text 38"/>
          <p:cNvSpPr/>
          <p:nvPr/>
        </p:nvSpPr>
        <p:spPr>
          <a:xfrm>
            <a:off x="5897880" y="2734056"/>
            <a:ext cx="2743200" cy="201168"/>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Algorithmic Trading</a:t>
            </a:r>
            <a:endParaRPr lang="en-US" sz="1000" dirty="0"/>
          </a:p>
        </p:txBody>
      </p:sp>
      <p:sp>
        <p:nvSpPr>
          <p:cNvPr id="41" name="Text 39"/>
          <p:cNvSpPr/>
          <p:nvPr/>
        </p:nvSpPr>
        <p:spPr>
          <a:xfrm>
            <a:off x="5897880" y="2926080"/>
            <a:ext cx="2743200" cy="201168"/>
          </a:xfrm>
          <a:prstGeom prst="rect">
            <a:avLst/>
          </a:prstGeom>
          <a:noFill/>
          <a:ln/>
        </p:spPr>
        <p:txBody>
          <a:bodyPr wrap="square" lIns="0" tIns="0" rIns="0" bIns="0" rtlCol="0" anchor="ctr"/>
          <a:lstStyle/>
          <a:p>
            <a:pPr marL="0" indent="0">
              <a:buNone/>
            </a:pPr>
            <a:r>
              <a:rPr lang="en-US" sz="850" dirty="0">
                <a:solidFill>
                  <a:srgbClr val="0F172A"/>
                </a:solidFill>
                <a:latin typeface="Calibri" pitchFamily="34" charset="0"/>
                <a:ea typeface="Calibri" pitchFamily="34" charset="-122"/>
                <a:cs typeface="Calibri" pitchFamily="34" charset="-120"/>
              </a:rPr>
              <a:t>Optimize buy/sell decisions to maximize portfolio returns</a:t>
            </a:r>
            <a:endParaRPr lang="en-US" sz="850" dirty="0"/>
          </a:p>
        </p:txBody>
      </p:sp>
      <p:sp>
        <p:nvSpPr>
          <p:cNvPr id="42" name="Shape 40"/>
          <p:cNvSpPr/>
          <p:nvPr/>
        </p:nvSpPr>
        <p:spPr>
          <a:xfrm>
            <a:off x="5486400" y="3346704"/>
            <a:ext cx="3200400" cy="566928"/>
          </a:xfrm>
          <a:prstGeom prst="rect">
            <a:avLst/>
          </a:prstGeom>
          <a:solidFill>
            <a:srgbClr val="FFFFFF"/>
          </a:solidFill>
          <a:ln/>
        </p:spPr>
        <p:txBody>
          <a:bodyPr/>
          <a:lstStyle/>
          <a:p>
            <a:endParaRPr lang="en-US"/>
          </a:p>
        </p:txBody>
      </p:sp>
      <p:sp>
        <p:nvSpPr>
          <p:cNvPr id="43" name="Text 41"/>
          <p:cNvSpPr/>
          <p:nvPr/>
        </p:nvSpPr>
        <p:spPr>
          <a:xfrm>
            <a:off x="5532120" y="3374136"/>
            <a:ext cx="320040" cy="502920"/>
          </a:xfrm>
          <a:prstGeom prst="rect">
            <a:avLst/>
          </a:prstGeom>
          <a:noFill/>
          <a:ln/>
        </p:spPr>
        <p:txBody>
          <a:bodyPr wrap="square" lIns="0" tIns="0" rIns="0" bIns="0" rtlCol="0" anchor="ctr"/>
          <a:lstStyle/>
          <a:p>
            <a:pPr marL="0" indent="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4" name="Text 42"/>
          <p:cNvSpPr/>
          <p:nvPr/>
        </p:nvSpPr>
        <p:spPr>
          <a:xfrm>
            <a:off x="5897880" y="3392424"/>
            <a:ext cx="2743200" cy="201168"/>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Self-Driving Cars</a:t>
            </a:r>
            <a:endParaRPr lang="en-US" sz="1000" dirty="0"/>
          </a:p>
        </p:txBody>
      </p:sp>
      <p:sp>
        <p:nvSpPr>
          <p:cNvPr id="45" name="Text 43"/>
          <p:cNvSpPr/>
          <p:nvPr/>
        </p:nvSpPr>
        <p:spPr>
          <a:xfrm>
            <a:off x="5897880" y="3584448"/>
            <a:ext cx="2743200" cy="201168"/>
          </a:xfrm>
          <a:prstGeom prst="rect">
            <a:avLst/>
          </a:prstGeom>
          <a:noFill/>
          <a:ln/>
        </p:spPr>
        <p:txBody>
          <a:bodyPr wrap="square" lIns="0" tIns="0" rIns="0" bIns="0" rtlCol="0" anchor="ctr"/>
          <a:lstStyle/>
          <a:p>
            <a:pPr marL="0" indent="0">
              <a:buNone/>
            </a:pPr>
            <a:r>
              <a:rPr lang="en-US" sz="850" dirty="0">
                <a:solidFill>
                  <a:srgbClr val="0F172A"/>
                </a:solidFill>
                <a:latin typeface="Calibri" pitchFamily="34" charset="0"/>
                <a:ea typeface="Calibri" pitchFamily="34" charset="-122"/>
                <a:cs typeface="Calibri" pitchFamily="34" charset="-120"/>
              </a:rPr>
              <a:t>Lane keeping, speed control, collision avoidance systems</a:t>
            </a:r>
            <a:endParaRPr lang="en-US" sz="850" dirty="0"/>
          </a:p>
        </p:txBody>
      </p:sp>
      <p:sp>
        <p:nvSpPr>
          <p:cNvPr id="46" name="Shape 44"/>
          <p:cNvSpPr/>
          <p:nvPr/>
        </p:nvSpPr>
        <p:spPr>
          <a:xfrm>
            <a:off x="5486400" y="4005072"/>
            <a:ext cx="3200400" cy="566928"/>
          </a:xfrm>
          <a:prstGeom prst="rect">
            <a:avLst/>
          </a:prstGeom>
          <a:solidFill>
            <a:srgbClr val="FAF5FF"/>
          </a:solidFill>
          <a:ln/>
        </p:spPr>
        <p:txBody>
          <a:bodyPr/>
          <a:lstStyle/>
          <a:p>
            <a:endParaRPr lang="en-US"/>
          </a:p>
        </p:txBody>
      </p:sp>
      <p:sp>
        <p:nvSpPr>
          <p:cNvPr id="47" name="Text 45"/>
          <p:cNvSpPr/>
          <p:nvPr/>
        </p:nvSpPr>
        <p:spPr>
          <a:xfrm>
            <a:off x="5532120" y="4032504"/>
            <a:ext cx="320040" cy="502920"/>
          </a:xfrm>
          <a:prstGeom prst="rect">
            <a:avLst/>
          </a:prstGeom>
          <a:noFill/>
          <a:ln/>
        </p:spPr>
        <p:txBody>
          <a:bodyPr wrap="square" lIns="0" tIns="0" rIns="0" bIns="0" rtlCol="0" anchor="ctr"/>
          <a:lstStyle/>
          <a:p>
            <a:pPr marL="0" indent="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8" name="Text 46"/>
          <p:cNvSpPr/>
          <p:nvPr/>
        </p:nvSpPr>
        <p:spPr>
          <a:xfrm>
            <a:off x="5897880" y="4050792"/>
            <a:ext cx="2743200" cy="201168"/>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Healthcare</a:t>
            </a:r>
            <a:endParaRPr lang="en-US" sz="1000" dirty="0"/>
          </a:p>
        </p:txBody>
      </p:sp>
      <p:sp>
        <p:nvSpPr>
          <p:cNvPr id="49" name="Text 47"/>
          <p:cNvSpPr/>
          <p:nvPr/>
        </p:nvSpPr>
        <p:spPr>
          <a:xfrm>
            <a:off x="5897880" y="4242816"/>
            <a:ext cx="2743200" cy="201168"/>
          </a:xfrm>
          <a:prstGeom prst="rect">
            <a:avLst/>
          </a:prstGeom>
          <a:noFill/>
          <a:ln/>
        </p:spPr>
        <p:txBody>
          <a:bodyPr wrap="square" lIns="0" tIns="0" rIns="0" bIns="0" rtlCol="0" anchor="ctr"/>
          <a:lstStyle/>
          <a:p>
            <a:pPr marL="0" indent="0">
              <a:buNone/>
            </a:pPr>
            <a:r>
              <a:rPr lang="en-US" sz="850" dirty="0">
                <a:solidFill>
                  <a:srgbClr val="0F172A"/>
                </a:solidFill>
                <a:latin typeface="Calibri" pitchFamily="34" charset="0"/>
                <a:ea typeface="Calibri" pitchFamily="34" charset="-122"/>
                <a:cs typeface="Calibri" pitchFamily="34" charset="-120"/>
              </a:rPr>
              <a:t>Personalized treatment planning and drug dosage optimization</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0B981"/>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Statistical-Based Learning: Naive Bayes</a:t>
            </a:r>
            <a:endParaRPr lang="en-US" sz="2200" dirty="0"/>
          </a:p>
        </p:txBody>
      </p:sp>
      <p:sp>
        <p:nvSpPr>
          <p:cNvPr id="4" name="Shape 2"/>
          <p:cNvSpPr/>
          <p:nvPr/>
        </p:nvSpPr>
        <p:spPr>
          <a:xfrm>
            <a:off x="274320" y="914400"/>
            <a:ext cx="8595360" cy="1005840"/>
          </a:xfrm>
          <a:prstGeom prst="rect">
            <a:avLst/>
          </a:prstGeom>
          <a:solidFill>
            <a:srgbClr val="1E293B"/>
          </a:solidFill>
          <a:ln/>
          <a:effectLst>
            <a:outerShdw blurRad="101600" dist="38100" dir="8100000" algn="bl" rotWithShape="0">
              <a:srgbClr val="000000">
                <a:alpha val="20000"/>
              </a:srgbClr>
            </a:outerShdw>
          </a:effectLst>
        </p:spPr>
        <p:txBody>
          <a:bodyPr/>
          <a:lstStyle/>
          <a:p>
            <a:endParaRPr lang="en-US"/>
          </a:p>
        </p:txBody>
      </p:sp>
      <p:sp>
        <p:nvSpPr>
          <p:cNvPr id="5" name="Text 3"/>
          <p:cNvSpPr/>
          <p:nvPr/>
        </p:nvSpPr>
        <p:spPr>
          <a:xfrm>
            <a:off x="457200" y="987552"/>
            <a:ext cx="3657600" cy="274320"/>
          </a:xfrm>
          <a:prstGeom prst="rect">
            <a:avLst/>
          </a:prstGeom>
          <a:noFill/>
          <a:ln/>
        </p:spPr>
        <p:txBody>
          <a:bodyPr wrap="square" lIns="0" tIns="0" rIns="0" bIns="0"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Bayes' Theorem</a:t>
            </a:r>
            <a:endParaRPr lang="en-US" sz="1300" dirty="0"/>
          </a:p>
        </p:txBody>
      </p:sp>
      <p:sp>
        <p:nvSpPr>
          <p:cNvPr id="6" name="Shape 4"/>
          <p:cNvSpPr/>
          <p:nvPr/>
        </p:nvSpPr>
        <p:spPr>
          <a:xfrm>
            <a:off x="457200" y="1298448"/>
            <a:ext cx="8229600" cy="457200"/>
          </a:xfrm>
          <a:prstGeom prst="rect">
            <a:avLst/>
          </a:prstGeom>
          <a:solidFill>
            <a:srgbClr val="0F172A">
              <a:alpha val="70000"/>
            </a:srgbClr>
          </a:solidFill>
          <a:ln/>
        </p:spPr>
        <p:txBody>
          <a:bodyPr/>
          <a:lstStyle/>
          <a:p>
            <a:endParaRPr lang="en-US"/>
          </a:p>
        </p:txBody>
      </p:sp>
      <p:sp>
        <p:nvSpPr>
          <p:cNvPr id="7" name="Text 5"/>
          <p:cNvSpPr/>
          <p:nvPr/>
        </p:nvSpPr>
        <p:spPr>
          <a:xfrm>
            <a:off x="457200" y="1316736"/>
            <a:ext cx="8229600" cy="411480"/>
          </a:xfrm>
          <a:prstGeom prst="rect">
            <a:avLst/>
          </a:prstGeom>
          <a:noFill/>
          <a:ln/>
        </p:spPr>
        <p:txBody>
          <a:bodyPr wrap="square" lIns="0" tIns="0" rIns="0" bIns="0" rtlCol="0" anchor="ctr"/>
          <a:lstStyle/>
          <a:p>
            <a:pPr marL="0" indent="0" algn="ctr">
              <a:buNone/>
            </a:pPr>
            <a:r>
              <a:rPr lang="en-US" sz="1500" b="1" dirty="0">
                <a:solidFill>
                  <a:srgbClr val="10B981"/>
                </a:solidFill>
                <a:latin typeface="Calibri" pitchFamily="34" charset="0"/>
                <a:ea typeface="Calibri" pitchFamily="34" charset="-122"/>
                <a:cs typeface="Calibri" pitchFamily="34" charset="-120"/>
              </a:rPr>
              <a:t>P(Class | Features)  =  P(Features | Class) × P(Class)  /  P(Features)</a:t>
            </a:r>
            <a:endParaRPr lang="en-US" sz="1500" dirty="0"/>
          </a:p>
        </p:txBody>
      </p:sp>
      <p:sp>
        <p:nvSpPr>
          <p:cNvPr id="8" name="Shape 6"/>
          <p:cNvSpPr/>
          <p:nvPr/>
        </p:nvSpPr>
        <p:spPr>
          <a:xfrm>
            <a:off x="274320" y="2011680"/>
            <a:ext cx="2743200" cy="1371600"/>
          </a:xfrm>
          <a:prstGeom prst="rect">
            <a:avLst/>
          </a:prstGeom>
          <a:solidFill>
            <a:srgbClr val="1E293B"/>
          </a:solidFill>
          <a:ln w="12700">
            <a:solidFill>
              <a:srgbClr val="10B981"/>
            </a:solidFill>
            <a:prstDash val="solid"/>
          </a:ln>
          <a:effectLst>
            <a:outerShdw blurRad="101600" dist="38100" dir="8100000" algn="bl" rotWithShape="0">
              <a:srgbClr val="000000">
                <a:alpha val="20000"/>
              </a:srgbClr>
            </a:outerShdw>
          </a:effectLst>
        </p:spPr>
        <p:txBody>
          <a:bodyPr/>
          <a:lstStyle/>
          <a:p>
            <a:endParaRPr lang="en-US"/>
          </a:p>
        </p:txBody>
      </p:sp>
      <p:sp>
        <p:nvSpPr>
          <p:cNvPr id="9" name="Text 7"/>
          <p:cNvSpPr/>
          <p:nvPr/>
        </p:nvSpPr>
        <p:spPr>
          <a:xfrm>
            <a:off x="411480" y="2084832"/>
            <a:ext cx="2468880" cy="502920"/>
          </a:xfrm>
          <a:prstGeom prst="rect">
            <a:avLst/>
          </a:prstGeom>
          <a:noFill/>
          <a:ln/>
        </p:spPr>
        <p:txBody>
          <a:bodyPr wrap="square" lIns="0" tIns="0" rIns="0" bIns="0"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Posterior</a:t>
            </a:r>
            <a:endParaRPr lang="en-US" sz="1300" dirty="0"/>
          </a:p>
          <a:p>
            <a:pPr marL="0" indent="0">
              <a:buNone/>
            </a:pPr>
            <a:r>
              <a:rPr lang="en-US" sz="1300" b="1" dirty="0">
                <a:solidFill>
                  <a:srgbClr val="10B981"/>
                </a:solidFill>
                <a:latin typeface="Calibri" pitchFamily="34" charset="0"/>
                <a:ea typeface="Calibri" pitchFamily="34" charset="-122"/>
                <a:cs typeface="Calibri" pitchFamily="34" charset="-120"/>
              </a:rPr>
              <a:t>P(C|F)</a:t>
            </a:r>
            <a:endParaRPr lang="en-US" sz="1300" dirty="0"/>
          </a:p>
        </p:txBody>
      </p:sp>
      <p:sp>
        <p:nvSpPr>
          <p:cNvPr id="10" name="Text 8"/>
          <p:cNvSpPr/>
          <p:nvPr/>
        </p:nvSpPr>
        <p:spPr>
          <a:xfrm>
            <a:off x="411480" y="2606040"/>
            <a:ext cx="2468880" cy="685800"/>
          </a:xfrm>
          <a:prstGeom prst="rect">
            <a:avLst/>
          </a:prstGeom>
          <a:noFill/>
          <a:ln/>
        </p:spPr>
        <p:txBody>
          <a:bodyPr wrap="square" lIns="0" tIns="0" rIns="0" bIns="0" rtlCol="0" anchor="ctr"/>
          <a:lstStyle/>
          <a:p>
            <a:pPr marL="0" indent="0">
              <a:buNone/>
            </a:pPr>
            <a:r>
              <a:rPr lang="en-US" sz="950" dirty="0">
                <a:solidFill>
                  <a:srgbClr val="F8FAFC"/>
                </a:solidFill>
                <a:latin typeface="Calibri" pitchFamily="34" charset="0"/>
                <a:ea typeface="Calibri" pitchFamily="34" charset="-122"/>
                <a:cs typeface="Calibri" pitchFamily="34" charset="-120"/>
              </a:rPr>
              <a:t>Probability the email is Spam GIVEN the words we see. This is what we want!</a:t>
            </a:r>
            <a:endParaRPr lang="en-US" sz="950" dirty="0"/>
          </a:p>
        </p:txBody>
      </p:sp>
      <p:sp>
        <p:nvSpPr>
          <p:cNvPr id="11" name="Shape 9"/>
          <p:cNvSpPr/>
          <p:nvPr/>
        </p:nvSpPr>
        <p:spPr>
          <a:xfrm>
            <a:off x="3218688" y="2011680"/>
            <a:ext cx="2743200" cy="1371600"/>
          </a:xfrm>
          <a:prstGeom prst="rect">
            <a:avLst/>
          </a:prstGeom>
          <a:solidFill>
            <a:srgbClr val="1E293B"/>
          </a:solidFill>
          <a:ln w="12700">
            <a:solidFill>
              <a:srgbClr val="3B82F6"/>
            </a:solidFill>
            <a:prstDash val="solid"/>
          </a:ln>
          <a:effectLst>
            <a:outerShdw blurRad="101600" dist="38100" dir="8100000" algn="bl" rotWithShape="0">
              <a:srgbClr val="000000">
                <a:alpha val="20000"/>
              </a:srgbClr>
            </a:outerShdw>
          </a:effectLst>
        </p:spPr>
        <p:txBody>
          <a:bodyPr/>
          <a:lstStyle/>
          <a:p>
            <a:endParaRPr lang="en-US"/>
          </a:p>
        </p:txBody>
      </p:sp>
      <p:sp>
        <p:nvSpPr>
          <p:cNvPr id="12" name="Text 10"/>
          <p:cNvSpPr/>
          <p:nvPr/>
        </p:nvSpPr>
        <p:spPr>
          <a:xfrm>
            <a:off x="3355848" y="2084832"/>
            <a:ext cx="2468880" cy="502920"/>
          </a:xfrm>
          <a:prstGeom prst="rect">
            <a:avLst/>
          </a:prstGeom>
          <a:noFill/>
          <a:ln/>
        </p:spPr>
        <p:txBody>
          <a:bodyPr wrap="square" lIns="0" tIns="0" rIns="0" bIns="0" rtlCol="0" anchor="ctr"/>
          <a:lstStyle/>
          <a:p>
            <a:pPr marL="0" indent="0">
              <a:buNone/>
            </a:pPr>
            <a:r>
              <a:rPr lang="en-US" sz="1300" b="1" dirty="0">
                <a:solidFill>
                  <a:srgbClr val="3B82F6"/>
                </a:solidFill>
                <a:latin typeface="Calibri" pitchFamily="34" charset="0"/>
                <a:ea typeface="Calibri" pitchFamily="34" charset="-122"/>
                <a:cs typeface="Calibri" pitchFamily="34" charset="-120"/>
              </a:rPr>
              <a:t>Likelihood</a:t>
            </a:r>
            <a:endParaRPr lang="en-US" sz="1300" dirty="0"/>
          </a:p>
          <a:p>
            <a:pPr marL="0" indent="0">
              <a:buNone/>
            </a:pPr>
            <a:r>
              <a:rPr lang="en-US" sz="1300" b="1" dirty="0">
                <a:solidFill>
                  <a:srgbClr val="3B82F6"/>
                </a:solidFill>
                <a:latin typeface="Calibri" pitchFamily="34" charset="0"/>
                <a:ea typeface="Calibri" pitchFamily="34" charset="-122"/>
                <a:cs typeface="Calibri" pitchFamily="34" charset="-120"/>
              </a:rPr>
              <a:t>P(F|C)</a:t>
            </a:r>
            <a:endParaRPr lang="en-US" sz="1300" dirty="0"/>
          </a:p>
        </p:txBody>
      </p:sp>
      <p:sp>
        <p:nvSpPr>
          <p:cNvPr id="13" name="Text 11"/>
          <p:cNvSpPr/>
          <p:nvPr/>
        </p:nvSpPr>
        <p:spPr>
          <a:xfrm>
            <a:off x="3355848" y="2606040"/>
            <a:ext cx="2468880" cy="685800"/>
          </a:xfrm>
          <a:prstGeom prst="rect">
            <a:avLst/>
          </a:prstGeom>
          <a:noFill/>
          <a:ln/>
        </p:spPr>
        <p:txBody>
          <a:bodyPr wrap="square" lIns="0" tIns="0" rIns="0" bIns="0" rtlCol="0" anchor="ctr"/>
          <a:lstStyle/>
          <a:p>
            <a:pPr marL="0" indent="0">
              <a:buNone/>
            </a:pPr>
            <a:r>
              <a:rPr lang="en-US" sz="950" dirty="0">
                <a:solidFill>
                  <a:srgbClr val="F8FAFC"/>
                </a:solidFill>
                <a:latin typeface="Calibri" pitchFamily="34" charset="0"/>
                <a:ea typeface="Calibri" pitchFamily="34" charset="-122"/>
                <a:cs typeface="Calibri" pitchFamily="34" charset="-120"/>
              </a:rPr>
              <a:t>How likely are we to see these words IF the email is Spam?</a:t>
            </a:r>
            <a:endParaRPr lang="en-US" sz="950" dirty="0"/>
          </a:p>
        </p:txBody>
      </p:sp>
      <p:sp>
        <p:nvSpPr>
          <p:cNvPr id="14" name="Shape 12"/>
          <p:cNvSpPr/>
          <p:nvPr/>
        </p:nvSpPr>
        <p:spPr>
          <a:xfrm>
            <a:off x="6163056" y="2011680"/>
            <a:ext cx="2743200" cy="1371600"/>
          </a:xfrm>
          <a:prstGeom prst="rect">
            <a:avLst/>
          </a:prstGeom>
          <a:solidFill>
            <a:srgbClr val="1E293B"/>
          </a:solidFill>
          <a:ln w="12700">
            <a:solidFill>
              <a:srgbClr val="F59E0B"/>
            </a:solidFill>
            <a:prstDash val="solid"/>
          </a:ln>
          <a:effectLst>
            <a:outerShdw blurRad="101600" dist="38100" dir="8100000" algn="bl" rotWithShape="0">
              <a:srgbClr val="000000">
                <a:alpha val="20000"/>
              </a:srgbClr>
            </a:outerShdw>
          </a:effectLst>
        </p:spPr>
        <p:txBody>
          <a:bodyPr/>
          <a:lstStyle/>
          <a:p>
            <a:endParaRPr lang="en-US"/>
          </a:p>
        </p:txBody>
      </p:sp>
      <p:sp>
        <p:nvSpPr>
          <p:cNvPr id="15" name="Text 13"/>
          <p:cNvSpPr/>
          <p:nvPr/>
        </p:nvSpPr>
        <p:spPr>
          <a:xfrm>
            <a:off x="6300216" y="2084832"/>
            <a:ext cx="2468880" cy="502920"/>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Prior</a:t>
            </a:r>
            <a:endParaRPr lang="en-US" sz="1300" dirty="0"/>
          </a:p>
          <a:p>
            <a:pPr marL="0" indent="0">
              <a:buNone/>
            </a:pPr>
            <a:r>
              <a:rPr lang="en-US" sz="1300" b="1" dirty="0">
                <a:solidFill>
                  <a:srgbClr val="F59E0B"/>
                </a:solidFill>
                <a:latin typeface="Calibri" pitchFamily="34" charset="0"/>
                <a:ea typeface="Calibri" pitchFamily="34" charset="-122"/>
                <a:cs typeface="Calibri" pitchFamily="34" charset="-120"/>
              </a:rPr>
              <a:t>P(C)</a:t>
            </a:r>
            <a:endParaRPr lang="en-US" sz="1300" dirty="0"/>
          </a:p>
        </p:txBody>
      </p:sp>
      <p:sp>
        <p:nvSpPr>
          <p:cNvPr id="16" name="Text 14"/>
          <p:cNvSpPr/>
          <p:nvPr/>
        </p:nvSpPr>
        <p:spPr>
          <a:xfrm>
            <a:off x="6300216" y="2606040"/>
            <a:ext cx="2468880" cy="685800"/>
          </a:xfrm>
          <a:prstGeom prst="rect">
            <a:avLst/>
          </a:prstGeom>
          <a:noFill/>
          <a:ln/>
        </p:spPr>
        <p:txBody>
          <a:bodyPr wrap="square" lIns="0" tIns="0" rIns="0" bIns="0" rtlCol="0" anchor="ctr"/>
          <a:lstStyle/>
          <a:p>
            <a:pPr marL="0" indent="0">
              <a:buNone/>
            </a:pPr>
            <a:r>
              <a:rPr lang="en-US" sz="950" dirty="0">
                <a:solidFill>
                  <a:srgbClr val="F8FAFC"/>
                </a:solidFill>
                <a:latin typeface="Calibri" pitchFamily="34" charset="0"/>
                <a:ea typeface="Calibri" pitchFamily="34" charset="-122"/>
                <a:cs typeface="Calibri" pitchFamily="34" charset="-120"/>
              </a:rPr>
              <a:t>What fraction of all emails are Spam before seeing any words?</a:t>
            </a:r>
            <a:endParaRPr lang="en-US" sz="950" dirty="0"/>
          </a:p>
        </p:txBody>
      </p:sp>
      <p:sp>
        <p:nvSpPr>
          <p:cNvPr id="17" name="Shape 15"/>
          <p:cNvSpPr/>
          <p:nvPr/>
        </p:nvSpPr>
        <p:spPr>
          <a:xfrm>
            <a:off x="274320" y="3520440"/>
            <a:ext cx="8595360" cy="731520"/>
          </a:xfrm>
          <a:prstGeom prst="rect">
            <a:avLst/>
          </a:prstGeom>
          <a:solidFill>
            <a:srgbClr val="1E293B"/>
          </a:solidFill>
          <a:ln w="19050">
            <a:solidFill>
              <a:srgbClr val="F59E0B"/>
            </a:solidFill>
            <a:prstDash val="solid"/>
          </a:ln>
        </p:spPr>
        <p:txBody>
          <a:bodyPr/>
          <a:lstStyle/>
          <a:p>
            <a:endParaRPr lang="en-US"/>
          </a:p>
        </p:txBody>
      </p:sp>
      <p:sp>
        <p:nvSpPr>
          <p:cNvPr id="18" name="Text 16"/>
          <p:cNvSpPr/>
          <p:nvPr/>
        </p:nvSpPr>
        <p:spPr>
          <a:xfrm>
            <a:off x="457200" y="3593592"/>
            <a:ext cx="2743200" cy="228600"/>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 The 'Naive' Assumption</a:t>
            </a:r>
            <a:endParaRPr lang="en-US" sz="1100" dirty="0"/>
          </a:p>
        </p:txBody>
      </p:sp>
      <p:sp>
        <p:nvSpPr>
          <p:cNvPr id="19" name="Text 17"/>
          <p:cNvSpPr/>
          <p:nvPr/>
        </p:nvSpPr>
        <p:spPr>
          <a:xfrm>
            <a:off x="457200" y="3840480"/>
            <a:ext cx="8229600" cy="347472"/>
          </a:xfrm>
          <a:prstGeom prst="rect">
            <a:avLst/>
          </a:prstGeom>
          <a:noFill/>
          <a:ln/>
        </p:spPr>
        <p:txBody>
          <a:bodyPr wrap="square" lIns="0" tIns="0" rIns="0" bIns="0" rtlCol="0" anchor="ctr"/>
          <a:lstStyle/>
          <a:p>
            <a:pPr marL="0" indent="0">
              <a:buNone/>
            </a:pPr>
            <a:r>
              <a:rPr lang="en-US" sz="1000" dirty="0">
                <a:solidFill>
                  <a:srgbClr val="F8FAFC"/>
                </a:solidFill>
                <a:latin typeface="Calibri" pitchFamily="34" charset="0"/>
                <a:ea typeface="Calibri" pitchFamily="34" charset="-122"/>
                <a:cs typeface="Calibri" pitchFamily="34" charset="-120"/>
              </a:rPr>
              <a:t>All features are assumed to be conditionally independent given the class. Even though this is often not true in reality, Naive Bayes still works surprisingly well!</a:t>
            </a:r>
            <a:endParaRPr lang="en-US" sz="1000" dirty="0"/>
          </a:p>
        </p:txBody>
      </p:sp>
      <p:sp>
        <p:nvSpPr>
          <p:cNvPr id="20" name="Shape 18"/>
          <p:cNvSpPr/>
          <p:nvPr/>
        </p:nvSpPr>
        <p:spPr>
          <a:xfrm>
            <a:off x="274320" y="4315968"/>
            <a:ext cx="8595360" cy="640080"/>
          </a:xfrm>
          <a:prstGeom prst="rect">
            <a:avLst/>
          </a:prstGeom>
          <a:solidFill>
            <a:srgbClr val="1E293B"/>
          </a:solidFill>
          <a:ln/>
        </p:spPr>
        <p:txBody>
          <a:bodyPr/>
          <a:lstStyle/>
          <a:p>
            <a:endParaRPr lang="en-US"/>
          </a:p>
        </p:txBody>
      </p:sp>
      <p:sp>
        <p:nvSpPr>
          <p:cNvPr id="21" name="Text 19"/>
          <p:cNvSpPr/>
          <p:nvPr/>
        </p:nvSpPr>
        <p:spPr>
          <a:xfrm>
            <a:off x="457200" y="4389120"/>
            <a:ext cx="1097280" cy="274320"/>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Variants:</a:t>
            </a:r>
            <a:endParaRPr lang="en-US" sz="1000" dirty="0"/>
          </a:p>
        </p:txBody>
      </p:sp>
      <p:sp>
        <p:nvSpPr>
          <p:cNvPr id="22" name="Shape 20"/>
          <p:cNvSpPr/>
          <p:nvPr/>
        </p:nvSpPr>
        <p:spPr>
          <a:xfrm>
            <a:off x="1600200" y="4453128"/>
            <a:ext cx="91440" cy="91440"/>
          </a:xfrm>
          <a:prstGeom prst="ellipse">
            <a:avLst/>
          </a:prstGeom>
          <a:solidFill>
            <a:srgbClr val="10B981"/>
          </a:solidFill>
          <a:ln/>
        </p:spPr>
        <p:txBody>
          <a:bodyPr/>
          <a:lstStyle/>
          <a:p>
            <a:endParaRPr lang="en-US"/>
          </a:p>
        </p:txBody>
      </p:sp>
      <p:sp>
        <p:nvSpPr>
          <p:cNvPr id="23" name="Text 21"/>
          <p:cNvSpPr/>
          <p:nvPr/>
        </p:nvSpPr>
        <p:spPr>
          <a:xfrm>
            <a:off x="1737360" y="4407408"/>
            <a:ext cx="1645920" cy="256032"/>
          </a:xfrm>
          <a:prstGeom prst="rect">
            <a:avLst/>
          </a:prstGeom>
          <a:noFill/>
          <a:ln/>
        </p:spPr>
        <p:txBody>
          <a:bodyPr wrap="square" lIns="0" tIns="0" rIns="0" bIns="0" rtlCol="0" anchor="ctr"/>
          <a:lstStyle/>
          <a:p>
            <a:pPr marL="0" indent="0">
              <a:buNone/>
            </a:pPr>
            <a:r>
              <a:rPr lang="en-US" sz="850" dirty="0">
                <a:solidFill>
                  <a:srgbClr val="F8FAFC"/>
                </a:solidFill>
                <a:latin typeface="Calibri" pitchFamily="34" charset="0"/>
                <a:ea typeface="Calibri" pitchFamily="34" charset="-122"/>
                <a:cs typeface="Calibri" pitchFamily="34" charset="-120"/>
              </a:rPr>
              <a:t>Gaussian NB — continuous features</a:t>
            </a:r>
            <a:endParaRPr lang="en-US" sz="850" dirty="0"/>
          </a:p>
        </p:txBody>
      </p:sp>
      <p:sp>
        <p:nvSpPr>
          <p:cNvPr id="24" name="Shape 22"/>
          <p:cNvSpPr/>
          <p:nvPr/>
        </p:nvSpPr>
        <p:spPr>
          <a:xfrm>
            <a:off x="3429000" y="4453128"/>
            <a:ext cx="91440" cy="91440"/>
          </a:xfrm>
          <a:prstGeom prst="ellipse">
            <a:avLst/>
          </a:prstGeom>
          <a:solidFill>
            <a:srgbClr val="10B981"/>
          </a:solidFill>
          <a:ln/>
        </p:spPr>
        <p:txBody>
          <a:bodyPr/>
          <a:lstStyle/>
          <a:p>
            <a:endParaRPr lang="en-US"/>
          </a:p>
        </p:txBody>
      </p:sp>
      <p:sp>
        <p:nvSpPr>
          <p:cNvPr id="25" name="Text 23"/>
          <p:cNvSpPr/>
          <p:nvPr/>
        </p:nvSpPr>
        <p:spPr>
          <a:xfrm>
            <a:off x="3566160" y="4407408"/>
            <a:ext cx="1645920" cy="256032"/>
          </a:xfrm>
          <a:prstGeom prst="rect">
            <a:avLst/>
          </a:prstGeom>
          <a:noFill/>
          <a:ln/>
        </p:spPr>
        <p:txBody>
          <a:bodyPr wrap="square" lIns="0" tIns="0" rIns="0" bIns="0" rtlCol="0" anchor="ctr"/>
          <a:lstStyle/>
          <a:p>
            <a:pPr marL="0" indent="0">
              <a:buNone/>
            </a:pPr>
            <a:r>
              <a:rPr lang="en-US" sz="850" dirty="0">
                <a:solidFill>
                  <a:srgbClr val="F8FAFC"/>
                </a:solidFill>
                <a:latin typeface="Calibri" pitchFamily="34" charset="0"/>
                <a:ea typeface="Calibri" pitchFamily="34" charset="-122"/>
                <a:cs typeface="Calibri" pitchFamily="34" charset="-120"/>
              </a:rPr>
              <a:t>Multinomial NB — text classification</a:t>
            </a:r>
            <a:endParaRPr lang="en-US" sz="850" dirty="0"/>
          </a:p>
        </p:txBody>
      </p:sp>
      <p:sp>
        <p:nvSpPr>
          <p:cNvPr id="26" name="Shape 24"/>
          <p:cNvSpPr/>
          <p:nvPr/>
        </p:nvSpPr>
        <p:spPr>
          <a:xfrm>
            <a:off x="5257800" y="4453128"/>
            <a:ext cx="91440" cy="91440"/>
          </a:xfrm>
          <a:prstGeom prst="ellipse">
            <a:avLst/>
          </a:prstGeom>
          <a:solidFill>
            <a:srgbClr val="10B981"/>
          </a:solidFill>
          <a:ln/>
        </p:spPr>
        <p:txBody>
          <a:bodyPr/>
          <a:lstStyle/>
          <a:p>
            <a:endParaRPr lang="en-US"/>
          </a:p>
        </p:txBody>
      </p:sp>
      <p:sp>
        <p:nvSpPr>
          <p:cNvPr id="27" name="Text 25"/>
          <p:cNvSpPr/>
          <p:nvPr/>
        </p:nvSpPr>
        <p:spPr>
          <a:xfrm>
            <a:off x="5394960" y="4407408"/>
            <a:ext cx="1645920" cy="256032"/>
          </a:xfrm>
          <a:prstGeom prst="rect">
            <a:avLst/>
          </a:prstGeom>
          <a:noFill/>
          <a:ln/>
        </p:spPr>
        <p:txBody>
          <a:bodyPr wrap="square" lIns="0" tIns="0" rIns="0" bIns="0" rtlCol="0" anchor="ctr"/>
          <a:lstStyle/>
          <a:p>
            <a:pPr marL="0" indent="0">
              <a:buNone/>
            </a:pPr>
            <a:r>
              <a:rPr lang="en-US" sz="850" dirty="0">
                <a:solidFill>
                  <a:srgbClr val="F8FAFC"/>
                </a:solidFill>
                <a:latin typeface="Calibri" pitchFamily="34" charset="0"/>
                <a:ea typeface="Calibri" pitchFamily="34" charset="-122"/>
                <a:cs typeface="Calibri" pitchFamily="34" charset="-120"/>
              </a:rPr>
              <a:t>Bernoulli NB — binary features</a:t>
            </a:r>
            <a:endParaRPr lang="en-US" sz="850" dirty="0"/>
          </a:p>
        </p:txBody>
      </p:sp>
      <p:sp>
        <p:nvSpPr>
          <p:cNvPr id="28" name="Shape 26"/>
          <p:cNvSpPr/>
          <p:nvPr/>
        </p:nvSpPr>
        <p:spPr>
          <a:xfrm>
            <a:off x="7086600" y="4453128"/>
            <a:ext cx="91440" cy="91440"/>
          </a:xfrm>
          <a:prstGeom prst="ellipse">
            <a:avLst/>
          </a:prstGeom>
          <a:solidFill>
            <a:srgbClr val="10B981"/>
          </a:solidFill>
          <a:ln/>
        </p:spPr>
        <p:txBody>
          <a:bodyPr/>
          <a:lstStyle/>
          <a:p>
            <a:endParaRPr lang="en-US"/>
          </a:p>
        </p:txBody>
      </p:sp>
      <p:sp>
        <p:nvSpPr>
          <p:cNvPr id="29" name="Text 27"/>
          <p:cNvSpPr/>
          <p:nvPr/>
        </p:nvSpPr>
        <p:spPr>
          <a:xfrm>
            <a:off x="7223760" y="4407408"/>
            <a:ext cx="1645920" cy="256032"/>
          </a:xfrm>
          <a:prstGeom prst="rect">
            <a:avLst/>
          </a:prstGeom>
          <a:noFill/>
          <a:ln/>
        </p:spPr>
        <p:txBody>
          <a:bodyPr wrap="square" lIns="0" tIns="0" rIns="0" bIns="0" rtlCol="0" anchor="ctr"/>
          <a:lstStyle/>
          <a:p>
            <a:pPr marL="0" indent="0">
              <a:buNone/>
            </a:pPr>
            <a:r>
              <a:rPr lang="en-US" sz="850" dirty="0">
                <a:solidFill>
                  <a:srgbClr val="F8FAFC"/>
                </a:solidFill>
                <a:latin typeface="Calibri" pitchFamily="34" charset="0"/>
                <a:ea typeface="Calibri" pitchFamily="34" charset="-122"/>
                <a:cs typeface="Calibri" pitchFamily="34" charset="-120"/>
              </a:rPr>
              <a:t>Complement NB — imbalanced datasets</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0B981"/>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lIns="0" tIns="0" rIns="0" bIns="0" rtlCol="0" anchor="ctr"/>
          <a:lstStyle/>
          <a:p>
            <a:pPr marL="0" indent="0">
              <a:buNone/>
            </a:pPr>
            <a:r>
              <a:rPr lang="en-US" sz="1900" b="1" dirty="0">
                <a:solidFill>
                  <a:srgbClr val="0F172A"/>
                </a:solidFill>
                <a:latin typeface="Calibri" pitchFamily="34" charset="0"/>
                <a:ea typeface="Calibri" pitchFamily="34" charset="-122"/>
                <a:cs typeface="Calibri" pitchFamily="34" charset="-120"/>
              </a:rPr>
              <a:t>Naive Bayes Example: Email Spam Classification</a:t>
            </a:r>
            <a:endParaRPr lang="en-US" sz="1900" dirty="0"/>
          </a:p>
        </p:txBody>
      </p:sp>
      <p:sp>
        <p:nvSpPr>
          <p:cNvPr id="4" name="Shape 2"/>
          <p:cNvSpPr/>
          <p:nvPr/>
        </p:nvSpPr>
        <p:spPr>
          <a:xfrm>
            <a:off x="274320" y="914400"/>
            <a:ext cx="4114800" cy="3931920"/>
          </a:xfrm>
          <a:prstGeom prst="rect">
            <a:avLst/>
          </a:prstGeom>
          <a:solidFill>
            <a:srgbClr val="FFFFFF"/>
          </a:solidFill>
          <a:ln/>
          <a:effectLst>
            <a:outerShdw blurRad="101600" dist="38100" dir="8100000" algn="bl" rotWithShape="0">
              <a:srgbClr val="000000">
                <a:alpha val="20000"/>
              </a:srgbClr>
            </a:outerShdw>
          </a:effectLst>
        </p:spPr>
        <p:txBody>
          <a:bodyPr/>
          <a:lstStyle/>
          <a:p>
            <a:endParaRPr lang="en-US"/>
          </a:p>
        </p:txBody>
      </p:sp>
      <p:sp>
        <p:nvSpPr>
          <p:cNvPr id="5" name="Text 3"/>
          <p:cNvSpPr/>
          <p:nvPr/>
        </p:nvSpPr>
        <p:spPr>
          <a:xfrm>
            <a:off x="457200" y="1005840"/>
            <a:ext cx="3749040" cy="274320"/>
          </a:xfrm>
          <a:prstGeom prst="rect">
            <a:avLst/>
          </a:prstGeom>
          <a:noFill/>
          <a:ln/>
        </p:spPr>
        <p:txBody>
          <a:bodyPr wrap="square" lIns="0" tIns="0" rIns="0" bIns="0"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Step 1 — Training Data</a:t>
            </a:r>
            <a:endParaRPr lang="en-US" sz="1200" dirty="0"/>
          </a:p>
        </p:txBody>
      </p:sp>
      <p:sp>
        <p:nvSpPr>
          <p:cNvPr id="6" name="Shape 4"/>
          <p:cNvSpPr/>
          <p:nvPr/>
        </p:nvSpPr>
        <p:spPr>
          <a:xfrm>
            <a:off x="411480" y="1344168"/>
            <a:ext cx="3200400" cy="338328"/>
          </a:xfrm>
          <a:prstGeom prst="rect">
            <a:avLst/>
          </a:prstGeom>
          <a:solidFill>
            <a:srgbClr val="10B981"/>
          </a:solidFill>
          <a:ln/>
        </p:spPr>
        <p:txBody>
          <a:bodyPr/>
          <a:lstStyle/>
          <a:p>
            <a:endParaRPr lang="en-US"/>
          </a:p>
        </p:txBody>
      </p:sp>
      <p:sp>
        <p:nvSpPr>
          <p:cNvPr id="7" name="Text 5"/>
          <p:cNvSpPr/>
          <p:nvPr/>
        </p:nvSpPr>
        <p:spPr>
          <a:xfrm>
            <a:off x="457200" y="1371600"/>
            <a:ext cx="2468880" cy="292608"/>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Email Words</a:t>
            </a:r>
            <a:endParaRPr lang="en-US" sz="850" dirty="0"/>
          </a:p>
        </p:txBody>
      </p:sp>
      <p:sp>
        <p:nvSpPr>
          <p:cNvPr id="8" name="Text 6"/>
          <p:cNvSpPr/>
          <p:nvPr/>
        </p:nvSpPr>
        <p:spPr>
          <a:xfrm>
            <a:off x="2926080" y="1371600"/>
            <a:ext cx="640080"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Label</a:t>
            </a:r>
            <a:endParaRPr lang="en-US" sz="850" dirty="0"/>
          </a:p>
        </p:txBody>
      </p:sp>
      <p:sp>
        <p:nvSpPr>
          <p:cNvPr id="9" name="Shape 7"/>
          <p:cNvSpPr/>
          <p:nvPr/>
        </p:nvSpPr>
        <p:spPr>
          <a:xfrm>
            <a:off x="411480" y="1682496"/>
            <a:ext cx="3200400" cy="338328"/>
          </a:xfrm>
          <a:prstGeom prst="rect">
            <a:avLst/>
          </a:prstGeom>
          <a:solidFill>
            <a:srgbClr val="FFFFFF"/>
          </a:solidFill>
          <a:ln/>
        </p:spPr>
        <p:txBody>
          <a:bodyPr/>
          <a:lstStyle/>
          <a:p>
            <a:endParaRPr lang="en-US"/>
          </a:p>
        </p:txBody>
      </p:sp>
      <p:sp>
        <p:nvSpPr>
          <p:cNvPr id="10" name="Text 8"/>
          <p:cNvSpPr/>
          <p:nvPr/>
        </p:nvSpPr>
        <p:spPr>
          <a:xfrm>
            <a:off x="457200" y="1709928"/>
            <a:ext cx="2468880" cy="292608"/>
          </a:xfrm>
          <a:prstGeom prst="rect">
            <a:avLst/>
          </a:prstGeom>
          <a:noFill/>
          <a:ln/>
        </p:spPr>
        <p:txBody>
          <a:bodyPr wrap="square" lIns="0" tIns="0" rIns="0" bIns="0" rtlCol="0" anchor="ctr"/>
          <a:lstStyle/>
          <a:p>
            <a:pPr marL="0" indent="0">
              <a:buNone/>
            </a:pPr>
            <a:r>
              <a:rPr lang="en-US" sz="850" dirty="0">
                <a:solidFill>
                  <a:srgbClr val="0F172A"/>
                </a:solidFill>
                <a:latin typeface="Calibri" pitchFamily="34" charset="0"/>
                <a:ea typeface="Calibri" pitchFamily="34" charset="-122"/>
                <a:cs typeface="Calibri" pitchFamily="34" charset="-120"/>
              </a:rPr>
              <a:t>FREE money offer click</a:t>
            </a:r>
            <a:endParaRPr lang="en-US" sz="850" dirty="0"/>
          </a:p>
        </p:txBody>
      </p:sp>
      <p:sp>
        <p:nvSpPr>
          <p:cNvPr id="11" name="Shape 9"/>
          <p:cNvSpPr/>
          <p:nvPr/>
        </p:nvSpPr>
        <p:spPr>
          <a:xfrm>
            <a:off x="2926080" y="1709928"/>
            <a:ext cx="640080" cy="246888"/>
          </a:xfrm>
          <a:prstGeom prst="rect">
            <a:avLst/>
          </a:prstGeom>
          <a:solidFill>
            <a:srgbClr val="FEE2E2"/>
          </a:solidFill>
          <a:ln/>
        </p:spPr>
        <p:txBody>
          <a:bodyPr/>
          <a:lstStyle/>
          <a:p>
            <a:endParaRPr lang="en-US"/>
          </a:p>
        </p:txBody>
      </p:sp>
      <p:sp>
        <p:nvSpPr>
          <p:cNvPr id="12" name="Text 10"/>
          <p:cNvSpPr/>
          <p:nvPr/>
        </p:nvSpPr>
        <p:spPr>
          <a:xfrm>
            <a:off x="2926080" y="1709928"/>
            <a:ext cx="640080" cy="246888"/>
          </a:xfrm>
          <a:prstGeom prst="rect">
            <a:avLst/>
          </a:prstGeom>
          <a:noFill/>
          <a:ln/>
        </p:spPr>
        <p:txBody>
          <a:bodyPr wrap="square" lIns="0" tIns="0" rIns="0" bIns="0" rtlCol="0" anchor="ctr"/>
          <a:lstStyle/>
          <a:p>
            <a:pPr marL="0" indent="0" algn="ctr">
              <a:buNone/>
            </a:pPr>
            <a:r>
              <a:rPr lang="en-US" sz="800" b="1" dirty="0">
                <a:solidFill>
                  <a:srgbClr val="EF4444"/>
                </a:solidFill>
                <a:latin typeface="Calibri" pitchFamily="34" charset="0"/>
                <a:ea typeface="Calibri" pitchFamily="34" charset="-122"/>
                <a:cs typeface="Calibri" pitchFamily="34" charset="-120"/>
              </a:rPr>
              <a:t>SPAM</a:t>
            </a:r>
            <a:endParaRPr lang="en-US" sz="800" dirty="0"/>
          </a:p>
        </p:txBody>
      </p:sp>
      <p:sp>
        <p:nvSpPr>
          <p:cNvPr id="13" name="Shape 11"/>
          <p:cNvSpPr/>
          <p:nvPr/>
        </p:nvSpPr>
        <p:spPr>
          <a:xfrm>
            <a:off x="411480" y="2020824"/>
            <a:ext cx="3200400" cy="338328"/>
          </a:xfrm>
          <a:prstGeom prst="rect">
            <a:avLst/>
          </a:prstGeom>
          <a:solidFill>
            <a:srgbClr val="F8FAFC"/>
          </a:solidFill>
          <a:ln/>
        </p:spPr>
        <p:txBody>
          <a:bodyPr/>
          <a:lstStyle/>
          <a:p>
            <a:endParaRPr lang="en-US"/>
          </a:p>
        </p:txBody>
      </p:sp>
      <p:sp>
        <p:nvSpPr>
          <p:cNvPr id="14" name="Text 12"/>
          <p:cNvSpPr/>
          <p:nvPr/>
        </p:nvSpPr>
        <p:spPr>
          <a:xfrm>
            <a:off x="457200" y="2048256"/>
            <a:ext cx="2468880" cy="292608"/>
          </a:xfrm>
          <a:prstGeom prst="rect">
            <a:avLst/>
          </a:prstGeom>
          <a:noFill/>
          <a:ln/>
        </p:spPr>
        <p:txBody>
          <a:bodyPr wrap="square" lIns="0" tIns="0" rIns="0" bIns="0" rtlCol="0" anchor="ctr"/>
          <a:lstStyle/>
          <a:p>
            <a:pPr marL="0" indent="0">
              <a:buNone/>
            </a:pPr>
            <a:r>
              <a:rPr lang="en-US" sz="850" dirty="0">
                <a:solidFill>
                  <a:srgbClr val="0F172A"/>
                </a:solidFill>
                <a:latin typeface="Calibri" pitchFamily="34" charset="0"/>
                <a:ea typeface="Calibri" pitchFamily="34" charset="-122"/>
                <a:cs typeface="Calibri" pitchFamily="34" charset="-120"/>
              </a:rPr>
              <a:t>Win prize lottery click</a:t>
            </a:r>
            <a:endParaRPr lang="en-US" sz="850" dirty="0"/>
          </a:p>
        </p:txBody>
      </p:sp>
      <p:sp>
        <p:nvSpPr>
          <p:cNvPr id="15" name="Shape 13"/>
          <p:cNvSpPr/>
          <p:nvPr/>
        </p:nvSpPr>
        <p:spPr>
          <a:xfrm>
            <a:off x="2926080" y="2048256"/>
            <a:ext cx="640080" cy="246888"/>
          </a:xfrm>
          <a:prstGeom prst="rect">
            <a:avLst/>
          </a:prstGeom>
          <a:solidFill>
            <a:srgbClr val="FEE2E2"/>
          </a:solidFill>
          <a:ln/>
        </p:spPr>
        <p:txBody>
          <a:bodyPr/>
          <a:lstStyle/>
          <a:p>
            <a:endParaRPr lang="en-US"/>
          </a:p>
        </p:txBody>
      </p:sp>
      <p:sp>
        <p:nvSpPr>
          <p:cNvPr id="16" name="Text 14"/>
          <p:cNvSpPr/>
          <p:nvPr/>
        </p:nvSpPr>
        <p:spPr>
          <a:xfrm>
            <a:off x="2926080" y="2048256"/>
            <a:ext cx="640080" cy="246888"/>
          </a:xfrm>
          <a:prstGeom prst="rect">
            <a:avLst/>
          </a:prstGeom>
          <a:noFill/>
          <a:ln/>
        </p:spPr>
        <p:txBody>
          <a:bodyPr wrap="square" lIns="0" tIns="0" rIns="0" bIns="0" rtlCol="0" anchor="ctr"/>
          <a:lstStyle/>
          <a:p>
            <a:pPr marL="0" indent="0" algn="ctr">
              <a:buNone/>
            </a:pPr>
            <a:r>
              <a:rPr lang="en-US" sz="800" b="1" dirty="0">
                <a:solidFill>
                  <a:srgbClr val="EF4444"/>
                </a:solidFill>
                <a:latin typeface="Calibri" pitchFamily="34" charset="0"/>
                <a:ea typeface="Calibri" pitchFamily="34" charset="-122"/>
                <a:cs typeface="Calibri" pitchFamily="34" charset="-120"/>
              </a:rPr>
              <a:t>SPAM</a:t>
            </a:r>
            <a:endParaRPr lang="en-US" sz="800" dirty="0"/>
          </a:p>
        </p:txBody>
      </p:sp>
      <p:sp>
        <p:nvSpPr>
          <p:cNvPr id="17" name="Shape 15"/>
          <p:cNvSpPr/>
          <p:nvPr/>
        </p:nvSpPr>
        <p:spPr>
          <a:xfrm>
            <a:off x="411480" y="2359152"/>
            <a:ext cx="3200400" cy="338328"/>
          </a:xfrm>
          <a:prstGeom prst="rect">
            <a:avLst/>
          </a:prstGeom>
          <a:solidFill>
            <a:srgbClr val="FFFFFF"/>
          </a:solidFill>
          <a:ln/>
        </p:spPr>
        <p:txBody>
          <a:bodyPr/>
          <a:lstStyle/>
          <a:p>
            <a:endParaRPr lang="en-US"/>
          </a:p>
        </p:txBody>
      </p:sp>
      <p:sp>
        <p:nvSpPr>
          <p:cNvPr id="18" name="Text 16"/>
          <p:cNvSpPr/>
          <p:nvPr/>
        </p:nvSpPr>
        <p:spPr>
          <a:xfrm>
            <a:off x="457200" y="2386584"/>
            <a:ext cx="2468880" cy="292608"/>
          </a:xfrm>
          <a:prstGeom prst="rect">
            <a:avLst/>
          </a:prstGeom>
          <a:noFill/>
          <a:ln/>
        </p:spPr>
        <p:txBody>
          <a:bodyPr wrap="square" lIns="0" tIns="0" rIns="0" bIns="0" rtlCol="0" anchor="ctr"/>
          <a:lstStyle/>
          <a:p>
            <a:pPr marL="0" indent="0">
              <a:buNone/>
            </a:pPr>
            <a:r>
              <a:rPr lang="en-US" sz="850" dirty="0">
                <a:solidFill>
                  <a:srgbClr val="0F172A"/>
                </a:solidFill>
                <a:latin typeface="Calibri" pitchFamily="34" charset="0"/>
                <a:ea typeface="Calibri" pitchFamily="34" charset="-122"/>
                <a:cs typeface="Calibri" pitchFamily="34" charset="-120"/>
              </a:rPr>
              <a:t>Meeting tomorrow agenda</a:t>
            </a:r>
            <a:endParaRPr lang="en-US" sz="850" dirty="0"/>
          </a:p>
        </p:txBody>
      </p:sp>
      <p:sp>
        <p:nvSpPr>
          <p:cNvPr id="19" name="Shape 17"/>
          <p:cNvSpPr/>
          <p:nvPr/>
        </p:nvSpPr>
        <p:spPr>
          <a:xfrm>
            <a:off x="2926080" y="2386584"/>
            <a:ext cx="640080" cy="246888"/>
          </a:xfrm>
          <a:prstGeom prst="rect">
            <a:avLst/>
          </a:prstGeom>
          <a:solidFill>
            <a:srgbClr val="D1FAE5"/>
          </a:solidFill>
          <a:ln/>
        </p:spPr>
        <p:txBody>
          <a:bodyPr/>
          <a:lstStyle/>
          <a:p>
            <a:endParaRPr lang="en-US" dirty="0"/>
          </a:p>
        </p:txBody>
      </p:sp>
      <p:sp>
        <p:nvSpPr>
          <p:cNvPr id="20" name="Text 18"/>
          <p:cNvSpPr/>
          <p:nvPr/>
        </p:nvSpPr>
        <p:spPr>
          <a:xfrm>
            <a:off x="2926080" y="2386584"/>
            <a:ext cx="640080" cy="246888"/>
          </a:xfrm>
          <a:prstGeom prst="rect">
            <a:avLst/>
          </a:prstGeom>
          <a:noFill/>
          <a:ln/>
        </p:spPr>
        <p:txBody>
          <a:bodyPr wrap="square" lIns="0" tIns="0" rIns="0" bIns="0" rtlCol="0" anchor="ctr"/>
          <a:lstStyle/>
          <a:p>
            <a:pPr marL="0" indent="0" algn="ctr">
              <a:buNone/>
            </a:pPr>
            <a:endParaRPr lang="en-US" sz="800" dirty="0"/>
          </a:p>
        </p:txBody>
      </p:sp>
      <p:sp>
        <p:nvSpPr>
          <p:cNvPr id="21" name="Shape 19"/>
          <p:cNvSpPr/>
          <p:nvPr/>
        </p:nvSpPr>
        <p:spPr>
          <a:xfrm>
            <a:off x="411480" y="2697480"/>
            <a:ext cx="3200400" cy="338328"/>
          </a:xfrm>
          <a:prstGeom prst="rect">
            <a:avLst/>
          </a:prstGeom>
          <a:solidFill>
            <a:srgbClr val="F8FAFC"/>
          </a:solidFill>
          <a:ln/>
        </p:spPr>
        <p:txBody>
          <a:bodyPr/>
          <a:lstStyle/>
          <a:p>
            <a:endParaRPr lang="en-US"/>
          </a:p>
        </p:txBody>
      </p:sp>
      <p:sp>
        <p:nvSpPr>
          <p:cNvPr id="22" name="Text 20"/>
          <p:cNvSpPr/>
          <p:nvPr/>
        </p:nvSpPr>
        <p:spPr>
          <a:xfrm>
            <a:off x="457200" y="2724912"/>
            <a:ext cx="2468880" cy="292608"/>
          </a:xfrm>
          <a:prstGeom prst="rect">
            <a:avLst/>
          </a:prstGeom>
          <a:noFill/>
          <a:ln/>
        </p:spPr>
        <p:txBody>
          <a:bodyPr wrap="square" lIns="0" tIns="0" rIns="0" bIns="0" rtlCol="0" anchor="ctr"/>
          <a:lstStyle/>
          <a:p>
            <a:pPr marL="0" indent="0">
              <a:buNone/>
            </a:pPr>
            <a:r>
              <a:rPr lang="en-US" sz="850" dirty="0">
                <a:solidFill>
                  <a:srgbClr val="0F172A"/>
                </a:solidFill>
                <a:latin typeface="Calibri" pitchFamily="34" charset="0"/>
                <a:ea typeface="Calibri" pitchFamily="34" charset="-122"/>
                <a:cs typeface="Calibri" pitchFamily="34" charset="-120"/>
              </a:rPr>
              <a:t>Hello project update team</a:t>
            </a:r>
            <a:endParaRPr lang="en-US" sz="850" dirty="0"/>
          </a:p>
        </p:txBody>
      </p:sp>
      <p:sp>
        <p:nvSpPr>
          <p:cNvPr id="23" name="Shape 21"/>
          <p:cNvSpPr/>
          <p:nvPr/>
        </p:nvSpPr>
        <p:spPr>
          <a:xfrm>
            <a:off x="2926080" y="2724912"/>
            <a:ext cx="640080" cy="246888"/>
          </a:xfrm>
          <a:prstGeom prst="rect">
            <a:avLst/>
          </a:prstGeom>
          <a:solidFill>
            <a:srgbClr val="D1FAE5"/>
          </a:solidFill>
          <a:ln/>
        </p:spPr>
        <p:txBody>
          <a:bodyPr/>
          <a:lstStyle/>
          <a:p>
            <a:endParaRPr lang="en-US"/>
          </a:p>
        </p:txBody>
      </p:sp>
      <p:sp>
        <p:nvSpPr>
          <p:cNvPr id="24" name="Text 22"/>
          <p:cNvSpPr/>
          <p:nvPr/>
        </p:nvSpPr>
        <p:spPr>
          <a:xfrm>
            <a:off x="2926080" y="2388161"/>
            <a:ext cx="640080" cy="246888"/>
          </a:xfrm>
          <a:prstGeom prst="rect">
            <a:avLst/>
          </a:prstGeom>
          <a:noFill/>
          <a:ln/>
        </p:spPr>
        <p:txBody>
          <a:bodyPr wrap="square" lIns="0" tIns="0" rIns="0" bIns="0" rtlCol="0" anchor="ctr"/>
          <a:lstStyle/>
          <a:p>
            <a:pPr marL="0" indent="0" algn="ctr">
              <a:buNone/>
            </a:pPr>
            <a:r>
              <a:rPr lang="en-US" sz="800" b="1" dirty="0">
                <a:solidFill>
                  <a:srgbClr val="0D9488"/>
                </a:solidFill>
                <a:latin typeface="Calibri" pitchFamily="34" charset="0"/>
                <a:ea typeface="Calibri" pitchFamily="34" charset="-122"/>
                <a:cs typeface="Calibri" pitchFamily="34" charset="-120"/>
              </a:rPr>
              <a:t>NSPAM</a:t>
            </a:r>
            <a:endParaRPr lang="en-US" sz="800" dirty="0"/>
          </a:p>
        </p:txBody>
      </p:sp>
      <p:sp>
        <p:nvSpPr>
          <p:cNvPr id="25" name="Shape 23"/>
          <p:cNvSpPr/>
          <p:nvPr/>
        </p:nvSpPr>
        <p:spPr>
          <a:xfrm>
            <a:off x="411480" y="3035808"/>
            <a:ext cx="3200400" cy="338328"/>
          </a:xfrm>
          <a:prstGeom prst="rect">
            <a:avLst/>
          </a:prstGeom>
          <a:solidFill>
            <a:srgbClr val="FFFFFF"/>
          </a:solidFill>
          <a:ln/>
        </p:spPr>
        <p:txBody>
          <a:bodyPr/>
          <a:lstStyle/>
          <a:p>
            <a:endParaRPr lang="en-US"/>
          </a:p>
        </p:txBody>
      </p:sp>
      <p:sp>
        <p:nvSpPr>
          <p:cNvPr id="26" name="Text 24"/>
          <p:cNvSpPr/>
          <p:nvPr/>
        </p:nvSpPr>
        <p:spPr>
          <a:xfrm>
            <a:off x="457200" y="3063240"/>
            <a:ext cx="2468880" cy="292608"/>
          </a:xfrm>
          <a:prstGeom prst="rect">
            <a:avLst/>
          </a:prstGeom>
          <a:noFill/>
          <a:ln/>
        </p:spPr>
        <p:txBody>
          <a:bodyPr wrap="square" lIns="0" tIns="0" rIns="0" bIns="0" rtlCol="0" anchor="ctr"/>
          <a:lstStyle/>
          <a:p>
            <a:pPr marL="0" indent="0">
              <a:buNone/>
            </a:pPr>
            <a:r>
              <a:rPr lang="en-US" sz="850" dirty="0">
                <a:solidFill>
                  <a:srgbClr val="0F172A"/>
                </a:solidFill>
                <a:latin typeface="Calibri" pitchFamily="34" charset="0"/>
                <a:ea typeface="Calibri" pitchFamily="34" charset="-122"/>
                <a:cs typeface="Calibri" pitchFamily="34" charset="-120"/>
              </a:rPr>
              <a:t>FREE offer win lottery</a:t>
            </a:r>
            <a:endParaRPr lang="en-US" sz="850" dirty="0"/>
          </a:p>
        </p:txBody>
      </p:sp>
      <p:sp>
        <p:nvSpPr>
          <p:cNvPr id="27" name="Shape 25"/>
          <p:cNvSpPr/>
          <p:nvPr/>
        </p:nvSpPr>
        <p:spPr>
          <a:xfrm>
            <a:off x="2926080" y="3063240"/>
            <a:ext cx="640080" cy="246888"/>
          </a:xfrm>
          <a:prstGeom prst="rect">
            <a:avLst/>
          </a:prstGeom>
          <a:solidFill>
            <a:srgbClr val="FEE2E2"/>
          </a:solidFill>
          <a:ln/>
        </p:spPr>
        <p:txBody>
          <a:bodyPr/>
          <a:lstStyle/>
          <a:p>
            <a:endParaRPr lang="en-US"/>
          </a:p>
        </p:txBody>
      </p:sp>
      <p:sp>
        <p:nvSpPr>
          <p:cNvPr id="28" name="Text 26"/>
          <p:cNvSpPr/>
          <p:nvPr/>
        </p:nvSpPr>
        <p:spPr>
          <a:xfrm>
            <a:off x="2926080" y="3063240"/>
            <a:ext cx="640080" cy="246888"/>
          </a:xfrm>
          <a:prstGeom prst="rect">
            <a:avLst/>
          </a:prstGeom>
          <a:noFill/>
          <a:ln/>
        </p:spPr>
        <p:txBody>
          <a:bodyPr wrap="square" lIns="0" tIns="0" rIns="0" bIns="0" rtlCol="0" anchor="ctr"/>
          <a:lstStyle/>
          <a:p>
            <a:pPr marL="0" indent="0" algn="ctr">
              <a:buNone/>
            </a:pPr>
            <a:r>
              <a:rPr lang="en-US" sz="800" b="1" dirty="0">
                <a:solidFill>
                  <a:srgbClr val="EF4444"/>
                </a:solidFill>
                <a:latin typeface="Calibri" pitchFamily="34" charset="0"/>
                <a:ea typeface="Calibri" pitchFamily="34" charset="-122"/>
                <a:cs typeface="Calibri" pitchFamily="34" charset="-120"/>
              </a:rPr>
              <a:t>SPAM</a:t>
            </a:r>
            <a:endParaRPr lang="en-US" sz="800" dirty="0"/>
          </a:p>
        </p:txBody>
      </p:sp>
      <p:sp>
        <p:nvSpPr>
          <p:cNvPr id="29" name="Shape 27"/>
          <p:cNvSpPr/>
          <p:nvPr/>
        </p:nvSpPr>
        <p:spPr>
          <a:xfrm>
            <a:off x="411480" y="3374136"/>
            <a:ext cx="3200400" cy="338328"/>
          </a:xfrm>
          <a:prstGeom prst="rect">
            <a:avLst/>
          </a:prstGeom>
          <a:solidFill>
            <a:srgbClr val="F8FAFC"/>
          </a:solidFill>
          <a:ln/>
        </p:spPr>
        <p:txBody>
          <a:bodyPr/>
          <a:lstStyle/>
          <a:p>
            <a:endParaRPr lang="en-US"/>
          </a:p>
        </p:txBody>
      </p:sp>
      <p:sp>
        <p:nvSpPr>
          <p:cNvPr id="30" name="Text 28"/>
          <p:cNvSpPr/>
          <p:nvPr/>
        </p:nvSpPr>
        <p:spPr>
          <a:xfrm>
            <a:off x="457200" y="3401568"/>
            <a:ext cx="2468880" cy="292608"/>
          </a:xfrm>
          <a:prstGeom prst="rect">
            <a:avLst/>
          </a:prstGeom>
          <a:noFill/>
          <a:ln/>
        </p:spPr>
        <p:txBody>
          <a:bodyPr wrap="square" lIns="0" tIns="0" rIns="0" bIns="0" rtlCol="0" anchor="ctr"/>
          <a:lstStyle/>
          <a:p>
            <a:pPr marL="0" indent="0">
              <a:buNone/>
            </a:pPr>
            <a:r>
              <a:rPr lang="en-US" sz="850" dirty="0">
                <a:solidFill>
                  <a:srgbClr val="0F172A"/>
                </a:solidFill>
                <a:latin typeface="Calibri" pitchFamily="34" charset="0"/>
                <a:ea typeface="Calibri" pitchFamily="34" charset="-122"/>
                <a:cs typeface="Calibri" pitchFamily="34" charset="-120"/>
              </a:rPr>
              <a:t>Team lunch project plan</a:t>
            </a:r>
            <a:endParaRPr lang="en-US" sz="850" dirty="0"/>
          </a:p>
        </p:txBody>
      </p:sp>
      <p:sp>
        <p:nvSpPr>
          <p:cNvPr id="31" name="Shape 29"/>
          <p:cNvSpPr/>
          <p:nvPr/>
        </p:nvSpPr>
        <p:spPr>
          <a:xfrm>
            <a:off x="2926080" y="3401568"/>
            <a:ext cx="640080" cy="246888"/>
          </a:xfrm>
          <a:prstGeom prst="rect">
            <a:avLst/>
          </a:prstGeom>
          <a:solidFill>
            <a:srgbClr val="D1FAE5"/>
          </a:solidFill>
          <a:ln/>
        </p:spPr>
        <p:txBody>
          <a:bodyPr/>
          <a:lstStyle/>
          <a:p>
            <a:endParaRPr lang="en-US"/>
          </a:p>
        </p:txBody>
      </p:sp>
      <p:sp>
        <p:nvSpPr>
          <p:cNvPr id="32" name="Text 30"/>
          <p:cNvSpPr/>
          <p:nvPr/>
        </p:nvSpPr>
        <p:spPr>
          <a:xfrm>
            <a:off x="2926080" y="3401568"/>
            <a:ext cx="640080" cy="246888"/>
          </a:xfrm>
          <a:prstGeom prst="rect">
            <a:avLst/>
          </a:prstGeom>
          <a:noFill/>
          <a:ln/>
        </p:spPr>
        <p:txBody>
          <a:bodyPr wrap="square" lIns="0" tIns="0" rIns="0" bIns="0" rtlCol="0" anchor="ctr"/>
          <a:lstStyle/>
          <a:p>
            <a:pPr marL="0" indent="0" algn="ctr">
              <a:buNone/>
            </a:pPr>
            <a:r>
              <a:rPr lang="en-US" sz="800" b="1" dirty="0">
                <a:solidFill>
                  <a:srgbClr val="0D9488"/>
                </a:solidFill>
                <a:latin typeface="Calibri" pitchFamily="34" charset="0"/>
                <a:ea typeface="Calibri" pitchFamily="34" charset="-122"/>
                <a:cs typeface="Calibri" pitchFamily="34" charset="-120"/>
              </a:rPr>
              <a:t>NSPAM</a:t>
            </a:r>
            <a:endParaRPr lang="en-US" sz="800" dirty="0"/>
          </a:p>
        </p:txBody>
      </p:sp>
      <p:sp>
        <p:nvSpPr>
          <p:cNvPr id="33" name="Text 31"/>
          <p:cNvSpPr/>
          <p:nvPr/>
        </p:nvSpPr>
        <p:spPr>
          <a:xfrm>
            <a:off x="457200" y="3776472"/>
            <a:ext cx="3200400" cy="228600"/>
          </a:xfrm>
          <a:prstGeom prst="rect">
            <a:avLst/>
          </a:prstGeom>
          <a:noFill/>
          <a:ln/>
        </p:spPr>
        <p:txBody>
          <a:bodyPr wrap="square" lIns="0" tIns="0" rIns="0" bIns="0" rtlCol="0" anchor="ctr"/>
          <a:lstStyle/>
          <a:p>
            <a:pPr marL="0" indent="0">
              <a:buNone/>
            </a:pPr>
            <a:r>
              <a:rPr lang="en-US" sz="1100" b="1" dirty="0">
                <a:solidFill>
                  <a:srgbClr val="0F172A"/>
                </a:solidFill>
                <a:latin typeface="Calibri" pitchFamily="34" charset="0"/>
                <a:ea typeface="Calibri" pitchFamily="34" charset="-122"/>
                <a:cs typeface="Calibri" pitchFamily="34" charset="-120"/>
              </a:rPr>
              <a:t>Prior Probabilities</a:t>
            </a:r>
            <a:endParaRPr lang="en-US" sz="1100" dirty="0"/>
          </a:p>
        </p:txBody>
      </p:sp>
      <p:sp>
        <p:nvSpPr>
          <p:cNvPr id="34" name="Shape 32"/>
          <p:cNvSpPr/>
          <p:nvPr/>
        </p:nvSpPr>
        <p:spPr>
          <a:xfrm>
            <a:off x="457200" y="4023360"/>
            <a:ext cx="1463040" cy="502920"/>
          </a:xfrm>
          <a:prstGeom prst="rect">
            <a:avLst/>
          </a:prstGeom>
          <a:solidFill>
            <a:srgbClr val="FEE2E2"/>
          </a:solidFill>
          <a:ln/>
        </p:spPr>
        <p:txBody>
          <a:bodyPr/>
          <a:lstStyle/>
          <a:p>
            <a:endParaRPr lang="en-US"/>
          </a:p>
        </p:txBody>
      </p:sp>
      <p:sp>
        <p:nvSpPr>
          <p:cNvPr id="35" name="Text 33"/>
          <p:cNvSpPr/>
          <p:nvPr/>
        </p:nvSpPr>
        <p:spPr>
          <a:xfrm>
            <a:off x="457200" y="4041648"/>
            <a:ext cx="1463040" cy="475488"/>
          </a:xfrm>
          <a:prstGeom prst="rect">
            <a:avLst/>
          </a:prstGeom>
          <a:noFill/>
          <a:ln/>
        </p:spPr>
        <p:txBody>
          <a:bodyPr wrap="square" lIns="0" tIns="0" rIns="0" bIns="0" rtlCol="0" anchor="ctr"/>
          <a:lstStyle/>
          <a:p>
            <a:pPr marL="0" indent="0" algn="ctr">
              <a:buNone/>
            </a:pPr>
            <a:r>
              <a:rPr lang="en-US" sz="900" b="1" dirty="0">
                <a:solidFill>
                  <a:srgbClr val="EF4444"/>
                </a:solidFill>
                <a:latin typeface="Calibri" pitchFamily="34" charset="0"/>
                <a:ea typeface="Calibri" pitchFamily="34" charset="-122"/>
                <a:cs typeface="Calibri" pitchFamily="34" charset="-120"/>
              </a:rPr>
              <a:t>P(NSPAM) = 3/6</a:t>
            </a:r>
            <a:endParaRPr lang="en-US" sz="900" dirty="0"/>
          </a:p>
          <a:p>
            <a:pPr marL="0" indent="0" algn="ctr">
              <a:buNone/>
            </a:pPr>
            <a:r>
              <a:rPr lang="en-US" sz="900" b="1" dirty="0">
                <a:solidFill>
                  <a:srgbClr val="EF4444"/>
                </a:solidFill>
                <a:latin typeface="Calibri" pitchFamily="34" charset="0"/>
                <a:ea typeface="Calibri" pitchFamily="34" charset="-122"/>
                <a:cs typeface="Calibri" pitchFamily="34" charset="-120"/>
              </a:rPr>
              <a:t>= 0.50</a:t>
            </a:r>
            <a:endParaRPr lang="en-US" sz="900" dirty="0"/>
          </a:p>
        </p:txBody>
      </p:sp>
      <p:sp>
        <p:nvSpPr>
          <p:cNvPr id="36" name="Shape 34"/>
          <p:cNvSpPr/>
          <p:nvPr/>
        </p:nvSpPr>
        <p:spPr>
          <a:xfrm>
            <a:off x="2148840" y="4023360"/>
            <a:ext cx="1463040" cy="502920"/>
          </a:xfrm>
          <a:prstGeom prst="rect">
            <a:avLst/>
          </a:prstGeom>
          <a:solidFill>
            <a:srgbClr val="D1FAE5"/>
          </a:solidFill>
          <a:ln/>
        </p:spPr>
        <p:txBody>
          <a:bodyPr/>
          <a:lstStyle/>
          <a:p>
            <a:endParaRPr lang="en-US"/>
          </a:p>
        </p:txBody>
      </p:sp>
      <p:sp>
        <p:nvSpPr>
          <p:cNvPr id="37" name="Text 35"/>
          <p:cNvSpPr/>
          <p:nvPr/>
        </p:nvSpPr>
        <p:spPr>
          <a:xfrm>
            <a:off x="2148840" y="4041648"/>
            <a:ext cx="1463040" cy="475488"/>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P(NSPAM) = 3/6</a:t>
            </a:r>
            <a:endParaRPr lang="en-US" sz="900" dirty="0"/>
          </a:p>
          <a:p>
            <a:pPr marL="0" indent="0" algn="ctr">
              <a:buNone/>
            </a:pPr>
            <a:r>
              <a:rPr lang="en-US" sz="900" b="1" dirty="0">
                <a:solidFill>
                  <a:srgbClr val="0D9488"/>
                </a:solidFill>
                <a:latin typeface="Calibri" pitchFamily="34" charset="0"/>
                <a:ea typeface="Calibri" pitchFamily="34" charset="-122"/>
                <a:cs typeface="Calibri" pitchFamily="34" charset="-120"/>
              </a:rPr>
              <a:t>= 0.50</a:t>
            </a:r>
            <a:endParaRPr lang="en-US" sz="900" dirty="0"/>
          </a:p>
        </p:txBody>
      </p:sp>
      <p:sp>
        <p:nvSpPr>
          <p:cNvPr id="38" name="Shape 36"/>
          <p:cNvSpPr/>
          <p:nvPr/>
        </p:nvSpPr>
        <p:spPr>
          <a:xfrm>
            <a:off x="4663440" y="914400"/>
            <a:ext cx="4206240" cy="3931920"/>
          </a:xfrm>
          <a:prstGeom prst="rect">
            <a:avLst/>
          </a:prstGeom>
          <a:solidFill>
            <a:srgbClr val="FFFFFF"/>
          </a:solidFill>
          <a:ln/>
          <a:effectLst>
            <a:outerShdw blurRad="101600" dist="38100" dir="8100000" algn="bl" rotWithShape="0">
              <a:srgbClr val="000000">
                <a:alpha val="20000"/>
              </a:srgbClr>
            </a:outerShdw>
          </a:effectLst>
        </p:spPr>
        <p:txBody>
          <a:bodyPr/>
          <a:lstStyle/>
          <a:p>
            <a:endParaRPr lang="en-US"/>
          </a:p>
        </p:txBody>
      </p:sp>
      <p:sp>
        <p:nvSpPr>
          <p:cNvPr id="39" name="Text 37"/>
          <p:cNvSpPr/>
          <p:nvPr/>
        </p:nvSpPr>
        <p:spPr>
          <a:xfrm>
            <a:off x="4846320" y="1005840"/>
            <a:ext cx="3840480" cy="274320"/>
          </a:xfrm>
          <a:prstGeom prst="rect">
            <a:avLst/>
          </a:prstGeom>
          <a:noFill/>
          <a:ln/>
        </p:spPr>
        <p:txBody>
          <a:bodyPr wrap="square" lIns="0" tIns="0" rIns="0" bIns="0"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Step 2 — Classifying New Email</a:t>
            </a:r>
            <a:endParaRPr lang="en-US" sz="1200" dirty="0"/>
          </a:p>
        </p:txBody>
      </p:sp>
      <p:sp>
        <p:nvSpPr>
          <p:cNvPr id="40" name="Shape 38"/>
          <p:cNvSpPr/>
          <p:nvPr/>
        </p:nvSpPr>
        <p:spPr>
          <a:xfrm>
            <a:off x="4846320" y="1371600"/>
            <a:ext cx="3840480" cy="411480"/>
          </a:xfrm>
          <a:prstGeom prst="rect">
            <a:avLst/>
          </a:prstGeom>
          <a:solidFill>
            <a:srgbClr val="FFF7ED"/>
          </a:solidFill>
          <a:ln w="19050">
            <a:solidFill>
              <a:srgbClr val="F59E0B"/>
            </a:solidFill>
            <a:prstDash val="solid"/>
          </a:ln>
        </p:spPr>
        <p:txBody>
          <a:bodyPr/>
          <a:lstStyle/>
          <a:p>
            <a:endParaRPr lang="en-US"/>
          </a:p>
        </p:txBody>
      </p:sp>
      <p:sp>
        <p:nvSpPr>
          <p:cNvPr id="41" name="Text 39"/>
          <p:cNvSpPr/>
          <p:nvPr/>
        </p:nvSpPr>
        <p:spPr>
          <a:xfrm>
            <a:off x="4892040" y="1399032"/>
            <a:ext cx="3749040" cy="347472"/>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 New Email: 'FREE money offer'</a:t>
            </a:r>
            <a:endParaRPr lang="en-US" sz="1000" dirty="0"/>
          </a:p>
        </p:txBody>
      </p:sp>
      <p:sp>
        <p:nvSpPr>
          <p:cNvPr id="42" name="Text 40"/>
          <p:cNvSpPr/>
          <p:nvPr/>
        </p:nvSpPr>
        <p:spPr>
          <a:xfrm>
            <a:off x="4846320" y="1874520"/>
            <a:ext cx="3840480" cy="228600"/>
          </a:xfrm>
          <a:prstGeom prst="rect">
            <a:avLst/>
          </a:prstGeom>
          <a:noFill/>
          <a:ln/>
        </p:spPr>
        <p:txBody>
          <a:bodyPr wrap="square" lIns="0" tIns="0" rIns="0" bIns="0" rtlCol="0" anchor="ctr"/>
          <a:lstStyle/>
          <a:p>
            <a:pPr marL="0" indent="0">
              <a:buNone/>
            </a:pPr>
            <a:r>
              <a:rPr lang="en-US" sz="950" b="1" dirty="0">
                <a:solidFill>
                  <a:srgbClr val="0F172A"/>
                </a:solidFill>
                <a:latin typeface="Calibri" pitchFamily="34" charset="0"/>
                <a:ea typeface="Calibri" pitchFamily="34" charset="-122"/>
                <a:cs typeface="Calibri" pitchFamily="34" charset="-120"/>
              </a:rPr>
              <a:t>Calculate P(word | class) for each word:</a:t>
            </a:r>
            <a:endParaRPr lang="en-US" sz="950" dirty="0"/>
          </a:p>
        </p:txBody>
      </p:sp>
      <p:sp>
        <p:nvSpPr>
          <p:cNvPr id="43" name="Shape 41"/>
          <p:cNvSpPr/>
          <p:nvPr/>
        </p:nvSpPr>
        <p:spPr>
          <a:xfrm>
            <a:off x="4846320" y="2130552"/>
            <a:ext cx="3840480" cy="256032"/>
          </a:xfrm>
          <a:prstGeom prst="rect">
            <a:avLst/>
          </a:prstGeom>
          <a:solidFill>
            <a:srgbClr val="10B981"/>
          </a:solidFill>
          <a:ln/>
        </p:spPr>
        <p:txBody>
          <a:bodyPr/>
          <a:lstStyle/>
          <a:p>
            <a:endParaRPr lang="en-US"/>
          </a:p>
        </p:txBody>
      </p:sp>
      <p:sp>
        <p:nvSpPr>
          <p:cNvPr id="44" name="Text 42"/>
          <p:cNvSpPr/>
          <p:nvPr/>
        </p:nvSpPr>
        <p:spPr>
          <a:xfrm>
            <a:off x="4892040" y="2157984"/>
            <a:ext cx="1097280" cy="201168"/>
          </a:xfrm>
          <a:prstGeom prst="rect">
            <a:avLst/>
          </a:prstGeom>
          <a:noFill/>
          <a:ln/>
        </p:spPr>
        <p:txBody>
          <a:bodyPr wrap="square" lIns="0" tIns="0" rIns="0" bIns="0" rtlCol="0" anchor="ctr"/>
          <a:lstStyle/>
          <a:p>
            <a:pPr marL="0" indent="0">
              <a:buNone/>
            </a:pPr>
            <a:r>
              <a:rPr lang="en-US" sz="900" b="1" dirty="0">
                <a:solidFill>
                  <a:srgbClr val="0F172A"/>
                </a:solidFill>
                <a:latin typeface="Calibri" pitchFamily="34" charset="0"/>
                <a:ea typeface="Calibri" pitchFamily="34" charset="-122"/>
                <a:cs typeface="Calibri" pitchFamily="34" charset="-120"/>
              </a:rPr>
              <a:t>Word</a:t>
            </a:r>
            <a:endParaRPr lang="en-US" sz="900" dirty="0"/>
          </a:p>
        </p:txBody>
      </p:sp>
      <p:sp>
        <p:nvSpPr>
          <p:cNvPr id="45" name="Text 43"/>
          <p:cNvSpPr/>
          <p:nvPr/>
        </p:nvSpPr>
        <p:spPr>
          <a:xfrm>
            <a:off x="6080760" y="2157984"/>
            <a:ext cx="1188720" cy="201168"/>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P(word|SPAM)</a:t>
            </a:r>
            <a:endParaRPr lang="en-US" sz="900" dirty="0"/>
          </a:p>
        </p:txBody>
      </p:sp>
      <p:sp>
        <p:nvSpPr>
          <p:cNvPr id="46" name="Text 44"/>
          <p:cNvSpPr/>
          <p:nvPr/>
        </p:nvSpPr>
        <p:spPr>
          <a:xfrm>
            <a:off x="7315200" y="2157984"/>
            <a:ext cx="1188720" cy="201168"/>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P(</a:t>
            </a:r>
            <a:r>
              <a:rPr lang="en-US" sz="900" b="1" dirty="0" err="1">
                <a:solidFill>
                  <a:srgbClr val="0F172A"/>
                </a:solidFill>
                <a:latin typeface="Calibri" pitchFamily="34" charset="0"/>
                <a:ea typeface="Calibri" pitchFamily="34" charset="-122"/>
                <a:cs typeface="Calibri" pitchFamily="34" charset="-120"/>
              </a:rPr>
              <a:t>word|NSPAM</a:t>
            </a:r>
            <a:r>
              <a:rPr lang="en-US" sz="900" b="1" dirty="0">
                <a:solidFill>
                  <a:srgbClr val="0F172A"/>
                </a:solidFill>
                <a:latin typeface="Calibri" pitchFamily="34" charset="0"/>
                <a:ea typeface="Calibri" pitchFamily="34" charset="-122"/>
                <a:cs typeface="Calibri" pitchFamily="34" charset="-120"/>
              </a:rPr>
              <a:t>)</a:t>
            </a:r>
            <a:endParaRPr lang="en-US" sz="900" dirty="0"/>
          </a:p>
        </p:txBody>
      </p:sp>
      <p:sp>
        <p:nvSpPr>
          <p:cNvPr id="47" name="Shape 45"/>
          <p:cNvSpPr/>
          <p:nvPr/>
        </p:nvSpPr>
        <p:spPr>
          <a:xfrm>
            <a:off x="4846320" y="2386584"/>
            <a:ext cx="3840480" cy="292608"/>
          </a:xfrm>
          <a:prstGeom prst="rect">
            <a:avLst/>
          </a:prstGeom>
          <a:solidFill>
            <a:srgbClr val="F8FAFC"/>
          </a:solidFill>
          <a:ln/>
        </p:spPr>
        <p:txBody>
          <a:bodyPr/>
          <a:lstStyle/>
          <a:p>
            <a:endParaRPr lang="en-US"/>
          </a:p>
        </p:txBody>
      </p:sp>
      <p:sp>
        <p:nvSpPr>
          <p:cNvPr id="48" name="Text 46"/>
          <p:cNvSpPr/>
          <p:nvPr/>
        </p:nvSpPr>
        <p:spPr>
          <a:xfrm>
            <a:off x="4892040" y="2414016"/>
            <a:ext cx="1097280" cy="228600"/>
          </a:xfrm>
          <a:prstGeom prst="rect">
            <a:avLst/>
          </a:prstGeom>
          <a:noFill/>
          <a:ln/>
        </p:spPr>
        <p:txBody>
          <a:bodyPr wrap="square" lIns="0" tIns="0" rIns="0" bIns="0" rtlCol="0" anchor="ctr"/>
          <a:lstStyle/>
          <a:p>
            <a:pPr marL="0" indent="0">
              <a:buNone/>
            </a:pPr>
            <a:r>
              <a:rPr lang="en-US" sz="900" b="1" dirty="0">
                <a:solidFill>
                  <a:srgbClr val="0F172A"/>
                </a:solidFill>
                <a:latin typeface="Calibri" pitchFamily="34" charset="0"/>
                <a:ea typeface="Calibri" pitchFamily="34" charset="-122"/>
                <a:cs typeface="Calibri" pitchFamily="34" charset="-120"/>
              </a:rPr>
              <a:t>FREE</a:t>
            </a:r>
            <a:endParaRPr lang="en-US" sz="900" dirty="0"/>
          </a:p>
        </p:txBody>
      </p:sp>
      <p:sp>
        <p:nvSpPr>
          <p:cNvPr id="49" name="Text 47"/>
          <p:cNvSpPr/>
          <p:nvPr/>
        </p:nvSpPr>
        <p:spPr>
          <a:xfrm>
            <a:off x="6080760" y="2414016"/>
            <a:ext cx="1188720" cy="228600"/>
          </a:xfrm>
          <a:prstGeom prst="rect">
            <a:avLst/>
          </a:prstGeom>
          <a:noFill/>
          <a:ln/>
        </p:spPr>
        <p:txBody>
          <a:bodyPr wrap="square" lIns="0" tIns="0" rIns="0" bIns="0" rtlCol="0" anchor="ctr"/>
          <a:lstStyle/>
          <a:p>
            <a:pPr marL="0" indent="0" algn="ctr">
              <a:buNone/>
            </a:pPr>
            <a:r>
              <a:rPr lang="en-US" sz="900" dirty="0">
                <a:solidFill>
                  <a:srgbClr val="EF4444"/>
                </a:solidFill>
                <a:latin typeface="Calibri" pitchFamily="34" charset="0"/>
                <a:ea typeface="Calibri" pitchFamily="34" charset="-122"/>
                <a:cs typeface="Calibri" pitchFamily="34" charset="-120"/>
              </a:rPr>
              <a:t>2/3</a:t>
            </a:r>
            <a:endParaRPr lang="en-US" sz="900" dirty="0"/>
          </a:p>
        </p:txBody>
      </p:sp>
      <p:sp>
        <p:nvSpPr>
          <p:cNvPr id="50" name="Text 48"/>
          <p:cNvSpPr/>
          <p:nvPr/>
        </p:nvSpPr>
        <p:spPr>
          <a:xfrm>
            <a:off x="7315200" y="2414016"/>
            <a:ext cx="1188720" cy="228600"/>
          </a:xfrm>
          <a:prstGeom prst="rect">
            <a:avLst/>
          </a:prstGeom>
          <a:noFill/>
          <a:ln/>
        </p:spPr>
        <p:txBody>
          <a:bodyPr wrap="square" lIns="0" tIns="0" rIns="0" bIns="0" rtlCol="0" anchor="ctr"/>
          <a:lstStyle/>
          <a:p>
            <a:pPr marL="0" indent="0" algn="ctr">
              <a:buNone/>
            </a:pPr>
            <a:r>
              <a:rPr lang="en-US" sz="900" dirty="0">
                <a:solidFill>
                  <a:srgbClr val="0D9488"/>
                </a:solidFill>
                <a:latin typeface="Calibri" pitchFamily="34" charset="0"/>
                <a:ea typeface="Calibri" pitchFamily="34" charset="-122"/>
                <a:cs typeface="Calibri" pitchFamily="34" charset="-120"/>
              </a:rPr>
              <a:t>0/3</a:t>
            </a:r>
            <a:endParaRPr lang="en-US" sz="900" dirty="0"/>
          </a:p>
        </p:txBody>
      </p:sp>
      <p:sp>
        <p:nvSpPr>
          <p:cNvPr id="51" name="Shape 49"/>
          <p:cNvSpPr/>
          <p:nvPr/>
        </p:nvSpPr>
        <p:spPr>
          <a:xfrm>
            <a:off x="4846320" y="2679192"/>
            <a:ext cx="3840480" cy="292608"/>
          </a:xfrm>
          <a:prstGeom prst="rect">
            <a:avLst/>
          </a:prstGeom>
          <a:solidFill>
            <a:srgbClr val="FFFFFF"/>
          </a:solidFill>
          <a:ln/>
        </p:spPr>
        <p:txBody>
          <a:bodyPr/>
          <a:lstStyle/>
          <a:p>
            <a:endParaRPr lang="en-US"/>
          </a:p>
        </p:txBody>
      </p:sp>
      <p:sp>
        <p:nvSpPr>
          <p:cNvPr id="52" name="Text 50"/>
          <p:cNvSpPr/>
          <p:nvPr/>
        </p:nvSpPr>
        <p:spPr>
          <a:xfrm>
            <a:off x="4892040" y="2706624"/>
            <a:ext cx="1097280" cy="228600"/>
          </a:xfrm>
          <a:prstGeom prst="rect">
            <a:avLst/>
          </a:prstGeom>
          <a:noFill/>
          <a:ln/>
        </p:spPr>
        <p:txBody>
          <a:bodyPr wrap="square" lIns="0" tIns="0" rIns="0" bIns="0" rtlCol="0" anchor="ctr"/>
          <a:lstStyle/>
          <a:p>
            <a:pPr marL="0" indent="0">
              <a:buNone/>
            </a:pPr>
            <a:r>
              <a:rPr lang="en-US" sz="900" b="1" dirty="0">
                <a:solidFill>
                  <a:srgbClr val="0F172A"/>
                </a:solidFill>
                <a:latin typeface="Calibri" pitchFamily="34" charset="0"/>
                <a:ea typeface="Calibri" pitchFamily="34" charset="-122"/>
                <a:cs typeface="Calibri" pitchFamily="34" charset="-120"/>
              </a:rPr>
              <a:t>money</a:t>
            </a:r>
            <a:endParaRPr lang="en-US" sz="900" dirty="0"/>
          </a:p>
        </p:txBody>
      </p:sp>
      <p:sp>
        <p:nvSpPr>
          <p:cNvPr id="53" name="Text 51"/>
          <p:cNvSpPr/>
          <p:nvPr/>
        </p:nvSpPr>
        <p:spPr>
          <a:xfrm>
            <a:off x="6080760" y="2706624"/>
            <a:ext cx="1188720" cy="228600"/>
          </a:xfrm>
          <a:prstGeom prst="rect">
            <a:avLst/>
          </a:prstGeom>
          <a:noFill/>
          <a:ln/>
        </p:spPr>
        <p:txBody>
          <a:bodyPr wrap="square" lIns="0" tIns="0" rIns="0" bIns="0" rtlCol="0" anchor="ctr"/>
          <a:lstStyle/>
          <a:p>
            <a:pPr marL="0" indent="0" algn="ctr">
              <a:buNone/>
            </a:pPr>
            <a:r>
              <a:rPr lang="en-US" sz="900" dirty="0">
                <a:solidFill>
                  <a:srgbClr val="EF4444"/>
                </a:solidFill>
                <a:latin typeface="Calibri" pitchFamily="34" charset="0"/>
                <a:ea typeface="Calibri" pitchFamily="34" charset="-122"/>
                <a:cs typeface="Calibri" pitchFamily="34" charset="-120"/>
              </a:rPr>
              <a:t>1/3</a:t>
            </a:r>
            <a:endParaRPr lang="en-US" sz="900" dirty="0"/>
          </a:p>
        </p:txBody>
      </p:sp>
      <p:sp>
        <p:nvSpPr>
          <p:cNvPr id="54" name="Text 52"/>
          <p:cNvSpPr/>
          <p:nvPr/>
        </p:nvSpPr>
        <p:spPr>
          <a:xfrm>
            <a:off x="7315200" y="2706624"/>
            <a:ext cx="1188720" cy="228600"/>
          </a:xfrm>
          <a:prstGeom prst="rect">
            <a:avLst/>
          </a:prstGeom>
          <a:noFill/>
          <a:ln/>
        </p:spPr>
        <p:txBody>
          <a:bodyPr wrap="square" lIns="0" tIns="0" rIns="0" bIns="0" rtlCol="0" anchor="ctr"/>
          <a:lstStyle/>
          <a:p>
            <a:pPr marL="0" indent="0" algn="ctr">
              <a:buNone/>
            </a:pPr>
            <a:r>
              <a:rPr lang="en-US" sz="900" dirty="0">
                <a:solidFill>
                  <a:srgbClr val="0D9488"/>
                </a:solidFill>
                <a:latin typeface="Calibri" pitchFamily="34" charset="0"/>
                <a:ea typeface="Calibri" pitchFamily="34" charset="-122"/>
                <a:cs typeface="Calibri" pitchFamily="34" charset="-120"/>
              </a:rPr>
              <a:t>0/3</a:t>
            </a:r>
            <a:endParaRPr lang="en-US" sz="900" dirty="0"/>
          </a:p>
        </p:txBody>
      </p:sp>
      <p:sp>
        <p:nvSpPr>
          <p:cNvPr id="55" name="Shape 53"/>
          <p:cNvSpPr/>
          <p:nvPr/>
        </p:nvSpPr>
        <p:spPr>
          <a:xfrm>
            <a:off x="4846320" y="2971800"/>
            <a:ext cx="3840480" cy="292608"/>
          </a:xfrm>
          <a:prstGeom prst="rect">
            <a:avLst/>
          </a:prstGeom>
          <a:solidFill>
            <a:srgbClr val="F8FAFC"/>
          </a:solidFill>
          <a:ln/>
        </p:spPr>
        <p:txBody>
          <a:bodyPr/>
          <a:lstStyle/>
          <a:p>
            <a:endParaRPr lang="en-US"/>
          </a:p>
        </p:txBody>
      </p:sp>
      <p:sp>
        <p:nvSpPr>
          <p:cNvPr id="56" name="Text 54"/>
          <p:cNvSpPr/>
          <p:nvPr/>
        </p:nvSpPr>
        <p:spPr>
          <a:xfrm>
            <a:off x="4892040" y="2999232"/>
            <a:ext cx="1097280" cy="228600"/>
          </a:xfrm>
          <a:prstGeom prst="rect">
            <a:avLst/>
          </a:prstGeom>
          <a:noFill/>
          <a:ln/>
        </p:spPr>
        <p:txBody>
          <a:bodyPr wrap="square" lIns="0" tIns="0" rIns="0" bIns="0" rtlCol="0" anchor="ctr"/>
          <a:lstStyle/>
          <a:p>
            <a:pPr marL="0" indent="0">
              <a:buNone/>
            </a:pPr>
            <a:r>
              <a:rPr lang="en-US" sz="900" b="1" dirty="0">
                <a:solidFill>
                  <a:srgbClr val="0F172A"/>
                </a:solidFill>
                <a:latin typeface="Calibri" pitchFamily="34" charset="0"/>
                <a:ea typeface="Calibri" pitchFamily="34" charset="-122"/>
                <a:cs typeface="Calibri" pitchFamily="34" charset="-120"/>
              </a:rPr>
              <a:t>offer</a:t>
            </a:r>
            <a:endParaRPr lang="en-US" sz="900" dirty="0"/>
          </a:p>
        </p:txBody>
      </p:sp>
      <p:sp>
        <p:nvSpPr>
          <p:cNvPr id="57" name="Text 55"/>
          <p:cNvSpPr/>
          <p:nvPr/>
        </p:nvSpPr>
        <p:spPr>
          <a:xfrm>
            <a:off x="6080760" y="2999232"/>
            <a:ext cx="1188720" cy="228600"/>
          </a:xfrm>
          <a:prstGeom prst="rect">
            <a:avLst/>
          </a:prstGeom>
          <a:noFill/>
          <a:ln/>
        </p:spPr>
        <p:txBody>
          <a:bodyPr wrap="square" lIns="0" tIns="0" rIns="0" bIns="0" rtlCol="0" anchor="ctr"/>
          <a:lstStyle/>
          <a:p>
            <a:pPr marL="0" indent="0" algn="ctr">
              <a:buNone/>
            </a:pPr>
            <a:r>
              <a:rPr lang="en-US" sz="900" dirty="0">
                <a:solidFill>
                  <a:srgbClr val="EF4444"/>
                </a:solidFill>
                <a:latin typeface="Calibri" pitchFamily="34" charset="0"/>
                <a:ea typeface="Calibri" pitchFamily="34" charset="-122"/>
                <a:cs typeface="Calibri" pitchFamily="34" charset="-120"/>
              </a:rPr>
              <a:t>1/3</a:t>
            </a:r>
            <a:endParaRPr lang="en-US" sz="900" dirty="0"/>
          </a:p>
        </p:txBody>
      </p:sp>
      <p:sp>
        <p:nvSpPr>
          <p:cNvPr id="58" name="Text 56"/>
          <p:cNvSpPr/>
          <p:nvPr/>
        </p:nvSpPr>
        <p:spPr>
          <a:xfrm>
            <a:off x="7315200" y="2999232"/>
            <a:ext cx="1188720" cy="228600"/>
          </a:xfrm>
          <a:prstGeom prst="rect">
            <a:avLst/>
          </a:prstGeom>
          <a:noFill/>
          <a:ln/>
        </p:spPr>
        <p:txBody>
          <a:bodyPr wrap="square" lIns="0" tIns="0" rIns="0" bIns="0" rtlCol="0" anchor="ctr"/>
          <a:lstStyle/>
          <a:p>
            <a:pPr marL="0" indent="0" algn="ctr">
              <a:buNone/>
            </a:pPr>
            <a:r>
              <a:rPr lang="en-US" sz="900" dirty="0">
                <a:solidFill>
                  <a:srgbClr val="0D9488"/>
                </a:solidFill>
                <a:latin typeface="Calibri" pitchFamily="34" charset="0"/>
                <a:ea typeface="Calibri" pitchFamily="34" charset="-122"/>
                <a:cs typeface="Calibri" pitchFamily="34" charset="-120"/>
              </a:rPr>
              <a:t>0/3</a:t>
            </a:r>
            <a:endParaRPr lang="en-US" sz="900" dirty="0"/>
          </a:p>
        </p:txBody>
      </p:sp>
      <p:sp>
        <p:nvSpPr>
          <p:cNvPr id="59" name="Text 57"/>
          <p:cNvSpPr/>
          <p:nvPr/>
        </p:nvSpPr>
        <p:spPr>
          <a:xfrm>
            <a:off x="4846320" y="3310128"/>
            <a:ext cx="3840480" cy="256032"/>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Apply Bayes' Theorem:</a:t>
            </a:r>
            <a:endParaRPr lang="en-US" sz="1000" dirty="0"/>
          </a:p>
        </p:txBody>
      </p:sp>
      <p:sp>
        <p:nvSpPr>
          <p:cNvPr id="60" name="Shape 58"/>
          <p:cNvSpPr/>
          <p:nvPr/>
        </p:nvSpPr>
        <p:spPr>
          <a:xfrm>
            <a:off x="4846320" y="3611880"/>
            <a:ext cx="3840480" cy="365760"/>
          </a:xfrm>
          <a:prstGeom prst="rect">
            <a:avLst/>
          </a:prstGeom>
          <a:solidFill>
            <a:srgbClr val="FEE2E2"/>
          </a:solidFill>
          <a:ln/>
        </p:spPr>
        <p:txBody>
          <a:bodyPr/>
          <a:lstStyle/>
          <a:p>
            <a:endParaRPr lang="en-US"/>
          </a:p>
        </p:txBody>
      </p:sp>
      <p:sp>
        <p:nvSpPr>
          <p:cNvPr id="61" name="Text 59"/>
          <p:cNvSpPr/>
          <p:nvPr/>
        </p:nvSpPr>
        <p:spPr>
          <a:xfrm>
            <a:off x="4892040" y="3639312"/>
            <a:ext cx="3749040" cy="320040"/>
          </a:xfrm>
          <a:prstGeom prst="rect">
            <a:avLst/>
          </a:prstGeom>
          <a:noFill/>
          <a:ln/>
        </p:spPr>
        <p:txBody>
          <a:bodyPr wrap="square" lIns="0" tIns="0" rIns="0" bIns="0" rtlCol="0" anchor="ctr"/>
          <a:lstStyle/>
          <a:p>
            <a:pPr marL="0" indent="0">
              <a:buNone/>
            </a:pPr>
            <a:r>
              <a:rPr lang="en-US" sz="900" dirty="0">
                <a:solidFill>
                  <a:srgbClr val="EF4444"/>
                </a:solidFill>
                <a:latin typeface="Calibri" pitchFamily="34" charset="0"/>
                <a:ea typeface="Calibri" pitchFamily="34" charset="-122"/>
                <a:cs typeface="Calibri" pitchFamily="34" charset="-120"/>
              </a:rPr>
              <a:t>P(Spam|Email) ∝ 0.5 × (2/3) × (1/3) × (1/3) = 0.037</a:t>
            </a:r>
            <a:endParaRPr lang="en-US" sz="900" dirty="0"/>
          </a:p>
        </p:txBody>
      </p:sp>
      <p:sp>
        <p:nvSpPr>
          <p:cNvPr id="62" name="Shape 60"/>
          <p:cNvSpPr/>
          <p:nvPr/>
        </p:nvSpPr>
        <p:spPr>
          <a:xfrm>
            <a:off x="4846320" y="4005072"/>
            <a:ext cx="3840480" cy="365760"/>
          </a:xfrm>
          <a:prstGeom prst="rect">
            <a:avLst/>
          </a:prstGeom>
          <a:solidFill>
            <a:srgbClr val="D1FAE5"/>
          </a:solidFill>
          <a:ln/>
        </p:spPr>
        <p:txBody>
          <a:bodyPr/>
          <a:lstStyle/>
          <a:p>
            <a:endParaRPr lang="en-US"/>
          </a:p>
        </p:txBody>
      </p:sp>
      <p:sp>
        <p:nvSpPr>
          <p:cNvPr id="63" name="Text 61"/>
          <p:cNvSpPr/>
          <p:nvPr/>
        </p:nvSpPr>
        <p:spPr>
          <a:xfrm>
            <a:off x="4892040" y="4032504"/>
            <a:ext cx="3749040" cy="320040"/>
          </a:xfrm>
          <a:prstGeom prst="rect">
            <a:avLst/>
          </a:prstGeom>
          <a:noFill/>
          <a:ln/>
        </p:spPr>
        <p:txBody>
          <a:bodyPr wrap="square" lIns="0" tIns="0" rIns="0" bIns="0" rtlCol="0" anchor="ctr"/>
          <a:lstStyle/>
          <a:p>
            <a:pPr marL="0" indent="0">
              <a:buNone/>
            </a:pPr>
            <a:r>
              <a:rPr lang="en-US" sz="900" dirty="0">
                <a:solidFill>
                  <a:srgbClr val="0D9488"/>
                </a:solidFill>
                <a:latin typeface="Calibri" pitchFamily="34" charset="0"/>
                <a:ea typeface="Calibri" pitchFamily="34" charset="-122"/>
                <a:cs typeface="Calibri" pitchFamily="34" charset="-120"/>
              </a:rPr>
              <a:t>P(</a:t>
            </a:r>
            <a:r>
              <a:rPr lang="en-US" sz="900" dirty="0" err="1">
                <a:solidFill>
                  <a:srgbClr val="0D9488"/>
                </a:solidFill>
                <a:latin typeface="Calibri" pitchFamily="34" charset="0"/>
                <a:ea typeface="Calibri" pitchFamily="34" charset="-122"/>
                <a:cs typeface="Calibri" pitchFamily="34" charset="-120"/>
              </a:rPr>
              <a:t>NSpam|Email</a:t>
            </a:r>
            <a:r>
              <a:rPr lang="en-US" sz="900" dirty="0">
                <a:solidFill>
                  <a:srgbClr val="0D9488"/>
                </a:solidFill>
                <a:latin typeface="Calibri" pitchFamily="34" charset="0"/>
                <a:ea typeface="Calibri" pitchFamily="34" charset="-122"/>
                <a:cs typeface="Calibri" pitchFamily="34" charset="-120"/>
              </a:rPr>
              <a:t>) ∝ 0.5 × (0/3) × (0/3) × (0/3) ≈ 0.000</a:t>
            </a:r>
            <a:endParaRPr lang="en-US" sz="900" dirty="0"/>
          </a:p>
        </p:txBody>
      </p:sp>
      <p:sp>
        <p:nvSpPr>
          <p:cNvPr id="64" name="Shape 62"/>
          <p:cNvSpPr/>
          <p:nvPr/>
        </p:nvSpPr>
        <p:spPr>
          <a:xfrm>
            <a:off x="4846320" y="4407408"/>
            <a:ext cx="3840480" cy="347472"/>
          </a:xfrm>
          <a:prstGeom prst="rect">
            <a:avLst/>
          </a:prstGeom>
          <a:solidFill>
            <a:srgbClr val="10B981"/>
          </a:solidFill>
          <a:ln/>
        </p:spPr>
        <p:txBody>
          <a:bodyPr/>
          <a:lstStyle/>
          <a:p>
            <a:endParaRPr lang="en-US"/>
          </a:p>
        </p:txBody>
      </p:sp>
      <p:sp>
        <p:nvSpPr>
          <p:cNvPr id="65" name="Text 63"/>
          <p:cNvSpPr/>
          <p:nvPr/>
        </p:nvSpPr>
        <p:spPr>
          <a:xfrm>
            <a:off x="4892040" y="4434840"/>
            <a:ext cx="3749040" cy="292608"/>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 VERDICT: Email classified as SPAM</a:t>
            </a:r>
            <a:endParaRPr lang="en-US" sz="1000" dirty="0"/>
          </a:p>
        </p:txBody>
      </p:sp>
      <p:sp>
        <p:nvSpPr>
          <p:cNvPr id="67" name="Text 22">
            <a:extLst>
              <a:ext uri="{FF2B5EF4-FFF2-40B4-BE49-F238E27FC236}">
                <a16:creationId xmlns:a16="http://schemas.microsoft.com/office/drawing/2014/main" id="{60164F02-0723-4FEB-A3BE-B7D4F6B27A6C}"/>
              </a:ext>
            </a:extLst>
          </p:cNvPr>
          <p:cNvSpPr/>
          <p:nvPr/>
        </p:nvSpPr>
        <p:spPr>
          <a:xfrm>
            <a:off x="2910314" y="2748718"/>
            <a:ext cx="640080" cy="246888"/>
          </a:xfrm>
          <a:prstGeom prst="rect">
            <a:avLst/>
          </a:prstGeom>
          <a:noFill/>
          <a:ln/>
        </p:spPr>
        <p:txBody>
          <a:bodyPr wrap="square" lIns="0" tIns="0" rIns="0" bIns="0" rtlCol="0" anchor="ctr"/>
          <a:lstStyle/>
          <a:p>
            <a:pPr marL="0" indent="0" algn="ctr">
              <a:buNone/>
            </a:pPr>
            <a:r>
              <a:rPr lang="en-US" sz="800" b="1" dirty="0">
                <a:solidFill>
                  <a:srgbClr val="0D9488"/>
                </a:solidFill>
                <a:latin typeface="Calibri" pitchFamily="34" charset="0"/>
                <a:ea typeface="Calibri" pitchFamily="34" charset="-122"/>
                <a:cs typeface="Calibri" pitchFamily="34" charset="-120"/>
              </a:rPr>
              <a:t>NSPAM</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3B82F6"/>
          </a:solidFill>
          <a:ln/>
        </p:spPr>
        <p:txBody>
          <a:bodyPr/>
          <a:lstStyle/>
          <a:p>
            <a:endParaRPr lang="en-US"/>
          </a:p>
        </p:txBody>
      </p:sp>
      <p:sp>
        <p:nvSpPr>
          <p:cNvPr id="3" name="Shape 1"/>
          <p:cNvSpPr/>
          <p:nvPr/>
        </p:nvSpPr>
        <p:spPr>
          <a:xfrm>
            <a:off x="5943600" y="3200400"/>
            <a:ext cx="3657600" cy="3657600"/>
          </a:xfrm>
          <a:prstGeom prst="ellipse">
            <a:avLst/>
          </a:prstGeom>
          <a:solidFill>
            <a:srgbClr val="1E40AF">
              <a:alpha val="20000"/>
            </a:srgbClr>
          </a:solidFill>
          <a:ln/>
        </p:spPr>
        <p:txBody>
          <a:bodyPr/>
          <a:lstStyle/>
          <a:p>
            <a:endParaRPr lang="en-US"/>
          </a:p>
        </p:txBody>
      </p:sp>
      <p:sp>
        <p:nvSpPr>
          <p:cNvPr id="4" name="Text 2"/>
          <p:cNvSpPr/>
          <p:nvPr/>
        </p:nvSpPr>
        <p:spPr>
          <a:xfrm>
            <a:off x="457200" y="365760"/>
            <a:ext cx="8229600" cy="411480"/>
          </a:xfrm>
          <a:prstGeom prst="rect">
            <a:avLst/>
          </a:prstGeom>
          <a:noFill/>
          <a:ln/>
        </p:spPr>
        <p:txBody>
          <a:bodyPr wrap="square" lIns="0" tIns="0" rIns="0" bIns="0" rtlCol="0" anchor="ctr"/>
          <a:lstStyle/>
          <a:p>
            <a:pPr marL="0" indent="0">
              <a:buNone/>
            </a:pPr>
            <a:r>
              <a:rPr lang="en-US" sz="1400" b="1" dirty="0">
                <a:solidFill>
                  <a:srgbClr val="3B82F6"/>
                </a:solidFill>
                <a:latin typeface="Calibri" pitchFamily="34" charset="0"/>
                <a:ea typeface="Calibri" pitchFamily="34" charset="-122"/>
                <a:cs typeface="Calibri" pitchFamily="34" charset="-120"/>
              </a:rPr>
              <a:t>Key Takeaways</a:t>
            </a:r>
            <a:endParaRPr lang="en-US" sz="1400" dirty="0"/>
          </a:p>
        </p:txBody>
      </p:sp>
      <p:sp>
        <p:nvSpPr>
          <p:cNvPr id="5" name="Text 3"/>
          <p:cNvSpPr/>
          <p:nvPr/>
        </p:nvSpPr>
        <p:spPr>
          <a:xfrm>
            <a:off x="457200" y="914400"/>
            <a:ext cx="365760" cy="502920"/>
          </a:xfrm>
          <a:prstGeom prst="rect">
            <a:avLst/>
          </a:prstGeom>
          <a:noFill/>
          <a:ln/>
        </p:spPr>
        <p:txBody>
          <a:bodyPr wrap="square" lIns="0" tIns="0" rIns="0" bIns="0" rtlCol="0" anchor="ctr"/>
          <a:lstStyle/>
          <a:p>
            <a:pPr marL="0" indent="0">
              <a:buNone/>
            </a:pPr>
            <a:r>
              <a:rPr lang="en-US" sz="2000" dirty="0">
                <a:solidFill>
                  <a:schemeClr val="bg1"/>
                </a:solidFill>
                <a:latin typeface="Calibri" pitchFamily="34" charset="0"/>
                <a:ea typeface="Calibri" pitchFamily="34" charset="-122"/>
                <a:cs typeface="Calibri" pitchFamily="34" charset="-120"/>
              </a:rPr>
              <a:t>📊</a:t>
            </a:r>
            <a:endParaRPr lang="en-US" sz="2000" dirty="0">
              <a:solidFill>
                <a:schemeClr val="bg1"/>
              </a:solidFill>
            </a:endParaRPr>
          </a:p>
        </p:txBody>
      </p:sp>
      <p:sp>
        <p:nvSpPr>
          <p:cNvPr id="6" name="Text 4"/>
          <p:cNvSpPr/>
          <p:nvPr/>
        </p:nvSpPr>
        <p:spPr>
          <a:xfrm>
            <a:off x="914400" y="932688"/>
            <a:ext cx="6858000" cy="502920"/>
          </a:xfrm>
          <a:prstGeom prst="rect">
            <a:avLst/>
          </a:prstGeom>
          <a:noFill/>
          <a:ln/>
        </p:spPr>
        <p:txBody>
          <a:bodyPr wrap="square" lIns="0" tIns="0" rIns="0" bIns="0" rtlCol="0" anchor="ctr"/>
          <a:lstStyle/>
          <a:p>
            <a:pPr marL="0" indent="0">
              <a:buNone/>
            </a:pPr>
            <a:r>
              <a:rPr lang="en-US" sz="1100" dirty="0">
                <a:solidFill>
                  <a:srgbClr val="F8FAFC"/>
                </a:solidFill>
                <a:latin typeface="Calibri" pitchFamily="34" charset="0"/>
                <a:ea typeface="Calibri" pitchFamily="34" charset="-122"/>
                <a:cs typeface="Calibri" pitchFamily="34" charset="-120"/>
              </a:rPr>
              <a:t>Supervised Learning uses labeled data for prediction and classification tasks.</a:t>
            </a:r>
            <a:endParaRPr lang="en-US" sz="1100" dirty="0"/>
          </a:p>
        </p:txBody>
      </p:sp>
      <p:sp>
        <p:nvSpPr>
          <p:cNvPr id="7" name="Text 5"/>
          <p:cNvSpPr/>
          <p:nvPr/>
        </p:nvSpPr>
        <p:spPr>
          <a:xfrm>
            <a:off x="457200" y="1572768"/>
            <a:ext cx="365760" cy="502920"/>
          </a:xfrm>
          <a:prstGeom prst="rect">
            <a:avLst/>
          </a:prstGeom>
          <a:noFill/>
          <a:ln/>
        </p:spPr>
        <p:txBody>
          <a:bodyPr wrap="square" lIns="0" tIns="0" rIns="0" bIns="0" rtlCol="0" anchor="ctr"/>
          <a:lstStyle/>
          <a:p>
            <a:pPr marL="0" indent="0">
              <a:buNone/>
            </a:pPr>
            <a:r>
              <a:rPr lang="en-US" sz="2000" dirty="0">
                <a:solidFill>
                  <a:schemeClr val="bg1"/>
                </a:solidFill>
                <a:latin typeface="Calibri" pitchFamily="34" charset="0"/>
                <a:ea typeface="Calibri" pitchFamily="34" charset="-122"/>
                <a:cs typeface="Calibri" pitchFamily="34" charset="-120"/>
              </a:rPr>
              <a:t>🔍</a:t>
            </a:r>
            <a:endParaRPr lang="en-US" sz="2000" dirty="0">
              <a:solidFill>
                <a:schemeClr val="bg1"/>
              </a:solidFill>
            </a:endParaRPr>
          </a:p>
        </p:txBody>
      </p:sp>
      <p:sp>
        <p:nvSpPr>
          <p:cNvPr id="8" name="Text 6"/>
          <p:cNvSpPr/>
          <p:nvPr/>
        </p:nvSpPr>
        <p:spPr>
          <a:xfrm>
            <a:off x="914400" y="1591056"/>
            <a:ext cx="6858000" cy="502920"/>
          </a:xfrm>
          <a:prstGeom prst="rect">
            <a:avLst/>
          </a:prstGeom>
          <a:noFill/>
          <a:ln/>
        </p:spPr>
        <p:txBody>
          <a:bodyPr wrap="square" lIns="0" tIns="0" rIns="0" bIns="0" rtlCol="0" anchor="ctr"/>
          <a:lstStyle/>
          <a:p>
            <a:pPr marL="0" indent="0">
              <a:buNone/>
            </a:pPr>
            <a:r>
              <a:rPr lang="en-US" sz="1100" dirty="0">
                <a:solidFill>
                  <a:srgbClr val="F8FAFC"/>
                </a:solidFill>
                <a:latin typeface="Calibri" pitchFamily="34" charset="0"/>
                <a:ea typeface="Calibri" pitchFamily="34" charset="-122"/>
                <a:cs typeface="Calibri" pitchFamily="34" charset="-120"/>
              </a:rPr>
              <a:t>Unsupervised Learning discovers hidden structures without any labels.</a:t>
            </a:r>
            <a:endParaRPr lang="en-US" sz="1100" dirty="0"/>
          </a:p>
        </p:txBody>
      </p:sp>
      <p:sp>
        <p:nvSpPr>
          <p:cNvPr id="9" name="Text 7"/>
          <p:cNvSpPr/>
          <p:nvPr/>
        </p:nvSpPr>
        <p:spPr>
          <a:xfrm>
            <a:off x="457200" y="2231136"/>
            <a:ext cx="365760" cy="502920"/>
          </a:xfrm>
          <a:prstGeom prst="rect">
            <a:avLst/>
          </a:prstGeom>
          <a:noFill/>
          <a:ln/>
        </p:spPr>
        <p:txBody>
          <a:bodyPr wrap="square" lIns="0" tIns="0" rIns="0" bIns="0" rtlCol="0" anchor="ctr"/>
          <a:lstStyle/>
          <a:p>
            <a:pPr marL="0" indent="0">
              <a:buNone/>
            </a:pPr>
            <a:r>
              <a:rPr lang="en-US" sz="2000" dirty="0">
                <a:solidFill>
                  <a:schemeClr val="bg1"/>
                </a:solidFill>
                <a:latin typeface="Calibri" pitchFamily="34" charset="0"/>
                <a:ea typeface="Calibri" pitchFamily="34" charset="-122"/>
                <a:cs typeface="Calibri" pitchFamily="34" charset="-120"/>
              </a:rPr>
              <a:t>⚖️</a:t>
            </a:r>
            <a:endParaRPr lang="en-US" sz="2000" dirty="0">
              <a:solidFill>
                <a:schemeClr val="bg1"/>
              </a:solidFill>
            </a:endParaRPr>
          </a:p>
        </p:txBody>
      </p:sp>
      <p:sp>
        <p:nvSpPr>
          <p:cNvPr id="10" name="Text 8"/>
          <p:cNvSpPr/>
          <p:nvPr/>
        </p:nvSpPr>
        <p:spPr>
          <a:xfrm>
            <a:off x="914400" y="2249424"/>
            <a:ext cx="6858000" cy="502920"/>
          </a:xfrm>
          <a:prstGeom prst="rect">
            <a:avLst/>
          </a:prstGeom>
          <a:noFill/>
          <a:ln/>
        </p:spPr>
        <p:txBody>
          <a:bodyPr wrap="square" lIns="0" tIns="0" rIns="0" bIns="0" rtlCol="0" anchor="ctr"/>
          <a:lstStyle/>
          <a:p>
            <a:pPr marL="0" indent="0">
              <a:buNone/>
            </a:pPr>
            <a:r>
              <a:rPr lang="en-US" sz="1100" dirty="0">
                <a:solidFill>
                  <a:srgbClr val="F8FAFC"/>
                </a:solidFill>
                <a:latin typeface="Calibri" pitchFamily="34" charset="0"/>
                <a:ea typeface="Calibri" pitchFamily="34" charset="-122"/>
                <a:cs typeface="Calibri" pitchFamily="34" charset="-120"/>
              </a:rPr>
              <a:t>Semi-Supervised bridges both worlds — great when labels are scarce and expensive.</a:t>
            </a:r>
            <a:endParaRPr lang="en-US" sz="1100" dirty="0"/>
          </a:p>
        </p:txBody>
      </p:sp>
      <p:sp>
        <p:nvSpPr>
          <p:cNvPr id="11" name="Text 9"/>
          <p:cNvSpPr/>
          <p:nvPr/>
        </p:nvSpPr>
        <p:spPr>
          <a:xfrm>
            <a:off x="457200" y="2889504"/>
            <a:ext cx="365760" cy="502920"/>
          </a:xfrm>
          <a:prstGeom prst="rect">
            <a:avLst/>
          </a:prstGeom>
          <a:noFill/>
          <a:ln/>
        </p:spPr>
        <p:txBody>
          <a:bodyPr wrap="square" lIns="0" tIns="0" rIns="0" bIns="0" rtlCol="0" anchor="ctr"/>
          <a:lstStyle/>
          <a:p>
            <a:pPr marL="0" indent="0">
              <a:buNone/>
            </a:pPr>
            <a:r>
              <a:rPr lang="en-US" sz="2000" dirty="0">
                <a:solidFill>
                  <a:schemeClr val="bg1"/>
                </a:solidFill>
                <a:latin typeface="Calibri" pitchFamily="34" charset="0"/>
                <a:ea typeface="Calibri" pitchFamily="34" charset="-122"/>
                <a:cs typeface="Calibri" pitchFamily="34" charset="-120"/>
              </a:rPr>
              <a:t>🎮</a:t>
            </a:r>
            <a:endParaRPr lang="en-US" sz="2000" dirty="0">
              <a:solidFill>
                <a:schemeClr val="bg1"/>
              </a:solidFill>
            </a:endParaRPr>
          </a:p>
        </p:txBody>
      </p:sp>
      <p:sp>
        <p:nvSpPr>
          <p:cNvPr id="12" name="Text 10"/>
          <p:cNvSpPr/>
          <p:nvPr/>
        </p:nvSpPr>
        <p:spPr>
          <a:xfrm>
            <a:off x="914400" y="2907792"/>
            <a:ext cx="6858000" cy="502920"/>
          </a:xfrm>
          <a:prstGeom prst="rect">
            <a:avLst/>
          </a:prstGeom>
          <a:noFill/>
          <a:ln/>
        </p:spPr>
        <p:txBody>
          <a:bodyPr wrap="square" lIns="0" tIns="0" rIns="0" bIns="0" rtlCol="0" anchor="ctr"/>
          <a:lstStyle/>
          <a:p>
            <a:pPr marL="0" indent="0">
              <a:buNone/>
            </a:pPr>
            <a:r>
              <a:rPr lang="en-US" sz="1100" dirty="0">
                <a:solidFill>
                  <a:srgbClr val="F8FAFC"/>
                </a:solidFill>
                <a:latin typeface="Calibri" pitchFamily="34" charset="0"/>
                <a:ea typeface="Calibri" pitchFamily="34" charset="-122"/>
                <a:cs typeface="Calibri" pitchFamily="34" charset="-120"/>
              </a:rPr>
              <a:t>Reinforcement Learning trains agents through reward-penalty feedback loops.</a:t>
            </a:r>
            <a:endParaRPr lang="en-US" sz="1100" dirty="0"/>
          </a:p>
        </p:txBody>
      </p:sp>
      <p:sp>
        <p:nvSpPr>
          <p:cNvPr id="13" name="Text 11"/>
          <p:cNvSpPr/>
          <p:nvPr/>
        </p:nvSpPr>
        <p:spPr>
          <a:xfrm>
            <a:off x="457200" y="3547872"/>
            <a:ext cx="365760" cy="502920"/>
          </a:xfrm>
          <a:prstGeom prst="rect">
            <a:avLst/>
          </a:prstGeom>
          <a:noFill/>
          <a:ln/>
        </p:spPr>
        <p:txBody>
          <a:bodyPr wrap="square" lIns="0" tIns="0" rIns="0" bIns="0" rtlCol="0" anchor="ctr"/>
          <a:lstStyle/>
          <a:p>
            <a:pPr marL="0" indent="0">
              <a:buNone/>
            </a:pPr>
            <a:r>
              <a:rPr lang="en-US" sz="2000" dirty="0">
                <a:solidFill>
                  <a:schemeClr val="bg1"/>
                </a:solidFill>
                <a:latin typeface="Calibri" pitchFamily="34" charset="0"/>
                <a:ea typeface="Calibri" pitchFamily="34" charset="-122"/>
                <a:cs typeface="Calibri" pitchFamily="34" charset="-120"/>
              </a:rPr>
              <a:t>📐</a:t>
            </a:r>
            <a:endParaRPr lang="en-US" sz="2000" dirty="0">
              <a:solidFill>
                <a:schemeClr val="bg1"/>
              </a:solidFill>
            </a:endParaRPr>
          </a:p>
        </p:txBody>
      </p:sp>
      <p:sp>
        <p:nvSpPr>
          <p:cNvPr id="14" name="Text 12"/>
          <p:cNvSpPr/>
          <p:nvPr/>
        </p:nvSpPr>
        <p:spPr>
          <a:xfrm>
            <a:off x="914400" y="3566160"/>
            <a:ext cx="6858000" cy="502920"/>
          </a:xfrm>
          <a:prstGeom prst="rect">
            <a:avLst/>
          </a:prstGeom>
          <a:noFill/>
          <a:ln/>
        </p:spPr>
        <p:txBody>
          <a:bodyPr wrap="square" lIns="0" tIns="0" rIns="0" bIns="0" rtlCol="0" anchor="ctr"/>
          <a:lstStyle/>
          <a:p>
            <a:pPr marL="0" indent="0">
              <a:buNone/>
            </a:pPr>
            <a:r>
              <a:rPr lang="en-US" sz="1100" dirty="0">
                <a:solidFill>
                  <a:srgbClr val="F8FAFC"/>
                </a:solidFill>
                <a:latin typeface="Calibri" pitchFamily="34" charset="0"/>
                <a:ea typeface="Calibri" pitchFamily="34" charset="-122"/>
                <a:cs typeface="Calibri" pitchFamily="34" charset="-120"/>
              </a:rPr>
              <a:t>Naive Bayes applies Bayes' theorem with strong independence assumptions.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C896"/>
          </a:solidFill>
          <a:ln w="12700">
            <a:solidFill>
              <a:srgbClr val="00C896"/>
            </a:solidFill>
            <a:prstDash val="solid"/>
          </a:ln>
        </p:spPr>
        <p:txBody>
          <a:bodyPr/>
          <a:lstStyle/>
          <a:p>
            <a:endParaRPr lang="en-US"/>
          </a:p>
        </p:txBody>
      </p:sp>
      <p:sp>
        <p:nvSpPr>
          <p:cNvPr id="3" name="Shape 1"/>
          <p:cNvSpPr/>
          <p:nvPr/>
        </p:nvSpPr>
        <p:spPr>
          <a:xfrm>
            <a:off x="164592" y="0"/>
            <a:ext cx="54864" cy="5143500"/>
          </a:xfrm>
          <a:prstGeom prst="rect">
            <a:avLst/>
          </a:prstGeom>
          <a:solidFill>
            <a:srgbClr val="00A3FF">
              <a:alpha val="45000"/>
            </a:srgbClr>
          </a:solidFill>
          <a:ln w="12700">
            <a:solidFill>
              <a:srgbClr val="00A3FF">
                <a:alpha val="45000"/>
              </a:srgbClr>
            </a:solidFill>
            <a:prstDash val="solid"/>
          </a:ln>
        </p:spPr>
        <p:txBody>
          <a:bodyPr/>
          <a:lstStyle/>
          <a:p>
            <a:endParaRPr lang="en-US"/>
          </a:p>
        </p:txBody>
      </p:sp>
      <p:sp>
        <p:nvSpPr>
          <p:cNvPr id="4" name="Shape 2"/>
          <p:cNvSpPr/>
          <p:nvPr/>
        </p:nvSpPr>
        <p:spPr>
          <a:xfrm>
            <a:off x="8046720" y="274320"/>
            <a:ext cx="365760" cy="365760"/>
          </a:xfrm>
          <a:prstGeom prst="ellipse">
            <a:avLst/>
          </a:prstGeom>
          <a:solidFill>
            <a:srgbClr val="00C896">
              <a:alpha val="70000"/>
            </a:srgbClr>
          </a:solidFill>
          <a:ln w="12700">
            <a:solidFill>
              <a:srgbClr val="00C896">
                <a:alpha val="80000"/>
              </a:srgbClr>
            </a:solidFill>
            <a:prstDash val="solid"/>
          </a:ln>
        </p:spPr>
        <p:txBody>
          <a:bodyPr/>
          <a:lstStyle/>
          <a:p>
            <a:endParaRPr lang="en-US"/>
          </a:p>
        </p:txBody>
      </p:sp>
      <p:sp>
        <p:nvSpPr>
          <p:cNvPr id="5" name="Shape 3"/>
          <p:cNvSpPr/>
          <p:nvPr/>
        </p:nvSpPr>
        <p:spPr>
          <a:xfrm>
            <a:off x="8549640" y="841248"/>
            <a:ext cx="365760" cy="365760"/>
          </a:xfrm>
          <a:prstGeom prst="ellipse">
            <a:avLst/>
          </a:prstGeom>
          <a:solidFill>
            <a:srgbClr val="00C896">
              <a:alpha val="40000"/>
            </a:srgbClr>
          </a:solidFill>
          <a:ln w="12700">
            <a:solidFill>
              <a:srgbClr val="00C896">
                <a:alpha val="80000"/>
              </a:srgbClr>
            </a:solidFill>
            <a:prstDash val="solid"/>
          </a:ln>
        </p:spPr>
        <p:txBody>
          <a:bodyPr/>
          <a:lstStyle/>
          <a:p>
            <a:endParaRPr lang="en-US"/>
          </a:p>
        </p:txBody>
      </p:sp>
      <p:sp>
        <p:nvSpPr>
          <p:cNvPr id="6" name="Shape 4"/>
          <p:cNvSpPr/>
          <p:nvPr/>
        </p:nvSpPr>
        <p:spPr>
          <a:xfrm>
            <a:off x="8046720" y="1408176"/>
            <a:ext cx="365760" cy="365760"/>
          </a:xfrm>
          <a:prstGeom prst="ellipse">
            <a:avLst/>
          </a:prstGeom>
          <a:solidFill>
            <a:srgbClr val="00C896">
              <a:alpha val="70000"/>
            </a:srgbClr>
          </a:solidFill>
          <a:ln w="12700">
            <a:solidFill>
              <a:srgbClr val="00C896">
                <a:alpha val="80000"/>
              </a:srgbClr>
            </a:solidFill>
            <a:prstDash val="solid"/>
          </a:ln>
        </p:spPr>
        <p:txBody>
          <a:bodyPr/>
          <a:lstStyle/>
          <a:p>
            <a:endParaRPr lang="en-US"/>
          </a:p>
        </p:txBody>
      </p:sp>
      <p:sp>
        <p:nvSpPr>
          <p:cNvPr id="7" name="Shape 5"/>
          <p:cNvSpPr/>
          <p:nvPr/>
        </p:nvSpPr>
        <p:spPr>
          <a:xfrm>
            <a:off x="8549640" y="1975104"/>
            <a:ext cx="365760" cy="365760"/>
          </a:xfrm>
          <a:prstGeom prst="ellipse">
            <a:avLst/>
          </a:prstGeom>
          <a:solidFill>
            <a:srgbClr val="00C896">
              <a:alpha val="40000"/>
            </a:srgbClr>
          </a:solidFill>
          <a:ln w="12700">
            <a:solidFill>
              <a:srgbClr val="00C896">
                <a:alpha val="80000"/>
              </a:srgbClr>
            </a:solidFill>
            <a:prstDash val="solid"/>
          </a:ln>
        </p:spPr>
        <p:txBody>
          <a:bodyPr/>
          <a:lstStyle/>
          <a:p>
            <a:endParaRPr lang="en-US"/>
          </a:p>
        </p:txBody>
      </p:sp>
      <p:sp>
        <p:nvSpPr>
          <p:cNvPr id="8" name="Shape 6"/>
          <p:cNvSpPr/>
          <p:nvPr/>
        </p:nvSpPr>
        <p:spPr>
          <a:xfrm>
            <a:off x="8046720" y="2542032"/>
            <a:ext cx="365760" cy="365760"/>
          </a:xfrm>
          <a:prstGeom prst="ellipse">
            <a:avLst/>
          </a:prstGeom>
          <a:solidFill>
            <a:srgbClr val="00C896">
              <a:alpha val="70000"/>
            </a:srgbClr>
          </a:solidFill>
          <a:ln w="12700">
            <a:solidFill>
              <a:srgbClr val="00C896">
                <a:alpha val="80000"/>
              </a:srgbClr>
            </a:solidFill>
            <a:prstDash val="solid"/>
          </a:ln>
        </p:spPr>
        <p:txBody>
          <a:bodyPr/>
          <a:lstStyle/>
          <a:p>
            <a:endParaRPr lang="en-US"/>
          </a:p>
        </p:txBody>
      </p:sp>
      <p:sp>
        <p:nvSpPr>
          <p:cNvPr id="9" name="Shape 7"/>
          <p:cNvSpPr/>
          <p:nvPr/>
        </p:nvSpPr>
        <p:spPr>
          <a:xfrm>
            <a:off x="8549640" y="3108960"/>
            <a:ext cx="365760" cy="365760"/>
          </a:xfrm>
          <a:prstGeom prst="ellipse">
            <a:avLst/>
          </a:prstGeom>
          <a:solidFill>
            <a:srgbClr val="00C896">
              <a:alpha val="40000"/>
            </a:srgbClr>
          </a:solidFill>
          <a:ln w="12700">
            <a:solidFill>
              <a:srgbClr val="00C896">
                <a:alpha val="80000"/>
              </a:srgbClr>
            </a:solidFill>
            <a:prstDash val="solid"/>
          </a:ln>
        </p:spPr>
        <p:txBody>
          <a:bodyPr/>
          <a:lstStyle/>
          <a:p>
            <a:endParaRPr lang="en-US"/>
          </a:p>
        </p:txBody>
      </p:sp>
      <p:sp>
        <p:nvSpPr>
          <p:cNvPr id="10" name="Shape 8"/>
          <p:cNvSpPr/>
          <p:nvPr/>
        </p:nvSpPr>
        <p:spPr>
          <a:xfrm>
            <a:off x="8046720" y="3675888"/>
            <a:ext cx="365760" cy="365760"/>
          </a:xfrm>
          <a:prstGeom prst="ellipse">
            <a:avLst/>
          </a:prstGeom>
          <a:solidFill>
            <a:srgbClr val="00C896">
              <a:alpha val="70000"/>
            </a:srgbClr>
          </a:solidFill>
          <a:ln w="12700">
            <a:solidFill>
              <a:srgbClr val="00C896">
                <a:alpha val="80000"/>
              </a:srgbClr>
            </a:solidFill>
            <a:prstDash val="solid"/>
          </a:ln>
        </p:spPr>
        <p:txBody>
          <a:bodyPr/>
          <a:lstStyle/>
          <a:p>
            <a:endParaRPr lang="en-US"/>
          </a:p>
        </p:txBody>
      </p:sp>
      <p:sp>
        <p:nvSpPr>
          <p:cNvPr id="11" name="Shape 9"/>
          <p:cNvSpPr/>
          <p:nvPr/>
        </p:nvSpPr>
        <p:spPr>
          <a:xfrm>
            <a:off x="8549640" y="4242816"/>
            <a:ext cx="365760" cy="365760"/>
          </a:xfrm>
          <a:prstGeom prst="ellipse">
            <a:avLst/>
          </a:prstGeom>
          <a:solidFill>
            <a:srgbClr val="00C896">
              <a:alpha val="40000"/>
            </a:srgbClr>
          </a:solidFill>
          <a:ln w="12700">
            <a:solidFill>
              <a:srgbClr val="00C896">
                <a:alpha val="80000"/>
              </a:srgbClr>
            </a:solidFill>
            <a:prstDash val="solid"/>
          </a:ln>
        </p:spPr>
        <p:txBody>
          <a:bodyPr/>
          <a:lstStyle/>
          <a:p>
            <a:endParaRPr lang="en-US"/>
          </a:p>
        </p:txBody>
      </p:sp>
      <p:sp>
        <p:nvSpPr>
          <p:cNvPr id="12" name="Text 10"/>
          <p:cNvSpPr/>
          <p:nvPr/>
        </p:nvSpPr>
        <p:spPr>
          <a:xfrm>
            <a:off x="502920" y="1005840"/>
            <a:ext cx="7772400" cy="914400"/>
          </a:xfrm>
          <a:prstGeom prst="rect">
            <a:avLst/>
          </a:prstGeom>
          <a:noFill/>
          <a:ln/>
        </p:spPr>
        <p:txBody>
          <a:bodyPr wrap="square" rtlCol="0" anchor="ctr"/>
          <a:lstStyle/>
          <a:p>
            <a:pPr marL="0" indent="0">
              <a:buNone/>
            </a:pPr>
            <a:r>
              <a:rPr lang="en-US" sz="6400" b="1" kern="0" spc="1200" dirty="0">
                <a:solidFill>
                  <a:srgbClr val="00C896"/>
                </a:solidFill>
                <a:latin typeface="Calibri" pitchFamily="34" charset="0"/>
                <a:ea typeface="Calibri" pitchFamily="34" charset="-122"/>
                <a:cs typeface="Calibri" pitchFamily="34" charset="-120"/>
              </a:rPr>
              <a:t>GENETIC</a:t>
            </a:r>
            <a:endParaRPr lang="en-US" sz="6400" dirty="0"/>
          </a:p>
        </p:txBody>
      </p:sp>
      <p:sp>
        <p:nvSpPr>
          <p:cNvPr id="13" name="Text 11"/>
          <p:cNvSpPr/>
          <p:nvPr/>
        </p:nvSpPr>
        <p:spPr>
          <a:xfrm>
            <a:off x="502920" y="1828800"/>
            <a:ext cx="7772400" cy="914400"/>
          </a:xfrm>
          <a:prstGeom prst="rect">
            <a:avLst/>
          </a:prstGeom>
          <a:noFill/>
          <a:ln/>
        </p:spPr>
        <p:txBody>
          <a:bodyPr wrap="square" rtlCol="0" anchor="ctr"/>
          <a:lstStyle/>
          <a:p>
            <a:pPr marL="0" indent="0">
              <a:buNone/>
            </a:pPr>
            <a:r>
              <a:rPr lang="en-US" sz="6400" b="1" kern="0" spc="1200" dirty="0">
                <a:solidFill>
                  <a:srgbClr val="FFFFFF"/>
                </a:solidFill>
                <a:latin typeface="Calibri" pitchFamily="34" charset="0"/>
                <a:ea typeface="Calibri" pitchFamily="34" charset="-122"/>
                <a:cs typeface="Calibri" pitchFamily="34" charset="-120"/>
              </a:rPr>
              <a:t>ALGORITHM</a:t>
            </a:r>
            <a:endParaRPr lang="en-US" sz="6400" dirty="0"/>
          </a:p>
        </p:txBody>
      </p:sp>
      <p:sp>
        <p:nvSpPr>
          <p:cNvPr id="14" name="Text 12"/>
          <p:cNvSpPr/>
          <p:nvPr/>
        </p:nvSpPr>
        <p:spPr>
          <a:xfrm>
            <a:off x="502920" y="2834640"/>
            <a:ext cx="7315200" cy="457200"/>
          </a:xfrm>
          <a:prstGeom prst="rect">
            <a:avLst/>
          </a:prstGeom>
          <a:noFill/>
          <a:ln/>
        </p:spPr>
        <p:txBody>
          <a:bodyPr wrap="square" rtlCol="0" anchor="ctr"/>
          <a:lstStyle/>
          <a:p>
            <a:pPr marL="0" indent="0">
              <a:buNone/>
            </a:pPr>
            <a:r>
              <a:rPr lang="en-US" sz="1500" i="1">
                <a:solidFill>
                  <a:srgbClr val="8FA8BF"/>
                </a:solidFill>
                <a:latin typeface="Calibri" pitchFamily="34" charset="0"/>
                <a:ea typeface="Calibri" pitchFamily="34" charset="-122"/>
                <a:cs typeface="Calibri" pitchFamily="34" charset="-120"/>
              </a:rPr>
              <a:t>Nature-inspired </a:t>
            </a:r>
            <a:r>
              <a:rPr lang="en-US" sz="1500" i="1" dirty="0">
                <a:solidFill>
                  <a:srgbClr val="8FA8BF"/>
                </a:solidFill>
                <a:latin typeface="Calibri" pitchFamily="34" charset="0"/>
                <a:ea typeface="Calibri" pitchFamily="34" charset="-122"/>
                <a:cs typeface="Calibri" pitchFamily="34" charset="-120"/>
              </a:rPr>
              <a:t>optimization through evolution, selection &amp; genetics</a:t>
            </a:r>
            <a:endParaRPr lang="en-US" sz="1500" dirty="0"/>
          </a:p>
        </p:txBody>
      </p:sp>
      <p:sp>
        <p:nvSpPr>
          <p:cNvPr id="15" name="Shape 13"/>
          <p:cNvSpPr/>
          <p:nvPr/>
        </p:nvSpPr>
        <p:spPr>
          <a:xfrm>
            <a:off x="502920" y="2743200"/>
            <a:ext cx="4572000" cy="0"/>
          </a:xfrm>
          <a:prstGeom prst="line">
            <a:avLst/>
          </a:prstGeom>
          <a:noFill/>
          <a:ln w="19050">
            <a:solidFill>
              <a:srgbClr val="00C896"/>
            </a:solidFill>
            <a:prstDash val="solid"/>
          </a:ln>
        </p:spPr>
        <p:txBody>
          <a:bodyPr/>
          <a:lstStyle/>
          <a:p>
            <a:endParaRPr lang="en-US"/>
          </a:p>
        </p:txBody>
      </p:sp>
      <p:sp>
        <p:nvSpPr>
          <p:cNvPr id="16" name="Text 14"/>
          <p:cNvSpPr/>
          <p:nvPr/>
        </p:nvSpPr>
        <p:spPr>
          <a:xfrm>
            <a:off x="502920" y="4389120"/>
            <a:ext cx="8229600" cy="365760"/>
          </a:xfrm>
          <a:prstGeom prst="rect">
            <a:avLst/>
          </a:prstGeom>
          <a:noFill/>
          <a:ln/>
        </p:spPr>
        <p:txBody>
          <a:bodyPr wrap="square" rtlCol="0" anchor="ctr"/>
          <a:lstStyle/>
          <a:p>
            <a:pPr marL="0" indent="0">
              <a:buNone/>
            </a:pPr>
            <a:r>
              <a:rPr lang="en-US" sz="1100" dirty="0">
                <a:solidFill>
                  <a:srgbClr val="00C896">
                    <a:alpha val="70000"/>
                  </a:srgbClr>
                </a:solidFill>
                <a:latin typeface="Consolas" pitchFamily="34" charset="0"/>
                <a:ea typeface="Consolas" pitchFamily="34" charset="-122"/>
                <a:cs typeface="Consolas" pitchFamily="34" charset="-120"/>
              </a:rPr>
              <a:t>01101001 10110010 11001011 01010110</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256032"/>
            <a:ext cx="64008" cy="502920"/>
          </a:xfrm>
          <a:prstGeom prst="rect">
            <a:avLst/>
          </a:prstGeom>
          <a:solidFill>
            <a:srgbClr val="00C896"/>
          </a:solidFill>
          <a:ln w="12700">
            <a:solidFill>
              <a:srgbClr val="00C896"/>
            </a:solidFill>
            <a:prstDash val="solid"/>
          </a:ln>
        </p:spPr>
        <p:txBody>
          <a:bodyPr/>
          <a:lstStyle/>
          <a:p>
            <a:endParaRPr lang="en-US"/>
          </a:p>
        </p:txBody>
      </p:sp>
      <p:sp>
        <p:nvSpPr>
          <p:cNvPr id="3" name="Text 1"/>
          <p:cNvSpPr/>
          <p:nvPr/>
        </p:nvSpPr>
        <p:spPr>
          <a:xfrm>
            <a:off x="512064" y="256032"/>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Introduction to Genetic Algorithm</a:t>
            </a:r>
            <a:endParaRPr lang="en-US" sz="2800" dirty="0"/>
          </a:p>
        </p:txBody>
      </p:sp>
      <p:sp>
        <p:nvSpPr>
          <p:cNvPr id="4" name="Shape 2"/>
          <p:cNvSpPr/>
          <p:nvPr/>
        </p:nvSpPr>
        <p:spPr>
          <a:xfrm>
            <a:off x="365760" y="868680"/>
            <a:ext cx="8412480" cy="0"/>
          </a:xfrm>
          <a:prstGeom prst="line">
            <a:avLst/>
          </a:prstGeom>
          <a:noFill/>
          <a:ln w="12700">
            <a:solidFill>
              <a:srgbClr val="00C896">
                <a:alpha val="50000"/>
              </a:srgbClr>
            </a:solidFill>
            <a:prstDash val="solid"/>
          </a:ln>
        </p:spPr>
        <p:txBody>
          <a:bodyPr/>
          <a:lstStyle/>
          <a:p>
            <a:endParaRPr lang="en-US"/>
          </a:p>
        </p:txBody>
      </p:sp>
      <p:sp>
        <p:nvSpPr>
          <p:cNvPr id="5" name="Shape 3"/>
          <p:cNvSpPr/>
          <p:nvPr/>
        </p:nvSpPr>
        <p:spPr>
          <a:xfrm>
            <a:off x="365760" y="1005840"/>
            <a:ext cx="8412480" cy="1051560"/>
          </a:xfrm>
          <a:prstGeom prst="rect">
            <a:avLst/>
          </a:prstGeom>
          <a:solidFill>
            <a:srgbClr val="1A2E44"/>
          </a:solidFill>
          <a:ln w="19050">
            <a:solidFill>
              <a:srgbClr val="00C896"/>
            </a:solidFill>
            <a:prstDash val="solid"/>
          </a:ln>
          <a:effectLst>
            <a:outerShdw blurRad="101600" dist="38100" dir="8100000" algn="bl" rotWithShape="0">
              <a:srgbClr val="000000">
                <a:alpha val="25000"/>
              </a:srgbClr>
            </a:outerShdw>
          </a:effectLst>
        </p:spPr>
        <p:txBody>
          <a:bodyPr/>
          <a:lstStyle/>
          <a:p>
            <a:endParaRPr lang="en-US"/>
          </a:p>
        </p:txBody>
      </p:sp>
      <p:sp>
        <p:nvSpPr>
          <p:cNvPr id="6" name="Text 4"/>
          <p:cNvSpPr/>
          <p:nvPr/>
        </p:nvSpPr>
        <p:spPr>
          <a:xfrm>
            <a:off x="502920" y="1051560"/>
            <a:ext cx="8046720" cy="914400"/>
          </a:xfrm>
          <a:prstGeom prst="rect">
            <a:avLst/>
          </a:prstGeom>
          <a:noFill/>
          <a:ln/>
        </p:spPr>
        <p:txBody>
          <a:bodyPr wrap="square" rtlCol="0" anchor="ctr"/>
          <a:lstStyle/>
          <a:p>
            <a:pPr marL="0" indent="0">
              <a:buNone/>
            </a:pPr>
            <a:r>
              <a:rPr lang="en-US" sz="1350" b="1" dirty="0">
                <a:solidFill>
                  <a:srgbClr val="00C896"/>
                </a:solidFill>
                <a:latin typeface="Calibri" pitchFamily="34" charset="0"/>
                <a:ea typeface="Calibri" pitchFamily="34" charset="-122"/>
                <a:cs typeface="Calibri" pitchFamily="34" charset="-120"/>
              </a:rPr>
              <a:t>Genetic Algorithm (GA) </a:t>
            </a:r>
            <a:r>
              <a:rPr lang="en-US" sz="1350" dirty="0">
                <a:solidFill>
                  <a:srgbClr val="E8F0F5"/>
                </a:solidFill>
                <a:latin typeface="Calibri" pitchFamily="34" charset="0"/>
                <a:ea typeface="Calibri" pitchFamily="34" charset="-122"/>
                <a:cs typeface="Calibri" pitchFamily="34" charset="-120"/>
              </a:rPr>
              <a:t>is a search and optimization technique inspired by Charles Darwin's theory of natural selection. It mimics biological evolution to find optimal or near-optimal solutions for complex problems.</a:t>
            </a:r>
            <a:endParaRPr lang="en-US" sz="1350" dirty="0"/>
          </a:p>
        </p:txBody>
      </p:sp>
      <p:sp>
        <p:nvSpPr>
          <p:cNvPr id="7" name="Shape 5"/>
          <p:cNvSpPr/>
          <p:nvPr/>
        </p:nvSpPr>
        <p:spPr>
          <a:xfrm>
            <a:off x="365760" y="2240280"/>
            <a:ext cx="2743200" cy="1508760"/>
          </a:xfrm>
          <a:prstGeom prst="rect">
            <a:avLst/>
          </a:prstGeom>
          <a:solidFill>
            <a:srgbClr val="1A2E44"/>
          </a:solidFill>
          <a:ln w="19050">
            <a:solidFill>
              <a:srgbClr val="00C896"/>
            </a:solidFill>
            <a:prstDash val="solid"/>
          </a:ln>
          <a:effectLst>
            <a:outerShdw blurRad="101600" dist="38100" dir="8100000" algn="bl" rotWithShape="0">
              <a:srgbClr val="000000">
                <a:alpha val="25000"/>
              </a:srgbClr>
            </a:outerShdw>
          </a:effectLst>
        </p:spPr>
        <p:txBody>
          <a:bodyPr/>
          <a:lstStyle/>
          <a:p>
            <a:endParaRPr lang="en-US"/>
          </a:p>
        </p:txBody>
      </p:sp>
      <p:sp>
        <p:nvSpPr>
          <p:cNvPr id="8" name="Text 6"/>
          <p:cNvSpPr/>
          <p:nvPr/>
        </p:nvSpPr>
        <p:spPr>
          <a:xfrm>
            <a:off x="475488" y="2304288"/>
            <a:ext cx="2523744" cy="329184"/>
          </a:xfrm>
          <a:prstGeom prst="rect">
            <a:avLst/>
          </a:prstGeom>
          <a:noFill/>
          <a:ln/>
        </p:spPr>
        <p:txBody>
          <a:bodyPr wrap="square" rtlCol="0" anchor="ctr"/>
          <a:lstStyle/>
          <a:p>
            <a:pPr marL="0" indent="0">
              <a:buNone/>
            </a:pPr>
            <a:r>
              <a:rPr lang="en-US" sz="1200" b="1" dirty="0">
                <a:solidFill>
                  <a:srgbClr val="00C896"/>
                </a:solidFill>
                <a:latin typeface="Calibri" pitchFamily="34" charset="0"/>
                <a:ea typeface="Calibri" pitchFamily="34" charset="-122"/>
                <a:cs typeface="Calibri" pitchFamily="34" charset="-120"/>
              </a:rPr>
              <a:t>Inspired by Nature</a:t>
            </a:r>
            <a:endParaRPr lang="en-US" sz="1200" dirty="0"/>
          </a:p>
        </p:txBody>
      </p:sp>
      <p:sp>
        <p:nvSpPr>
          <p:cNvPr id="9" name="Text 7"/>
          <p:cNvSpPr/>
          <p:nvPr/>
        </p:nvSpPr>
        <p:spPr>
          <a:xfrm>
            <a:off x="475488" y="2633472"/>
            <a:ext cx="2523744" cy="1005840"/>
          </a:xfrm>
          <a:prstGeom prst="rect">
            <a:avLst/>
          </a:prstGeom>
          <a:noFill/>
          <a:ln/>
        </p:spPr>
        <p:txBody>
          <a:bodyPr wrap="square" rtlCol="0" anchor="ctr"/>
          <a:lstStyle/>
          <a:p>
            <a:pPr marL="0" indent="0">
              <a:buNone/>
            </a:pPr>
            <a:r>
              <a:rPr lang="en-US" sz="1150" dirty="0">
                <a:solidFill>
                  <a:srgbClr val="E8F0F5"/>
                </a:solidFill>
                <a:latin typeface="Calibri" pitchFamily="34" charset="0"/>
                <a:ea typeface="Calibri" pitchFamily="34" charset="-122"/>
                <a:cs typeface="Calibri" pitchFamily="34" charset="-120"/>
              </a:rPr>
              <a:t>Evolution, survival of the fittest, natural selection form the basis of GA.</a:t>
            </a:r>
            <a:endParaRPr lang="en-US" sz="1150" dirty="0"/>
          </a:p>
        </p:txBody>
      </p:sp>
      <p:sp>
        <p:nvSpPr>
          <p:cNvPr id="10" name="Shape 8"/>
          <p:cNvSpPr/>
          <p:nvPr/>
        </p:nvSpPr>
        <p:spPr>
          <a:xfrm>
            <a:off x="3218688" y="2240280"/>
            <a:ext cx="2743200" cy="1508760"/>
          </a:xfrm>
          <a:prstGeom prst="rect">
            <a:avLst/>
          </a:prstGeom>
          <a:solidFill>
            <a:srgbClr val="1A2E44"/>
          </a:solidFill>
          <a:ln w="19050">
            <a:solidFill>
              <a:srgbClr val="00A3FF"/>
            </a:solidFill>
            <a:prstDash val="solid"/>
          </a:ln>
          <a:effectLst>
            <a:outerShdw blurRad="101600" dist="38100" dir="8100000" algn="bl" rotWithShape="0">
              <a:srgbClr val="000000">
                <a:alpha val="25000"/>
              </a:srgbClr>
            </a:outerShdw>
          </a:effectLst>
        </p:spPr>
        <p:txBody>
          <a:bodyPr/>
          <a:lstStyle/>
          <a:p>
            <a:endParaRPr lang="en-US"/>
          </a:p>
        </p:txBody>
      </p:sp>
      <p:sp>
        <p:nvSpPr>
          <p:cNvPr id="11" name="Text 9"/>
          <p:cNvSpPr/>
          <p:nvPr/>
        </p:nvSpPr>
        <p:spPr>
          <a:xfrm>
            <a:off x="3328416" y="2304288"/>
            <a:ext cx="2523744" cy="329184"/>
          </a:xfrm>
          <a:prstGeom prst="rect">
            <a:avLst/>
          </a:prstGeom>
          <a:noFill/>
          <a:ln/>
        </p:spPr>
        <p:txBody>
          <a:bodyPr wrap="square" rtlCol="0" anchor="ctr"/>
          <a:lstStyle/>
          <a:p>
            <a:pPr marL="0" indent="0">
              <a:buNone/>
            </a:pPr>
            <a:r>
              <a:rPr lang="en-US" sz="1200" b="1" dirty="0">
                <a:solidFill>
                  <a:srgbClr val="00C896"/>
                </a:solidFill>
                <a:latin typeface="Calibri" pitchFamily="34" charset="0"/>
                <a:ea typeface="Calibri" pitchFamily="34" charset="-122"/>
                <a:cs typeface="Calibri" pitchFamily="34" charset="-120"/>
              </a:rPr>
              <a:t>Population-based</a:t>
            </a:r>
            <a:endParaRPr lang="en-US" sz="1200" dirty="0"/>
          </a:p>
        </p:txBody>
      </p:sp>
      <p:sp>
        <p:nvSpPr>
          <p:cNvPr id="12" name="Text 10"/>
          <p:cNvSpPr/>
          <p:nvPr/>
        </p:nvSpPr>
        <p:spPr>
          <a:xfrm>
            <a:off x="3328416" y="2633472"/>
            <a:ext cx="2523744" cy="1005840"/>
          </a:xfrm>
          <a:prstGeom prst="rect">
            <a:avLst/>
          </a:prstGeom>
          <a:noFill/>
          <a:ln/>
        </p:spPr>
        <p:txBody>
          <a:bodyPr wrap="square" rtlCol="0" anchor="ctr"/>
          <a:lstStyle/>
          <a:p>
            <a:pPr marL="0" indent="0">
              <a:buNone/>
            </a:pPr>
            <a:r>
              <a:rPr lang="en-US" sz="1150" dirty="0">
                <a:solidFill>
                  <a:srgbClr val="E8F0F5"/>
                </a:solidFill>
                <a:latin typeface="Calibri" pitchFamily="34" charset="0"/>
                <a:ea typeface="Calibri" pitchFamily="34" charset="-122"/>
                <a:cs typeface="Calibri" pitchFamily="34" charset="-120"/>
              </a:rPr>
              <a:t>Works on a population of candidate solutions rather than a single solution.</a:t>
            </a:r>
            <a:endParaRPr lang="en-US" sz="1150" dirty="0"/>
          </a:p>
        </p:txBody>
      </p:sp>
      <p:sp>
        <p:nvSpPr>
          <p:cNvPr id="13" name="Shape 11"/>
          <p:cNvSpPr/>
          <p:nvPr/>
        </p:nvSpPr>
        <p:spPr>
          <a:xfrm>
            <a:off x="6071616" y="2240280"/>
            <a:ext cx="2743200" cy="1508760"/>
          </a:xfrm>
          <a:prstGeom prst="rect">
            <a:avLst/>
          </a:prstGeom>
          <a:solidFill>
            <a:srgbClr val="1A2E44"/>
          </a:solidFill>
          <a:ln w="19050">
            <a:solidFill>
              <a:srgbClr val="00C896"/>
            </a:solidFill>
            <a:prstDash val="solid"/>
          </a:ln>
          <a:effectLst>
            <a:outerShdw blurRad="101600" dist="38100" dir="8100000" algn="bl" rotWithShape="0">
              <a:srgbClr val="000000">
                <a:alpha val="25000"/>
              </a:srgbClr>
            </a:outerShdw>
          </a:effectLst>
        </p:spPr>
        <p:txBody>
          <a:bodyPr/>
          <a:lstStyle/>
          <a:p>
            <a:endParaRPr lang="en-US"/>
          </a:p>
        </p:txBody>
      </p:sp>
      <p:sp>
        <p:nvSpPr>
          <p:cNvPr id="14" name="Text 12"/>
          <p:cNvSpPr/>
          <p:nvPr/>
        </p:nvSpPr>
        <p:spPr>
          <a:xfrm>
            <a:off x="6181344" y="2304288"/>
            <a:ext cx="2523744" cy="329184"/>
          </a:xfrm>
          <a:prstGeom prst="rect">
            <a:avLst/>
          </a:prstGeom>
          <a:noFill/>
          <a:ln/>
        </p:spPr>
        <p:txBody>
          <a:bodyPr wrap="square" rtlCol="0" anchor="ctr"/>
          <a:lstStyle/>
          <a:p>
            <a:pPr marL="0" indent="0">
              <a:buNone/>
            </a:pPr>
            <a:r>
              <a:rPr lang="en-US" sz="1200" b="1" dirty="0">
                <a:solidFill>
                  <a:srgbClr val="00C896"/>
                </a:solidFill>
                <a:latin typeface="Calibri" pitchFamily="34" charset="0"/>
                <a:ea typeface="Calibri" pitchFamily="34" charset="-122"/>
                <a:cs typeface="Calibri" pitchFamily="34" charset="-120"/>
              </a:rPr>
              <a:t>Iterative Process</a:t>
            </a:r>
            <a:endParaRPr lang="en-US" sz="1200" dirty="0"/>
          </a:p>
        </p:txBody>
      </p:sp>
      <p:sp>
        <p:nvSpPr>
          <p:cNvPr id="15" name="Text 13"/>
          <p:cNvSpPr/>
          <p:nvPr/>
        </p:nvSpPr>
        <p:spPr>
          <a:xfrm>
            <a:off x="6181344" y="2633472"/>
            <a:ext cx="2523744" cy="1005840"/>
          </a:xfrm>
          <a:prstGeom prst="rect">
            <a:avLst/>
          </a:prstGeom>
          <a:noFill/>
          <a:ln/>
        </p:spPr>
        <p:txBody>
          <a:bodyPr wrap="square" rtlCol="0" anchor="ctr"/>
          <a:lstStyle/>
          <a:p>
            <a:pPr marL="0" indent="0">
              <a:buNone/>
            </a:pPr>
            <a:r>
              <a:rPr lang="en-US" sz="1150" dirty="0">
                <a:solidFill>
                  <a:srgbClr val="E8F0F5"/>
                </a:solidFill>
                <a:latin typeface="Calibri" pitchFamily="34" charset="0"/>
                <a:ea typeface="Calibri" pitchFamily="34" charset="-122"/>
                <a:cs typeface="Calibri" pitchFamily="34" charset="-120"/>
              </a:rPr>
              <a:t>Progressively evolves solutions through repeated generations toward the optimal.</a:t>
            </a:r>
            <a:endParaRPr lang="en-US" sz="1150" dirty="0"/>
          </a:p>
        </p:txBody>
      </p:sp>
      <p:sp>
        <p:nvSpPr>
          <p:cNvPr id="16" name="Text 14"/>
          <p:cNvSpPr/>
          <p:nvPr/>
        </p:nvSpPr>
        <p:spPr>
          <a:xfrm>
            <a:off x="365760" y="3913632"/>
            <a:ext cx="1828800" cy="256032"/>
          </a:xfrm>
          <a:prstGeom prst="rect">
            <a:avLst/>
          </a:prstGeom>
          <a:noFill/>
          <a:ln/>
        </p:spPr>
        <p:txBody>
          <a:bodyPr wrap="square" rtlCol="0" anchor="ctr"/>
          <a:lstStyle/>
          <a:p>
            <a:pPr marL="0" indent="0">
              <a:buNone/>
            </a:pPr>
            <a:r>
              <a:rPr lang="en-US" sz="1000" b="1" dirty="0">
                <a:solidFill>
                  <a:srgbClr val="00C896"/>
                </a:solidFill>
                <a:latin typeface="Calibri" pitchFamily="34" charset="0"/>
                <a:ea typeface="Calibri" pitchFamily="34" charset="-122"/>
                <a:cs typeface="Calibri" pitchFamily="34" charset="-120"/>
              </a:rPr>
              <a:t>WHERE IT'S USED:</a:t>
            </a:r>
            <a:endParaRPr lang="en-US" sz="1000" dirty="0"/>
          </a:p>
        </p:txBody>
      </p:sp>
      <p:sp>
        <p:nvSpPr>
          <p:cNvPr id="17" name="Shape 15"/>
          <p:cNvSpPr/>
          <p:nvPr/>
        </p:nvSpPr>
        <p:spPr>
          <a:xfrm>
            <a:off x="365760" y="4206240"/>
            <a:ext cx="1508760" cy="274320"/>
          </a:xfrm>
          <a:prstGeom prst="rect">
            <a:avLst/>
          </a:prstGeom>
          <a:solidFill>
            <a:srgbClr val="00C896"/>
          </a:solidFill>
          <a:ln w="12700">
            <a:solidFill>
              <a:srgbClr val="00C896"/>
            </a:solidFill>
            <a:prstDash val="solid"/>
          </a:ln>
        </p:spPr>
        <p:txBody>
          <a:bodyPr/>
          <a:lstStyle/>
          <a:p>
            <a:endParaRPr lang="en-US"/>
          </a:p>
        </p:txBody>
      </p:sp>
      <p:sp>
        <p:nvSpPr>
          <p:cNvPr id="18" name="Text 16"/>
          <p:cNvSpPr/>
          <p:nvPr/>
        </p:nvSpPr>
        <p:spPr>
          <a:xfrm>
            <a:off x="365760" y="4206240"/>
            <a:ext cx="1508760" cy="27432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Scheduling</a:t>
            </a:r>
            <a:endParaRPr lang="en-US" sz="1000" dirty="0"/>
          </a:p>
        </p:txBody>
      </p:sp>
      <p:sp>
        <p:nvSpPr>
          <p:cNvPr id="19" name="Shape 17"/>
          <p:cNvSpPr/>
          <p:nvPr/>
        </p:nvSpPr>
        <p:spPr>
          <a:xfrm>
            <a:off x="2039112" y="4206240"/>
            <a:ext cx="1508760" cy="274320"/>
          </a:xfrm>
          <a:prstGeom prst="rect">
            <a:avLst/>
          </a:prstGeom>
          <a:solidFill>
            <a:srgbClr val="00A3FF"/>
          </a:solidFill>
          <a:ln w="12700">
            <a:solidFill>
              <a:srgbClr val="00A3FF"/>
            </a:solidFill>
            <a:prstDash val="solid"/>
          </a:ln>
        </p:spPr>
        <p:txBody>
          <a:bodyPr/>
          <a:lstStyle/>
          <a:p>
            <a:endParaRPr lang="en-US"/>
          </a:p>
        </p:txBody>
      </p:sp>
      <p:sp>
        <p:nvSpPr>
          <p:cNvPr id="20" name="Text 18"/>
          <p:cNvSpPr/>
          <p:nvPr/>
        </p:nvSpPr>
        <p:spPr>
          <a:xfrm>
            <a:off x="2039112" y="4206240"/>
            <a:ext cx="1508760" cy="27432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Engineering Design</a:t>
            </a:r>
            <a:endParaRPr lang="en-US" sz="1000" dirty="0"/>
          </a:p>
        </p:txBody>
      </p:sp>
      <p:sp>
        <p:nvSpPr>
          <p:cNvPr id="21" name="Shape 19"/>
          <p:cNvSpPr/>
          <p:nvPr/>
        </p:nvSpPr>
        <p:spPr>
          <a:xfrm>
            <a:off x="3712464" y="4206240"/>
            <a:ext cx="1508760" cy="274320"/>
          </a:xfrm>
          <a:prstGeom prst="rect">
            <a:avLst/>
          </a:prstGeom>
          <a:solidFill>
            <a:srgbClr val="00C896"/>
          </a:solidFill>
          <a:ln w="12700">
            <a:solidFill>
              <a:srgbClr val="00C896"/>
            </a:solidFill>
            <a:prstDash val="solid"/>
          </a:ln>
        </p:spPr>
        <p:txBody>
          <a:bodyPr/>
          <a:lstStyle/>
          <a:p>
            <a:endParaRPr lang="en-US"/>
          </a:p>
        </p:txBody>
      </p:sp>
      <p:sp>
        <p:nvSpPr>
          <p:cNvPr id="22" name="Text 20"/>
          <p:cNvSpPr/>
          <p:nvPr/>
        </p:nvSpPr>
        <p:spPr>
          <a:xfrm>
            <a:off x="3712464" y="4206240"/>
            <a:ext cx="1508760" cy="27432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Machine Learning</a:t>
            </a:r>
            <a:endParaRPr lang="en-US" sz="1000" dirty="0"/>
          </a:p>
        </p:txBody>
      </p:sp>
      <p:sp>
        <p:nvSpPr>
          <p:cNvPr id="23" name="Shape 21"/>
          <p:cNvSpPr/>
          <p:nvPr/>
        </p:nvSpPr>
        <p:spPr>
          <a:xfrm>
            <a:off x="5385816" y="4206240"/>
            <a:ext cx="1508760" cy="274320"/>
          </a:xfrm>
          <a:prstGeom prst="rect">
            <a:avLst/>
          </a:prstGeom>
          <a:solidFill>
            <a:srgbClr val="00A3FF"/>
          </a:solidFill>
          <a:ln w="12700">
            <a:solidFill>
              <a:srgbClr val="00A3FF"/>
            </a:solidFill>
            <a:prstDash val="solid"/>
          </a:ln>
        </p:spPr>
        <p:txBody>
          <a:bodyPr/>
          <a:lstStyle/>
          <a:p>
            <a:endParaRPr lang="en-US"/>
          </a:p>
        </p:txBody>
      </p:sp>
      <p:sp>
        <p:nvSpPr>
          <p:cNvPr id="24" name="Text 22"/>
          <p:cNvSpPr/>
          <p:nvPr/>
        </p:nvSpPr>
        <p:spPr>
          <a:xfrm>
            <a:off x="5385816" y="4206240"/>
            <a:ext cx="1508760" cy="27432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Route Optimization</a:t>
            </a:r>
            <a:endParaRPr lang="en-US" sz="1000" dirty="0"/>
          </a:p>
        </p:txBody>
      </p:sp>
      <p:sp>
        <p:nvSpPr>
          <p:cNvPr id="25" name="Shape 23"/>
          <p:cNvSpPr/>
          <p:nvPr/>
        </p:nvSpPr>
        <p:spPr>
          <a:xfrm>
            <a:off x="7059168" y="4206240"/>
            <a:ext cx="1508760" cy="274320"/>
          </a:xfrm>
          <a:prstGeom prst="rect">
            <a:avLst/>
          </a:prstGeom>
          <a:solidFill>
            <a:srgbClr val="00C896"/>
          </a:solidFill>
          <a:ln w="12700">
            <a:solidFill>
              <a:srgbClr val="00C896"/>
            </a:solidFill>
            <a:prstDash val="solid"/>
          </a:ln>
        </p:spPr>
        <p:txBody>
          <a:bodyPr/>
          <a:lstStyle/>
          <a:p>
            <a:endParaRPr lang="en-US"/>
          </a:p>
        </p:txBody>
      </p:sp>
      <p:sp>
        <p:nvSpPr>
          <p:cNvPr id="26" name="Text 24"/>
          <p:cNvSpPr/>
          <p:nvPr/>
        </p:nvSpPr>
        <p:spPr>
          <a:xfrm>
            <a:off x="7059168" y="4206240"/>
            <a:ext cx="1508760" cy="27432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Game AI</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256032"/>
            <a:ext cx="64008" cy="502920"/>
          </a:xfrm>
          <a:prstGeom prst="rect">
            <a:avLst/>
          </a:prstGeom>
          <a:solidFill>
            <a:srgbClr val="00C896"/>
          </a:solidFill>
          <a:ln w="12700">
            <a:solidFill>
              <a:srgbClr val="00C896"/>
            </a:solidFill>
            <a:prstDash val="solid"/>
          </a:ln>
        </p:spPr>
        <p:txBody>
          <a:bodyPr/>
          <a:lstStyle/>
          <a:p>
            <a:endParaRPr lang="en-US"/>
          </a:p>
        </p:txBody>
      </p:sp>
      <p:sp>
        <p:nvSpPr>
          <p:cNvPr id="3" name="Text 1"/>
          <p:cNvSpPr/>
          <p:nvPr/>
        </p:nvSpPr>
        <p:spPr>
          <a:xfrm>
            <a:off x="512064" y="256032"/>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Basic Terminology in Genetic Algorithm</a:t>
            </a:r>
            <a:endParaRPr lang="en-US" sz="2800" dirty="0"/>
          </a:p>
        </p:txBody>
      </p:sp>
      <p:sp>
        <p:nvSpPr>
          <p:cNvPr id="4" name="Shape 2"/>
          <p:cNvSpPr/>
          <p:nvPr/>
        </p:nvSpPr>
        <p:spPr>
          <a:xfrm>
            <a:off x="365760" y="868680"/>
            <a:ext cx="8412480" cy="0"/>
          </a:xfrm>
          <a:prstGeom prst="line">
            <a:avLst/>
          </a:prstGeom>
          <a:noFill/>
          <a:ln w="12700">
            <a:solidFill>
              <a:srgbClr val="00C896">
                <a:alpha val="50000"/>
              </a:srgbClr>
            </a:solidFill>
            <a:prstDash val="solid"/>
          </a:ln>
        </p:spPr>
        <p:txBody>
          <a:bodyPr/>
          <a:lstStyle/>
          <a:p>
            <a:endParaRPr lang="en-US"/>
          </a:p>
        </p:txBody>
      </p:sp>
      <p:sp>
        <p:nvSpPr>
          <p:cNvPr id="5" name="Shape 3"/>
          <p:cNvSpPr/>
          <p:nvPr/>
        </p:nvSpPr>
        <p:spPr>
          <a:xfrm>
            <a:off x="365760" y="1051560"/>
            <a:ext cx="4114800" cy="1097280"/>
          </a:xfrm>
          <a:prstGeom prst="rect">
            <a:avLst/>
          </a:prstGeom>
          <a:solidFill>
            <a:srgbClr val="1A2E44"/>
          </a:solidFill>
          <a:ln w="19050">
            <a:solidFill>
              <a:srgbClr val="00C896"/>
            </a:solidFill>
            <a:prstDash val="solid"/>
          </a:ln>
          <a:effectLst>
            <a:outerShdw blurRad="101600" dist="38100" dir="8100000" algn="bl" rotWithShape="0">
              <a:srgbClr val="000000">
                <a:alpha val="25000"/>
              </a:srgbClr>
            </a:outerShdw>
          </a:effectLst>
        </p:spPr>
        <p:txBody>
          <a:bodyPr/>
          <a:lstStyle/>
          <a:p>
            <a:endParaRPr lang="en-US"/>
          </a:p>
        </p:txBody>
      </p:sp>
      <p:sp>
        <p:nvSpPr>
          <p:cNvPr id="6" name="Text 4"/>
          <p:cNvSpPr/>
          <p:nvPr/>
        </p:nvSpPr>
        <p:spPr>
          <a:xfrm>
            <a:off x="475488" y="1115568"/>
            <a:ext cx="3840480" cy="347472"/>
          </a:xfrm>
          <a:prstGeom prst="rect">
            <a:avLst/>
          </a:prstGeom>
          <a:noFill/>
          <a:ln/>
        </p:spPr>
        <p:txBody>
          <a:bodyPr wrap="square" rtlCol="0" anchor="ctr"/>
          <a:lstStyle/>
          <a:p>
            <a:pPr marL="0" indent="0">
              <a:buNone/>
            </a:pPr>
            <a:r>
              <a:rPr lang="en-US" sz="1300" b="1" dirty="0">
                <a:solidFill>
                  <a:srgbClr val="00C896"/>
                </a:solidFill>
                <a:latin typeface="Calibri" pitchFamily="34" charset="0"/>
                <a:ea typeface="Calibri" pitchFamily="34" charset="-122"/>
                <a:cs typeface="Calibri" pitchFamily="34" charset="-120"/>
              </a:rPr>
              <a:t>🧬  Gene</a:t>
            </a:r>
            <a:endParaRPr lang="en-US" sz="1300" dirty="0"/>
          </a:p>
        </p:txBody>
      </p:sp>
      <p:sp>
        <p:nvSpPr>
          <p:cNvPr id="7" name="Text 5"/>
          <p:cNvSpPr/>
          <p:nvPr/>
        </p:nvSpPr>
        <p:spPr>
          <a:xfrm>
            <a:off x="475488" y="1463040"/>
            <a:ext cx="3840480" cy="594360"/>
          </a:xfrm>
          <a:prstGeom prst="rect">
            <a:avLst/>
          </a:prstGeom>
          <a:noFill/>
          <a:ln/>
        </p:spPr>
        <p:txBody>
          <a:bodyPr wrap="square" rtlCol="0" anchor="ctr"/>
          <a:lstStyle/>
          <a:p>
            <a:pPr marL="0" indent="0">
              <a:buNone/>
            </a:pPr>
            <a:r>
              <a:rPr lang="en-US" sz="1150" dirty="0">
                <a:solidFill>
                  <a:srgbClr val="E8F0F5"/>
                </a:solidFill>
                <a:latin typeface="Calibri" pitchFamily="34" charset="0"/>
                <a:ea typeface="Calibri" pitchFamily="34" charset="-122"/>
                <a:cs typeface="Calibri" pitchFamily="34" charset="-120"/>
              </a:rPr>
              <a:t>The basic unit of information — a single variable or bit in a chromosome.</a:t>
            </a:r>
            <a:endParaRPr lang="en-US" sz="1150" dirty="0"/>
          </a:p>
        </p:txBody>
      </p:sp>
      <p:sp>
        <p:nvSpPr>
          <p:cNvPr id="8" name="Shape 6"/>
          <p:cNvSpPr/>
          <p:nvPr/>
        </p:nvSpPr>
        <p:spPr>
          <a:xfrm>
            <a:off x="4681728" y="1051560"/>
            <a:ext cx="4114800" cy="1097280"/>
          </a:xfrm>
          <a:prstGeom prst="rect">
            <a:avLst/>
          </a:prstGeom>
          <a:solidFill>
            <a:srgbClr val="1A2E44"/>
          </a:solidFill>
          <a:ln w="19050">
            <a:solidFill>
              <a:srgbClr val="00C896"/>
            </a:solidFill>
            <a:prstDash val="solid"/>
          </a:ln>
          <a:effectLst>
            <a:outerShdw blurRad="101600" dist="38100" dir="8100000" algn="bl" rotWithShape="0">
              <a:srgbClr val="000000">
                <a:alpha val="25000"/>
              </a:srgbClr>
            </a:outerShdw>
          </a:effectLst>
        </p:spPr>
        <p:txBody>
          <a:bodyPr/>
          <a:lstStyle/>
          <a:p>
            <a:endParaRPr lang="en-US"/>
          </a:p>
        </p:txBody>
      </p:sp>
      <p:sp>
        <p:nvSpPr>
          <p:cNvPr id="9" name="Text 7"/>
          <p:cNvSpPr/>
          <p:nvPr/>
        </p:nvSpPr>
        <p:spPr>
          <a:xfrm>
            <a:off x="4791456" y="1115568"/>
            <a:ext cx="3840480" cy="347472"/>
          </a:xfrm>
          <a:prstGeom prst="rect">
            <a:avLst/>
          </a:prstGeom>
          <a:noFill/>
          <a:ln/>
        </p:spPr>
        <p:txBody>
          <a:bodyPr wrap="square" rtlCol="0" anchor="ctr"/>
          <a:lstStyle/>
          <a:p>
            <a:pPr marL="0" indent="0">
              <a:buNone/>
            </a:pPr>
            <a:r>
              <a:rPr lang="en-US" sz="1300" b="1" dirty="0">
                <a:solidFill>
                  <a:srgbClr val="00C896"/>
                </a:solidFill>
                <a:latin typeface="Calibri" pitchFamily="34" charset="0"/>
                <a:ea typeface="Calibri" pitchFamily="34" charset="-122"/>
                <a:cs typeface="Calibri" pitchFamily="34" charset="-120"/>
              </a:rPr>
              <a:t>🔗  Chromosome</a:t>
            </a:r>
            <a:endParaRPr lang="en-US" sz="1300" dirty="0"/>
          </a:p>
        </p:txBody>
      </p:sp>
      <p:sp>
        <p:nvSpPr>
          <p:cNvPr id="10" name="Text 8"/>
          <p:cNvSpPr/>
          <p:nvPr/>
        </p:nvSpPr>
        <p:spPr>
          <a:xfrm>
            <a:off x="4791456" y="1463040"/>
            <a:ext cx="3840480" cy="594360"/>
          </a:xfrm>
          <a:prstGeom prst="rect">
            <a:avLst/>
          </a:prstGeom>
          <a:noFill/>
          <a:ln/>
        </p:spPr>
        <p:txBody>
          <a:bodyPr wrap="square" rtlCol="0" anchor="ctr"/>
          <a:lstStyle/>
          <a:p>
            <a:pPr marL="0" indent="0">
              <a:buNone/>
            </a:pPr>
            <a:r>
              <a:rPr lang="en-US" sz="1150" dirty="0">
                <a:solidFill>
                  <a:srgbClr val="E8F0F5"/>
                </a:solidFill>
                <a:latin typeface="Calibri" pitchFamily="34" charset="0"/>
                <a:ea typeface="Calibri" pitchFamily="34" charset="-122"/>
                <a:cs typeface="Calibri" pitchFamily="34" charset="-120"/>
              </a:rPr>
              <a:t>A string of genes representing one complete solution/individual.</a:t>
            </a:r>
            <a:endParaRPr lang="en-US" sz="1150" dirty="0"/>
          </a:p>
        </p:txBody>
      </p:sp>
      <p:sp>
        <p:nvSpPr>
          <p:cNvPr id="11" name="Shape 9"/>
          <p:cNvSpPr/>
          <p:nvPr/>
        </p:nvSpPr>
        <p:spPr>
          <a:xfrm>
            <a:off x="365760" y="2286000"/>
            <a:ext cx="4114800" cy="1097280"/>
          </a:xfrm>
          <a:prstGeom prst="rect">
            <a:avLst/>
          </a:prstGeom>
          <a:solidFill>
            <a:srgbClr val="1A2E44"/>
          </a:solidFill>
          <a:ln w="19050">
            <a:solidFill>
              <a:srgbClr val="00C896"/>
            </a:solidFill>
            <a:prstDash val="solid"/>
          </a:ln>
          <a:effectLst>
            <a:outerShdw blurRad="101600" dist="38100" dir="8100000" algn="bl" rotWithShape="0">
              <a:srgbClr val="000000">
                <a:alpha val="25000"/>
              </a:srgbClr>
            </a:outerShdw>
          </a:effectLst>
        </p:spPr>
        <p:txBody>
          <a:bodyPr/>
          <a:lstStyle/>
          <a:p>
            <a:endParaRPr lang="en-US"/>
          </a:p>
        </p:txBody>
      </p:sp>
      <p:sp>
        <p:nvSpPr>
          <p:cNvPr id="12" name="Text 10"/>
          <p:cNvSpPr/>
          <p:nvPr/>
        </p:nvSpPr>
        <p:spPr>
          <a:xfrm>
            <a:off x="475488" y="2350008"/>
            <a:ext cx="3840480" cy="347472"/>
          </a:xfrm>
          <a:prstGeom prst="rect">
            <a:avLst/>
          </a:prstGeom>
          <a:noFill/>
          <a:ln/>
        </p:spPr>
        <p:txBody>
          <a:bodyPr wrap="square" rtlCol="0" anchor="ctr"/>
          <a:lstStyle/>
          <a:p>
            <a:pPr marL="0" indent="0">
              <a:buNone/>
            </a:pPr>
            <a:r>
              <a:rPr lang="en-US" sz="1300" b="1" dirty="0">
                <a:solidFill>
                  <a:srgbClr val="00C896"/>
                </a:solidFill>
                <a:latin typeface="Calibri" pitchFamily="34" charset="0"/>
                <a:ea typeface="Calibri" pitchFamily="34" charset="-122"/>
                <a:cs typeface="Calibri" pitchFamily="34" charset="-120"/>
              </a:rPr>
              <a:t>👥  Population</a:t>
            </a:r>
            <a:endParaRPr lang="en-US" sz="1300" dirty="0"/>
          </a:p>
        </p:txBody>
      </p:sp>
      <p:sp>
        <p:nvSpPr>
          <p:cNvPr id="13" name="Text 11"/>
          <p:cNvSpPr/>
          <p:nvPr/>
        </p:nvSpPr>
        <p:spPr>
          <a:xfrm>
            <a:off x="475488" y="2697480"/>
            <a:ext cx="3840480" cy="594360"/>
          </a:xfrm>
          <a:prstGeom prst="rect">
            <a:avLst/>
          </a:prstGeom>
          <a:noFill/>
          <a:ln/>
        </p:spPr>
        <p:txBody>
          <a:bodyPr wrap="square" rtlCol="0" anchor="ctr"/>
          <a:lstStyle/>
          <a:p>
            <a:pPr marL="0" indent="0">
              <a:buNone/>
            </a:pPr>
            <a:r>
              <a:rPr lang="en-US" sz="1150" dirty="0">
                <a:solidFill>
                  <a:srgbClr val="E8F0F5"/>
                </a:solidFill>
                <a:latin typeface="Calibri" pitchFamily="34" charset="0"/>
                <a:ea typeface="Calibri" pitchFamily="34" charset="-122"/>
                <a:cs typeface="Calibri" pitchFamily="34" charset="-120"/>
              </a:rPr>
              <a:t>A set of chromosomes (candidate solutions) evaluated in each generation.</a:t>
            </a:r>
            <a:endParaRPr lang="en-US" sz="1150" dirty="0"/>
          </a:p>
        </p:txBody>
      </p:sp>
      <p:sp>
        <p:nvSpPr>
          <p:cNvPr id="14" name="Shape 12"/>
          <p:cNvSpPr/>
          <p:nvPr/>
        </p:nvSpPr>
        <p:spPr>
          <a:xfrm>
            <a:off x="4681728" y="2286000"/>
            <a:ext cx="4114800" cy="1097280"/>
          </a:xfrm>
          <a:prstGeom prst="rect">
            <a:avLst/>
          </a:prstGeom>
          <a:solidFill>
            <a:srgbClr val="1A2E44"/>
          </a:solidFill>
          <a:ln w="19050">
            <a:solidFill>
              <a:srgbClr val="00C896"/>
            </a:solidFill>
            <a:prstDash val="solid"/>
          </a:ln>
          <a:effectLst>
            <a:outerShdw blurRad="101600" dist="38100" dir="8100000" algn="bl" rotWithShape="0">
              <a:srgbClr val="000000">
                <a:alpha val="25000"/>
              </a:srgbClr>
            </a:outerShdw>
          </a:effectLst>
        </p:spPr>
        <p:txBody>
          <a:bodyPr/>
          <a:lstStyle/>
          <a:p>
            <a:endParaRPr lang="en-US"/>
          </a:p>
        </p:txBody>
      </p:sp>
      <p:sp>
        <p:nvSpPr>
          <p:cNvPr id="15" name="Text 13"/>
          <p:cNvSpPr/>
          <p:nvPr/>
        </p:nvSpPr>
        <p:spPr>
          <a:xfrm>
            <a:off x="4791456" y="2350008"/>
            <a:ext cx="3840480" cy="347472"/>
          </a:xfrm>
          <a:prstGeom prst="rect">
            <a:avLst/>
          </a:prstGeom>
          <a:noFill/>
          <a:ln/>
        </p:spPr>
        <p:txBody>
          <a:bodyPr wrap="square" rtlCol="0" anchor="ctr"/>
          <a:lstStyle/>
          <a:p>
            <a:pPr marL="0" indent="0">
              <a:buNone/>
            </a:pPr>
            <a:r>
              <a:rPr lang="en-US" sz="1300" b="1" dirty="0">
                <a:solidFill>
                  <a:srgbClr val="00C896"/>
                </a:solidFill>
                <a:latin typeface="Calibri" pitchFamily="34" charset="0"/>
                <a:ea typeface="Calibri" pitchFamily="34" charset="-122"/>
                <a:cs typeface="Calibri" pitchFamily="34" charset="-120"/>
              </a:rPr>
              <a:t>🔄  Generation</a:t>
            </a:r>
            <a:endParaRPr lang="en-US" sz="1300" dirty="0"/>
          </a:p>
        </p:txBody>
      </p:sp>
      <p:sp>
        <p:nvSpPr>
          <p:cNvPr id="16" name="Text 14"/>
          <p:cNvSpPr/>
          <p:nvPr/>
        </p:nvSpPr>
        <p:spPr>
          <a:xfrm>
            <a:off x="4791456" y="2697480"/>
            <a:ext cx="3840480" cy="594360"/>
          </a:xfrm>
          <a:prstGeom prst="rect">
            <a:avLst/>
          </a:prstGeom>
          <a:noFill/>
          <a:ln/>
        </p:spPr>
        <p:txBody>
          <a:bodyPr wrap="square" rtlCol="0" anchor="ctr"/>
          <a:lstStyle/>
          <a:p>
            <a:pPr marL="0" indent="0">
              <a:buNone/>
            </a:pPr>
            <a:r>
              <a:rPr lang="en-US" sz="1150" dirty="0">
                <a:solidFill>
                  <a:srgbClr val="E8F0F5"/>
                </a:solidFill>
                <a:latin typeface="Calibri" pitchFamily="34" charset="0"/>
                <a:ea typeface="Calibri" pitchFamily="34" charset="-122"/>
                <a:cs typeface="Calibri" pitchFamily="34" charset="-120"/>
              </a:rPr>
              <a:t>One full cycle of selection, crossover, and mutation over the population.</a:t>
            </a:r>
            <a:endParaRPr lang="en-US" sz="1150" dirty="0"/>
          </a:p>
        </p:txBody>
      </p:sp>
      <p:sp>
        <p:nvSpPr>
          <p:cNvPr id="17" name="Shape 15"/>
          <p:cNvSpPr/>
          <p:nvPr/>
        </p:nvSpPr>
        <p:spPr>
          <a:xfrm>
            <a:off x="392997" y="3533086"/>
            <a:ext cx="4114800" cy="1097280"/>
          </a:xfrm>
          <a:prstGeom prst="rect">
            <a:avLst/>
          </a:prstGeom>
          <a:solidFill>
            <a:srgbClr val="1A2E44"/>
          </a:solidFill>
          <a:ln w="19050">
            <a:solidFill>
              <a:srgbClr val="00C896"/>
            </a:solidFill>
            <a:prstDash val="solid"/>
          </a:ln>
          <a:effectLst>
            <a:outerShdw blurRad="101600" dist="38100" dir="8100000" algn="bl" rotWithShape="0">
              <a:srgbClr val="000000">
                <a:alpha val="25000"/>
              </a:srgbClr>
            </a:outerShdw>
          </a:effectLst>
        </p:spPr>
        <p:txBody>
          <a:bodyPr/>
          <a:lstStyle/>
          <a:p>
            <a:endParaRPr lang="en-US"/>
          </a:p>
        </p:txBody>
      </p:sp>
      <p:sp>
        <p:nvSpPr>
          <p:cNvPr id="18" name="Text 16"/>
          <p:cNvSpPr/>
          <p:nvPr/>
        </p:nvSpPr>
        <p:spPr>
          <a:xfrm>
            <a:off x="475488" y="3584448"/>
            <a:ext cx="3840480" cy="347472"/>
          </a:xfrm>
          <a:prstGeom prst="rect">
            <a:avLst/>
          </a:prstGeom>
          <a:noFill/>
          <a:ln/>
        </p:spPr>
        <p:txBody>
          <a:bodyPr wrap="square" rtlCol="0" anchor="ctr"/>
          <a:lstStyle/>
          <a:p>
            <a:pPr marL="0" indent="0">
              <a:buNone/>
            </a:pPr>
            <a:r>
              <a:rPr lang="en-US" sz="1300" b="1" dirty="0">
                <a:solidFill>
                  <a:srgbClr val="00C896"/>
                </a:solidFill>
                <a:latin typeface="Calibri" pitchFamily="34" charset="0"/>
                <a:ea typeface="Calibri" pitchFamily="34" charset="-122"/>
                <a:cs typeface="Calibri" pitchFamily="34" charset="-120"/>
              </a:rPr>
              <a:t>⭐  Fitness</a:t>
            </a:r>
            <a:endParaRPr lang="en-US" sz="1300" dirty="0"/>
          </a:p>
        </p:txBody>
      </p:sp>
      <p:sp>
        <p:nvSpPr>
          <p:cNvPr id="19" name="Text 17"/>
          <p:cNvSpPr/>
          <p:nvPr/>
        </p:nvSpPr>
        <p:spPr>
          <a:xfrm>
            <a:off x="475488" y="3931920"/>
            <a:ext cx="3840480" cy="594360"/>
          </a:xfrm>
          <a:prstGeom prst="rect">
            <a:avLst/>
          </a:prstGeom>
          <a:noFill/>
          <a:ln/>
        </p:spPr>
        <p:txBody>
          <a:bodyPr wrap="square" rtlCol="0" anchor="ctr"/>
          <a:lstStyle/>
          <a:p>
            <a:pPr marL="0" indent="0">
              <a:buNone/>
            </a:pPr>
            <a:r>
              <a:rPr lang="en-US" sz="1150" dirty="0">
                <a:solidFill>
                  <a:srgbClr val="E8F0F5"/>
                </a:solidFill>
                <a:latin typeface="Calibri" pitchFamily="34" charset="0"/>
                <a:ea typeface="Calibri" pitchFamily="34" charset="-122"/>
                <a:cs typeface="Calibri" pitchFamily="34" charset="-120"/>
              </a:rPr>
              <a:t>A score measuring how good a chromosome is — higher fitness = better solution.</a:t>
            </a:r>
            <a:endParaRPr lang="en-US" sz="1150" dirty="0"/>
          </a:p>
        </p:txBody>
      </p:sp>
      <p:sp>
        <p:nvSpPr>
          <p:cNvPr id="25" name="Text 23"/>
          <p:cNvSpPr/>
          <p:nvPr/>
        </p:nvSpPr>
        <p:spPr>
          <a:xfrm>
            <a:off x="2697480" y="4526280"/>
            <a:ext cx="374904" cy="320040"/>
          </a:xfrm>
          <a:prstGeom prst="rect">
            <a:avLst/>
          </a:prstGeom>
          <a:noFill/>
          <a:ln/>
        </p:spPr>
        <p:txBody>
          <a:bodyPr wrap="square" lIns="0" tIns="0" rIns="0" bIns="0" rtlCol="0" anchor="ctr"/>
          <a:lstStyle/>
          <a:p>
            <a:pPr marL="0" indent="0" algn="ctr">
              <a:buNone/>
            </a:pPr>
            <a:endParaRPr lang="en-US" sz="1300" dirty="0"/>
          </a:p>
        </p:txBody>
      </p:sp>
      <p:sp>
        <p:nvSpPr>
          <p:cNvPr id="27" name="Text 25"/>
          <p:cNvSpPr/>
          <p:nvPr/>
        </p:nvSpPr>
        <p:spPr>
          <a:xfrm>
            <a:off x="3099816" y="4526280"/>
            <a:ext cx="374904" cy="320040"/>
          </a:xfrm>
          <a:prstGeom prst="rect">
            <a:avLst/>
          </a:prstGeom>
          <a:noFill/>
          <a:ln/>
        </p:spPr>
        <p:txBody>
          <a:bodyPr wrap="square" lIns="0" tIns="0" rIns="0" bIns="0" rtlCol="0" anchor="ctr"/>
          <a:lstStyle/>
          <a:p>
            <a:pPr marL="0" indent="0" algn="ctr">
              <a:buNone/>
            </a:pPr>
            <a:endParaRPr lang="en-US" sz="1300" dirty="0"/>
          </a:p>
        </p:txBody>
      </p:sp>
      <p:sp>
        <p:nvSpPr>
          <p:cNvPr id="29" name="Text 27"/>
          <p:cNvSpPr/>
          <p:nvPr/>
        </p:nvSpPr>
        <p:spPr>
          <a:xfrm>
            <a:off x="3502152" y="4526280"/>
            <a:ext cx="374904" cy="320040"/>
          </a:xfrm>
          <a:prstGeom prst="rect">
            <a:avLst/>
          </a:prstGeom>
          <a:noFill/>
          <a:ln/>
        </p:spPr>
        <p:txBody>
          <a:bodyPr wrap="square" lIns="0" tIns="0" rIns="0" bIns="0" rtlCol="0" anchor="ctr"/>
          <a:lstStyle/>
          <a:p>
            <a:pPr marL="0" indent="0" algn="ctr">
              <a:buNone/>
            </a:pPr>
            <a:endParaRPr lang="en-US" sz="1300" dirty="0"/>
          </a:p>
        </p:txBody>
      </p:sp>
      <p:sp>
        <p:nvSpPr>
          <p:cNvPr id="31" name="Text 29"/>
          <p:cNvSpPr/>
          <p:nvPr/>
        </p:nvSpPr>
        <p:spPr>
          <a:xfrm>
            <a:off x="3904488" y="4526280"/>
            <a:ext cx="374904" cy="320040"/>
          </a:xfrm>
          <a:prstGeom prst="rect">
            <a:avLst/>
          </a:prstGeom>
          <a:noFill/>
          <a:ln/>
        </p:spPr>
        <p:txBody>
          <a:bodyPr wrap="square" lIns="0" tIns="0" rIns="0" bIns="0" rtlCol="0" anchor="ctr"/>
          <a:lstStyle/>
          <a:p>
            <a:pPr marL="0" indent="0" algn="ctr">
              <a:buNone/>
            </a:pPr>
            <a:endParaRPr lang="en-US" sz="1300" dirty="0"/>
          </a:p>
        </p:txBody>
      </p:sp>
      <p:sp>
        <p:nvSpPr>
          <p:cNvPr id="35" name="Text 33"/>
          <p:cNvSpPr/>
          <p:nvPr/>
        </p:nvSpPr>
        <p:spPr>
          <a:xfrm>
            <a:off x="4709160" y="4526280"/>
            <a:ext cx="374904" cy="320040"/>
          </a:xfrm>
          <a:prstGeom prst="rect">
            <a:avLst/>
          </a:prstGeom>
          <a:noFill/>
          <a:ln/>
        </p:spPr>
        <p:txBody>
          <a:bodyPr wrap="square" lIns="0" tIns="0" rIns="0" bIns="0" rtlCol="0" anchor="ctr"/>
          <a:lstStyle/>
          <a:p>
            <a:pPr marL="0" indent="0" algn="ctr">
              <a:buNone/>
            </a:pPr>
            <a:endParaRPr lang="en-US" sz="1300" dirty="0"/>
          </a:p>
        </p:txBody>
      </p:sp>
      <p:sp>
        <p:nvSpPr>
          <p:cNvPr id="37" name="Text 35"/>
          <p:cNvSpPr/>
          <p:nvPr/>
        </p:nvSpPr>
        <p:spPr>
          <a:xfrm>
            <a:off x="5111496" y="4526280"/>
            <a:ext cx="374904" cy="320040"/>
          </a:xfrm>
          <a:prstGeom prst="rect">
            <a:avLst/>
          </a:prstGeom>
          <a:noFill/>
          <a:ln/>
        </p:spPr>
        <p:txBody>
          <a:bodyPr wrap="square" lIns="0" tIns="0" rIns="0" bIns="0" rtlCol="0" anchor="ctr"/>
          <a:lstStyle/>
          <a:p>
            <a:pPr marL="0" indent="0" algn="ctr">
              <a:buNone/>
            </a:pPr>
            <a:endParaRPr lang="en-US" sz="1300" dirty="0"/>
          </a:p>
        </p:txBody>
      </p:sp>
      <p:sp>
        <p:nvSpPr>
          <p:cNvPr id="39" name="Text 37"/>
          <p:cNvSpPr/>
          <p:nvPr/>
        </p:nvSpPr>
        <p:spPr>
          <a:xfrm>
            <a:off x="5513832" y="4526280"/>
            <a:ext cx="374904" cy="320040"/>
          </a:xfrm>
          <a:prstGeom prst="rect">
            <a:avLst/>
          </a:prstGeom>
          <a:noFill/>
          <a:ln/>
        </p:spPr>
        <p:txBody>
          <a:bodyPr wrap="square" lIns="0" tIns="0" rIns="0" bIns="0" rtlCol="0" anchor="ctr"/>
          <a:lstStyle/>
          <a:p>
            <a:pPr marL="0" indent="0" algn="ctr">
              <a:buNone/>
            </a:pP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256032"/>
            <a:ext cx="64008" cy="502920"/>
          </a:xfrm>
          <a:prstGeom prst="rect">
            <a:avLst/>
          </a:prstGeom>
          <a:solidFill>
            <a:srgbClr val="00C896"/>
          </a:solidFill>
          <a:ln w="12700">
            <a:solidFill>
              <a:srgbClr val="00C896"/>
            </a:solidFill>
            <a:prstDash val="solid"/>
          </a:ln>
        </p:spPr>
        <p:txBody>
          <a:bodyPr/>
          <a:lstStyle/>
          <a:p>
            <a:endParaRPr lang="en-US"/>
          </a:p>
        </p:txBody>
      </p:sp>
      <p:sp>
        <p:nvSpPr>
          <p:cNvPr id="3" name="Text 1"/>
          <p:cNvSpPr/>
          <p:nvPr/>
        </p:nvSpPr>
        <p:spPr>
          <a:xfrm>
            <a:off x="512064" y="256032"/>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Phases of Genetic Algorithm</a:t>
            </a:r>
            <a:endParaRPr lang="en-US" sz="2800" dirty="0"/>
          </a:p>
        </p:txBody>
      </p:sp>
      <p:sp>
        <p:nvSpPr>
          <p:cNvPr id="4" name="Shape 2"/>
          <p:cNvSpPr/>
          <p:nvPr/>
        </p:nvSpPr>
        <p:spPr>
          <a:xfrm>
            <a:off x="365760" y="868680"/>
            <a:ext cx="8412480" cy="0"/>
          </a:xfrm>
          <a:prstGeom prst="line">
            <a:avLst/>
          </a:prstGeom>
          <a:noFill/>
          <a:ln w="12700">
            <a:solidFill>
              <a:srgbClr val="00C896">
                <a:alpha val="50000"/>
              </a:srgbClr>
            </a:solidFill>
            <a:prstDash val="solid"/>
          </a:ln>
        </p:spPr>
        <p:txBody>
          <a:bodyPr/>
          <a:lstStyle/>
          <a:p>
            <a:endParaRPr lang="en-US"/>
          </a:p>
        </p:txBody>
      </p:sp>
      <p:sp>
        <p:nvSpPr>
          <p:cNvPr id="5" name="Shape 3"/>
          <p:cNvSpPr/>
          <p:nvPr/>
        </p:nvSpPr>
        <p:spPr>
          <a:xfrm>
            <a:off x="365760" y="1051560"/>
            <a:ext cx="420624" cy="502920"/>
          </a:xfrm>
          <a:prstGeom prst="rect">
            <a:avLst/>
          </a:prstGeom>
          <a:solidFill>
            <a:srgbClr val="00A3FF"/>
          </a:solidFill>
          <a:ln w="12700">
            <a:solidFill>
              <a:srgbClr val="00A3FF"/>
            </a:solidFill>
            <a:prstDash val="solid"/>
          </a:ln>
        </p:spPr>
        <p:txBody>
          <a:bodyPr/>
          <a:lstStyle/>
          <a:p>
            <a:endParaRPr lang="en-US"/>
          </a:p>
        </p:txBody>
      </p:sp>
      <p:sp>
        <p:nvSpPr>
          <p:cNvPr id="6" name="Text 4"/>
          <p:cNvSpPr/>
          <p:nvPr/>
        </p:nvSpPr>
        <p:spPr>
          <a:xfrm>
            <a:off x="365760" y="1051560"/>
            <a:ext cx="420624" cy="502920"/>
          </a:xfrm>
          <a:prstGeom prst="rect">
            <a:avLst/>
          </a:prstGeom>
          <a:noFill/>
          <a:ln/>
        </p:spPr>
        <p:txBody>
          <a:bodyPr wrap="square" lIns="0" tIns="0" rIns="0" bIns="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01</a:t>
            </a:r>
            <a:endParaRPr lang="en-US" sz="1300" dirty="0"/>
          </a:p>
        </p:txBody>
      </p:sp>
      <p:sp>
        <p:nvSpPr>
          <p:cNvPr id="7" name="Shape 5"/>
          <p:cNvSpPr/>
          <p:nvPr/>
        </p:nvSpPr>
        <p:spPr>
          <a:xfrm>
            <a:off x="786384" y="1303020"/>
            <a:ext cx="182880" cy="0"/>
          </a:xfrm>
          <a:prstGeom prst="line">
            <a:avLst/>
          </a:prstGeom>
          <a:noFill/>
          <a:ln w="25400">
            <a:solidFill>
              <a:srgbClr val="00A3FF"/>
            </a:solidFill>
            <a:prstDash val="solid"/>
          </a:ln>
        </p:spPr>
        <p:txBody>
          <a:bodyPr/>
          <a:lstStyle/>
          <a:p>
            <a:endParaRPr lang="en-US"/>
          </a:p>
        </p:txBody>
      </p:sp>
      <p:sp>
        <p:nvSpPr>
          <p:cNvPr id="8" name="Shape 6"/>
          <p:cNvSpPr/>
          <p:nvPr/>
        </p:nvSpPr>
        <p:spPr>
          <a:xfrm>
            <a:off x="969264" y="1051560"/>
            <a:ext cx="5193792" cy="502920"/>
          </a:xfrm>
          <a:prstGeom prst="rect">
            <a:avLst/>
          </a:prstGeom>
          <a:solidFill>
            <a:srgbClr val="1A2E44"/>
          </a:solidFill>
          <a:ln w="19050">
            <a:solidFill>
              <a:srgbClr val="00A3FF"/>
            </a:solidFill>
            <a:prstDash val="solid"/>
          </a:ln>
          <a:effectLst>
            <a:outerShdw blurRad="101600" dist="38100" dir="8100000" algn="bl" rotWithShape="0">
              <a:srgbClr val="000000">
                <a:alpha val="25000"/>
              </a:srgbClr>
            </a:outerShdw>
          </a:effectLst>
        </p:spPr>
        <p:txBody>
          <a:bodyPr/>
          <a:lstStyle/>
          <a:p>
            <a:endParaRPr lang="en-US"/>
          </a:p>
        </p:txBody>
      </p:sp>
      <p:sp>
        <p:nvSpPr>
          <p:cNvPr id="9" name="Text 7"/>
          <p:cNvSpPr/>
          <p:nvPr/>
        </p:nvSpPr>
        <p:spPr>
          <a:xfrm>
            <a:off x="1097280" y="1060704"/>
            <a:ext cx="4937760" cy="457200"/>
          </a:xfrm>
          <a:prstGeom prst="rect">
            <a:avLst/>
          </a:prstGeom>
          <a:noFill/>
          <a:ln/>
        </p:spPr>
        <p:txBody>
          <a:bodyPr wrap="square" rtlCol="0" anchor="ctr"/>
          <a:lstStyle/>
          <a:p>
            <a:pPr marL="0" indent="0">
              <a:buNone/>
            </a:pPr>
            <a:r>
              <a:rPr lang="en-US" sz="1200" b="1" dirty="0">
                <a:solidFill>
                  <a:srgbClr val="00A3FF"/>
                </a:solidFill>
                <a:latin typeface="Calibri" pitchFamily="34" charset="0"/>
                <a:ea typeface="Calibri" pitchFamily="34" charset="-122"/>
                <a:cs typeface="Calibri" pitchFamily="34" charset="-120"/>
              </a:rPr>
              <a:t>Initialization  </a:t>
            </a:r>
            <a:r>
              <a:rPr lang="en-US" sz="1200" dirty="0">
                <a:solidFill>
                  <a:srgbClr val="E8F0F5"/>
                </a:solidFill>
                <a:latin typeface="Calibri" pitchFamily="34" charset="0"/>
                <a:ea typeface="Calibri" pitchFamily="34" charset="-122"/>
                <a:cs typeface="Calibri" pitchFamily="34" charset="-120"/>
              </a:rPr>
              <a:t>Generate initial random population of chromosomes</a:t>
            </a:r>
            <a:endParaRPr lang="en-US" sz="1200" dirty="0"/>
          </a:p>
        </p:txBody>
      </p:sp>
      <p:sp>
        <p:nvSpPr>
          <p:cNvPr id="10" name="Shape 8"/>
          <p:cNvSpPr/>
          <p:nvPr/>
        </p:nvSpPr>
        <p:spPr>
          <a:xfrm>
            <a:off x="365760" y="1700784"/>
            <a:ext cx="420624" cy="502920"/>
          </a:xfrm>
          <a:prstGeom prst="rect">
            <a:avLst/>
          </a:prstGeom>
          <a:solidFill>
            <a:srgbClr val="00C896"/>
          </a:solidFill>
          <a:ln w="12700">
            <a:solidFill>
              <a:srgbClr val="00C896"/>
            </a:solidFill>
            <a:prstDash val="solid"/>
          </a:ln>
        </p:spPr>
        <p:txBody>
          <a:bodyPr/>
          <a:lstStyle/>
          <a:p>
            <a:endParaRPr lang="en-US"/>
          </a:p>
        </p:txBody>
      </p:sp>
      <p:sp>
        <p:nvSpPr>
          <p:cNvPr id="11" name="Text 9"/>
          <p:cNvSpPr/>
          <p:nvPr/>
        </p:nvSpPr>
        <p:spPr>
          <a:xfrm>
            <a:off x="365760" y="1700784"/>
            <a:ext cx="420624" cy="502920"/>
          </a:xfrm>
          <a:prstGeom prst="rect">
            <a:avLst/>
          </a:prstGeom>
          <a:noFill/>
          <a:ln/>
        </p:spPr>
        <p:txBody>
          <a:bodyPr wrap="square" lIns="0" tIns="0" rIns="0" bIns="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02</a:t>
            </a:r>
            <a:endParaRPr lang="en-US" sz="1300" dirty="0"/>
          </a:p>
        </p:txBody>
      </p:sp>
      <p:sp>
        <p:nvSpPr>
          <p:cNvPr id="12" name="Shape 10"/>
          <p:cNvSpPr/>
          <p:nvPr/>
        </p:nvSpPr>
        <p:spPr>
          <a:xfrm>
            <a:off x="786384" y="1952244"/>
            <a:ext cx="182880" cy="0"/>
          </a:xfrm>
          <a:prstGeom prst="line">
            <a:avLst/>
          </a:prstGeom>
          <a:noFill/>
          <a:ln w="25400">
            <a:solidFill>
              <a:srgbClr val="00C896"/>
            </a:solidFill>
            <a:prstDash val="solid"/>
          </a:ln>
        </p:spPr>
        <p:txBody>
          <a:bodyPr/>
          <a:lstStyle/>
          <a:p>
            <a:endParaRPr lang="en-US"/>
          </a:p>
        </p:txBody>
      </p:sp>
      <p:sp>
        <p:nvSpPr>
          <p:cNvPr id="13" name="Shape 11"/>
          <p:cNvSpPr/>
          <p:nvPr/>
        </p:nvSpPr>
        <p:spPr>
          <a:xfrm>
            <a:off x="969264" y="1700784"/>
            <a:ext cx="5193792" cy="502920"/>
          </a:xfrm>
          <a:prstGeom prst="rect">
            <a:avLst/>
          </a:prstGeom>
          <a:solidFill>
            <a:srgbClr val="1A2E44"/>
          </a:solidFill>
          <a:ln w="19050">
            <a:solidFill>
              <a:srgbClr val="00C896"/>
            </a:solidFill>
            <a:prstDash val="solid"/>
          </a:ln>
          <a:effectLst>
            <a:outerShdw blurRad="101600" dist="38100" dir="8100000" algn="bl" rotWithShape="0">
              <a:srgbClr val="000000">
                <a:alpha val="25000"/>
              </a:srgbClr>
            </a:outerShdw>
          </a:effectLst>
        </p:spPr>
        <p:txBody>
          <a:bodyPr/>
          <a:lstStyle/>
          <a:p>
            <a:endParaRPr lang="en-US"/>
          </a:p>
        </p:txBody>
      </p:sp>
      <p:sp>
        <p:nvSpPr>
          <p:cNvPr id="14" name="Text 12"/>
          <p:cNvSpPr/>
          <p:nvPr/>
        </p:nvSpPr>
        <p:spPr>
          <a:xfrm>
            <a:off x="1097280" y="1709928"/>
            <a:ext cx="4937760" cy="457200"/>
          </a:xfrm>
          <a:prstGeom prst="rect">
            <a:avLst/>
          </a:prstGeom>
          <a:noFill/>
          <a:ln/>
        </p:spPr>
        <p:txBody>
          <a:bodyPr wrap="square" rtlCol="0" anchor="ctr"/>
          <a:lstStyle/>
          <a:p>
            <a:pPr marL="0" indent="0">
              <a:buNone/>
            </a:pPr>
            <a:r>
              <a:rPr lang="en-US" sz="1200" b="1" dirty="0">
                <a:solidFill>
                  <a:srgbClr val="00C896"/>
                </a:solidFill>
                <a:latin typeface="Calibri" pitchFamily="34" charset="0"/>
                <a:ea typeface="Calibri" pitchFamily="34" charset="-122"/>
                <a:cs typeface="Calibri" pitchFamily="34" charset="-120"/>
              </a:rPr>
              <a:t>Fitness Evaluation  </a:t>
            </a:r>
            <a:r>
              <a:rPr lang="en-US" sz="1200" dirty="0">
                <a:solidFill>
                  <a:srgbClr val="E8F0F5"/>
                </a:solidFill>
                <a:latin typeface="Calibri" pitchFamily="34" charset="0"/>
                <a:ea typeface="Calibri" pitchFamily="34" charset="-122"/>
                <a:cs typeface="Calibri" pitchFamily="34" charset="-120"/>
              </a:rPr>
              <a:t>Evaluate each chromosome using the fitness function</a:t>
            </a:r>
            <a:endParaRPr lang="en-US" sz="1200" dirty="0"/>
          </a:p>
        </p:txBody>
      </p:sp>
      <p:sp>
        <p:nvSpPr>
          <p:cNvPr id="15" name="Shape 13"/>
          <p:cNvSpPr/>
          <p:nvPr/>
        </p:nvSpPr>
        <p:spPr>
          <a:xfrm>
            <a:off x="365760" y="2350008"/>
            <a:ext cx="420624" cy="502920"/>
          </a:xfrm>
          <a:prstGeom prst="rect">
            <a:avLst/>
          </a:prstGeom>
          <a:solidFill>
            <a:srgbClr val="FFB830"/>
          </a:solidFill>
          <a:ln w="12700">
            <a:solidFill>
              <a:srgbClr val="FFB830"/>
            </a:solidFill>
            <a:prstDash val="solid"/>
          </a:ln>
        </p:spPr>
        <p:txBody>
          <a:bodyPr/>
          <a:lstStyle/>
          <a:p>
            <a:endParaRPr lang="en-US"/>
          </a:p>
        </p:txBody>
      </p:sp>
      <p:sp>
        <p:nvSpPr>
          <p:cNvPr id="16" name="Text 14"/>
          <p:cNvSpPr/>
          <p:nvPr/>
        </p:nvSpPr>
        <p:spPr>
          <a:xfrm>
            <a:off x="365760" y="2350008"/>
            <a:ext cx="420624" cy="502920"/>
          </a:xfrm>
          <a:prstGeom prst="rect">
            <a:avLst/>
          </a:prstGeom>
          <a:noFill/>
          <a:ln/>
        </p:spPr>
        <p:txBody>
          <a:bodyPr wrap="square" lIns="0" tIns="0" rIns="0" bIns="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03</a:t>
            </a:r>
            <a:endParaRPr lang="en-US" sz="1300" dirty="0"/>
          </a:p>
        </p:txBody>
      </p:sp>
      <p:sp>
        <p:nvSpPr>
          <p:cNvPr id="17" name="Shape 15"/>
          <p:cNvSpPr/>
          <p:nvPr/>
        </p:nvSpPr>
        <p:spPr>
          <a:xfrm>
            <a:off x="786384" y="2601468"/>
            <a:ext cx="182880" cy="0"/>
          </a:xfrm>
          <a:prstGeom prst="line">
            <a:avLst/>
          </a:prstGeom>
          <a:noFill/>
          <a:ln w="25400">
            <a:solidFill>
              <a:srgbClr val="FFB830"/>
            </a:solidFill>
            <a:prstDash val="solid"/>
          </a:ln>
        </p:spPr>
        <p:txBody>
          <a:bodyPr/>
          <a:lstStyle/>
          <a:p>
            <a:endParaRPr lang="en-US"/>
          </a:p>
        </p:txBody>
      </p:sp>
      <p:sp>
        <p:nvSpPr>
          <p:cNvPr id="18" name="Shape 16"/>
          <p:cNvSpPr/>
          <p:nvPr/>
        </p:nvSpPr>
        <p:spPr>
          <a:xfrm>
            <a:off x="969264" y="2350008"/>
            <a:ext cx="5193792" cy="502920"/>
          </a:xfrm>
          <a:prstGeom prst="rect">
            <a:avLst/>
          </a:prstGeom>
          <a:solidFill>
            <a:srgbClr val="1A2E44"/>
          </a:solidFill>
          <a:ln w="19050">
            <a:solidFill>
              <a:srgbClr val="FFB830"/>
            </a:solidFill>
            <a:prstDash val="solid"/>
          </a:ln>
          <a:effectLst>
            <a:outerShdw blurRad="101600" dist="38100" dir="8100000" algn="bl" rotWithShape="0">
              <a:srgbClr val="000000">
                <a:alpha val="25000"/>
              </a:srgbClr>
            </a:outerShdw>
          </a:effectLst>
        </p:spPr>
        <p:txBody>
          <a:bodyPr/>
          <a:lstStyle/>
          <a:p>
            <a:endParaRPr lang="en-US"/>
          </a:p>
        </p:txBody>
      </p:sp>
      <p:sp>
        <p:nvSpPr>
          <p:cNvPr id="19" name="Text 17"/>
          <p:cNvSpPr/>
          <p:nvPr/>
        </p:nvSpPr>
        <p:spPr>
          <a:xfrm>
            <a:off x="1097280" y="2359152"/>
            <a:ext cx="4937760" cy="457200"/>
          </a:xfrm>
          <a:prstGeom prst="rect">
            <a:avLst/>
          </a:prstGeom>
          <a:noFill/>
          <a:ln/>
        </p:spPr>
        <p:txBody>
          <a:bodyPr wrap="square" rtlCol="0" anchor="ctr"/>
          <a:lstStyle/>
          <a:p>
            <a:pPr marL="0" indent="0">
              <a:buNone/>
            </a:pPr>
            <a:r>
              <a:rPr lang="en-US" sz="1200" b="1" dirty="0">
                <a:solidFill>
                  <a:srgbClr val="FFB830"/>
                </a:solidFill>
                <a:latin typeface="Calibri" pitchFamily="34" charset="0"/>
                <a:ea typeface="Calibri" pitchFamily="34" charset="-122"/>
                <a:cs typeface="Calibri" pitchFamily="34" charset="-120"/>
              </a:rPr>
              <a:t>Selection  </a:t>
            </a:r>
            <a:r>
              <a:rPr lang="en-US" sz="1200" dirty="0">
                <a:solidFill>
                  <a:srgbClr val="E8F0F5"/>
                </a:solidFill>
                <a:latin typeface="Calibri" pitchFamily="34" charset="0"/>
                <a:ea typeface="Calibri" pitchFamily="34" charset="-122"/>
                <a:cs typeface="Calibri" pitchFamily="34" charset="-120"/>
              </a:rPr>
              <a:t>Select fit parents for reproduction</a:t>
            </a:r>
            <a:endParaRPr lang="en-US" sz="1200" dirty="0"/>
          </a:p>
        </p:txBody>
      </p:sp>
      <p:sp>
        <p:nvSpPr>
          <p:cNvPr id="20" name="Shape 18"/>
          <p:cNvSpPr/>
          <p:nvPr/>
        </p:nvSpPr>
        <p:spPr>
          <a:xfrm>
            <a:off x="365760" y="2999232"/>
            <a:ext cx="420624" cy="502920"/>
          </a:xfrm>
          <a:prstGeom prst="rect">
            <a:avLst/>
          </a:prstGeom>
          <a:solidFill>
            <a:srgbClr val="E05AFF"/>
          </a:solidFill>
          <a:ln w="12700">
            <a:solidFill>
              <a:srgbClr val="E05AFF"/>
            </a:solidFill>
            <a:prstDash val="solid"/>
          </a:ln>
        </p:spPr>
        <p:txBody>
          <a:bodyPr/>
          <a:lstStyle/>
          <a:p>
            <a:endParaRPr lang="en-US"/>
          </a:p>
        </p:txBody>
      </p:sp>
      <p:sp>
        <p:nvSpPr>
          <p:cNvPr id="21" name="Text 19"/>
          <p:cNvSpPr/>
          <p:nvPr/>
        </p:nvSpPr>
        <p:spPr>
          <a:xfrm>
            <a:off x="365760" y="2999232"/>
            <a:ext cx="420624" cy="502920"/>
          </a:xfrm>
          <a:prstGeom prst="rect">
            <a:avLst/>
          </a:prstGeom>
          <a:noFill/>
          <a:ln/>
        </p:spPr>
        <p:txBody>
          <a:bodyPr wrap="square" lIns="0" tIns="0" rIns="0" bIns="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04</a:t>
            </a:r>
            <a:endParaRPr lang="en-US" sz="1300" dirty="0"/>
          </a:p>
        </p:txBody>
      </p:sp>
      <p:sp>
        <p:nvSpPr>
          <p:cNvPr id="22" name="Shape 20"/>
          <p:cNvSpPr/>
          <p:nvPr/>
        </p:nvSpPr>
        <p:spPr>
          <a:xfrm>
            <a:off x="786384" y="3250692"/>
            <a:ext cx="182880" cy="0"/>
          </a:xfrm>
          <a:prstGeom prst="line">
            <a:avLst/>
          </a:prstGeom>
          <a:noFill/>
          <a:ln w="25400">
            <a:solidFill>
              <a:srgbClr val="E05AFF"/>
            </a:solidFill>
            <a:prstDash val="solid"/>
          </a:ln>
        </p:spPr>
        <p:txBody>
          <a:bodyPr/>
          <a:lstStyle/>
          <a:p>
            <a:endParaRPr lang="en-US"/>
          </a:p>
        </p:txBody>
      </p:sp>
      <p:sp>
        <p:nvSpPr>
          <p:cNvPr id="23" name="Shape 21"/>
          <p:cNvSpPr/>
          <p:nvPr/>
        </p:nvSpPr>
        <p:spPr>
          <a:xfrm>
            <a:off x="969264" y="2999232"/>
            <a:ext cx="5193792" cy="502920"/>
          </a:xfrm>
          <a:prstGeom prst="rect">
            <a:avLst/>
          </a:prstGeom>
          <a:solidFill>
            <a:srgbClr val="1A2E44"/>
          </a:solidFill>
          <a:ln w="19050">
            <a:solidFill>
              <a:srgbClr val="E05AFF"/>
            </a:solidFill>
            <a:prstDash val="solid"/>
          </a:ln>
          <a:effectLst>
            <a:outerShdw blurRad="101600" dist="38100" dir="8100000" algn="bl" rotWithShape="0">
              <a:srgbClr val="000000">
                <a:alpha val="25000"/>
              </a:srgbClr>
            </a:outerShdw>
          </a:effectLst>
        </p:spPr>
        <p:txBody>
          <a:bodyPr/>
          <a:lstStyle/>
          <a:p>
            <a:endParaRPr lang="en-US"/>
          </a:p>
        </p:txBody>
      </p:sp>
      <p:sp>
        <p:nvSpPr>
          <p:cNvPr id="24" name="Text 22"/>
          <p:cNvSpPr/>
          <p:nvPr/>
        </p:nvSpPr>
        <p:spPr>
          <a:xfrm>
            <a:off x="1097280" y="3008376"/>
            <a:ext cx="4937760" cy="457200"/>
          </a:xfrm>
          <a:prstGeom prst="rect">
            <a:avLst/>
          </a:prstGeom>
          <a:noFill/>
          <a:ln/>
        </p:spPr>
        <p:txBody>
          <a:bodyPr wrap="square" rtlCol="0" anchor="ctr"/>
          <a:lstStyle/>
          <a:p>
            <a:pPr marL="0" indent="0">
              <a:buNone/>
            </a:pPr>
            <a:r>
              <a:rPr lang="en-US" sz="1200" b="1" dirty="0">
                <a:solidFill>
                  <a:srgbClr val="E05AFF"/>
                </a:solidFill>
                <a:latin typeface="Calibri" pitchFamily="34" charset="0"/>
                <a:ea typeface="Calibri" pitchFamily="34" charset="-122"/>
                <a:cs typeface="Calibri" pitchFamily="34" charset="-120"/>
              </a:rPr>
              <a:t>Crossover  </a:t>
            </a:r>
            <a:r>
              <a:rPr lang="en-US" sz="1200" dirty="0">
                <a:solidFill>
                  <a:srgbClr val="E8F0F5"/>
                </a:solidFill>
                <a:latin typeface="Calibri" pitchFamily="34" charset="0"/>
                <a:ea typeface="Calibri" pitchFamily="34" charset="-122"/>
                <a:cs typeface="Calibri" pitchFamily="34" charset="-120"/>
              </a:rPr>
              <a:t>Combine parent chromosomes to produce offspring</a:t>
            </a:r>
            <a:endParaRPr lang="en-US" sz="1200" dirty="0"/>
          </a:p>
        </p:txBody>
      </p:sp>
      <p:sp>
        <p:nvSpPr>
          <p:cNvPr id="25" name="Shape 23"/>
          <p:cNvSpPr/>
          <p:nvPr/>
        </p:nvSpPr>
        <p:spPr>
          <a:xfrm>
            <a:off x="365760" y="3648456"/>
            <a:ext cx="420624" cy="502920"/>
          </a:xfrm>
          <a:prstGeom prst="rect">
            <a:avLst/>
          </a:prstGeom>
          <a:solidFill>
            <a:srgbClr val="FF6B6B"/>
          </a:solidFill>
          <a:ln w="12700">
            <a:solidFill>
              <a:srgbClr val="FF6B6B"/>
            </a:solidFill>
            <a:prstDash val="solid"/>
          </a:ln>
        </p:spPr>
        <p:txBody>
          <a:bodyPr/>
          <a:lstStyle/>
          <a:p>
            <a:endParaRPr lang="en-US"/>
          </a:p>
        </p:txBody>
      </p:sp>
      <p:sp>
        <p:nvSpPr>
          <p:cNvPr id="26" name="Text 24"/>
          <p:cNvSpPr/>
          <p:nvPr/>
        </p:nvSpPr>
        <p:spPr>
          <a:xfrm>
            <a:off x="365760" y="3648456"/>
            <a:ext cx="420624" cy="502920"/>
          </a:xfrm>
          <a:prstGeom prst="rect">
            <a:avLst/>
          </a:prstGeom>
          <a:noFill/>
          <a:ln/>
        </p:spPr>
        <p:txBody>
          <a:bodyPr wrap="square" lIns="0" tIns="0" rIns="0" bIns="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05</a:t>
            </a:r>
            <a:endParaRPr lang="en-US" sz="1300" dirty="0"/>
          </a:p>
        </p:txBody>
      </p:sp>
      <p:sp>
        <p:nvSpPr>
          <p:cNvPr id="27" name="Shape 25"/>
          <p:cNvSpPr/>
          <p:nvPr/>
        </p:nvSpPr>
        <p:spPr>
          <a:xfrm>
            <a:off x="786384" y="3899916"/>
            <a:ext cx="182880" cy="0"/>
          </a:xfrm>
          <a:prstGeom prst="line">
            <a:avLst/>
          </a:prstGeom>
          <a:noFill/>
          <a:ln w="25400">
            <a:solidFill>
              <a:srgbClr val="FF6B6B"/>
            </a:solidFill>
            <a:prstDash val="solid"/>
          </a:ln>
        </p:spPr>
        <p:txBody>
          <a:bodyPr/>
          <a:lstStyle/>
          <a:p>
            <a:endParaRPr lang="en-US"/>
          </a:p>
        </p:txBody>
      </p:sp>
      <p:sp>
        <p:nvSpPr>
          <p:cNvPr id="28" name="Shape 26"/>
          <p:cNvSpPr/>
          <p:nvPr/>
        </p:nvSpPr>
        <p:spPr>
          <a:xfrm>
            <a:off x="969264" y="3648456"/>
            <a:ext cx="5193792" cy="502920"/>
          </a:xfrm>
          <a:prstGeom prst="rect">
            <a:avLst/>
          </a:prstGeom>
          <a:solidFill>
            <a:srgbClr val="1A2E44"/>
          </a:solidFill>
          <a:ln w="19050">
            <a:solidFill>
              <a:srgbClr val="FF6B6B"/>
            </a:solidFill>
            <a:prstDash val="solid"/>
          </a:ln>
          <a:effectLst>
            <a:outerShdw blurRad="101600" dist="38100" dir="8100000" algn="bl" rotWithShape="0">
              <a:srgbClr val="000000">
                <a:alpha val="25000"/>
              </a:srgbClr>
            </a:outerShdw>
          </a:effectLst>
        </p:spPr>
        <p:txBody>
          <a:bodyPr/>
          <a:lstStyle/>
          <a:p>
            <a:endParaRPr lang="en-US"/>
          </a:p>
        </p:txBody>
      </p:sp>
      <p:sp>
        <p:nvSpPr>
          <p:cNvPr id="29" name="Text 27"/>
          <p:cNvSpPr/>
          <p:nvPr/>
        </p:nvSpPr>
        <p:spPr>
          <a:xfrm>
            <a:off x="1097280" y="3657600"/>
            <a:ext cx="4937760" cy="457200"/>
          </a:xfrm>
          <a:prstGeom prst="rect">
            <a:avLst/>
          </a:prstGeom>
          <a:noFill/>
          <a:ln/>
        </p:spPr>
        <p:txBody>
          <a:bodyPr wrap="square" rtlCol="0" anchor="ctr"/>
          <a:lstStyle/>
          <a:p>
            <a:pPr marL="0" indent="0">
              <a:buNone/>
            </a:pPr>
            <a:r>
              <a:rPr lang="en-US" sz="1200" b="1" dirty="0">
                <a:solidFill>
                  <a:srgbClr val="FF6B6B"/>
                </a:solidFill>
                <a:latin typeface="Calibri" pitchFamily="34" charset="0"/>
                <a:ea typeface="Calibri" pitchFamily="34" charset="-122"/>
                <a:cs typeface="Calibri" pitchFamily="34" charset="-120"/>
              </a:rPr>
              <a:t>Mutation  </a:t>
            </a:r>
            <a:r>
              <a:rPr lang="en-US" sz="1200" dirty="0">
                <a:solidFill>
                  <a:srgbClr val="E8F0F5"/>
                </a:solidFill>
                <a:latin typeface="Calibri" pitchFamily="34" charset="0"/>
                <a:ea typeface="Calibri" pitchFamily="34" charset="-122"/>
                <a:cs typeface="Calibri" pitchFamily="34" charset="-120"/>
              </a:rPr>
              <a:t>Randomly alter genes to maintain diversity</a:t>
            </a:r>
            <a:endParaRPr lang="en-US" sz="1200" dirty="0"/>
          </a:p>
        </p:txBody>
      </p:sp>
      <p:sp>
        <p:nvSpPr>
          <p:cNvPr id="30" name="Shape 28"/>
          <p:cNvSpPr/>
          <p:nvPr/>
        </p:nvSpPr>
        <p:spPr>
          <a:xfrm>
            <a:off x="365760" y="4297680"/>
            <a:ext cx="420624" cy="502920"/>
          </a:xfrm>
          <a:prstGeom prst="rect">
            <a:avLst/>
          </a:prstGeom>
          <a:solidFill>
            <a:srgbClr val="00A3FF"/>
          </a:solidFill>
          <a:ln w="12700">
            <a:solidFill>
              <a:srgbClr val="00A3FF"/>
            </a:solidFill>
            <a:prstDash val="solid"/>
          </a:ln>
        </p:spPr>
        <p:txBody>
          <a:bodyPr/>
          <a:lstStyle/>
          <a:p>
            <a:endParaRPr lang="en-US"/>
          </a:p>
        </p:txBody>
      </p:sp>
      <p:sp>
        <p:nvSpPr>
          <p:cNvPr id="31" name="Text 29"/>
          <p:cNvSpPr/>
          <p:nvPr/>
        </p:nvSpPr>
        <p:spPr>
          <a:xfrm>
            <a:off x="365760" y="4297680"/>
            <a:ext cx="420624" cy="502920"/>
          </a:xfrm>
          <a:prstGeom prst="rect">
            <a:avLst/>
          </a:prstGeom>
          <a:noFill/>
          <a:ln/>
        </p:spPr>
        <p:txBody>
          <a:bodyPr wrap="square" lIns="0" tIns="0" rIns="0" bIns="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06</a:t>
            </a:r>
            <a:endParaRPr lang="en-US" sz="1300" dirty="0"/>
          </a:p>
        </p:txBody>
      </p:sp>
      <p:sp>
        <p:nvSpPr>
          <p:cNvPr id="32" name="Shape 30"/>
          <p:cNvSpPr/>
          <p:nvPr/>
        </p:nvSpPr>
        <p:spPr>
          <a:xfrm>
            <a:off x="786384" y="4549140"/>
            <a:ext cx="182880" cy="0"/>
          </a:xfrm>
          <a:prstGeom prst="line">
            <a:avLst/>
          </a:prstGeom>
          <a:noFill/>
          <a:ln w="25400">
            <a:solidFill>
              <a:srgbClr val="00A3FF"/>
            </a:solidFill>
            <a:prstDash val="solid"/>
          </a:ln>
        </p:spPr>
        <p:txBody>
          <a:bodyPr/>
          <a:lstStyle/>
          <a:p>
            <a:endParaRPr lang="en-US"/>
          </a:p>
        </p:txBody>
      </p:sp>
      <p:sp>
        <p:nvSpPr>
          <p:cNvPr id="33" name="Shape 31"/>
          <p:cNvSpPr/>
          <p:nvPr/>
        </p:nvSpPr>
        <p:spPr>
          <a:xfrm>
            <a:off x="969264" y="4297680"/>
            <a:ext cx="5193792" cy="502920"/>
          </a:xfrm>
          <a:prstGeom prst="rect">
            <a:avLst/>
          </a:prstGeom>
          <a:solidFill>
            <a:srgbClr val="1A2E44"/>
          </a:solidFill>
          <a:ln w="19050">
            <a:solidFill>
              <a:srgbClr val="00A3FF"/>
            </a:solidFill>
            <a:prstDash val="solid"/>
          </a:ln>
          <a:effectLst>
            <a:outerShdw blurRad="101600" dist="38100" dir="8100000" algn="bl" rotWithShape="0">
              <a:srgbClr val="000000">
                <a:alpha val="25000"/>
              </a:srgbClr>
            </a:outerShdw>
          </a:effectLst>
        </p:spPr>
        <p:txBody>
          <a:bodyPr/>
          <a:lstStyle/>
          <a:p>
            <a:endParaRPr lang="en-US"/>
          </a:p>
        </p:txBody>
      </p:sp>
      <p:sp>
        <p:nvSpPr>
          <p:cNvPr id="34" name="Text 32"/>
          <p:cNvSpPr/>
          <p:nvPr/>
        </p:nvSpPr>
        <p:spPr>
          <a:xfrm>
            <a:off x="1097280" y="4306824"/>
            <a:ext cx="4937760" cy="457200"/>
          </a:xfrm>
          <a:prstGeom prst="rect">
            <a:avLst/>
          </a:prstGeom>
          <a:noFill/>
          <a:ln/>
        </p:spPr>
        <p:txBody>
          <a:bodyPr wrap="square" rtlCol="0" anchor="ctr"/>
          <a:lstStyle/>
          <a:p>
            <a:pPr marL="0" indent="0">
              <a:buNone/>
            </a:pPr>
            <a:r>
              <a:rPr lang="en-US" sz="1200" b="1" dirty="0">
                <a:solidFill>
                  <a:srgbClr val="00A3FF"/>
                </a:solidFill>
                <a:latin typeface="Calibri" pitchFamily="34" charset="0"/>
                <a:ea typeface="Calibri" pitchFamily="34" charset="-122"/>
                <a:cs typeface="Calibri" pitchFamily="34" charset="-120"/>
              </a:rPr>
              <a:t>Replacement  </a:t>
            </a:r>
            <a:r>
              <a:rPr lang="en-US" sz="1200" dirty="0">
                <a:solidFill>
                  <a:srgbClr val="E8F0F5"/>
                </a:solidFill>
                <a:latin typeface="Calibri" pitchFamily="34" charset="0"/>
                <a:ea typeface="Calibri" pitchFamily="34" charset="-122"/>
                <a:cs typeface="Calibri" pitchFamily="34" charset="-120"/>
              </a:rPr>
              <a:t>Replace old population with new generation</a:t>
            </a:r>
            <a:endParaRPr lang="en-US" sz="1200" dirty="0"/>
          </a:p>
        </p:txBody>
      </p:sp>
      <p:sp>
        <p:nvSpPr>
          <p:cNvPr id="35" name="Shape 33"/>
          <p:cNvSpPr/>
          <p:nvPr/>
        </p:nvSpPr>
        <p:spPr>
          <a:xfrm>
            <a:off x="6400800" y="1005840"/>
            <a:ext cx="2743200" cy="3657600"/>
          </a:xfrm>
          <a:prstGeom prst="rect">
            <a:avLst/>
          </a:prstGeom>
          <a:solidFill>
            <a:srgbClr val="112233"/>
          </a:solidFill>
          <a:ln w="19050">
            <a:solidFill>
              <a:srgbClr val="FFB830"/>
            </a:solidFill>
            <a:prstDash val="solid"/>
          </a:ln>
          <a:effectLst>
            <a:outerShdw blurRad="101600" dist="38100" dir="8100000" algn="bl" rotWithShape="0">
              <a:srgbClr val="000000">
                <a:alpha val="25000"/>
              </a:srgbClr>
            </a:outerShdw>
          </a:effectLst>
        </p:spPr>
        <p:txBody>
          <a:bodyPr/>
          <a:lstStyle/>
          <a:p>
            <a:endParaRPr lang="en-US"/>
          </a:p>
        </p:txBody>
      </p:sp>
      <p:sp>
        <p:nvSpPr>
          <p:cNvPr id="36" name="Text 34"/>
          <p:cNvSpPr/>
          <p:nvPr/>
        </p:nvSpPr>
        <p:spPr>
          <a:xfrm>
            <a:off x="6492824" y="1088136"/>
            <a:ext cx="2560320" cy="329184"/>
          </a:xfrm>
          <a:prstGeom prst="rect">
            <a:avLst/>
          </a:prstGeom>
          <a:noFill/>
          <a:ln/>
        </p:spPr>
        <p:txBody>
          <a:bodyPr wrap="square" rtlCol="0" anchor="ctr"/>
          <a:lstStyle/>
          <a:p>
            <a:pPr marL="0" indent="0">
              <a:buNone/>
            </a:pPr>
            <a:r>
              <a:rPr lang="en-US" sz="1200" b="1" dirty="0">
                <a:solidFill>
                  <a:srgbClr val="FFB830"/>
                </a:solidFill>
                <a:latin typeface="Calibri" pitchFamily="34" charset="0"/>
                <a:ea typeface="Calibri" pitchFamily="34" charset="-122"/>
                <a:cs typeface="Calibri" pitchFamily="34" charset="-120"/>
              </a:rPr>
              <a:t>🔁  Evolution Loop</a:t>
            </a:r>
            <a:endParaRPr lang="en-US" sz="1200" dirty="0"/>
          </a:p>
        </p:txBody>
      </p:sp>
      <p:sp>
        <p:nvSpPr>
          <p:cNvPr id="37" name="Text 35"/>
          <p:cNvSpPr/>
          <p:nvPr/>
        </p:nvSpPr>
        <p:spPr>
          <a:xfrm>
            <a:off x="6483096" y="1463040"/>
            <a:ext cx="2514600" cy="1645920"/>
          </a:xfrm>
          <a:prstGeom prst="rect">
            <a:avLst/>
          </a:prstGeom>
          <a:noFill/>
          <a:ln/>
        </p:spPr>
        <p:txBody>
          <a:bodyPr wrap="square" rtlCol="0" anchor="ctr"/>
          <a:lstStyle/>
          <a:p>
            <a:pPr marL="0" indent="0">
              <a:spcAft>
                <a:spcPts val="800"/>
              </a:spcAft>
              <a:buNone/>
            </a:pPr>
            <a:r>
              <a:rPr lang="en-US" sz="1200" dirty="0">
                <a:solidFill>
                  <a:srgbClr val="E8F0F5"/>
                </a:solidFill>
                <a:latin typeface="Calibri" pitchFamily="34" charset="0"/>
                <a:ea typeface="Calibri" pitchFamily="34" charset="-122"/>
                <a:cs typeface="Calibri" pitchFamily="34" charset="-120"/>
              </a:rPr>
              <a:t>The algorithm repeats phases 2-6 until:</a:t>
            </a:r>
            <a:endParaRPr lang="en-US" sz="1200" dirty="0"/>
          </a:p>
          <a:p>
            <a:pPr marL="0" indent="0">
              <a:spcAft>
                <a:spcPts val="800"/>
              </a:spcAft>
              <a:buNone/>
            </a:pPr>
            <a:r>
              <a:rPr lang="en-US" sz="1200" dirty="0">
                <a:solidFill>
                  <a:srgbClr val="E8F0F5"/>
                </a:solidFill>
                <a:latin typeface="Calibri" pitchFamily="34" charset="0"/>
                <a:ea typeface="Calibri" pitchFamily="34" charset="-122"/>
                <a:cs typeface="Calibri" pitchFamily="34" charset="-120"/>
              </a:rPr>
              <a:t>• A target fitness is reached</a:t>
            </a:r>
            <a:endParaRPr lang="en-US" sz="1200" dirty="0"/>
          </a:p>
          <a:p>
            <a:pPr marL="0" indent="0">
              <a:spcAft>
                <a:spcPts val="800"/>
              </a:spcAft>
              <a:buNone/>
            </a:pPr>
            <a:r>
              <a:rPr lang="en-US" sz="1200" dirty="0">
                <a:solidFill>
                  <a:srgbClr val="E8F0F5"/>
                </a:solidFill>
                <a:latin typeface="Calibri" pitchFamily="34" charset="0"/>
                <a:ea typeface="Calibri" pitchFamily="34" charset="-122"/>
                <a:cs typeface="Calibri" pitchFamily="34" charset="-120"/>
              </a:rPr>
              <a:t>• Max generations hit</a:t>
            </a:r>
            <a:endParaRPr lang="en-US" sz="1200" dirty="0"/>
          </a:p>
          <a:p>
            <a:pPr marL="0" indent="0">
              <a:spcAft>
                <a:spcPts val="800"/>
              </a:spcAft>
              <a:buNone/>
            </a:pPr>
            <a:r>
              <a:rPr lang="en-US" sz="1200" dirty="0">
                <a:solidFill>
                  <a:srgbClr val="E8F0F5"/>
                </a:solidFill>
                <a:latin typeface="Calibri" pitchFamily="34" charset="0"/>
                <a:ea typeface="Calibri" pitchFamily="34" charset="-122"/>
                <a:cs typeface="Calibri" pitchFamily="34" charset="-120"/>
              </a:rPr>
              <a:t>• No improvement observed</a:t>
            </a:r>
            <a:endParaRPr lang="en-US" sz="1200" dirty="0"/>
          </a:p>
        </p:txBody>
      </p:sp>
      <p:sp>
        <p:nvSpPr>
          <p:cNvPr id="38" name="Shape 36"/>
          <p:cNvSpPr/>
          <p:nvPr/>
        </p:nvSpPr>
        <p:spPr>
          <a:xfrm>
            <a:off x="6455664" y="3218688"/>
            <a:ext cx="2633472" cy="347472"/>
          </a:xfrm>
          <a:prstGeom prst="rect">
            <a:avLst/>
          </a:prstGeom>
          <a:solidFill>
            <a:srgbClr val="FFB830"/>
          </a:solidFill>
          <a:ln w="12700">
            <a:solidFill>
              <a:srgbClr val="FFB830"/>
            </a:solidFill>
            <a:prstDash val="solid"/>
          </a:ln>
        </p:spPr>
        <p:txBody>
          <a:bodyPr/>
          <a:lstStyle/>
          <a:p>
            <a:endParaRPr lang="en-US"/>
          </a:p>
        </p:txBody>
      </p:sp>
      <p:sp>
        <p:nvSpPr>
          <p:cNvPr id="39" name="Text 37"/>
          <p:cNvSpPr/>
          <p:nvPr/>
        </p:nvSpPr>
        <p:spPr>
          <a:xfrm>
            <a:off x="6483096" y="3218688"/>
            <a:ext cx="2633472" cy="347472"/>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 Key Operators: Selection · Crossover · Mutation</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256032"/>
            <a:ext cx="64008" cy="502920"/>
          </a:xfrm>
          <a:prstGeom prst="rect">
            <a:avLst/>
          </a:prstGeom>
          <a:solidFill>
            <a:srgbClr val="00C896"/>
          </a:solidFill>
          <a:ln w="12700">
            <a:solidFill>
              <a:srgbClr val="00C896"/>
            </a:solidFill>
            <a:prstDash val="solid"/>
          </a:ln>
        </p:spPr>
        <p:txBody>
          <a:bodyPr/>
          <a:lstStyle/>
          <a:p>
            <a:endParaRPr lang="en-US"/>
          </a:p>
        </p:txBody>
      </p:sp>
      <p:sp>
        <p:nvSpPr>
          <p:cNvPr id="3" name="Text 1"/>
          <p:cNvSpPr/>
          <p:nvPr/>
        </p:nvSpPr>
        <p:spPr>
          <a:xfrm>
            <a:off x="512064" y="256032"/>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Genetic Operators</a:t>
            </a:r>
            <a:endParaRPr lang="en-US" sz="2800" dirty="0"/>
          </a:p>
        </p:txBody>
      </p:sp>
      <p:sp>
        <p:nvSpPr>
          <p:cNvPr id="4" name="Shape 2"/>
          <p:cNvSpPr/>
          <p:nvPr/>
        </p:nvSpPr>
        <p:spPr>
          <a:xfrm>
            <a:off x="365760" y="868680"/>
            <a:ext cx="8412480" cy="0"/>
          </a:xfrm>
          <a:prstGeom prst="line">
            <a:avLst/>
          </a:prstGeom>
          <a:noFill/>
          <a:ln w="12700">
            <a:solidFill>
              <a:srgbClr val="00C896">
                <a:alpha val="50000"/>
              </a:srgbClr>
            </a:solidFill>
            <a:prstDash val="solid"/>
          </a:ln>
        </p:spPr>
        <p:txBody>
          <a:bodyPr/>
          <a:lstStyle/>
          <a:p>
            <a:endParaRPr lang="en-US"/>
          </a:p>
        </p:txBody>
      </p:sp>
      <p:sp>
        <p:nvSpPr>
          <p:cNvPr id="5" name="Text 3"/>
          <p:cNvSpPr/>
          <p:nvPr/>
        </p:nvSpPr>
        <p:spPr>
          <a:xfrm>
            <a:off x="365760" y="1005840"/>
            <a:ext cx="8412480" cy="502920"/>
          </a:xfrm>
          <a:prstGeom prst="rect">
            <a:avLst/>
          </a:prstGeom>
          <a:noFill/>
          <a:ln/>
        </p:spPr>
        <p:txBody>
          <a:bodyPr wrap="square" rtlCol="0" anchor="ctr"/>
          <a:lstStyle/>
          <a:p>
            <a:pPr marL="0" indent="0">
              <a:buNone/>
            </a:pPr>
            <a:r>
              <a:rPr lang="en-US" sz="1300" dirty="0">
                <a:solidFill>
                  <a:srgbClr val="E8F0F5"/>
                </a:solidFill>
                <a:latin typeface="Calibri" pitchFamily="34" charset="0"/>
                <a:ea typeface="Calibri" pitchFamily="34" charset="-122"/>
                <a:cs typeface="Calibri" pitchFamily="34" charset="-120"/>
              </a:rPr>
              <a:t>Genetic Operators are mechanisms that transform the population from one generation to the next, mimicking biological processes.</a:t>
            </a:r>
            <a:endParaRPr lang="en-US" sz="1300" dirty="0"/>
          </a:p>
        </p:txBody>
      </p:sp>
      <p:sp>
        <p:nvSpPr>
          <p:cNvPr id="6" name="Shape 4"/>
          <p:cNvSpPr/>
          <p:nvPr/>
        </p:nvSpPr>
        <p:spPr>
          <a:xfrm>
            <a:off x="365760" y="1719072"/>
            <a:ext cx="8412480" cy="960120"/>
          </a:xfrm>
          <a:prstGeom prst="rect">
            <a:avLst/>
          </a:prstGeom>
          <a:solidFill>
            <a:srgbClr val="1A2E44"/>
          </a:solidFill>
          <a:ln w="19050">
            <a:solidFill>
              <a:srgbClr val="00C896"/>
            </a:solidFill>
            <a:prstDash val="solid"/>
          </a:ln>
          <a:effectLst>
            <a:outerShdw blurRad="101600" dist="38100" dir="8100000" algn="bl" rotWithShape="0">
              <a:srgbClr val="000000">
                <a:alpha val="25000"/>
              </a:srgbClr>
            </a:outerShdw>
          </a:effectLst>
        </p:spPr>
        <p:txBody>
          <a:bodyPr/>
          <a:lstStyle/>
          <a:p>
            <a:endParaRPr lang="en-US"/>
          </a:p>
        </p:txBody>
      </p:sp>
      <p:sp>
        <p:nvSpPr>
          <p:cNvPr id="7" name="Shape 5"/>
          <p:cNvSpPr/>
          <p:nvPr/>
        </p:nvSpPr>
        <p:spPr>
          <a:xfrm>
            <a:off x="365760" y="1719072"/>
            <a:ext cx="73152" cy="960120"/>
          </a:xfrm>
          <a:prstGeom prst="rect">
            <a:avLst/>
          </a:prstGeom>
          <a:solidFill>
            <a:srgbClr val="00C896"/>
          </a:solidFill>
          <a:ln w="12700">
            <a:solidFill>
              <a:srgbClr val="00C896"/>
            </a:solidFill>
            <a:prstDash val="solid"/>
          </a:ln>
        </p:spPr>
        <p:txBody>
          <a:bodyPr/>
          <a:lstStyle/>
          <a:p>
            <a:endParaRPr lang="en-US"/>
          </a:p>
        </p:txBody>
      </p:sp>
      <p:sp>
        <p:nvSpPr>
          <p:cNvPr id="8" name="Text 6"/>
          <p:cNvSpPr/>
          <p:nvPr/>
        </p:nvSpPr>
        <p:spPr>
          <a:xfrm>
            <a:off x="548640" y="1773936"/>
            <a:ext cx="2743200" cy="365760"/>
          </a:xfrm>
          <a:prstGeom prst="rect">
            <a:avLst/>
          </a:prstGeom>
          <a:noFill/>
          <a:ln/>
        </p:spPr>
        <p:txBody>
          <a:bodyPr wrap="square" lIns="0" tIns="0" rIns="0" bIns="0" rtlCol="0" anchor="ctr"/>
          <a:lstStyle/>
          <a:p>
            <a:pPr marL="0" indent="0">
              <a:buNone/>
            </a:pPr>
            <a:r>
              <a:rPr lang="en-US" sz="1700" b="1" dirty="0">
                <a:solidFill>
                  <a:srgbClr val="00C896"/>
                </a:solidFill>
                <a:latin typeface="Calibri" pitchFamily="34" charset="0"/>
                <a:ea typeface="Calibri" pitchFamily="34" charset="-122"/>
                <a:cs typeface="Calibri" pitchFamily="34" charset="-120"/>
              </a:rPr>
              <a:t>🎯  Selection</a:t>
            </a:r>
            <a:endParaRPr lang="en-US" sz="1700" dirty="0"/>
          </a:p>
        </p:txBody>
      </p:sp>
      <p:sp>
        <p:nvSpPr>
          <p:cNvPr id="9" name="Text 7"/>
          <p:cNvSpPr/>
          <p:nvPr/>
        </p:nvSpPr>
        <p:spPr>
          <a:xfrm>
            <a:off x="548640" y="2176272"/>
            <a:ext cx="8046720" cy="411480"/>
          </a:xfrm>
          <a:prstGeom prst="rect">
            <a:avLst/>
          </a:prstGeom>
          <a:noFill/>
          <a:ln/>
        </p:spPr>
        <p:txBody>
          <a:bodyPr wrap="square" rtlCol="0" anchor="ctr"/>
          <a:lstStyle/>
          <a:p>
            <a:pPr marL="0" indent="0">
              <a:buNone/>
            </a:pPr>
            <a:r>
              <a:rPr lang="en-US" sz="1250" dirty="0">
                <a:solidFill>
                  <a:srgbClr val="E8F0F5"/>
                </a:solidFill>
                <a:latin typeface="Calibri" pitchFamily="34" charset="0"/>
                <a:ea typeface="Calibri" pitchFamily="34" charset="-122"/>
                <a:cs typeface="Calibri" pitchFamily="34" charset="-120"/>
              </a:rPr>
              <a:t>Choose the fittest individuals from the current population to act as parents for the next generation.</a:t>
            </a:r>
            <a:endParaRPr lang="en-US" sz="1250" dirty="0"/>
          </a:p>
        </p:txBody>
      </p:sp>
      <p:sp>
        <p:nvSpPr>
          <p:cNvPr id="10" name="Shape 8"/>
          <p:cNvSpPr/>
          <p:nvPr/>
        </p:nvSpPr>
        <p:spPr>
          <a:xfrm>
            <a:off x="365760" y="2816352"/>
            <a:ext cx="8412480" cy="960120"/>
          </a:xfrm>
          <a:prstGeom prst="rect">
            <a:avLst/>
          </a:prstGeom>
          <a:solidFill>
            <a:srgbClr val="1A2E44"/>
          </a:solidFill>
          <a:ln w="19050">
            <a:solidFill>
              <a:srgbClr val="00A3FF"/>
            </a:solidFill>
            <a:prstDash val="solid"/>
          </a:ln>
          <a:effectLst>
            <a:outerShdw blurRad="101600" dist="38100" dir="8100000" algn="bl" rotWithShape="0">
              <a:srgbClr val="000000">
                <a:alpha val="25000"/>
              </a:srgbClr>
            </a:outerShdw>
          </a:effectLst>
        </p:spPr>
        <p:txBody>
          <a:bodyPr/>
          <a:lstStyle/>
          <a:p>
            <a:endParaRPr lang="en-US"/>
          </a:p>
        </p:txBody>
      </p:sp>
      <p:sp>
        <p:nvSpPr>
          <p:cNvPr id="11" name="Shape 9"/>
          <p:cNvSpPr/>
          <p:nvPr/>
        </p:nvSpPr>
        <p:spPr>
          <a:xfrm>
            <a:off x="365760" y="2816352"/>
            <a:ext cx="73152" cy="960120"/>
          </a:xfrm>
          <a:prstGeom prst="rect">
            <a:avLst/>
          </a:prstGeom>
          <a:solidFill>
            <a:srgbClr val="00A3FF"/>
          </a:solidFill>
          <a:ln w="12700">
            <a:solidFill>
              <a:srgbClr val="00A3FF"/>
            </a:solidFill>
            <a:prstDash val="solid"/>
          </a:ln>
        </p:spPr>
        <p:txBody>
          <a:bodyPr/>
          <a:lstStyle/>
          <a:p>
            <a:endParaRPr lang="en-US"/>
          </a:p>
        </p:txBody>
      </p:sp>
      <p:sp>
        <p:nvSpPr>
          <p:cNvPr id="12" name="Text 10"/>
          <p:cNvSpPr/>
          <p:nvPr/>
        </p:nvSpPr>
        <p:spPr>
          <a:xfrm>
            <a:off x="548640" y="2871216"/>
            <a:ext cx="2743200" cy="365760"/>
          </a:xfrm>
          <a:prstGeom prst="rect">
            <a:avLst/>
          </a:prstGeom>
          <a:noFill/>
          <a:ln/>
        </p:spPr>
        <p:txBody>
          <a:bodyPr wrap="square" lIns="0" tIns="0" rIns="0" bIns="0" rtlCol="0" anchor="ctr"/>
          <a:lstStyle/>
          <a:p>
            <a:pPr marL="0" indent="0">
              <a:buNone/>
            </a:pPr>
            <a:r>
              <a:rPr lang="en-US" sz="1700" b="1" dirty="0">
                <a:solidFill>
                  <a:srgbClr val="00A3FF"/>
                </a:solidFill>
                <a:latin typeface="Calibri" pitchFamily="34" charset="0"/>
                <a:ea typeface="Calibri" pitchFamily="34" charset="-122"/>
                <a:cs typeface="Calibri" pitchFamily="34" charset="-120"/>
              </a:rPr>
              <a:t>✂️  Crossover</a:t>
            </a:r>
            <a:endParaRPr lang="en-US" sz="1700" dirty="0"/>
          </a:p>
        </p:txBody>
      </p:sp>
      <p:sp>
        <p:nvSpPr>
          <p:cNvPr id="13" name="Text 11"/>
          <p:cNvSpPr/>
          <p:nvPr/>
        </p:nvSpPr>
        <p:spPr>
          <a:xfrm>
            <a:off x="548640" y="3273552"/>
            <a:ext cx="8046720" cy="411480"/>
          </a:xfrm>
          <a:prstGeom prst="rect">
            <a:avLst/>
          </a:prstGeom>
          <a:noFill/>
          <a:ln/>
        </p:spPr>
        <p:txBody>
          <a:bodyPr wrap="square" rtlCol="0" anchor="ctr"/>
          <a:lstStyle/>
          <a:p>
            <a:pPr marL="0" indent="0">
              <a:buNone/>
            </a:pPr>
            <a:r>
              <a:rPr lang="en-US" sz="1250" dirty="0">
                <a:solidFill>
                  <a:srgbClr val="E8F0F5"/>
                </a:solidFill>
                <a:latin typeface="Calibri" pitchFamily="34" charset="0"/>
                <a:ea typeface="Calibri" pitchFamily="34" charset="-122"/>
                <a:cs typeface="Calibri" pitchFamily="34" charset="-120"/>
              </a:rPr>
              <a:t>Combine genetic material from two (or more) parents to produce new offspring.</a:t>
            </a:r>
            <a:endParaRPr lang="en-US" sz="1250" dirty="0"/>
          </a:p>
        </p:txBody>
      </p:sp>
      <p:sp>
        <p:nvSpPr>
          <p:cNvPr id="14" name="Shape 12"/>
          <p:cNvSpPr/>
          <p:nvPr/>
        </p:nvSpPr>
        <p:spPr>
          <a:xfrm>
            <a:off x="365760" y="3913632"/>
            <a:ext cx="8412480" cy="960120"/>
          </a:xfrm>
          <a:prstGeom prst="rect">
            <a:avLst/>
          </a:prstGeom>
          <a:solidFill>
            <a:srgbClr val="1A2E44"/>
          </a:solidFill>
          <a:ln w="19050">
            <a:solidFill>
              <a:srgbClr val="FF6B6B"/>
            </a:solidFill>
            <a:prstDash val="solid"/>
          </a:ln>
          <a:effectLst>
            <a:outerShdw blurRad="101600" dist="38100" dir="8100000" algn="bl" rotWithShape="0">
              <a:srgbClr val="000000">
                <a:alpha val="25000"/>
              </a:srgbClr>
            </a:outerShdw>
          </a:effectLst>
        </p:spPr>
        <p:txBody>
          <a:bodyPr/>
          <a:lstStyle/>
          <a:p>
            <a:endParaRPr lang="en-US"/>
          </a:p>
        </p:txBody>
      </p:sp>
      <p:sp>
        <p:nvSpPr>
          <p:cNvPr id="15" name="Shape 13"/>
          <p:cNvSpPr/>
          <p:nvPr/>
        </p:nvSpPr>
        <p:spPr>
          <a:xfrm>
            <a:off x="365760" y="3913632"/>
            <a:ext cx="73152" cy="960120"/>
          </a:xfrm>
          <a:prstGeom prst="rect">
            <a:avLst/>
          </a:prstGeom>
          <a:solidFill>
            <a:srgbClr val="FF6B6B"/>
          </a:solidFill>
          <a:ln w="12700">
            <a:solidFill>
              <a:srgbClr val="FF6B6B"/>
            </a:solidFill>
            <a:prstDash val="solid"/>
          </a:ln>
        </p:spPr>
        <p:txBody>
          <a:bodyPr/>
          <a:lstStyle/>
          <a:p>
            <a:endParaRPr lang="en-US"/>
          </a:p>
        </p:txBody>
      </p:sp>
      <p:sp>
        <p:nvSpPr>
          <p:cNvPr id="16" name="Text 14"/>
          <p:cNvSpPr/>
          <p:nvPr/>
        </p:nvSpPr>
        <p:spPr>
          <a:xfrm>
            <a:off x="548640" y="3968496"/>
            <a:ext cx="2743200" cy="365760"/>
          </a:xfrm>
          <a:prstGeom prst="rect">
            <a:avLst/>
          </a:prstGeom>
          <a:noFill/>
          <a:ln/>
        </p:spPr>
        <p:txBody>
          <a:bodyPr wrap="square" lIns="0" tIns="0" rIns="0" bIns="0" rtlCol="0" anchor="ctr"/>
          <a:lstStyle/>
          <a:p>
            <a:pPr marL="0" indent="0">
              <a:buNone/>
            </a:pPr>
            <a:r>
              <a:rPr lang="en-US" sz="1700" b="1" dirty="0">
                <a:solidFill>
                  <a:srgbClr val="FF6B6B"/>
                </a:solidFill>
                <a:latin typeface="Calibri" pitchFamily="34" charset="0"/>
                <a:ea typeface="Calibri" pitchFamily="34" charset="-122"/>
                <a:cs typeface="Calibri" pitchFamily="34" charset="-120"/>
              </a:rPr>
              <a:t>⚡  Mutation</a:t>
            </a:r>
            <a:endParaRPr lang="en-US" sz="1700" dirty="0"/>
          </a:p>
        </p:txBody>
      </p:sp>
      <p:sp>
        <p:nvSpPr>
          <p:cNvPr id="17" name="Text 15"/>
          <p:cNvSpPr/>
          <p:nvPr/>
        </p:nvSpPr>
        <p:spPr>
          <a:xfrm>
            <a:off x="548640" y="4370832"/>
            <a:ext cx="8046720" cy="411480"/>
          </a:xfrm>
          <a:prstGeom prst="rect">
            <a:avLst/>
          </a:prstGeom>
          <a:noFill/>
          <a:ln/>
        </p:spPr>
        <p:txBody>
          <a:bodyPr wrap="square" rtlCol="0" anchor="ctr"/>
          <a:lstStyle/>
          <a:p>
            <a:pPr marL="0" indent="0">
              <a:buNone/>
            </a:pPr>
            <a:r>
              <a:rPr lang="en-US" sz="1250" dirty="0">
                <a:solidFill>
                  <a:srgbClr val="E8F0F5"/>
                </a:solidFill>
                <a:latin typeface="Calibri" pitchFamily="34" charset="0"/>
                <a:ea typeface="Calibri" pitchFamily="34" charset="-122"/>
                <a:cs typeface="Calibri" pitchFamily="34" charset="-120"/>
              </a:rPr>
              <a:t>Randomly alter genes in an offspring to introduce new genetic diversity and avoid local optima.</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256032"/>
            <a:ext cx="64008" cy="502920"/>
          </a:xfrm>
          <a:prstGeom prst="rect">
            <a:avLst/>
          </a:prstGeom>
          <a:solidFill>
            <a:srgbClr val="00C896"/>
          </a:solidFill>
          <a:ln w="12700">
            <a:solidFill>
              <a:srgbClr val="00C896"/>
            </a:solidFill>
            <a:prstDash val="solid"/>
          </a:ln>
        </p:spPr>
        <p:txBody>
          <a:bodyPr/>
          <a:lstStyle/>
          <a:p>
            <a:endParaRPr lang="en-US"/>
          </a:p>
        </p:txBody>
      </p:sp>
      <p:sp>
        <p:nvSpPr>
          <p:cNvPr id="3" name="Text 1"/>
          <p:cNvSpPr/>
          <p:nvPr/>
        </p:nvSpPr>
        <p:spPr>
          <a:xfrm>
            <a:off x="512064" y="256032"/>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Selection — Parent Selection</a:t>
            </a:r>
            <a:endParaRPr lang="en-US" sz="2800" dirty="0"/>
          </a:p>
        </p:txBody>
      </p:sp>
      <p:sp>
        <p:nvSpPr>
          <p:cNvPr id="4" name="Shape 2"/>
          <p:cNvSpPr/>
          <p:nvPr/>
        </p:nvSpPr>
        <p:spPr>
          <a:xfrm>
            <a:off x="365760" y="868680"/>
            <a:ext cx="8412480" cy="0"/>
          </a:xfrm>
          <a:prstGeom prst="line">
            <a:avLst/>
          </a:prstGeom>
          <a:noFill/>
          <a:ln w="12700">
            <a:solidFill>
              <a:srgbClr val="00C896">
                <a:alpha val="50000"/>
              </a:srgbClr>
            </a:solidFill>
            <a:prstDash val="solid"/>
          </a:ln>
        </p:spPr>
        <p:txBody>
          <a:bodyPr/>
          <a:lstStyle/>
          <a:p>
            <a:endParaRPr lang="en-US"/>
          </a:p>
        </p:txBody>
      </p:sp>
      <p:sp>
        <p:nvSpPr>
          <p:cNvPr id="5" name="Text 3"/>
          <p:cNvSpPr/>
          <p:nvPr/>
        </p:nvSpPr>
        <p:spPr>
          <a:xfrm>
            <a:off x="365760" y="1005840"/>
            <a:ext cx="8412480" cy="594360"/>
          </a:xfrm>
          <a:prstGeom prst="rect">
            <a:avLst/>
          </a:prstGeom>
          <a:noFill/>
          <a:ln/>
        </p:spPr>
        <p:txBody>
          <a:bodyPr wrap="square" rtlCol="0" anchor="ctr"/>
          <a:lstStyle/>
          <a:p>
            <a:pPr marL="0" indent="0">
              <a:buNone/>
            </a:pPr>
            <a:r>
              <a:rPr lang="en-US" sz="1300" b="1" dirty="0">
                <a:solidFill>
                  <a:srgbClr val="00C896"/>
                </a:solidFill>
                <a:latin typeface="Calibri" pitchFamily="34" charset="0"/>
                <a:ea typeface="Calibri" pitchFamily="34" charset="-122"/>
                <a:cs typeface="Calibri" pitchFamily="34" charset="-120"/>
              </a:rPr>
              <a:t>Selection </a:t>
            </a:r>
            <a:r>
              <a:rPr lang="en-US" sz="1300" dirty="0">
                <a:solidFill>
                  <a:srgbClr val="E8F0F5"/>
                </a:solidFill>
                <a:latin typeface="Calibri" pitchFamily="34" charset="0"/>
                <a:ea typeface="Calibri" pitchFamily="34" charset="-122"/>
                <a:cs typeface="Calibri" pitchFamily="34" charset="-120"/>
              </a:rPr>
              <a:t>is the process of choosing parent chromosomes from the current population to breed the next generation. Chromosomes with higher fitness have a higher probability of being selected.</a:t>
            </a:r>
            <a:endParaRPr lang="en-US" sz="1300" dirty="0"/>
          </a:p>
        </p:txBody>
      </p:sp>
      <p:sp>
        <p:nvSpPr>
          <p:cNvPr id="6" name="Text 4"/>
          <p:cNvSpPr/>
          <p:nvPr/>
        </p:nvSpPr>
        <p:spPr>
          <a:xfrm>
            <a:off x="365760" y="1783080"/>
            <a:ext cx="4572000" cy="274320"/>
          </a:xfrm>
          <a:prstGeom prst="rect">
            <a:avLst/>
          </a:prstGeom>
          <a:noFill/>
          <a:ln/>
        </p:spPr>
        <p:txBody>
          <a:bodyPr wrap="square" rtlCol="0" anchor="ctr"/>
          <a:lstStyle/>
          <a:p>
            <a:pPr marL="0" indent="0">
              <a:buNone/>
            </a:pPr>
            <a:r>
              <a:rPr lang="en-US" sz="1000" b="1" dirty="0">
                <a:solidFill>
                  <a:srgbClr val="8FA8BF"/>
                </a:solidFill>
                <a:latin typeface="Calibri" pitchFamily="34" charset="0"/>
                <a:ea typeface="Calibri" pitchFamily="34" charset="-122"/>
                <a:cs typeface="Calibri" pitchFamily="34" charset="-120"/>
              </a:rPr>
              <a:t>SELECTION TECHNIQUES COVERED:</a:t>
            </a:r>
            <a:endParaRPr lang="en-US" sz="1000" dirty="0"/>
          </a:p>
        </p:txBody>
      </p:sp>
      <p:sp>
        <p:nvSpPr>
          <p:cNvPr id="7" name="Shape 5"/>
          <p:cNvSpPr/>
          <p:nvPr/>
        </p:nvSpPr>
        <p:spPr>
          <a:xfrm>
            <a:off x="365760" y="2148840"/>
            <a:ext cx="420624" cy="658368"/>
          </a:xfrm>
          <a:prstGeom prst="rect">
            <a:avLst/>
          </a:prstGeom>
          <a:solidFill>
            <a:srgbClr val="00C896"/>
          </a:solidFill>
          <a:ln w="12700">
            <a:solidFill>
              <a:srgbClr val="00C896"/>
            </a:solidFill>
            <a:prstDash val="solid"/>
          </a:ln>
        </p:spPr>
        <p:txBody>
          <a:bodyPr/>
          <a:lstStyle/>
          <a:p>
            <a:endParaRPr lang="en-US"/>
          </a:p>
        </p:txBody>
      </p:sp>
      <p:sp>
        <p:nvSpPr>
          <p:cNvPr id="8" name="Text 6"/>
          <p:cNvSpPr/>
          <p:nvPr/>
        </p:nvSpPr>
        <p:spPr>
          <a:xfrm>
            <a:off x="365760" y="2148840"/>
            <a:ext cx="420624" cy="658368"/>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01</a:t>
            </a:r>
            <a:endParaRPr lang="en-US" sz="1400" dirty="0"/>
          </a:p>
        </p:txBody>
      </p:sp>
      <p:sp>
        <p:nvSpPr>
          <p:cNvPr id="9" name="Shape 7"/>
          <p:cNvSpPr/>
          <p:nvPr/>
        </p:nvSpPr>
        <p:spPr>
          <a:xfrm>
            <a:off x="822960" y="2148840"/>
            <a:ext cx="7955280" cy="658368"/>
          </a:xfrm>
          <a:prstGeom prst="rect">
            <a:avLst/>
          </a:prstGeom>
          <a:solidFill>
            <a:srgbClr val="1A2E44"/>
          </a:solidFill>
          <a:ln w="19050">
            <a:solidFill>
              <a:srgbClr val="00C896"/>
            </a:solidFill>
            <a:prstDash val="solid"/>
          </a:ln>
          <a:effectLst>
            <a:outerShdw blurRad="101600" dist="38100" dir="8100000" algn="bl" rotWithShape="0">
              <a:srgbClr val="000000">
                <a:alpha val="25000"/>
              </a:srgbClr>
            </a:outerShdw>
          </a:effectLst>
        </p:spPr>
        <p:txBody>
          <a:bodyPr/>
          <a:lstStyle/>
          <a:p>
            <a:endParaRPr lang="en-US"/>
          </a:p>
        </p:txBody>
      </p:sp>
      <p:sp>
        <p:nvSpPr>
          <p:cNvPr id="10" name="Text 8"/>
          <p:cNvSpPr/>
          <p:nvPr/>
        </p:nvSpPr>
        <p:spPr>
          <a:xfrm>
            <a:off x="960120" y="2240280"/>
            <a:ext cx="7680960" cy="457200"/>
          </a:xfrm>
          <a:prstGeom prst="rect">
            <a:avLst/>
          </a:prstGeom>
          <a:noFill/>
          <a:ln/>
        </p:spPr>
        <p:txBody>
          <a:bodyPr wrap="square" rtlCol="0" anchor="ctr"/>
          <a:lstStyle/>
          <a:p>
            <a:pPr marL="0" indent="0">
              <a:buNone/>
            </a:pPr>
            <a:r>
              <a:rPr lang="en-US" sz="1500" b="1" dirty="0">
                <a:solidFill>
                  <a:srgbClr val="00C896"/>
                </a:solidFill>
                <a:latin typeface="Calibri" pitchFamily="34" charset="0"/>
                <a:ea typeface="Calibri" pitchFamily="34" charset="-122"/>
                <a:cs typeface="Calibri" pitchFamily="34" charset="-120"/>
              </a:rPr>
              <a:t>Fitness Proportionate (Roulette Wheel)</a:t>
            </a:r>
            <a:endParaRPr lang="en-US" sz="1500" dirty="0"/>
          </a:p>
        </p:txBody>
      </p:sp>
      <p:sp>
        <p:nvSpPr>
          <p:cNvPr id="11" name="Shape 9"/>
          <p:cNvSpPr/>
          <p:nvPr/>
        </p:nvSpPr>
        <p:spPr>
          <a:xfrm>
            <a:off x="365760" y="3017520"/>
            <a:ext cx="420624" cy="658368"/>
          </a:xfrm>
          <a:prstGeom prst="rect">
            <a:avLst/>
          </a:prstGeom>
          <a:solidFill>
            <a:srgbClr val="00A3FF"/>
          </a:solidFill>
          <a:ln w="12700">
            <a:solidFill>
              <a:srgbClr val="00A3FF"/>
            </a:solidFill>
            <a:prstDash val="solid"/>
          </a:ln>
        </p:spPr>
        <p:txBody>
          <a:bodyPr/>
          <a:lstStyle/>
          <a:p>
            <a:endParaRPr lang="en-US"/>
          </a:p>
        </p:txBody>
      </p:sp>
      <p:sp>
        <p:nvSpPr>
          <p:cNvPr id="12" name="Text 10"/>
          <p:cNvSpPr/>
          <p:nvPr/>
        </p:nvSpPr>
        <p:spPr>
          <a:xfrm>
            <a:off x="365760" y="3017520"/>
            <a:ext cx="420624" cy="658368"/>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02</a:t>
            </a:r>
            <a:endParaRPr lang="en-US" sz="1400" dirty="0"/>
          </a:p>
        </p:txBody>
      </p:sp>
      <p:sp>
        <p:nvSpPr>
          <p:cNvPr id="13" name="Shape 11"/>
          <p:cNvSpPr/>
          <p:nvPr/>
        </p:nvSpPr>
        <p:spPr>
          <a:xfrm>
            <a:off x="822960" y="3017520"/>
            <a:ext cx="7955280" cy="658368"/>
          </a:xfrm>
          <a:prstGeom prst="rect">
            <a:avLst/>
          </a:prstGeom>
          <a:solidFill>
            <a:srgbClr val="1A2E44"/>
          </a:solidFill>
          <a:ln w="19050">
            <a:solidFill>
              <a:srgbClr val="00A3FF"/>
            </a:solidFill>
            <a:prstDash val="solid"/>
          </a:ln>
          <a:effectLst>
            <a:outerShdw blurRad="101600" dist="38100" dir="8100000" algn="bl" rotWithShape="0">
              <a:srgbClr val="000000">
                <a:alpha val="25000"/>
              </a:srgbClr>
            </a:outerShdw>
          </a:effectLst>
        </p:spPr>
        <p:txBody>
          <a:bodyPr/>
          <a:lstStyle/>
          <a:p>
            <a:endParaRPr lang="en-US"/>
          </a:p>
        </p:txBody>
      </p:sp>
      <p:sp>
        <p:nvSpPr>
          <p:cNvPr id="14" name="Text 12"/>
          <p:cNvSpPr/>
          <p:nvPr/>
        </p:nvSpPr>
        <p:spPr>
          <a:xfrm>
            <a:off x="960120" y="3108960"/>
            <a:ext cx="7680960" cy="457200"/>
          </a:xfrm>
          <a:prstGeom prst="rect">
            <a:avLst/>
          </a:prstGeom>
          <a:noFill/>
          <a:ln/>
        </p:spPr>
        <p:txBody>
          <a:bodyPr wrap="square" rtlCol="0" anchor="ctr"/>
          <a:lstStyle/>
          <a:p>
            <a:pPr marL="0" indent="0">
              <a:buNone/>
            </a:pPr>
            <a:r>
              <a:rPr lang="en-US" sz="1500" b="1" dirty="0">
                <a:solidFill>
                  <a:srgbClr val="00A3FF"/>
                </a:solidFill>
                <a:latin typeface="Calibri" pitchFamily="34" charset="0"/>
                <a:ea typeface="Calibri" pitchFamily="34" charset="-122"/>
                <a:cs typeface="Calibri" pitchFamily="34" charset="-120"/>
              </a:rPr>
              <a:t>Tournament Selection</a:t>
            </a:r>
            <a:endParaRPr lang="en-US" sz="1500" dirty="0"/>
          </a:p>
        </p:txBody>
      </p:sp>
      <p:sp>
        <p:nvSpPr>
          <p:cNvPr id="15" name="Shape 13"/>
          <p:cNvSpPr/>
          <p:nvPr/>
        </p:nvSpPr>
        <p:spPr>
          <a:xfrm>
            <a:off x="365760" y="3886200"/>
            <a:ext cx="420624" cy="658368"/>
          </a:xfrm>
          <a:prstGeom prst="rect">
            <a:avLst/>
          </a:prstGeom>
          <a:solidFill>
            <a:srgbClr val="FFB830"/>
          </a:solidFill>
          <a:ln w="12700">
            <a:solidFill>
              <a:srgbClr val="FFB830"/>
            </a:solidFill>
            <a:prstDash val="solid"/>
          </a:ln>
        </p:spPr>
        <p:txBody>
          <a:bodyPr/>
          <a:lstStyle/>
          <a:p>
            <a:endParaRPr lang="en-US"/>
          </a:p>
        </p:txBody>
      </p:sp>
      <p:sp>
        <p:nvSpPr>
          <p:cNvPr id="16" name="Text 14"/>
          <p:cNvSpPr/>
          <p:nvPr/>
        </p:nvSpPr>
        <p:spPr>
          <a:xfrm>
            <a:off x="365760" y="3886200"/>
            <a:ext cx="420624" cy="658368"/>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03</a:t>
            </a:r>
            <a:endParaRPr lang="en-US" sz="1400" dirty="0"/>
          </a:p>
        </p:txBody>
      </p:sp>
      <p:sp>
        <p:nvSpPr>
          <p:cNvPr id="17" name="Shape 15"/>
          <p:cNvSpPr/>
          <p:nvPr/>
        </p:nvSpPr>
        <p:spPr>
          <a:xfrm>
            <a:off x="822960" y="3886200"/>
            <a:ext cx="7955280" cy="658368"/>
          </a:xfrm>
          <a:prstGeom prst="rect">
            <a:avLst/>
          </a:prstGeom>
          <a:solidFill>
            <a:srgbClr val="1A2E44"/>
          </a:solidFill>
          <a:ln w="19050">
            <a:solidFill>
              <a:srgbClr val="FFB830"/>
            </a:solidFill>
            <a:prstDash val="solid"/>
          </a:ln>
          <a:effectLst>
            <a:outerShdw blurRad="101600" dist="38100" dir="8100000" algn="bl" rotWithShape="0">
              <a:srgbClr val="000000">
                <a:alpha val="25000"/>
              </a:srgbClr>
            </a:outerShdw>
          </a:effectLst>
        </p:spPr>
        <p:txBody>
          <a:bodyPr/>
          <a:lstStyle/>
          <a:p>
            <a:endParaRPr lang="en-US"/>
          </a:p>
        </p:txBody>
      </p:sp>
      <p:sp>
        <p:nvSpPr>
          <p:cNvPr id="18" name="Text 16"/>
          <p:cNvSpPr/>
          <p:nvPr/>
        </p:nvSpPr>
        <p:spPr>
          <a:xfrm>
            <a:off x="960120" y="3977640"/>
            <a:ext cx="7680960" cy="457200"/>
          </a:xfrm>
          <a:prstGeom prst="rect">
            <a:avLst/>
          </a:prstGeom>
          <a:noFill/>
          <a:ln/>
        </p:spPr>
        <p:txBody>
          <a:bodyPr wrap="square" rtlCol="0" anchor="ctr"/>
          <a:lstStyle/>
          <a:p>
            <a:pPr marL="0" indent="0">
              <a:buNone/>
            </a:pPr>
            <a:r>
              <a:rPr lang="en-US" sz="1500" b="1" dirty="0">
                <a:solidFill>
                  <a:srgbClr val="FFB830"/>
                </a:solidFill>
                <a:latin typeface="Calibri" pitchFamily="34" charset="0"/>
                <a:ea typeface="Calibri" pitchFamily="34" charset="-122"/>
                <a:cs typeface="Calibri" pitchFamily="34" charset="-120"/>
              </a:rPr>
              <a:t>Rank Selection</a:t>
            </a:r>
            <a:endParaRPr lang="en-US" sz="1500" dirty="0"/>
          </a:p>
        </p:txBody>
      </p:sp>
      <p:sp>
        <p:nvSpPr>
          <p:cNvPr id="19" name="Text 17"/>
          <p:cNvSpPr/>
          <p:nvPr/>
        </p:nvSpPr>
        <p:spPr>
          <a:xfrm>
            <a:off x="365760" y="4663440"/>
            <a:ext cx="3657600" cy="228600"/>
          </a:xfrm>
          <a:prstGeom prst="rect">
            <a:avLst/>
          </a:prstGeom>
          <a:noFill/>
          <a:ln/>
        </p:spPr>
        <p:txBody>
          <a:bodyPr wrap="square" rtlCol="0" anchor="ctr"/>
          <a:lstStyle/>
          <a:p>
            <a:pPr marL="0" indent="0">
              <a:buNone/>
            </a:pPr>
            <a:r>
              <a:rPr lang="en-US" sz="1000" dirty="0">
                <a:solidFill>
                  <a:srgbClr val="8FA8BF"/>
                </a:solidFill>
                <a:latin typeface="Calibri" pitchFamily="34" charset="0"/>
                <a:ea typeface="Calibri" pitchFamily="34" charset="-122"/>
                <a:cs typeface="Calibri" pitchFamily="34" charset="-120"/>
              </a:rPr>
              <a:t>Sample Population Fitness Values:</a:t>
            </a:r>
            <a:endParaRPr lang="en-US" sz="1000" dirty="0"/>
          </a:p>
        </p:txBody>
      </p:sp>
      <p:sp>
        <p:nvSpPr>
          <p:cNvPr id="20" name="Shape 18"/>
          <p:cNvSpPr/>
          <p:nvPr/>
        </p:nvSpPr>
        <p:spPr>
          <a:xfrm>
            <a:off x="4114800" y="4507992"/>
            <a:ext cx="548640" cy="448056"/>
          </a:xfrm>
          <a:prstGeom prst="rect">
            <a:avLst/>
          </a:prstGeom>
          <a:solidFill>
            <a:srgbClr val="8FA8BF">
              <a:alpha val="70000"/>
            </a:srgbClr>
          </a:solidFill>
          <a:ln w="12700">
            <a:solidFill>
              <a:srgbClr val="8FA8BF"/>
            </a:solidFill>
            <a:prstDash val="solid"/>
          </a:ln>
        </p:spPr>
        <p:txBody>
          <a:bodyPr/>
          <a:lstStyle/>
          <a:p>
            <a:endParaRPr lang="en-US"/>
          </a:p>
        </p:txBody>
      </p:sp>
      <p:sp>
        <p:nvSpPr>
          <p:cNvPr id="21" name="Text 19"/>
          <p:cNvSpPr/>
          <p:nvPr/>
        </p:nvSpPr>
        <p:spPr>
          <a:xfrm>
            <a:off x="4114800" y="4956048"/>
            <a:ext cx="548640" cy="182880"/>
          </a:xfrm>
          <a:prstGeom prst="rect">
            <a:avLst/>
          </a:prstGeom>
          <a:noFill/>
          <a:ln/>
        </p:spPr>
        <p:txBody>
          <a:bodyPr wrap="square" rtlCol="0" anchor="ctr"/>
          <a:lstStyle/>
          <a:p>
            <a:pPr marL="0" indent="0" algn="ctr">
              <a:buNone/>
            </a:pPr>
            <a:r>
              <a:rPr lang="en-US" sz="900" dirty="0">
                <a:solidFill>
                  <a:srgbClr val="8FA8BF"/>
                </a:solidFill>
                <a:latin typeface="Calibri" pitchFamily="34" charset="0"/>
                <a:ea typeface="Calibri" pitchFamily="34" charset="-122"/>
                <a:cs typeface="Calibri" pitchFamily="34" charset="-120"/>
              </a:rPr>
              <a:t>C1</a:t>
            </a:r>
            <a:endParaRPr lang="en-US" sz="900" dirty="0"/>
          </a:p>
        </p:txBody>
      </p:sp>
      <p:sp>
        <p:nvSpPr>
          <p:cNvPr id="22" name="Shape 20"/>
          <p:cNvSpPr/>
          <p:nvPr/>
        </p:nvSpPr>
        <p:spPr>
          <a:xfrm>
            <a:off x="4828032" y="4684014"/>
            <a:ext cx="548640" cy="272034"/>
          </a:xfrm>
          <a:prstGeom prst="rect">
            <a:avLst/>
          </a:prstGeom>
          <a:solidFill>
            <a:srgbClr val="8FA8BF">
              <a:alpha val="70000"/>
            </a:srgbClr>
          </a:solidFill>
          <a:ln w="12700">
            <a:solidFill>
              <a:srgbClr val="8FA8BF"/>
            </a:solidFill>
            <a:prstDash val="solid"/>
          </a:ln>
        </p:spPr>
        <p:txBody>
          <a:bodyPr/>
          <a:lstStyle/>
          <a:p>
            <a:endParaRPr lang="en-US"/>
          </a:p>
        </p:txBody>
      </p:sp>
      <p:sp>
        <p:nvSpPr>
          <p:cNvPr id="23" name="Text 21"/>
          <p:cNvSpPr/>
          <p:nvPr/>
        </p:nvSpPr>
        <p:spPr>
          <a:xfrm>
            <a:off x="4828032" y="4956048"/>
            <a:ext cx="548640" cy="182880"/>
          </a:xfrm>
          <a:prstGeom prst="rect">
            <a:avLst/>
          </a:prstGeom>
          <a:noFill/>
          <a:ln/>
        </p:spPr>
        <p:txBody>
          <a:bodyPr wrap="square" rtlCol="0" anchor="ctr"/>
          <a:lstStyle/>
          <a:p>
            <a:pPr marL="0" indent="0" algn="ctr">
              <a:buNone/>
            </a:pPr>
            <a:r>
              <a:rPr lang="en-US" sz="900" dirty="0">
                <a:solidFill>
                  <a:srgbClr val="8FA8BF"/>
                </a:solidFill>
                <a:latin typeface="Calibri" pitchFamily="34" charset="0"/>
                <a:ea typeface="Calibri" pitchFamily="34" charset="-122"/>
                <a:cs typeface="Calibri" pitchFamily="34" charset="-120"/>
              </a:rPr>
              <a:t>C2</a:t>
            </a:r>
            <a:endParaRPr lang="en-US" sz="900" dirty="0"/>
          </a:p>
        </p:txBody>
      </p:sp>
      <p:sp>
        <p:nvSpPr>
          <p:cNvPr id="24" name="Shape 22"/>
          <p:cNvSpPr/>
          <p:nvPr/>
        </p:nvSpPr>
        <p:spPr>
          <a:xfrm>
            <a:off x="5541264" y="4395978"/>
            <a:ext cx="548640" cy="560070"/>
          </a:xfrm>
          <a:prstGeom prst="rect">
            <a:avLst/>
          </a:prstGeom>
          <a:solidFill>
            <a:srgbClr val="8FA8BF">
              <a:alpha val="70000"/>
            </a:srgbClr>
          </a:solidFill>
          <a:ln w="12700">
            <a:solidFill>
              <a:srgbClr val="8FA8BF"/>
            </a:solidFill>
            <a:prstDash val="solid"/>
          </a:ln>
        </p:spPr>
        <p:txBody>
          <a:bodyPr/>
          <a:lstStyle/>
          <a:p>
            <a:endParaRPr lang="en-US"/>
          </a:p>
        </p:txBody>
      </p:sp>
      <p:sp>
        <p:nvSpPr>
          <p:cNvPr id="25" name="Text 23"/>
          <p:cNvSpPr/>
          <p:nvPr/>
        </p:nvSpPr>
        <p:spPr>
          <a:xfrm>
            <a:off x="5541264" y="4956048"/>
            <a:ext cx="548640" cy="182880"/>
          </a:xfrm>
          <a:prstGeom prst="rect">
            <a:avLst/>
          </a:prstGeom>
          <a:noFill/>
          <a:ln/>
        </p:spPr>
        <p:txBody>
          <a:bodyPr wrap="square" rtlCol="0" anchor="ctr"/>
          <a:lstStyle/>
          <a:p>
            <a:pPr marL="0" indent="0" algn="ctr">
              <a:buNone/>
            </a:pPr>
            <a:r>
              <a:rPr lang="en-US" sz="900" dirty="0">
                <a:solidFill>
                  <a:srgbClr val="8FA8BF"/>
                </a:solidFill>
                <a:latin typeface="Calibri" pitchFamily="34" charset="0"/>
                <a:ea typeface="Calibri" pitchFamily="34" charset="-122"/>
                <a:cs typeface="Calibri" pitchFamily="34" charset="-120"/>
              </a:rPr>
              <a:t>C3</a:t>
            </a:r>
            <a:endParaRPr lang="en-US" sz="900" dirty="0"/>
          </a:p>
        </p:txBody>
      </p:sp>
      <p:sp>
        <p:nvSpPr>
          <p:cNvPr id="26" name="Shape 24"/>
          <p:cNvSpPr/>
          <p:nvPr/>
        </p:nvSpPr>
        <p:spPr>
          <a:xfrm>
            <a:off x="6254496" y="4604004"/>
            <a:ext cx="548640" cy="352044"/>
          </a:xfrm>
          <a:prstGeom prst="rect">
            <a:avLst/>
          </a:prstGeom>
          <a:solidFill>
            <a:srgbClr val="8FA8BF">
              <a:alpha val="70000"/>
            </a:srgbClr>
          </a:solidFill>
          <a:ln w="12700">
            <a:solidFill>
              <a:srgbClr val="8FA8BF"/>
            </a:solidFill>
            <a:prstDash val="solid"/>
          </a:ln>
        </p:spPr>
        <p:txBody>
          <a:bodyPr/>
          <a:lstStyle/>
          <a:p>
            <a:endParaRPr lang="en-US"/>
          </a:p>
        </p:txBody>
      </p:sp>
      <p:sp>
        <p:nvSpPr>
          <p:cNvPr id="27" name="Text 25"/>
          <p:cNvSpPr/>
          <p:nvPr/>
        </p:nvSpPr>
        <p:spPr>
          <a:xfrm>
            <a:off x="6254496" y="4956048"/>
            <a:ext cx="548640" cy="182880"/>
          </a:xfrm>
          <a:prstGeom prst="rect">
            <a:avLst/>
          </a:prstGeom>
          <a:noFill/>
          <a:ln/>
        </p:spPr>
        <p:txBody>
          <a:bodyPr wrap="square" rtlCol="0" anchor="ctr"/>
          <a:lstStyle/>
          <a:p>
            <a:pPr marL="0" indent="0" algn="ctr">
              <a:buNone/>
            </a:pPr>
            <a:r>
              <a:rPr lang="en-US" sz="900" dirty="0">
                <a:solidFill>
                  <a:srgbClr val="8FA8BF"/>
                </a:solidFill>
                <a:latin typeface="Calibri" pitchFamily="34" charset="0"/>
                <a:ea typeface="Calibri" pitchFamily="34" charset="-122"/>
                <a:cs typeface="Calibri" pitchFamily="34" charset="-120"/>
              </a:rPr>
              <a:t>C4</a:t>
            </a:r>
            <a:endParaRPr lang="en-US" sz="900" dirty="0"/>
          </a:p>
        </p:txBody>
      </p:sp>
      <p:sp>
        <p:nvSpPr>
          <p:cNvPr id="28" name="Shape 26"/>
          <p:cNvSpPr/>
          <p:nvPr/>
        </p:nvSpPr>
        <p:spPr>
          <a:xfrm>
            <a:off x="6967728" y="4796028"/>
            <a:ext cx="548640" cy="160020"/>
          </a:xfrm>
          <a:prstGeom prst="rect">
            <a:avLst/>
          </a:prstGeom>
          <a:solidFill>
            <a:srgbClr val="8FA8BF">
              <a:alpha val="70000"/>
            </a:srgbClr>
          </a:solidFill>
          <a:ln w="12700">
            <a:solidFill>
              <a:srgbClr val="8FA8BF"/>
            </a:solidFill>
            <a:prstDash val="solid"/>
          </a:ln>
        </p:spPr>
        <p:txBody>
          <a:bodyPr/>
          <a:lstStyle/>
          <a:p>
            <a:endParaRPr lang="en-US"/>
          </a:p>
        </p:txBody>
      </p:sp>
      <p:sp>
        <p:nvSpPr>
          <p:cNvPr id="29" name="Text 27"/>
          <p:cNvSpPr/>
          <p:nvPr/>
        </p:nvSpPr>
        <p:spPr>
          <a:xfrm>
            <a:off x="6967728" y="4956048"/>
            <a:ext cx="548640" cy="182880"/>
          </a:xfrm>
          <a:prstGeom prst="rect">
            <a:avLst/>
          </a:prstGeom>
          <a:noFill/>
          <a:ln/>
        </p:spPr>
        <p:txBody>
          <a:bodyPr wrap="square" rtlCol="0" anchor="ctr"/>
          <a:lstStyle/>
          <a:p>
            <a:pPr marL="0" indent="0" algn="ctr">
              <a:buNone/>
            </a:pPr>
            <a:r>
              <a:rPr lang="en-US" sz="900" dirty="0">
                <a:solidFill>
                  <a:srgbClr val="8FA8BF"/>
                </a:solidFill>
                <a:latin typeface="Calibri" pitchFamily="34" charset="0"/>
                <a:ea typeface="Calibri" pitchFamily="34" charset="-122"/>
                <a:cs typeface="Calibri" pitchFamily="34" charset="-120"/>
              </a:rPr>
              <a:t>C5</a:t>
            </a:r>
            <a:endParaRPr lang="en-US" sz="900" dirty="0"/>
          </a:p>
        </p:txBody>
      </p:sp>
      <p:sp>
        <p:nvSpPr>
          <p:cNvPr id="30" name="Shape 28"/>
          <p:cNvSpPr/>
          <p:nvPr/>
        </p:nvSpPr>
        <p:spPr>
          <a:xfrm>
            <a:off x="7680960" y="4315968"/>
            <a:ext cx="548640" cy="640080"/>
          </a:xfrm>
          <a:prstGeom prst="rect">
            <a:avLst/>
          </a:prstGeom>
          <a:solidFill>
            <a:srgbClr val="00C896"/>
          </a:solidFill>
          <a:ln w="12700">
            <a:solidFill>
              <a:srgbClr val="8FA8BF"/>
            </a:solidFill>
            <a:prstDash val="solid"/>
          </a:ln>
        </p:spPr>
        <p:txBody>
          <a:bodyPr/>
          <a:lstStyle/>
          <a:p>
            <a:endParaRPr lang="en-US"/>
          </a:p>
        </p:txBody>
      </p:sp>
      <p:sp>
        <p:nvSpPr>
          <p:cNvPr id="31" name="Text 29"/>
          <p:cNvSpPr/>
          <p:nvPr/>
        </p:nvSpPr>
        <p:spPr>
          <a:xfrm>
            <a:off x="7680960" y="4956048"/>
            <a:ext cx="548640" cy="182880"/>
          </a:xfrm>
          <a:prstGeom prst="rect">
            <a:avLst/>
          </a:prstGeom>
          <a:noFill/>
          <a:ln/>
        </p:spPr>
        <p:txBody>
          <a:bodyPr wrap="square" rtlCol="0" anchor="ctr"/>
          <a:lstStyle/>
          <a:p>
            <a:pPr marL="0" indent="0" algn="ctr">
              <a:buNone/>
            </a:pPr>
            <a:r>
              <a:rPr lang="en-US" sz="900" dirty="0">
                <a:solidFill>
                  <a:srgbClr val="8FA8BF"/>
                </a:solidFill>
                <a:latin typeface="Calibri" pitchFamily="34" charset="0"/>
                <a:ea typeface="Calibri" pitchFamily="34" charset="-122"/>
                <a:cs typeface="Calibri" pitchFamily="34" charset="-120"/>
              </a:rPr>
              <a:t>C6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256032"/>
            <a:ext cx="64008" cy="502920"/>
          </a:xfrm>
          <a:prstGeom prst="rect">
            <a:avLst/>
          </a:prstGeom>
          <a:solidFill>
            <a:srgbClr val="00C896"/>
          </a:solidFill>
          <a:ln w="12700">
            <a:solidFill>
              <a:srgbClr val="00C896"/>
            </a:solidFill>
            <a:prstDash val="solid"/>
          </a:ln>
        </p:spPr>
        <p:txBody>
          <a:bodyPr/>
          <a:lstStyle/>
          <a:p>
            <a:endParaRPr lang="en-US"/>
          </a:p>
        </p:txBody>
      </p:sp>
      <p:sp>
        <p:nvSpPr>
          <p:cNvPr id="3" name="Text 1"/>
          <p:cNvSpPr/>
          <p:nvPr/>
        </p:nvSpPr>
        <p:spPr>
          <a:xfrm>
            <a:off x="512064" y="256032"/>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  Fitness Proportionate Selection (Roulette Wheel)</a:t>
            </a:r>
            <a:endParaRPr lang="en-US" sz="2800" dirty="0"/>
          </a:p>
        </p:txBody>
      </p:sp>
      <p:sp>
        <p:nvSpPr>
          <p:cNvPr id="5" name="Shape 3"/>
          <p:cNvSpPr/>
          <p:nvPr/>
        </p:nvSpPr>
        <p:spPr>
          <a:xfrm>
            <a:off x="365760" y="868680"/>
            <a:ext cx="8412480" cy="0"/>
          </a:xfrm>
          <a:prstGeom prst="line">
            <a:avLst/>
          </a:prstGeom>
          <a:noFill/>
          <a:ln w="12700">
            <a:solidFill>
              <a:srgbClr val="00C896">
                <a:alpha val="50000"/>
              </a:srgbClr>
            </a:solidFill>
            <a:prstDash val="solid"/>
          </a:ln>
        </p:spPr>
        <p:txBody>
          <a:bodyPr/>
          <a:lstStyle/>
          <a:p>
            <a:endParaRPr lang="en-US"/>
          </a:p>
        </p:txBody>
      </p:sp>
      <p:sp>
        <p:nvSpPr>
          <p:cNvPr id="6" name="Shape 4"/>
          <p:cNvSpPr/>
          <p:nvPr/>
        </p:nvSpPr>
        <p:spPr>
          <a:xfrm>
            <a:off x="365760" y="1005840"/>
            <a:ext cx="8412480" cy="822960"/>
          </a:xfrm>
          <a:prstGeom prst="rect">
            <a:avLst/>
          </a:prstGeom>
          <a:solidFill>
            <a:srgbClr val="1A2E44"/>
          </a:solidFill>
          <a:ln w="19050">
            <a:solidFill>
              <a:srgbClr val="00C896"/>
            </a:solidFill>
            <a:prstDash val="solid"/>
          </a:ln>
          <a:effectLst>
            <a:outerShdw blurRad="101600" dist="38100" dir="8100000" algn="bl" rotWithShape="0">
              <a:srgbClr val="000000">
                <a:alpha val="25000"/>
              </a:srgbClr>
            </a:outerShdw>
          </a:effectLst>
        </p:spPr>
        <p:txBody>
          <a:bodyPr/>
          <a:lstStyle/>
          <a:p>
            <a:endParaRPr lang="en-US"/>
          </a:p>
        </p:txBody>
      </p:sp>
      <p:sp>
        <p:nvSpPr>
          <p:cNvPr id="7" name="Text 5"/>
          <p:cNvSpPr/>
          <p:nvPr/>
        </p:nvSpPr>
        <p:spPr>
          <a:xfrm>
            <a:off x="502920" y="1042416"/>
            <a:ext cx="8229600" cy="749808"/>
          </a:xfrm>
          <a:prstGeom prst="rect">
            <a:avLst/>
          </a:prstGeom>
          <a:noFill/>
          <a:ln/>
        </p:spPr>
        <p:txBody>
          <a:bodyPr wrap="square" rtlCol="0" anchor="ctr"/>
          <a:lstStyle/>
          <a:p>
            <a:pPr marL="0" indent="0">
              <a:buNone/>
            </a:pPr>
            <a:r>
              <a:rPr lang="en-US" sz="1250" b="1" dirty="0">
                <a:solidFill>
                  <a:srgbClr val="00C896"/>
                </a:solidFill>
                <a:latin typeface="Calibri" pitchFamily="34" charset="0"/>
                <a:ea typeface="Calibri" pitchFamily="34" charset="-122"/>
                <a:cs typeface="Calibri" pitchFamily="34" charset="-120"/>
              </a:rPr>
              <a:t>Definition: </a:t>
            </a:r>
            <a:r>
              <a:rPr lang="en-US" sz="1250" dirty="0">
                <a:solidFill>
                  <a:srgbClr val="E8F0F5"/>
                </a:solidFill>
                <a:latin typeface="Calibri" pitchFamily="34" charset="0"/>
                <a:ea typeface="Calibri" pitchFamily="34" charset="-122"/>
                <a:cs typeface="Calibri" pitchFamily="34" charset="-120"/>
              </a:rPr>
              <a:t>Each chromosome is assigned a selection probability proportional to its fitness value. Chromosomes with higher fitness have a greater chance of being selected — like a spinning roulette wheel where larger slices = more fit individuals.</a:t>
            </a:r>
            <a:endParaRPr lang="en-US" sz="1250" dirty="0"/>
          </a:p>
        </p:txBody>
      </p:sp>
      <p:sp>
        <p:nvSpPr>
          <p:cNvPr id="8" name="Shape 6"/>
          <p:cNvSpPr/>
          <p:nvPr/>
        </p:nvSpPr>
        <p:spPr>
          <a:xfrm>
            <a:off x="365760" y="1938528"/>
            <a:ext cx="8412480" cy="502920"/>
          </a:xfrm>
          <a:prstGeom prst="rect">
            <a:avLst/>
          </a:prstGeom>
          <a:solidFill>
            <a:srgbClr val="0A1520"/>
          </a:solidFill>
          <a:ln w="19050">
            <a:solidFill>
              <a:srgbClr val="00A3FF"/>
            </a:solidFill>
            <a:prstDash val="solid"/>
          </a:ln>
          <a:effectLst>
            <a:outerShdw blurRad="101600" dist="38100" dir="8100000" algn="bl" rotWithShape="0">
              <a:srgbClr val="000000">
                <a:alpha val="25000"/>
              </a:srgbClr>
            </a:outerShdw>
          </a:effectLst>
        </p:spPr>
        <p:txBody>
          <a:bodyPr/>
          <a:lstStyle/>
          <a:p>
            <a:endParaRPr lang="en-US"/>
          </a:p>
        </p:txBody>
      </p:sp>
      <p:sp>
        <p:nvSpPr>
          <p:cNvPr id="9" name="Text 7"/>
          <p:cNvSpPr/>
          <p:nvPr/>
        </p:nvSpPr>
        <p:spPr>
          <a:xfrm>
            <a:off x="548640" y="1965960"/>
            <a:ext cx="8046720" cy="411480"/>
          </a:xfrm>
          <a:prstGeom prst="rect">
            <a:avLst/>
          </a:prstGeom>
          <a:noFill/>
          <a:ln/>
        </p:spPr>
        <p:txBody>
          <a:bodyPr wrap="square" rtlCol="0" anchor="ctr"/>
          <a:lstStyle/>
          <a:p>
            <a:pPr marL="0" indent="0">
              <a:buNone/>
            </a:pPr>
            <a:r>
              <a:rPr lang="en-US" sz="1300" b="1" dirty="0">
                <a:solidFill>
                  <a:srgbClr val="00A3FF"/>
                </a:solidFill>
                <a:latin typeface="Consolas" pitchFamily="34" charset="0"/>
                <a:ea typeface="Consolas" pitchFamily="34" charset="-122"/>
                <a:cs typeface="Consolas" pitchFamily="34" charset="-120"/>
              </a:rPr>
              <a:t>Formula:  P(i) = f(i) / Σf(j)     where f(i) = fitness of chromosome i</a:t>
            </a:r>
            <a:endParaRPr lang="en-US" sz="1300" dirty="0"/>
          </a:p>
        </p:txBody>
      </p:sp>
      <p:sp>
        <p:nvSpPr>
          <p:cNvPr id="10" name="Text 8"/>
          <p:cNvSpPr/>
          <p:nvPr/>
        </p:nvSpPr>
        <p:spPr>
          <a:xfrm>
            <a:off x="365760" y="2578608"/>
            <a:ext cx="1828800" cy="256032"/>
          </a:xfrm>
          <a:prstGeom prst="rect">
            <a:avLst/>
          </a:prstGeom>
          <a:noFill/>
          <a:ln/>
        </p:spPr>
        <p:txBody>
          <a:bodyPr wrap="square" rtlCol="0" anchor="ctr"/>
          <a:lstStyle/>
          <a:p>
            <a:pPr marL="0" indent="0">
              <a:buNone/>
            </a:pPr>
            <a:r>
              <a:rPr lang="en-US" sz="1000" b="1" dirty="0">
                <a:solidFill>
                  <a:srgbClr val="8FA8BF"/>
                </a:solidFill>
                <a:latin typeface="Calibri" pitchFamily="34" charset="0"/>
                <a:ea typeface="Calibri" pitchFamily="34" charset="-122"/>
                <a:cs typeface="Calibri" pitchFamily="34" charset="-120"/>
              </a:rPr>
              <a:t>EXAMPLE:</a:t>
            </a:r>
            <a:endParaRPr lang="en-US" sz="1000" dirty="0"/>
          </a:p>
        </p:txBody>
      </p:sp>
      <p:graphicFrame>
        <p:nvGraphicFramePr>
          <p:cNvPr id="11" name="Table 0"/>
          <p:cNvGraphicFramePr>
            <a:graphicFrameLocks noGrp="1"/>
          </p:cNvGraphicFramePr>
          <p:nvPr/>
        </p:nvGraphicFramePr>
        <p:xfrm>
          <a:off x="365760" y="2852928"/>
          <a:ext cx="8412480" cy="1554480"/>
        </p:xfrm>
        <a:graphic>
          <a:graphicData uri="http://schemas.openxmlformats.org/drawingml/2006/table">
            <a:tbl>
              <a:tblPr/>
              <a:tblGrid>
                <a:gridCol w="21031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228600">
                <a:tc>
                  <a:txBody>
                    <a:bodyPr/>
                    <a:lstStyle/>
                    <a:p>
                      <a:pPr marL="0" indent="0" algn="ctr">
                        <a:buNone/>
                      </a:pPr>
                      <a:r>
                        <a:rPr lang="en-US" sz="1100" b="1" dirty="0">
                          <a:solidFill>
                            <a:srgbClr val="0D1B2A"/>
                          </a:solidFill>
                        </a:rPr>
                        <a:t>Chromosome</a:t>
                      </a:r>
                      <a:endParaRPr lang="en-US" sz="1100" dirty="0"/>
                    </a:p>
                  </a:txBody>
                  <a:tcPr anchor="ctr">
                    <a:lnL w="0" cap="flat" cmpd="sng" algn="ctr">
                      <a:noFill/>
                    </a:lnL>
                    <a:lnR w="0" cap="flat" cmpd="sng" algn="ctr">
                      <a:noFill/>
                    </a:lnR>
                    <a:lnT w="0" cap="flat" cmpd="sng" algn="ctr">
                      <a:noFill/>
                    </a:lnT>
                    <a:lnB w="0" cap="flat" cmpd="sng" algn="ctr">
                      <a:noFill/>
                    </a:lnB>
                    <a:solidFill>
                      <a:srgbClr val="00C896"/>
                    </a:solidFill>
                  </a:tcPr>
                </a:tc>
                <a:tc>
                  <a:txBody>
                    <a:bodyPr/>
                    <a:lstStyle/>
                    <a:p>
                      <a:pPr marL="0" indent="0" algn="ctr">
                        <a:buNone/>
                      </a:pPr>
                      <a:r>
                        <a:rPr lang="en-US" sz="1100" b="1" dirty="0">
                          <a:solidFill>
                            <a:srgbClr val="0D1B2A"/>
                          </a:solidFill>
                        </a:rPr>
                        <a:t>Fitness</a:t>
                      </a:r>
                      <a:endParaRPr lang="en-US" sz="1100" dirty="0"/>
                    </a:p>
                  </a:txBody>
                  <a:tcPr anchor="ctr">
                    <a:lnL w="0" cap="flat" cmpd="sng" algn="ctr">
                      <a:noFill/>
                    </a:lnL>
                    <a:lnR w="0" cap="flat" cmpd="sng" algn="ctr">
                      <a:noFill/>
                    </a:lnR>
                    <a:lnT w="0" cap="flat" cmpd="sng" algn="ctr">
                      <a:noFill/>
                    </a:lnT>
                    <a:lnB w="0" cap="flat" cmpd="sng" algn="ctr">
                      <a:noFill/>
                    </a:lnB>
                    <a:solidFill>
                      <a:srgbClr val="00C896"/>
                    </a:solidFill>
                  </a:tcPr>
                </a:tc>
                <a:tc>
                  <a:txBody>
                    <a:bodyPr/>
                    <a:lstStyle/>
                    <a:p>
                      <a:pPr marL="0" indent="0" algn="ctr">
                        <a:buNone/>
                      </a:pPr>
                      <a:r>
                        <a:rPr lang="en-US" sz="1100" b="1" dirty="0">
                          <a:solidFill>
                            <a:srgbClr val="0D1B2A"/>
                          </a:solidFill>
                        </a:rPr>
                        <a:t>% of Total (P)</a:t>
                      </a:r>
                      <a:endParaRPr lang="en-US" sz="1100" dirty="0"/>
                    </a:p>
                  </a:txBody>
                  <a:tcPr anchor="ctr">
                    <a:lnL w="0" cap="flat" cmpd="sng" algn="ctr">
                      <a:noFill/>
                    </a:lnL>
                    <a:lnR w="0" cap="flat" cmpd="sng" algn="ctr">
                      <a:noFill/>
                    </a:lnR>
                    <a:lnT w="0" cap="flat" cmpd="sng" algn="ctr">
                      <a:noFill/>
                    </a:lnT>
                    <a:lnB w="0" cap="flat" cmpd="sng" algn="ctr">
                      <a:noFill/>
                    </a:lnB>
                    <a:solidFill>
                      <a:srgbClr val="00C896"/>
                    </a:solidFill>
                  </a:tcPr>
                </a:tc>
                <a:tc>
                  <a:txBody>
                    <a:bodyPr/>
                    <a:lstStyle/>
                    <a:p>
                      <a:pPr marL="0" indent="0" algn="ctr">
                        <a:buNone/>
                      </a:pPr>
                      <a:r>
                        <a:rPr lang="en-US" sz="1100" b="1" dirty="0">
                          <a:solidFill>
                            <a:srgbClr val="0D1B2A"/>
                          </a:solidFill>
                        </a:rPr>
                        <a:t>Cumulative P</a:t>
                      </a:r>
                      <a:endParaRPr lang="en-US" sz="1100" dirty="0"/>
                    </a:p>
                  </a:txBody>
                  <a:tcPr anchor="ctr">
                    <a:lnL w="0" cap="flat" cmpd="sng" algn="ctr">
                      <a:noFill/>
                    </a:lnL>
                    <a:lnR w="0" cap="flat" cmpd="sng" algn="ctr">
                      <a:noFill/>
                    </a:lnR>
                    <a:lnT w="0" cap="flat" cmpd="sng" algn="ctr">
                      <a:noFill/>
                    </a:lnT>
                    <a:lnB w="0" cap="flat" cmpd="sng" algn="ctr">
                      <a:noFill/>
                    </a:lnB>
                    <a:solidFill>
                      <a:srgbClr val="00C896"/>
                    </a:solidFill>
                  </a:tcPr>
                </a:tc>
                <a:extLst>
                  <a:ext uri="{0D108BD9-81ED-4DB2-BD59-A6C34878D82A}">
                    <a16:rowId xmlns:a16="http://schemas.microsoft.com/office/drawing/2014/main" val="10000"/>
                  </a:ext>
                </a:extLst>
              </a:tr>
              <a:tr h="228600">
                <a:tc>
                  <a:txBody>
                    <a:bodyPr/>
                    <a:lstStyle/>
                    <a:p>
                      <a:pPr marL="0" indent="0" algn="ctr">
                        <a:buNone/>
                      </a:pPr>
                      <a:r>
                        <a:rPr lang="en-US" sz="1100" dirty="0">
                          <a:solidFill>
                            <a:srgbClr val="E8F0F5"/>
                          </a:solidFill>
                        </a:rPr>
                        <a:t>C1</a:t>
                      </a:r>
                      <a:endParaRPr lang="en-US" sz="110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100" dirty="0">
                          <a:solidFill>
                            <a:srgbClr val="E8F0F5"/>
                          </a:solidFill>
                        </a:rPr>
                        <a:t>28</a:t>
                      </a:r>
                      <a:endParaRPr lang="en-US" sz="110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100" dirty="0">
                          <a:solidFill>
                            <a:srgbClr val="E8F0F5"/>
                          </a:solidFill>
                        </a:rPr>
                        <a:t>28/115 = 24.3%</a:t>
                      </a:r>
                      <a:endParaRPr lang="en-US" sz="110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100" dirty="0">
                          <a:solidFill>
                            <a:srgbClr val="E8F0F5"/>
                          </a:solidFill>
                        </a:rPr>
                        <a:t>24.3%</a:t>
                      </a:r>
                      <a:endParaRPr lang="en-US" sz="1100" dirty="0"/>
                    </a:p>
                  </a:txBody>
                  <a:tcPr anchor="ctr">
                    <a:lnL w="0" cap="flat" cmpd="sng" algn="ctr">
                      <a:noFill/>
                    </a:lnL>
                    <a:lnR w="0" cap="flat" cmpd="sng" algn="ctr">
                      <a:noFill/>
                    </a:lnR>
                    <a:lnT w="0" cap="flat" cmpd="sng" algn="ctr">
                      <a:noFill/>
                    </a:lnT>
                    <a:lnB w="0" cap="flat" cmpd="sng" algn="ctr">
                      <a:noFill/>
                    </a:lnB>
                    <a:solidFill>
                      <a:srgbClr val="132338"/>
                    </a:solidFill>
                  </a:tcPr>
                </a:tc>
                <a:extLst>
                  <a:ext uri="{0D108BD9-81ED-4DB2-BD59-A6C34878D82A}">
                    <a16:rowId xmlns:a16="http://schemas.microsoft.com/office/drawing/2014/main" val="10001"/>
                  </a:ext>
                </a:extLst>
              </a:tr>
              <a:tr h="228600">
                <a:tc>
                  <a:txBody>
                    <a:bodyPr/>
                    <a:lstStyle/>
                    <a:p>
                      <a:pPr marL="0" indent="0" algn="ctr">
                        <a:buNone/>
                      </a:pPr>
                      <a:r>
                        <a:rPr lang="en-US" sz="1100" dirty="0">
                          <a:solidFill>
                            <a:srgbClr val="E8F0F5"/>
                          </a:solidFill>
                        </a:rPr>
                        <a:t>C2</a:t>
                      </a:r>
                      <a:endParaRPr lang="en-US" sz="1100" dirty="0"/>
                    </a:p>
                  </a:txBody>
                  <a:tcPr anchor="ctr">
                    <a:lnL w="0" cap="flat" cmpd="sng" algn="ctr">
                      <a:noFill/>
                    </a:lnL>
                    <a:lnR w="0" cap="flat" cmpd="sng" algn="ctr">
                      <a:noFill/>
                    </a:lnR>
                    <a:lnT w="0" cap="flat" cmpd="sng" algn="ctr">
                      <a:noFill/>
                    </a:lnT>
                    <a:lnB w="0" cap="flat" cmpd="sng" algn="ctr">
                      <a:noFill/>
                    </a:lnB>
                    <a:solidFill>
                      <a:srgbClr val="1A2E44"/>
                    </a:solidFill>
                  </a:tcPr>
                </a:tc>
                <a:tc>
                  <a:txBody>
                    <a:bodyPr/>
                    <a:lstStyle/>
                    <a:p>
                      <a:pPr marL="0" indent="0" algn="ctr">
                        <a:buNone/>
                      </a:pPr>
                      <a:r>
                        <a:rPr lang="en-US" sz="1100" dirty="0">
                          <a:solidFill>
                            <a:srgbClr val="E8F0F5"/>
                          </a:solidFill>
                        </a:rPr>
                        <a:t>17</a:t>
                      </a:r>
                      <a:endParaRPr lang="en-US" sz="1100" dirty="0"/>
                    </a:p>
                  </a:txBody>
                  <a:tcPr anchor="ctr">
                    <a:lnL w="0" cap="flat" cmpd="sng" algn="ctr">
                      <a:noFill/>
                    </a:lnL>
                    <a:lnR w="0" cap="flat" cmpd="sng" algn="ctr">
                      <a:noFill/>
                    </a:lnR>
                    <a:lnT w="0" cap="flat" cmpd="sng" algn="ctr">
                      <a:noFill/>
                    </a:lnT>
                    <a:lnB w="0" cap="flat" cmpd="sng" algn="ctr">
                      <a:noFill/>
                    </a:lnB>
                    <a:solidFill>
                      <a:srgbClr val="1A2E44"/>
                    </a:solidFill>
                  </a:tcPr>
                </a:tc>
                <a:tc>
                  <a:txBody>
                    <a:bodyPr/>
                    <a:lstStyle/>
                    <a:p>
                      <a:pPr marL="0" indent="0" algn="ctr">
                        <a:buNone/>
                      </a:pPr>
                      <a:r>
                        <a:rPr lang="en-US" sz="1100" dirty="0">
                          <a:solidFill>
                            <a:srgbClr val="E8F0F5"/>
                          </a:solidFill>
                        </a:rPr>
                        <a:t>17/115 = 14.8%</a:t>
                      </a:r>
                      <a:endParaRPr lang="en-US" sz="1100" dirty="0"/>
                    </a:p>
                  </a:txBody>
                  <a:tcPr anchor="ctr">
                    <a:lnL w="0" cap="flat" cmpd="sng" algn="ctr">
                      <a:noFill/>
                    </a:lnL>
                    <a:lnR w="0" cap="flat" cmpd="sng" algn="ctr">
                      <a:noFill/>
                    </a:lnR>
                    <a:lnT w="0" cap="flat" cmpd="sng" algn="ctr">
                      <a:noFill/>
                    </a:lnT>
                    <a:lnB w="0" cap="flat" cmpd="sng" algn="ctr">
                      <a:noFill/>
                    </a:lnB>
                    <a:solidFill>
                      <a:srgbClr val="1A2E44"/>
                    </a:solidFill>
                  </a:tcPr>
                </a:tc>
                <a:tc>
                  <a:txBody>
                    <a:bodyPr/>
                    <a:lstStyle/>
                    <a:p>
                      <a:pPr marL="0" indent="0" algn="ctr">
                        <a:buNone/>
                      </a:pPr>
                      <a:r>
                        <a:rPr lang="en-US" sz="1100" dirty="0">
                          <a:solidFill>
                            <a:srgbClr val="E8F0F5"/>
                          </a:solidFill>
                        </a:rPr>
                        <a:t>39.1%</a:t>
                      </a:r>
                      <a:endParaRPr lang="en-US" sz="1100" dirty="0"/>
                    </a:p>
                  </a:txBody>
                  <a:tcPr anchor="ctr">
                    <a:lnL w="0" cap="flat" cmpd="sng" algn="ctr">
                      <a:noFill/>
                    </a:lnL>
                    <a:lnR w="0" cap="flat" cmpd="sng" algn="ctr">
                      <a:noFill/>
                    </a:lnR>
                    <a:lnT w="0" cap="flat" cmpd="sng" algn="ctr">
                      <a:noFill/>
                    </a:lnT>
                    <a:lnB w="0" cap="flat" cmpd="sng" algn="ctr">
                      <a:noFill/>
                    </a:lnB>
                    <a:solidFill>
                      <a:srgbClr val="1A2E44"/>
                    </a:solidFill>
                  </a:tcPr>
                </a:tc>
                <a:extLst>
                  <a:ext uri="{0D108BD9-81ED-4DB2-BD59-A6C34878D82A}">
                    <a16:rowId xmlns:a16="http://schemas.microsoft.com/office/drawing/2014/main" val="10002"/>
                  </a:ext>
                </a:extLst>
              </a:tr>
              <a:tr h="228600">
                <a:tc>
                  <a:txBody>
                    <a:bodyPr/>
                    <a:lstStyle/>
                    <a:p>
                      <a:pPr marL="0" indent="0" algn="ctr">
                        <a:buNone/>
                      </a:pPr>
                      <a:r>
                        <a:rPr lang="en-US" sz="1100" dirty="0">
                          <a:solidFill>
                            <a:srgbClr val="00C896"/>
                          </a:solidFill>
                        </a:rPr>
                        <a:t>C3</a:t>
                      </a:r>
                      <a:endParaRPr lang="en-US" sz="110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100" dirty="0">
                          <a:solidFill>
                            <a:srgbClr val="00C896"/>
                          </a:solidFill>
                        </a:rPr>
                        <a:t>35</a:t>
                      </a:r>
                      <a:endParaRPr lang="en-US" sz="110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100" dirty="0">
                          <a:solidFill>
                            <a:srgbClr val="00C896"/>
                          </a:solidFill>
                        </a:rPr>
                        <a:t>35/115 = 30.4%</a:t>
                      </a:r>
                      <a:endParaRPr lang="en-US" sz="110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100" dirty="0">
                          <a:solidFill>
                            <a:srgbClr val="00C896"/>
                          </a:solidFill>
                        </a:rPr>
                        <a:t>69.5%</a:t>
                      </a:r>
                      <a:endParaRPr lang="en-US" sz="1100" dirty="0"/>
                    </a:p>
                  </a:txBody>
                  <a:tcPr anchor="ctr">
                    <a:lnL w="0" cap="flat" cmpd="sng" algn="ctr">
                      <a:noFill/>
                    </a:lnL>
                    <a:lnR w="0" cap="flat" cmpd="sng" algn="ctr">
                      <a:noFill/>
                    </a:lnR>
                    <a:lnT w="0" cap="flat" cmpd="sng" algn="ctr">
                      <a:noFill/>
                    </a:lnT>
                    <a:lnB w="0" cap="flat" cmpd="sng" algn="ctr">
                      <a:noFill/>
                    </a:lnB>
                    <a:solidFill>
                      <a:srgbClr val="132338"/>
                    </a:solidFill>
                  </a:tcPr>
                </a:tc>
                <a:extLst>
                  <a:ext uri="{0D108BD9-81ED-4DB2-BD59-A6C34878D82A}">
                    <a16:rowId xmlns:a16="http://schemas.microsoft.com/office/drawing/2014/main" val="10003"/>
                  </a:ext>
                </a:extLst>
              </a:tr>
              <a:tr h="228600">
                <a:tc>
                  <a:txBody>
                    <a:bodyPr/>
                    <a:lstStyle/>
                    <a:p>
                      <a:pPr marL="0" indent="0" algn="ctr">
                        <a:buNone/>
                      </a:pPr>
                      <a:r>
                        <a:rPr lang="en-US" sz="1100" dirty="0">
                          <a:solidFill>
                            <a:srgbClr val="E8F0F5"/>
                          </a:solidFill>
                        </a:rPr>
                        <a:t>C4</a:t>
                      </a:r>
                      <a:endParaRPr lang="en-US" sz="1100" dirty="0"/>
                    </a:p>
                  </a:txBody>
                  <a:tcPr anchor="ctr">
                    <a:lnL w="0" cap="flat" cmpd="sng" algn="ctr">
                      <a:noFill/>
                    </a:lnL>
                    <a:lnR w="0" cap="flat" cmpd="sng" algn="ctr">
                      <a:noFill/>
                    </a:lnR>
                    <a:lnT w="0" cap="flat" cmpd="sng" algn="ctr">
                      <a:noFill/>
                    </a:lnT>
                    <a:lnB w="0" cap="flat" cmpd="sng" algn="ctr">
                      <a:noFill/>
                    </a:lnB>
                    <a:solidFill>
                      <a:srgbClr val="1A2E44"/>
                    </a:solidFill>
                  </a:tcPr>
                </a:tc>
                <a:tc>
                  <a:txBody>
                    <a:bodyPr/>
                    <a:lstStyle/>
                    <a:p>
                      <a:pPr marL="0" indent="0" algn="ctr">
                        <a:buNone/>
                      </a:pPr>
                      <a:r>
                        <a:rPr lang="en-US" sz="1100" dirty="0">
                          <a:solidFill>
                            <a:srgbClr val="E8F0F5"/>
                          </a:solidFill>
                        </a:rPr>
                        <a:t>22</a:t>
                      </a:r>
                      <a:endParaRPr lang="en-US" sz="1100" dirty="0"/>
                    </a:p>
                  </a:txBody>
                  <a:tcPr anchor="ctr">
                    <a:lnL w="0" cap="flat" cmpd="sng" algn="ctr">
                      <a:noFill/>
                    </a:lnL>
                    <a:lnR w="0" cap="flat" cmpd="sng" algn="ctr">
                      <a:noFill/>
                    </a:lnR>
                    <a:lnT w="0" cap="flat" cmpd="sng" algn="ctr">
                      <a:noFill/>
                    </a:lnT>
                    <a:lnB w="0" cap="flat" cmpd="sng" algn="ctr">
                      <a:noFill/>
                    </a:lnB>
                    <a:solidFill>
                      <a:srgbClr val="1A2E44"/>
                    </a:solidFill>
                  </a:tcPr>
                </a:tc>
                <a:tc>
                  <a:txBody>
                    <a:bodyPr/>
                    <a:lstStyle/>
                    <a:p>
                      <a:pPr marL="0" indent="0" algn="ctr">
                        <a:buNone/>
                      </a:pPr>
                      <a:r>
                        <a:rPr lang="en-US" sz="1100" dirty="0">
                          <a:solidFill>
                            <a:srgbClr val="E8F0F5"/>
                          </a:solidFill>
                        </a:rPr>
                        <a:t>22/115 = 19.1%</a:t>
                      </a:r>
                      <a:endParaRPr lang="en-US" sz="1100" dirty="0"/>
                    </a:p>
                  </a:txBody>
                  <a:tcPr anchor="ctr">
                    <a:lnL w="0" cap="flat" cmpd="sng" algn="ctr">
                      <a:noFill/>
                    </a:lnL>
                    <a:lnR w="0" cap="flat" cmpd="sng" algn="ctr">
                      <a:noFill/>
                    </a:lnR>
                    <a:lnT w="0" cap="flat" cmpd="sng" algn="ctr">
                      <a:noFill/>
                    </a:lnT>
                    <a:lnB w="0" cap="flat" cmpd="sng" algn="ctr">
                      <a:noFill/>
                    </a:lnB>
                    <a:solidFill>
                      <a:srgbClr val="1A2E44"/>
                    </a:solidFill>
                  </a:tcPr>
                </a:tc>
                <a:tc>
                  <a:txBody>
                    <a:bodyPr/>
                    <a:lstStyle/>
                    <a:p>
                      <a:pPr marL="0" indent="0" algn="ctr">
                        <a:buNone/>
                      </a:pPr>
                      <a:r>
                        <a:rPr lang="en-US" sz="1100" dirty="0">
                          <a:solidFill>
                            <a:srgbClr val="E8F0F5"/>
                          </a:solidFill>
                        </a:rPr>
                        <a:t>88.6%</a:t>
                      </a:r>
                      <a:endParaRPr lang="en-US" sz="1100" dirty="0"/>
                    </a:p>
                  </a:txBody>
                  <a:tcPr anchor="ctr">
                    <a:lnL w="0" cap="flat" cmpd="sng" algn="ctr">
                      <a:noFill/>
                    </a:lnL>
                    <a:lnR w="0" cap="flat" cmpd="sng" algn="ctr">
                      <a:noFill/>
                    </a:lnR>
                    <a:lnT w="0" cap="flat" cmpd="sng" algn="ctr">
                      <a:noFill/>
                    </a:lnT>
                    <a:lnB w="0" cap="flat" cmpd="sng" algn="ctr">
                      <a:noFill/>
                    </a:lnB>
                    <a:solidFill>
                      <a:srgbClr val="1A2E44"/>
                    </a:solidFill>
                  </a:tcPr>
                </a:tc>
                <a:extLst>
                  <a:ext uri="{0D108BD9-81ED-4DB2-BD59-A6C34878D82A}">
                    <a16:rowId xmlns:a16="http://schemas.microsoft.com/office/drawing/2014/main" val="10004"/>
                  </a:ext>
                </a:extLst>
              </a:tr>
              <a:tr h="228600">
                <a:tc>
                  <a:txBody>
                    <a:bodyPr/>
                    <a:lstStyle/>
                    <a:p>
                      <a:pPr marL="0" indent="0" algn="ctr">
                        <a:buNone/>
                      </a:pPr>
                      <a:r>
                        <a:rPr lang="en-US" sz="1100" dirty="0">
                          <a:solidFill>
                            <a:srgbClr val="E8F0F5"/>
                          </a:solidFill>
                        </a:rPr>
                        <a:t>C5</a:t>
                      </a:r>
                      <a:endParaRPr lang="en-US" sz="110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100" dirty="0">
                          <a:solidFill>
                            <a:srgbClr val="E8F0F5"/>
                          </a:solidFill>
                        </a:rPr>
                        <a:t>13</a:t>
                      </a:r>
                      <a:endParaRPr lang="en-US" sz="110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100" dirty="0">
                          <a:solidFill>
                            <a:srgbClr val="E8F0F5"/>
                          </a:solidFill>
                        </a:rPr>
                        <a:t>13/115 = 11.4%</a:t>
                      </a:r>
                      <a:endParaRPr lang="en-US" sz="110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100" dirty="0">
                          <a:solidFill>
                            <a:srgbClr val="E8F0F5"/>
                          </a:solidFill>
                        </a:rPr>
                        <a:t>100%</a:t>
                      </a:r>
                      <a:endParaRPr lang="en-US" sz="1100" dirty="0"/>
                    </a:p>
                  </a:txBody>
                  <a:tcPr anchor="ctr">
                    <a:lnL w="0" cap="flat" cmpd="sng" algn="ctr">
                      <a:noFill/>
                    </a:lnL>
                    <a:lnR w="0" cap="flat" cmpd="sng" algn="ctr">
                      <a:noFill/>
                    </a:lnR>
                    <a:lnT w="0" cap="flat" cmpd="sng" algn="ctr">
                      <a:noFill/>
                    </a:lnT>
                    <a:lnB w="0" cap="flat" cmpd="sng" algn="ctr">
                      <a:noFill/>
                    </a:lnB>
                    <a:solidFill>
                      <a:srgbClr val="132338"/>
                    </a:solidFill>
                  </a:tcPr>
                </a:tc>
                <a:extLst>
                  <a:ext uri="{0D108BD9-81ED-4DB2-BD59-A6C34878D82A}">
                    <a16:rowId xmlns:a16="http://schemas.microsoft.com/office/drawing/2014/main" val="10005"/>
                  </a:ext>
                </a:extLst>
              </a:tr>
            </a:tbl>
          </a:graphicData>
        </a:graphic>
      </p:graphicFrame>
      <p:sp>
        <p:nvSpPr>
          <p:cNvPr id="12" name="Text 9"/>
          <p:cNvSpPr/>
          <p:nvPr/>
        </p:nvSpPr>
        <p:spPr>
          <a:xfrm>
            <a:off x="365760" y="4315968"/>
            <a:ext cx="8412480" cy="292608"/>
          </a:xfrm>
          <a:prstGeom prst="rect">
            <a:avLst/>
          </a:prstGeom>
          <a:noFill/>
          <a:ln/>
        </p:spPr>
        <p:txBody>
          <a:bodyPr wrap="square" rtlCol="0" anchor="ctr"/>
          <a:lstStyle/>
          <a:p>
            <a:pPr marL="0" indent="0">
              <a:buNone/>
            </a:pPr>
            <a:r>
              <a:rPr lang="en-US" sz="1150" i="1" dirty="0">
                <a:solidFill>
                  <a:srgbClr val="00C896"/>
                </a:solidFill>
                <a:latin typeface="Calibri" pitchFamily="34" charset="0"/>
                <a:ea typeface="Calibri" pitchFamily="34" charset="-122"/>
                <a:cs typeface="Calibri" pitchFamily="34" charset="-120"/>
              </a:rPr>
              <a:t>✅  C3 has the highest fitness (35) → largest slice → most likely selected (30.4% chance)</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256032"/>
            <a:ext cx="64008" cy="502920"/>
          </a:xfrm>
          <a:prstGeom prst="rect">
            <a:avLst/>
          </a:prstGeom>
          <a:solidFill>
            <a:srgbClr val="00C896"/>
          </a:solidFill>
          <a:ln w="12700">
            <a:solidFill>
              <a:srgbClr val="00C896"/>
            </a:solidFill>
            <a:prstDash val="solid"/>
          </a:ln>
        </p:spPr>
        <p:txBody>
          <a:bodyPr/>
          <a:lstStyle/>
          <a:p>
            <a:endParaRPr lang="en-US"/>
          </a:p>
        </p:txBody>
      </p:sp>
      <p:sp>
        <p:nvSpPr>
          <p:cNvPr id="3" name="Text 1"/>
          <p:cNvSpPr/>
          <p:nvPr/>
        </p:nvSpPr>
        <p:spPr>
          <a:xfrm>
            <a:off x="512064" y="256032"/>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  Tournament Selection</a:t>
            </a:r>
            <a:endParaRPr lang="en-US" sz="2800" dirty="0"/>
          </a:p>
        </p:txBody>
      </p:sp>
      <p:sp>
        <p:nvSpPr>
          <p:cNvPr id="5" name="Shape 3"/>
          <p:cNvSpPr/>
          <p:nvPr/>
        </p:nvSpPr>
        <p:spPr>
          <a:xfrm>
            <a:off x="365760" y="868680"/>
            <a:ext cx="8412480" cy="0"/>
          </a:xfrm>
          <a:prstGeom prst="line">
            <a:avLst/>
          </a:prstGeom>
          <a:noFill/>
          <a:ln w="12700">
            <a:solidFill>
              <a:srgbClr val="00C896">
                <a:alpha val="50000"/>
              </a:srgbClr>
            </a:solidFill>
            <a:prstDash val="solid"/>
          </a:ln>
        </p:spPr>
        <p:txBody>
          <a:bodyPr/>
          <a:lstStyle/>
          <a:p>
            <a:endParaRPr lang="en-US"/>
          </a:p>
        </p:txBody>
      </p:sp>
      <p:sp>
        <p:nvSpPr>
          <p:cNvPr id="6" name="Shape 4"/>
          <p:cNvSpPr/>
          <p:nvPr/>
        </p:nvSpPr>
        <p:spPr>
          <a:xfrm>
            <a:off x="365760" y="1005840"/>
            <a:ext cx="8412480" cy="804672"/>
          </a:xfrm>
          <a:prstGeom prst="rect">
            <a:avLst/>
          </a:prstGeom>
          <a:solidFill>
            <a:srgbClr val="1A2E44"/>
          </a:solidFill>
          <a:ln w="19050">
            <a:solidFill>
              <a:srgbClr val="00A3FF"/>
            </a:solidFill>
            <a:prstDash val="solid"/>
          </a:ln>
          <a:effectLst>
            <a:outerShdw blurRad="101600" dist="38100" dir="8100000" algn="bl" rotWithShape="0">
              <a:srgbClr val="000000">
                <a:alpha val="25000"/>
              </a:srgbClr>
            </a:outerShdw>
          </a:effectLst>
        </p:spPr>
        <p:txBody>
          <a:bodyPr/>
          <a:lstStyle/>
          <a:p>
            <a:endParaRPr lang="en-US"/>
          </a:p>
        </p:txBody>
      </p:sp>
      <p:sp>
        <p:nvSpPr>
          <p:cNvPr id="7" name="Text 5"/>
          <p:cNvSpPr/>
          <p:nvPr/>
        </p:nvSpPr>
        <p:spPr>
          <a:xfrm>
            <a:off x="502920" y="1042416"/>
            <a:ext cx="8229600" cy="749808"/>
          </a:xfrm>
          <a:prstGeom prst="rect">
            <a:avLst/>
          </a:prstGeom>
          <a:noFill/>
          <a:ln/>
        </p:spPr>
        <p:txBody>
          <a:bodyPr wrap="square" rtlCol="0" anchor="ctr"/>
          <a:lstStyle/>
          <a:p>
            <a:pPr marL="0" indent="0">
              <a:buNone/>
            </a:pPr>
            <a:r>
              <a:rPr lang="en-US" sz="1250" b="1" dirty="0">
                <a:solidFill>
                  <a:srgbClr val="00A3FF"/>
                </a:solidFill>
                <a:latin typeface="Calibri" pitchFamily="34" charset="0"/>
                <a:ea typeface="Calibri" pitchFamily="34" charset="-122"/>
                <a:cs typeface="Calibri" pitchFamily="34" charset="-120"/>
              </a:rPr>
              <a:t>Definition: </a:t>
            </a:r>
            <a:r>
              <a:rPr lang="en-US" sz="1250" dirty="0">
                <a:solidFill>
                  <a:srgbClr val="E8F0F5"/>
                </a:solidFill>
                <a:latin typeface="Calibri" pitchFamily="34" charset="0"/>
                <a:ea typeface="Calibri" pitchFamily="34" charset="-122"/>
                <a:cs typeface="Calibri" pitchFamily="34" charset="-120"/>
              </a:rPr>
              <a:t>A fixed number (k) of chromosomes are randomly picked from the population to compete in a "tournament". The chromosome with the highest fitness among the group wins and is selected as a parent. This process is repeated until enough parents are selected.</a:t>
            </a:r>
            <a:endParaRPr lang="en-US" sz="1250" dirty="0"/>
          </a:p>
        </p:txBody>
      </p:sp>
      <p:sp>
        <p:nvSpPr>
          <p:cNvPr id="8" name="Text 6"/>
          <p:cNvSpPr/>
          <p:nvPr/>
        </p:nvSpPr>
        <p:spPr>
          <a:xfrm>
            <a:off x="365760" y="1920240"/>
            <a:ext cx="4572000" cy="256032"/>
          </a:xfrm>
          <a:prstGeom prst="rect">
            <a:avLst/>
          </a:prstGeom>
          <a:noFill/>
          <a:ln/>
        </p:spPr>
        <p:txBody>
          <a:bodyPr wrap="square" rtlCol="0" anchor="ctr"/>
          <a:lstStyle/>
          <a:p>
            <a:pPr marL="0" indent="0">
              <a:buNone/>
            </a:pPr>
            <a:r>
              <a:rPr lang="en-US" sz="1000" b="1" dirty="0">
                <a:solidFill>
                  <a:srgbClr val="8FA8BF"/>
                </a:solidFill>
                <a:latin typeface="Calibri" pitchFamily="34" charset="0"/>
                <a:ea typeface="Calibri" pitchFamily="34" charset="-122"/>
                <a:cs typeface="Calibri" pitchFamily="34" charset="-120"/>
              </a:rPr>
              <a:t>EXAMPLE  (Tournament Size k = 3):</a:t>
            </a:r>
            <a:endParaRPr lang="en-US" sz="1000" dirty="0"/>
          </a:p>
        </p:txBody>
      </p:sp>
      <p:sp>
        <p:nvSpPr>
          <p:cNvPr id="9" name="Shape 7"/>
          <p:cNvSpPr/>
          <p:nvPr/>
        </p:nvSpPr>
        <p:spPr>
          <a:xfrm>
            <a:off x="365760" y="2240280"/>
            <a:ext cx="1261872" cy="804672"/>
          </a:xfrm>
          <a:prstGeom prst="rect">
            <a:avLst/>
          </a:prstGeom>
          <a:solidFill>
            <a:srgbClr val="1A2E44"/>
          </a:solidFill>
          <a:ln w="19050">
            <a:solidFill>
              <a:srgbClr val="8FA8BF"/>
            </a:solidFill>
            <a:prstDash val="solid"/>
          </a:ln>
          <a:effectLst>
            <a:outerShdw blurRad="101600" dist="38100" dir="8100000" algn="bl" rotWithShape="0">
              <a:srgbClr val="000000">
                <a:alpha val="25000"/>
              </a:srgbClr>
            </a:outerShdw>
          </a:effectLst>
        </p:spPr>
        <p:txBody>
          <a:bodyPr/>
          <a:lstStyle/>
          <a:p>
            <a:endParaRPr lang="en-US"/>
          </a:p>
        </p:txBody>
      </p:sp>
      <p:sp>
        <p:nvSpPr>
          <p:cNvPr id="10" name="Text 8"/>
          <p:cNvSpPr/>
          <p:nvPr/>
        </p:nvSpPr>
        <p:spPr>
          <a:xfrm>
            <a:off x="365760" y="2267712"/>
            <a:ext cx="1261872" cy="274320"/>
          </a:xfrm>
          <a:prstGeom prst="rect">
            <a:avLst/>
          </a:prstGeom>
          <a:noFill/>
          <a:ln/>
        </p:spPr>
        <p:txBody>
          <a:bodyPr wrap="square" rtlCol="0" anchor="ctr"/>
          <a:lstStyle/>
          <a:p>
            <a:pPr marL="0" indent="0" algn="ctr">
              <a:buNone/>
            </a:pPr>
            <a:r>
              <a:rPr lang="en-US" sz="1200" b="1" dirty="0">
                <a:solidFill>
                  <a:srgbClr val="8FA8BF"/>
                </a:solidFill>
                <a:latin typeface="Calibri" pitchFamily="34" charset="0"/>
                <a:ea typeface="Calibri" pitchFamily="34" charset="-122"/>
                <a:cs typeface="Calibri" pitchFamily="34" charset="-120"/>
              </a:rPr>
              <a:t>C1</a:t>
            </a:r>
            <a:endParaRPr lang="en-US" sz="1200" dirty="0"/>
          </a:p>
        </p:txBody>
      </p:sp>
      <p:sp>
        <p:nvSpPr>
          <p:cNvPr id="11" name="Text 9"/>
          <p:cNvSpPr/>
          <p:nvPr/>
        </p:nvSpPr>
        <p:spPr>
          <a:xfrm>
            <a:off x="365760" y="2542032"/>
            <a:ext cx="1261872" cy="274320"/>
          </a:xfrm>
          <a:prstGeom prst="rect">
            <a:avLst/>
          </a:prstGeom>
          <a:noFill/>
          <a:ln/>
        </p:spPr>
        <p:txBody>
          <a:bodyPr wrap="square" rtlCol="0" anchor="ctr"/>
          <a:lstStyle/>
          <a:p>
            <a:pPr marL="0" indent="0" algn="ctr">
              <a:buNone/>
            </a:pPr>
            <a:r>
              <a:rPr lang="en-US" sz="1100" dirty="0">
                <a:solidFill>
                  <a:srgbClr val="8FA8BF"/>
                </a:solidFill>
                <a:latin typeface="Consolas" pitchFamily="34" charset="0"/>
                <a:ea typeface="Consolas" pitchFamily="34" charset="-122"/>
                <a:cs typeface="Consolas" pitchFamily="34" charset="-120"/>
              </a:rPr>
              <a:t>f = 28</a:t>
            </a:r>
            <a:endParaRPr lang="en-US" sz="1100" dirty="0"/>
          </a:p>
        </p:txBody>
      </p:sp>
      <p:sp>
        <p:nvSpPr>
          <p:cNvPr id="12" name="Shape 10"/>
          <p:cNvSpPr/>
          <p:nvPr/>
        </p:nvSpPr>
        <p:spPr>
          <a:xfrm>
            <a:off x="1764792" y="2240280"/>
            <a:ext cx="1261872" cy="804672"/>
          </a:xfrm>
          <a:prstGeom prst="rect">
            <a:avLst/>
          </a:prstGeom>
          <a:solidFill>
            <a:srgbClr val="0E2035"/>
          </a:solidFill>
          <a:ln w="19050">
            <a:solidFill>
              <a:srgbClr val="00A3FF"/>
            </a:solidFill>
            <a:prstDash val="solid"/>
          </a:ln>
          <a:effectLst>
            <a:outerShdw blurRad="101600" dist="38100" dir="8100000" algn="bl" rotWithShape="0">
              <a:srgbClr val="000000">
                <a:alpha val="25000"/>
              </a:srgbClr>
            </a:outerShdw>
          </a:effectLst>
        </p:spPr>
        <p:txBody>
          <a:bodyPr/>
          <a:lstStyle/>
          <a:p>
            <a:endParaRPr lang="en-US"/>
          </a:p>
        </p:txBody>
      </p:sp>
      <p:sp>
        <p:nvSpPr>
          <p:cNvPr id="13" name="Text 11"/>
          <p:cNvSpPr/>
          <p:nvPr/>
        </p:nvSpPr>
        <p:spPr>
          <a:xfrm>
            <a:off x="1764792" y="2267712"/>
            <a:ext cx="1261872" cy="274320"/>
          </a:xfrm>
          <a:prstGeom prst="rect">
            <a:avLst/>
          </a:prstGeom>
          <a:noFill/>
          <a:ln/>
        </p:spPr>
        <p:txBody>
          <a:bodyPr wrap="square" rtlCol="0" anchor="ctr"/>
          <a:lstStyle/>
          <a:p>
            <a:pPr marL="0" indent="0" algn="ctr">
              <a:buNone/>
            </a:pPr>
            <a:r>
              <a:rPr lang="en-US" sz="1200" b="1" dirty="0">
                <a:solidFill>
                  <a:srgbClr val="00A3FF"/>
                </a:solidFill>
                <a:latin typeface="Calibri" pitchFamily="34" charset="0"/>
                <a:ea typeface="Calibri" pitchFamily="34" charset="-122"/>
                <a:cs typeface="Calibri" pitchFamily="34" charset="-120"/>
              </a:rPr>
              <a:t>C2</a:t>
            </a:r>
            <a:endParaRPr lang="en-US" sz="1200" dirty="0"/>
          </a:p>
        </p:txBody>
      </p:sp>
      <p:sp>
        <p:nvSpPr>
          <p:cNvPr id="14" name="Text 12"/>
          <p:cNvSpPr/>
          <p:nvPr/>
        </p:nvSpPr>
        <p:spPr>
          <a:xfrm>
            <a:off x="1764792" y="2542032"/>
            <a:ext cx="1261872" cy="274320"/>
          </a:xfrm>
          <a:prstGeom prst="rect">
            <a:avLst/>
          </a:prstGeom>
          <a:noFill/>
          <a:ln/>
        </p:spPr>
        <p:txBody>
          <a:bodyPr wrap="square" rtlCol="0" anchor="ctr"/>
          <a:lstStyle/>
          <a:p>
            <a:pPr marL="0" indent="0" algn="ctr">
              <a:buNone/>
            </a:pPr>
            <a:r>
              <a:rPr lang="en-US" sz="1100" dirty="0">
                <a:solidFill>
                  <a:srgbClr val="FFFFFF"/>
                </a:solidFill>
                <a:latin typeface="Consolas" pitchFamily="34" charset="0"/>
                <a:ea typeface="Consolas" pitchFamily="34" charset="-122"/>
                <a:cs typeface="Consolas" pitchFamily="34" charset="-120"/>
              </a:rPr>
              <a:t>f = 17</a:t>
            </a:r>
            <a:endParaRPr lang="en-US" sz="1100" dirty="0"/>
          </a:p>
        </p:txBody>
      </p:sp>
      <p:sp>
        <p:nvSpPr>
          <p:cNvPr id="15" name="Shape 13"/>
          <p:cNvSpPr/>
          <p:nvPr/>
        </p:nvSpPr>
        <p:spPr>
          <a:xfrm>
            <a:off x="1938528" y="3072384"/>
            <a:ext cx="914400" cy="201168"/>
          </a:xfrm>
          <a:prstGeom prst="rect">
            <a:avLst/>
          </a:prstGeom>
          <a:solidFill>
            <a:srgbClr val="00A3FF"/>
          </a:solidFill>
          <a:ln w="12700">
            <a:solidFill>
              <a:srgbClr val="00A3FF"/>
            </a:solidFill>
            <a:prstDash val="solid"/>
          </a:ln>
        </p:spPr>
        <p:txBody>
          <a:bodyPr/>
          <a:lstStyle/>
          <a:p>
            <a:endParaRPr lang="en-US"/>
          </a:p>
        </p:txBody>
      </p:sp>
      <p:sp>
        <p:nvSpPr>
          <p:cNvPr id="16" name="Text 14"/>
          <p:cNvSpPr/>
          <p:nvPr/>
        </p:nvSpPr>
        <p:spPr>
          <a:xfrm>
            <a:off x="1938528" y="3072384"/>
            <a:ext cx="914400" cy="20116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PICKED</a:t>
            </a:r>
            <a:endParaRPr lang="en-US" sz="1000" dirty="0"/>
          </a:p>
        </p:txBody>
      </p:sp>
      <p:sp>
        <p:nvSpPr>
          <p:cNvPr id="17" name="Shape 15"/>
          <p:cNvSpPr/>
          <p:nvPr/>
        </p:nvSpPr>
        <p:spPr>
          <a:xfrm>
            <a:off x="3163824" y="2240280"/>
            <a:ext cx="1261872" cy="804672"/>
          </a:xfrm>
          <a:prstGeom prst="rect">
            <a:avLst/>
          </a:prstGeom>
          <a:solidFill>
            <a:srgbClr val="1A2E44"/>
          </a:solidFill>
          <a:ln w="19050">
            <a:solidFill>
              <a:srgbClr val="8FA8BF"/>
            </a:solidFill>
            <a:prstDash val="solid"/>
          </a:ln>
          <a:effectLst>
            <a:outerShdw blurRad="101600" dist="38100" dir="8100000" algn="bl" rotWithShape="0">
              <a:srgbClr val="000000">
                <a:alpha val="25000"/>
              </a:srgbClr>
            </a:outerShdw>
          </a:effectLst>
        </p:spPr>
        <p:txBody>
          <a:bodyPr/>
          <a:lstStyle/>
          <a:p>
            <a:endParaRPr lang="en-US"/>
          </a:p>
        </p:txBody>
      </p:sp>
      <p:sp>
        <p:nvSpPr>
          <p:cNvPr id="18" name="Text 16"/>
          <p:cNvSpPr/>
          <p:nvPr/>
        </p:nvSpPr>
        <p:spPr>
          <a:xfrm>
            <a:off x="3163824" y="2267712"/>
            <a:ext cx="1261872" cy="274320"/>
          </a:xfrm>
          <a:prstGeom prst="rect">
            <a:avLst/>
          </a:prstGeom>
          <a:noFill/>
          <a:ln/>
        </p:spPr>
        <p:txBody>
          <a:bodyPr wrap="square" rtlCol="0" anchor="ctr"/>
          <a:lstStyle/>
          <a:p>
            <a:pPr marL="0" indent="0" algn="ctr">
              <a:buNone/>
            </a:pPr>
            <a:r>
              <a:rPr lang="en-US" sz="1200" b="1" dirty="0">
                <a:solidFill>
                  <a:srgbClr val="8FA8BF"/>
                </a:solidFill>
                <a:latin typeface="Calibri" pitchFamily="34" charset="0"/>
                <a:ea typeface="Calibri" pitchFamily="34" charset="-122"/>
                <a:cs typeface="Calibri" pitchFamily="34" charset="-120"/>
              </a:rPr>
              <a:t>C3</a:t>
            </a:r>
            <a:endParaRPr lang="en-US" sz="1200" dirty="0"/>
          </a:p>
        </p:txBody>
      </p:sp>
      <p:sp>
        <p:nvSpPr>
          <p:cNvPr id="19" name="Text 17"/>
          <p:cNvSpPr/>
          <p:nvPr/>
        </p:nvSpPr>
        <p:spPr>
          <a:xfrm>
            <a:off x="3163824" y="2542032"/>
            <a:ext cx="1261872" cy="274320"/>
          </a:xfrm>
          <a:prstGeom prst="rect">
            <a:avLst/>
          </a:prstGeom>
          <a:noFill/>
          <a:ln/>
        </p:spPr>
        <p:txBody>
          <a:bodyPr wrap="square" rtlCol="0" anchor="ctr"/>
          <a:lstStyle/>
          <a:p>
            <a:pPr marL="0" indent="0" algn="ctr">
              <a:buNone/>
            </a:pPr>
            <a:r>
              <a:rPr lang="en-US" sz="1100" dirty="0">
                <a:solidFill>
                  <a:srgbClr val="8FA8BF"/>
                </a:solidFill>
                <a:latin typeface="Consolas" pitchFamily="34" charset="0"/>
                <a:ea typeface="Consolas" pitchFamily="34" charset="-122"/>
                <a:cs typeface="Consolas" pitchFamily="34" charset="-120"/>
              </a:rPr>
              <a:t>f = 35</a:t>
            </a:r>
            <a:endParaRPr lang="en-US" sz="1100" dirty="0"/>
          </a:p>
        </p:txBody>
      </p:sp>
      <p:sp>
        <p:nvSpPr>
          <p:cNvPr id="20" name="Shape 18"/>
          <p:cNvSpPr/>
          <p:nvPr/>
        </p:nvSpPr>
        <p:spPr>
          <a:xfrm>
            <a:off x="4562856" y="2240280"/>
            <a:ext cx="1261872" cy="804672"/>
          </a:xfrm>
          <a:prstGeom prst="rect">
            <a:avLst/>
          </a:prstGeom>
          <a:solidFill>
            <a:srgbClr val="0E2035"/>
          </a:solidFill>
          <a:ln w="19050">
            <a:solidFill>
              <a:srgbClr val="00A3FF"/>
            </a:solidFill>
            <a:prstDash val="solid"/>
          </a:ln>
          <a:effectLst>
            <a:outerShdw blurRad="101600" dist="38100" dir="8100000" algn="bl" rotWithShape="0">
              <a:srgbClr val="000000">
                <a:alpha val="25000"/>
              </a:srgbClr>
            </a:outerShdw>
          </a:effectLst>
        </p:spPr>
        <p:txBody>
          <a:bodyPr/>
          <a:lstStyle/>
          <a:p>
            <a:endParaRPr lang="en-US"/>
          </a:p>
        </p:txBody>
      </p:sp>
      <p:sp>
        <p:nvSpPr>
          <p:cNvPr id="21" name="Text 19"/>
          <p:cNvSpPr/>
          <p:nvPr/>
        </p:nvSpPr>
        <p:spPr>
          <a:xfrm>
            <a:off x="4562856" y="2267712"/>
            <a:ext cx="1261872" cy="274320"/>
          </a:xfrm>
          <a:prstGeom prst="rect">
            <a:avLst/>
          </a:prstGeom>
          <a:noFill/>
          <a:ln/>
        </p:spPr>
        <p:txBody>
          <a:bodyPr wrap="square" rtlCol="0" anchor="ctr"/>
          <a:lstStyle/>
          <a:p>
            <a:pPr marL="0" indent="0" algn="ctr">
              <a:buNone/>
            </a:pPr>
            <a:r>
              <a:rPr lang="en-US" sz="1200" b="1" dirty="0">
                <a:solidFill>
                  <a:srgbClr val="00A3FF"/>
                </a:solidFill>
                <a:latin typeface="Calibri" pitchFamily="34" charset="0"/>
                <a:ea typeface="Calibri" pitchFamily="34" charset="-122"/>
                <a:cs typeface="Calibri" pitchFamily="34" charset="-120"/>
              </a:rPr>
              <a:t>C4</a:t>
            </a:r>
            <a:endParaRPr lang="en-US" sz="1200" dirty="0"/>
          </a:p>
        </p:txBody>
      </p:sp>
      <p:sp>
        <p:nvSpPr>
          <p:cNvPr id="22" name="Text 20"/>
          <p:cNvSpPr/>
          <p:nvPr/>
        </p:nvSpPr>
        <p:spPr>
          <a:xfrm>
            <a:off x="4562856" y="2542032"/>
            <a:ext cx="1261872" cy="274320"/>
          </a:xfrm>
          <a:prstGeom prst="rect">
            <a:avLst/>
          </a:prstGeom>
          <a:noFill/>
          <a:ln/>
        </p:spPr>
        <p:txBody>
          <a:bodyPr wrap="square" rtlCol="0" anchor="ctr"/>
          <a:lstStyle/>
          <a:p>
            <a:pPr marL="0" indent="0" algn="ctr">
              <a:buNone/>
            </a:pPr>
            <a:r>
              <a:rPr lang="en-US" sz="1100" dirty="0">
                <a:solidFill>
                  <a:srgbClr val="FFFFFF"/>
                </a:solidFill>
                <a:latin typeface="Consolas" pitchFamily="34" charset="0"/>
                <a:ea typeface="Consolas" pitchFamily="34" charset="-122"/>
                <a:cs typeface="Consolas" pitchFamily="34" charset="-120"/>
              </a:rPr>
              <a:t>f = 22</a:t>
            </a:r>
            <a:endParaRPr lang="en-US" sz="1100" dirty="0"/>
          </a:p>
        </p:txBody>
      </p:sp>
      <p:sp>
        <p:nvSpPr>
          <p:cNvPr id="23" name="Shape 21"/>
          <p:cNvSpPr/>
          <p:nvPr/>
        </p:nvSpPr>
        <p:spPr>
          <a:xfrm>
            <a:off x="4736592" y="3072384"/>
            <a:ext cx="914400" cy="201168"/>
          </a:xfrm>
          <a:prstGeom prst="rect">
            <a:avLst/>
          </a:prstGeom>
          <a:solidFill>
            <a:srgbClr val="00A3FF"/>
          </a:solidFill>
          <a:ln w="12700">
            <a:solidFill>
              <a:srgbClr val="00A3FF"/>
            </a:solidFill>
            <a:prstDash val="solid"/>
          </a:ln>
        </p:spPr>
        <p:txBody>
          <a:bodyPr/>
          <a:lstStyle/>
          <a:p>
            <a:endParaRPr lang="en-US"/>
          </a:p>
        </p:txBody>
      </p:sp>
      <p:sp>
        <p:nvSpPr>
          <p:cNvPr id="24" name="Text 22"/>
          <p:cNvSpPr/>
          <p:nvPr/>
        </p:nvSpPr>
        <p:spPr>
          <a:xfrm>
            <a:off x="4736592" y="3072384"/>
            <a:ext cx="914400" cy="20116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PICKED</a:t>
            </a:r>
            <a:endParaRPr lang="en-US" sz="1000" dirty="0"/>
          </a:p>
        </p:txBody>
      </p:sp>
      <p:sp>
        <p:nvSpPr>
          <p:cNvPr id="25" name="Shape 23"/>
          <p:cNvSpPr/>
          <p:nvPr/>
        </p:nvSpPr>
        <p:spPr>
          <a:xfrm>
            <a:off x="5961888" y="2240280"/>
            <a:ext cx="1261872" cy="804672"/>
          </a:xfrm>
          <a:prstGeom prst="rect">
            <a:avLst/>
          </a:prstGeom>
          <a:solidFill>
            <a:srgbClr val="1A2E44"/>
          </a:solidFill>
          <a:ln w="19050">
            <a:solidFill>
              <a:srgbClr val="8FA8BF"/>
            </a:solidFill>
            <a:prstDash val="solid"/>
          </a:ln>
          <a:effectLst>
            <a:outerShdw blurRad="101600" dist="38100" dir="8100000" algn="bl" rotWithShape="0">
              <a:srgbClr val="000000">
                <a:alpha val="25000"/>
              </a:srgbClr>
            </a:outerShdw>
          </a:effectLst>
        </p:spPr>
        <p:txBody>
          <a:bodyPr/>
          <a:lstStyle/>
          <a:p>
            <a:endParaRPr lang="en-US"/>
          </a:p>
        </p:txBody>
      </p:sp>
      <p:sp>
        <p:nvSpPr>
          <p:cNvPr id="26" name="Text 24"/>
          <p:cNvSpPr/>
          <p:nvPr/>
        </p:nvSpPr>
        <p:spPr>
          <a:xfrm>
            <a:off x="5961888" y="2267712"/>
            <a:ext cx="1261872" cy="274320"/>
          </a:xfrm>
          <a:prstGeom prst="rect">
            <a:avLst/>
          </a:prstGeom>
          <a:noFill/>
          <a:ln/>
        </p:spPr>
        <p:txBody>
          <a:bodyPr wrap="square" rtlCol="0" anchor="ctr"/>
          <a:lstStyle/>
          <a:p>
            <a:pPr marL="0" indent="0" algn="ctr">
              <a:buNone/>
            </a:pPr>
            <a:r>
              <a:rPr lang="en-US" sz="1200" b="1" dirty="0">
                <a:solidFill>
                  <a:srgbClr val="8FA8BF"/>
                </a:solidFill>
                <a:latin typeface="Calibri" pitchFamily="34" charset="0"/>
                <a:ea typeface="Calibri" pitchFamily="34" charset="-122"/>
                <a:cs typeface="Calibri" pitchFamily="34" charset="-120"/>
              </a:rPr>
              <a:t>C5</a:t>
            </a:r>
            <a:endParaRPr lang="en-US" sz="1200" dirty="0"/>
          </a:p>
        </p:txBody>
      </p:sp>
      <p:sp>
        <p:nvSpPr>
          <p:cNvPr id="27" name="Text 25"/>
          <p:cNvSpPr/>
          <p:nvPr/>
        </p:nvSpPr>
        <p:spPr>
          <a:xfrm>
            <a:off x="5961888" y="2542032"/>
            <a:ext cx="1261872" cy="274320"/>
          </a:xfrm>
          <a:prstGeom prst="rect">
            <a:avLst/>
          </a:prstGeom>
          <a:noFill/>
          <a:ln/>
        </p:spPr>
        <p:txBody>
          <a:bodyPr wrap="square" rtlCol="0" anchor="ctr"/>
          <a:lstStyle/>
          <a:p>
            <a:pPr marL="0" indent="0" algn="ctr">
              <a:buNone/>
            </a:pPr>
            <a:r>
              <a:rPr lang="en-US" sz="1100" dirty="0">
                <a:solidFill>
                  <a:srgbClr val="8FA8BF"/>
                </a:solidFill>
                <a:latin typeface="Consolas" pitchFamily="34" charset="0"/>
                <a:ea typeface="Consolas" pitchFamily="34" charset="-122"/>
                <a:cs typeface="Consolas" pitchFamily="34" charset="-120"/>
              </a:rPr>
              <a:t>f = 13</a:t>
            </a:r>
            <a:endParaRPr lang="en-US" sz="1100" dirty="0"/>
          </a:p>
        </p:txBody>
      </p:sp>
      <p:sp>
        <p:nvSpPr>
          <p:cNvPr id="28" name="Shape 26"/>
          <p:cNvSpPr/>
          <p:nvPr/>
        </p:nvSpPr>
        <p:spPr>
          <a:xfrm>
            <a:off x="7360920" y="2240280"/>
            <a:ext cx="1261872" cy="804672"/>
          </a:xfrm>
          <a:prstGeom prst="rect">
            <a:avLst/>
          </a:prstGeom>
          <a:solidFill>
            <a:srgbClr val="0E2035"/>
          </a:solidFill>
          <a:ln w="19050">
            <a:solidFill>
              <a:srgbClr val="00A3FF"/>
            </a:solidFill>
            <a:prstDash val="solid"/>
          </a:ln>
          <a:effectLst>
            <a:outerShdw blurRad="101600" dist="38100" dir="8100000" algn="bl" rotWithShape="0">
              <a:srgbClr val="000000">
                <a:alpha val="25000"/>
              </a:srgbClr>
            </a:outerShdw>
          </a:effectLst>
        </p:spPr>
        <p:txBody>
          <a:bodyPr/>
          <a:lstStyle/>
          <a:p>
            <a:endParaRPr lang="en-US"/>
          </a:p>
        </p:txBody>
      </p:sp>
      <p:sp>
        <p:nvSpPr>
          <p:cNvPr id="29" name="Text 27"/>
          <p:cNvSpPr/>
          <p:nvPr/>
        </p:nvSpPr>
        <p:spPr>
          <a:xfrm>
            <a:off x="7360920" y="2267712"/>
            <a:ext cx="1261872" cy="274320"/>
          </a:xfrm>
          <a:prstGeom prst="rect">
            <a:avLst/>
          </a:prstGeom>
          <a:noFill/>
          <a:ln/>
        </p:spPr>
        <p:txBody>
          <a:bodyPr wrap="square" rtlCol="0" anchor="ctr"/>
          <a:lstStyle/>
          <a:p>
            <a:pPr marL="0" indent="0" algn="ctr">
              <a:buNone/>
            </a:pPr>
            <a:r>
              <a:rPr lang="en-US" sz="1200" b="1" dirty="0">
                <a:solidFill>
                  <a:srgbClr val="00A3FF"/>
                </a:solidFill>
                <a:latin typeface="Calibri" pitchFamily="34" charset="0"/>
                <a:ea typeface="Calibri" pitchFamily="34" charset="-122"/>
                <a:cs typeface="Calibri" pitchFamily="34" charset="-120"/>
              </a:rPr>
              <a:t>C6</a:t>
            </a:r>
            <a:endParaRPr lang="en-US" sz="1200" dirty="0"/>
          </a:p>
        </p:txBody>
      </p:sp>
      <p:sp>
        <p:nvSpPr>
          <p:cNvPr id="30" name="Text 28"/>
          <p:cNvSpPr/>
          <p:nvPr/>
        </p:nvSpPr>
        <p:spPr>
          <a:xfrm>
            <a:off x="7360920" y="2542032"/>
            <a:ext cx="1261872" cy="274320"/>
          </a:xfrm>
          <a:prstGeom prst="rect">
            <a:avLst/>
          </a:prstGeom>
          <a:noFill/>
          <a:ln/>
        </p:spPr>
        <p:txBody>
          <a:bodyPr wrap="square" rtlCol="0" anchor="ctr"/>
          <a:lstStyle/>
          <a:p>
            <a:pPr marL="0" indent="0" algn="ctr">
              <a:buNone/>
            </a:pPr>
            <a:r>
              <a:rPr lang="en-US" sz="1100" dirty="0">
                <a:solidFill>
                  <a:srgbClr val="FFFFFF"/>
                </a:solidFill>
                <a:latin typeface="Consolas" pitchFamily="34" charset="0"/>
                <a:ea typeface="Consolas" pitchFamily="34" charset="-122"/>
                <a:cs typeface="Consolas" pitchFamily="34" charset="-120"/>
              </a:rPr>
              <a:t>f = 40</a:t>
            </a:r>
            <a:endParaRPr lang="en-US" sz="1100" dirty="0"/>
          </a:p>
        </p:txBody>
      </p:sp>
      <p:sp>
        <p:nvSpPr>
          <p:cNvPr id="31" name="Shape 29"/>
          <p:cNvSpPr/>
          <p:nvPr/>
        </p:nvSpPr>
        <p:spPr>
          <a:xfrm>
            <a:off x="7534656" y="3072384"/>
            <a:ext cx="914400" cy="201168"/>
          </a:xfrm>
          <a:prstGeom prst="rect">
            <a:avLst/>
          </a:prstGeom>
          <a:solidFill>
            <a:srgbClr val="00A3FF"/>
          </a:solidFill>
          <a:ln w="12700">
            <a:solidFill>
              <a:srgbClr val="00A3FF"/>
            </a:solidFill>
            <a:prstDash val="solid"/>
          </a:ln>
        </p:spPr>
        <p:txBody>
          <a:bodyPr/>
          <a:lstStyle/>
          <a:p>
            <a:endParaRPr lang="en-US"/>
          </a:p>
        </p:txBody>
      </p:sp>
      <p:sp>
        <p:nvSpPr>
          <p:cNvPr id="32" name="Text 30"/>
          <p:cNvSpPr/>
          <p:nvPr/>
        </p:nvSpPr>
        <p:spPr>
          <a:xfrm>
            <a:off x="7534656" y="3072384"/>
            <a:ext cx="914400" cy="20116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PICKED</a:t>
            </a:r>
            <a:endParaRPr lang="en-US" sz="1000" dirty="0"/>
          </a:p>
        </p:txBody>
      </p:sp>
      <p:sp>
        <p:nvSpPr>
          <p:cNvPr id="33" name="Shape 31"/>
          <p:cNvSpPr/>
          <p:nvPr/>
        </p:nvSpPr>
        <p:spPr>
          <a:xfrm>
            <a:off x="365760" y="3401568"/>
            <a:ext cx="8412480" cy="1051560"/>
          </a:xfrm>
          <a:prstGeom prst="rect">
            <a:avLst/>
          </a:prstGeom>
          <a:solidFill>
            <a:srgbClr val="1A2E44"/>
          </a:solidFill>
          <a:ln w="19050">
            <a:solidFill>
              <a:srgbClr val="00A3FF"/>
            </a:solidFill>
            <a:prstDash val="solid"/>
          </a:ln>
          <a:effectLst>
            <a:outerShdw blurRad="101600" dist="38100" dir="8100000" algn="bl" rotWithShape="0">
              <a:srgbClr val="000000">
                <a:alpha val="25000"/>
              </a:srgbClr>
            </a:outerShdw>
          </a:effectLst>
        </p:spPr>
        <p:txBody>
          <a:bodyPr/>
          <a:lstStyle/>
          <a:p>
            <a:endParaRPr lang="en-US"/>
          </a:p>
        </p:txBody>
      </p:sp>
      <p:sp>
        <p:nvSpPr>
          <p:cNvPr id="34" name="Text 32"/>
          <p:cNvSpPr/>
          <p:nvPr/>
        </p:nvSpPr>
        <p:spPr>
          <a:xfrm>
            <a:off x="502920" y="3456432"/>
            <a:ext cx="2743200" cy="274320"/>
          </a:xfrm>
          <a:prstGeom prst="rect">
            <a:avLst/>
          </a:prstGeom>
          <a:noFill/>
          <a:ln/>
        </p:spPr>
        <p:txBody>
          <a:bodyPr wrap="square" rtlCol="0" anchor="ctr"/>
          <a:lstStyle/>
          <a:p>
            <a:pPr marL="0" indent="0">
              <a:buNone/>
            </a:pPr>
            <a:r>
              <a:rPr lang="en-US" sz="1200" b="1" dirty="0">
                <a:solidFill>
                  <a:srgbClr val="00A3FF"/>
                </a:solidFill>
                <a:latin typeface="Calibri" pitchFamily="34" charset="0"/>
                <a:ea typeface="Calibri" pitchFamily="34" charset="-122"/>
                <a:cs typeface="Calibri" pitchFamily="34" charset="-120"/>
              </a:rPr>
              <a:t>Tournament Round:</a:t>
            </a:r>
            <a:endParaRPr lang="en-US" sz="1200" dirty="0"/>
          </a:p>
        </p:txBody>
      </p:sp>
      <p:sp>
        <p:nvSpPr>
          <p:cNvPr id="35" name="Text 33"/>
          <p:cNvSpPr/>
          <p:nvPr/>
        </p:nvSpPr>
        <p:spPr>
          <a:xfrm>
            <a:off x="502920" y="3730752"/>
            <a:ext cx="8046720" cy="640080"/>
          </a:xfrm>
          <a:prstGeom prst="rect">
            <a:avLst/>
          </a:prstGeom>
          <a:noFill/>
          <a:ln/>
        </p:spPr>
        <p:txBody>
          <a:bodyPr wrap="square" rtlCol="0" anchor="ctr"/>
          <a:lstStyle/>
          <a:p>
            <a:pPr marL="0" indent="0">
              <a:buNone/>
            </a:pPr>
            <a:r>
              <a:rPr lang="en-US" sz="1300" dirty="0">
                <a:solidFill>
                  <a:srgbClr val="E8F0F5"/>
                </a:solidFill>
                <a:latin typeface="Consolas" pitchFamily="34" charset="0"/>
                <a:ea typeface="Consolas" pitchFamily="34" charset="-122"/>
                <a:cs typeface="Consolas" pitchFamily="34" charset="-120"/>
              </a:rPr>
              <a:t>C2 (f=17)  vs  C4 (f=22)  vs  C6 (f=40)</a:t>
            </a:r>
            <a:endParaRPr lang="en-US" sz="1300" dirty="0"/>
          </a:p>
          <a:p>
            <a:pPr marL="0" indent="0">
              <a:buNone/>
            </a:pPr>
            <a:r>
              <a:rPr lang="en-US" sz="1300" b="1" dirty="0">
                <a:solidFill>
                  <a:srgbClr val="00C896"/>
                </a:solidFill>
                <a:latin typeface="Calibri" pitchFamily="34" charset="0"/>
                <a:ea typeface="Calibri" pitchFamily="34" charset="-122"/>
                <a:cs typeface="Calibri" pitchFamily="34" charset="-120"/>
              </a:rPr>
              <a:t>🏆  Winner: C6 (f=40) → Selected as parent!</a:t>
            </a:r>
            <a:endParaRPr lang="en-US" sz="1300" dirty="0"/>
          </a:p>
        </p:txBody>
      </p:sp>
      <p:sp>
        <p:nvSpPr>
          <p:cNvPr id="36" name="Text 34"/>
          <p:cNvSpPr/>
          <p:nvPr/>
        </p:nvSpPr>
        <p:spPr>
          <a:xfrm>
            <a:off x="365760" y="4572000"/>
            <a:ext cx="8412480" cy="256032"/>
          </a:xfrm>
          <a:prstGeom prst="rect">
            <a:avLst/>
          </a:prstGeom>
          <a:noFill/>
          <a:ln/>
        </p:spPr>
        <p:txBody>
          <a:bodyPr wrap="square" rtlCol="0" anchor="ctr"/>
          <a:lstStyle/>
          <a:p>
            <a:pPr marL="0" indent="0">
              <a:buNone/>
            </a:pPr>
            <a:r>
              <a:rPr lang="en-US" sz="1100" i="1" dirty="0">
                <a:solidFill>
                  <a:srgbClr val="8FA8BF"/>
                </a:solidFill>
                <a:latin typeface="Calibri" pitchFamily="34" charset="0"/>
                <a:ea typeface="Calibri" pitchFamily="34" charset="-122"/>
                <a:cs typeface="Calibri" pitchFamily="34" charset="-120"/>
              </a:rPr>
              <a:t>✅  Advantage: Works well even when fitness values vary widely. No need to compute selection probabilities.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256032"/>
            <a:ext cx="64008" cy="502920"/>
          </a:xfrm>
          <a:prstGeom prst="rect">
            <a:avLst/>
          </a:prstGeom>
          <a:solidFill>
            <a:srgbClr val="00C896"/>
          </a:solidFill>
          <a:ln w="12700">
            <a:solidFill>
              <a:srgbClr val="00C896"/>
            </a:solidFill>
            <a:prstDash val="solid"/>
          </a:ln>
        </p:spPr>
        <p:txBody>
          <a:bodyPr/>
          <a:lstStyle/>
          <a:p>
            <a:endParaRPr lang="en-US"/>
          </a:p>
        </p:txBody>
      </p:sp>
      <p:sp>
        <p:nvSpPr>
          <p:cNvPr id="3" name="Text 1"/>
          <p:cNvSpPr/>
          <p:nvPr/>
        </p:nvSpPr>
        <p:spPr>
          <a:xfrm>
            <a:off x="512064" y="256032"/>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  Rank Selection</a:t>
            </a:r>
            <a:endParaRPr lang="en-US" sz="2800" dirty="0"/>
          </a:p>
        </p:txBody>
      </p:sp>
      <p:sp>
        <p:nvSpPr>
          <p:cNvPr id="5" name="Shape 3"/>
          <p:cNvSpPr/>
          <p:nvPr/>
        </p:nvSpPr>
        <p:spPr>
          <a:xfrm>
            <a:off x="365760" y="868680"/>
            <a:ext cx="8412480" cy="0"/>
          </a:xfrm>
          <a:prstGeom prst="line">
            <a:avLst/>
          </a:prstGeom>
          <a:noFill/>
          <a:ln w="12700">
            <a:solidFill>
              <a:srgbClr val="00C896">
                <a:alpha val="50000"/>
              </a:srgbClr>
            </a:solidFill>
            <a:prstDash val="solid"/>
          </a:ln>
        </p:spPr>
        <p:txBody>
          <a:bodyPr/>
          <a:lstStyle/>
          <a:p>
            <a:endParaRPr lang="en-US"/>
          </a:p>
        </p:txBody>
      </p:sp>
      <p:sp>
        <p:nvSpPr>
          <p:cNvPr id="6" name="Shape 4"/>
          <p:cNvSpPr/>
          <p:nvPr/>
        </p:nvSpPr>
        <p:spPr>
          <a:xfrm>
            <a:off x="365760" y="1005840"/>
            <a:ext cx="8412480" cy="804672"/>
          </a:xfrm>
          <a:prstGeom prst="rect">
            <a:avLst/>
          </a:prstGeom>
          <a:solidFill>
            <a:srgbClr val="1A2E44"/>
          </a:solidFill>
          <a:ln w="19050">
            <a:solidFill>
              <a:srgbClr val="FFB830"/>
            </a:solidFill>
            <a:prstDash val="solid"/>
          </a:ln>
          <a:effectLst>
            <a:outerShdw blurRad="101600" dist="38100" dir="8100000" algn="bl" rotWithShape="0">
              <a:srgbClr val="000000">
                <a:alpha val="25000"/>
              </a:srgbClr>
            </a:outerShdw>
          </a:effectLst>
        </p:spPr>
        <p:txBody>
          <a:bodyPr/>
          <a:lstStyle/>
          <a:p>
            <a:endParaRPr lang="en-US"/>
          </a:p>
        </p:txBody>
      </p:sp>
      <p:sp>
        <p:nvSpPr>
          <p:cNvPr id="7" name="Text 5"/>
          <p:cNvSpPr/>
          <p:nvPr/>
        </p:nvSpPr>
        <p:spPr>
          <a:xfrm>
            <a:off x="502920" y="1042416"/>
            <a:ext cx="8229600" cy="749808"/>
          </a:xfrm>
          <a:prstGeom prst="rect">
            <a:avLst/>
          </a:prstGeom>
          <a:noFill/>
          <a:ln/>
        </p:spPr>
        <p:txBody>
          <a:bodyPr wrap="square" rtlCol="0" anchor="ctr"/>
          <a:lstStyle/>
          <a:p>
            <a:pPr marL="0" indent="0">
              <a:buNone/>
            </a:pPr>
            <a:r>
              <a:rPr lang="en-US" sz="1250" b="1" dirty="0">
                <a:solidFill>
                  <a:srgbClr val="FFB830"/>
                </a:solidFill>
                <a:latin typeface="Calibri" pitchFamily="34" charset="0"/>
                <a:ea typeface="Calibri" pitchFamily="34" charset="-122"/>
                <a:cs typeface="Calibri" pitchFamily="34" charset="-120"/>
              </a:rPr>
              <a:t>Definition: </a:t>
            </a:r>
            <a:r>
              <a:rPr lang="en-US" sz="1250" dirty="0">
                <a:solidFill>
                  <a:srgbClr val="E8F0F5"/>
                </a:solidFill>
                <a:latin typeface="Calibri" pitchFamily="34" charset="0"/>
                <a:ea typeface="Calibri" pitchFamily="34" charset="-122"/>
                <a:cs typeface="Calibri" pitchFamily="34" charset="-120"/>
              </a:rPr>
              <a:t>Instead of using raw fitness values, chromosomes are ranked from worst (rank 1) to best (rank N). Selection probability is then assigned based on rank, not fitness value. This prevents dominance by a few very fit individuals.</a:t>
            </a:r>
            <a:endParaRPr lang="en-US" sz="1250" dirty="0"/>
          </a:p>
        </p:txBody>
      </p:sp>
      <p:sp>
        <p:nvSpPr>
          <p:cNvPr id="8" name="Text 6"/>
          <p:cNvSpPr/>
          <p:nvPr/>
        </p:nvSpPr>
        <p:spPr>
          <a:xfrm>
            <a:off x="365760" y="1920240"/>
            <a:ext cx="1828800" cy="256032"/>
          </a:xfrm>
          <a:prstGeom prst="rect">
            <a:avLst/>
          </a:prstGeom>
          <a:noFill/>
          <a:ln/>
        </p:spPr>
        <p:txBody>
          <a:bodyPr wrap="square" rtlCol="0" anchor="ctr"/>
          <a:lstStyle/>
          <a:p>
            <a:pPr marL="0" indent="0">
              <a:buNone/>
            </a:pPr>
            <a:r>
              <a:rPr lang="en-US" sz="1000" b="1" dirty="0">
                <a:solidFill>
                  <a:srgbClr val="8FA8BF"/>
                </a:solidFill>
                <a:latin typeface="Calibri" pitchFamily="34" charset="0"/>
                <a:ea typeface="Calibri" pitchFamily="34" charset="-122"/>
                <a:cs typeface="Calibri" pitchFamily="34" charset="-120"/>
              </a:rPr>
              <a:t>EXAMPLE:</a:t>
            </a:r>
            <a:endParaRPr lang="en-US" sz="1000" dirty="0"/>
          </a:p>
        </p:txBody>
      </p:sp>
      <p:graphicFrame>
        <p:nvGraphicFramePr>
          <p:cNvPr id="10" name="Table 0"/>
          <p:cNvGraphicFramePr>
            <a:graphicFrameLocks noGrp="1"/>
          </p:cNvGraphicFramePr>
          <p:nvPr/>
        </p:nvGraphicFramePr>
        <p:xfrm>
          <a:off x="365760" y="2212848"/>
          <a:ext cx="8412480" cy="1719072"/>
        </p:xfrm>
        <a:graphic>
          <a:graphicData uri="http://schemas.openxmlformats.org/drawingml/2006/table">
            <a:tbl>
              <a:tblPr/>
              <a:tblGrid>
                <a:gridCol w="21031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286512">
                <a:tc>
                  <a:txBody>
                    <a:bodyPr/>
                    <a:lstStyle/>
                    <a:p>
                      <a:pPr marL="0" indent="0" algn="ctr">
                        <a:buNone/>
                      </a:pPr>
                      <a:r>
                        <a:rPr lang="en-US" sz="1150" b="1" dirty="0">
                          <a:solidFill>
                            <a:srgbClr val="0D1B2A"/>
                          </a:solidFill>
                        </a:rPr>
                        <a:t>Chromosome</a:t>
                      </a:r>
                      <a:endParaRPr lang="en-US" sz="1150" dirty="0"/>
                    </a:p>
                  </a:txBody>
                  <a:tcPr anchor="ctr">
                    <a:lnL w="0" cap="flat" cmpd="sng" algn="ctr">
                      <a:noFill/>
                    </a:lnL>
                    <a:lnR w="0" cap="flat" cmpd="sng" algn="ctr">
                      <a:noFill/>
                    </a:lnR>
                    <a:lnT w="0" cap="flat" cmpd="sng" algn="ctr">
                      <a:noFill/>
                    </a:lnT>
                    <a:lnB w="0" cap="flat" cmpd="sng" algn="ctr">
                      <a:noFill/>
                    </a:lnB>
                    <a:solidFill>
                      <a:srgbClr val="FFB830"/>
                    </a:solidFill>
                  </a:tcPr>
                </a:tc>
                <a:tc>
                  <a:txBody>
                    <a:bodyPr/>
                    <a:lstStyle/>
                    <a:p>
                      <a:pPr marL="0" indent="0" algn="ctr">
                        <a:buNone/>
                      </a:pPr>
                      <a:r>
                        <a:rPr lang="en-US" sz="1150" b="1" dirty="0">
                          <a:solidFill>
                            <a:srgbClr val="0D1B2A"/>
                          </a:solidFill>
                        </a:rPr>
                        <a:t>Fitness</a:t>
                      </a:r>
                      <a:endParaRPr lang="en-US" sz="1150" dirty="0"/>
                    </a:p>
                  </a:txBody>
                  <a:tcPr anchor="ctr">
                    <a:lnL w="0" cap="flat" cmpd="sng" algn="ctr">
                      <a:noFill/>
                    </a:lnL>
                    <a:lnR w="0" cap="flat" cmpd="sng" algn="ctr">
                      <a:noFill/>
                    </a:lnR>
                    <a:lnT w="0" cap="flat" cmpd="sng" algn="ctr">
                      <a:noFill/>
                    </a:lnT>
                    <a:lnB w="0" cap="flat" cmpd="sng" algn="ctr">
                      <a:noFill/>
                    </a:lnB>
                    <a:solidFill>
                      <a:srgbClr val="FFB830"/>
                    </a:solidFill>
                  </a:tcPr>
                </a:tc>
                <a:tc>
                  <a:txBody>
                    <a:bodyPr/>
                    <a:lstStyle/>
                    <a:p>
                      <a:pPr marL="0" indent="0" algn="ctr">
                        <a:buNone/>
                      </a:pPr>
                      <a:r>
                        <a:rPr lang="en-US" sz="1150" b="1" dirty="0">
                          <a:solidFill>
                            <a:srgbClr val="0D1B2A"/>
                          </a:solidFill>
                        </a:rPr>
                        <a:t>Rank</a:t>
                      </a:r>
                      <a:endParaRPr lang="en-US" sz="1150" dirty="0"/>
                    </a:p>
                  </a:txBody>
                  <a:tcPr anchor="ctr">
                    <a:lnL w="0" cap="flat" cmpd="sng" algn="ctr">
                      <a:noFill/>
                    </a:lnL>
                    <a:lnR w="0" cap="flat" cmpd="sng" algn="ctr">
                      <a:noFill/>
                    </a:lnR>
                    <a:lnT w="0" cap="flat" cmpd="sng" algn="ctr">
                      <a:noFill/>
                    </a:lnT>
                    <a:lnB w="0" cap="flat" cmpd="sng" algn="ctr">
                      <a:noFill/>
                    </a:lnB>
                    <a:solidFill>
                      <a:srgbClr val="FFB830"/>
                    </a:solidFill>
                  </a:tcPr>
                </a:tc>
                <a:tc>
                  <a:txBody>
                    <a:bodyPr/>
                    <a:lstStyle/>
                    <a:p>
                      <a:pPr marL="0" indent="0" algn="ctr">
                        <a:buNone/>
                      </a:pPr>
                      <a:r>
                        <a:rPr lang="en-US" sz="1150" b="1" dirty="0">
                          <a:solidFill>
                            <a:srgbClr val="0D1B2A"/>
                          </a:solidFill>
                        </a:rPr>
                        <a:t>Selection P</a:t>
                      </a:r>
                      <a:endParaRPr lang="en-US" sz="1150" dirty="0"/>
                    </a:p>
                  </a:txBody>
                  <a:tcPr anchor="ctr">
                    <a:lnL w="0" cap="flat" cmpd="sng" algn="ctr">
                      <a:noFill/>
                    </a:lnL>
                    <a:lnR w="0" cap="flat" cmpd="sng" algn="ctr">
                      <a:noFill/>
                    </a:lnR>
                    <a:lnT w="0" cap="flat" cmpd="sng" algn="ctr">
                      <a:noFill/>
                    </a:lnT>
                    <a:lnB w="0" cap="flat" cmpd="sng" algn="ctr">
                      <a:noFill/>
                    </a:lnB>
                    <a:solidFill>
                      <a:srgbClr val="FFB830"/>
                    </a:solidFill>
                  </a:tcPr>
                </a:tc>
                <a:extLst>
                  <a:ext uri="{0D108BD9-81ED-4DB2-BD59-A6C34878D82A}">
                    <a16:rowId xmlns:a16="http://schemas.microsoft.com/office/drawing/2014/main" val="10000"/>
                  </a:ext>
                </a:extLst>
              </a:tr>
              <a:tr h="286512">
                <a:tc>
                  <a:txBody>
                    <a:bodyPr/>
                    <a:lstStyle/>
                    <a:p>
                      <a:pPr marL="0" indent="0" algn="ctr">
                        <a:buNone/>
                      </a:pPr>
                      <a:r>
                        <a:rPr lang="en-US" sz="1150" dirty="0">
                          <a:solidFill>
                            <a:srgbClr val="E8F0F5"/>
                          </a:solidFill>
                        </a:rPr>
                        <a:t>C5</a:t>
                      </a:r>
                      <a:endParaRPr lang="en-US" sz="115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150" dirty="0">
                          <a:solidFill>
                            <a:srgbClr val="E8F0F5"/>
                          </a:solidFill>
                        </a:rPr>
                        <a:t>13</a:t>
                      </a:r>
                      <a:endParaRPr lang="en-US" sz="115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150" dirty="0">
                          <a:solidFill>
                            <a:srgbClr val="E8F0F5"/>
                          </a:solidFill>
                        </a:rPr>
                        <a:t>1 (worst)</a:t>
                      </a:r>
                      <a:endParaRPr lang="en-US" sz="115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150" dirty="0">
                          <a:solidFill>
                            <a:srgbClr val="E8F0F5"/>
                          </a:solidFill>
                        </a:rPr>
                        <a:t>1/15 = 6.7%</a:t>
                      </a:r>
                      <a:endParaRPr lang="en-US" sz="1150" dirty="0"/>
                    </a:p>
                  </a:txBody>
                  <a:tcPr anchor="ctr">
                    <a:lnL w="0" cap="flat" cmpd="sng" algn="ctr">
                      <a:noFill/>
                    </a:lnL>
                    <a:lnR w="0" cap="flat" cmpd="sng" algn="ctr">
                      <a:noFill/>
                    </a:lnR>
                    <a:lnT w="0" cap="flat" cmpd="sng" algn="ctr">
                      <a:noFill/>
                    </a:lnT>
                    <a:lnB w="0" cap="flat" cmpd="sng" algn="ctr">
                      <a:noFill/>
                    </a:lnB>
                    <a:solidFill>
                      <a:srgbClr val="132338"/>
                    </a:solidFill>
                  </a:tcPr>
                </a:tc>
                <a:extLst>
                  <a:ext uri="{0D108BD9-81ED-4DB2-BD59-A6C34878D82A}">
                    <a16:rowId xmlns:a16="http://schemas.microsoft.com/office/drawing/2014/main" val="10001"/>
                  </a:ext>
                </a:extLst>
              </a:tr>
              <a:tr h="286512">
                <a:tc>
                  <a:txBody>
                    <a:bodyPr/>
                    <a:lstStyle/>
                    <a:p>
                      <a:pPr marL="0" indent="0" algn="ctr">
                        <a:buNone/>
                      </a:pPr>
                      <a:r>
                        <a:rPr lang="en-US" sz="1150" dirty="0">
                          <a:solidFill>
                            <a:srgbClr val="E8F0F5"/>
                          </a:solidFill>
                        </a:rPr>
                        <a:t>C2</a:t>
                      </a:r>
                      <a:endParaRPr lang="en-US" sz="1150" dirty="0"/>
                    </a:p>
                  </a:txBody>
                  <a:tcPr anchor="ctr">
                    <a:lnL w="0" cap="flat" cmpd="sng" algn="ctr">
                      <a:noFill/>
                    </a:lnL>
                    <a:lnR w="0" cap="flat" cmpd="sng" algn="ctr">
                      <a:noFill/>
                    </a:lnR>
                    <a:lnT w="0" cap="flat" cmpd="sng" algn="ctr">
                      <a:noFill/>
                    </a:lnT>
                    <a:lnB w="0" cap="flat" cmpd="sng" algn="ctr">
                      <a:noFill/>
                    </a:lnB>
                    <a:solidFill>
                      <a:srgbClr val="1A2E44"/>
                    </a:solidFill>
                  </a:tcPr>
                </a:tc>
                <a:tc>
                  <a:txBody>
                    <a:bodyPr/>
                    <a:lstStyle/>
                    <a:p>
                      <a:pPr marL="0" indent="0" algn="ctr">
                        <a:buNone/>
                      </a:pPr>
                      <a:r>
                        <a:rPr lang="en-US" sz="1150" dirty="0">
                          <a:solidFill>
                            <a:srgbClr val="E8F0F5"/>
                          </a:solidFill>
                        </a:rPr>
                        <a:t>17</a:t>
                      </a:r>
                      <a:endParaRPr lang="en-US" sz="1150" dirty="0"/>
                    </a:p>
                  </a:txBody>
                  <a:tcPr anchor="ctr">
                    <a:lnL w="0" cap="flat" cmpd="sng" algn="ctr">
                      <a:noFill/>
                    </a:lnL>
                    <a:lnR w="0" cap="flat" cmpd="sng" algn="ctr">
                      <a:noFill/>
                    </a:lnR>
                    <a:lnT w="0" cap="flat" cmpd="sng" algn="ctr">
                      <a:noFill/>
                    </a:lnT>
                    <a:lnB w="0" cap="flat" cmpd="sng" algn="ctr">
                      <a:noFill/>
                    </a:lnB>
                    <a:solidFill>
                      <a:srgbClr val="1A2E44"/>
                    </a:solidFill>
                  </a:tcPr>
                </a:tc>
                <a:tc>
                  <a:txBody>
                    <a:bodyPr/>
                    <a:lstStyle/>
                    <a:p>
                      <a:pPr marL="0" indent="0" algn="ctr">
                        <a:buNone/>
                      </a:pPr>
                      <a:r>
                        <a:rPr lang="en-US" sz="1150" dirty="0">
                          <a:solidFill>
                            <a:srgbClr val="E8F0F5"/>
                          </a:solidFill>
                        </a:rPr>
                        <a:t>2</a:t>
                      </a:r>
                      <a:endParaRPr lang="en-US" sz="1150" dirty="0"/>
                    </a:p>
                  </a:txBody>
                  <a:tcPr anchor="ctr">
                    <a:lnL w="0" cap="flat" cmpd="sng" algn="ctr">
                      <a:noFill/>
                    </a:lnL>
                    <a:lnR w="0" cap="flat" cmpd="sng" algn="ctr">
                      <a:noFill/>
                    </a:lnR>
                    <a:lnT w="0" cap="flat" cmpd="sng" algn="ctr">
                      <a:noFill/>
                    </a:lnT>
                    <a:lnB w="0" cap="flat" cmpd="sng" algn="ctr">
                      <a:noFill/>
                    </a:lnB>
                    <a:solidFill>
                      <a:srgbClr val="1A2E44"/>
                    </a:solidFill>
                  </a:tcPr>
                </a:tc>
                <a:tc>
                  <a:txBody>
                    <a:bodyPr/>
                    <a:lstStyle/>
                    <a:p>
                      <a:pPr marL="0" indent="0" algn="ctr">
                        <a:buNone/>
                      </a:pPr>
                      <a:r>
                        <a:rPr lang="en-US" sz="1150" dirty="0">
                          <a:solidFill>
                            <a:srgbClr val="E8F0F5"/>
                          </a:solidFill>
                        </a:rPr>
                        <a:t>2/15 = 13.3%</a:t>
                      </a:r>
                      <a:endParaRPr lang="en-US" sz="1150" dirty="0"/>
                    </a:p>
                  </a:txBody>
                  <a:tcPr anchor="ctr">
                    <a:lnL w="0" cap="flat" cmpd="sng" algn="ctr">
                      <a:noFill/>
                    </a:lnL>
                    <a:lnR w="0" cap="flat" cmpd="sng" algn="ctr">
                      <a:noFill/>
                    </a:lnR>
                    <a:lnT w="0" cap="flat" cmpd="sng" algn="ctr">
                      <a:noFill/>
                    </a:lnT>
                    <a:lnB w="0" cap="flat" cmpd="sng" algn="ctr">
                      <a:noFill/>
                    </a:lnB>
                    <a:solidFill>
                      <a:srgbClr val="1A2E44"/>
                    </a:solidFill>
                  </a:tcPr>
                </a:tc>
                <a:extLst>
                  <a:ext uri="{0D108BD9-81ED-4DB2-BD59-A6C34878D82A}">
                    <a16:rowId xmlns:a16="http://schemas.microsoft.com/office/drawing/2014/main" val="10002"/>
                  </a:ext>
                </a:extLst>
              </a:tr>
              <a:tr h="286512">
                <a:tc>
                  <a:txBody>
                    <a:bodyPr/>
                    <a:lstStyle/>
                    <a:p>
                      <a:pPr marL="0" indent="0" algn="ctr">
                        <a:buNone/>
                      </a:pPr>
                      <a:r>
                        <a:rPr lang="en-US" sz="1150" dirty="0">
                          <a:solidFill>
                            <a:srgbClr val="E8F0F5"/>
                          </a:solidFill>
                        </a:rPr>
                        <a:t>C4</a:t>
                      </a:r>
                      <a:endParaRPr lang="en-US" sz="115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150" dirty="0">
                          <a:solidFill>
                            <a:srgbClr val="E8F0F5"/>
                          </a:solidFill>
                        </a:rPr>
                        <a:t>22</a:t>
                      </a:r>
                      <a:endParaRPr lang="en-US" sz="115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150" dirty="0">
                          <a:solidFill>
                            <a:srgbClr val="E8F0F5"/>
                          </a:solidFill>
                        </a:rPr>
                        <a:t>3</a:t>
                      </a:r>
                      <a:endParaRPr lang="en-US" sz="115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150" dirty="0">
                          <a:solidFill>
                            <a:srgbClr val="E8F0F5"/>
                          </a:solidFill>
                        </a:rPr>
                        <a:t>3/15 = 20.0%</a:t>
                      </a:r>
                      <a:endParaRPr lang="en-US" sz="1150" dirty="0"/>
                    </a:p>
                  </a:txBody>
                  <a:tcPr anchor="ctr">
                    <a:lnL w="0" cap="flat" cmpd="sng" algn="ctr">
                      <a:noFill/>
                    </a:lnL>
                    <a:lnR w="0" cap="flat" cmpd="sng" algn="ctr">
                      <a:noFill/>
                    </a:lnR>
                    <a:lnT w="0" cap="flat" cmpd="sng" algn="ctr">
                      <a:noFill/>
                    </a:lnT>
                    <a:lnB w="0" cap="flat" cmpd="sng" algn="ctr">
                      <a:noFill/>
                    </a:lnB>
                    <a:solidFill>
                      <a:srgbClr val="132338"/>
                    </a:solidFill>
                  </a:tcPr>
                </a:tc>
                <a:extLst>
                  <a:ext uri="{0D108BD9-81ED-4DB2-BD59-A6C34878D82A}">
                    <a16:rowId xmlns:a16="http://schemas.microsoft.com/office/drawing/2014/main" val="10003"/>
                  </a:ext>
                </a:extLst>
              </a:tr>
              <a:tr h="286512">
                <a:tc>
                  <a:txBody>
                    <a:bodyPr/>
                    <a:lstStyle/>
                    <a:p>
                      <a:pPr marL="0" indent="0" algn="ctr">
                        <a:buNone/>
                      </a:pPr>
                      <a:r>
                        <a:rPr lang="en-US" sz="1150" dirty="0">
                          <a:solidFill>
                            <a:srgbClr val="E8F0F5"/>
                          </a:solidFill>
                        </a:rPr>
                        <a:t>C1</a:t>
                      </a:r>
                      <a:endParaRPr lang="en-US" sz="1150" dirty="0"/>
                    </a:p>
                  </a:txBody>
                  <a:tcPr anchor="ctr">
                    <a:lnL w="0" cap="flat" cmpd="sng" algn="ctr">
                      <a:noFill/>
                    </a:lnL>
                    <a:lnR w="0" cap="flat" cmpd="sng" algn="ctr">
                      <a:noFill/>
                    </a:lnR>
                    <a:lnT w="0" cap="flat" cmpd="sng" algn="ctr">
                      <a:noFill/>
                    </a:lnT>
                    <a:lnB w="0" cap="flat" cmpd="sng" algn="ctr">
                      <a:noFill/>
                    </a:lnB>
                    <a:solidFill>
                      <a:srgbClr val="1A2E44"/>
                    </a:solidFill>
                  </a:tcPr>
                </a:tc>
                <a:tc>
                  <a:txBody>
                    <a:bodyPr/>
                    <a:lstStyle/>
                    <a:p>
                      <a:pPr marL="0" indent="0" algn="ctr">
                        <a:buNone/>
                      </a:pPr>
                      <a:r>
                        <a:rPr lang="en-US" sz="1150" dirty="0">
                          <a:solidFill>
                            <a:srgbClr val="E8F0F5"/>
                          </a:solidFill>
                        </a:rPr>
                        <a:t>28</a:t>
                      </a:r>
                      <a:endParaRPr lang="en-US" sz="1150" dirty="0"/>
                    </a:p>
                  </a:txBody>
                  <a:tcPr anchor="ctr">
                    <a:lnL w="0" cap="flat" cmpd="sng" algn="ctr">
                      <a:noFill/>
                    </a:lnL>
                    <a:lnR w="0" cap="flat" cmpd="sng" algn="ctr">
                      <a:noFill/>
                    </a:lnR>
                    <a:lnT w="0" cap="flat" cmpd="sng" algn="ctr">
                      <a:noFill/>
                    </a:lnT>
                    <a:lnB w="0" cap="flat" cmpd="sng" algn="ctr">
                      <a:noFill/>
                    </a:lnB>
                    <a:solidFill>
                      <a:srgbClr val="1A2E44"/>
                    </a:solidFill>
                  </a:tcPr>
                </a:tc>
                <a:tc>
                  <a:txBody>
                    <a:bodyPr/>
                    <a:lstStyle/>
                    <a:p>
                      <a:pPr marL="0" indent="0" algn="ctr">
                        <a:buNone/>
                      </a:pPr>
                      <a:r>
                        <a:rPr lang="en-US" sz="1150" dirty="0">
                          <a:solidFill>
                            <a:srgbClr val="E8F0F5"/>
                          </a:solidFill>
                        </a:rPr>
                        <a:t>4</a:t>
                      </a:r>
                      <a:endParaRPr lang="en-US" sz="1150" dirty="0"/>
                    </a:p>
                  </a:txBody>
                  <a:tcPr anchor="ctr">
                    <a:lnL w="0" cap="flat" cmpd="sng" algn="ctr">
                      <a:noFill/>
                    </a:lnL>
                    <a:lnR w="0" cap="flat" cmpd="sng" algn="ctr">
                      <a:noFill/>
                    </a:lnR>
                    <a:lnT w="0" cap="flat" cmpd="sng" algn="ctr">
                      <a:noFill/>
                    </a:lnT>
                    <a:lnB w="0" cap="flat" cmpd="sng" algn="ctr">
                      <a:noFill/>
                    </a:lnB>
                    <a:solidFill>
                      <a:srgbClr val="1A2E44"/>
                    </a:solidFill>
                  </a:tcPr>
                </a:tc>
                <a:tc>
                  <a:txBody>
                    <a:bodyPr/>
                    <a:lstStyle/>
                    <a:p>
                      <a:pPr marL="0" indent="0" algn="ctr">
                        <a:buNone/>
                      </a:pPr>
                      <a:r>
                        <a:rPr lang="en-US" sz="1150" dirty="0">
                          <a:solidFill>
                            <a:srgbClr val="E8F0F5"/>
                          </a:solidFill>
                        </a:rPr>
                        <a:t>4/15 = 26.7%</a:t>
                      </a:r>
                      <a:endParaRPr lang="en-US" sz="1150" dirty="0"/>
                    </a:p>
                  </a:txBody>
                  <a:tcPr anchor="ctr">
                    <a:lnL w="0" cap="flat" cmpd="sng" algn="ctr">
                      <a:noFill/>
                    </a:lnL>
                    <a:lnR w="0" cap="flat" cmpd="sng" algn="ctr">
                      <a:noFill/>
                    </a:lnR>
                    <a:lnT w="0" cap="flat" cmpd="sng" algn="ctr">
                      <a:noFill/>
                    </a:lnT>
                    <a:lnB w="0" cap="flat" cmpd="sng" algn="ctr">
                      <a:noFill/>
                    </a:lnB>
                    <a:solidFill>
                      <a:srgbClr val="1A2E44"/>
                    </a:solidFill>
                  </a:tcPr>
                </a:tc>
                <a:extLst>
                  <a:ext uri="{0D108BD9-81ED-4DB2-BD59-A6C34878D82A}">
                    <a16:rowId xmlns:a16="http://schemas.microsoft.com/office/drawing/2014/main" val="10004"/>
                  </a:ext>
                </a:extLst>
              </a:tr>
              <a:tr h="286512">
                <a:tc>
                  <a:txBody>
                    <a:bodyPr/>
                    <a:lstStyle/>
                    <a:p>
                      <a:pPr marL="0" indent="0" algn="ctr">
                        <a:buNone/>
                      </a:pPr>
                      <a:r>
                        <a:rPr lang="en-US" sz="1150" dirty="0">
                          <a:solidFill>
                            <a:srgbClr val="FFB830"/>
                          </a:solidFill>
                        </a:rPr>
                        <a:t>C3</a:t>
                      </a:r>
                      <a:endParaRPr lang="en-US" sz="115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150" dirty="0">
                          <a:solidFill>
                            <a:srgbClr val="FFB830"/>
                          </a:solidFill>
                        </a:rPr>
                        <a:t>35</a:t>
                      </a:r>
                      <a:endParaRPr lang="en-US" sz="115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150" dirty="0">
                          <a:solidFill>
                            <a:srgbClr val="FFB830"/>
                          </a:solidFill>
                        </a:rPr>
                        <a:t>5 (best)</a:t>
                      </a:r>
                      <a:endParaRPr lang="en-US" sz="115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150" dirty="0">
                          <a:solidFill>
                            <a:srgbClr val="FFB830"/>
                          </a:solidFill>
                        </a:rPr>
                        <a:t>5/15 = 33.3%</a:t>
                      </a:r>
                      <a:endParaRPr lang="en-US" sz="1150" dirty="0"/>
                    </a:p>
                  </a:txBody>
                  <a:tcPr anchor="ctr">
                    <a:lnL w="0" cap="flat" cmpd="sng" algn="ctr">
                      <a:noFill/>
                    </a:lnL>
                    <a:lnR w="0" cap="flat" cmpd="sng" algn="ctr">
                      <a:noFill/>
                    </a:lnR>
                    <a:lnT w="0" cap="flat" cmpd="sng" algn="ctr">
                      <a:noFill/>
                    </a:lnT>
                    <a:lnB w="0" cap="flat" cmpd="sng" algn="ctr">
                      <a:noFill/>
                    </a:lnB>
                    <a:solidFill>
                      <a:srgbClr val="132338"/>
                    </a:solidFill>
                  </a:tcPr>
                </a:tc>
                <a:extLst>
                  <a:ext uri="{0D108BD9-81ED-4DB2-BD59-A6C34878D82A}">
                    <a16:rowId xmlns:a16="http://schemas.microsoft.com/office/drawing/2014/main" val="10005"/>
                  </a:ext>
                </a:extLst>
              </a:tr>
            </a:tbl>
          </a:graphicData>
        </a:graphic>
      </p:graphicFrame>
      <p:sp>
        <p:nvSpPr>
          <p:cNvPr id="9" name="Shape 7"/>
          <p:cNvSpPr/>
          <p:nvPr/>
        </p:nvSpPr>
        <p:spPr>
          <a:xfrm>
            <a:off x="365760" y="4041648"/>
            <a:ext cx="8412480" cy="457200"/>
          </a:xfrm>
          <a:prstGeom prst="rect">
            <a:avLst/>
          </a:prstGeom>
          <a:solidFill>
            <a:srgbClr val="0A1520"/>
          </a:solidFill>
          <a:ln w="19050">
            <a:solidFill>
              <a:srgbClr val="FFB830"/>
            </a:solidFill>
            <a:prstDash val="solid"/>
          </a:ln>
          <a:effectLst>
            <a:outerShdw blurRad="101600" dist="38100" dir="8100000" algn="bl" rotWithShape="0">
              <a:srgbClr val="000000">
                <a:alpha val="25000"/>
              </a:srgbClr>
            </a:outerShdw>
          </a:effectLst>
        </p:spPr>
        <p:txBody>
          <a:bodyPr/>
          <a:lstStyle/>
          <a:p>
            <a:endParaRPr lang="en-US"/>
          </a:p>
        </p:txBody>
      </p:sp>
      <p:sp>
        <p:nvSpPr>
          <p:cNvPr id="11" name="Text 8"/>
          <p:cNvSpPr/>
          <p:nvPr/>
        </p:nvSpPr>
        <p:spPr>
          <a:xfrm>
            <a:off x="548640" y="4096512"/>
            <a:ext cx="8046720" cy="347472"/>
          </a:xfrm>
          <a:prstGeom prst="rect">
            <a:avLst/>
          </a:prstGeom>
          <a:noFill/>
          <a:ln/>
        </p:spPr>
        <p:txBody>
          <a:bodyPr wrap="square" rtlCol="0" anchor="ctr"/>
          <a:lstStyle/>
          <a:p>
            <a:pPr marL="0" indent="0">
              <a:buNone/>
            </a:pPr>
            <a:r>
              <a:rPr lang="en-US" sz="1200" dirty="0">
                <a:solidFill>
                  <a:srgbClr val="FFB830"/>
                </a:solidFill>
                <a:latin typeface="Consolas" pitchFamily="34" charset="0"/>
                <a:ea typeface="Consolas" pitchFamily="34" charset="-122"/>
                <a:cs typeface="Consolas" pitchFamily="34" charset="-120"/>
              </a:rPr>
              <a:t>Total rank sum = 1+2+3+4+5 = 15.   C3 (best) gets rank 5 → P = 5/15 = 33.3%</a:t>
            </a:r>
            <a:endParaRPr lang="en-US" sz="1200" dirty="0"/>
          </a:p>
        </p:txBody>
      </p:sp>
      <p:sp>
        <p:nvSpPr>
          <p:cNvPr id="12" name="Text 9"/>
          <p:cNvSpPr/>
          <p:nvPr/>
        </p:nvSpPr>
        <p:spPr>
          <a:xfrm>
            <a:off x="365760" y="4608576"/>
            <a:ext cx="8412480" cy="256032"/>
          </a:xfrm>
          <a:prstGeom prst="rect">
            <a:avLst/>
          </a:prstGeom>
          <a:noFill/>
          <a:ln/>
        </p:spPr>
        <p:txBody>
          <a:bodyPr wrap="square" rtlCol="0" anchor="ctr"/>
          <a:lstStyle/>
          <a:p>
            <a:pPr marL="0" indent="0">
              <a:buNone/>
            </a:pPr>
            <a:r>
              <a:rPr lang="en-US" sz="1100" i="1" dirty="0">
                <a:solidFill>
                  <a:srgbClr val="8FA8BF"/>
                </a:solidFill>
                <a:latin typeface="Calibri" pitchFamily="34" charset="0"/>
                <a:ea typeface="Calibri" pitchFamily="34" charset="-122"/>
                <a:cs typeface="Calibri" pitchFamily="34" charset="-120"/>
              </a:rPr>
              <a:t>✅  Advantage: Prevents premature convergence by giving even weak chromosomes a non-zero selection chance.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256032"/>
            <a:ext cx="64008" cy="502920"/>
          </a:xfrm>
          <a:prstGeom prst="rect">
            <a:avLst/>
          </a:prstGeom>
          <a:solidFill>
            <a:srgbClr val="00C896"/>
          </a:solidFill>
          <a:ln w="12700">
            <a:solidFill>
              <a:srgbClr val="00C896"/>
            </a:solidFill>
            <a:prstDash val="solid"/>
          </a:ln>
        </p:spPr>
        <p:txBody>
          <a:bodyPr/>
          <a:lstStyle/>
          <a:p>
            <a:endParaRPr lang="en-US"/>
          </a:p>
        </p:txBody>
      </p:sp>
      <p:sp>
        <p:nvSpPr>
          <p:cNvPr id="3" name="Text 1"/>
          <p:cNvSpPr/>
          <p:nvPr/>
        </p:nvSpPr>
        <p:spPr>
          <a:xfrm>
            <a:off x="512064" y="256032"/>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  Crossover (Recombination)</a:t>
            </a:r>
            <a:endParaRPr lang="en-US" sz="2800" dirty="0"/>
          </a:p>
        </p:txBody>
      </p:sp>
      <p:sp>
        <p:nvSpPr>
          <p:cNvPr id="4" name="Shape 2"/>
          <p:cNvSpPr/>
          <p:nvPr/>
        </p:nvSpPr>
        <p:spPr>
          <a:xfrm>
            <a:off x="365760" y="868680"/>
            <a:ext cx="8412480" cy="0"/>
          </a:xfrm>
          <a:prstGeom prst="line">
            <a:avLst/>
          </a:prstGeom>
          <a:noFill/>
          <a:ln w="12700">
            <a:solidFill>
              <a:srgbClr val="00C896">
                <a:alpha val="50000"/>
              </a:srgbClr>
            </a:solidFill>
            <a:prstDash val="solid"/>
          </a:ln>
        </p:spPr>
        <p:txBody>
          <a:bodyPr/>
          <a:lstStyle/>
          <a:p>
            <a:endParaRPr lang="en-US"/>
          </a:p>
        </p:txBody>
      </p:sp>
      <p:sp>
        <p:nvSpPr>
          <p:cNvPr id="5" name="Shape 3"/>
          <p:cNvSpPr/>
          <p:nvPr/>
        </p:nvSpPr>
        <p:spPr>
          <a:xfrm>
            <a:off x="365760" y="1005840"/>
            <a:ext cx="8412480" cy="777240"/>
          </a:xfrm>
          <a:prstGeom prst="rect">
            <a:avLst/>
          </a:prstGeom>
          <a:solidFill>
            <a:srgbClr val="1A2E44"/>
          </a:solidFill>
          <a:ln w="19050">
            <a:solidFill>
              <a:srgbClr val="00A3FF"/>
            </a:solidFill>
            <a:prstDash val="solid"/>
          </a:ln>
          <a:effectLst>
            <a:outerShdw blurRad="101600" dist="38100" dir="8100000" algn="bl" rotWithShape="0">
              <a:srgbClr val="000000">
                <a:alpha val="25000"/>
              </a:srgbClr>
            </a:outerShdw>
          </a:effectLst>
        </p:spPr>
        <p:txBody>
          <a:bodyPr/>
          <a:lstStyle/>
          <a:p>
            <a:endParaRPr lang="en-US"/>
          </a:p>
        </p:txBody>
      </p:sp>
      <p:sp>
        <p:nvSpPr>
          <p:cNvPr id="6" name="Text 4"/>
          <p:cNvSpPr/>
          <p:nvPr/>
        </p:nvSpPr>
        <p:spPr>
          <a:xfrm>
            <a:off x="502920" y="1033272"/>
            <a:ext cx="8229600" cy="731520"/>
          </a:xfrm>
          <a:prstGeom prst="rect">
            <a:avLst/>
          </a:prstGeom>
          <a:noFill/>
          <a:ln/>
        </p:spPr>
        <p:txBody>
          <a:bodyPr wrap="square" rtlCol="0" anchor="ctr"/>
          <a:lstStyle/>
          <a:p>
            <a:pPr marL="0" indent="0">
              <a:buNone/>
            </a:pPr>
            <a:r>
              <a:rPr lang="en-US" sz="1250" b="1" dirty="0">
                <a:solidFill>
                  <a:srgbClr val="00A3FF"/>
                </a:solidFill>
                <a:latin typeface="Calibri" pitchFamily="34" charset="0"/>
                <a:ea typeface="Calibri" pitchFamily="34" charset="-122"/>
                <a:cs typeface="Calibri" pitchFamily="34" charset="-120"/>
              </a:rPr>
              <a:t>Crossover </a:t>
            </a:r>
            <a:r>
              <a:rPr lang="en-US" sz="1250" dirty="0">
                <a:solidFill>
                  <a:srgbClr val="E8F0F5"/>
                </a:solidFill>
                <a:latin typeface="Calibri" pitchFamily="34" charset="0"/>
                <a:ea typeface="Calibri" pitchFamily="34" charset="-122"/>
                <a:cs typeface="Calibri" pitchFamily="34" charset="-120"/>
              </a:rPr>
              <a:t>is the genetic operator that combines genetic material from two (or more) selected parents to produce new offspring. It is the primary mechanism for exploration in a genetic algorithm — analogous to biological reproduction.</a:t>
            </a:r>
            <a:endParaRPr lang="en-US" sz="1250" dirty="0"/>
          </a:p>
        </p:txBody>
      </p:sp>
      <p:sp>
        <p:nvSpPr>
          <p:cNvPr id="7" name="Text 5"/>
          <p:cNvSpPr/>
          <p:nvPr/>
        </p:nvSpPr>
        <p:spPr>
          <a:xfrm>
            <a:off x="365760" y="1938528"/>
            <a:ext cx="6400800" cy="274320"/>
          </a:xfrm>
          <a:prstGeom prst="rect">
            <a:avLst/>
          </a:prstGeom>
          <a:noFill/>
          <a:ln/>
        </p:spPr>
        <p:txBody>
          <a:bodyPr wrap="square" rtlCol="0" anchor="ctr"/>
          <a:lstStyle/>
          <a:p>
            <a:pPr marL="0" indent="0">
              <a:buNone/>
            </a:pPr>
            <a:r>
              <a:rPr lang="en-US" sz="1100" b="1" dirty="0">
                <a:solidFill>
                  <a:srgbClr val="8FA8BF"/>
                </a:solidFill>
                <a:latin typeface="Calibri" pitchFamily="34" charset="0"/>
                <a:ea typeface="Calibri" pitchFamily="34" charset="-122"/>
                <a:cs typeface="Calibri" pitchFamily="34" charset="-120"/>
              </a:rPr>
              <a:t>SIMPLE EXAMPLE  (One-Point Crossover at position 4):</a:t>
            </a:r>
            <a:endParaRPr lang="en-US" sz="1100" dirty="0"/>
          </a:p>
        </p:txBody>
      </p:sp>
      <p:sp>
        <p:nvSpPr>
          <p:cNvPr id="8" name="Shape 6"/>
          <p:cNvSpPr/>
          <p:nvPr/>
        </p:nvSpPr>
        <p:spPr>
          <a:xfrm>
            <a:off x="365760" y="2331720"/>
            <a:ext cx="1005840" cy="274320"/>
          </a:xfrm>
          <a:prstGeom prst="rect">
            <a:avLst/>
          </a:prstGeom>
          <a:solidFill>
            <a:srgbClr val="00C896"/>
          </a:solidFill>
          <a:ln w="12700">
            <a:solidFill>
              <a:srgbClr val="00C896"/>
            </a:solidFill>
            <a:prstDash val="solid"/>
          </a:ln>
        </p:spPr>
        <p:txBody>
          <a:bodyPr/>
          <a:lstStyle/>
          <a:p>
            <a:endParaRPr lang="en-US"/>
          </a:p>
        </p:txBody>
      </p:sp>
      <p:sp>
        <p:nvSpPr>
          <p:cNvPr id="9" name="Text 7"/>
          <p:cNvSpPr/>
          <p:nvPr/>
        </p:nvSpPr>
        <p:spPr>
          <a:xfrm>
            <a:off x="365760" y="2331720"/>
            <a:ext cx="1005840" cy="27432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Parent 1</a:t>
            </a:r>
            <a:endParaRPr lang="en-US" sz="1000" dirty="0"/>
          </a:p>
        </p:txBody>
      </p:sp>
      <p:sp>
        <p:nvSpPr>
          <p:cNvPr id="10" name="Shape 8"/>
          <p:cNvSpPr/>
          <p:nvPr/>
        </p:nvSpPr>
        <p:spPr>
          <a:xfrm>
            <a:off x="1508760" y="2286000"/>
            <a:ext cx="374904" cy="347472"/>
          </a:xfrm>
          <a:prstGeom prst="rect">
            <a:avLst/>
          </a:prstGeom>
          <a:solidFill>
            <a:srgbClr val="00C896"/>
          </a:solidFill>
          <a:ln w="19050">
            <a:solidFill>
              <a:srgbClr val="00C896"/>
            </a:solidFill>
            <a:prstDash val="solid"/>
          </a:ln>
        </p:spPr>
        <p:txBody>
          <a:bodyPr/>
          <a:lstStyle/>
          <a:p>
            <a:endParaRPr lang="en-US"/>
          </a:p>
        </p:txBody>
      </p:sp>
      <p:sp>
        <p:nvSpPr>
          <p:cNvPr id="11" name="Text 9"/>
          <p:cNvSpPr/>
          <p:nvPr/>
        </p:nvSpPr>
        <p:spPr>
          <a:xfrm>
            <a:off x="1508760" y="228600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12" name="Shape 10"/>
          <p:cNvSpPr/>
          <p:nvPr/>
        </p:nvSpPr>
        <p:spPr>
          <a:xfrm>
            <a:off x="1911096" y="2286000"/>
            <a:ext cx="374904" cy="347472"/>
          </a:xfrm>
          <a:prstGeom prst="rect">
            <a:avLst/>
          </a:prstGeom>
          <a:solidFill>
            <a:srgbClr val="00C896"/>
          </a:solidFill>
          <a:ln w="19050">
            <a:solidFill>
              <a:srgbClr val="00C896"/>
            </a:solidFill>
            <a:prstDash val="solid"/>
          </a:ln>
        </p:spPr>
        <p:txBody>
          <a:bodyPr/>
          <a:lstStyle/>
          <a:p>
            <a:endParaRPr lang="en-US"/>
          </a:p>
        </p:txBody>
      </p:sp>
      <p:sp>
        <p:nvSpPr>
          <p:cNvPr id="13" name="Text 11"/>
          <p:cNvSpPr/>
          <p:nvPr/>
        </p:nvSpPr>
        <p:spPr>
          <a:xfrm>
            <a:off x="1911096" y="228600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14" name="Shape 12"/>
          <p:cNvSpPr/>
          <p:nvPr/>
        </p:nvSpPr>
        <p:spPr>
          <a:xfrm>
            <a:off x="2313432" y="2286000"/>
            <a:ext cx="374904" cy="347472"/>
          </a:xfrm>
          <a:prstGeom prst="rect">
            <a:avLst/>
          </a:prstGeom>
          <a:solidFill>
            <a:srgbClr val="00C896"/>
          </a:solidFill>
          <a:ln w="19050">
            <a:solidFill>
              <a:srgbClr val="00C896"/>
            </a:solidFill>
            <a:prstDash val="solid"/>
          </a:ln>
        </p:spPr>
        <p:txBody>
          <a:bodyPr/>
          <a:lstStyle/>
          <a:p>
            <a:endParaRPr lang="en-US"/>
          </a:p>
        </p:txBody>
      </p:sp>
      <p:sp>
        <p:nvSpPr>
          <p:cNvPr id="15" name="Text 13"/>
          <p:cNvSpPr/>
          <p:nvPr/>
        </p:nvSpPr>
        <p:spPr>
          <a:xfrm>
            <a:off x="2313432" y="228600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16" name="Shape 14"/>
          <p:cNvSpPr/>
          <p:nvPr/>
        </p:nvSpPr>
        <p:spPr>
          <a:xfrm>
            <a:off x="2715768" y="2286000"/>
            <a:ext cx="374904" cy="347472"/>
          </a:xfrm>
          <a:prstGeom prst="rect">
            <a:avLst/>
          </a:prstGeom>
          <a:solidFill>
            <a:srgbClr val="00C896"/>
          </a:solidFill>
          <a:ln w="19050">
            <a:solidFill>
              <a:srgbClr val="00C896"/>
            </a:solidFill>
            <a:prstDash val="solid"/>
          </a:ln>
        </p:spPr>
        <p:txBody>
          <a:bodyPr/>
          <a:lstStyle/>
          <a:p>
            <a:endParaRPr lang="en-US"/>
          </a:p>
        </p:txBody>
      </p:sp>
      <p:sp>
        <p:nvSpPr>
          <p:cNvPr id="17" name="Text 15"/>
          <p:cNvSpPr/>
          <p:nvPr/>
        </p:nvSpPr>
        <p:spPr>
          <a:xfrm>
            <a:off x="2715768" y="228600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18" name="Shape 16"/>
          <p:cNvSpPr/>
          <p:nvPr/>
        </p:nvSpPr>
        <p:spPr>
          <a:xfrm>
            <a:off x="3118104" y="2286000"/>
            <a:ext cx="374904" cy="347472"/>
          </a:xfrm>
          <a:prstGeom prst="rect">
            <a:avLst/>
          </a:prstGeom>
          <a:solidFill>
            <a:srgbClr val="132338"/>
          </a:solidFill>
          <a:ln w="19050">
            <a:solidFill>
              <a:srgbClr val="8FA8BF"/>
            </a:solidFill>
            <a:prstDash val="solid"/>
          </a:ln>
        </p:spPr>
        <p:txBody>
          <a:bodyPr/>
          <a:lstStyle/>
          <a:p>
            <a:endParaRPr lang="en-US"/>
          </a:p>
        </p:txBody>
      </p:sp>
      <p:sp>
        <p:nvSpPr>
          <p:cNvPr id="19" name="Text 17"/>
          <p:cNvSpPr/>
          <p:nvPr/>
        </p:nvSpPr>
        <p:spPr>
          <a:xfrm>
            <a:off x="3118104" y="228600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a:t>
            </a:r>
            <a:endParaRPr lang="en-US" sz="1300" dirty="0"/>
          </a:p>
        </p:txBody>
      </p:sp>
      <p:sp>
        <p:nvSpPr>
          <p:cNvPr id="20" name="Shape 18"/>
          <p:cNvSpPr/>
          <p:nvPr/>
        </p:nvSpPr>
        <p:spPr>
          <a:xfrm>
            <a:off x="3520440" y="2286000"/>
            <a:ext cx="374904" cy="347472"/>
          </a:xfrm>
          <a:prstGeom prst="rect">
            <a:avLst/>
          </a:prstGeom>
          <a:solidFill>
            <a:srgbClr val="132338"/>
          </a:solidFill>
          <a:ln w="19050">
            <a:solidFill>
              <a:srgbClr val="8FA8BF"/>
            </a:solidFill>
            <a:prstDash val="solid"/>
          </a:ln>
        </p:spPr>
        <p:txBody>
          <a:bodyPr/>
          <a:lstStyle/>
          <a:p>
            <a:endParaRPr lang="en-US"/>
          </a:p>
        </p:txBody>
      </p:sp>
      <p:sp>
        <p:nvSpPr>
          <p:cNvPr id="21" name="Text 19"/>
          <p:cNvSpPr/>
          <p:nvPr/>
        </p:nvSpPr>
        <p:spPr>
          <a:xfrm>
            <a:off x="3520440" y="228600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22" name="Shape 20"/>
          <p:cNvSpPr/>
          <p:nvPr/>
        </p:nvSpPr>
        <p:spPr>
          <a:xfrm>
            <a:off x="3922776" y="2286000"/>
            <a:ext cx="374904" cy="347472"/>
          </a:xfrm>
          <a:prstGeom prst="rect">
            <a:avLst/>
          </a:prstGeom>
          <a:solidFill>
            <a:srgbClr val="132338"/>
          </a:solidFill>
          <a:ln w="19050">
            <a:solidFill>
              <a:srgbClr val="8FA8BF"/>
            </a:solidFill>
            <a:prstDash val="solid"/>
          </a:ln>
        </p:spPr>
        <p:txBody>
          <a:bodyPr/>
          <a:lstStyle/>
          <a:p>
            <a:endParaRPr lang="en-US"/>
          </a:p>
        </p:txBody>
      </p:sp>
      <p:sp>
        <p:nvSpPr>
          <p:cNvPr id="23" name="Text 21"/>
          <p:cNvSpPr/>
          <p:nvPr/>
        </p:nvSpPr>
        <p:spPr>
          <a:xfrm>
            <a:off x="3922776" y="228600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24" name="Shape 22"/>
          <p:cNvSpPr/>
          <p:nvPr/>
        </p:nvSpPr>
        <p:spPr>
          <a:xfrm>
            <a:off x="4325112" y="2286000"/>
            <a:ext cx="374904" cy="347472"/>
          </a:xfrm>
          <a:prstGeom prst="rect">
            <a:avLst/>
          </a:prstGeom>
          <a:solidFill>
            <a:srgbClr val="132338"/>
          </a:solidFill>
          <a:ln w="19050">
            <a:solidFill>
              <a:srgbClr val="8FA8BF"/>
            </a:solidFill>
            <a:prstDash val="solid"/>
          </a:ln>
        </p:spPr>
        <p:txBody>
          <a:bodyPr/>
          <a:lstStyle/>
          <a:p>
            <a:endParaRPr lang="en-US"/>
          </a:p>
        </p:txBody>
      </p:sp>
      <p:sp>
        <p:nvSpPr>
          <p:cNvPr id="25" name="Text 23"/>
          <p:cNvSpPr/>
          <p:nvPr/>
        </p:nvSpPr>
        <p:spPr>
          <a:xfrm>
            <a:off x="4325112" y="228600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26" name="Shape 24"/>
          <p:cNvSpPr/>
          <p:nvPr/>
        </p:nvSpPr>
        <p:spPr>
          <a:xfrm>
            <a:off x="365760" y="2816352"/>
            <a:ext cx="1005840" cy="274320"/>
          </a:xfrm>
          <a:prstGeom prst="rect">
            <a:avLst/>
          </a:prstGeom>
          <a:solidFill>
            <a:srgbClr val="00A3FF"/>
          </a:solidFill>
          <a:ln w="12700">
            <a:solidFill>
              <a:srgbClr val="00A3FF"/>
            </a:solidFill>
            <a:prstDash val="solid"/>
          </a:ln>
        </p:spPr>
        <p:txBody>
          <a:bodyPr/>
          <a:lstStyle/>
          <a:p>
            <a:endParaRPr lang="en-US"/>
          </a:p>
        </p:txBody>
      </p:sp>
      <p:sp>
        <p:nvSpPr>
          <p:cNvPr id="27" name="Text 25"/>
          <p:cNvSpPr/>
          <p:nvPr/>
        </p:nvSpPr>
        <p:spPr>
          <a:xfrm>
            <a:off x="365760" y="2816352"/>
            <a:ext cx="1005840" cy="27432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Parent 2</a:t>
            </a:r>
            <a:endParaRPr lang="en-US" sz="1000" dirty="0"/>
          </a:p>
        </p:txBody>
      </p:sp>
      <p:sp>
        <p:nvSpPr>
          <p:cNvPr id="28" name="Shape 26"/>
          <p:cNvSpPr/>
          <p:nvPr/>
        </p:nvSpPr>
        <p:spPr>
          <a:xfrm>
            <a:off x="1508760" y="2770632"/>
            <a:ext cx="374904" cy="347472"/>
          </a:xfrm>
          <a:prstGeom prst="rect">
            <a:avLst/>
          </a:prstGeom>
          <a:solidFill>
            <a:srgbClr val="132338"/>
          </a:solidFill>
          <a:ln w="19050">
            <a:solidFill>
              <a:srgbClr val="8FA8BF"/>
            </a:solidFill>
            <a:prstDash val="solid"/>
          </a:ln>
        </p:spPr>
        <p:txBody>
          <a:bodyPr/>
          <a:lstStyle/>
          <a:p>
            <a:endParaRPr lang="en-US"/>
          </a:p>
        </p:txBody>
      </p:sp>
      <p:sp>
        <p:nvSpPr>
          <p:cNvPr id="29" name="Text 27"/>
          <p:cNvSpPr/>
          <p:nvPr/>
        </p:nvSpPr>
        <p:spPr>
          <a:xfrm>
            <a:off x="1508760" y="2770632"/>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30" name="Shape 28"/>
          <p:cNvSpPr/>
          <p:nvPr/>
        </p:nvSpPr>
        <p:spPr>
          <a:xfrm>
            <a:off x="1911096" y="2770632"/>
            <a:ext cx="374904" cy="347472"/>
          </a:xfrm>
          <a:prstGeom prst="rect">
            <a:avLst/>
          </a:prstGeom>
          <a:solidFill>
            <a:srgbClr val="132338"/>
          </a:solidFill>
          <a:ln w="19050">
            <a:solidFill>
              <a:srgbClr val="8FA8BF"/>
            </a:solidFill>
            <a:prstDash val="solid"/>
          </a:ln>
        </p:spPr>
        <p:txBody>
          <a:bodyPr/>
          <a:lstStyle/>
          <a:p>
            <a:endParaRPr lang="en-US"/>
          </a:p>
        </p:txBody>
      </p:sp>
      <p:sp>
        <p:nvSpPr>
          <p:cNvPr id="31" name="Text 29"/>
          <p:cNvSpPr/>
          <p:nvPr/>
        </p:nvSpPr>
        <p:spPr>
          <a:xfrm>
            <a:off x="1911096" y="2770632"/>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32" name="Shape 30"/>
          <p:cNvSpPr/>
          <p:nvPr/>
        </p:nvSpPr>
        <p:spPr>
          <a:xfrm>
            <a:off x="2313432" y="2770632"/>
            <a:ext cx="374904" cy="347472"/>
          </a:xfrm>
          <a:prstGeom prst="rect">
            <a:avLst/>
          </a:prstGeom>
          <a:solidFill>
            <a:srgbClr val="132338"/>
          </a:solidFill>
          <a:ln w="19050">
            <a:solidFill>
              <a:srgbClr val="8FA8BF"/>
            </a:solidFill>
            <a:prstDash val="solid"/>
          </a:ln>
        </p:spPr>
        <p:txBody>
          <a:bodyPr/>
          <a:lstStyle/>
          <a:p>
            <a:endParaRPr lang="en-US"/>
          </a:p>
        </p:txBody>
      </p:sp>
      <p:sp>
        <p:nvSpPr>
          <p:cNvPr id="33" name="Text 31"/>
          <p:cNvSpPr/>
          <p:nvPr/>
        </p:nvSpPr>
        <p:spPr>
          <a:xfrm>
            <a:off x="2313432" y="2770632"/>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34" name="Shape 32"/>
          <p:cNvSpPr/>
          <p:nvPr/>
        </p:nvSpPr>
        <p:spPr>
          <a:xfrm>
            <a:off x="2715768" y="2770632"/>
            <a:ext cx="374904" cy="347472"/>
          </a:xfrm>
          <a:prstGeom prst="rect">
            <a:avLst/>
          </a:prstGeom>
          <a:solidFill>
            <a:srgbClr val="132338"/>
          </a:solidFill>
          <a:ln w="19050">
            <a:solidFill>
              <a:srgbClr val="8FA8BF"/>
            </a:solidFill>
            <a:prstDash val="solid"/>
          </a:ln>
        </p:spPr>
        <p:txBody>
          <a:bodyPr/>
          <a:lstStyle/>
          <a:p>
            <a:endParaRPr lang="en-US"/>
          </a:p>
        </p:txBody>
      </p:sp>
      <p:sp>
        <p:nvSpPr>
          <p:cNvPr id="35" name="Text 33"/>
          <p:cNvSpPr/>
          <p:nvPr/>
        </p:nvSpPr>
        <p:spPr>
          <a:xfrm>
            <a:off x="2715768" y="2770632"/>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36" name="Shape 34"/>
          <p:cNvSpPr/>
          <p:nvPr/>
        </p:nvSpPr>
        <p:spPr>
          <a:xfrm>
            <a:off x="3118104" y="2770632"/>
            <a:ext cx="374904" cy="347472"/>
          </a:xfrm>
          <a:prstGeom prst="rect">
            <a:avLst/>
          </a:prstGeom>
          <a:solidFill>
            <a:srgbClr val="00C896"/>
          </a:solidFill>
          <a:ln w="19050">
            <a:solidFill>
              <a:srgbClr val="00C896"/>
            </a:solidFill>
            <a:prstDash val="solid"/>
          </a:ln>
        </p:spPr>
        <p:txBody>
          <a:bodyPr/>
          <a:lstStyle/>
          <a:p>
            <a:endParaRPr lang="en-US"/>
          </a:p>
        </p:txBody>
      </p:sp>
      <p:sp>
        <p:nvSpPr>
          <p:cNvPr id="37" name="Text 35"/>
          <p:cNvSpPr/>
          <p:nvPr/>
        </p:nvSpPr>
        <p:spPr>
          <a:xfrm>
            <a:off x="3118104" y="2770632"/>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a:t>
            </a:r>
            <a:endParaRPr lang="en-US" sz="1300" dirty="0"/>
          </a:p>
        </p:txBody>
      </p:sp>
      <p:sp>
        <p:nvSpPr>
          <p:cNvPr id="38" name="Shape 36"/>
          <p:cNvSpPr/>
          <p:nvPr/>
        </p:nvSpPr>
        <p:spPr>
          <a:xfrm>
            <a:off x="3520440" y="2770632"/>
            <a:ext cx="374904" cy="347472"/>
          </a:xfrm>
          <a:prstGeom prst="rect">
            <a:avLst/>
          </a:prstGeom>
          <a:solidFill>
            <a:srgbClr val="00C896"/>
          </a:solidFill>
          <a:ln w="19050">
            <a:solidFill>
              <a:srgbClr val="00C896"/>
            </a:solidFill>
            <a:prstDash val="solid"/>
          </a:ln>
        </p:spPr>
        <p:txBody>
          <a:bodyPr/>
          <a:lstStyle/>
          <a:p>
            <a:endParaRPr lang="en-US"/>
          </a:p>
        </p:txBody>
      </p:sp>
      <p:sp>
        <p:nvSpPr>
          <p:cNvPr id="39" name="Text 37"/>
          <p:cNvSpPr/>
          <p:nvPr/>
        </p:nvSpPr>
        <p:spPr>
          <a:xfrm>
            <a:off x="3520440" y="2770632"/>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40" name="Shape 38"/>
          <p:cNvSpPr/>
          <p:nvPr/>
        </p:nvSpPr>
        <p:spPr>
          <a:xfrm>
            <a:off x="3922776" y="2770632"/>
            <a:ext cx="374904" cy="347472"/>
          </a:xfrm>
          <a:prstGeom prst="rect">
            <a:avLst/>
          </a:prstGeom>
          <a:solidFill>
            <a:srgbClr val="00C896"/>
          </a:solidFill>
          <a:ln w="19050">
            <a:solidFill>
              <a:srgbClr val="00C896"/>
            </a:solidFill>
            <a:prstDash val="solid"/>
          </a:ln>
        </p:spPr>
        <p:txBody>
          <a:bodyPr/>
          <a:lstStyle/>
          <a:p>
            <a:endParaRPr lang="en-US"/>
          </a:p>
        </p:txBody>
      </p:sp>
      <p:sp>
        <p:nvSpPr>
          <p:cNvPr id="41" name="Text 39"/>
          <p:cNvSpPr/>
          <p:nvPr/>
        </p:nvSpPr>
        <p:spPr>
          <a:xfrm>
            <a:off x="3922776" y="2770632"/>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42" name="Shape 40"/>
          <p:cNvSpPr/>
          <p:nvPr/>
        </p:nvSpPr>
        <p:spPr>
          <a:xfrm>
            <a:off x="4325112" y="2770632"/>
            <a:ext cx="374904" cy="347472"/>
          </a:xfrm>
          <a:prstGeom prst="rect">
            <a:avLst/>
          </a:prstGeom>
          <a:solidFill>
            <a:srgbClr val="00C896"/>
          </a:solidFill>
          <a:ln w="19050">
            <a:solidFill>
              <a:srgbClr val="00C896"/>
            </a:solidFill>
            <a:prstDash val="solid"/>
          </a:ln>
        </p:spPr>
        <p:txBody>
          <a:bodyPr/>
          <a:lstStyle/>
          <a:p>
            <a:endParaRPr lang="en-US"/>
          </a:p>
        </p:txBody>
      </p:sp>
      <p:sp>
        <p:nvSpPr>
          <p:cNvPr id="43" name="Text 41"/>
          <p:cNvSpPr/>
          <p:nvPr/>
        </p:nvSpPr>
        <p:spPr>
          <a:xfrm>
            <a:off x="4325112" y="2770632"/>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44" name="Shape 42"/>
          <p:cNvSpPr/>
          <p:nvPr/>
        </p:nvSpPr>
        <p:spPr>
          <a:xfrm>
            <a:off x="868680" y="3291840"/>
            <a:ext cx="0" cy="320040"/>
          </a:xfrm>
          <a:prstGeom prst="line">
            <a:avLst/>
          </a:prstGeom>
          <a:noFill/>
          <a:ln w="25400">
            <a:solidFill>
              <a:srgbClr val="00C896"/>
            </a:solidFill>
            <a:prstDash val="solid"/>
          </a:ln>
        </p:spPr>
        <p:txBody>
          <a:bodyPr/>
          <a:lstStyle/>
          <a:p>
            <a:endParaRPr lang="en-US"/>
          </a:p>
        </p:txBody>
      </p:sp>
      <p:sp>
        <p:nvSpPr>
          <p:cNvPr id="45" name="Text 43"/>
          <p:cNvSpPr/>
          <p:nvPr/>
        </p:nvSpPr>
        <p:spPr>
          <a:xfrm>
            <a:off x="320040" y="3630168"/>
            <a:ext cx="1371600" cy="228600"/>
          </a:xfrm>
          <a:prstGeom prst="rect">
            <a:avLst/>
          </a:prstGeom>
          <a:noFill/>
          <a:ln/>
        </p:spPr>
        <p:txBody>
          <a:bodyPr wrap="square" rtlCol="0" anchor="ctr"/>
          <a:lstStyle/>
          <a:p>
            <a:pPr marL="0" indent="0">
              <a:buNone/>
            </a:pPr>
            <a:r>
              <a:rPr lang="en-US" sz="1000" dirty="0">
                <a:solidFill>
                  <a:srgbClr val="00C896"/>
                </a:solidFill>
                <a:latin typeface="Calibri" pitchFamily="34" charset="0"/>
                <a:ea typeface="Calibri" pitchFamily="34" charset="-122"/>
                <a:cs typeface="Calibri" pitchFamily="34" charset="-120"/>
              </a:rPr>
              <a:t>⬇ Offspring</a:t>
            </a:r>
            <a:endParaRPr lang="en-US" sz="1000" dirty="0"/>
          </a:p>
        </p:txBody>
      </p:sp>
      <p:sp>
        <p:nvSpPr>
          <p:cNvPr id="46" name="Shape 44"/>
          <p:cNvSpPr/>
          <p:nvPr/>
        </p:nvSpPr>
        <p:spPr>
          <a:xfrm>
            <a:off x="365760" y="3931920"/>
            <a:ext cx="1005840" cy="274320"/>
          </a:xfrm>
          <a:prstGeom prst="rect">
            <a:avLst/>
          </a:prstGeom>
          <a:solidFill>
            <a:srgbClr val="E05AFF"/>
          </a:solidFill>
          <a:ln w="12700">
            <a:solidFill>
              <a:srgbClr val="E05AFF"/>
            </a:solidFill>
            <a:prstDash val="solid"/>
          </a:ln>
        </p:spPr>
        <p:txBody>
          <a:bodyPr/>
          <a:lstStyle/>
          <a:p>
            <a:endParaRPr lang="en-US"/>
          </a:p>
        </p:txBody>
      </p:sp>
      <p:sp>
        <p:nvSpPr>
          <p:cNvPr id="47" name="Text 45"/>
          <p:cNvSpPr/>
          <p:nvPr/>
        </p:nvSpPr>
        <p:spPr>
          <a:xfrm>
            <a:off x="365760" y="3931920"/>
            <a:ext cx="1005840" cy="27432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Child 1</a:t>
            </a:r>
            <a:endParaRPr lang="en-US" sz="1000" dirty="0"/>
          </a:p>
        </p:txBody>
      </p:sp>
      <p:sp>
        <p:nvSpPr>
          <p:cNvPr id="48" name="Shape 46"/>
          <p:cNvSpPr/>
          <p:nvPr/>
        </p:nvSpPr>
        <p:spPr>
          <a:xfrm>
            <a:off x="1508760" y="3886200"/>
            <a:ext cx="374904" cy="347472"/>
          </a:xfrm>
          <a:prstGeom prst="rect">
            <a:avLst/>
          </a:prstGeom>
          <a:solidFill>
            <a:srgbClr val="00C896"/>
          </a:solidFill>
          <a:ln w="19050">
            <a:solidFill>
              <a:srgbClr val="00C896"/>
            </a:solidFill>
            <a:prstDash val="solid"/>
          </a:ln>
        </p:spPr>
        <p:txBody>
          <a:bodyPr/>
          <a:lstStyle/>
          <a:p>
            <a:endParaRPr lang="en-US"/>
          </a:p>
        </p:txBody>
      </p:sp>
      <p:sp>
        <p:nvSpPr>
          <p:cNvPr id="49" name="Text 47"/>
          <p:cNvSpPr/>
          <p:nvPr/>
        </p:nvSpPr>
        <p:spPr>
          <a:xfrm>
            <a:off x="1508760" y="388620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50" name="Shape 48"/>
          <p:cNvSpPr/>
          <p:nvPr/>
        </p:nvSpPr>
        <p:spPr>
          <a:xfrm>
            <a:off x="1911096" y="3886200"/>
            <a:ext cx="374904" cy="347472"/>
          </a:xfrm>
          <a:prstGeom prst="rect">
            <a:avLst/>
          </a:prstGeom>
          <a:solidFill>
            <a:srgbClr val="00C896"/>
          </a:solidFill>
          <a:ln w="19050">
            <a:solidFill>
              <a:srgbClr val="00C896"/>
            </a:solidFill>
            <a:prstDash val="solid"/>
          </a:ln>
        </p:spPr>
        <p:txBody>
          <a:bodyPr/>
          <a:lstStyle/>
          <a:p>
            <a:endParaRPr lang="en-US"/>
          </a:p>
        </p:txBody>
      </p:sp>
      <p:sp>
        <p:nvSpPr>
          <p:cNvPr id="51" name="Text 49"/>
          <p:cNvSpPr/>
          <p:nvPr/>
        </p:nvSpPr>
        <p:spPr>
          <a:xfrm>
            <a:off x="1911096" y="388620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52" name="Shape 50"/>
          <p:cNvSpPr/>
          <p:nvPr/>
        </p:nvSpPr>
        <p:spPr>
          <a:xfrm>
            <a:off x="2313432" y="3886200"/>
            <a:ext cx="374904" cy="347472"/>
          </a:xfrm>
          <a:prstGeom prst="rect">
            <a:avLst/>
          </a:prstGeom>
          <a:solidFill>
            <a:srgbClr val="00C896"/>
          </a:solidFill>
          <a:ln w="19050">
            <a:solidFill>
              <a:srgbClr val="00C896"/>
            </a:solidFill>
            <a:prstDash val="solid"/>
          </a:ln>
        </p:spPr>
        <p:txBody>
          <a:bodyPr/>
          <a:lstStyle/>
          <a:p>
            <a:endParaRPr lang="en-US"/>
          </a:p>
        </p:txBody>
      </p:sp>
      <p:sp>
        <p:nvSpPr>
          <p:cNvPr id="53" name="Text 51"/>
          <p:cNvSpPr/>
          <p:nvPr/>
        </p:nvSpPr>
        <p:spPr>
          <a:xfrm>
            <a:off x="2313432" y="388620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54" name="Shape 52"/>
          <p:cNvSpPr/>
          <p:nvPr/>
        </p:nvSpPr>
        <p:spPr>
          <a:xfrm>
            <a:off x="2715768" y="3886200"/>
            <a:ext cx="374904" cy="347472"/>
          </a:xfrm>
          <a:prstGeom prst="rect">
            <a:avLst/>
          </a:prstGeom>
          <a:solidFill>
            <a:srgbClr val="00C896"/>
          </a:solidFill>
          <a:ln w="19050">
            <a:solidFill>
              <a:srgbClr val="00C896"/>
            </a:solidFill>
            <a:prstDash val="solid"/>
          </a:ln>
        </p:spPr>
        <p:txBody>
          <a:bodyPr/>
          <a:lstStyle/>
          <a:p>
            <a:endParaRPr lang="en-US"/>
          </a:p>
        </p:txBody>
      </p:sp>
      <p:sp>
        <p:nvSpPr>
          <p:cNvPr id="55" name="Text 53"/>
          <p:cNvSpPr/>
          <p:nvPr/>
        </p:nvSpPr>
        <p:spPr>
          <a:xfrm>
            <a:off x="2715768" y="388620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56" name="Shape 54"/>
          <p:cNvSpPr/>
          <p:nvPr/>
        </p:nvSpPr>
        <p:spPr>
          <a:xfrm>
            <a:off x="3118104" y="3886200"/>
            <a:ext cx="374904" cy="347472"/>
          </a:xfrm>
          <a:prstGeom prst="rect">
            <a:avLst/>
          </a:prstGeom>
          <a:solidFill>
            <a:srgbClr val="132338"/>
          </a:solidFill>
          <a:ln w="19050">
            <a:solidFill>
              <a:srgbClr val="8FA8BF"/>
            </a:solidFill>
            <a:prstDash val="solid"/>
          </a:ln>
        </p:spPr>
        <p:txBody>
          <a:bodyPr/>
          <a:lstStyle/>
          <a:p>
            <a:endParaRPr lang="en-US"/>
          </a:p>
        </p:txBody>
      </p:sp>
      <p:sp>
        <p:nvSpPr>
          <p:cNvPr id="57" name="Text 55"/>
          <p:cNvSpPr/>
          <p:nvPr/>
        </p:nvSpPr>
        <p:spPr>
          <a:xfrm>
            <a:off x="3118104" y="388620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58" name="Shape 56"/>
          <p:cNvSpPr/>
          <p:nvPr/>
        </p:nvSpPr>
        <p:spPr>
          <a:xfrm>
            <a:off x="3520440" y="3886200"/>
            <a:ext cx="374904" cy="347472"/>
          </a:xfrm>
          <a:prstGeom prst="rect">
            <a:avLst/>
          </a:prstGeom>
          <a:solidFill>
            <a:srgbClr val="132338"/>
          </a:solidFill>
          <a:ln w="19050">
            <a:solidFill>
              <a:srgbClr val="8FA8BF"/>
            </a:solidFill>
            <a:prstDash val="solid"/>
          </a:ln>
        </p:spPr>
        <p:txBody>
          <a:bodyPr/>
          <a:lstStyle/>
          <a:p>
            <a:endParaRPr lang="en-US"/>
          </a:p>
        </p:txBody>
      </p:sp>
      <p:sp>
        <p:nvSpPr>
          <p:cNvPr id="59" name="Text 57"/>
          <p:cNvSpPr/>
          <p:nvPr/>
        </p:nvSpPr>
        <p:spPr>
          <a:xfrm>
            <a:off x="3520440" y="388620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60" name="Shape 58"/>
          <p:cNvSpPr/>
          <p:nvPr/>
        </p:nvSpPr>
        <p:spPr>
          <a:xfrm>
            <a:off x="3922776" y="3886200"/>
            <a:ext cx="374904" cy="347472"/>
          </a:xfrm>
          <a:prstGeom prst="rect">
            <a:avLst/>
          </a:prstGeom>
          <a:solidFill>
            <a:srgbClr val="132338"/>
          </a:solidFill>
          <a:ln w="19050">
            <a:solidFill>
              <a:srgbClr val="8FA8BF"/>
            </a:solidFill>
            <a:prstDash val="solid"/>
          </a:ln>
        </p:spPr>
        <p:txBody>
          <a:bodyPr/>
          <a:lstStyle/>
          <a:p>
            <a:endParaRPr lang="en-US"/>
          </a:p>
        </p:txBody>
      </p:sp>
      <p:sp>
        <p:nvSpPr>
          <p:cNvPr id="61" name="Text 59"/>
          <p:cNvSpPr/>
          <p:nvPr/>
        </p:nvSpPr>
        <p:spPr>
          <a:xfrm>
            <a:off x="3922776" y="388620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62" name="Shape 60"/>
          <p:cNvSpPr/>
          <p:nvPr/>
        </p:nvSpPr>
        <p:spPr>
          <a:xfrm>
            <a:off x="365760" y="4370832"/>
            <a:ext cx="1005840" cy="274320"/>
          </a:xfrm>
          <a:prstGeom prst="rect">
            <a:avLst/>
          </a:prstGeom>
          <a:solidFill>
            <a:srgbClr val="FF6B6B"/>
          </a:solidFill>
          <a:ln w="12700">
            <a:solidFill>
              <a:srgbClr val="FF6B6B"/>
            </a:solidFill>
            <a:prstDash val="solid"/>
          </a:ln>
        </p:spPr>
        <p:txBody>
          <a:bodyPr/>
          <a:lstStyle/>
          <a:p>
            <a:endParaRPr lang="en-US"/>
          </a:p>
        </p:txBody>
      </p:sp>
      <p:sp>
        <p:nvSpPr>
          <p:cNvPr id="63" name="Text 61"/>
          <p:cNvSpPr/>
          <p:nvPr/>
        </p:nvSpPr>
        <p:spPr>
          <a:xfrm>
            <a:off x="365760" y="4370832"/>
            <a:ext cx="1005840" cy="27432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Child 2</a:t>
            </a:r>
            <a:endParaRPr lang="en-US" sz="1000" dirty="0"/>
          </a:p>
        </p:txBody>
      </p:sp>
      <p:sp>
        <p:nvSpPr>
          <p:cNvPr id="64" name="Shape 62"/>
          <p:cNvSpPr/>
          <p:nvPr/>
        </p:nvSpPr>
        <p:spPr>
          <a:xfrm>
            <a:off x="1508760" y="4325112"/>
            <a:ext cx="374904" cy="347472"/>
          </a:xfrm>
          <a:prstGeom prst="rect">
            <a:avLst/>
          </a:prstGeom>
          <a:solidFill>
            <a:srgbClr val="132338"/>
          </a:solidFill>
          <a:ln w="19050">
            <a:solidFill>
              <a:srgbClr val="8FA8BF"/>
            </a:solidFill>
            <a:prstDash val="solid"/>
          </a:ln>
        </p:spPr>
        <p:txBody>
          <a:bodyPr/>
          <a:lstStyle/>
          <a:p>
            <a:endParaRPr lang="en-US"/>
          </a:p>
        </p:txBody>
      </p:sp>
      <p:sp>
        <p:nvSpPr>
          <p:cNvPr id="65" name="Text 63"/>
          <p:cNvSpPr/>
          <p:nvPr/>
        </p:nvSpPr>
        <p:spPr>
          <a:xfrm>
            <a:off x="1508760" y="4325112"/>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66" name="Shape 64"/>
          <p:cNvSpPr/>
          <p:nvPr/>
        </p:nvSpPr>
        <p:spPr>
          <a:xfrm>
            <a:off x="1911096" y="4325112"/>
            <a:ext cx="374904" cy="347472"/>
          </a:xfrm>
          <a:prstGeom prst="rect">
            <a:avLst/>
          </a:prstGeom>
          <a:solidFill>
            <a:srgbClr val="132338"/>
          </a:solidFill>
          <a:ln w="19050">
            <a:solidFill>
              <a:srgbClr val="8FA8BF"/>
            </a:solidFill>
            <a:prstDash val="solid"/>
          </a:ln>
        </p:spPr>
        <p:txBody>
          <a:bodyPr/>
          <a:lstStyle/>
          <a:p>
            <a:endParaRPr lang="en-US"/>
          </a:p>
        </p:txBody>
      </p:sp>
      <p:sp>
        <p:nvSpPr>
          <p:cNvPr id="67" name="Text 65"/>
          <p:cNvSpPr/>
          <p:nvPr/>
        </p:nvSpPr>
        <p:spPr>
          <a:xfrm>
            <a:off x="1911096" y="4325112"/>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68" name="Shape 66"/>
          <p:cNvSpPr/>
          <p:nvPr/>
        </p:nvSpPr>
        <p:spPr>
          <a:xfrm>
            <a:off x="2313432" y="4325112"/>
            <a:ext cx="374904" cy="347472"/>
          </a:xfrm>
          <a:prstGeom prst="rect">
            <a:avLst/>
          </a:prstGeom>
          <a:solidFill>
            <a:srgbClr val="132338"/>
          </a:solidFill>
          <a:ln w="19050">
            <a:solidFill>
              <a:srgbClr val="8FA8BF"/>
            </a:solidFill>
            <a:prstDash val="solid"/>
          </a:ln>
        </p:spPr>
        <p:txBody>
          <a:bodyPr/>
          <a:lstStyle/>
          <a:p>
            <a:endParaRPr lang="en-US"/>
          </a:p>
        </p:txBody>
      </p:sp>
      <p:sp>
        <p:nvSpPr>
          <p:cNvPr id="69" name="Text 67"/>
          <p:cNvSpPr/>
          <p:nvPr/>
        </p:nvSpPr>
        <p:spPr>
          <a:xfrm>
            <a:off x="2313432" y="4325112"/>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70" name="Shape 68"/>
          <p:cNvSpPr/>
          <p:nvPr/>
        </p:nvSpPr>
        <p:spPr>
          <a:xfrm>
            <a:off x="2715768" y="4325112"/>
            <a:ext cx="374904" cy="347472"/>
          </a:xfrm>
          <a:prstGeom prst="rect">
            <a:avLst/>
          </a:prstGeom>
          <a:solidFill>
            <a:srgbClr val="132338"/>
          </a:solidFill>
          <a:ln w="19050">
            <a:solidFill>
              <a:srgbClr val="8FA8BF"/>
            </a:solidFill>
            <a:prstDash val="solid"/>
          </a:ln>
        </p:spPr>
        <p:txBody>
          <a:bodyPr/>
          <a:lstStyle/>
          <a:p>
            <a:endParaRPr lang="en-US"/>
          </a:p>
        </p:txBody>
      </p:sp>
      <p:sp>
        <p:nvSpPr>
          <p:cNvPr id="71" name="Text 69"/>
          <p:cNvSpPr/>
          <p:nvPr/>
        </p:nvSpPr>
        <p:spPr>
          <a:xfrm>
            <a:off x="2715768" y="4325112"/>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72" name="Shape 70"/>
          <p:cNvSpPr/>
          <p:nvPr/>
        </p:nvSpPr>
        <p:spPr>
          <a:xfrm>
            <a:off x="3118104" y="4325112"/>
            <a:ext cx="374904" cy="347472"/>
          </a:xfrm>
          <a:prstGeom prst="rect">
            <a:avLst/>
          </a:prstGeom>
          <a:solidFill>
            <a:srgbClr val="00C896"/>
          </a:solidFill>
          <a:ln w="19050">
            <a:solidFill>
              <a:srgbClr val="00C896"/>
            </a:solidFill>
            <a:prstDash val="solid"/>
          </a:ln>
        </p:spPr>
        <p:txBody>
          <a:bodyPr/>
          <a:lstStyle/>
          <a:p>
            <a:endParaRPr lang="en-US"/>
          </a:p>
        </p:txBody>
      </p:sp>
      <p:sp>
        <p:nvSpPr>
          <p:cNvPr id="73" name="Text 71"/>
          <p:cNvSpPr/>
          <p:nvPr/>
        </p:nvSpPr>
        <p:spPr>
          <a:xfrm>
            <a:off x="3118104" y="4325112"/>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74" name="Shape 72"/>
          <p:cNvSpPr/>
          <p:nvPr/>
        </p:nvSpPr>
        <p:spPr>
          <a:xfrm>
            <a:off x="3520440" y="4325112"/>
            <a:ext cx="374904" cy="347472"/>
          </a:xfrm>
          <a:prstGeom prst="rect">
            <a:avLst/>
          </a:prstGeom>
          <a:solidFill>
            <a:srgbClr val="00C896"/>
          </a:solidFill>
          <a:ln w="19050">
            <a:solidFill>
              <a:srgbClr val="00C896"/>
            </a:solidFill>
            <a:prstDash val="solid"/>
          </a:ln>
        </p:spPr>
        <p:txBody>
          <a:bodyPr/>
          <a:lstStyle/>
          <a:p>
            <a:endParaRPr lang="en-US"/>
          </a:p>
        </p:txBody>
      </p:sp>
      <p:sp>
        <p:nvSpPr>
          <p:cNvPr id="75" name="Text 73"/>
          <p:cNvSpPr/>
          <p:nvPr/>
        </p:nvSpPr>
        <p:spPr>
          <a:xfrm>
            <a:off x="3520440" y="4325112"/>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76" name="Shape 74"/>
          <p:cNvSpPr/>
          <p:nvPr/>
        </p:nvSpPr>
        <p:spPr>
          <a:xfrm>
            <a:off x="3922776" y="4325112"/>
            <a:ext cx="374904" cy="347472"/>
          </a:xfrm>
          <a:prstGeom prst="rect">
            <a:avLst/>
          </a:prstGeom>
          <a:solidFill>
            <a:srgbClr val="00C896"/>
          </a:solidFill>
          <a:ln w="19050">
            <a:solidFill>
              <a:srgbClr val="00C896"/>
            </a:solidFill>
            <a:prstDash val="solid"/>
          </a:ln>
        </p:spPr>
        <p:txBody>
          <a:bodyPr/>
          <a:lstStyle/>
          <a:p>
            <a:endParaRPr lang="en-US"/>
          </a:p>
        </p:txBody>
      </p:sp>
      <p:sp>
        <p:nvSpPr>
          <p:cNvPr id="77" name="Text 75"/>
          <p:cNvSpPr/>
          <p:nvPr/>
        </p:nvSpPr>
        <p:spPr>
          <a:xfrm>
            <a:off x="3922776" y="4325112"/>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78" name="Shape 76"/>
          <p:cNvSpPr/>
          <p:nvPr/>
        </p:nvSpPr>
        <p:spPr>
          <a:xfrm>
            <a:off x="3154680" y="2212848"/>
            <a:ext cx="0" cy="2560320"/>
          </a:xfrm>
          <a:prstGeom prst="line">
            <a:avLst/>
          </a:prstGeom>
          <a:noFill/>
          <a:ln w="25400">
            <a:solidFill>
              <a:srgbClr val="FFB830"/>
            </a:solidFill>
            <a:prstDash val="dash"/>
          </a:ln>
        </p:spPr>
        <p:txBody>
          <a:bodyPr/>
          <a:lstStyle/>
          <a:p>
            <a:endParaRPr lang="en-US"/>
          </a:p>
        </p:txBody>
      </p:sp>
      <p:sp>
        <p:nvSpPr>
          <p:cNvPr id="79" name="Text 77"/>
          <p:cNvSpPr/>
          <p:nvPr/>
        </p:nvSpPr>
        <p:spPr>
          <a:xfrm>
            <a:off x="3200400" y="2212848"/>
            <a:ext cx="914400" cy="457200"/>
          </a:xfrm>
          <a:prstGeom prst="rect">
            <a:avLst/>
          </a:prstGeom>
          <a:noFill/>
          <a:ln/>
        </p:spPr>
        <p:txBody>
          <a:bodyPr wrap="square" rtlCol="0" anchor="ctr"/>
          <a:lstStyle/>
          <a:p>
            <a:pPr marL="0" indent="0" algn="ctr">
              <a:buNone/>
            </a:pPr>
            <a:r>
              <a:rPr lang="en-US" sz="900" dirty="0">
                <a:solidFill>
                  <a:srgbClr val="FFB830"/>
                </a:solidFill>
                <a:latin typeface="Calibri" pitchFamily="34" charset="0"/>
                <a:ea typeface="Calibri" pitchFamily="34" charset="-122"/>
                <a:cs typeface="Calibri" pitchFamily="34" charset="-120"/>
              </a:rPr>
              <a:t>crossover</a:t>
            </a:r>
            <a:endParaRPr lang="en-US" sz="900" dirty="0"/>
          </a:p>
          <a:p>
            <a:pPr marL="0" indent="0" algn="ctr">
              <a:buNone/>
            </a:pPr>
            <a:r>
              <a:rPr lang="en-US" sz="900" dirty="0">
                <a:solidFill>
                  <a:srgbClr val="FFB830"/>
                </a:solidFill>
                <a:latin typeface="Calibri" pitchFamily="34" charset="0"/>
                <a:ea typeface="Calibri" pitchFamily="34" charset="-122"/>
                <a:cs typeface="Calibri" pitchFamily="34" charset="-120"/>
              </a:rPr>
              <a:t>point</a:t>
            </a:r>
            <a:endParaRPr lang="en-US" sz="900" dirty="0"/>
          </a:p>
        </p:txBody>
      </p:sp>
      <p:sp>
        <p:nvSpPr>
          <p:cNvPr id="80" name="Text 78"/>
          <p:cNvSpPr/>
          <p:nvPr/>
        </p:nvSpPr>
        <p:spPr>
          <a:xfrm>
            <a:off x="5029200" y="1938528"/>
            <a:ext cx="3657600" cy="256032"/>
          </a:xfrm>
          <a:prstGeom prst="rect">
            <a:avLst/>
          </a:prstGeom>
          <a:noFill/>
          <a:ln/>
        </p:spPr>
        <p:txBody>
          <a:bodyPr wrap="square" rtlCol="0" anchor="ctr"/>
          <a:lstStyle/>
          <a:p>
            <a:pPr marL="0" indent="0">
              <a:buNone/>
            </a:pPr>
            <a:r>
              <a:rPr lang="en-US" sz="1000" b="1" dirty="0">
                <a:solidFill>
                  <a:srgbClr val="8FA8BF"/>
                </a:solidFill>
                <a:latin typeface="Calibri" pitchFamily="34" charset="0"/>
                <a:ea typeface="Calibri" pitchFamily="34" charset="-122"/>
                <a:cs typeface="Calibri" pitchFamily="34" charset="-120"/>
              </a:rPr>
              <a:t>TYPES COVERED NEXT:</a:t>
            </a:r>
            <a:endParaRPr lang="en-US" sz="1000" dirty="0"/>
          </a:p>
        </p:txBody>
      </p:sp>
      <p:sp>
        <p:nvSpPr>
          <p:cNvPr id="81" name="Shape 79"/>
          <p:cNvSpPr/>
          <p:nvPr/>
        </p:nvSpPr>
        <p:spPr>
          <a:xfrm>
            <a:off x="5029200" y="2267712"/>
            <a:ext cx="2743200" cy="347472"/>
          </a:xfrm>
          <a:prstGeom prst="rect">
            <a:avLst/>
          </a:prstGeom>
          <a:solidFill>
            <a:srgbClr val="00A3FF"/>
          </a:solidFill>
          <a:ln w="12700">
            <a:solidFill>
              <a:srgbClr val="00A3FF"/>
            </a:solidFill>
            <a:prstDash val="solid"/>
          </a:ln>
        </p:spPr>
        <p:txBody>
          <a:bodyPr/>
          <a:lstStyle/>
          <a:p>
            <a:endParaRPr lang="en-US"/>
          </a:p>
        </p:txBody>
      </p:sp>
      <p:sp>
        <p:nvSpPr>
          <p:cNvPr id="82" name="Text 80"/>
          <p:cNvSpPr/>
          <p:nvPr/>
        </p:nvSpPr>
        <p:spPr>
          <a:xfrm>
            <a:off x="5029200" y="2267712"/>
            <a:ext cx="2743200" cy="347472"/>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One-Point</a:t>
            </a:r>
            <a:endParaRPr lang="en-US" sz="1000" dirty="0"/>
          </a:p>
        </p:txBody>
      </p:sp>
      <p:sp>
        <p:nvSpPr>
          <p:cNvPr id="83" name="Shape 81"/>
          <p:cNvSpPr/>
          <p:nvPr/>
        </p:nvSpPr>
        <p:spPr>
          <a:xfrm>
            <a:off x="5029200" y="2743200"/>
            <a:ext cx="2743200" cy="347472"/>
          </a:xfrm>
          <a:prstGeom prst="rect">
            <a:avLst/>
          </a:prstGeom>
          <a:solidFill>
            <a:srgbClr val="7B6CF6"/>
          </a:solidFill>
          <a:ln w="12700">
            <a:solidFill>
              <a:srgbClr val="7B6CF6"/>
            </a:solidFill>
            <a:prstDash val="solid"/>
          </a:ln>
        </p:spPr>
        <p:txBody>
          <a:bodyPr/>
          <a:lstStyle/>
          <a:p>
            <a:endParaRPr lang="en-US"/>
          </a:p>
        </p:txBody>
      </p:sp>
      <p:sp>
        <p:nvSpPr>
          <p:cNvPr id="84" name="Text 82"/>
          <p:cNvSpPr/>
          <p:nvPr/>
        </p:nvSpPr>
        <p:spPr>
          <a:xfrm>
            <a:off x="5029200" y="2743200"/>
            <a:ext cx="2743200" cy="347472"/>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Two-Point</a:t>
            </a:r>
            <a:endParaRPr lang="en-US" sz="1000" dirty="0"/>
          </a:p>
        </p:txBody>
      </p:sp>
      <p:sp>
        <p:nvSpPr>
          <p:cNvPr id="85" name="Shape 83"/>
          <p:cNvSpPr/>
          <p:nvPr/>
        </p:nvSpPr>
        <p:spPr>
          <a:xfrm>
            <a:off x="5029200" y="3218688"/>
            <a:ext cx="2743200" cy="347472"/>
          </a:xfrm>
          <a:prstGeom prst="rect">
            <a:avLst/>
          </a:prstGeom>
          <a:solidFill>
            <a:srgbClr val="00A3FF"/>
          </a:solidFill>
          <a:ln w="12700">
            <a:solidFill>
              <a:srgbClr val="00A3FF"/>
            </a:solidFill>
            <a:prstDash val="solid"/>
          </a:ln>
        </p:spPr>
        <p:txBody>
          <a:bodyPr/>
          <a:lstStyle/>
          <a:p>
            <a:endParaRPr lang="en-US"/>
          </a:p>
        </p:txBody>
      </p:sp>
      <p:sp>
        <p:nvSpPr>
          <p:cNvPr id="86" name="Text 84"/>
          <p:cNvSpPr/>
          <p:nvPr/>
        </p:nvSpPr>
        <p:spPr>
          <a:xfrm>
            <a:off x="5029200" y="3218688"/>
            <a:ext cx="2743200" cy="347472"/>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Uniform</a:t>
            </a:r>
            <a:endParaRPr lang="en-US" sz="1000" dirty="0"/>
          </a:p>
        </p:txBody>
      </p:sp>
      <p:sp>
        <p:nvSpPr>
          <p:cNvPr id="87" name="Shape 85"/>
          <p:cNvSpPr/>
          <p:nvPr/>
        </p:nvSpPr>
        <p:spPr>
          <a:xfrm>
            <a:off x="5029200" y="3694176"/>
            <a:ext cx="2743200" cy="347472"/>
          </a:xfrm>
          <a:prstGeom prst="rect">
            <a:avLst/>
          </a:prstGeom>
          <a:solidFill>
            <a:srgbClr val="7B6CF6"/>
          </a:solidFill>
          <a:ln w="12700">
            <a:solidFill>
              <a:srgbClr val="7B6CF6"/>
            </a:solidFill>
            <a:prstDash val="solid"/>
          </a:ln>
        </p:spPr>
        <p:txBody>
          <a:bodyPr/>
          <a:lstStyle/>
          <a:p>
            <a:endParaRPr lang="en-US"/>
          </a:p>
        </p:txBody>
      </p:sp>
      <p:sp>
        <p:nvSpPr>
          <p:cNvPr id="88" name="Text 86"/>
          <p:cNvSpPr/>
          <p:nvPr/>
        </p:nvSpPr>
        <p:spPr>
          <a:xfrm>
            <a:off x="5029200" y="3694176"/>
            <a:ext cx="2743200" cy="347472"/>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Three-Parent</a:t>
            </a:r>
            <a:endParaRPr lang="en-US" sz="1000" dirty="0"/>
          </a:p>
        </p:txBody>
      </p:sp>
      <p:sp>
        <p:nvSpPr>
          <p:cNvPr id="89" name="Shape 87"/>
          <p:cNvSpPr/>
          <p:nvPr/>
        </p:nvSpPr>
        <p:spPr>
          <a:xfrm>
            <a:off x="5029200" y="4169664"/>
            <a:ext cx="2743200" cy="347472"/>
          </a:xfrm>
          <a:prstGeom prst="rect">
            <a:avLst/>
          </a:prstGeom>
          <a:solidFill>
            <a:srgbClr val="00A3FF"/>
          </a:solidFill>
          <a:ln w="12700">
            <a:solidFill>
              <a:srgbClr val="00A3FF"/>
            </a:solidFill>
            <a:prstDash val="solid"/>
          </a:ln>
        </p:spPr>
        <p:txBody>
          <a:bodyPr/>
          <a:lstStyle/>
          <a:p>
            <a:endParaRPr lang="en-US"/>
          </a:p>
        </p:txBody>
      </p:sp>
      <p:sp>
        <p:nvSpPr>
          <p:cNvPr id="90" name="Text 88"/>
          <p:cNvSpPr/>
          <p:nvPr/>
        </p:nvSpPr>
        <p:spPr>
          <a:xfrm>
            <a:off x="5029200" y="4169664"/>
            <a:ext cx="2743200" cy="347472"/>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Shuffle</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256032"/>
            <a:ext cx="64008" cy="502920"/>
          </a:xfrm>
          <a:prstGeom prst="rect">
            <a:avLst/>
          </a:prstGeom>
          <a:solidFill>
            <a:srgbClr val="00C896"/>
          </a:solidFill>
          <a:ln w="12700">
            <a:solidFill>
              <a:srgbClr val="00C896"/>
            </a:solidFill>
            <a:prstDash val="solid"/>
          </a:ln>
        </p:spPr>
        <p:txBody>
          <a:bodyPr/>
          <a:lstStyle/>
          <a:p>
            <a:endParaRPr lang="en-US"/>
          </a:p>
        </p:txBody>
      </p:sp>
      <p:sp>
        <p:nvSpPr>
          <p:cNvPr id="3" name="Text 1"/>
          <p:cNvSpPr/>
          <p:nvPr/>
        </p:nvSpPr>
        <p:spPr>
          <a:xfrm>
            <a:off x="512064" y="256032"/>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One-Point Crossover</a:t>
            </a:r>
            <a:endParaRPr lang="en-US" sz="2800" dirty="0"/>
          </a:p>
        </p:txBody>
      </p:sp>
      <p:sp>
        <p:nvSpPr>
          <p:cNvPr id="5" name="Shape 3"/>
          <p:cNvSpPr/>
          <p:nvPr/>
        </p:nvSpPr>
        <p:spPr>
          <a:xfrm>
            <a:off x="365760" y="868680"/>
            <a:ext cx="8412480" cy="0"/>
          </a:xfrm>
          <a:prstGeom prst="line">
            <a:avLst/>
          </a:prstGeom>
          <a:noFill/>
          <a:ln w="12700">
            <a:solidFill>
              <a:srgbClr val="00C896">
                <a:alpha val="50000"/>
              </a:srgbClr>
            </a:solidFill>
            <a:prstDash val="solid"/>
          </a:ln>
        </p:spPr>
        <p:txBody>
          <a:bodyPr/>
          <a:lstStyle/>
          <a:p>
            <a:endParaRPr lang="en-US"/>
          </a:p>
        </p:txBody>
      </p:sp>
      <p:sp>
        <p:nvSpPr>
          <p:cNvPr id="6" name="Shape 4"/>
          <p:cNvSpPr/>
          <p:nvPr/>
        </p:nvSpPr>
        <p:spPr>
          <a:xfrm>
            <a:off x="365760" y="1005840"/>
            <a:ext cx="8412480" cy="640080"/>
          </a:xfrm>
          <a:prstGeom prst="rect">
            <a:avLst/>
          </a:prstGeom>
          <a:solidFill>
            <a:srgbClr val="1A2E44"/>
          </a:solidFill>
          <a:ln w="19050">
            <a:solidFill>
              <a:srgbClr val="00A3FF"/>
            </a:solidFill>
            <a:prstDash val="solid"/>
          </a:ln>
          <a:effectLst>
            <a:outerShdw blurRad="101600" dist="38100" dir="8100000" algn="bl" rotWithShape="0">
              <a:srgbClr val="000000">
                <a:alpha val="25000"/>
              </a:srgbClr>
            </a:outerShdw>
          </a:effectLst>
        </p:spPr>
        <p:txBody>
          <a:bodyPr/>
          <a:lstStyle/>
          <a:p>
            <a:endParaRPr lang="en-US"/>
          </a:p>
        </p:txBody>
      </p:sp>
      <p:sp>
        <p:nvSpPr>
          <p:cNvPr id="7" name="Text 5"/>
          <p:cNvSpPr/>
          <p:nvPr/>
        </p:nvSpPr>
        <p:spPr>
          <a:xfrm>
            <a:off x="502920" y="1033272"/>
            <a:ext cx="8229600" cy="594360"/>
          </a:xfrm>
          <a:prstGeom prst="rect">
            <a:avLst/>
          </a:prstGeom>
          <a:noFill/>
          <a:ln/>
        </p:spPr>
        <p:txBody>
          <a:bodyPr wrap="square" rtlCol="0" anchor="ctr"/>
          <a:lstStyle/>
          <a:p>
            <a:pPr marL="0" indent="0">
              <a:buNone/>
            </a:pPr>
            <a:r>
              <a:rPr lang="en-US" sz="1250" b="1" dirty="0">
                <a:solidFill>
                  <a:srgbClr val="00A3FF"/>
                </a:solidFill>
                <a:latin typeface="Calibri" pitchFamily="34" charset="0"/>
                <a:ea typeface="Calibri" pitchFamily="34" charset="-122"/>
                <a:cs typeface="Calibri" pitchFamily="34" charset="-120"/>
              </a:rPr>
              <a:t>Definition: </a:t>
            </a:r>
            <a:r>
              <a:rPr lang="en-US" sz="1250" dirty="0">
                <a:solidFill>
                  <a:srgbClr val="E8F0F5"/>
                </a:solidFill>
                <a:latin typeface="Calibri" pitchFamily="34" charset="0"/>
                <a:ea typeface="Calibri" pitchFamily="34" charset="-122"/>
                <a:cs typeface="Calibri" pitchFamily="34" charset="-120"/>
              </a:rPr>
              <a:t>A single crossover point is selected on the parent chromosomes. Genes before the point come from Parent 1; genes after the point come from Parent 2 (and vice versa for Child 2).</a:t>
            </a:r>
            <a:endParaRPr lang="en-US" sz="1250" dirty="0"/>
          </a:p>
        </p:txBody>
      </p:sp>
      <p:sp>
        <p:nvSpPr>
          <p:cNvPr id="8" name="Text 6"/>
          <p:cNvSpPr/>
          <p:nvPr/>
        </p:nvSpPr>
        <p:spPr>
          <a:xfrm>
            <a:off x="365760" y="1828800"/>
            <a:ext cx="5486400" cy="274320"/>
          </a:xfrm>
          <a:prstGeom prst="rect">
            <a:avLst/>
          </a:prstGeom>
          <a:noFill/>
          <a:ln/>
        </p:spPr>
        <p:txBody>
          <a:bodyPr wrap="square" rtlCol="0" anchor="ctr"/>
          <a:lstStyle/>
          <a:p>
            <a:pPr marL="0" indent="0">
              <a:buNone/>
            </a:pPr>
            <a:r>
              <a:rPr lang="en-US" sz="1100" b="1" dirty="0">
                <a:solidFill>
                  <a:srgbClr val="8FA8BF"/>
                </a:solidFill>
                <a:latin typeface="Calibri" pitchFamily="34" charset="0"/>
                <a:ea typeface="Calibri" pitchFamily="34" charset="-122"/>
                <a:cs typeface="Calibri" pitchFamily="34" charset="-120"/>
              </a:rPr>
              <a:t>EXAMPLE  — Crossover Point after gene 3:</a:t>
            </a:r>
            <a:endParaRPr lang="en-US" sz="1100" dirty="0"/>
          </a:p>
        </p:txBody>
      </p:sp>
      <p:sp>
        <p:nvSpPr>
          <p:cNvPr id="9" name="Text 7"/>
          <p:cNvSpPr/>
          <p:nvPr/>
        </p:nvSpPr>
        <p:spPr>
          <a:xfrm>
            <a:off x="1508760" y="2130552"/>
            <a:ext cx="402336" cy="201168"/>
          </a:xfrm>
          <a:prstGeom prst="rect">
            <a:avLst/>
          </a:prstGeom>
          <a:noFill/>
          <a:ln/>
        </p:spPr>
        <p:txBody>
          <a:bodyPr wrap="square" rtlCol="0" anchor="ctr"/>
          <a:lstStyle/>
          <a:p>
            <a:pPr marL="0" indent="0" algn="ctr">
              <a:buNone/>
            </a:pPr>
            <a:r>
              <a:rPr lang="en-US" sz="900" dirty="0">
                <a:solidFill>
                  <a:srgbClr val="8FA8BF"/>
                </a:solidFill>
                <a:latin typeface="Consolas" pitchFamily="34" charset="0"/>
                <a:ea typeface="Consolas" pitchFamily="34" charset="-122"/>
                <a:cs typeface="Consolas" pitchFamily="34" charset="-120"/>
              </a:rPr>
              <a:t>1</a:t>
            </a:r>
            <a:endParaRPr lang="en-US" sz="900" dirty="0"/>
          </a:p>
        </p:txBody>
      </p:sp>
      <p:sp>
        <p:nvSpPr>
          <p:cNvPr id="10" name="Text 8"/>
          <p:cNvSpPr/>
          <p:nvPr/>
        </p:nvSpPr>
        <p:spPr>
          <a:xfrm>
            <a:off x="1911096" y="2130552"/>
            <a:ext cx="402336" cy="201168"/>
          </a:xfrm>
          <a:prstGeom prst="rect">
            <a:avLst/>
          </a:prstGeom>
          <a:noFill/>
          <a:ln/>
        </p:spPr>
        <p:txBody>
          <a:bodyPr wrap="square" rtlCol="0" anchor="ctr"/>
          <a:lstStyle/>
          <a:p>
            <a:pPr marL="0" indent="0" algn="ctr">
              <a:buNone/>
            </a:pPr>
            <a:r>
              <a:rPr lang="en-US" sz="900" dirty="0">
                <a:solidFill>
                  <a:srgbClr val="8FA8BF"/>
                </a:solidFill>
                <a:latin typeface="Consolas" pitchFamily="34" charset="0"/>
                <a:ea typeface="Consolas" pitchFamily="34" charset="-122"/>
                <a:cs typeface="Consolas" pitchFamily="34" charset="-120"/>
              </a:rPr>
              <a:t>2</a:t>
            </a:r>
            <a:endParaRPr lang="en-US" sz="900" dirty="0"/>
          </a:p>
        </p:txBody>
      </p:sp>
      <p:sp>
        <p:nvSpPr>
          <p:cNvPr id="11" name="Text 9"/>
          <p:cNvSpPr/>
          <p:nvPr/>
        </p:nvSpPr>
        <p:spPr>
          <a:xfrm>
            <a:off x="2313432" y="2130552"/>
            <a:ext cx="402336" cy="201168"/>
          </a:xfrm>
          <a:prstGeom prst="rect">
            <a:avLst/>
          </a:prstGeom>
          <a:noFill/>
          <a:ln/>
        </p:spPr>
        <p:txBody>
          <a:bodyPr wrap="square" rtlCol="0" anchor="ctr"/>
          <a:lstStyle/>
          <a:p>
            <a:pPr marL="0" indent="0" algn="ctr">
              <a:buNone/>
            </a:pPr>
            <a:r>
              <a:rPr lang="en-US" sz="900" dirty="0">
                <a:solidFill>
                  <a:srgbClr val="8FA8BF"/>
                </a:solidFill>
                <a:latin typeface="Consolas" pitchFamily="34" charset="0"/>
                <a:ea typeface="Consolas" pitchFamily="34" charset="-122"/>
                <a:cs typeface="Consolas" pitchFamily="34" charset="-120"/>
              </a:rPr>
              <a:t>3</a:t>
            </a:r>
            <a:endParaRPr lang="en-US" sz="900" dirty="0"/>
          </a:p>
        </p:txBody>
      </p:sp>
      <p:sp>
        <p:nvSpPr>
          <p:cNvPr id="12" name="Text 10"/>
          <p:cNvSpPr/>
          <p:nvPr/>
        </p:nvSpPr>
        <p:spPr>
          <a:xfrm>
            <a:off x="2715768" y="2130552"/>
            <a:ext cx="402336" cy="201168"/>
          </a:xfrm>
          <a:prstGeom prst="rect">
            <a:avLst/>
          </a:prstGeom>
          <a:noFill/>
          <a:ln/>
        </p:spPr>
        <p:txBody>
          <a:bodyPr wrap="square" rtlCol="0" anchor="ctr"/>
          <a:lstStyle/>
          <a:p>
            <a:pPr marL="0" indent="0" algn="ctr">
              <a:buNone/>
            </a:pPr>
            <a:r>
              <a:rPr lang="en-US" sz="900" dirty="0">
                <a:solidFill>
                  <a:srgbClr val="8FA8BF"/>
                </a:solidFill>
                <a:latin typeface="Consolas" pitchFamily="34" charset="0"/>
                <a:ea typeface="Consolas" pitchFamily="34" charset="-122"/>
                <a:cs typeface="Consolas" pitchFamily="34" charset="-120"/>
              </a:rPr>
              <a:t>|</a:t>
            </a:r>
            <a:endParaRPr lang="en-US" sz="900" dirty="0"/>
          </a:p>
        </p:txBody>
      </p:sp>
      <p:sp>
        <p:nvSpPr>
          <p:cNvPr id="13" name="Text 11"/>
          <p:cNvSpPr/>
          <p:nvPr/>
        </p:nvSpPr>
        <p:spPr>
          <a:xfrm>
            <a:off x="3118104" y="2130552"/>
            <a:ext cx="402336" cy="201168"/>
          </a:xfrm>
          <a:prstGeom prst="rect">
            <a:avLst/>
          </a:prstGeom>
          <a:noFill/>
          <a:ln/>
        </p:spPr>
        <p:txBody>
          <a:bodyPr wrap="square" rtlCol="0" anchor="ctr"/>
          <a:lstStyle/>
          <a:p>
            <a:pPr marL="0" indent="0" algn="ctr">
              <a:buNone/>
            </a:pPr>
            <a:r>
              <a:rPr lang="en-US" sz="900" dirty="0">
                <a:solidFill>
                  <a:srgbClr val="8FA8BF"/>
                </a:solidFill>
                <a:latin typeface="Consolas" pitchFamily="34" charset="0"/>
                <a:ea typeface="Consolas" pitchFamily="34" charset="-122"/>
                <a:cs typeface="Consolas" pitchFamily="34" charset="-120"/>
              </a:rPr>
              <a:t>4</a:t>
            </a:r>
            <a:endParaRPr lang="en-US" sz="900" dirty="0"/>
          </a:p>
        </p:txBody>
      </p:sp>
      <p:sp>
        <p:nvSpPr>
          <p:cNvPr id="14" name="Text 12"/>
          <p:cNvSpPr/>
          <p:nvPr/>
        </p:nvSpPr>
        <p:spPr>
          <a:xfrm>
            <a:off x="3520440" y="2130552"/>
            <a:ext cx="402336" cy="201168"/>
          </a:xfrm>
          <a:prstGeom prst="rect">
            <a:avLst/>
          </a:prstGeom>
          <a:noFill/>
          <a:ln/>
        </p:spPr>
        <p:txBody>
          <a:bodyPr wrap="square" rtlCol="0" anchor="ctr"/>
          <a:lstStyle/>
          <a:p>
            <a:pPr marL="0" indent="0" algn="ctr">
              <a:buNone/>
            </a:pPr>
            <a:r>
              <a:rPr lang="en-US" sz="900" dirty="0">
                <a:solidFill>
                  <a:srgbClr val="8FA8BF"/>
                </a:solidFill>
                <a:latin typeface="Consolas" pitchFamily="34" charset="0"/>
                <a:ea typeface="Consolas" pitchFamily="34" charset="-122"/>
                <a:cs typeface="Consolas" pitchFamily="34" charset="-120"/>
              </a:rPr>
              <a:t>5</a:t>
            </a:r>
            <a:endParaRPr lang="en-US" sz="900" dirty="0"/>
          </a:p>
        </p:txBody>
      </p:sp>
      <p:sp>
        <p:nvSpPr>
          <p:cNvPr id="15" name="Text 13"/>
          <p:cNvSpPr/>
          <p:nvPr/>
        </p:nvSpPr>
        <p:spPr>
          <a:xfrm>
            <a:off x="3922776" y="2130552"/>
            <a:ext cx="402336" cy="201168"/>
          </a:xfrm>
          <a:prstGeom prst="rect">
            <a:avLst/>
          </a:prstGeom>
          <a:noFill/>
          <a:ln/>
        </p:spPr>
        <p:txBody>
          <a:bodyPr wrap="square" rtlCol="0" anchor="ctr"/>
          <a:lstStyle/>
          <a:p>
            <a:pPr marL="0" indent="0" algn="ctr">
              <a:buNone/>
            </a:pPr>
            <a:r>
              <a:rPr lang="en-US" sz="900" dirty="0">
                <a:solidFill>
                  <a:srgbClr val="8FA8BF"/>
                </a:solidFill>
                <a:latin typeface="Consolas" pitchFamily="34" charset="0"/>
                <a:ea typeface="Consolas" pitchFamily="34" charset="-122"/>
                <a:cs typeface="Consolas" pitchFamily="34" charset="-120"/>
              </a:rPr>
              <a:t>6</a:t>
            </a:r>
            <a:endParaRPr lang="en-US" sz="900" dirty="0"/>
          </a:p>
        </p:txBody>
      </p:sp>
      <p:sp>
        <p:nvSpPr>
          <p:cNvPr id="16" name="Text 14"/>
          <p:cNvSpPr/>
          <p:nvPr/>
        </p:nvSpPr>
        <p:spPr>
          <a:xfrm>
            <a:off x="4325112" y="2130552"/>
            <a:ext cx="402336" cy="201168"/>
          </a:xfrm>
          <a:prstGeom prst="rect">
            <a:avLst/>
          </a:prstGeom>
          <a:noFill/>
          <a:ln/>
        </p:spPr>
        <p:txBody>
          <a:bodyPr wrap="square" rtlCol="0" anchor="ctr"/>
          <a:lstStyle/>
          <a:p>
            <a:pPr marL="0" indent="0" algn="ctr">
              <a:buNone/>
            </a:pPr>
            <a:r>
              <a:rPr lang="en-US" sz="900" dirty="0">
                <a:solidFill>
                  <a:srgbClr val="8FA8BF"/>
                </a:solidFill>
                <a:latin typeface="Consolas" pitchFamily="34" charset="0"/>
                <a:ea typeface="Consolas" pitchFamily="34" charset="-122"/>
                <a:cs typeface="Consolas" pitchFamily="34" charset="-120"/>
              </a:rPr>
              <a:t>7</a:t>
            </a:r>
            <a:endParaRPr lang="en-US" sz="900" dirty="0"/>
          </a:p>
        </p:txBody>
      </p:sp>
      <p:sp>
        <p:nvSpPr>
          <p:cNvPr id="17" name="Text 15"/>
          <p:cNvSpPr/>
          <p:nvPr/>
        </p:nvSpPr>
        <p:spPr>
          <a:xfrm>
            <a:off x="4727448" y="2130552"/>
            <a:ext cx="402336" cy="201168"/>
          </a:xfrm>
          <a:prstGeom prst="rect">
            <a:avLst/>
          </a:prstGeom>
          <a:noFill/>
          <a:ln/>
        </p:spPr>
        <p:txBody>
          <a:bodyPr wrap="square" rtlCol="0" anchor="ctr"/>
          <a:lstStyle/>
          <a:p>
            <a:pPr marL="0" indent="0" algn="ctr">
              <a:buNone/>
            </a:pPr>
            <a:r>
              <a:rPr lang="en-US" sz="900" dirty="0">
                <a:solidFill>
                  <a:srgbClr val="8FA8BF"/>
                </a:solidFill>
                <a:latin typeface="Consolas" pitchFamily="34" charset="0"/>
                <a:ea typeface="Consolas" pitchFamily="34" charset="-122"/>
                <a:cs typeface="Consolas" pitchFamily="34" charset="-120"/>
              </a:rPr>
              <a:t>8</a:t>
            </a:r>
            <a:endParaRPr lang="en-US" sz="900" dirty="0"/>
          </a:p>
        </p:txBody>
      </p:sp>
      <p:sp>
        <p:nvSpPr>
          <p:cNvPr id="18" name="Shape 16"/>
          <p:cNvSpPr/>
          <p:nvPr/>
        </p:nvSpPr>
        <p:spPr>
          <a:xfrm>
            <a:off x="365760" y="2350008"/>
            <a:ext cx="1005840" cy="320040"/>
          </a:xfrm>
          <a:prstGeom prst="rect">
            <a:avLst/>
          </a:prstGeom>
          <a:solidFill>
            <a:srgbClr val="00C896"/>
          </a:solidFill>
          <a:ln w="12700">
            <a:solidFill>
              <a:srgbClr val="00C896"/>
            </a:solidFill>
            <a:prstDash val="solid"/>
          </a:ln>
        </p:spPr>
        <p:txBody>
          <a:bodyPr/>
          <a:lstStyle/>
          <a:p>
            <a:endParaRPr lang="en-US"/>
          </a:p>
        </p:txBody>
      </p:sp>
      <p:sp>
        <p:nvSpPr>
          <p:cNvPr id="19" name="Text 17"/>
          <p:cNvSpPr/>
          <p:nvPr/>
        </p:nvSpPr>
        <p:spPr>
          <a:xfrm>
            <a:off x="365760" y="2350008"/>
            <a:ext cx="1005840" cy="32004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Parent 1</a:t>
            </a:r>
            <a:endParaRPr lang="en-US" sz="1000" dirty="0"/>
          </a:p>
        </p:txBody>
      </p:sp>
      <p:sp>
        <p:nvSpPr>
          <p:cNvPr id="20" name="Shape 18"/>
          <p:cNvSpPr/>
          <p:nvPr/>
        </p:nvSpPr>
        <p:spPr>
          <a:xfrm>
            <a:off x="1508760" y="2331720"/>
            <a:ext cx="374904" cy="347472"/>
          </a:xfrm>
          <a:prstGeom prst="rect">
            <a:avLst/>
          </a:prstGeom>
          <a:solidFill>
            <a:srgbClr val="00C896"/>
          </a:solidFill>
          <a:ln w="19050">
            <a:solidFill>
              <a:srgbClr val="00C896"/>
            </a:solidFill>
            <a:prstDash val="solid"/>
          </a:ln>
        </p:spPr>
        <p:txBody>
          <a:bodyPr/>
          <a:lstStyle/>
          <a:p>
            <a:endParaRPr lang="en-US"/>
          </a:p>
        </p:txBody>
      </p:sp>
      <p:sp>
        <p:nvSpPr>
          <p:cNvPr id="21" name="Text 19"/>
          <p:cNvSpPr/>
          <p:nvPr/>
        </p:nvSpPr>
        <p:spPr>
          <a:xfrm>
            <a:off x="1508760" y="233172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22" name="Shape 20"/>
          <p:cNvSpPr/>
          <p:nvPr/>
        </p:nvSpPr>
        <p:spPr>
          <a:xfrm>
            <a:off x="1911096" y="2331720"/>
            <a:ext cx="374904" cy="347472"/>
          </a:xfrm>
          <a:prstGeom prst="rect">
            <a:avLst/>
          </a:prstGeom>
          <a:solidFill>
            <a:srgbClr val="00C896"/>
          </a:solidFill>
          <a:ln w="19050">
            <a:solidFill>
              <a:srgbClr val="00C896"/>
            </a:solidFill>
            <a:prstDash val="solid"/>
          </a:ln>
        </p:spPr>
        <p:txBody>
          <a:bodyPr/>
          <a:lstStyle/>
          <a:p>
            <a:endParaRPr lang="en-US"/>
          </a:p>
        </p:txBody>
      </p:sp>
      <p:sp>
        <p:nvSpPr>
          <p:cNvPr id="23" name="Text 21"/>
          <p:cNvSpPr/>
          <p:nvPr/>
        </p:nvSpPr>
        <p:spPr>
          <a:xfrm>
            <a:off x="1911096" y="233172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24" name="Shape 22"/>
          <p:cNvSpPr/>
          <p:nvPr/>
        </p:nvSpPr>
        <p:spPr>
          <a:xfrm>
            <a:off x="2313432" y="2331720"/>
            <a:ext cx="374904" cy="347472"/>
          </a:xfrm>
          <a:prstGeom prst="rect">
            <a:avLst/>
          </a:prstGeom>
          <a:solidFill>
            <a:srgbClr val="00C896"/>
          </a:solidFill>
          <a:ln w="19050">
            <a:solidFill>
              <a:srgbClr val="00C896"/>
            </a:solidFill>
            <a:prstDash val="solid"/>
          </a:ln>
        </p:spPr>
        <p:txBody>
          <a:bodyPr/>
          <a:lstStyle/>
          <a:p>
            <a:endParaRPr lang="en-US"/>
          </a:p>
        </p:txBody>
      </p:sp>
      <p:sp>
        <p:nvSpPr>
          <p:cNvPr id="25" name="Text 23"/>
          <p:cNvSpPr/>
          <p:nvPr/>
        </p:nvSpPr>
        <p:spPr>
          <a:xfrm>
            <a:off x="2313432" y="233172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26" name="Shape 24"/>
          <p:cNvSpPr/>
          <p:nvPr/>
        </p:nvSpPr>
        <p:spPr>
          <a:xfrm>
            <a:off x="2715768" y="2331720"/>
            <a:ext cx="374904" cy="347472"/>
          </a:xfrm>
          <a:prstGeom prst="rect">
            <a:avLst/>
          </a:prstGeom>
          <a:solidFill>
            <a:srgbClr val="132338"/>
          </a:solidFill>
          <a:ln w="19050">
            <a:solidFill>
              <a:srgbClr val="8FA8BF"/>
            </a:solidFill>
            <a:prstDash val="solid"/>
          </a:ln>
        </p:spPr>
        <p:txBody>
          <a:bodyPr/>
          <a:lstStyle/>
          <a:p>
            <a:endParaRPr lang="en-US"/>
          </a:p>
        </p:txBody>
      </p:sp>
      <p:sp>
        <p:nvSpPr>
          <p:cNvPr id="27" name="Text 25"/>
          <p:cNvSpPr/>
          <p:nvPr/>
        </p:nvSpPr>
        <p:spPr>
          <a:xfrm>
            <a:off x="2715768" y="23317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28" name="Shape 26"/>
          <p:cNvSpPr/>
          <p:nvPr/>
        </p:nvSpPr>
        <p:spPr>
          <a:xfrm>
            <a:off x="3118104" y="2331720"/>
            <a:ext cx="374904" cy="347472"/>
          </a:xfrm>
          <a:prstGeom prst="rect">
            <a:avLst/>
          </a:prstGeom>
          <a:solidFill>
            <a:srgbClr val="132338"/>
          </a:solidFill>
          <a:ln w="19050">
            <a:solidFill>
              <a:srgbClr val="8FA8BF"/>
            </a:solidFill>
            <a:prstDash val="solid"/>
          </a:ln>
        </p:spPr>
        <p:txBody>
          <a:bodyPr/>
          <a:lstStyle/>
          <a:p>
            <a:endParaRPr lang="en-US"/>
          </a:p>
        </p:txBody>
      </p:sp>
      <p:sp>
        <p:nvSpPr>
          <p:cNvPr id="29" name="Text 27"/>
          <p:cNvSpPr/>
          <p:nvPr/>
        </p:nvSpPr>
        <p:spPr>
          <a:xfrm>
            <a:off x="3118104" y="23317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30" name="Shape 28"/>
          <p:cNvSpPr/>
          <p:nvPr/>
        </p:nvSpPr>
        <p:spPr>
          <a:xfrm>
            <a:off x="3520440" y="2331720"/>
            <a:ext cx="374904" cy="347472"/>
          </a:xfrm>
          <a:prstGeom prst="rect">
            <a:avLst/>
          </a:prstGeom>
          <a:solidFill>
            <a:srgbClr val="132338"/>
          </a:solidFill>
          <a:ln w="19050">
            <a:solidFill>
              <a:srgbClr val="8FA8BF"/>
            </a:solidFill>
            <a:prstDash val="solid"/>
          </a:ln>
        </p:spPr>
        <p:txBody>
          <a:bodyPr/>
          <a:lstStyle/>
          <a:p>
            <a:endParaRPr lang="en-US"/>
          </a:p>
        </p:txBody>
      </p:sp>
      <p:sp>
        <p:nvSpPr>
          <p:cNvPr id="31" name="Text 29"/>
          <p:cNvSpPr/>
          <p:nvPr/>
        </p:nvSpPr>
        <p:spPr>
          <a:xfrm>
            <a:off x="3520440" y="23317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32" name="Shape 30"/>
          <p:cNvSpPr/>
          <p:nvPr/>
        </p:nvSpPr>
        <p:spPr>
          <a:xfrm>
            <a:off x="3922776" y="2331720"/>
            <a:ext cx="374904" cy="347472"/>
          </a:xfrm>
          <a:prstGeom prst="rect">
            <a:avLst/>
          </a:prstGeom>
          <a:solidFill>
            <a:srgbClr val="132338"/>
          </a:solidFill>
          <a:ln w="19050">
            <a:solidFill>
              <a:srgbClr val="8FA8BF"/>
            </a:solidFill>
            <a:prstDash val="solid"/>
          </a:ln>
        </p:spPr>
        <p:txBody>
          <a:bodyPr/>
          <a:lstStyle/>
          <a:p>
            <a:endParaRPr lang="en-US"/>
          </a:p>
        </p:txBody>
      </p:sp>
      <p:sp>
        <p:nvSpPr>
          <p:cNvPr id="33" name="Text 31"/>
          <p:cNvSpPr/>
          <p:nvPr/>
        </p:nvSpPr>
        <p:spPr>
          <a:xfrm>
            <a:off x="3922776" y="23317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34" name="Shape 32"/>
          <p:cNvSpPr/>
          <p:nvPr/>
        </p:nvSpPr>
        <p:spPr>
          <a:xfrm>
            <a:off x="4325112" y="2331720"/>
            <a:ext cx="374904" cy="347472"/>
          </a:xfrm>
          <a:prstGeom prst="rect">
            <a:avLst/>
          </a:prstGeom>
          <a:solidFill>
            <a:srgbClr val="132338"/>
          </a:solidFill>
          <a:ln w="19050">
            <a:solidFill>
              <a:srgbClr val="8FA8BF"/>
            </a:solidFill>
            <a:prstDash val="solid"/>
          </a:ln>
        </p:spPr>
        <p:txBody>
          <a:bodyPr/>
          <a:lstStyle/>
          <a:p>
            <a:endParaRPr lang="en-US"/>
          </a:p>
        </p:txBody>
      </p:sp>
      <p:sp>
        <p:nvSpPr>
          <p:cNvPr id="35" name="Text 33"/>
          <p:cNvSpPr/>
          <p:nvPr/>
        </p:nvSpPr>
        <p:spPr>
          <a:xfrm>
            <a:off x="4325112" y="23317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36" name="Shape 34"/>
          <p:cNvSpPr/>
          <p:nvPr/>
        </p:nvSpPr>
        <p:spPr>
          <a:xfrm>
            <a:off x="365760" y="2816352"/>
            <a:ext cx="1005840" cy="320040"/>
          </a:xfrm>
          <a:prstGeom prst="rect">
            <a:avLst/>
          </a:prstGeom>
          <a:solidFill>
            <a:srgbClr val="00A3FF"/>
          </a:solidFill>
          <a:ln w="12700">
            <a:solidFill>
              <a:srgbClr val="00A3FF"/>
            </a:solidFill>
            <a:prstDash val="solid"/>
          </a:ln>
        </p:spPr>
        <p:txBody>
          <a:bodyPr/>
          <a:lstStyle/>
          <a:p>
            <a:endParaRPr lang="en-US"/>
          </a:p>
        </p:txBody>
      </p:sp>
      <p:sp>
        <p:nvSpPr>
          <p:cNvPr id="37" name="Text 35"/>
          <p:cNvSpPr/>
          <p:nvPr/>
        </p:nvSpPr>
        <p:spPr>
          <a:xfrm>
            <a:off x="365760" y="2816352"/>
            <a:ext cx="1005840" cy="32004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Parent 2</a:t>
            </a:r>
            <a:endParaRPr lang="en-US" sz="1000" dirty="0"/>
          </a:p>
        </p:txBody>
      </p:sp>
      <p:sp>
        <p:nvSpPr>
          <p:cNvPr id="38" name="Shape 36"/>
          <p:cNvSpPr/>
          <p:nvPr/>
        </p:nvSpPr>
        <p:spPr>
          <a:xfrm>
            <a:off x="1508760" y="2798064"/>
            <a:ext cx="374904" cy="347472"/>
          </a:xfrm>
          <a:prstGeom prst="rect">
            <a:avLst/>
          </a:prstGeom>
          <a:solidFill>
            <a:srgbClr val="132338"/>
          </a:solidFill>
          <a:ln w="19050">
            <a:solidFill>
              <a:srgbClr val="8FA8BF"/>
            </a:solidFill>
            <a:prstDash val="solid"/>
          </a:ln>
        </p:spPr>
        <p:txBody>
          <a:bodyPr/>
          <a:lstStyle/>
          <a:p>
            <a:endParaRPr lang="en-US"/>
          </a:p>
        </p:txBody>
      </p:sp>
      <p:sp>
        <p:nvSpPr>
          <p:cNvPr id="39" name="Text 37"/>
          <p:cNvSpPr/>
          <p:nvPr/>
        </p:nvSpPr>
        <p:spPr>
          <a:xfrm>
            <a:off x="1508760" y="2798064"/>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40" name="Shape 38"/>
          <p:cNvSpPr/>
          <p:nvPr/>
        </p:nvSpPr>
        <p:spPr>
          <a:xfrm>
            <a:off x="1911096" y="2798064"/>
            <a:ext cx="374904" cy="347472"/>
          </a:xfrm>
          <a:prstGeom prst="rect">
            <a:avLst/>
          </a:prstGeom>
          <a:solidFill>
            <a:srgbClr val="132338"/>
          </a:solidFill>
          <a:ln w="19050">
            <a:solidFill>
              <a:srgbClr val="8FA8BF"/>
            </a:solidFill>
            <a:prstDash val="solid"/>
          </a:ln>
        </p:spPr>
        <p:txBody>
          <a:bodyPr/>
          <a:lstStyle/>
          <a:p>
            <a:endParaRPr lang="en-US"/>
          </a:p>
        </p:txBody>
      </p:sp>
      <p:sp>
        <p:nvSpPr>
          <p:cNvPr id="41" name="Text 39"/>
          <p:cNvSpPr/>
          <p:nvPr/>
        </p:nvSpPr>
        <p:spPr>
          <a:xfrm>
            <a:off x="1911096" y="2798064"/>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42" name="Shape 40"/>
          <p:cNvSpPr/>
          <p:nvPr/>
        </p:nvSpPr>
        <p:spPr>
          <a:xfrm>
            <a:off x="2313432" y="2798064"/>
            <a:ext cx="374904" cy="347472"/>
          </a:xfrm>
          <a:prstGeom prst="rect">
            <a:avLst/>
          </a:prstGeom>
          <a:solidFill>
            <a:srgbClr val="132338"/>
          </a:solidFill>
          <a:ln w="19050">
            <a:solidFill>
              <a:srgbClr val="8FA8BF"/>
            </a:solidFill>
            <a:prstDash val="solid"/>
          </a:ln>
        </p:spPr>
        <p:txBody>
          <a:bodyPr/>
          <a:lstStyle/>
          <a:p>
            <a:endParaRPr lang="en-US"/>
          </a:p>
        </p:txBody>
      </p:sp>
      <p:sp>
        <p:nvSpPr>
          <p:cNvPr id="43" name="Text 41"/>
          <p:cNvSpPr/>
          <p:nvPr/>
        </p:nvSpPr>
        <p:spPr>
          <a:xfrm>
            <a:off x="2313432" y="2798064"/>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44" name="Shape 42"/>
          <p:cNvSpPr/>
          <p:nvPr/>
        </p:nvSpPr>
        <p:spPr>
          <a:xfrm>
            <a:off x="2715768" y="2798064"/>
            <a:ext cx="374904" cy="347472"/>
          </a:xfrm>
          <a:prstGeom prst="rect">
            <a:avLst/>
          </a:prstGeom>
          <a:solidFill>
            <a:srgbClr val="00C896"/>
          </a:solidFill>
          <a:ln w="19050">
            <a:solidFill>
              <a:srgbClr val="00C896"/>
            </a:solidFill>
            <a:prstDash val="solid"/>
          </a:ln>
        </p:spPr>
        <p:txBody>
          <a:bodyPr/>
          <a:lstStyle/>
          <a:p>
            <a:endParaRPr lang="en-US"/>
          </a:p>
        </p:txBody>
      </p:sp>
      <p:sp>
        <p:nvSpPr>
          <p:cNvPr id="45" name="Text 43"/>
          <p:cNvSpPr/>
          <p:nvPr/>
        </p:nvSpPr>
        <p:spPr>
          <a:xfrm>
            <a:off x="2715768" y="2798064"/>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46" name="Shape 44"/>
          <p:cNvSpPr/>
          <p:nvPr/>
        </p:nvSpPr>
        <p:spPr>
          <a:xfrm>
            <a:off x="3118104" y="2798064"/>
            <a:ext cx="374904" cy="347472"/>
          </a:xfrm>
          <a:prstGeom prst="rect">
            <a:avLst/>
          </a:prstGeom>
          <a:solidFill>
            <a:srgbClr val="00C896"/>
          </a:solidFill>
          <a:ln w="19050">
            <a:solidFill>
              <a:srgbClr val="00C896"/>
            </a:solidFill>
            <a:prstDash val="solid"/>
          </a:ln>
        </p:spPr>
        <p:txBody>
          <a:bodyPr/>
          <a:lstStyle/>
          <a:p>
            <a:endParaRPr lang="en-US"/>
          </a:p>
        </p:txBody>
      </p:sp>
      <p:sp>
        <p:nvSpPr>
          <p:cNvPr id="47" name="Text 45"/>
          <p:cNvSpPr/>
          <p:nvPr/>
        </p:nvSpPr>
        <p:spPr>
          <a:xfrm>
            <a:off x="3118104" y="2798064"/>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48" name="Shape 46"/>
          <p:cNvSpPr/>
          <p:nvPr/>
        </p:nvSpPr>
        <p:spPr>
          <a:xfrm>
            <a:off x="3520440" y="2798064"/>
            <a:ext cx="374904" cy="347472"/>
          </a:xfrm>
          <a:prstGeom prst="rect">
            <a:avLst/>
          </a:prstGeom>
          <a:solidFill>
            <a:srgbClr val="00C896"/>
          </a:solidFill>
          <a:ln w="19050">
            <a:solidFill>
              <a:srgbClr val="00C896"/>
            </a:solidFill>
            <a:prstDash val="solid"/>
          </a:ln>
        </p:spPr>
        <p:txBody>
          <a:bodyPr/>
          <a:lstStyle/>
          <a:p>
            <a:endParaRPr lang="en-US"/>
          </a:p>
        </p:txBody>
      </p:sp>
      <p:sp>
        <p:nvSpPr>
          <p:cNvPr id="49" name="Text 47"/>
          <p:cNvSpPr/>
          <p:nvPr/>
        </p:nvSpPr>
        <p:spPr>
          <a:xfrm>
            <a:off x="3520440" y="2798064"/>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50" name="Shape 48"/>
          <p:cNvSpPr/>
          <p:nvPr/>
        </p:nvSpPr>
        <p:spPr>
          <a:xfrm>
            <a:off x="3922776" y="2798064"/>
            <a:ext cx="374904" cy="347472"/>
          </a:xfrm>
          <a:prstGeom prst="rect">
            <a:avLst/>
          </a:prstGeom>
          <a:solidFill>
            <a:srgbClr val="00C896"/>
          </a:solidFill>
          <a:ln w="19050">
            <a:solidFill>
              <a:srgbClr val="00C896"/>
            </a:solidFill>
            <a:prstDash val="solid"/>
          </a:ln>
        </p:spPr>
        <p:txBody>
          <a:bodyPr/>
          <a:lstStyle/>
          <a:p>
            <a:endParaRPr lang="en-US"/>
          </a:p>
        </p:txBody>
      </p:sp>
      <p:sp>
        <p:nvSpPr>
          <p:cNvPr id="51" name="Text 49"/>
          <p:cNvSpPr/>
          <p:nvPr/>
        </p:nvSpPr>
        <p:spPr>
          <a:xfrm>
            <a:off x="3922776" y="2798064"/>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52" name="Shape 50"/>
          <p:cNvSpPr/>
          <p:nvPr/>
        </p:nvSpPr>
        <p:spPr>
          <a:xfrm>
            <a:off x="4325112" y="2798064"/>
            <a:ext cx="374904" cy="347472"/>
          </a:xfrm>
          <a:prstGeom prst="rect">
            <a:avLst/>
          </a:prstGeom>
          <a:solidFill>
            <a:srgbClr val="00C896"/>
          </a:solidFill>
          <a:ln w="19050">
            <a:solidFill>
              <a:srgbClr val="00C896"/>
            </a:solidFill>
            <a:prstDash val="solid"/>
          </a:ln>
        </p:spPr>
        <p:txBody>
          <a:bodyPr/>
          <a:lstStyle/>
          <a:p>
            <a:endParaRPr lang="en-US"/>
          </a:p>
        </p:txBody>
      </p:sp>
      <p:sp>
        <p:nvSpPr>
          <p:cNvPr id="53" name="Text 51"/>
          <p:cNvSpPr/>
          <p:nvPr/>
        </p:nvSpPr>
        <p:spPr>
          <a:xfrm>
            <a:off x="4325112" y="2798064"/>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54" name="Shape 52"/>
          <p:cNvSpPr/>
          <p:nvPr/>
        </p:nvSpPr>
        <p:spPr>
          <a:xfrm>
            <a:off x="2715768" y="2212848"/>
            <a:ext cx="0" cy="1005840"/>
          </a:xfrm>
          <a:prstGeom prst="line">
            <a:avLst/>
          </a:prstGeom>
          <a:noFill/>
          <a:ln w="31750">
            <a:solidFill>
              <a:srgbClr val="FFB830"/>
            </a:solidFill>
            <a:prstDash val="dash"/>
          </a:ln>
        </p:spPr>
        <p:txBody>
          <a:bodyPr/>
          <a:lstStyle/>
          <a:p>
            <a:endParaRPr lang="en-US"/>
          </a:p>
        </p:txBody>
      </p:sp>
      <p:sp>
        <p:nvSpPr>
          <p:cNvPr id="55" name="Text 53"/>
          <p:cNvSpPr/>
          <p:nvPr/>
        </p:nvSpPr>
        <p:spPr>
          <a:xfrm>
            <a:off x="2377440" y="3246120"/>
            <a:ext cx="914400" cy="228600"/>
          </a:xfrm>
          <a:prstGeom prst="rect">
            <a:avLst/>
          </a:prstGeom>
          <a:noFill/>
          <a:ln/>
        </p:spPr>
        <p:txBody>
          <a:bodyPr wrap="square" rtlCol="0" anchor="ctr"/>
          <a:lstStyle/>
          <a:p>
            <a:pPr marL="0" indent="0" algn="ctr">
              <a:buNone/>
            </a:pPr>
            <a:r>
              <a:rPr lang="en-US" sz="900" dirty="0">
                <a:solidFill>
                  <a:srgbClr val="FFB830"/>
                </a:solidFill>
                <a:latin typeface="Calibri" pitchFamily="34" charset="0"/>
                <a:ea typeface="Calibri" pitchFamily="34" charset="-122"/>
                <a:cs typeface="Calibri" pitchFamily="34" charset="-120"/>
              </a:rPr>
              <a:t>↑ Point 3</a:t>
            </a:r>
            <a:endParaRPr lang="en-US" sz="900" dirty="0"/>
          </a:p>
        </p:txBody>
      </p:sp>
      <p:sp>
        <p:nvSpPr>
          <p:cNvPr id="56" name="Text 54"/>
          <p:cNvSpPr/>
          <p:nvPr/>
        </p:nvSpPr>
        <p:spPr>
          <a:xfrm>
            <a:off x="365760" y="3584448"/>
            <a:ext cx="1828800" cy="274320"/>
          </a:xfrm>
          <a:prstGeom prst="rect">
            <a:avLst/>
          </a:prstGeom>
          <a:noFill/>
          <a:ln/>
        </p:spPr>
        <p:txBody>
          <a:bodyPr wrap="square" rtlCol="0" anchor="ctr"/>
          <a:lstStyle/>
          <a:p>
            <a:pPr marL="0" indent="0">
              <a:buNone/>
            </a:pPr>
            <a:r>
              <a:rPr lang="en-US" sz="1100" i="1" dirty="0">
                <a:solidFill>
                  <a:srgbClr val="8FA8BF"/>
                </a:solidFill>
                <a:latin typeface="Calibri" pitchFamily="34" charset="0"/>
                <a:ea typeface="Calibri" pitchFamily="34" charset="-122"/>
                <a:cs typeface="Calibri" pitchFamily="34" charset="-120"/>
              </a:rPr>
              <a:t>↓  Children:</a:t>
            </a:r>
            <a:endParaRPr lang="en-US" sz="1100" dirty="0"/>
          </a:p>
        </p:txBody>
      </p:sp>
      <p:sp>
        <p:nvSpPr>
          <p:cNvPr id="57" name="Shape 55"/>
          <p:cNvSpPr/>
          <p:nvPr/>
        </p:nvSpPr>
        <p:spPr>
          <a:xfrm>
            <a:off x="365760" y="3950208"/>
            <a:ext cx="1005840" cy="320040"/>
          </a:xfrm>
          <a:prstGeom prst="rect">
            <a:avLst/>
          </a:prstGeom>
          <a:solidFill>
            <a:srgbClr val="E05AFF"/>
          </a:solidFill>
          <a:ln w="12700">
            <a:solidFill>
              <a:srgbClr val="E05AFF"/>
            </a:solidFill>
            <a:prstDash val="solid"/>
          </a:ln>
        </p:spPr>
        <p:txBody>
          <a:bodyPr/>
          <a:lstStyle/>
          <a:p>
            <a:endParaRPr lang="en-US"/>
          </a:p>
        </p:txBody>
      </p:sp>
      <p:sp>
        <p:nvSpPr>
          <p:cNvPr id="58" name="Text 56"/>
          <p:cNvSpPr/>
          <p:nvPr/>
        </p:nvSpPr>
        <p:spPr>
          <a:xfrm>
            <a:off x="365760" y="3950208"/>
            <a:ext cx="1005840" cy="32004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Child 1</a:t>
            </a:r>
            <a:endParaRPr lang="en-US" sz="1000" dirty="0"/>
          </a:p>
        </p:txBody>
      </p:sp>
      <p:sp>
        <p:nvSpPr>
          <p:cNvPr id="59" name="Shape 57"/>
          <p:cNvSpPr/>
          <p:nvPr/>
        </p:nvSpPr>
        <p:spPr>
          <a:xfrm>
            <a:off x="1508760" y="3931920"/>
            <a:ext cx="374904" cy="347472"/>
          </a:xfrm>
          <a:prstGeom prst="rect">
            <a:avLst/>
          </a:prstGeom>
          <a:solidFill>
            <a:srgbClr val="00C896"/>
          </a:solidFill>
          <a:ln w="19050">
            <a:solidFill>
              <a:srgbClr val="00C896"/>
            </a:solidFill>
            <a:prstDash val="solid"/>
          </a:ln>
        </p:spPr>
        <p:txBody>
          <a:bodyPr/>
          <a:lstStyle/>
          <a:p>
            <a:endParaRPr lang="en-US"/>
          </a:p>
        </p:txBody>
      </p:sp>
      <p:sp>
        <p:nvSpPr>
          <p:cNvPr id="60" name="Text 58"/>
          <p:cNvSpPr/>
          <p:nvPr/>
        </p:nvSpPr>
        <p:spPr>
          <a:xfrm>
            <a:off x="1508760" y="393192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61" name="Shape 59"/>
          <p:cNvSpPr/>
          <p:nvPr/>
        </p:nvSpPr>
        <p:spPr>
          <a:xfrm>
            <a:off x="1911096" y="3931920"/>
            <a:ext cx="374904" cy="347472"/>
          </a:xfrm>
          <a:prstGeom prst="rect">
            <a:avLst/>
          </a:prstGeom>
          <a:solidFill>
            <a:srgbClr val="00C896"/>
          </a:solidFill>
          <a:ln w="19050">
            <a:solidFill>
              <a:srgbClr val="00C896"/>
            </a:solidFill>
            <a:prstDash val="solid"/>
          </a:ln>
        </p:spPr>
        <p:txBody>
          <a:bodyPr/>
          <a:lstStyle/>
          <a:p>
            <a:endParaRPr lang="en-US"/>
          </a:p>
        </p:txBody>
      </p:sp>
      <p:sp>
        <p:nvSpPr>
          <p:cNvPr id="62" name="Text 60"/>
          <p:cNvSpPr/>
          <p:nvPr/>
        </p:nvSpPr>
        <p:spPr>
          <a:xfrm>
            <a:off x="1911096" y="393192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63" name="Shape 61"/>
          <p:cNvSpPr/>
          <p:nvPr/>
        </p:nvSpPr>
        <p:spPr>
          <a:xfrm>
            <a:off x="2313432" y="3931920"/>
            <a:ext cx="374904" cy="347472"/>
          </a:xfrm>
          <a:prstGeom prst="rect">
            <a:avLst/>
          </a:prstGeom>
          <a:solidFill>
            <a:srgbClr val="00C896"/>
          </a:solidFill>
          <a:ln w="19050">
            <a:solidFill>
              <a:srgbClr val="00C896"/>
            </a:solidFill>
            <a:prstDash val="solid"/>
          </a:ln>
        </p:spPr>
        <p:txBody>
          <a:bodyPr/>
          <a:lstStyle/>
          <a:p>
            <a:endParaRPr lang="en-US"/>
          </a:p>
        </p:txBody>
      </p:sp>
      <p:sp>
        <p:nvSpPr>
          <p:cNvPr id="64" name="Text 62"/>
          <p:cNvSpPr/>
          <p:nvPr/>
        </p:nvSpPr>
        <p:spPr>
          <a:xfrm>
            <a:off x="2313432" y="393192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65" name="Shape 63"/>
          <p:cNvSpPr/>
          <p:nvPr/>
        </p:nvSpPr>
        <p:spPr>
          <a:xfrm>
            <a:off x="2715768" y="3931920"/>
            <a:ext cx="374904" cy="347472"/>
          </a:xfrm>
          <a:prstGeom prst="rect">
            <a:avLst/>
          </a:prstGeom>
          <a:solidFill>
            <a:srgbClr val="132338"/>
          </a:solidFill>
          <a:ln w="19050">
            <a:solidFill>
              <a:srgbClr val="8FA8BF"/>
            </a:solidFill>
            <a:prstDash val="solid"/>
          </a:ln>
        </p:spPr>
        <p:txBody>
          <a:bodyPr/>
          <a:lstStyle/>
          <a:p>
            <a:endParaRPr lang="en-US"/>
          </a:p>
        </p:txBody>
      </p:sp>
      <p:sp>
        <p:nvSpPr>
          <p:cNvPr id="66" name="Text 64"/>
          <p:cNvSpPr/>
          <p:nvPr/>
        </p:nvSpPr>
        <p:spPr>
          <a:xfrm>
            <a:off x="2715768" y="39319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67" name="Shape 65"/>
          <p:cNvSpPr/>
          <p:nvPr/>
        </p:nvSpPr>
        <p:spPr>
          <a:xfrm>
            <a:off x="3118104" y="3931920"/>
            <a:ext cx="374904" cy="347472"/>
          </a:xfrm>
          <a:prstGeom prst="rect">
            <a:avLst/>
          </a:prstGeom>
          <a:solidFill>
            <a:srgbClr val="132338"/>
          </a:solidFill>
          <a:ln w="19050">
            <a:solidFill>
              <a:srgbClr val="8FA8BF"/>
            </a:solidFill>
            <a:prstDash val="solid"/>
          </a:ln>
        </p:spPr>
        <p:txBody>
          <a:bodyPr/>
          <a:lstStyle/>
          <a:p>
            <a:endParaRPr lang="en-US"/>
          </a:p>
        </p:txBody>
      </p:sp>
      <p:sp>
        <p:nvSpPr>
          <p:cNvPr id="68" name="Text 66"/>
          <p:cNvSpPr/>
          <p:nvPr/>
        </p:nvSpPr>
        <p:spPr>
          <a:xfrm>
            <a:off x="3118104" y="39319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69" name="Shape 67"/>
          <p:cNvSpPr/>
          <p:nvPr/>
        </p:nvSpPr>
        <p:spPr>
          <a:xfrm>
            <a:off x="3520440" y="3931920"/>
            <a:ext cx="374904" cy="347472"/>
          </a:xfrm>
          <a:prstGeom prst="rect">
            <a:avLst/>
          </a:prstGeom>
          <a:solidFill>
            <a:srgbClr val="132338"/>
          </a:solidFill>
          <a:ln w="19050">
            <a:solidFill>
              <a:srgbClr val="8FA8BF"/>
            </a:solidFill>
            <a:prstDash val="solid"/>
          </a:ln>
        </p:spPr>
        <p:txBody>
          <a:bodyPr/>
          <a:lstStyle/>
          <a:p>
            <a:endParaRPr lang="en-US"/>
          </a:p>
        </p:txBody>
      </p:sp>
      <p:sp>
        <p:nvSpPr>
          <p:cNvPr id="70" name="Text 68"/>
          <p:cNvSpPr/>
          <p:nvPr/>
        </p:nvSpPr>
        <p:spPr>
          <a:xfrm>
            <a:off x="3520440" y="39319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71" name="Shape 69"/>
          <p:cNvSpPr/>
          <p:nvPr/>
        </p:nvSpPr>
        <p:spPr>
          <a:xfrm>
            <a:off x="3922776" y="3931920"/>
            <a:ext cx="374904" cy="347472"/>
          </a:xfrm>
          <a:prstGeom prst="rect">
            <a:avLst/>
          </a:prstGeom>
          <a:solidFill>
            <a:srgbClr val="132338"/>
          </a:solidFill>
          <a:ln w="19050">
            <a:solidFill>
              <a:srgbClr val="8FA8BF"/>
            </a:solidFill>
            <a:prstDash val="solid"/>
          </a:ln>
        </p:spPr>
        <p:txBody>
          <a:bodyPr/>
          <a:lstStyle/>
          <a:p>
            <a:endParaRPr lang="en-US"/>
          </a:p>
        </p:txBody>
      </p:sp>
      <p:sp>
        <p:nvSpPr>
          <p:cNvPr id="72" name="Text 70"/>
          <p:cNvSpPr/>
          <p:nvPr/>
        </p:nvSpPr>
        <p:spPr>
          <a:xfrm>
            <a:off x="3922776" y="39319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73" name="Shape 71"/>
          <p:cNvSpPr/>
          <p:nvPr/>
        </p:nvSpPr>
        <p:spPr>
          <a:xfrm>
            <a:off x="4325112" y="3931920"/>
            <a:ext cx="374904" cy="347472"/>
          </a:xfrm>
          <a:prstGeom prst="rect">
            <a:avLst/>
          </a:prstGeom>
          <a:solidFill>
            <a:srgbClr val="132338"/>
          </a:solidFill>
          <a:ln w="19050">
            <a:solidFill>
              <a:srgbClr val="8FA8BF"/>
            </a:solidFill>
            <a:prstDash val="solid"/>
          </a:ln>
        </p:spPr>
        <p:txBody>
          <a:bodyPr/>
          <a:lstStyle/>
          <a:p>
            <a:endParaRPr lang="en-US"/>
          </a:p>
        </p:txBody>
      </p:sp>
      <p:sp>
        <p:nvSpPr>
          <p:cNvPr id="74" name="Text 72"/>
          <p:cNvSpPr/>
          <p:nvPr/>
        </p:nvSpPr>
        <p:spPr>
          <a:xfrm>
            <a:off x="4325112" y="39319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75" name="Text 73"/>
          <p:cNvSpPr/>
          <p:nvPr/>
        </p:nvSpPr>
        <p:spPr>
          <a:xfrm>
            <a:off x="5303520" y="3977640"/>
            <a:ext cx="3474720" cy="274320"/>
          </a:xfrm>
          <a:prstGeom prst="rect">
            <a:avLst/>
          </a:prstGeom>
          <a:noFill/>
          <a:ln/>
        </p:spPr>
        <p:txBody>
          <a:bodyPr wrap="square" rtlCol="0" anchor="ctr"/>
          <a:lstStyle/>
          <a:p>
            <a:pPr marL="0" indent="0">
              <a:buNone/>
            </a:pPr>
            <a:r>
              <a:rPr lang="en-US" sz="1100" i="1" dirty="0">
                <a:solidFill>
                  <a:srgbClr val="8FA8BF"/>
                </a:solidFill>
                <a:latin typeface="Calibri" pitchFamily="34" charset="0"/>
                <a:ea typeface="Calibri" pitchFamily="34" charset="-122"/>
                <a:cs typeface="Calibri" pitchFamily="34" charset="-120"/>
              </a:rPr>
              <a:t>← P1 genes 1-3  +  P2 genes 4-8</a:t>
            </a:r>
            <a:endParaRPr lang="en-US" sz="1100" dirty="0"/>
          </a:p>
        </p:txBody>
      </p:sp>
      <p:sp>
        <p:nvSpPr>
          <p:cNvPr id="76" name="Shape 74"/>
          <p:cNvSpPr/>
          <p:nvPr/>
        </p:nvSpPr>
        <p:spPr>
          <a:xfrm>
            <a:off x="365760" y="4407408"/>
            <a:ext cx="1005840" cy="320040"/>
          </a:xfrm>
          <a:prstGeom prst="rect">
            <a:avLst/>
          </a:prstGeom>
          <a:solidFill>
            <a:srgbClr val="FF6B6B"/>
          </a:solidFill>
          <a:ln w="12700">
            <a:solidFill>
              <a:srgbClr val="FF6B6B"/>
            </a:solidFill>
            <a:prstDash val="solid"/>
          </a:ln>
        </p:spPr>
        <p:txBody>
          <a:bodyPr/>
          <a:lstStyle/>
          <a:p>
            <a:endParaRPr lang="en-US"/>
          </a:p>
        </p:txBody>
      </p:sp>
      <p:sp>
        <p:nvSpPr>
          <p:cNvPr id="77" name="Text 75"/>
          <p:cNvSpPr/>
          <p:nvPr/>
        </p:nvSpPr>
        <p:spPr>
          <a:xfrm>
            <a:off x="365760" y="4407408"/>
            <a:ext cx="1005840" cy="32004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Child 2</a:t>
            </a:r>
            <a:endParaRPr lang="en-US" sz="1000" dirty="0"/>
          </a:p>
        </p:txBody>
      </p:sp>
      <p:sp>
        <p:nvSpPr>
          <p:cNvPr id="78" name="Shape 76"/>
          <p:cNvSpPr/>
          <p:nvPr/>
        </p:nvSpPr>
        <p:spPr>
          <a:xfrm>
            <a:off x="1508760" y="4389120"/>
            <a:ext cx="374904" cy="347472"/>
          </a:xfrm>
          <a:prstGeom prst="rect">
            <a:avLst/>
          </a:prstGeom>
          <a:solidFill>
            <a:srgbClr val="132338"/>
          </a:solidFill>
          <a:ln w="19050">
            <a:solidFill>
              <a:srgbClr val="8FA8BF"/>
            </a:solidFill>
            <a:prstDash val="solid"/>
          </a:ln>
        </p:spPr>
        <p:txBody>
          <a:bodyPr/>
          <a:lstStyle/>
          <a:p>
            <a:endParaRPr lang="en-US"/>
          </a:p>
        </p:txBody>
      </p:sp>
      <p:sp>
        <p:nvSpPr>
          <p:cNvPr id="79" name="Text 77"/>
          <p:cNvSpPr/>
          <p:nvPr/>
        </p:nvSpPr>
        <p:spPr>
          <a:xfrm>
            <a:off x="1508760" y="43891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80" name="Shape 78"/>
          <p:cNvSpPr/>
          <p:nvPr/>
        </p:nvSpPr>
        <p:spPr>
          <a:xfrm>
            <a:off x="1911096" y="4389120"/>
            <a:ext cx="374904" cy="347472"/>
          </a:xfrm>
          <a:prstGeom prst="rect">
            <a:avLst/>
          </a:prstGeom>
          <a:solidFill>
            <a:srgbClr val="132338"/>
          </a:solidFill>
          <a:ln w="19050">
            <a:solidFill>
              <a:srgbClr val="8FA8BF"/>
            </a:solidFill>
            <a:prstDash val="solid"/>
          </a:ln>
        </p:spPr>
        <p:txBody>
          <a:bodyPr/>
          <a:lstStyle/>
          <a:p>
            <a:endParaRPr lang="en-US"/>
          </a:p>
        </p:txBody>
      </p:sp>
      <p:sp>
        <p:nvSpPr>
          <p:cNvPr id="81" name="Text 79"/>
          <p:cNvSpPr/>
          <p:nvPr/>
        </p:nvSpPr>
        <p:spPr>
          <a:xfrm>
            <a:off x="1911096" y="43891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82" name="Shape 80"/>
          <p:cNvSpPr/>
          <p:nvPr/>
        </p:nvSpPr>
        <p:spPr>
          <a:xfrm>
            <a:off x="2313432" y="4389120"/>
            <a:ext cx="374904" cy="347472"/>
          </a:xfrm>
          <a:prstGeom prst="rect">
            <a:avLst/>
          </a:prstGeom>
          <a:solidFill>
            <a:srgbClr val="132338"/>
          </a:solidFill>
          <a:ln w="19050">
            <a:solidFill>
              <a:srgbClr val="8FA8BF"/>
            </a:solidFill>
            <a:prstDash val="solid"/>
          </a:ln>
        </p:spPr>
        <p:txBody>
          <a:bodyPr/>
          <a:lstStyle/>
          <a:p>
            <a:endParaRPr lang="en-US"/>
          </a:p>
        </p:txBody>
      </p:sp>
      <p:sp>
        <p:nvSpPr>
          <p:cNvPr id="83" name="Text 81"/>
          <p:cNvSpPr/>
          <p:nvPr/>
        </p:nvSpPr>
        <p:spPr>
          <a:xfrm>
            <a:off x="2313432" y="43891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84" name="Shape 82"/>
          <p:cNvSpPr/>
          <p:nvPr/>
        </p:nvSpPr>
        <p:spPr>
          <a:xfrm>
            <a:off x="2715768" y="4389120"/>
            <a:ext cx="374904" cy="347472"/>
          </a:xfrm>
          <a:prstGeom prst="rect">
            <a:avLst/>
          </a:prstGeom>
          <a:solidFill>
            <a:srgbClr val="00C896"/>
          </a:solidFill>
          <a:ln w="19050">
            <a:solidFill>
              <a:srgbClr val="00C896"/>
            </a:solidFill>
            <a:prstDash val="solid"/>
          </a:ln>
        </p:spPr>
        <p:txBody>
          <a:bodyPr/>
          <a:lstStyle/>
          <a:p>
            <a:endParaRPr lang="en-US"/>
          </a:p>
        </p:txBody>
      </p:sp>
      <p:sp>
        <p:nvSpPr>
          <p:cNvPr id="85" name="Text 83"/>
          <p:cNvSpPr/>
          <p:nvPr/>
        </p:nvSpPr>
        <p:spPr>
          <a:xfrm>
            <a:off x="2715768" y="438912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86" name="Shape 84"/>
          <p:cNvSpPr/>
          <p:nvPr/>
        </p:nvSpPr>
        <p:spPr>
          <a:xfrm>
            <a:off x="3118104" y="4389120"/>
            <a:ext cx="374904" cy="347472"/>
          </a:xfrm>
          <a:prstGeom prst="rect">
            <a:avLst/>
          </a:prstGeom>
          <a:solidFill>
            <a:srgbClr val="00C896"/>
          </a:solidFill>
          <a:ln w="19050">
            <a:solidFill>
              <a:srgbClr val="00C896"/>
            </a:solidFill>
            <a:prstDash val="solid"/>
          </a:ln>
        </p:spPr>
        <p:txBody>
          <a:bodyPr/>
          <a:lstStyle/>
          <a:p>
            <a:endParaRPr lang="en-US"/>
          </a:p>
        </p:txBody>
      </p:sp>
      <p:sp>
        <p:nvSpPr>
          <p:cNvPr id="87" name="Text 85"/>
          <p:cNvSpPr/>
          <p:nvPr/>
        </p:nvSpPr>
        <p:spPr>
          <a:xfrm>
            <a:off x="3118104" y="438912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88" name="Shape 86"/>
          <p:cNvSpPr/>
          <p:nvPr/>
        </p:nvSpPr>
        <p:spPr>
          <a:xfrm>
            <a:off x="3520440" y="4389120"/>
            <a:ext cx="374904" cy="347472"/>
          </a:xfrm>
          <a:prstGeom prst="rect">
            <a:avLst/>
          </a:prstGeom>
          <a:solidFill>
            <a:srgbClr val="00C896"/>
          </a:solidFill>
          <a:ln w="19050">
            <a:solidFill>
              <a:srgbClr val="00C896"/>
            </a:solidFill>
            <a:prstDash val="solid"/>
          </a:ln>
        </p:spPr>
        <p:txBody>
          <a:bodyPr/>
          <a:lstStyle/>
          <a:p>
            <a:endParaRPr lang="en-US"/>
          </a:p>
        </p:txBody>
      </p:sp>
      <p:sp>
        <p:nvSpPr>
          <p:cNvPr id="89" name="Text 87"/>
          <p:cNvSpPr/>
          <p:nvPr/>
        </p:nvSpPr>
        <p:spPr>
          <a:xfrm>
            <a:off x="3520440" y="438912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90" name="Shape 88"/>
          <p:cNvSpPr/>
          <p:nvPr/>
        </p:nvSpPr>
        <p:spPr>
          <a:xfrm>
            <a:off x="3922776" y="4389120"/>
            <a:ext cx="374904" cy="347472"/>
          </a:xfrm>
          <a:prstGeom prst="rect">
            <a:avLst/>
          </a:prstGeom>
          <a:solidFill>
            <a:srgbClr val="00C896"/>
          </a:solidFill>
          <a:ln w="19050">
            <a:solidFill>
              <a:srgbClr val="00C896"/>
            </a:solidFill>
            <a:prstDash val="solid"/>
          </a:ln>
        </p:spPr>
        <p:txBody>
          <a:bodyPr/>
          <a:lstStyle/>
          <a:p>
            <a:endParaRPr lang="en-US"/>
          </a:p>
        </p:txBody>
      </p:sp>
      <p:sp>
        <p:nvSpPr>
          <p:cNvPr id="91" name="Text 89"/>
          <p:cNvSpPr/>
          <p:nvPr/>
        </p:nvSpPr>
        <p:spPr>
          <a:xfrm>
            <a:off x="3922776" y="438912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92" name="Shape 90"/>
          <p:cNvSpPr/>
          <p:nvPr/>
        </p:nvSpPr>
        <p:spPr>
          <a:xfrm>
            <a:off x="4325112" y="4389120"/>
            <a:ext cx="374904" cy="347472"/>
          </a:xfrm>
          <a:prstGeom prst="rect">
            <a:avLst/>
          </a:prstGeom>
          <a:solidFill>
            <a:srgbClr val="00C896"/>
          </a:solidFill>
          <a:ln w="19050">
            <a:solidFill>
              <a:srgbClr val="00C896"/>
            </a:solidFill>
            <a:prstDash val="solid"/>
          </a:ln>
        </p:spPr>
        <p:txBody>
          <a:bodyPr/>
          <a:lstStyle/>
          <a:p>
            <a:endParaRPr lang="en-US"/>
          </a:p>
        </p:txBody>
      </p:sp>
      <p:sp>
        <p:nvSpPr>
          <p:cNvPr id="93" name="Text 91"/>
          <p:cNvSpPr/>
          <p:nvPr/>
        </p:nvSpPr>
        <p:spPr>
          <a:xfrm>
            <a:off x="4325112" y="438912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94" name="Text 92"/>
          <p:cNvSpPr/>
          <p:nvPr/>
        </p:nvSpPr>
        <p:spPr>
          <a:xfrm>
            <a:off x="5303520" y="4434840"/>
            <a:ext cx="3474720" cy="274320"/>
          </a:xfrm>
          <a:prstGeom prst="rect">
            <a:avLst/>
          </a:prstGeom>
          <a:noFill/>
          <a:ln/>
        </p:spPr>
        <p:txBody>
          <a:bodyPr wrap="square" rtlCol="0" anchor="ctr"/>
          <a:lstStyle/>
          <a:p>
            <a:pPr marL="0" indent="0">
              <a:buNone/>
            </a:pPr>
            <a:r>
              <a:rPr lang="en-US" sz="1100" i="1" dirty="0">
                <a:solidFill>
                  <a:srgbClr val="8FA8BF"/>
                </a:solidFill>
                <a:latin typeface="Calibri" pitchFamily="34" charset="0"/>
                <a:ea typeface="Calibri" pitchFamily="34" charset="-122"/>
                <a:cs typeface="Calibri" pitchFamily="34" charset="-120"/>
              </a:rPr>
              <a:t>← P2 genes 1-3  +  P1 genes 4-8</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256032"/>
            <a:ext cx="64008" cy="502920"/>
          </a:xfrm>
          <a:prstGeom prst="rect">
            <a:avLst/>
          </a:prstGeom>
          <a:solidFill>
            <a:srgbClr val="00C896"/>
          </a:solidFill>
          <a:ln w="12700">
            <a:solidFill>
              <a:srgbClr val="00C896"/>
            </a:solidFill>
            <a:prstDash val="solid"/>
          </a:ln>
        </p:spPr>
        <p:txBody>
          <a:bodyPr/>
          <a:lstStyle/>
          <a:p>
            <a:endParaRPr lang="en-US"/>
          </a:p>
        </p:txBody>
      </p:sp>
      <p:sp>
        <p:nvSpPr>
          <p:cNvPr id="3" name="Text 1"/>
          <p:cNvSpPr/>
          <p:nvPr/>
        </p:nvSpPr>
        <p:spPr>
          <a:xfrm>
            <a:off x="512064" y="256032"/>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Two-Point Crossover</a:t>
            </a:r>
            <a:endParaRPr lang="en-US" sz="2800" dirty="0"/>
          </a:p>
        </p:txBody>
      </p:sp>
      <p:sp>
        <p:nvSpPr>
          <p:cNvPr id="5" name="Shape 3"/>
          <p:cNvSpPr/>
          <p:nvPr/>
        </p:nvSpPr>
        <p:spPr>
          <a:xfrm>
            <a:off x="365760" y="868680"/>
            <a:ext cx="8412480" cy="0"/>
          </a:xfrm>
          <a:prstGeom prst="line">
            <a:avLst/>
          </a:prstGeom>
          <a:noFill/>
          <a:ln w="12700">
            <a:solidFill>
              <a:srgbClr val="00C896">
                <a:alpha val="50000"/>
              </a:srgbClr>
            </a:solidFill>
            <a:prstDash val="solid"/>
          </a:ln>
        </p:spPr>
        <p:txBody>
          <a:bodyPr/>
          <a:lstStyle/>
          <a:p>
            <a:endParaRPr lang="en-US"/>
          </a:p>
        </p:txBody>
      </p:sp>
      <p:sp>
        <p:nvSpPr>
          <p:cNvPr id="6" name="Shape 4"/>
          <p:cNvSpPr/>
          <p:nvPr/>
        </p:nvSpPr>
        <p:spPr>
          <a:xfrm>
            <a:off x="365760" y="1005840"/>
            <a:ext cx="8412480" cy="640080"/>
          </a:xfrm>
          <a:prstGeom prst="rect">
            <a:avLst/>
          </a:prstGeom>
          <a:solidFill>
            <a:srgbClr val="1A2E44"/>
          </a:solidFill>
          <a:ln w="19050">
            <a:solidFill>
              <a:srgbClr val="00A3FF"/>
            </a:solidFill>
            <a:prstDash val="solid"/>
          </a:ln>
          <a:effectLst>
            <a:outerShdw blurRad="101600" dist="38100" dir="8100000" algn="bl" rotWithShape="0">
              <a:srgbClr val="000000">
                <a:alpha val="25000"/>
              </a:srgbClr>
            </a:outerShdw>
          </a:effectLst>
        </p:spPr>
        <p:txBody>
          <a:bodyPr/>
          <a:lstStyle/>
          <a:p>
            <a:endParaRPr lang="en-US"/>
          </a:p>
        </p:txBody>
      </p:sp>
      <p:sp>
        <p:nvSpPr>
          <p:cNvPr id="7" name="Text 5"/>
          <p:cNvSpPr/>
          <p:nvPr/>
        </p:nvSpPr>
        <p:spPr>
          <a:xfrm>
            <a:off x="502920" y="1033272"/>
            <a:ext cx="8229600" cy="594360"/>
          </a:xfrm>
          <a:prstGeom prst="rect">
            <a:avLst/>
          </a:prstGeom>
          <a:noFill/>
          <a:ln/>
        </p:spPr>
        <p:txBody>
          <a:bodyPr wrap="square" rtlCol="0" anchor="ctr"/>
          <a:lstStyle/>
          <a:p>
            <a:pPr marL="0" indent="0">
              <a:buNone/>
            </a:pPr>
            <a:r>
              <a:rPr lang="en-US" sz="1250" b="1" dirty="0">
                <a:solidFill>
                  <a:srgbClr val="00A3FF"/>
                </a:solidFill>
                <a:latin typeface="Calibri" pitchFamily="34" charset="0"/>
                <a:ea typeface="Calibri" pitchFamily="34" charset="-122"/>
                <a:cs typeface="Calibri" pitchFamily="34" charset="-120"/>
              </a:rPr>
              <a:t>Definition: </a:t>
            </a:r>
            <a:r>
              <a:rPr lang="en-US" sz="1250" dirty="0">
                <a:solidFill>
                  <a:srgbClr val="E8F0F5"/>
                </a:solidFill>
                <a:latin typeface="Calibri" pitchFamily="34" charset="0"/>
                <a:ea typeface="Calibri" pitchFamily="34" charset="-122"/>
                <a:cs typeface="Calibri" pitchFamily="34" charset="-120"/>
              </a:rPr>
              <a:t>Two crossover points are selected. The segment between the two points is swapped between the two parents to produce offspring. This preserves more of the original parent structure at both ends.</a:t>
            </a:r>
            <a:endParaRPr lang="en-US" sz="1250" dirty="0"/>
          </a:p>
        </p:txBody>
      </p:sp>
      <p:sp>
        <p:nvSpPr>
          <p:cNvPr id="8" name="Text 6"/>
          <p:cNvSpPr/>
          <p:nvPr/>
        </p:nvSpPr>
        <p:spPr>
          <a:xfrm>
            <a:off x="365760" y="1828800"/>
            <a:ext cx="6400800" cy="274320"/>
          </a:xfrm>
          <a:prstGeom prst="rect">
            <a:avLst/>
          </a:prstGeom>
          <a:noFill/>
          <a:ln/>
        </p:spPr>
        <p:txBody>
          <a:bodyPr wrap="square" rtlCol="0" anchor="ctr"/>
          <a:lstStyle/>
          <a:p>
            <a:pPr marL="0" indent="0">
              <a:buNone/>
            </a:pPr>
            <a:r>
              <a:rPr lang="en-US" sz="1100" b="1" dirty="0">
                <a:solidFill>
                  <a:srgbClr val="8FA8BF"/>
                </a:solidFill>
                <a:latin typeface="Calibri" pitchFamily="34" charset="0"/>
                <a:ea typeface="Calibri" pitchFamily="34" charset="-122"/>
                <a:cs typeface="Calibri" pitchFamily="34" charset="-120"/>
              </a:rPr>
              <a:t>EXAMPLE  — Crossover Points after genes 2 and 5:</a:t>
            </a:r>
            <a:endParaRPr lang="en-US" sz="1100" dirty="0"/>
          </a:p>
        </p:txBody>
      </p:sp>
      <p:sp>
        <p:nvSpPr>
          <p:cNvPr id="9" name="Text 7"/>
          <p:cNvSpPr/>
          <p:nvPr/>
        </p:nvSpPr>
        <p:spPr>
          <a:xfrm>
            <a:off x="1508760" y="2130552"/>
            <a:ext cx="402336" cy="201168"/>
          </a:xfrm>
          <a:prstGeom prst="rect">
            <a:avLst/>
          </a:prstGeom>
          <a:noFill/>
          <a:ln/>
        </p:spPr>
        <p:txBody>
          <a:bodyPr wrap="square" rtlCol="0" anchor="ctr"/>
          <a:lstStyle/>
          <a:p>
            <a:pPr marL="0" indent="0" algn="ctr">
              <a:buNone/>
            </a:pPr>
            <a:r>
              <a:rPr lang="en-US" sz="900" dirty="0">
                <a:solidFill>
                  <a:srgbClr val="8FA8BF"/>
                </a:solidFill>
                <a:latin typeface="Consolas" pitchFamily="34" charset="0"/>
                <a:ea typeface="Consolas" pitchFamily="34" charset="-122"/>
                <a:cs typeface="Consolas" pitchFamily="34" charset="-120"/>
              </a:rPr>
              <a:t>1</a:t>
            </a:r>
            <a:endParaRPr lang="en-US" sz="900" dirty="0"/>
          </a:p>
        </p:txBody>
      </p:sp>
      <p:sp>
        <p:nvSpPr>
          <p:cNvPr id="10" name="Text 8"/>
          <p:cNvSpPr/>
          <p:nvPr/>
        </p:nvSpPr>
        <p:spPr>
          <a:xfrm>
            <a:off x="1911096" y="2130552"/>
            <a:ext cx="402336" cy="201168"/>
          </a:xfrm>
          <a:prstGeom prst="rect">
            <a:avLst/>
          </a:prstGeom>
          <a:noFill/>
          <a:ln/>
        </p:spPr>
        <p:txBody>
          <a:bodyPr wrap="square" rtlCol="0" anchor="ctr"/>
          <a:lstStyle/>
          <a:p>
            <a:pPr marL="0" indent="0" algn="ctr">
              <a:buNone/>
            </a:pPr>
            <a:r>
              <a:rPr lang="en-US" sz="900" dirty="0">
                <a:solidFill>
                  <a:srgbClr val="8FA8BF"/>
                </a:solidFill>
                <a:latin typeface="Consolas" pitchFamily="34" charset="0"/>
                <a:ea typeface="Consolas" pitchFamily="34" charset="-122"/>
                <a:cs typeface="Consolas" pitchFamily="34" charset="-120"/>
              </a:rPr>
              <a:t>2</a:t>
            </a:r>
            <a:endParaRPr lang="en-US" sz="900" dirty="0"/>
          </a:p>
        </p:txBody>
      </p:sp>
      <p:sp>
        <p:nvSpPr>
          <p:cNvPr id="11" name="Text 9"/>
          <p:cNvSpPr/>
          <p:nvPr/>
        </p:nvSpPr>
        <p:spPr>
          <a:xfrm>
            <a:off x="2313432" y="2130552"/>
            <a:ext cx="402336" cy="201168"/>
          </a:xfrm>
          <a:prstGeom prst="rect">
            <a:avLst/>
          </a:prstGeom>
          <a:noFill/>
          <a:ln/>
        </p:spPr>
        <p:txBody>
          <a:bodyPr wrap="square" rtlCol="0" anchor="ctr"/>
          <a:lstStyle/>
          <a:p>
            <a:pPr marL="0" indent="0" algn="ctr">
              <a:buNone/>
            </a:pPr>
            <a:r>
              <a:rPr lang="en-US" sz="900" dirty="0">
                <a:solidFill>
                  <a:srgbClr val="8FA8BF"/>
                </a:solidFill>
                <a:latin typeface="Consolas" pitchFamily="34" charset="0"/>
                <a:ea typeface="Consolas" pitchFamily="34" charset="-122"/>
                <a:cs typeface="Consolas" pitchFamily="34" charset="-120"/>
              </a:rPr>
              <a:t>|</a:t>
            </a:r>
            <a:endParaRPr lang="en-US" sz="900" dirty="0"/>
          </a:p>
        </p:txBody>
      </p:sp>
      <p:sp>
        <p:nvSpPr>
          <p:cNvPr id="12" name="Text 10"/>
          <p:cNvSpPr/>
          <p:nvPr/>
        </p:nvSpPr>
        <p:spPr>
          <a:xfrm>
            <a:off x="2715768" y="2130552"/>
            <a:ext cx="402336" cy="201168"/>
          </a:xfrm>
          <a:prstGeom prst="rect">
            <a:avLst/>
          </a:prstGeom>
          <a:noFill/>
          <a:ln/>
        </p:spPr>
        <p:txBody>
          <a:bodyPr wrap="square" rtlCol="0" anchor="ctr"/>
          <a:lstStyle/>
          <a:p>
            <a:pPr marL="0" indent="0" algn="ctr">
              <a:buNone/>
            </a:pPr>
            <a:r>
              <a:rPr lang="en-US" sz="900" dirty="0">
                <a:solidFill>
                  <a:srgbClr val="8FA8BF"/>
                </a:solidFill>
                <a:latin typeface="Consolas" pitchFamily="34" charset="0"/>
                <a:ea typeface="Consolas" pitchFamily="34" charset="-122"/>
                <a:cs typeface="Consolas" pitchFamily="34" charset="-120"/>
              </a:rPr>
              <a:t>3</a:t>
            </a:r>
            <a:endParaRPr lang="en-US" sz="900" dirty="0"/>
          </a:p>
        </p:txBody>
      </p:sp>
      <p:sp>
        <p:nvSpPr>
          <p:cNvPr id="13" name="Text 11"/>
          <p:cNvSpPr/>
          <p:nvPr/>
        </p:nvSpPr>
        <p:spPr>
          <a:xfrm>
            <a:off x="3118104" y="2130552"/>
            <a:ext cx="402336" cy="201168"/>
          </a:xfrm>
          <a:prstGeom prst="rect">
            <a:avLst/>
          </a:prstGeom>
          <a:noFill/>
          <a:ln/>
        </p:spPr>
        <p:txBody>
          <a:bodyPr wrap="square" rtlCol="0" anchor="ctr"/>
          <a:lstStyle/>
          <a:p>
            <a:pPr marL="0" indent="0" algn="ctr">
              <a:buNone/>
            </a:pPr>
            <a:r>
              <a:rPr lang="en-US" sz="900" dirty="0">
                <a:solidFill>
                  <a:srgbClr val="8FA8BF"/>
                </a:solidFill>
                <a:latin typeface="Consolas" pitchFamily="34" charset="0"/>
                <a:ea typeface="Consolas" pitchFamily="34" charset="-122"/>
                <a:cs typeface="Consolas" pitchFamily="34" charset="-120"/>
              </a:rPr>
              <a:t>4</a:t>
            </a:r>
            <a:endParaRPr lang="en-US" sz="900" dirty="0"/>
          </a:p>
        </p:txBody>
      </p:sp>
      <p:sp>
        <p:nvSpPr>
          <p:cNvPr id="14" name="Text 12"/>
          <p:cNvSpPr/>
          <p:nvPr/>
        </p:nvSpPr>
        <p:spPr>
          <a:xfrm>
            <a:off x="3520440" y="2130552"/>
            <a:ext cx="402336" cy="201168"/>
          </a:xfrm>
          <a:prstGeom prst="rect">
            <a:avLst/>
          </a:prstGeom>
          <a:noFill/>
          <a:ln/>
        </p:spPr>
        <p:txBody>
          <a:bodyPr wrap="square" rtlCol="0" anchor="ctr"/>
          <a:lstStyle/>
          <a:p>
            <a:pPr marL="0" indent="0" algn="ctr">
              <a:buNone/>
            </a:pPr>
            <a:r>
              <a:rPr lang="en-US" sz="900" dirty="0">
                <a:solidFill>
                  <a:srgbClr val="8FA8BF"/>
                </a:solidFill>
                <a:latin typeface="Consolas" pitchFamily="34" charset="0"/>
                <a:ea typeface="Consolas" pitchFamily="34" charset="-122"/>
                <a:cs typeface="Consolas" pitchFamily="34" charset="-120"/>
              </a:rPr>
              <a:t>5</a:t>
            </a:r>
            <a:endParaRPr lang="en-US" sz="900" dirty="0"/>
          </a:p>
        </p:txBody>
      </p:sp>
      <p:sp>
        <p:nvSpPr>
          <p:cNvPr id="15" name="Text 13"/>
          <p:cNvSpPr/>
          <p:nvPr/>
        </p:nvSpPr>
        <p:spPr>
          <a:xfrm>
            <a:off x="3922776" y="2130552"/>
            <a:ext cx="402336" cy="201168"/>
          </a:xfrm>
          <a:prstGeom prst="rect">
            <a:avLst/>
          </a:prstGeom>
          <a:noFill/>
          <a:ln/>
        </p:spPr>
        <p:txBody>
          <a:bodyPr wrap="square" rtlCol="0" anchor="ctr"/>
          <a:lstStyle/>
          <a:p>
            <a:pPr marL="0" indent="0" algn="ctr">
              <a:buNone/>
            </a:pPr>
            <a:r>
              <a:rPr lang="en-US" sz="900" dirty="0">
                <a:solidFill>
                  <a:srgbClr val="8FA8BF"/>
                </a:solidFill>
                <a:latin typeface="Consolas" pitchFamily="34" charset="0"/>
                <a:ea typeface="Consolas" pitchFamily="34" charset="-122"/>
                <a:cs typeface="Consolas" pitchFamily="34" charset="-120"/>
              </a:rPr>
              <a:t>|</a:t>
            </a:r>
            <a:endParaRPr lang="en-US" sz="900" dirty="0"/>
          </a:p>
        </p:txBody>
      </p:sp>
      <p:sp>
        <p:nvSpPr>
          <p:cNvPr id="16" name="Text 14"/>
          <p:cNvSpPr/>
          <p:nvPr/>
        </p:nvSpPr>
        <p:spPr>
          <a:xfrm>
            <a:off x="4325112" y="2130552"/>
            <a:ext cx="402336" cy="201168"/>
          </a:xfrm>
          <a:prstGeom prst="rect">
            <a:avLst/>
          </a:prstGeom>
          <a:noFill/>
          <a:ln/>
        </p:spPr>
        <p:txBody>
          <a:bodyPr wrap="square" rtlCol="0" anchor="ctr"/>
          <a:lstStyle/>
          <a:p>
            <a:pPr marL="0" indent="0" algn="ctr">
              <a:buNone/>
            </a:pPr>
            <a:r>
              <a:rPr lang="en-US" sz="900" dirty="0">
                <a:solidFill>
                  <a:srgbClr val="8FA8BF"/>
                </a:solidFill>
                <a:latin typeface="Consolas" pitchFamily="34" charset="0"/>
                <a:ea typeface="Consolas" pitchFamily="34" charset="-122"/>
                <a:cs typeface="Consolas" pitchFamily="34" charset="-120"/>
              </a:rPr>
              <a:t>6</a:t>
            </a:r>
            <a:endParaRPr lang="en-US" sz="900" dirty="0"/>
          </a:p>
        </p:txBody>
      </p:sp>
      <p:sp>
        <p:nvSpPr>
          <p:cNvPr id="17" name="Text 15"/>
          <p:cNvSpPr/>
          <p:nvPr/>
        </p:nvSpPr>
        <p:spPr>
          <a:xfrm>
            <a:off x="4727448" y="2130552"/>
            <a:ext cx="402336" cy="201168"/>
          </a:xfrm>
          <a:prstGeom prst="rect">
            <a:avLst/>
          </a:prstGeom>
          <a:noFill/>
          <a:ln/>
        </p:spPr>
        <p:txBody>
          <a:bodyPr wrap="square" rtlCol="0" anchor="ctr"/>
          <a:lstStyle/>
          <a:p>
            <a:pPr marL="0" indent="0" algn="ctr">
              <a:buNone/>
            </a:pPr>
            <a:r>
              <a:rPr lang="en-US" sz="900" dirty="0">
                <a:solidFill>
                  <a:srgbClr val="8FA8BF"/>
                </a:solidFill>
                <a:latin typeface="Consolas" pitchFamily="34" charset="0"/>
                <a:ea typeface="Consolas" pitchFamily="34" charset="-122"/>
                <a:cs typeface="Consolas" pitchFamily="34" charset="-120"/>
              </a:rPr>
              <a:t>7</a:t>
            </a:r>
            <a:endParaRPr lang="en-US" sz="900" dirty="0"/>
          </a:p>
        </p:txBody>
      </p:sp>
      <p:sp>
        <p:nvSpPr>
          <p:cNvPr id="18" name="Text 16"/>
          <p:cNvSpPr/>
          <p:nvPr/>
        </p:nvSpPr>
        <p:spPr>
          <a:xfrm>
            <a:off x="5129784" y="2130552"/>
            <a:ext cx="402336" cy="201168"/>
          </a:xfrm>
          <a:prstGeom prst="rect">
            <a:avLst/>
          </a:prstGeom>
          <a:noFill/>
          <a:ln/>
        </p:spPr>
        <p:txBody>
          <a:bodyPr wrap="square" rtlCol="0" anchor="ctr"/>
          <a:lstStyle/>
          <a:p>
            <a:pPr marL="0" indent="0" algn="ctr">
              <a:buNone/>
            </a:pPr>
            <a:r>
              <a:rPr lang="en-US" sz="900" dirty="0">
                <a:solidFill>
                  <a:srgbClr val="8FA8BF"/>
                </a:solidFill>
                <a:latin typeface="Consolas" pitchFamily="34" charset="0"/>
                <a:ea typeface="Consolas" pitchFamily="34" charset="-122"/>
                <a:cs typeface="Consolas" pitchFamily="34" charset="-120"/>
              </a:rPr>
              <a:t>8</a:t>
            </a:r>
            <a:endParaRPr lang="en-US" sz="900" dirty="0"/>
          </a:p>
        </p:txBody>
      </p:sp>
      <p:sp>
        <p:nvSpPr>
          <p:cNvPr id="19" name="Shape 17"/>
          <p:cNvSpPr/>
          <p:nvPr/>
        </p:nvSpPr>
        <p:spPr>
          <a:xfrm>
            <a:off x="365760" y="2350008"/>
            <a:ext cx="1005840" cy="320040"/>
          </a:xfrm>
          <a:prstGeom prst="rect">
            <a:avLst/>
          </a:prstGeom>
          <a:solidFill>
            <a:srgbClr val="00C896"/>
          </a:solidFill>
          <a:ln w="12700">
            <a:solidFill>
              <a:srgbClr val="00C896"/>
            </a:solidFill>
            <a:prstDash val="solid"/>
          </a:ln>
        </p:spPr>
        <p:txBody>
          <a:bodyPr/>
          <a:lstStyle/>
          <a:p>
            <a:endParaRPr lang="en-US"/>
          </a:p>
        </p:txBody>
      </p:sp>
      <p:sp>
        <p:nvSpPr>
          <p:cNvPr id="20" name="Text 18"/>
          <p:cNvSpPr/>
          <p:nvPr/>
        </p:nvSpPr>
        <p:spPr>
          <a:xfrm>
            <a:off x="365760" y="2350008"/>
            <a:ext cx="1005840" cy="32004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Parent 1</a:t>
            </a:r>
            <a:endParaRPr lang="en-US" sz="1000" dirty="0"/>
          </a:p>
        </p:txBody>
      </p:sp>
      <p:sp>
        <p:nvSpPr>
          <p:cNvPr id="21" name="Shape 19"/>
          <p:cNvSpPr/>
          <p:nvPr/>
        </p:nvSpPr>
        <p:spPr>
          <a:xfrm>
            <a:off x="1508760" y="2331720"/>
            <a:ext cx="374904" cy="347472"/>
          </a:xfrm>
          <a:prstGeom prst="rect">
            <a:avLst/>
          </a:prstGeom>
          <a:solidFill>
            <a:srgbClr val="132338"/>
          </a:solidFill>
          <a:ln w="19050">
            <a:solidFill>
              <a:srgbClr val="8FA8BF"/>
            </a:solidFill>
            <a:prstDash val="solid"/>
          </a:ln>
        </p:spPr>
        <p:txBody>
          <a:bodyPr/>
          <a:lstStyle/>
          <a:p>
            <a:endParaRPr lang="en-US"/>
          </a:p>
        </p:txBody>
      </p:sp>
      <p:sp>
        <p:nvSpPr>
          <p:cNvPr id="22" name="Text 20"/>
          <p:cNvSpPr/>
          <p:nvPr/>
        </p:nvSpPr>
        <p:spPr>
          <a:xfrm>
            <a:off x="1508760" y="23317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23" name="Shape 21"/>
          <p:cNvSpPr/>
          <p:nvPr/>
        </p:nvSpPr>
        <p:spPr>
          <a:xfrm>
            <a:off x="1911096" y="2331720"/>
            <a:ext cx="374904" cy="347472"/>
          </a:xfrm>
          <a:prstGeom prst="rect">
            <a:avLst/>
          </a:prstGeom>
          <a:solidFill>
            <a:srgbClr val="132338"/>
          </a:solidFill>
          <a:ln w="19050">
            <a:solidFill>
              <a:srgbClr val="8FA8BF"/>
            </a:solidFill>
            <a:prstDash val="solid"/>
          </a:ln>
        </p:spPr>
        <p:txBody>
          <a:bodyPr/>
          <a:lstStyle/>
          <a:p>
            <a:endParaRPr lang="en-US"/>
          </a:p>
        </p:txBody>
      </p:sp>
      <p:sp>
        <p:nvSpPr>
          <p:cNvPr id="24" name="Text 22"/>
          <p:cNvSpPr/>
          <p:nvPr/>
        </p:nvSpPr>
        <p:spPr>
          <a:xfrm>
            <a:off x="1911096" y="23317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25" name="Shape 23"/>
          <p:cNvSpPr/>
          <p:nvPr/>
        </p:nvSpPr>
        <p:spPr>
          <a:xfrm>
            <a:off x="2313432" y="2331720"/>
            <a:ext cx="374904" cy="347472"/>
          </a:xfrm>
          <a:prstGeom prst="rect">
            <a:avLst/>
          </a:prstGeom>
          <a:solidFill>
            <a:srgbClr val="00C896"/>
          </a:solidFill>
          <a:ln w="19050">
            <a:solidFill>
              <a:srgbClr val="00C896"/>
            </a:solidFill>
            <a:prstDash val="solid"/>
          </a:ln>
        </p:spPr>
        <p:txBody>
          <a:bodyPr/>
          <a:lstStyle/>
          <a:p>
            <a:endParaRPr lang="en-US"/>
          </a:p>
        </p:txBody>
      </p:sp>
      <p:sp>
        <p:nvSpPr>
          <p:cNvPr id="26" name="Text 24"/>
          <p:cNvSpPr/>
          <p:nvPr/>
        </p:nvSpPr>
        <p:spPr>
          <a:xfrm>
            <a:off x="2313432" y="233172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27" name="Shape 25"/>
          <p:cNvSpPr/>
          <p:nvPr/>
        </p:nvSpPr>
        <p:spPr>
          <a:xfrm>
            <a:off x="2715768" y="2331720"/>
            <a:ext cx="374904" cy="347472"/>
          </a:xfrm>
          <a:prstGeom prst="rect">
            <a:avLst/>
          </a:prstGeom>
          <a:solidFill>
            <a:srgbClr val="00C896"/>
          </a:solidFill>
          <a:ln w="19050">
            <a:solidFill>
              <a:srgbClr val="00C896"/>
            </a:solidFill>
            <a:prstDash val="solid"/>
          </a:ln>
        </p:spPr>
        <p:txBody>
          <a:bodyPr/>
          <a:lstStyle/>
          <a:p>
            <a:endParaRPr lang="en-US"/>
          </a:p>
        </p:txBody>
      </p:sp>
      <p:sp>
        <p:nvSpPr>
          <p:cNvPr id="28" name="Text 26"/>
          <p:cNvSpPr/>
          <p:nvPr/>
        </p:nvSpPr>
        <p:spPr>
          <a:xfrm>
            <a:off x="2715768" y="233172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29" name="Shape 27"/>
          <p:cNvSpPr/>
          <p:nvPr/>
        </p:nvSpPr>
        <p:spPr>
          <a:xfrm>
            <a:off x="3118104" y="2331720"/>
            <a:ext cx="374904" cy="347472"/>
          </a:xfrm>
          <a:prstGeom prst="rect">
            <a:avLst/>
          </a:prstGeom>
          <a:solidFill>
            <a:srgbClr val="00C896"/>
          </a:solidFill>
          <a:ln w="19050">
            <a:solidFill>
              <a:srgbClr val="00C896"/>
            </a:solidFill>
            <a:prstDash val="solid"/>
          </a:ln>
        </p:spPr>
        <p:txBody>
          <a:bodyPr/>
          <a:lstStyle/>
          <a:p>
            <a:endParaRPr lang="en-US"/>
          </a:p>
        </p:txBody>
      </p:sp>
      <p:sp>
        <p:nvSpPr>
          <p:cNvPr id="30" name="Text 28"/>
          <p:cNvSpPr/>
          <p:nvPr/>
        </p:nvSpPr>
        <p:spPr>
          <a:xfrm>
            <a:off x="3118104" y="233172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31" name="Shape 29"/>
          <p:cNvSpPr/>
          <p:nvPr/>
        </p:nvSpPr>
        <p:spPr>
          <a:xfrm>
            <a:off x="3520440" y="2331720"/>
            <a:ext cx="374904" cy="347472"/>
          </a:xfrm>
          <a:prstGeom prst="rect">
            <a:avLst/>
          </a:prstGeom>
          <a:solidFill>
            <a:srgbClr val="132338"/>
          </a:solidFill>
          <a:ln w="19050">
            <a:solidFill>
              <a:srgbClr val="8FA8BF"/>
            </a:solidFill>
            <a:prstDash val="solid"/>
          </a:ln>
        </p:spPr>
        <p:txBody>
          <a:bodyPr/>
          <a:lstStyle/>
          <a:p>
            <a:endParaRPr lang="en-US"/>
          </a:p>
        </p:txBody>
      </p:sp>
      <p:sp>
        <p:nvSpPr>
          <p:cNvPr id="32" name="Text 30"/>
          <p:cNvSpPr/>
          <p:nvPr/>
        </p:nvSpPr>
        <p:spPr>
          <a:xfrm>
            <a:off x="3520440" y="23317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33" name="Shape 31"/>
          <p:cNvSpPr/>
          <p:nvPr/>
        </p:nvSpPr>
        <p:spPr>
          <a:xfrm>
            <a:off x="3922776" y="2331720"/>
            <a:ext cx="374904" cy="347472"/>
          </a:xfrm>
          <a:prstGeom prst="rect">
            <a:avLst/>
          </a:prstGeom>
          <a:solidFill>
            <a:srgbClr val="132338"/>
          </a:solidFill>
          <a:ln w="19050">
            <a:solidFill>
              <a:srgbClr val="8FA8BF"/>
            </a:solidFill>
            <a:prstDash val="solid"/>
          </a:ln>
        </p:spPr>
        <p:txBody>
          <a:bodyPr/>
          <a:lstStyle/>
          <a:p>
            <a:endParaRPr lang="en-US"/>
          </a:p>
        </p:txBody>
      </p:sp>
      <p:sp>
        <p:nvSpPr>
          <p:cNvPr id="34" name="Text 32"/>
          <p:cNvSpPr/>
          <p:nvPr/>
        </p:nvSpPr>
        <p:spPr>
          <a:xfrm>
            <a:off x="3922776" y="23317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35" name="Shape 33"/>
          <p:cNvSpPr/>
          <p:nvPr/>
        </p:nvSpPr>
        <p:spPr>
          <a:xfrm>
            <a:off x="4325112" y="2331720"/>
            <a:ext cx="374904" cy="347472"/>
          </a:xfrm>
          <a:prstGeom prst="rect">
            <a:avLst/>
          </a:prstGeom>
          <a:solidFill>
            <a:srgbClr val="132338"/>
          </a:solidFill>
          <a:ln w="19050">
            <a:solidFill>
              <a:srgbClr val="8FA8BF"/>
            </a:solidFill>
            <a:prstDash val="solid"/>
          </a:ln>
        </p:spPr>
        <p:txBody>
          <a:bodyPr/>
          <a:lstStyle/>
          <a:p>
            <a:endParaRPr lang="en-US"/>
          </a:p>
        </p:txBody>
      </p:sp>
      <p:sp>
        <p:nvSpPr>
          <p:cNvPr id="36" name="Text 34"/>
          <p:cNvSpPr/>
          <p:nvPr/>
        </p:nvSpPr>
        <p:spPr>
          <a:xfrm>
            <a:off x="4325112" y="23317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37" name="Shape 35"/>
          <p:cNvSpPr/>
          <p:nvPr/>
        </p:nvSpPr>
        <p:spPr>
          <a:xfrm>
            <a:off x="365760" y="2816352"/>
            <a:ext cx="1005840" cy="320040"/>
          </a:xfrm>
          <a:prstGeom prst="rect">
            <a:avLst/>
          </a:prstGeom>
          <a:solidFill>
            <a:srgbClr val="00A3FF"/>
          </a:solidFill>
          <a:ln w="12700">
            <a:solidFill>
              <a:srgbClr val="00A3FF"/>
            </a:solidFill>
            <a:prstDash val="solid"/>
          </a:ln>
        </p:spPr>
        <p:txBody>
          <a:bodyPr/>
          <a:lstStyle/>
          <a:p>
            <a:endParaRPr lang="en-US"/>
          </a:p>
        </p:txBody>
      </p:sp>
      <p:sp>
        <p:nvSpPr>
          <p:cNvPr id="38" name="Text 36"/>
          <p:cNvSpPr/>
          <p:nvPr/>
        </p:nvSpPr>
        <p:spPr>
          <a:xfrm>
            <a:off x="365760" y="2816352"/>
            <a:ext cx="1005840" cy="32004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Parent 2</a:t>
            </a:r>
            <a:endParaRPr lang="en-US" sz="1000" dirty="0"/>
          </a:p>
        </p:txBody>
      </p:sp>
      <p:sp>
        <p:nvSpPr>
          <p:cNvPr id="39" name="Shape 37"/>
          <p:cNvSpPr/>
          <p:nvPr/>
        </p:nvSpPr>
        <p:spPr>
          <a:xfrm>
            <a:off x="1508760" y="2798064"/>
            <a:ext cx="374904" cy="347472"/>
          </a:xfrm>
          <a:prstGeom prst="rect">
            <a:avLst/>
          </a:prstGeom>
          <a:solidFill>
            <a:srgbClr val="132338"/>
          </a:solidFill>
          <a:ln w="19050">
            <a:solidFill>
              <a:srgbClr val="8FA8BF"/>
            </a:solidFill>
            <a:prstDash val="solid"/>
          </a:ln>
        </p:spPr>
        <p:txBody>
          <a:bodyPr/>
          <a:lstStyle/>
          <a:p>
            <a:endParaRPr lang="en-US"/>
          </a:p>
        </p:txBody>
      </p:sp>
      <p:sp>
        <p:nvSpPr>
          <p:cNvPr id="40" name="Text 38"/>
          <p:cNvSpPr/>
          <p:nvPr/>
        </p:nvSpPr>
        <p:spPr>
          <a:xfrm>
            <a:off x="1508760" y="2798064"/>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41" name="Shape 39"/>
          <p:cNvSpPr/>
          <p:nvPr/>
        </p:nvSpPr>
        <p:spPr>
          <a:xfrm>
            <a:off x="1911096" y="2798064"/>
            <a:ext cx="374904" cy="347472"/>
          </a:xfrm>
          <a:prstGeom prst="rect">
            <a:avLst/>
          </a:prstGeom>
          <a:solidFill>
            <a:srgbClr val="132338"/>
          </a:solidFill>
          <a:ln w="19050">
            <a:solidFill>
              <a:srgbClr val="8FA8BF"/>
            </a:solidFill>
            <a:prstDash val="solid"/>
          </a:ln>
        </p:spPr>
        <p:txBody>
          <a:bodyPr/>
          <a:lstStyle/>
          <a:p>
            <a:endParaRPr lang="en-US"/>
          </a:p>
        </p:txBody>
      </p:sp>
      <p:sp>
        <p:nvSpPr>
          <p:cNvPr id="42" name="Text 40"/>
          <p:cNvSpPr/>
          <p:nvPr/>
        </p:nvSpPr>
        <p:spPr>
          <a:xfrm>
            <a:off x="1911096" y="2798064"/>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43" name="Shape 41"/>
          <p:cNvSpPr/>
          <p:nvPr/>
        </p:nvSpPr>
        <p:spPr>
          <a:xfrm>
            <a:off x="2313432" y="2798064"/>
            <a:ext cx="374904" cy="347472"/>
          </a:xfrm>
          <a:prstGeom prst="rect">
            <a:avLst/>
          </a:prstGeom>
          <a:solidFill>
            <a:srgbClr val="00C896"/>
          </a:solidFill>
          <a:ln w="19050">
            <a:solidFill>
              <a:srgbClr val="00C896"/>
            </a:solidFill>
            <a:prstDash val="solid"/>
          </a:ln>
        </p:spPr>
        <p:txBody>
          <a:bodyPr/>
          <a:lstStyle/>
          <a:p>
            <a:endParaRPr lang="en-US"/>
          </a:p>
        </p:txBody>
      </p:sp>
      <p:sp>
        <p:nvSpPr>
          <p:cNvPr id="44" name="Text 42"/>
          <p:cNvSpPr/>
          <p:nvPr/>
        </p:nvSpPr>
        <p:spPr>
          <a:xfrm>
            <a:off x="2313432" y="2798064"/>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45" name="Shape 43"/>
          <p:cNvSpPr/>
          <p:nvPr/>
        </p:nvSpPr>
        <p:spPr>
          <a:xfrm>
            <a:off x="2715768" y="2798064"/>
            <a:ext cx="374904" cy="347472"/>
          </a:xfrm>
          <a:prstGeom prst="rect">
            <a:avLst/>
          </a:prstGeom>
          <a:solidFill>
            <a:srgbClr val="00C896"/>
          </a:solidFill>
          <a:ln w="19050">
            <a:solidFill>
              <a:srgbClr val="00C896"/>
            </a:solidFill>
            <a:prstDash val="solid"/>
          </a:ln>
        </p:spPr>
        <p:txBody>
          <a:bodyPr/>
          <a:lstStyle/>
          <a:p>
            <a:endParaRPr lang="en-US"/>
          </a:p>
        </p:txBody>
      </p:sp>
      <p:sp>
        <p:nvSpPr>
          <p:cNvPr id="46" name="Text 44"/>
          <p:cNvSpPr/>
          <p:nvPr/>
        </p:nvSpPr>
        <p:spPr>
          <a:xfrm>
            <a:off x="2715768" y="2798064"/>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47" name="Shape 45"/>
          <p:cNvSpPr/>
          <p:nvPr/>
        </p:nvSpPr>
        <p:spPr>
          <a:xfrm>
            <a:off x="3118104" y="2798064"/>
            <a:ext cx="374904" cy="347472"/>
          </a:xfrm>
          <a:prstGeom prst="rect">
            <a:avLst/>
          </a:prstGeom>
          <a:solidFill>
            <a:srgbClr val="00C896"/>
          </a:solidFill>
          <a:ln w="19050">
            <a:solidFill>
              <a:srgbClr val="00C896"/>
            </a:solidFill>
            <a:prstDash val="solid"/>
          </a:ln>
        </p:spPr>
        <p:txBody>
          <a:bodyPr/>
          <a:lstStyle/>
          <a:p>
            <a:endParaRPr lang="en-US"/>
          </a:p>
        </p:txBody>
      </p:sp>
      <p:sp>
        <p:nvSpPr>
          <p:cNvPr id="48" name="Text 46"/>
          <p:cNvSpPr/>
          <p:nvPr/>
        </p:nvSpPr>
        <p:spPr>
          <a:xfrm>
            <a:off x="3118104" y="2798064"/>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49" name="Shape 47"/>
          <p:cNvSpPr/>
          <p:nvPr/>
        </p:nvSpPr>
        <p:spPr>
          <a:xfrm>
            <a:off x="3520440" y="2798064"/>
            <a:ext cx="374904" cy="347472"/>
          </a:xfrm>
          <a:prstGeom prst="rect">
            <a:avLst/>
          </a:prstGeom>
          <a:solidFill>
            <a:srgbClr val="132338"/>
          </a:solidFill>
          <a:ln w="19050">
            <a:solidFill>
              <a:srgbClr val="8FA8BF"/>
            </a:solidFill>
            <a:prstDash val="solid"/>
          </a:ln>
        </p:spPr>
        <p:txBody>
          <a:bodyPr/>
          <a:lstStyle/>
          <a:p>
            <a:endParaRPr lang="en-US"/>
          </a:p>
        </p:txBody>
      </p:sp>
      <p:sp>
        <p:nvSpPr>
          <p:cNvPr id="50" name="Text 48"/>
          <p:cNvSpPr/>
          <p:nvPr/>
        </p:nvSpPr>
        <p:spPr>
          <a:xfrm>
            <a:off x="3520440" y="2798064"/>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51" name="Shape 49"/>
          <p:cNvSpPr/>
          <p:nvPr/>
        </p:nvSpPr>
        <p:spPr>
          <a:xfrm>
            <a:off x="3922776" y="2798064"/>
            <a:ext cx="374904" cy="347472"/>
          </a:xfrm>
          <a:prstGeom prst="rect">
            <a:avLst/>
          </a:prstGeom>
          <a:solidFill>
            <a:srgbClr val="132338"/>
          </a:solidFill>
          <a:ln w="19050">
            <a:solidFill>
              <a:srgbClr val="8FA8BF"/>
            </a:solidFill>
            <a:prstDash val="solid"/>
          </a:ln>
        </p:spPr>
        <p:txBody>
          <a:bodyPr/>
          <a:lstStyle/>
          <a:p>
            <a:endParaRPr lang="en-US"/>
          </a:p>
        </p:txBody>
      </p:sp>
      <p:sp>
        <p:nvSpPr>
          <p:cNvPr id="52" name="Text 50"/>
          <p:cNvSpPr/>
          <p:nvPr/>
        </p:nvSpPr>
        <p:spPr>
          <a:xfrm>
            <a:off x="3922776" y="2798064"/>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53" name="Shape 51"/>
          <p:cNvSpPr/>
          <p:nvPr/>
        </p:nvSpPr>
        <p:spPr>
          <a:xfrm>
            <a:off x="4325112" y="2798064"/>
            <a:ext cx="374904" cy="347472"/>
          </a:xfrm>
          <a:prstGeom prst="rect">
            <a:avLst/>
          </a:prstGeom>
          <a:solidFill>
            <a:srgbClr val="132338"/>
          </a:solidFill>
          <a:ln w="19050">
            <a:solidFill>
              <a:srgbClr val="8FA8BF"/>
            </a:solidFill>
            <a:prstDash val="solid"/>
          </a:ln>
        </p:spPr>
        <p:txBody>
          <a:bodyPr/>
          <a:lstStyle/>
          <a:p>
            <a:endParaRPr lang="en-US"/>
          </a:p>
        </p:txBody>
      </p:sp>
      <p:sp>
        <p:nvSpPr>
          <p:cNvPr id="54" name="Text 52"/>
          <p:cNvSpPr/>
          <p:nvPr/>
        </p:nvSpPr>
        <p:spPr>
          <a:xfrm>
            <a:off x="4325112" y="2798064"/>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55" name="Shape 53"/>
          <p:cNvSpPr/>
          <p:nvPr/>
        </p:nvSpPr>
        <p:spPr>
          <a:xfrm>
            <a:off x="2715768" y="2212848"/>
            <a:ext cx="0" cy="1005840"/>
          </a:xfrm>
          <a:prstGeom prst="line">
            <a:avLst/>
          </a:prstGeom>
          <a:noFill/>
          <a:ln w="31750">
            <a:solidFill>
              <a:srgbClr val="FFB830"/>
            </a:solidFill>
            <a:prstDash val="dash"/>
          </a:ln>
        </p:spPr>
        <p:txBody>
          <a:bodyPr/>
          <a:lstStyle/>
          <a:p>
            <a:endParaRPr lang="en-US"/>
          </a:p>
        </p:txBody>
      </p:sp>
      <p:sp>
        <p:nvSpPr>
          <p:cNvPr id="56" name="Shape 54"/>
          <p:cNvSpPr/>
          <p:nvPr/>
        </p:nvSpPr>
        <p:spPr>
          <a:xfrm>
            <a:off x="4325112" y="2212848"/>
            <a:ext cx="0" cy="1005840"/>
          </a:xfrm>
          <a:prstGeom prst="line">
            <a:avLst/>
          </a:prstGeom>
          <a:noFill/>
          <a:ln w="31750">
            <a:solidFill>
              <a:srgbClr val="FFB830"/>
            </a:solidFill>
            <a:prstDash val="dash"/>
          </a:ln>
        </p:spPr>
        <p:txBody>
          <a:bodyPr/>
          <a:lstStyle/>
          <a:p>
            <a:endParaRPr lang="en-US"/>
          </a:p>
        </p:txBody>
      </p:sp>
      <p:sp>
        <p:nvSpPr>
          <p:cNvPr id="57" name="Text 55"/>
          <p:cNvSpPr/>
          <p:nvPr/>
        </p:nvSpPr>
        <p:spPr>
          <a:xfrm>
            <a:off x="2286000" y="3246120"/>
            <a:ext cx="822960" cy="228600"/>
          </a:xfrm>
          <a:prstGeom prst="rect">
            <a:avLst/>
          </a:prstGeom>
          <a:noFill/>
          <a:ln/>
        </p:spPr>
        <p:txBody>
          <a:bodyPr wrap="square" rtlCol="0" anchor="ctr"/>
          <a:lstStyle/>
          <a:p>
            <a:pPr marL="0" indent="0" algn="ctr">
              <a:buNone/>
            </a:pPr>
            <a:r>
              <a:rPr lang="en-US" sz="900" dirty="0">
                <a:solidFill>
                  <a:srgbClr val="FFB830"/>
                </a:solidFill>
                <a:latin typeface="Calibri" pitchFamily="34" charset="0"/>
                <a:ea typeface="Calibri" pitchFamily="34" charset="-122"/>
                <a:cs typeface="Calibri" pitchFamily="34" charset="-120"/>
              </a:rPr>
              <a:t>↑ Pt 1</a:t>
            </a:r>
            <a:endParaRPr lang="en-US" sz="900" dirty="0"/>
          </a:p>
        </p:txBody>
      </p:sp>
      <p:sp>
        <p:nvSpPr>
          <p:cNvPr id="58" name="Text 56"/>
          <p:cNvSpPr/>
          <p:nvPr/>
        </p:nvSpPr>
        <p:spPr>
          <a:xfrm>
            <a:off x="3886200" y="3246120"/>
            <a:ext cx="822960" cy="228600"/>
          </a:xfrm>
          <a:prstGeom prst="rect">
            <a:avLst/>
          </a:prstGeom>
          <a:noFill/>
          <a:ln/>
        </p:spPr>
        <p:txBody>
          <a:bodyPr wrap="square" rtlCol="0" anchor="ctr"/>
          <a:lstStyle/>
          <a:p>
            <a:pPr marL="0" indent="0" algn="ctr">
              <a:buNone/>
            </a:pPr>
            <a:r>
              <a:rPr lang="en-US" sz="900" dirty="0">
                <a:solidFill>
                  <a:srgbClr val="FFB830"/>
                </a:solidFill>
                <a:latin typeface="Calibri" pitchFamily="34" charset="0"/>
                <a:ea typeface="Calibri" pitchFamily="34" charset="-122"/>
                <a:cs typeface="Calibri" pitchFamily="34" charset="-120"/>
              </a:rPr>
              <a:t>↑ Pt 2</a:t>
            </a:r>
            <a:endParaRPr lang="en-US" sz="900" dirty="0"/>
          </a:p>
        </p:txBody>
      </p:sp>
      <p:sp>
        <p:nvSpPr>
          <p:cNvPr id="59" name="Text 57"/>
          <p:cNvSpPr/>
          <p:nvPr/>
        </p:nvSpPr>
        <p:spPr>
          <a:xfrm>
            <a:off x="365760" y="3584448"/>
            <a:ext cx="4572000" cy="274320"/>
          </a:xfrm>
          <a:prstGeom prst="rect">
            <a:avLst/>
          </a:prstGeom>
          <a:noFill/>
          <a:ln/>
        </p:spPr>
        <p:txBody>
          <a:bodyPr wrap="square" rtlCol="0" anchor="ctr"/>
          <a:lstStyle/>
          <a:p>
            <a:pPr marL="0" indent="0">
              <a:buNone/>
            </a:pPr>
            <a:r>
              <a:rPr lang="en-US" sz="1100" i="1" dirty="0">
                <a:solidFill>
                  <a:srgbClr val="8FA8BF"/>
                </a:solidFill>
                <a:latin typeface="Calibri" pitchFamily="34" charset="0"/>
                <a:ea typeface="Calibri" pitchFamily="34" charset="-122"/>
                <a:cs typeface="Calibri" pitchFamily="34" charset="-120"/>
              </a:rPr>
              <a:t>↓  Children  (middle segment swapped):</a:t>
            </a:r>
            <a:endParaRPr lang="en-US" sz="1100" dirty="0"/>
          </a:p>
        </p:txBody>
      </p:sp>
      <p:sp>
        <p:nvSpPr>
          <p:cNvPr id="60" name="Shape 58"/>
          <p:cNvSpPr/>
          <p:nvPr/>
        </p:nvSpPr>
        <p:spPr>
          <a:xfrm>
            <a:off x="365760" y="3950208"/>
            <a:ext cx="1005840" cy="320040"/>
          </a:xfrm>
          <a:prstGeom prst="rect">
            <a:avLst/>
          </a:prstGeom>
          <a:solidFill>
            <a:srgbClr val="E05AFF"/>
          </a:solidFill>
          <a:ln w="12700">
            <a:solidFill>
              <a:srgbClr val="E05AFF"/>
            </a:solidFill>
            <a:prstDash val="solid"/>
          </a:ln>
        </p:spPr>
        <p:txBody>
          <a:bodyPr/>
          <a:lstStyle/>
          <a:p>
            <a:endParaRPr lang="en-US"/>
          </a:p>
        </p:txBody>
      </p:sp>
      <p:sp>
        <p:nvSpPr>
          <p:cNvPr id="61" name="Text 59"/>
          <p:cNvSpPr/>
          <p:nvPr/>
        </p:nvSpPr>
        <p:spPr>
          <a:xfrm>
            <a:off x="365760" y="3950208"/>
            <a:ext cx="1005840" cy="32004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Child 1</a:t>
            </a:r>
            <a:endParaRPr lang="en-US" sz="1000" dirty="0"/>
          </a:p>
        </p:txBody>
      </p:sp>
      <p:sp>
        <p:nvSpPr>
          <p:cNvPr id="62" name="Shape 60"/>
          <p:cNvSpPr/>
          <p:nvPr/>
        </p:nvSpPr>
        <p:spPr>
          <a:xfrm>
            <a:off x="1508760" y="3931920"/>
            <a:ext cx="374904" cy="347472"/>
          </a:xfrm>
          <a:prstGeom prst="rect">
            <a:avLst/>
          </a:prstGeom>
          <a:solidFill>
            <a:srgbClr val="132338"/>
          </a:solidFill>
          <a:ln w="19050">
            <a:solidFill>
              <a:srgbClr val="8FA8BF"/>
            </a:solidFill>
            <a:prstDash val="solid"/>
          </a:ln>
        </p:spPr>
        <p:txBody>
          <a:bodyPr/>
          <a:lstStyle/>
          <a:p>
            <a:endParaRPr lang="en-US"/>
          </a:p>
        </p:txBody>
      </p:sp>
      <p:sp>
        <p:nvSpPr>
          <p:cNvPr id="63" name="Text 61"/>
          <p:cNvSpPr/>
          <p:nvPr/>
        </p:nvSpPr>
        <p:spPr>
          <a:xfrm>
            <a:off x="1508760" y="39319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64" name="Shape 62"/>
          <p:cNvSpPr/>
          <p:nvPr/>
        </p:nvSpPr>
        <p:spPr>
          <a:xfrm>
            <a:off x="1911096" y="3931920"/>
            <a:ext cx="374904" cy="347472"/>
          </a:xfrm>
          <a:prstGeom prst="rect">
            <a:avLst/>
          </a:prstGeom>
          <a:solidFill>
            <a:srgbClr val="132338"/>
          </a:solidFill>
          <a:ln w="19050">
            <a:solidFill>
              <a:srgbClr val="8FA8BF"/>
            </a:solidFill>
            <a:prstDash val="solid"/>
          </a:ln>
        </p:spPr>
        <p:txBody>
          <a:bodyPr/>
          <a:lstStyle/>
          <a:p>
            <a:endParaRPr lang="en-US"/>
          </a:p>
        </p:txBody>
      </p:sp>
      <p:sp>
        <p:nvSpPr>
          <p:cNvPr id="65" name="Text 63"/>
          <p:cNvSpPr/>
          <p:nvPr/>
        </p:nvSpPr>
        <p:spPr>
          <a:xfrm>
            <a:off x="1911096" y="39319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66" name="Shape 64"/>
          <p:cNvSpPr/>
          <p:nvPr/>
        </p:nvSpPr>
        <p:spPr>
          <a:xfrm>
            <a:off x="2313432" y="3931920"/>
            <a:ext cx="374904" cy="347472"/>
          </a:xfrm>
          <a:prstGeom prst="rect">
            <a:avLst/>
          </a:prstGeom>
          <a:solidFill>
            <a:srgbClr val="00C896"/>
          </a:solidFill>
          <a:ln w="19050">
            <a:solidFill>
              <a:srgbClr val="00C896"/>
            </a:solidFill>
            <a:prstDash val="solid"/>
          </a:ln>
        </p:spPr>
        <p:txBody>
          <a:bodyPr/>
          <a:lstStyle/>
          <a:p>
            <a:endParaRPr lang="en-US"/>
          </a:p>
        </p:txBody>
      </p:sp>
      <p:sp>
        <p:nvSpPr>
          <p:cNvPr id="67" name="Text 65"/>
          <p:cNvSpPr/>
          <p:nvPr/>
        </p:nvSpPr>
        <p:spPr>
          <a:xfrm>
            <a:off x="2313432" y="393192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68" name="Shape 66"/>
          <p:cNvSpPr/>
          <p:nvPr/>
        </p:nvSpPr>
        <p:spPr>
          <a:xfrm>
            <a:off x="2715768" y="3931920"/>
            <a:ext cx="374904" cy="347472"/>
          </a:xfrm>
          <a:prstGeom prst="rect">
            <a:avLst/>
          </a:prstGeom>
          <a:solidFill>
            <a:srgbClr val="00C896"/>
          </a:solidFill>
          <a:ln w="19050">
            <a:solidFill>
              <a:srgbClr val="00C896"/>
            </a:solidFill>
            <a:prstDash val="solid"/>
          </a:ln>
        </p:spPr>
        <p:txBody>
          <a:bodyPr/>
          <a:lstStyle/>
          <a:p>
            <a:endParaRPr lang="en-US"/>
          </a:p>
        </p:txBody>
      </p:sp>
      <p:sp>
        <p:nvSpPr>
          <p:cNvPr id="69" name="Text 67"/>
          <p:cNvSpPr/>
          <p:nvPr/>
        </p:nvSpPr>
        <p:spPr>
          <a:xfrm>
            <a:off x="2715768" y="393192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70" name="Shape 68"/>
          <p:cNvSpPr/>
          <p:nvPr/>
        </p:nvSpPr>
        <p:spPr>
          <a:xfrm>
            <a:off x="3118104" y="3931920"/>
            <a:ext cx="374904" cy="347472"/>
          </a:xfrm>
          <a:prstGeom prst="rect">
            <a:avLst/>
          </a:prstGeom>
          <a:solidFill>
            <a:srgbClr val="00C896"/>
          </a:solidFill>
          <a:ln w="19050">
            <a:solidFill>
              <a:srgbClr val="00C896"/>
            </a:solidFill>
            <a:prstDash val="solid"/>
          </a:ln>
        </p:spPr>
        <p:txBody>
          <a:bodyPr/>
          <a:lstStyle/>
          <a:p>
            <a:endParaRPr lang="en-US"/>
          </a:p>
        </p:txBody>
      </p:sp>
      <p:sp>
        <p:nvSpPr>
          <p:cNvPr id="71" name="Text 69"/>
          <p:cNvSpPr/>
          <p:nvPr/>
        </p:nvSpPr>
        <p:spPr>
          <a:xfrm>
            <a:off x="3118104" y="393192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72" name="Shape 70"/>
          <p:cNvSpPr/>
          <p:nvPr/>
        </p:nvSpPr>
        <p:spPr>
          <a:xfrm>
            <a:off x="3520440" y="3931920"/>
            <a:ext cx="374904" cy="347472"/>
          </a:xfrm>
          <a:prstGeom prst="rect">
            <a:avLst/>
          </a:prstGeom>
          <a:solidFill>
            <a:srgbClr val="132338"/>
          </a:solidFill>
          <a:ln w="19050">
            <a:solidFill>
              <a:srgbClr val="8FA8BF"/>
            </a:solidFill>
            <a:prstDash val="solid"/>
          </a:ln>
        </p:spPr>
        <p:txBody>
          <a:bodyPr/>
          <a:lstStyle/>
          <a:p>
            <a:endParaRPr lang="en-US"/>
          </a:p>
        </p:txBody>
      </p:sp>
      <p:sp>
        <p:nvSpPr>
          <p:cNvPr id="73" name="Text 71"/>
          <p:cNvSpPr/>
          <p:nvPr/>
        </p:nvSpPr>
        <p:spPr>
          <a:xfrm>
            <a:off x="3520440" y="39319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74" name="Shape 72"/>
          <p:cNvSpPr/>
          <p:nvPr/>
        </p:nvSpPr>
        <p:spPr>
          <a:xfrm>
            <a:off x="3922776" y="3931920"/>
            <a:ext cx="374904" cy="347472"/>
          </a:xfrm>
          <a:prstGeom prst="rect">
            <a:avLst/>
          </a:prstGeom>
          <a:solidFill>
            <a:srgbClr val="132338"/>
          </a:solidFill>
          <a:ln w="19050">
            <a:solidFill>
              <a:srgbClr val="8FA8BF"/>
            </a:solidFill>
            <a:prstDash val="solid"/>
          </a:ln>
        </p:spPr>
        <p:txBody>
          <a:bodyPr/>
          <a:lstStyle/>
          <a:p>
            <a:endParaRPr lang="en-US"/>
          </a:p>
        </p:txBody>
      </p:sp>
      <p:sp>
        <p:nvSpPr>
          <p:cNvPr id="75" name="Text 73"/>
          <p:cNvSpPr/>
          <p:nvPr/>
        </p:nvSpPr>
        <p:spPr>
          <a:xfrm>
            <a:off x="3922776" y="39319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76" name="Shape 74"/>
          <p:cNvSpPr/>
          <p:nvPr/>
        </p:nvSpPr>
        <p:spPr>
          <a:xfrm>
            <a:off x="4325112" y="3931920"/>
            <a:ext cx="374904" cy="347472"/>
          </a:xfrm>
          <a:prstGeom prst="rect">
            <a:avLst/>
          </a:prstGeom>
          <a:solidFill>
            <a:srgbClr val="132338"/>
          </a:solidFill>
          <a:ln w="19050">
            <a:solidFill>
              <a:srgbClr val="8FA8BF"/>
            </a:solidFill>
            <a:prstDash val="solid"/>
          </a:ln>
        </p:spPr>
        <p:txBody>
          <a:bodyPr/>
          <a:lstStyle/>
          <a:p>
            <a:endParaRPr lang="en-US"/>
          </a:p>
        </p:txBody>
      </p:sp>
      <p:sp>
        <p:nvSpPr>
          <p:cNvPr id="77" name="Text 75"/>
          <p:cNvSpPr/>
          <p:nvPr/>
        </p:nvSpPr>
        <p:spPr>
          <a:xfrm>
            <a:off x="4325112" y="39319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78" name="Text 76"/>
          <p:cNvSpPr/>
          <p:nvPr/>
        </p:nvSpPr>
        <p:spPr>
          <a:xfrm>
            <a:off x="5303520" y="3977640"/>
            <a:ext cx="3474720" cy="274320"/>
          </a:xfrm>
          <a:prstGeom prst="rect">
            <a:avLst/>
          </a:prstGeom>
          <a:noFill/>
          <a:ln/>
        </p:spPr>
        <p:txBody>
          <a:bodyPr wrap="square" rtlCol="0" anchor="ctr"/>
          <a:lstStyle/>
          <a:p>
            <a:pPr marL="0" indent="0">
              <a:buNone/>
            </a:pPr>
            <a:r>
              <a:rPr lang="en-US" sz="1100" i="1" dirty="0">
                <a:solidFill>
                  <a:srgbClr val="8FA8BF"/>
                </a:solidFill>
                <a:latin typeface="Calibri" pitchFamily="34" charset="0"/>
                <a:ea typeface="Calibri" pitchFamily="34" charset="-122"/>
                <a:cs typeface="Calibri" pitchFamily="34" charset="-120"/>
              </a:rPr>
              <a:t>P1[1-2] + P2[3-5] + P1[6-8]</a:t>
            </a:r>
            <a:endParaRPr lang="en-US" sz="1100" dirty="0"/>
          </a:p>
        </p:txBody>
      </p:sp>
      <p:sp>
        <p:nvSpPr>
          <p:cNvPr id="79" name="Shape 77"/>
          <p:cNvSpPr/>
          <p:nvPr/>
        </p:nvSpPr>
        <p:spPr>
          <a:xfrm>
            <a:off x="365760" y="4407408"/>
            <a:ext cx="1005840" cy="320040"/>
          </a:xfrm>
          <a:prstGeom prst="rect">
            <a:avLst/>
          </a:prstGeom>
          <a:solidFill>
            <a:srgbClr val="FF6B6B"/>
          </a:solidFill>
          <a:ln w="12700">
            <a:solidFill>
              <a:srgbClr val="FF6B6B"/>
            </a:solidFill>
            <a:prstDash val="solid"/>
          </a:ln>
        </p:spPr>
        <p:txBody>
          <a:bodyPr/>
          <a:lstStyle/>
          <a:p>
            <a:endParaRPr lang="en-US"/>
          </a:p>
        </p:txBody>
      </p:sp>
      <p:sp>
        <p:nvSpPr>
          <p:cNvPr id="80" name="Text 78"/>
          <p:cNvSpPr/>
          <p:nvPr/>
        </p:nvSpPr>
        <p:spPr>
          <a:xfrm>
            <a:off x="365760" y="4407408"/>
            <a:ext cx="1005840" cy="32004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Child 2</a:t>
            </a:r>
            <a:endParaRPr lang="en-US" sz="1000" dirty="0"/>
          </a:p>
        </p:txBody>
      </p:sp>
      <p:sp>
        <p:nvSpPr>
          <p:cNvPr id="81" name="Shape 79"/>
          <p:cNvSpPr/>
          <p:nvPr/>
        </p:nvSpPr>
        <p:spPr>
          <a:xfrm>
            <a:off x="1508760" y="4389120"/>
            <a:ext cx="374904" cy="347472"/>
          </a:xfrm>
          <a:prstGeom prst="rect">
            <a:avLst/>
          </a:prstGeom>
          <a:solidFill>
            <a:srgbClr val="132338"/>
          </a:solidFill>
          <a:ln w="19050">
            <a:solidFill>
              <a:srgbClr val="8FA8BF"/>
            </a:solidFill>
            <a:prstDash val="solid"/>
          </a:ln>
        </p:spPr>
        <p:txBody>
          <a:bodyPr/>
          <a:lstStyle/>
          <a:p>
            <a:endParaRPr lang="en-US"/>
          </a:p>
        </p:txBody>
      </p:sp>
      <p:sp>
        <p:nvSpPr>
          <p:cNvPr id="82" name="Text 80"/>
          <p:cNvSpPr/>
          <p:nvPr/>
        </p:nvSpPr>
        <p:spPr>
          <a:xfrm>
            <a:off x="1508760" y="43891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83" name="Shape 81"/>
          <p:cNvSpPr/>
          <p:nvPr/>
        </p:nvSpPr>
        <p:spPr>
          <a:xfrm>
            <a:off x="1911096" y="4389120"/>
            <a:ext cx="374904" cy="347472"/>
          </a:xfrm>
          <a:prstGeom prst="rect">
            <a:avLst/>
          </a:prstGeom>
          <a:solidFill>
            <a:srgbClr val="132338"/>
          </a:solidFill>
          <a:ln w="19050">
            <a:solidFill>
              <a:srgbClr val="8FA8BF"/>
            </a:solidFill>
            <a:prstDash val="solid"/>
          </a:ln>
        </p:spPr>
        <p:txBody>
          <a:bodyPr/>
          <a:lstStyle/>
          <a:p>
            <a:endParaRPr lang="en-US"/>
          </a:p>
        </p:txBody>
      </p:sp>
      <p:sp>
        <p:nvSpPr>
          <p:cNvPr id="84" name="Text 82"/>
          <p:cNvSpPr/>
          <p:nvPr/>
        </p:nvSpPr>
        <p:spPr>
          <a:xfrm>
            <a:off x="1911096" y="43891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85" name="Shape 83"/>
          <p:cNvSpPr/>
          <p:nvPr/>
        </p:nvSpPr>
        <p:spPr>
          <a:xfrm>
            <a:off x="2313432" y="4389120"/>
            <a:ext cx="374904" cy="347472"/>
          </a:xfrm>
          <a:prstGeom prst="rect">
            <a:avLst/>
          </a:prstGeom>
          <a:solidFill>
            <a:srgbClr val="00C896"/>
          </a:solidFill>
          <a:ln w="19050">
            <a:solidFill>
              <a:srgbClr val="00C896"/>
            </a:solidFill>
            <a:prstDash val="solid"/>
          </a:ln>
        </p:spPr>
        <p:txBody>
          <a:bodyPr/>
          <a:lstStyle/>
          <a:p>
            <a:endParaRPr lang="en-US"/>
          </a:p>
        </p:txBody>
      </p:sp>
      <p:sp>
        <p:nvSpPr>
          <p:cNvPr id="86" name="Text 84"/>
          <p:cNvSpPr/>
          <p:nvPr/>
        </p:nvSpPr>
        <p:spPr>
          <a:xfrm>
            <a:off x="2313432" y="438912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87" name="Shape 85"/>
          <p:cNvSpPr/>
          <p:nvPr/>
        </p:nvSpPr>
        <p:spPr>
          <a:xfrm>
            <a:off x="2715768" y="4389120"/>
            <a:ext cx="374904" cy="347472"/>
          </a:xfrm>
          <a:prstGeom prst="rect">
            <a:avLst/>
          </a:prstGeom>
          <a:solidFill>
            <a:srgbClr val="00C896"/>
          </a:solidFill>
          <a:ln w="19050">
            <a:solidFill>
              <a:srgbClr val="00C896"/>
            </a:solidFill>
            <a:prstDash val="solid"/>
          </a:ln>
        </p:spPr>
        <p:txBody>
          <a:bodyPr/>
          <a:lstStyle/>
          <a:p>
            <a:endParaRPr lang="en-US"/>
          </a:p>
        </p:txBody>
      </p:sp>
      <p:sp>
        <p:nvSpPr>
          <p:cNvPr id="88" name="Text 86"/>
          <p:cNvSpPr/>
          <p:nvPr/>
        </p:nvSpPr>
        <p:spPr>
          <a:xfrm>
            <a:off x="2715768" y="438912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89" name="Shape 87"/>
          <p:cNvSpPr/>
          <p:nvPr/>
        </p:nvSpPr>
        <p:spPr>
          <a:xfrm>
            <a:off x="3118104" y="4389120"/>
            <a:ext cx="374904" cy="347472"/>
          </a:xfrm>
          <a:prstGeom prst="rect">
            <a:avLst/>
          </a:prstGeom>
          <a:solidFill>
            <a:srgbClr val="00C896"/>
          </a:solidFill>
          <a:ln w="19050">
            <a:solidFill>
              <a:srgbClr val="00C896"/>
            </a:solidFill>
            <a:prstDash val="solid"/>
          </a:ln>
        </p:spPr>
        <p:txBody>
          <a:bodyPr/>
          <a:lstStyle/>
          <a:p>
            <a:endParaRPr lang="en-US"/>
          </a:p>
        </p:txBody>
      </p:sp>
      <p:sp>
        <p:nvSpPr>
          <p:cNvPr id="90" name="Text 88"/>
          <p:cNvSpPr/>
          <p:nvPr/>
        </p:nvSpPr>
        <p:spPr>
          <a:xfrm>
            <a:off x="3118104" y="438912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91" name="Shape 89"/>
          <p:cNvSpPr/>
          <p:nvPr/>
        </p:nvSpPr>
        <p:spPr>
          <a:xfrm>
            <a:off x="3520440" y="4389120"/>
            <a:ext cx="374904" cy="347472"/>
          </a:xfrm>
          <a:prstGeom prst="rect">
            <a:avLst/>
          </a:prstGeom>
          <a:solidFill>
            <a:srgbClr val="132338"/>
          </a:solidFill>
          <a:ln w="19050">
            <a:solidFill>
              <a:srgbClr val="8FA8BF"/>
            </a:solidFill>
            <a:prstDash val="solid"/>
          </a:ln>
        </p:spPr>
        <p:txBody>
          <a:bodyPr/>
          <a:lstStyle/>
          <a:p>
            <a:endParaRPr lang="en-US"/>
          </a:p>
        </p:txBody>
      </p:sp>
      <p:sp>
        <p:nvSpPr>
          <p:cNvPr id="92" name="Text 90"/>
          <p:cNvSpPr/>
          <p:nvPr/>
        </p:nvSpPr>
        <p:spPr>
          <a:xfrm>
            <a:off x="3520440" y="43891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93" name="Shape 91"/>
          <p:cNvSpPr/>
          <p:nvPr/>
        </p:nvSpPr>
        <p:spPr>
          <a:xfrm>
            <a:off x="3922776" y="4389120"/>
            <a:ext cx="374904" cy="347472"/>
          </a:xfrm>
          <a:prstGeom prst="rect">
            <a:avLst/>
          </a:prstGeom>
          <a:solidFill>
            <a:srgbClr val="132338"/>
          </a:solidFill>
          <a:ln w="19050">
            <a:solidFill>
              <a:srgbClr val="8FA8BF"/>
            </a:solidFill>
            <a:prstDash val="solid"/>
          </a:ln>
        </p:spPr>
        <p:txBody>
          <a:bodyPr/>
          <a:lstStyle/>
          <a:p>
            <a:endParaRPr lang="en-US"/>
          </a:p>
        </p:txBody>
      </p:sp>
      <p:sp>
        <p:nvSpPr>
          <p:cNvPr id="94" name="Text 92"/>
          <p:cNvSpPr/>
          <p:nvPr/>
        </p:nvSpPr>
        <p:spPr>
          <a:xfrm>
            <a:off x="3922776" y="43891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95" name="Shape 93"/>
          <p:cNvSpPr/>
          <p:nvPr/>
        </p:nvSpPr>
        <p:spPr>
          <a:xfrm>
            <a:off x="4325112" y="4389120"/>
            <a:ext cx="374904" cy="347472"/>
          </a:xfrm>
          <a:prstGeom prst="rect">
            <a:avLst/>
          </a:prstGeom>
          <a:solidFill>
            <a:srgbClr val="132338"/>
          </a:solidFill>
          <a:ln w="19050">
            <a:solidFill>
              <a:srgbClr val="8FA8BF"/>
            </a:solidFill>
            <a:prstDash val="solid"/>
          </a:ln>
        </p:spPr>
        <p:txBody>
          <a:bodyPr/>
          <a:lstStyle/>
          <a:p>
            <a:endParaRPr lang="en-US"/>
          </a:p>
        </p:txBody>
      </p:sp>
      <p:sp>
        <p:nvSpPr>
          <p:cNvPr id="96" name="Text 94"/>
          <p:cNvSpPr/>
          <p:nvPr/>
        </p:nvSpPr>
        <p:spPr>
          <a:xfrm>
            <a:off x="4325112" y="438912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97" name="Text 95"/>
          <p:cNvSpPr/>
          <p:nvPr/>
        </p:nvSpPr>
        <p:spPr>
          <a:xfrm>
            <a:off x="5303520" y="4434840"/>
            <a:ext cx="3474720" cy="274320"/>
          </a:xfrm>
          <a:prstGeom prst="rect">
            <a:avLst/>
          </a:prstGeom>
          <a:noFill/>
          <a:ln/>
        </p:spPr>
        <p:txBody>
          <a:bodyPr wrap="square" rtlCol="0" anchor="ctr"/>
          <a:lstStyle/>
          <a:p>
            <a:pPr marL="0" indent="0">
              <a:buNone/>
            </a:pPr>
            <a:r>
              <a:rPr lang="en-US" sz="1100" i="1" dirty="0">
                <a:solidFill>
                  <a:srgbClr val="8FA8BF"/>
                </a:solidFill>
                <a:latin typeface="Calibri" pitchFamily="34" charset="0"/>
                <a:ea typeface="Calibri" pitchFamily="34" charset="-122"/>
                <a:cs typeface="Calibri" pitchFamily="34" charset="-120"/>
              </a:rPr>
              <a:t>P2[1-2] + P1[3-5] + P2[6-8]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256032"/>
            <a:ext cx="64008" cy="502920"/>
          </a:xfrm>
          <a:prstGeom prst="rect">
            <a:avLst/>
          </a:prstGeom>
          <a:solidFill>
            <a:srgbClr val="00C896"/>
          </a:solidFill>
          <a:ln w="12700">
            <a:solidFill>
              <a:srgbClr val="00C896"/>
            </a:solidFill>
            <a:prstDash val="solid"/>
          </a:ln>
        </p:spPr>
        <p:txBody>
          <a:bodyPr/>
          <a:lstStyle/>
          <a:p>
            <a:endParaRPr lang="en-US"/>
          </a:p>
        </p:txBody>
      </p:sp>
      <p:sp>
        <p:nvSpPr>
          <p:cNvPr id="3" name="Text 1"/>
          <p:cNvSpPr/>
          <p:nvPr/>
        </p:nvSpPr>
        <p:spPr>
          <a:xfrm>
            <a:off x="512064" y="256032"/>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Uniform Crossover</a:t>
            </a:r>
            <a:endParaRPr lang="en-US" sz="2800" dirty="0"/>
          </a:p>
        </p:txBody>
      </p:sp>
      <p:sp>
        <p:nvSpPr>
          <p:cNvPr id="5" name="Shape 3"/>
          <p:cNvSpPr/>
          <p:nvPr/>
        </p:nvSpPr>
        <p:spPr>
          <a:xfrm>
            <a:off x="365760" y="868680"/>
            <a:ext cx="8412480" cy="0"/>
          </a:xfrm>
          <a:prstGeom prst="line">
            <a:avLst/>
          </a:prstGeom>
          <a:noFill/>
          <a:ln w="12700">
            <a:solidFill>
              <a:srgbClr val="00C896">
                <a:alpha val="50000"/>
              </a:srgbClr>
            </a:solidFill>
            <a:prstDash val="solid"/>
          </a:ln>
        </p:spPr>
        <p:txBody>
          <a:bodyPr/>
          <a:lstStyle/>
          <a:p>
            <a:endParaRPr lang="en-US"/>
          </a:p>
        </p:txBody>
      </p:sp>
      <p:sp>
        <p:nvSpPr>
          <p:cNvPr id="6" name="Shape 4"/>
          <p:cNvSpPr/>
          <p:nvPr/>
        </p:nvSpPr>
        <p:spPr>
          <a:xfrm>
            <a:off x="365760" y="1005840"/>
            <a:ext cx="8412480" cy="640080"/>
          </a:xfrm>
          <a:prstGeom prst="rect">
            <a:avLst/>
          </a:prstGeom>
          <a:solidFill>
            <a:srgbClr val="1A2E44"/>
          </a:solidFill>
          <a:ln w="19050">
            <a:solidFill>
              <a:srgbClr val="00A3FF"/>
            </a:solidFill>
            <a:prstDash val="solid"/>
          </a:ln>
          <a:effectLst>
            <a:outerShdw blurRad="101600" dist="38100" dir="8100000" algn="bl" rotWithShape="0">
              <a:srgbClr val="000000">
                <a:alpha val="25000"/>
              </a:srgbClr>
            </a:outerShdw>
          </a:effectLst>
        </p:spPr>
        <p:txBody>
          <a:bodyPr/>
          <a:lstStyle/>
          <a:p>
            <a:endParaRPr lang="en-US"/>
          </a:p>
        </p:txBody>
      </p:sp>
      <p:sp>
        <p:nvSpPr>
          <p:cNvPr id="7" name="Text 5"/>
          <p:cNvSpPr/>
          <p:nvPr/>
        </p:nvSpPr>
        <p:spPr>
          <a:xfrm>
            <a:off x="502920" y="1033272"/>
            <a:ext cx="8229600" cy="594360"/>
          </a:xfrm>
          <a:prstGeom prst="rect">
            <a:avLst/>
          </a:prstGeom>
          <a:noFill/>
          <a:ln/>
        </p:spPr>
        <p:txBody>
          <a:bodyPr wrap="square" rtlCol="0" anchor="ctr"/>
          <a:lstStyle/>
          <a:p>
            <a:pPr marL="0" indent="0">
              <a:buNone/>
            </a:pPr>
            <a:r>
              <a:rPr lang="en-US" sz="1250" b="1" dirty="0">
                <a:solidFill>
                  <a:srgbClr val="00A3FF"/>
                </a:solidFill>
                <a:latin typeface="Calibri" pitchFamily="34" charset="0"/>
                <a:ea typeface="Calibri" pitchFamily="34" charset="-122"/>
                <a:cs typeface="Calibri" pitchFamily="34" charset="-120"/>
              </a:rPr>
              <a:t>Definition: </a:t>
            </a:r>
            <a:r>
              <a:rPr lang="en-US" sz="1250" dirty="0">
                <a:solidFill>
                  <a:srgbClr val="E8F0F5"/>
                </a:solidFill>
                <a:latin typeface="Calibri" pitchFamily="34" charset="0"/>
                <a:ea typeface="Calibri" pitchFamily="34" charset="-122"/>
                <a:cs typeface="Calibri" pitchFamily="34" charset="-120"/>
              </a:rPr>
              <a:t>No crossover points — instead, each gene is independently inherited from either parent with equal probability (typically 50%). A random mask determines which parent contributes each gene.</a:t>
            </a:r>
            <a:endParaRPr lang="en-US" sz="1250" dirty="0"/>
          </a:p>
        </p:txBody>
      </p:sp>
      <p:sp>
        <p:nvSpPr>
          <p:cNvPr id="8" name="Text 6"/>
          <p:cNvSpPr/>
          <p:nvPr/>
        </p:nvSpPr>
        <p:spPr>
          <a:xfrm>
            <a:off x="365760" y="1828800"/>
            <a:ext cx="7315200" cy="274320"/>
          </a:xfrm>
          <a:prstGeom prst="rect">
            <a:avLst/>
          </a:prstGeom>
          <a:noFill/>
          <a:ln/>
        </p:spPr>
        <p:txBody>
          <a:bodyPr wrap="square" rtlCol="0" anchor="ctr"/>
          <a:lstStyle/>
          <a:p>
            <a:pPr marL="0" indent="0">
              <a:buNone/>
            </a:pPr>
            <a:r>
              <a:rPr lang="en-US" sz="1100" b="1" dirty="0">
                <a:solidFill>
                  <a:srgbClr val="8FA8BF"/>
                </a:solidFill>
                <a:latin typeface="Calibri" pitchFamily="34" charset="0"/>
                <a:ea typeface="Calibri" pitchFamily="34" charset="-122"/>
                <a:cs typeface="Calibri" pitchFamily="34" charset="-120"/>
              </a:rPr>
              <a:t>EXAMPLE  — Random Mask: [P1, P2, P1, P2, P1, P1, P2, P2]:</a:t>
            </a:r>
            <a:endParaRPr lang="en-US" sz="1100" dirty="0"/>
          </a:p>
        </p:txBody>
      </p:sp>
      <p:sp>
        <p:nvSpPr>
          <p:cNvPr id="9" name="Shape 7"/>
          <p:cNvSpPr/>
          <p:nvPr/>
        </p:nvSpPr>
        <p:spPr>
          <a:xfrm>
            <a:off x="365760" y="2212848"/>
            <a:ext cx="1005840" cy="320040"/>
          </a:xfrm>
          <a:prstGeom prst="rect">
            <a:avLst/>
          </a:prstGeom>
          <a:solidFill>
            <a:srgbClr val="00C896"/>
          </a:solidFill>
          <a:ln w="12700">
            <a:solidFill>
              <a:srgbClr val="00C896"/>
            </a:solidFill>
            <a:prstDash val="solid"/>
          </a:ln>
        </p:spPr>
        <p:txBody>
          <a:bodyPr/>
          <a:lstStyle/>
          <a:p>
            <a:endParaRPr lang="en-US"/>
          </a:p>
        </p:txBody>
      </p:sp>
      <p:sp>
        <p:nvSpPr>
          <p:cNvPr id="10" name="Text 8"/>
          <p:cNvSpPr/>
          <p:nvPr/>
        </p:nvSpPr>
        <p:spPr>
          <a:xfrm>
            <a:off x="365760" y="2212848"/>
            <a:ext cx="1005840" cy="32004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Parent 1</a:t>
            </a:r>
            <a:endParaRPr lang="en-US" sz="1000" dirty="0"/>
          </a:p>
        </p:txBody>
      </p:sp>
      <p:sp>
        <p:nvSpPr>
          <p:cNvPr id="11" name="Shape 9"/>
          <p:cNvSpPr/>
          <p:nvPr/>
        </p:nvSpPr>
        <p:spPr>
          <a:xfrm>
            <a:off x="1508760" y="2194560"/>
            <a:ext cx="374904" cy="347472"/>
          </a:xfrm>
          <a:prstGeom prst="rect">
            <a:avLst/>
          </a:prstGeom>
          <a:solidFill>
            <a:srgbClr val="00C896"/>
          </a:solidFill>
          <a:ln w="19050">
            <a:solidFill>
              <a:srgbClr val="00C896"/>
            </a:solidFill>
            <a:prstDash val="solid"/>
          </a:ln>
        </p:spPr>
        <p:txBody>
          <a:bodyPr/>
          <a:lstStyle/>
          <a:p>
            <a:endParaRPr lang="en-US"/>
          </a:p>
        </p:txBody>
      </p:sp>
      <p:sp>
        <p:nvSpPr>
          <p:cNvPr id="12" name="Text 10"/>
          <p:cNvSpPr/>
          <p:nvPr/>
        </p:nvSpPr>
        <p:spPr>
          <a:xfrm>
            <a:off x="1508760" y="219456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13" name="Shape 11"/>
          <p:cNvSpPr/>
          <p:nvPr/>
        </p:nvSpPr>
        <p:spPr>
          <a:xfrm>
            <a:off x="1911096" y="2194560"/>
            <a:ext cx="374904" cy="347472"/>
          </a:xfrm>
          <a:prstGeom prst="rect">
            <a:avLst/>
          </a:prstGeom>
          <a:solidFill>
            <a:srgbClr val="132338"/>
          </a:solidFill>
          <a:ln w="19050">
            <a:solidFill>
              <a:srgbClr val="8FA8BF"/>
            </a:solidFill>
            <a:prstDash val="solid"/>
          </a:ln>
        </p:spPr>
        <p:txBody>
          <a:bodyPr/>
          <a:lstStyle/>
          <a:p>
            <a:endParaRPr lang="en-US"/>
          </a:p>
        </p:txBody>
      </p:sp>
      <p:sp>
        <p:nvSpPr>
          <p:cNvPr id="14" name="Text 12"/>
          <p:cNvSpPr/>
          <p:nvPr/>
        </p:nvSpPr>
        <p:spPr>
          <a:xfrm>
            <a:off x="1911096" y="219456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15" name="Shape 13"/>
          <p:cNvSpPr/>
          <p:nvPr/>
        </p:nvSpPr>
        <p:spPr>
          <a:xfrm>
            <a:off x="2313432" y="2194560"/>
            <a:ext cx="374904" cy="347472"/>
          </a:xfrm>
          <a:prstGeom prst="rect">
            <a:avLst/>
          </a:prstGeom>
          <a:solidFill>
            <a:srgbClr val="00C896"/>
          </a:solidFill>
          <a:ln w="19050">
            <a:solidFill>
              <a:srgbClr val="00C896"/>
            </a:solidFill>
            <a:prstDash val="solid"/>
          </a:ln>
        </p:spPr>
        <p:txBody>
          <a:bodyPr/>
          <a:lstStyle/>
          <a:p>
            <a:endParaRPr lang="en-US"/>
          </a:p>
        </p:txBody>
      </p:sp>
      <p:sp>
        <p:nvSpPr>
          <p:cNvPr id="16" name="Text 14"/>
          <p:cNvSpPr/>
          <p:nvPr/>
        </p:nvSpPr>
        <p:spPr>
          <a:xfrm>
            <a:off x="2313432" y="219456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17" name="Shape 15"/>
          <p:cNvSpPr/>
          <p:nvPr/>
        </p:nvSpPr>
        <p:spPr>
          <a:xfrm>
            <a:off x="2715768" y="2194560"/>
            <a:ext cx="374904" cy="347472"/>
          </a:xfrm>
          <a:prstGeom prst="rect">
            <a:avLst/>
          </a:prstGeom>
          <a:solidFill>
            <a:srgbClr val="132338"/>
          </a:solidFill>
          <a:ln w="19050">
            <a:solidFill>
              <a:srgbClr val="8FA8BF"/>
            </a:solidFill>
            <a:prstDash val="solid"/>
          </a:ln>
        </p:spPr>
        <p:txBody>
          <a:bodyPr/>
          <a:lstStyle/>
          <a:p>
            <a:endParaRPr lang="en-US"/>
          </a:p>
        </p:txBody>
      </p:sp>
      <p:sp>
        <p:nvSpPr>
          <p:cNvPr id="18" name="Text 16"/>
          <p:cNvSpPr/>
          <p:nvPr/>
        </p:nvSpPr>
        <p:spPr>
          <a:xfrm>
            <a:off x="2715768" y="219456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19" name="Shape 17"/>
          <p:cNvSpPr/>
          <p:nvPr/>
        </p:nvSpPr>
        <p:spPr>
          <a:xfrm>
            <a:off x="3118104" y="2194560"/>
            <a:ext cx="374904" cy="347472"/>
          </a:xfrm>
          <a:prstGeom prst="rect">
            <a:avLst/>
          </a:prstGeom>
          <a:solidFill>
            <a:srgbClr val="00C896"/>
          </a:solidFill>
          <a:ln w="19050">
            <a:solidFill>
              <a:srgbClr val="00C896"/>
            </a:solidFill>
            <a:prstDash val="solid"/>
          </a:ln>
        </p:spPr>
        <p:txBody>
          <a:bodyPr/>
          <a:lstStyle/>
          <a:p>
            <a:endParaRPr lang="en-US"/>
          </a:p>
        </p:txBody>
      </p:sp>
      <p:sp>
        <p:nvSpPr>
          <p:cNvPr id="20" name="Text 18"/>
          <p:cNvSpPr/>
          <p:nvPr/>
        </p:nvSpPr>
        <p:spPr>
          <a:xfrm>
            <a:off x="3118104" y="219456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21" name="Shape 19"/>
          <p:cNvSpPr/>
          <p:nvPr/>
        </p:nvSpPr>
        <p:spPr>
          <a:xfrm>
            <a:off x="3520440" y="2194560"/>
            <a:ext cx="374904" cy="347472"/>
          </a:xfrm>
          <a:prstGeom prst="rect">
            <a:avLst/>
          </a:prstGeom>
          <a:solidFill>
            <a:srgbClr val="00C896"/>
          </a:solidFill>
          <a:ln w="19050">
            <a:solidFill>
              <a:srgbClr val="00C896"/>
            </a:solidFill>
            <a:prstDash val="solid"/>
          </a:ln>
        </p:spPr>
        <p:txBody>
          <a:bodyPr/>
          <a:lstStyle/>
          <a:p>
            <a:endParaRPr lang="en-US"/>
          </a:p>
        </p:txBody>
      </p:sp>
      <p:sp>
        <p:nvSpPr>
          <p:cNvPr id="22" name="Text 20"/>
          <p:cNvSpPr/>
          <p:nvPr/>
        </p:nvSpPr>
        <p:spPr>
          <a:xfrm>
            <a:off x="3520440" y="2194560"/>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23" name="Shape 21"/>
          <p:cNvSpPr/>
          <p:nvPr/>
        </p:nvSpPr>
        <p:spPr>
          <a:xfrm>
            <a:off x="3922776" y="2194560"/>
            <a:ext cx="374904" cy="347472"/>
          </a:xfrm>
          <a:prstGeom prst="rect">
            <a:avLst/>
          </a:prstGeom>
          <a:solidFill>
            <a:srgbClr val="132338"/>
          </a:solidFill>
          <a:ln w="19050">
            <a:solidFill>
              <a:srgbClr val="8FA8BF"/>
            </a:solidFill>
            <a:prstDash val="solid"/>
          </a:ln>
        </p:spPr>
        <p:txBody>
          <a:bodyPr/>
          <a:lstStyle/>
          <a:p>
            <a:endParaRPr lang="en-US"/>
          </a:p>
        </p:txBody>
      </p:sp>
      <p:sp>
        <p:nvSpPr>
          <p:cNvPr id="24" name="Text 22"/>
          <p:cNvSpPr/>
          <p:nvPr/>
        </p:nvSpPr>
        <p:spPr>
          <a:xfrm>
            <a:off x="3922776" y="219456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25" name="Shape 23"/>
          <p:cNvSpPr/>
          <p:nvPr/>
        </p:nvSpPr>
        <p:spPr>
          <a:xfrm>
            <a:off x="4325112" y="2194560"/>
            <a:ext cx="374904" cy="347472"/>
          </a:xfrm>
          <a:prstGeom prst="rect">
            <a:avLst/>
          </a:prstGeom>
          <a:solidFill>
            <a:srgbClr val="132338"/>
          </a:solidFill>
          <a:ln w="19050">
            <a:solidFill>
              <a:srgbClr val="8FA8BF"/>
            </a:solidFill>
            <a:prstDash val="solid"/>
          </a:ln>
        </p:spPr>
        <p:txBody>
          <a:bodyPr/>
          <a:lstStyle/>
          <a:p>
            <a:endParaRPr lang="en-US"/>
          </a:p>
        </p:txBody>
      </p:sp>
      <p:sp>
        <p:nvSpPr>
          <p:cNvPr id="26" name="Text 24"/>
          <p:cNvSpPr/>
          <p:nvPr/>
        </p:nvSpPr>
        <p:spPr>
          <a:xfrm>
            <a:off x="4325112" y="219456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27" name="Shape 25"/>
          <p:cNvSpPr/>
          <p:nvPr/>
        </p:nvSpPr>
        <p:spPr>
          <a:xfrm>
            <a:off x="365760" y="2679192"/>
            <a:ext cx="1005840" cy="320040"/>
          </a:xfrm>
          <a:prstGeom prst="rect">
            <a:avLst/>
          </a:prstGeom>
          <a:solidFill>
            <a:srgbClr val="00A3FF"/>
          </a:solidFill>
          <a:ln w="12700">
            <a:solidFill>
              <a:srgbClr val="00A3FF"/>
            </a:solidFill>
            <a:prstDash val="solid"/>
          </a:ln>
        </p:spPr>
        <p:txBody>
          <a:bodyPr/>
          <a:lstStyle/>
          <a:p>
            <a:endParaRPr lang="en-US"/>
          </a:p>
        </p:txBody>
      </p:sp>
      <p:sp>
        <p:nvSpPr>
          <p:cNvPr id="28" name="Text 26"/>
          <p:cNvSpPr/>
          <p:nvPr/>
        </p:nvSpPr>
        <p:spPr>
          <a:xfrm>
            <a:off x="365760" y="2679192"/>
            <a:ext cx="1005840" cy="32004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Parent 2</a:t>
            </a:r>
            <a:endParaRPr lang="en-US" sz="1000" dirty="0"/>
          </a:p>
        </p:txBody>
      </p:sp>
      <p:sp>
        <p:nvSpPr>
          <p:cNvPr id="29" name="Shape 27"/>
          <p:cNvSpPr/>
          <p:nvPr/>
        </p:nvSpPr>
        <p:spPr>
          <a:xfrm>
            <a:off x="1508760" y="2660904"/>
            <a:ext cx="374904" cy="347472"/>
          </a:xfrm>
          <a:prstGeom prst="rect">
            <a:avLst/>
          </a:prstGeom>
          <a:solidFill>
            <a:srgbClr val="132338"/>
          </a:solidFill>
          <a:ln w="19050">
            <a:solidFill>
              <a:srgbClr val="8FA8BF"/>
            </a:solidFill>
            <a:prstDash val="solid"/>
          </a:ln>
        </p:spPr>
        <p:txBody>
          <a:bodyPr/>
          <a:lstStyle/>
          <a:p>
            <a:endParaRPr lang="en-US"/>
          </a:p>
        </p:txBody>
      </p:sp>
      <p:sp>
        <p:nvSpPr>
          <p:cNvPr id="30" name="Text 28"/>
          <p:cNvSpPr/>
          <p:nvPr/>
        </p:nvSpPr>
        <p:spPr>
          <a:xfrm>
            <a:off x="1508760" y="2660904"/>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31" name="Shape 29"/>
          <p:cNvSpPr/>
          <p:nvPr/>
        </p:nvSpPr>
        <p:spPr>
          <a:xfrm>
            <a:off x="1911096" y="2660904"/>
            <a:ext cx="374904" cy="347472"/>
          </a:xfrm>
          <a:prstGeom prst="rect">
            <a:avLst/>
          </a:prstGeom>
          <a:solidFill>
            <a:srgbClr val="00C896"/>
          </a:solidFill>
          <a:ln w="19050">
            <a:solidFill>
              <a:srgbClr val="00C896"/>
            </a:solidFill>
            <a:prstDash val="solid"/>
          </a:ln>
        </p:spPr>
        <p:txBody>
          <a:bodyPr/>
          <a:lstStyle/>
          <a:p>
            <a:endParaRPr lang="en-US"/>
          </a:p>
        </p:txBody>
      </p:sp>
      <p:sp>
        <p:nvSpPr>
          <p:cNvPr id="32" name="Text 30"/>
          <p:cNvSpPr/>
          <p:nvPr/>
        </p:nvSpPr>
        <p:spPr>
          <a:xfrm>
            <a:off x="1911096" y="2660904"/>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33" name="Shape 31"/>
          <p:cNvSpPr/>
          <p:nvPr/>
        </p:nvSpPr>
        <p:spPr>
          <a:xfrm>
            <a:off x="2313432" y="2660904"/>
            <a:ext cx="374904" cy="347472"/>
          </a:xfrm>
          <a:prstGeom prst="rect">
            <a:avLst/>
          </a:prstGeom>
          <a:solidFill>
            <a:srgbClr val="132338"/>
          </a:solidFill>
          <a:ln w="19050">
            <a:solidFill>
              <a:srgbClr val="8FA8BF"/>
            </a:solidFill>
            <a:prstDash val="solid"/>
          </a:ln>
        </p:spPr>
        <p:txBody>
          <a:bodyPr/>
          <a:lstStyle/>
          <a:p>
            <a:endParaRPr lang="en-US"/>
          </a:p>
        </p:txBody>
      </p:sp>
      <p:sp>
        <p:nvSpPr>
          <p:cNvPr id="34" name="Text 32"/>
          <p:cNvSpPr/>
          <p:nvPr/>
        </p:nvSpPr>
        <p:spPr>
          <a:xfrm>
            <a:off x="2313432" y="2660904"/>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35" name="Shape 33"/>
          <p:cNvSpPr/>
          <p:nvPr/>
        </p:nvSpPr>
        <p:spPr>
          <a:xfrm>
            <a:off x="2715768" y="2660904"/>
            <a:ext cx="374904" cy="347472"/>
          </a:xfrm>
          <a:prstGeom prst="rect">
            <a:avLst/>
          </a:prstGeom>
          <a:solidFill>
            <a:srgbClr val="00C896"/>
          </a:solidFill>
          <a:ln w="19050">
            <a:solidFill>
              <a:srgbClr val="00C896"/>
            </a:solidFill>
            <a:prstDash val="solid"/>
          </a:ln>
        </p:spPr>
        <p:txBody>
          <a:bodyPr/>
          <a:lstStyle/>
          <a:p>
            <a:endParaRPr lang="en-US"/>
          </a:p>
        </p:txBody>
      </p:sp>
      <p:sp>
        <p:nvSpPr>
          <p:cNvPr id="36" name="Text 34"/>
          <p:cNvSpPr/>
          <p:nvPr/>
        </p:nvSpPr>
        <p:spPr>
          <a:xfrm>
            <a:off x="2715768" y="2660904"/>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37" name="Shape 35"/>
          <p:cNvSpPr/>
          <p:nvPr/>
        </p:nvSpPr>
        <p:spPr>
          <a:xfrm>
            <a:off x="3118104" y="2660904"/>
            <a:ext cx="374904" cy="347472"/>
          </a:xfrm>
          <a:prstGeom prst="rect">
            <a:avLst/>
          </a:prstGeom>
          <a:solidFill>
            <a:srgbClr val="132338"/>
          </a:solidFill>
          <a:ln w="19050">
            <a:solidFill>
              <a:srgbClr val="8FA8BF"/>
            </a:solidFill>
            <a:prstDash val="solid"/>
          </a:ln>
        </p:spPr>
        <p:txBody>
          <a:bodyPr/>
          <a:lstStyle/>
          <a:p>
            <a:endParaRPr lang="en-US"/>
          </a:p>
        </p:txBody>
      </p:sp>
      <p:sp>
        <p:nvSpPr>
          <p:cNvPr id="38" name="Text 36"/>
          <p:cNvSpPr/>
          <p:nvPr/>
        </p:nvSpPr>
        <p:spPr>
          <a:xfrm>
            <a:off x="3118104" y="2660904"/>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39" name="Shape 37"/>
          <p:cNvSpPr/>
          <p:nvPr/>
        </p:nvSpPr>
        <p:spPr>
          <a:xfrm>
            <a:off x="3520440" y="2660904"/>
            <a:ext cx="374904" cy="347472"/>
          </a:xfrm>
          <a:prstGeom prst="rect">
            <a:avLst/>
          </a:prstGeom>
          <a:solidFill>
            <a:srgbClr val="132338"/>
          </a:solidFill>
          <a:ln w="19050">
            <a:solidFill>
              <a:srgbClr val="8FA8BF"/>
            </a:solidFill>
            <a:prstDash val="solid"/>
          </a:ln>
        </p:spPr>
        <p:txBody>
          <a:bodyPr/>
          <a:lstStyle/>
          <a:p>
            <a:endParaRPr lang="en-US"/>
          </a:p>
        </p:txBody>
      </p:sp>
      <p:sp>
        <p:nvSpPr>
          <p:cNvPr id="40" name="Text 38"/>
          <p:cNvSpPr/>
          <p:nvPr/>
        </p:nvSpPr>
        <p:spPr>
          <a:xfrm>
            <a:off x="3520440" y="2660904"/>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41" name="Shape 39"/>
          <p:cNvSpPr/>
          <p:nvPr/>
        </p:nvSpPr>
        <p:spPr>
          <a:xfrm>
            <a:off x="3922776" y="2660904"/>
            <a:ext cx="374904" cy="347472"/>
          </a:xfrm>
          <a:prstGeom prst="rect">
            <a:avLst/>
          </a:prstGeom>
          <a:solidFill>
            <a:srgbClr val="00C896"/>
          </a:solidFill>
          <a:ln w="19050">
            <a:solidFill>
              <a:srgbClr val="00C896"/>
            </a:solidFill>
            <a:prstDash val="solid"/>
          </a:ln>
        </p:spPr>
        <p:txBody>
          <a:bodyPr/>
          <a:lstStyle/>
          <a:p>
            <a:endParaRPr lang="en-US"/>
          </a:p>
        </p:txBody>
      </p:sp>
      <p:sp>
        <p:nvSpPr>
          <p:cNvPr id="42" name="Text 40"/>
          <p:cNvSpPr/>
          <p:nvPr/>
        </p:nvSpPr>
        <p:spPr>
          <a:xfrm>
            <a:off x="3922776" y="2660904"/>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43" name="Shape 41"/>
          <p:cNvSpPr/>
          <p:nvPr/>
        </p:nvSpPr>
        <p:spPr>
          <a:xfrm>
            <a:off x="4325112" y="2660904"/>
            <a:ext cx="374904" cy="347472"/>
          </a:xfrm>
          <a:prstGeom prst="rect">
            <a:avLst/>
          </a:prstGeom>
          <a:solidFill>
            <a:srgbClr val="00C896"/>
          </a:solidFill>
          <a:ln w="19050">
            <a:solidFill>
              <a:srgbClr val="00C896"/>
            </a:solidFill>
            <a:prstDash val="solid"/>
          </a:ln>
        </p:spPr>
        <p:txBody>
          <a:bodyPr/>
          <a:lstStyle/>
          <a:p>
            <a:endParaRPr lang="en-US"/>
          </a:p>
        </p:txBody>
      </p:sp>
      <p:sp>
        <p:nvSpPr>
          <p:cNvPr id="44" name="Text 42"/>
          <p:cNvSpPr/>
          <p:nvPr/>
        </p:nvSpPr>
        <p:spPr>
          <a:xfrm>
            <a:off x="4325112" y="2660904"/>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45" name="Shape 43"/>
          <p:cNvSpPr/>
          <p:nvPr/>
        </p:nvSpPr>
        <p:spPr>
          <a:xfrm>
            <a:off x="365760" y="3145536"/>
            <a:ext cx="1005840" cy="320040"/>
          </a:xfrm>
          <a:prstGeom prst="rect">
            <a:avLst/>
          </a:prstGeom>
          <a:solidFill>
            <a:srgbClr val="FFB830"/>
          </a:solidFill>
          <a:ln w="12700">
            <a:solidFill>
              <a:srgbClr val="FFB830"/>
            </a:solidFill>
            <a:prstDash val="solid"/>
          </a:ln>
        </p:spPr>
        <p:txBody>
          <a:bodyPr/>
          <a:lstStyle/>
          <a:p>
            <a:endParaRPr lang="en-US"/>
          </a:p>
        </p:txBody>
      </p:sp>
      <p:sp>
        <p:nvSpPr>
          <p:cNvPr id="46" name="Text 44"/>
          <p:cNvSpPr/>
          <p:nvPr/>
        </p:nvSpPr>
        <p:spPr>
          <a:xfrm>
            <a:off x="365760" y="3145536"/>
            <a:ext cx="1005840" cy="32004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Mask</a:t>
            </a:r>
            <a:endParaRPr lang="en-US" sz="1000" dirty="0"/>
          </a:p>
        </p:txBody>
      </p:sp>
      <p:sp>
        <p:nvSpPr>
          <p:cNvPr id="47" name="Shape 45"/>
          <p:cNvSpPr/>
          <p:nvPr/>
        </p:nvSpPr>
        <p:spPr>
          <a:xfrm>
            <a:off x="1508760" y="3145536"/>
            <a:ext cx="374904" cy="320040"/>
          </a:xfrm>
          <a:prstGeom prst="rect">
            <a:avLst/>
          </a:prstGeom>
          <a:solidFill>
            <a:srgbClr val="1A3020"/>
          </a:solidFill>
          <a:ln w="19050">
            <a:solidFill>
              <a:srgbClr val="00C896"/>
            </a:solidFill>
            <a:prstDash val="solid"/>
          </a:ln>
        </p:spPr>
        <p:txBody>
          <a:bodyPr/>
          <a:lstStyle/>
          <a:p>
            <a:endParaRPr lang="en-US"/>
          </a:p>
        </p:txBody>
      </p:sp>
      <p:sp>
        <p:nvSpPr>
          <p:cNvPr id="48" name="Text 46"/>
          <p:cNvSpPr/>
          <p:nvPr/>
        </p:nvSpPr>
        <p:spPr>
          <a:xfrm>
            <a:off x="1508760" y="3145536"/>
            <a:ext cx="374904" cy="320040"/>
          </a:xfrm>
          <a:prstGeom prst="rect">
            <a:avLst/>
          </a:prstGeom>
          <a:noFill/>
          <a:ln/>
        </p:spPr>
        <p:txBody>
          <a:bodyPr wrap="square" lIns="0" tIns="0" rIns="0" bIns="0" rtlCol="0" anchor="ctr"/>
          <a:lstStyle/>
          <a:p>
            <a:pPr marL="0" indent="0" algn="ctr">
              <a:buNone/>
            </a:pPr>
            <a:r>
              <a:rPr lang="en-US" sz="900" b="1" dirty="0">
                <a:solidFill>
                  <a:srgbClr val="00C896"/>
                </a:solidFill>
                <a:latin typeface="Consolas" pitchFamily="34" charset="0"/>
                <a:ea typeface="Consolas" pitchFamily="34" charset="-122"/>
                <a:cs typeface="Consolas" pitchFamily="34" charset="-120"/>
              </a:rPr>
              <a:t>P1</a:t>
            </a:r>
            <a:endParaRPr lang="en-US" sz="900" dirty="0"/>
          </a:p>
        </p:txBody>
      </p:sp>
      <p:sp>
        <p:nvSpPr>
          <p:cNvPr id="49" name="Shape 47"/>
          <p:cNvSpPr/>
          <p:nvPr/>
        </p:nvSpPr>
        <p:spPr>
          <a:xfrm>
            <a:off x="1911096" y="3145536"/>
            <a:ext cx="374904" cy="320040"/>
          </a:xfrm>
          <a:prstGeom prst="rect">
            <a:avLst/>
          </a:prstGeom>
          <a:solidFill>
            <a:srgbClr val="0D2030"/>
          </a:solidFill>
          <a:ln w="19050">
            <a:solidFill>
              <a:srgbClr val="00A3FF"/>
            </a:solidFill>
            <a:prstDash val="solid"/>
          </a:ln>
        </p:spPr>
        <p:txBody>
          <a:bodyPr/>
          <a:lstStyle/>
          <a:p>
            <a:endParaRPr lang="en-US"/>
          </a:p>
        </p:txBody>
      </p:sp>
      <p:sp>
        <p:nvSpPr>
          <p:cNvPr id="50" name="Text 48"/>
          <p:cNvSpPr/>
          <p:nvPr/>
        </p:nvSpPr>
        <p:spPr>
          <a:xfrm>
            <a:off x="1911096" y="3145536"/>
            <a:ext cx="374904" cy="320040"/>
          </a:xfrm>
          <a:prstGeom prst="rect">
            <a:avLst/>
          </a:prstGeom>
          <a:noFill/>
          <a:ln/>
        </p:spPr>
        <p:txBody>
          <a:bodyPr wrap="square" lIns="0" tIns="0" rIns="0" bIns="0" rtlCol="0" anchor="ctr"/>
          <a:lstStyle/>
          <a:p>
            <a:pPr marL="0" indent="0" algn="ctr">
              <a:buNone/>
            </a:pPr>
            <a:r>
              <a:rPr lang="en-US" sz="900" b="1" dirty="0">
                <a:solidFill>
                  <a:srgbClr val="00A3FF"/>
                </a:solidFill>
                <a:latin typeface="Consolas" pitchFamily="34" charset="0"/>
                <a:ea typeface="Consolas" pitchFamily="34" charset="-122"/>
                <a:cs typeface="Consolas" pitchFamily="34" charset="-120"/>
              </a:rPr>
              <a:t>P2</a:t>
            </a:r>
            <a:endParaRPr lang="en-US" sz="900" dirty="0"/>
          </a:p>
        </p:txBody>
      </p:sp>
      <p:sp>
        <p:nvSpPr>
          <p:cNvPr id="51" name="Shape 49"/>
          <p:cNvSpPr/>
          <p:nvPr/>
        </p:nvSpPr>
        <p:spPr>
          <a:xfrm>
            <a:off x="2313432" y="3145536"/>
            <a:ext cx="374904" cy="320040"/>
          </a:xfrm>
          <a:prstGeom prst="rect">
            <a:avLst/>
          </a:prstGeom>
          <a:solidFill>
            <a:srgbClr val="1A3020"/>
          </a:solidFill>
          <a:ln w="19050">
            <a:solidFill>
              <a:srgbClr val="00C896"/>
            </a:solidFill>
            <a:prstDash val="solid"/>
          </a:ln>
        </p:spPr>
        <p:txBody>
          <a:bodyPr/>
          <a:lstStyle/>
          <a:p>
            <a:endParaRPr lang="en-US"/>
          </a:p>
        </p:txBody>
      </p:sp>
      <p:sp>
        <p:nvSpPr>
          <p:cNvPr id="52" name="Text 50"/>
          <p:cNvSpPr/>
          <p:nvPr/>
        </p:nvSpPr>
        <p:spPr>
          <a:xfrm>
            <a:off x="2313432" y="3145536"/>
            <a:ext cx="374904" cy="320040"/>
          </a:xfrm>
          <a:prstGeom prst="rect">
            <a:avLst/>
          </a:prstGeom>
          <a:noFill/>
          <a:ln/>
        </p:spPr>
        <p:txBody>
          <a:bodyPr wrap="square" lIns="0" tIns="0" rIns="0" bIns="0" rtlCol="0" anchor="ctr"/>
          <a:lstStyle/>
          <a:p>
            <a:pPr marL="0" indent="0" algn="ctr">
              <a:buNone/>
            </a:pPr>
            <a:r>
              <a:rPr lang="en-US" sz="900" b="1" dirty="0">
                <a:solidFill>
                  <a:srgbClr val="00C896"/>
                </a:solidFill>
                <a:latin typeface="Consolas" pitchFamily="34" charset="0"/>
                <a:ea typeface="Consolas" pitchFamily="34" charset="-122"/>
                <a:cs typeface="Consolas" pitchFamily="34" charset="-120"/>
              </a:rPr>
              <a:t>P1</a:t>
            </a:r>
            <a:endParaRPr lang="en-US" sz="900" dirty="0"/>
          </a:p>
        </p:txBody>
      </p:sp>
      <p:sp>
        <p:nvSpPr>
          <p:cNvPr id="53" name="Shape 51"/>
          <p:cNvSpPr/>
          <p:nvPr/>
        </p:nvSpPr>
        <p:spPr>
          <a:xfrm>
            <a:off x="2715768" y="3145536"/>
            <a:ext cx="374904" cy="320040"/>
          </a:xfrm>
          <a:prstGeom prst="rect">
            <a:avLst/>
          </a:prstGeom>
          <a:solidFill>
            <a:srgbClr val="0D2030"/>
          </a:solidFill>
          <a:ln w="19050">
            <a:solidFill>
              <a:srgbClr val="00A3FF"/>
            </a:solidFill>
            <a:prstDash val="solid"/>
          </a:ln>
        </p:spPr>
        <p:txBody>
          <a:bodyPr/>
          <a:lstStyle/>
          <a:p>
            <a:endParaRPr lang="en-US"/>
          </a:p>
        </p:txBody>
      </p:sp>
      <p:sp>
        <p:nvSpPr>
          <p:cNvPr id="54" name="Text 52"/>
          <p:cNvSpPr/>
          <p:nvPr/>
        </p:nvSpPr>
        <p:spPr>
          <a:xfrm>
            <a:off x="2715768" y="3145536"/>
            <a:ext cx="374904" cy="320040"/>
          </a:xfrm>
          <a:prstGeom prst="rect">
            <a:avLst/>
          </a:prstGeom>
          <a:noFill/>
          <a:ln/>
        </p:spPr>
        <p:txBody>
          <a:bodyPr wrap="square" lIns="0" tIns="0" rIns="0" bIns="0" rtlCol="0" anchor="ctr"/>
          <a:lstStyle/>
          <a:p>
            <a:pPr marL="0" indent="0" algn="ctr">
              <a:buNone/>
            </a:pPr>
            <a:r>
              <a:rPr lang="en-US" sz="900" b="1" dirty="0">
                <a:solidFill>
                  <a:srgbClr val="00A3FF"/>
                </a:solidFill>
                <a:latin typeface="Consolas" pitchFamily="34" charset="0"/>
                <a:ea typeface="Consolas" pitchFamily="34" charset="-122"/>
                <a:cs typeface="Consolas" pitchFamily="34" charset="-120"/>
              </a:rPr>
              <a:t>P2</a:t>
            </a:r>
            <a:endParaRPr lang="en-US" sz="900" dirty="0"/>
          </a:p>
        </p:txBody>
      </p:sp>
      <p:sp>
        <p:nvSpPr>
          <p:cNvPr id="55" name="Shape 53"/>
          <p:cNvSpPr/>
          <p:nvPr/>
        </p:nvSpPr>
        <p:spPr>
          <a:xfrm>
            <a:off x="3118104" y="3145536"/>
            <a:ext cx="374904" cy="320040"/>
          </a:xfrm>
          <a:prstGeom prst="rect">
            <a:avLst/>
          </a:prstGeom>
          <a:solidFill>
            <a:srgbClr val="1A3020"/>
          </a:solidFill>
          <a:ln w="19050">
            <a:solidFill>
              <a:srgbClr val="00C896"/>
            </a:solidFill>
            <a:prstDash val="solid"/>
          </a:ln>
        </p:spPr>
        <p:txBody>
          <a:bodyPr/>
          <a:lstStyle/>
          <a:p>
            <a:endParaRPr lang="en-US"/>
          </a:p>
        </p:txBody>
      </p:sp>
      <p:sp>
        <p:nvSpPr>
          <p:cNvPr id="56" name="Text 54"/>
          <p:cNvSpPr/>
          <p:nvPr/>
        </p:nvSpPr>
        <p:spPr>
          <a:xfrm>
            <a:off x="3118104" y="3145536"/>
            <a:ext cx="374904" cy="320040"/>
          </a:xfrm>
          <a:prstGeom prst="rect">
            <a:avLst/>
          </a:prstGeom>
          <a:noFill/>
          <a:ln/>
        </p:spPr>
        <p:txBody>
          <a:bodyPr wrap="square" lIns="0" tIns="0" rIns="0" bIns="0" rtlCol="0" anchor="ctr"/>
          <a:lstStyle/>
          <a:p>
            <a:pPr marL="0" indent="0" algn="ctr">
              <a:buNone/>
            </a:pPr>
            <a:r>
              <a:rPr lang="en-US" sz="900" b="1" dirty="0">
                <a:solidFill>
                  <a:srgbClr val="00C896"/>
                </a:solidFill>
                <a:latin typeface="Consolas" pitchFamily="34" charset="0"/>
                <a:ea typeface="Consolas" pitchFamily="34" charset="-122"/>
                <a:cs typeface="Consolas" pitchFamily="34" charset="-120"/>
              </a:rPr>
              <a:t>P1</a:t>
            </a:r>
            <a:endParaRPr lang="en-US" sz="900" dirty="0"/>
          </a:p>
        </p:txBody>
      </p:sp>
      <p:sp>
        <p:nvSpPr>
          <p:cNvPr id="57" name="Shape 55"/>
          <p:cNvSpPr/>
          <p:nvPr/>
        </p:nvSpPr>
        <p:spPr>
          <a:xfrm>
            <a:off x="3520440" y="3145536"/>
            <a:ext cx="374904" cy="320040"/>
          </a:xfrm>
          <a:prstGeom prst="rect">
            <a:avLst/>
          </a:prstGeom>
          <a:solidFill>
            <a:srgbClr val="1A3020"/>
          </a:solidFill>
          <a:ln w="19050">
            <a:solidFill>
              <a:srgbClr val="00C896"/>
            </a:solidFill>
            <a:prstDash val="solid"/>
          </a:ln>
        </p:spPr>
        <p:txBody>
          <a:bodyPr/>
          <a:lstStyle/>
          <a:p>
            <a:endParaRPr lang="en-US"/>
          </a:p>
        </p:txBody>
      </p:sp>
      <p:sp>
        <p:nvSpPr>
          <p:cNvPr id="58" name="Text 56"/>
          <p:cNvSpPr/>
          <p:nvPr/>
        </p:nvSpPr>
        <p:spPr>
          <a:xfrm>
            <a:off x="3520440" y="3145536"/>
            <a:ext cx="374904" cy="320040"/>
          </a:xfrm>
          <a:prstGeom prst="rect">
            <a:avLst/>
          </a:prstGeom>
          <a:noFill/>
          <a:ln/>
        </p:spPr>
        <p:txBody>
          <a:bodyPr wrap="square" lIns="0" tIns="0" rIns="0" bIns="0" rtlCol="0" anchor="ctr"/>
          <a:lstStyle/>
          <a:p>
            <a:pPr marL="0" indent="0" algn="ctr">
              <a:buNone/>
            </a:pPr>
            <a:r>
              <a:rPr lang="en-US" sz="900" b="1" dirty="0">
                <a:solidFill>
                  <a:srgbClr val="00C896"/>
                </a:solidFill>
                <a:latin typeface="Consolas" pitchFamily="34" charset="0"/>
                <a:ea typeface="Consolas" pitchFamily="34" charset="-122"/>
                <a:cs typeface="Consolas" pitchFamily="34" charset="-120"/>
              </a:rPr>
              <a:t>P1</a:t>
            </a:r>
            <a:endParaRPr lang="en-US" sz="900" dirty="0"/>
          </a:p>
        </p:txBody>
      </p:sp>
      <p:sp>
        <p:nvSpPr>
          <p:cNvPr id="59" name="Shape 57"/>
          <p:cNvSpPr/>
          <p:nvPr/>
        </p:nvSpPr>
        <p:spPr>
          <a:xfrm>
            <a:off x="3922776" y="3145536"/>
            <a:ext cx="374904" cy="320040"/>
          </a:xfrm>
          <a:prstGeom prst="rect">
            <a:avLst/>
          </a:prstGeom>
          <a:solidFill>
            <a:srgbClr val="0D2030"/>
          </a:solidFill>
          <a:ln w="19050">
            <a:solidFill>
              <a:srgbClr val="00A3FF"/>
            </a:solidFill>
            <a:prstDash val="solid"/>
          </a:ln>
        </p:spPr>
        <p:txBody>
          <a:bodyPr/>
          <a:lstStyle/>
          <a:p>
            <a:endParaRPr lang="en-US"/>
          </a:p>
        </p:txBody>
      </p:sp>
      <p:sp>
        <p:nvSpPr>
          <p:cNvPr id="60" name="Text 58"/>
          <p:cNvSpPr/>
          <p:nvPr/>
        </p:nvSpPr>
        <p:spPr>
          <a:xfrm>
            <a:off x="3922776" y="3145536"/>
            <a:ext cx="374904" cy="320040"/>
          </a:xfrm>
          <a:prstGeom prst="rect">
            <a:avLst/>
          </a:prstGeom>
          <a:noFill/>
          <a:ln/>
        </p:spPr>
        <p:txBody>
          <a:bodyPr wrap="square" lIns="0" tIns="0" rIns="0" bIns="0" rtlCol="0" anchor="ctr"/>
          <a:lstStyle/>
          <a:p>
            <a:pPr marL="0" indent="0" algn="ctr">
              <a:buNone/>
            </a:pPr>
            <a:r>
              <a:rPr lang="en-US" sz="900" b="1" dirty="0">
                <a:solidFill>
                  <a:srgbClr val="00A3FF"/>
                </a:solidFill>
                <a:latin typeface="Consolas" pitchFamily="34" charset="0"/>
                <a:ea typeface="Consolas" pitchFamily="34" charset="-122"/>
                <a:cs typeface="Consolas" pitchFamily="34" charset="-120"/>
              </a:rPr>
              <a:t>P2</a:t>
            </a:r>
            <a:endParaRPr lang="en-US" sz="900" dirty="0"/>
          </a:p>
        </p:txBody>
      </p:sp>
      <p:sp>
        <p:nvSpPr>
          <p:cNvPr id="61" name="Shape 59"/>
          <p:cNvSpPr/>
          <p:nvPr/>
        </p:nvSpPr>
        <p:spPr>
          <a:xfrm>
            <a:off x="4325112" y="3145536"/>
            <a:ext cx="374904" cy="320040"/>
          </a:xfrm>
          <a:prstGeom prst="rect">
            <a:avLst/>
          </a:prstGeom>
          <a:solidFill>
            <a:srgbClr val="0D2030"/>
          </a:solidFill>
          <a:ln w="19050">
            <a:solidFill>
              <a:srgbClr val="00A3FF"/>
            </a:solidFill>
            <a:prstDash val="solid"/>
          </a:ln>
        </p:spPr>
        <p:txBody>
          <a:bodyPr/>
          <a:lstStyle/>
          <a:p>
            <a:endParaRPr lang="en-US"/>
          </a:p>
        </p:txBody>
      </p:sp>
      <p:sp>
        <p:nvSpPr>
          <p:cNvPr id="62" name="Text 60"/>
          <p:cNvSpPr/>
          <p:nvPr/>
        </p:nvSpPr>
        <p:spPr>
          <a:xfrm>
            <a:off x="4325112" y="3145536"/>
            <a:ext cx="374904" cy="320040"/>
          </a:xfrm>
          <a:prstGeom prst="rect">
            <a:avLst/>
          </a:prstGeom>
          <a:noFill/>
          <a:ln/>
        </p:spPr>
        <p:txBody>
          <a:bodyPr wrap="square" lIns="0" tIns="0" rIns="0" bIns="0" rtlCol="0" anchor="ctr"/>
          <a:lstStyle/>
          <a:p>
            <a:pPr marL="0" indent="0" algn="ctr">
              <a:buNone/>
            </a:pPr>
            <a:r>
              <a:rPr lang="en-US" sz="900" b="1" dirty="0">
                <a:solidFill>
                  <a:srgbClr val="00A3FF"/>
                </a:solidFill>
                <a:latin typeface="Consolas" pitchFamily="34" charset="0"/>
                <a:ea typeface="Consolas" pitchFamily="34" charset="-122"/>
                <a:cs typeface="Consolas" pitchFamily="34" charset="-120"/>
              </a:rPr>
              <a:t>P2</a:t>
            </a:r>
            <a:endParaRPr lang="en-US" sz="900" dirty="0"/>
          </a:p>
        </p:txBody>
      </p:sp>
      <p:sp>
        <p:nvSpPr>
          <p:cNvPr id="63" name="Text 61"/>
          <p:cNvSpPr/>
          <p:nvPr/>
        </p:nvSpPr>
        <p:spPr>
          <a:xfrm>
            <a:off x="365760" y="3639312"/>
            <a:ext cx="5486400" cy="274320"/>
          </a:xfrm>
          <a:prstGeom prst="rect">
            <a:avLst/>
          </a:prstGeom>
          <a:noFill/>
          <a:ln/>
        </p:spPr>
        <p:txBody>
          <a:bodyPr wrap="square" rtlCol="0" anchor="ctr"/>
          <a:lstStyle/>
          <a:p>
            <a:pPr marL="0" indent="0">
              <a:buNone/>
            </a:pPr>
            <a:r>
              <a:rPr lang="en-US" sz="1100" i="1" dirty="0">
                <a:solidFill>
                  <a:srgbClr val="8FA8BF"/>
                </a:solidFill>
                <a:latin typeface="Calibri" pitchFamily="34" charset="0"/>
                <a:ea typeface="Calibri" pitchFamily="34" charset="-122"/>
                <a:cs typeface="Calibri" pitchFamily="34" charset="-120"/>
              </a:rPr>
              <a:t>↓  Child 1  (take gene from indicated parent):</a:t>
            </a:r>
            <a:endParaRPr lang="en-US" sz="1100" dirty="0"/>
          </a:p>
        </p:txBody>
      </p:sp>
      <p:sp>
        <p:nvSpPr>
          <p:cNvPr id="64" name="Shape 62"/>
          <p:cNvSpPr/>
          <p:nvPr/>
        </p:nvSpPr>
        <p:spPr>
          <a:xfrm>
            <a:off x="365760" y="3986784"/>
            <a:ext cx="1005840" cy="320040"/>
          </a:xfrm>
          <a:prstGeom prst="rect">
            <a:avLst/>
          </a:prstGeom>
          <a:solidFill>
            <a:srgbClr val="E05AFF"/>
          </a:solidFill>
          <a:ln w="12700">
            <a:solidFill>
              <a:srgbClr val="E05AFF"/>
            </a:solidFill>
            <a:prstDash val="solid"/>
          </a:ln>
        </p:spPr>
        <p:txBody>
          <a:bodyPr/>
          <a:lstStyle/>
          <a:p>
            <a:endParaRPr lang="en-US"/>
          </a:p>
        </p:txBody>
      </p:sp>
      <p:sp>
        <p:nvSpPr>
          <p:cNvPr id="65" name="Text 63"/>
          <p:cNvSpPr/>
          <p:nvPr/>
        </p:nvSpPr>
        <p:spPr>
          <a:xfrm>
            <a:off x="365760" y="3986784"/>
            <a:ext cx="1005840" cy="32004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Child 1</a:t>
            </a:r>
            <a:endParaRPr lang="en-US" sz="1000" dirty="0"/>
          </a:p>
        </p:txBody>
      </p:sp>
      <p:sp>
        <p:nvSpPr>
          <p:cNvPr id="66" name="Shape 64"/>
          <p:cNvSpPr/>
          <p:nvPr/>
        </p:nvSpPr>
        <p:spPr>
          <a:xfrm>
            <a:off x="1508760" y="3968496"/>
            <a:ext cx="374904" cy="347472"/>
          </a:xfrm>
          <a:prstGeom prst="rect">
            <a:avLst/>
          </a:prstGeom>
          <a:solidFill>
            <a:srgbClr val="00C896"/>
          </a:solidFill>
          <a:ln w="19050">
            <a:solidFill>
              <a:srgbClr val="00C896"/>
            </a:solidFill>
            <a:prstDash val="solid"/>
          </a:ln>
        </p:spPr>
        <p:txBody>
          <a:bodyPr/>
          <a:lstStyle/>
          <a:p>
            <a:endParaRPr lang="en-US"/>
          </a:p>
        </p:txBody>
      </p:sp>
      <p:sp>
        <p:nvSpPr>
          <p:cNvPr id="67" name="Text 65"/>
          <p:cNvSpPr/>
          <p:nvPr/>
        </p:nvSpPr>
        <p:spPr>
          <a:xfrm>
            <a:off x="1508760" y="3968496"/>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68" name="Shape 66"/>
          <p:cNvSpPr/>
          <p:nvPr/>
        </p:nvSpPr>
        <p:spPr>
          <a:xfrm>
            <a:off x="1911096" y="3968496"/>
            <a:ext cx="374904" cy="347472"/>
          </a:xfrm>
          <a:prstGeom prst="rect">
            <a:avLst/>
          </a:prstGeom>
          <a:solidFill>
            <a:srgbClr val="132338"/>
          </a:solidFill>
          <a:ln w="19050">
            <a:solidFill>
              <a:srgbClr val="8FA8BF"/>
            </a:solidFill>
            <a:prstDash val="solid"/>
          </a:ln>
        </p:spPr>
        <p:txBody>
          <a:bodyPr/>
          <a:lstStyle/>
          <a:p>
            <a:endParaRPr lang="en-US"/>
          </a:p>
        </p:txBody>
      </p:sp>
      <p:sp>
        <p:nvSpPr>
          <p:cNvPr id="69" name="Text 67"/>
          <p:cNvSpPr/>
          <p:nvPr/>
        </p:nvSpPr>
        <p:spPr>
          <a:xfrm>
            <a:off x="1911096" y="3968496"/>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70" name="Shape 68"/>
          <p:cNvSpPr/>
          <p:nvPr/>
        </p:nvSpPr>
        <p:spPr>
          <a:xfrm>
            <a:off x="2313432" y="3968496"/>
            <a:ext cx="374904" cy="347472"/>
          </a:xfrm>
          <a:prstGeom prst="rect">
            <a:avLst/>
          </a:prstGeom>
          <a:solidFill>
            <a:srgbClr val="00C896"/>
          </a:solidFill>
          <a:ln w="19050">
            <a:solidFill>
              <a:srgbClr val="00C896"/>
            </a:solidFill>
            <a:prstDash val="solid"/>
          </a:ln>
        </p:spPr>
        <p:txBody>
          <a:bodyPr/>
          <a:lstStyle/>
          <a:p>
            <a:endParaRPr lang="en-US"/>
          </a:p>
        </p:txBody>
      </p:sp>
      <p:sp>
        <p:nvSpPr>
          <p:cNvPr id="71" name="Text 69"/>
          <p:cNvSpPr/>
          <p:nvPr/>
        </p:nvSpPr>
        <p:spPr>
          <a:xfrm>
            <a:off x="2313432" y="3968496"/>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72" name="Shape 70"/>
          <p:cNvSpPr/>
          <p:nvPr/>
        </p:nvSpPr>
        <p:spPr>
          <a:xfrm>
            <a:off x="2715768" y="3968496"/>
            <a:ext cx="374904" cy="347472"/>
          </a:xfrm>
          <a:prstGeom prst="rect">
            <a:avLst/>
          </a:prstGeom>
          <a:solidFill>
            <a:srgbClr val="132338"/>
          </a:solidFill>
          <a:ln w="19050">
            <a:solidFill>
              <a:srgbClr val="8FA8BF"/>
            </a:solidFill>
            <a:prstDash val="solid"/>
          </a:ln>
        </p:spPr>
        <p:txBody>
          <a:bodyPr/>
          <a:lstStyle/>
          <a:p>
            <a:endParaRPr lang="en-US"/>
          </a:p>
        </p:txBody>
      </p:sp>
      <p:sp>
        <p:nvSpPr>
          <p:cNvPr id="73" name="Text 71"/>
          <p:cNvSpPr/>
          <p:nvPr/>
        </p:nvSpPr>
        <p:spPr>
          <a:xfrm>
            <a:off x="2715768" y="3968496"/>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74" name="Shape 72"/>
          <p:cNvSpPr/>
          <p:nvPr/>
        </p:nvSpPr>
        <p:spPr>
          <a:xfrm>
            <a:off x="3118104" y="3968496"/>
            <a:ext cx="374904" cy="347472"/>
          </a:xfrm>
          <a:prstGeom prst="rect">
            <a:avLst/>
          </a:prstGeom>
          <a:solidFill>
            <a:srgbClr val="00C896"/>
          </a:solidFill>
          <a:ln w="19050">
            <a:solidFill>
              <a:srgbClr val="00C896"/>
            </a:solidFill>
            <a:prstDash val="solid"/>
          </a:ln>
        </p:spPr>
        <p:txBody>
          <a:bodyPr/>
          <a:lstStyle/>
          <a:p>
            <a:endParaRPr lang="en-US"/>
          </a:p>
        </p:txBody>
      </p:sp>
      <p:sp>
        <p:nvSpPr>
          <p:cNvPr id="75" name="Text 73"/>
          <p:cNvSpPr/>
          <p:nvPr/>
        </p:nvSpPr>
        <p:spPr>
          <a:xfrm>
            <a:off x="3118104" y="3968496"/>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76" name="Shape 74"/>
          <p:cNvSpPr/>
          <p:nvPr/>
        </p:nvSpPr>
        <p:spPr>
          <a:xfrm>
            <a:off x="3520440" y="3968496"/>
            <a:ext cx="374904" cy="347472"/>
          </a:xfrm>
          <a:prstGeom prst="rect">
            <a:avLst/>
          </a:prstGeom>
          <a:solidFill>
            <a:srgbClr val="00C896"/>
          </a:solidFill>
          <a:ln w="19050">
            <a:solidFill>
              <a:srgbClr val="00C896"/>
            </a:solidFill>
            <a:prstDash val="solid"/>
          </a:ln>
        </p:spPr>
        <p:txBody>
          <a:bodyPr/>
          <a:lstStyle/>
          <a:p>
            <a:endParaRPr lang="en-US"/>
          </a:p>
        </p:txBody>
      </p:sp>
      <p:sp>
        <p:nvSpPr>
          <p:cNvPr id="77" name="Text 75"/>
          <p:cNvSpPr/>
          <p:nvPr/>
        </p:nvSpPr>
        <p:spPr>
          <a:xfrm>
            <a:off x="3520440" y="3968496"/>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78" name="Shape 76"/>
          <p:cNvSpPr/>
          <p:nvPr/>
        </p:nvSpPr>
        <p:spPr>
          <a:xfrm>
            <a:off x="3922776" y="3968496"/>
            <a:ext cx="374904" cy="347472"/>
          </a:xfrm>
          <a:prstGeom prst="rect">
            <a:avLst/>
          </a:prstGeom>
          <a:solidFill>
            <a:srgbClr val="132338"/>
          </a:solidFill>
          <a:ln w="19050">
            <a:solidFill>
              <a:srgbClr val="8FA8BF"/>
            </a:solidFill>
            <a:prstDash val="solid"/>
          </a:ln>
        </p:spPr>
        <p:txBody>
          <a:bodyPr/>
          <a:lstStyle/>
          <a:p>
            <a:endParaRPr lang="en-US"/>
          </a:p>
        </p:txBody>
      </p:sp>
      <p:sp>
        <p:nvSpPr>
          <p:cNvPr id="79" name="Text 77"/>
          <p:cNvSpPr/>
          <p:nvPr/>
        </p:nvSpPr>
        <p:spPr>
          <a:xfrm>
            <a:off x="3922776" y="3968496"/>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80" name="Shape 78"/>
          <p:cNvSpPr/>
          <p:nvPr/>
        </p:nvSpPr>
        <p:spPr>
          <a:xfrm>
            <a:off x="4325112" y="3968496"/>
            <a:ext cx="374904" cy="347472"/>
          </a:xfrm>
          <a:prstGeom prst="rect">
            <a:avLst/>
          </a:prstGeom>
          <a:solidFill>
            <a:srgbClr val="132338"/>
          </a:solidFill>
          <a:ln w="19050">
            <a:solidFill>
              <a:srgbClr val="8FA8BF"/>
            </a:solidFill>
            <a:prstDash val="solid"/>
          </a:ln>
        </p:spPr>
        <p:txBody>
          <a:bodyPr/>
          <a:lstStyle/>
          <a:p>
            <a:endParaRPr lang="en-US"/>
          </a:p>
        </p:txBody>
      </p:sp>
      <p:sp>
        <p:nvSpPr>
          <p:cNvPr id="81" name="Text 79"/>
          <p:cNvSpPr/>
          <p:nvPr/>
        </p:nvSpPr>
        <p:spPr>
          <a:xfrm>
            <a:off x="4325112" y="3968496"/>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82" name="Text 80"/>
          <p:cNvSpPr/>
          <p:nvPr/>
        </p:nvSpPr>
        <p:spPr>
          <a:xfrm>
            <a:off x="365760" y="4462272"/>
            <a:ext cx="8412480" cy="274320"/>
          </a:xfrm>
          <a:prstGeom prst="rect">
            <a:avLst/>
          </a:prstGeom>
          <a:noFill/>
          <a:ln/>
        </p:spPr>
        <p:txBody>
          <a:bodyPr wrap="square" rtlCol="0" anchor="ctr"/>
          <a:lstStyle/>
          <a:p>
            <a:pPr marL="0" indent="0">
              <a:buNone/>
            </a:pPr>
            <a:r>
              <a:rPr lang="en-US" sz="1100" i="1" dirty="0">
                <a:solidFill>
                  <a:srgbClr val="8FA8BF"/>
                </a:solidFill>
                <a:latin typeface="Calibri" pitchFamily="34" charset="0"/>
                <a:ea typeface="Calibri" pitchFamily="34" charset="-122"/>
                <a:cs typeface="Calibri" pitchFamily="34" charset="-120"/>
              </a:rPr>
              <a:t>pos 1,3,5,6 from P1 · pos 2,4,7,8 from P2 → highly varied offspring!</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256032"/>
            <a:ext cx="64008" cy="502920"/>
          </a:xfrm>
          <a:prstGeom prst="rect">
            <a:avLst/>
          </a:prstGeom>
          <a:solidFill>
            <a:srgbClr val="00C896"/>
          </a:solidFill>
          <a:ln w="12700">
            <a:solidFill>
              <a:srgbClr val="00C896"/>
            </a:solidFill>
            <a:prstDash val="solid"/>
          </a:ln>
        </p:spPr>
        <p:txBody>
          <a:bodyPr/>
          <a:lstStyle/>
          <a:p>
            <a:endParaRPr lang="en-US"/>
          </a:p>
        </p:txBody>
      </p:sp>
      <p:sp>
        <p:nvSpPr>
          <p:cNvPr id="3" name="Text 1"/>
          <p:cNvSpPr/>
          <p:nvPr/>
        </p:nvSpPr>
        <p:spPr>
          <a:xfrm>
            <a:off x="512064" y="256032"/>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Three-Parent Crossover</a:t>
            </a:r>
            <a:endParaRPr lang="en-US" sz="2800" dirty="0"/>
          </a:p>
        </p:txBody>
      </p:sp>
      <p:sp>
        <p:nvSpPr>
          <p:cNvPr id="5" name="Shape 3"/>
          <p:cNvSpPr/>
          <p:nvPr/>
        </p:nvSpPr>
        <p:spPr>
          <a:xfrm>
            <a:off x="365760" y="868680"/>
            <a:ext cx="8412480" cy="0"/>
          </a:xfrm>
          <a:prstGeom prst="line">
            <a:avLst/>
          </a:prstGeom>
          <a:noFill/>
          <a:ln w="12700">
            <a:solidFill>
              <a:srgbClr val="00C896">
                <a:alpha val="50000"/>
              </a:srgbClr>
            </a:solidFill>
            <a:prstDash val="solid"/>
          </a:ln>
        </p:spPr>
        <p:txBody>
          <a:bodyPr/>
          <a:lstStyle/>
          <a:p>
            <a:endParaRPr lang="en-US"/>
          </a:p>
        </p:txBody>
      </p:sp>
      <p:sp>
        <p:nvSpPr>
          <p:cNvPr id="6" name="Shape 4"/>
          <p:cNvSpPr/>
          <p:nvPr/>
        </p:nvSpPr>
        <p:spPr>
          <a:xfrm>
            <a:off x="365760" y="1124712"/>
            <a:ext cx="8412480" cy="640080"/>
          </a:xfrm>
          <a:prstGeom prst="rect">
            <a:avLst/>
          </a:prstGeom>
          <a:solidFill>
            <a:srgbClr val="1A2E44"/>
          </a:solidFill>
          <a:ln w="19050">
            <a:solidFill>
              <a:srgbClr val="00A3FF"/>
            </a:solidFill>
            <a:prstDash val="solid"/>
          </a:ln>
          <a:effectLst>
            <a:outerShdw blurRad="101600" dist="38100" dir="8100000" algn="bl" rotWithShape="0">
              <a:srgbClr val="000000">
                <a:alpha val="25000"/>
              </a:srgbClr>
            </a:outerShdw>
          </a:effectLst>
        </p:spPr>
        <p:txBody>
          <a:bodyPr/>
          <a:lstStyle/>
          <a:p>
            <a:endParaRPr lang="en-US"/>
          </a:p>
        </p:txBody>
      </p:sp>
      <p:sp>
        <p:nvSpPr>
          <p:cNvPr id="7" name="Text 5"/>
          <p:cNvSpPr/>
          <p:nvPr/>
        </p:nvSpPr>
        <p:spPr>
          <a:xfrm>
            <a:off x="481130" y="1120140"/>
            <a:ext cx="8229600" cy="594360"/>
          </a:xfrm>
          <a:prstGeom prst="rect">
            <a:avLst/>
          </a:prstGeom>
          <a:noFill/>
          <a:ln/>
        </p:spPr>
        <p:txBody>
          <a:bodyPr wrap="square" rtlCol="0" anchor="ctr"/>
          <a:lstStyle/>
          <a:p>
            <a:pPr marL="0" indent="0">
              <a:buNone/>
            </a:pPr>
            <a:r>
              <a:rPr lang="en-US" sz="1250" b="1" dirty="0">
                <a:solidFill>
                  <a:srgbClr val="00A3FF"/>
                </a:solidFill>
                <a:latin typeface="Calibri" pitchFamily="34" charset="0"/>
                <a:ea typeface="Calibri" pitchFamily="34" charset="-122"/>
                <a:cs typeface="Calibri" pitchFamily="34" charset="-120"/>
              </a:rPr>
              <a:t>Definition: </a:t>
            </a:r>
            <a:r>
              <a:rPr lang="en-US" sz="1250" dirty="0">
                <a:solidFill>
                  <a:srgbClr val="E8F0F5"/>
                </a:solidFill>
                <a:latin typeface="Calibri" pitchFamily="34" charset="0"/>
                <a:ea typeface="Calibri" pitchFamily="34" charset="-122"/>
                <a:cs typeface="Calibri" pitchFamily="34" charset="-120"/>
              </a:rPr>
              <a:t>Three parent chromosomes participate. For each gene position, if the gene from Parent 1 equals the gene from Parent 2, the child inherits that gene; otherwise, the child inherits the gene from Parent 3. Only one child is produced.</a:t>
            </a:r>
            <a:endParaRPr lang="en-US" sz="1250" dirty="0"/>
          </a:p>
        </p:txBody>
      </p:sp>
      <p:sp>
        <p:nvSpPr>
          <p:cNvPr id="8" name="Text 6"/>
          <p:cNvSpPr/>
          <p:nvPr/>
        </p:nvSpPr>
        <p:spPr>
          <a:xfrm>
            <a:off x="365760" y="1828800"/>
            <a:ext cx="8412480" cy="320040"/>
          </a:xfrm>
          <a:prstGeom prst="rect">
            <a:avLst/>
          </a:prstGeom>
          <a:noFill/>
          <a:ln/>
        </p:spPr>
        <p:txBody>
          <a:bodyPr wrap="square" rtlCol="0" anchor="ctr"/>
          <a:lstStyle/>
          <a:p>
            <a:pPr marL="0" indent="0">
              <a:buNone/>
            </a:pPr>
            <a:r>
              <a:rPr lang="en-US" sz="1200" b="1" dirty="0">
                <a:solidFill>
                  <a:srgbClr val="FFB830"/>
                </a:solidFill>
                <a:latin typeface="Consolas" pitchFamily="34" charset="0"/>
                <a:ea typeface="Consolas" pitchFamily="34" charset="-122"/>
                <a:cs typeface="Consolas" pitchFamily="34" charset="-120"/>
              </a:rPr>
              <a:t>RULE:  Child[i] = P1[i] if P1[i] == P2[i],  else P3[i]</a:t>
            </a:r>
            <a:endParaRPr lang="en-US" sz="1200" dirty="0"/>
          </a:p>
        </p:txBody>
      </p:sp>
      <p:sp>
        <p:nvSpPr>
          <p:cNvPr id="9" name="Shape 7"/>
          <p:cNvSpPr/>
          <p:nvPr/>
        </p:nvSpPr>
        <p:spPr>
          <a:xfrm>
            <a:off x="365760" y="2240280"/>
            <a:ext cx="1005840" cy="320040"/>
          </a:xfrm>
          <a:prstGeom prst="rect">
            <a:avLst/>
          </a:prstGeom>
          <a:solidFill>
            <a:srgbClr val="00C896"/>
          </a:solidFill>
          <a:ln w="12700">
            <a:solidFill>
              <a:srgbClr val="00C896"/>
            </a:solidFill>
            <a:prstDash val="solid"/>
          </a:ln>
        </p:spPr>
        <p:txBody>
          <a:bodyPr/>
          <a:lstStyle/>
          <a:p>
            <a:endParaRPr lang="en-US"/>
          </a:p>
        </p:txBody>
      </p:sp>
      <p:sp>
        <p:nvSpPr>
          <p:cNvPr id="10" name="Text 8"/>
          <p:cNvSpPr/>
          <p:nvPr/>
        </p:nvSpPr>
        <p:spPr>
          <a:xfrm>
            <a:off x="365760" y="2240280"/>
            <a:ext cx="1005840" cy="32004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Parent 1</a:t>
            </a:r>
            <a:endParaRPr lang="en-US" sz="1000" dirty="0"/>
          </a:p>
        </p:txBody>
      </p:sp>
      <p:sp>
        <p:nvSpPr>
          <p:cNvPr id="11" name="Shape 9"/>
          <p:cNvSpPr/>
          <p:nvPr/>
        </p:nvSpPr>
        <p:spPr>
          <a:xfrm>
            <a:off x="1508760" y="2221992"/>
            <a:ext cx="374904" cy="347472"/>
          </a:xfrm>
          <a:prstGeom prst="rect">
            <a:avLst/>
          </a:prstGeom>
          <a:solidFill>
            <a:srgbClr val="132338"/>
          </a:solidFill>
          <a:ln w="19050">
            <a:solidFill>
              <a:srgbClr val="8FA8BF"/>
            </a:solidFill>
            <a:prstDash val="solid"/>
          </a:ln>
        </p:spPr>
        <p:txBody>
          <a:bodyPr/>
          <a:lstStyle/>
          <a:p>
            <a:endParaRPr lang="en-US"/>
          </a:p>
        </p:txBody>
      </p:sp>
      <p:sp>
        <p:nvSpPr>
          <p:cNvPr id="12" name="Text 10"/>
          <p:cNvSpPr/>
          <p:nvPr/>
        </p:nvSpPr>
        <p:spPr>
          <a:xfrm>
            <a:off x="1508760" y="2221992"/>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13" name="Shape 11"/>
          <p:cNvSpPr/>
          <p:nvPr/>
        </p:nvSpPr>
        <p:spPr>
          <a:xfrm>
            <a:off x="1911096" y="2221992"/>
            <a:ext cx="374904" cy="347472"/>
          </a:xfrm>
          <a:prstGeom prst="rect">
            <a:avLst/>
          </a:prstGeom>
          <a:solidFill>
            <a:srgbClr val="132338"/>
          </a:solidFill>
          <a:ln w="19050">
            <a:solidFill>
              <a:srgbClr val="8FA8BF"/>
            </a:solidFill>
            <a:prstDash val="solid"/>
          </a:ln>
        </p:spPr>
        <p:txBody>
          <a:bodyPr/>
          <a:lstStyle/>
          <a:p>
            <a:endParaRPr lang="en-US"/>
          </a:p>
        </p:txBody>
      </p:sp>
      <p:sp>
        <p:nvSpPr>
          <p:cNvPr id="14" name="Text 12"/>
          <p:cNvSpPr/>
          <p:nvPr/>
        </p:nvSpPr>
        <p:spPr>
          <a:xfrm>
            <a:off x="1911096" y="2221992"/>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15" name="Shape 13"/>
          <p:cNvSpPr/>
          <p:nvPr/>
        </p:nvSpPr>
        <p:spPr>
          <a:xfrm>
            <a:off x="2313432" y="2221992"/>
            <a:ext cx="374904" cy="347472"/>
          </a:xfrm>
          <a:prstGeom prst="rect">
            <a:avLst/>
          </a:prstGeom>
          <a:solidFill>
            <a:srgbClr val="132338"/>
          </a:solidFill>
          <a:ln w="19050">
            <a:solidFill>
              <a:srgbClr val="8FA8BF"/>
            </a:solidFill>
            <a:prstDash val="solid"/>
          </a:ln>
        </p:spPr>
        <p:txBody>
          <a:bodyPr/>
          <a:lstStyle/>
          <a:p>
            <a:endParaRPr lang="en-US"/>
          </a:p>
        </p:txBody>
      </p:sp>
      <p:sp>
        <p:nvSpPr>
          <p:cNvPr id="16" name="Text 14"/>
          <p:cNvSpPr/>
          <p:nvPr/>
        </p:nvSpPr>
        <p:spPr>
          <a:xfrm>
            <a:off x="2313432" y="2221992"/>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17" name="Shape 15"/>
          <p:cNvSpPr/>
          <p:nvPr/>
        </p:nvSpPr>
        <p:spPr>
          <a:xfrm>
            <a:off x="2715768" y="2221992"/>
            <a:ext cx="374904" cy="347472"/>
          </a:xfrm>
          <a:prstGeom prst="rect">
            <a:avLst/>
          </a:prstGeom>
          <a:solidFill>
            <a:srgbClr val="132338"/>
          </a:solidFill>
          <a:ln w="19050">
            <a:solidFill>
              <a:srgbClr val="8FA8BF"/>
            </a:solidFill>
            <a:prstDash val="solid"/>
          </a:ln>
        </p:spPr>
        <p:txBody>
          <a:bodyPr/>
          <a:lstStyle/>
          <a:p>
            <a:endParaRPr lang="en-US"/>
          </a:p>
        </p:txBody>
      </p:sp>
      <p:sp>
        <p:nvSpPr>
          <p:cNvPr id="18" name="Text 16"/>
          <p:cNvSpPr/>
          <p:nvPr/>
        </p:nvSpPr>
        <p:spPr>
          <a:xfrm>
            <a:off x="2715768" y="2221992"/>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19" name="Shape 17"/>
          <p:cNvSpPr/>
          <p:nvPr/>
        </p:nvSpPr>
        <p:spPr>
          <a:xfrm>
            <a:off x="3118104" y="2221992"/>
            <a:ext cx="374904" cy="347472"/>
          </a:xfrm>
          <a:prstGeom prst="rect">
            <a:avLst/>
          </a:prstGeom>
          <a:solidFill>
            <a:srgbClr val="132338"/>
          </a:solidFill>
          <a:ln w="19050">
            <a:solidFill>
              <a:srgbClr val="8FA8BF"/>
            </a:solidFill>
            <a:prstDash val="solid"/>
          </a:ln>
        </p:spPr>
        <p:txBody>
          <a:bodyPr/>
          <a:lstStyle/>
          <a:p>
            <a:endParaRPr lang="en-US"/>
          </a:p>
        </p:txBody>
      </p:sp>
      <p:sp>
        <p:nvSpPr>
          <p:cNvPr id="20" name="Text 18"/>
          <p:cNvSpPr/>
          <p:nvPr/>
        </p:nvSpPr>
        <p:spPr>
          <a:xfrm>
            <a:off x="3118104" y="2221992"/>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21" name="Shape 19"/>
          <p:cNvSpPr/>
          <p:nvPr/>
        </p:nvSpPr>
        <p:spPr>
          <a:xfrm>
            <a:off x="3520440" y="2221992"/>
            <a:ext cx="374904" cy="347472"/>
          </a:xfrm>
          <a:prstGeom prst="rect">
            <a:avLst/>
          </a:prstGeom>
          <a:solidFill>
            <a:srgbClr val="132338"/>
          </a:solidFill>
          <a:ln w="19050">
            <a:solidFill>
              <a:srgbClr val="8FA8BF"/>
            </a:solidFill>
            <a:prstDash val="solid"/>
          </a:ln>
        </p:spPr>
        <p:txBody>
          <a:bodyPr/>
          <a:lstStyle/>
          <a:p>
            <a:endParaRPr lang="en-US"/>
          </a:p>
        </p:txBody>
      </p:sp>
      <p:sp>
        <p:nvSpPr>
          <p:cNvPr id="22" name="Text 20"/>
          <p:cNvSpPr/>
          <p:nvPr/>
        </p:nvSpPr>
        <p:spPr>
          <a:xfrm>
            <a:off x="3520440" y="2221992"/>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23" name="Shape 21"/>
          <p:cNvSpPr/>
          <p:nvPr/>
        </p:nvSpPr>
        <p:spPr>
          <a:xfrm>
            <a:off x="3922776" y="2221992"/>
            <a:ext cx="374904" cy="347472"/>
          </a:xfrm>
          <a:prstGeom prst="rect">
            <a:avLst/>
          </a:prstGeom>
          <a:solidFill>
            <a:srgbClr val="132338"/>
          </a:solidFill>
          <a:ln w="19050">
            <a:solidFill>
              <a:srgbClr val="8FA8BF"/>
            </a:solidFill>
            <a:prstDash val="solid"/>
          </a:ln>
        </p:spPr>
        <p:txBody>
          <a:bodyPr/>
          <a:lstStyle/>
          <a:p>
            <a:endParaRPr lang="en-US"/>
          </a:p>
        </p:txBody>
      </p:sp>
      <p:sp>
        <p:nvSpPr>
          <p:cNvPr id="24" name="Text 22"/>
          <p:cNvSpPr/>
          <p:nvPr/>
        </p:nvSpPr>
        <p:spPr>
          <a:xfrm>
            <a:off x="3922776" y="2221992"/>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25" name="Shape 23"/>
          <p:cNvSpPr/>
          <p:nvPr/>
        </p:nvSpPr>
        <p:spPr>
          <a:xfrm>
            <a:off x="4325112" y="2221992"/>
            <a:ext cx="374904" cy="347472"/>
          </a:xfrm>
          <a:prstGeom prst="rect">
            <a:avLst/>
          </a:prstGeom>
          <a:solidFill>
            <a:srgbClr val="132338"/>
          </a:solidFill>
          <a:ln w="19050">
            <a:solidFill>
              <a:srgbClr val="8FA8BF"/>
            </a:solidFill>
            <a:prstDash val="solid"/>
          </a:ln>
        </p:spPr>
        <p:txBody>
          <a:bodyPr/>
          <a:lstStyle/>
          <a:p>
            <a:endParaRPr lang="en-US"/>
          </a:p>
        </p:txBody>
      </p:sp>
      <p:sp>
        <p:nvSpPr>
          <p:cNvPr id="26" name="Text 24"/>
          <p:cNvSpPr/>
          <p:nvPr/>
        </p:nvSpPr>
        <p:spPr>
          <a:xfrm>
            <a:off x="4325112" y="2221992"/>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27" name="Shape 25"/>
          <p:cNvSpPr/>
          <p:nvPr/>
        </p:nvSpPr>
        <p:spPr>
          <a:xfrm>
            <a:off x="365760" y="2706624"/>
            <a:ext cx="1005840" cy="320040"/>
          </a:xfrm>
          <a:prstGeom prst="rect">
            <a:avLst/>
          </a:prstGeom>
          <a:solidFill>
            <a:srgbClr val="00A3FF"/>
          </a:solidFill>
          <a:ln w="12700">
            <a:solidFill>
              <a:srgbClr val="00A3FF"/>
            </a:solidFill>
            <a:prstDash val="solid"/>
          </a:ln>
        </p:spPr>
        <p:txBody>
          <a:bodyPr/>
          <a:lstStyle/>
          <a:p>
            <a:endParaRPr lang="en-US"/>
          </a:p>
        </p:txBody>
      </p:sp>
      <p:sp>
        <p:nvSpPr>
          <p:cNvPr id="28" name="Text 26"/>
          <p:cNvSpPr/>
          <p:nvPr/>
        </p:nvSpPr>
        <p:spPr>
          <a:xfrm>
            <a:off x="365760" y="2706624"/>
            <a:ext cx="1005840" cy="32004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Parent 2</a:t>
            </a:r>
            <a:endParaRPr lang="en-US" sz="1000" dirty="0"/>
          </a:p>
        </p:txBody>
      </p:sp>
      <p:sp>
        <p:nvSpPr>
          <p:cNvPr id="29" name="Shape 27"/>
          <p:cNvSpPr/>
          <p:nvPr/>
        </p:nvSpPr>
        <p:spPr>
          <a:xfrm>
            <a:off x="1508760" y="2688336"/>
            <a:ext cx="374904" cy="347472"/>
          </a:xfrm>
          <a:prstGeom prst="rect">
            <a:avLst/>
          </a:prstGeom>
          <a:solidFill>
            <a:srgbClr val="132338"/>
          </a:solidFill>
          <a:ln w="19050">
            <a:solidFill>
              <a:srgbClr val="8FA8BF"/>
            </a:solidFill>
            <a:prstDash val="solid"/>
          </a:ln>
        </p:spPr>
        <p:txBody>
          <a:bodyPr/>
          <a:lstStyle/>
          <a:p>
            <a:endParaRPr lang="en-US"/>
          </a:p>
        </p:txBody>
      </p:sp>
      <p:sp>
        <p:nvSpPr>
          <p:cNvPr id="30" name="Text 28"/>
          <p:cNvSpPr/>
          <p:nvPr/>
        </p:nvSpPr>
        <p:spPr>
          <a:xfrm>
            <a:off x="1508760" y="2688336"/>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31" name="Shape 29"/>
          <p:cNvSpPr/>
          <p:nvPr/>
        </p:nvSpPr>
        <p:spPr>
          <a:xfrm>
            <a:off x="1911096" y="2688336"/>
            <a:ext cx="374904" cy="347472"/>
          </a:xfrm>
          <a:prstGeom prst="rect">
            <a:avLst/>
          </a:prstGeom>
          <a:solidFill>
            <a:srgbClr val="132338"/>
          </a:solidFill>
          <a:ln w="19050">
            <a:solidFill>
              <a:srgbClr val="8FA8BF"/>
            </a:solidFill>
            <a:prstDash val="solid"/>
          </a:ln>
        </p:spPr>
        <p:txBody>
          <a:bodyPr/>
          <a:lstStyle/>
          <a:p>
            <a:endParaRPr lang="en-US"/>
          </a:p>
        </p:txBody>
      </p:sp>
      <p:sp>
        <p:nvSpPr>
          <p:cNvPr id="32" name="Text 30"/>
          <p:cNvSpPr/>
          <p:nvPr/>
        </p:nvSpPr>
        <p:spPr>
          <a:xfrm>
            <a:off x="1911096" y="2688336"/>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33" name="Shape 31"/>
          <p:cNvSpPr/>
          <p:nvPr/>
        </p:nvSpPr>
        <p:spPr>
          <a:xfrm>
            <a:off x="2313432" y="2688336"/>
            <a:ext cx="374904" cy="347472"/>
          </a:xfrm>
          <a:prstGeom prst="rect">
            <a:avLst/>
          </a:prstGeom>
          <a:solidFill>
            <a:srgbClr val="132338"/>
          </a:solidFill>
          <a:ln w="19050">
            <a:solidFill>
              <a:srgbClr val="8FA8BF"/>
            </a:solidFill>
            <a:prstDash val="solid"/>
          </a:ln>
        </p:spPr>
        <p:txBody>
          <a:bodyPr/>
          <a:lstStyle/>
          <a:p>
            <a:endParaRPr lang="en-US"/>
          </a:p>
        </p:txBody>
      </p:sp>
      <p:sp>
        <p:nvSpPr>
          <p:cNvPr id="34" name="Text 32"/>
          <p:cNvSpPr/>
          <p:nvPr/>
        </p:nvSpPr>
        <p:spPr>
          <a:xfrm>
            <a:off x="2313432" y="2688336"/>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35" name="Shape 33"/>
          <p:cNvSpPr/>
          <p:nvPr/>
        </p:nvSpPr>
        <p:spPr>
          <a:xfrm>
            <a:off x="2715768" y="2688336"/>
            <a:ext cx="374904" cy="347472"/>
          </a:xfrm>
          <a:prstGeom prst="rect">
            <a:avLst/>
          </a:prstGeom>
          <a:solidFill>
            <a:srgbClr val="132338"/>
          </a:solidFill>
          <a:ln w="19050">
            <a:solidFill>
              <a:srgbClr val="8FA8BF"/>
            </a:solidFill>
            <a:prstDash val="solid"/>
          </a:ln>
        </p:spPr>
        <p:txBody>
          <a:bodyPr/>
          <a:lstStyle/>
          <a:p>
            <a:endParaRPr lang="en-US"/>
          </a:p>
        </p:txBody>
      </p:sp>
      <p:sp>
        <p:nvSpPr>
          <p:cNvPr id="36" name="Text 34"/>
          <p:cNvSpPr/>
          <p:nvPr/>
        </p:nvSpPr>
        <p:spPr>
          <a:xfrm>
            <a:off x="2715768" y="2688336"/>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37" name="Shape 35"/>
          <p:cNvSpPr/>
          <p:nvPr/>
        </p:nvSpPr>
        <p:spPr>
          <a:xfrm>
            <a:off x="3118104" y="2688336"/>
            <a:ext cx="374904" cy="347472"/>
          </a:xfrm>
          <a:prstGeom prst="rect">
            <a:avLst/>
          </a:prstGeom>
          <a:solidFill>
            <a:srgbClr val="132338"/>
          </a:solidFill>
          <a:ln w="19050">
            <a:solidFill>
              <a:srgbClr val="8FA8BF"/>
            </a:solidFill>
            <a:prstDash val="solid"/>
          </a:ln>
        </p:spPr>
        <p:txBody>
          <a:bodyPr/>
          <a:lstStyle/>
          <a:p>
            <a:endParaRPr lang="en-US"/>
          </a:p>
        </p:txBody>
      </p:sp>
      <p:sp>
        <p:nvSpPr>
          <p:cNvPr id="38" name="Text 36"/>
          <p:cNvSpPr/>
          <p:nvPr/>
        </p:nvSpPr>
        <p:spPr>
          <a:xfrm>
            <a:off x="3118104" y="2688336"/>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39" name="Shape 37"/>
          <p:cNvSpPr/>
          <p:nvPr/>
        </p:nvSpPr>
        <p:spPr>
          <a:xfrm>
            <a:off x="3520440" y="2688336"/>
            <a:ext cx="374904" cy="347472"/>
          </a:xfrm>
          <a:prstGeom prst="rect">
            <a:avLst/>
          </a:prstGeom>
          <a:solidFill>
            <a:srgbClr val="132338"/>
          </a:solidFill>
          <a:ln w="19050">
            <a:solidFill>
              <a:srgbClr val="8FA8BF"/>
            </a:solidFill>
            <a:prstDash val="solid"/>
          </a:ln>
        </p:spPr>
        <p:txBody>
          <a:bodyPr/>
          <a:lstStyle/>
          <a:p>
            <a:endParaRPr lang="en-US"/>
          </a:p>
        </p:txBody>
      </p:sp>
      <p:sp>
        <p:nvSpPr>
          <p:cNvPr id="40" name="Text 38"/>
          <p:cNvSpPr/>
          <p:nvPr/>
        </p:nvSpPr>
        <p:spPr>
          <a:xfrm>
            <a:off x="3520440" y="2688336"/>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41" name="Shape 39"/>
          <p:cNvSpPr/>
          <p:nvPr/>
        </p:nvSpPr>
        <p:spPr>
          <a:xfrm>
            <a:off x="3922776" y="2688336"/>
            <a:ext cx="374904" cy="347472"/>
          </a:xfrm>
          <a:prstGeom prst="rect">
            <a:avLst/>
          </a:prstGeom>
          <a:solidFill>
            <a:srgbClr val="132338"/>
          </a:solidFill>
          <a:ln w="19050">
            <a:solidFill>
              <a:srgbClr val="8FA8BF"/>
            </a:solidFill>
            <a:prstDash val="solid"/>
          </a:ln>
        </p:spPr>
        <p:txBody>
          <a:bodyPr/>
          <a:lstStyle/>
          <a:p>
            <a:endParaRPr lang="en-US"/>
          </a:p>
        </p:txBody>
      </p:sp>
      <p:sp>
        <p:nvSpPr>
          <p:cNvPr id="42" name="Text 40"/>
          <p:cNvSpPr/>
          <p:nvPr/>
        </p:nvSpPr>
        <p:spPr>
          <a:xfrm>
            <a:off x="3922776" y="2688336"/>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43" name="Shape 41"/>
          <p:cNvSpPr/>
          <p:nvPr/>
        </p:nvSpPr>
        <p:spPr>
          <a:xfrm>
            <a:off x="4325112" y="2688336"/>
            <a:ext cx="374904" cy="347472"/>
          </a:xfrm>
          <a:prstGeom prst="rect">
            <a:avLst/>
          </a:prstGeom>
          <a:solidFill>
            <a:srgbClr val="132338"/>
          </a:solidFill>
          <a:ln w="19050">
            <a:solidFill>
              <a:srgbClr val="8FA8BF"/>
            </a:solidFill>
            <a:prstDash val="solid"/>
          </a:ln>
        </p:spPr>
        <p:txBody>
          <a:bodyPr/>
          <a:lstStyle/>
          <a:p>
            <a:endParaRPr lang="en-US"/>
          </a:p>
        </p:txBody>
      </p:sp>
      <p:sp>
        <p:nvSpPr>
          <p:cNvPr id="44" name="Text 42"/>
          <p:cNvSpPr/>
          <p:nvPr/>
        </p:nvSpPr>
        <p:spPr>
          <a:xfrm>
            <a:off x="4325112" y="2688336"/>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45" name="Shape 43"/>
          <p:cNvSpPr/>
          <p:nvPr/>
        </p:nvSpPr>
        <p:spPr>
          <a:xfrm>
            <a:off x="365760" y="3172968"/>
            <a:ext cx="1005840" cy="320040"/>
          </a:xfrm>
          <a:prstGeom prst="rect">
            <a:avLst/>
          </a:prstGeom>
          <a:solidFill>
            <a:srgbClr val="FFB830"/>
          </a:solidFill>
          <a:ln w="12700">
            <a:solidFill>
              <a:srgbClr val="FFB830"/>
            </a:solidFill>
            <a:prstDash val="solid"/>
          </a:ln>
        </p:spPr>
        <p:txBody>
          <a:bodyPr/>
          <a:lstStyle/>
          <a:p>
            <a:endParaRPr lang="en-US"/>
          </a:p>
        </p:txBody>
      </p:sp>
      <p:sp>
        <p:nvSpPr>
          <p:cNvPr id="46" name="Text 44"/>
          <p:cNvSpPr/>
          <p:nvPr/>
        </p:nvSpPr>
        <p:spPr>
          <a:xfrm>
            <a:off x="365760" y="3172968"/>
            <a:ext cx="1005840" cy="32004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Parent 3</a:t>
            </a:r>
            <a:endParaRPr lang="en-US" sz="1000" dirty="0"/>
          </a:p>
        </p:txBody>
      </p:sp>
      <p:sp>
        <p:nvSpPr>
          <p:cNvPr id="47" name="Shape 45"/>
          <p:cNvSpPr/>
          <p:nvPr/>
        </p:nvSpPr>
        <p:spPr>
          <a:xfrm>
            <a:off x="1508760" y="3154680"/>
            <a:ext cx="374904" cy="347472"/>
          </a:xfrm>
          <a:prstGeom prst="rect">
            <a:avLst/>
          </a:prstGeom>
          <a:solidFill>
            <a:srgbClr val="132338"/>
          </a:solidFill>
          <a:ln w="19050">
            <a:solidFill>
              <a:srgbClr val="8FA8BF"/>
            </a:solidFill>
            <a:prstDash val="solid"/>
          </a:ln>
        </p:spPr>
        <p:txBody>
          <a:bodyPr/>
          <a:lstStyle/>
          <a:p>
            <a:endParaRPr lang="en-US"/>
          </a:p>
        </p:txBody>
      </p:sp>
      <p:sp>
        <p:nvSpPr>
          <p:cNvPr id="48" name="Text 46"/>
          <p:cNvSpPr/>
          <p:nvPr/>
        </p:nvSpPr>
        <p:spPr>
          <a:xfrm>
            <a:off x="1508760" y="315468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49" name="Shape 47"/>
          <p:cNvSpPr/>
          <p:nvPr/>
        </p:nvSpPr>
        <p:spPr>
          <a:xfrm>
            <a:off x="1911096" y="3154680"/>
            <a:ext cx="374904" cy="347472"/>
          </a:xfrm>
          <a:prstGeom prst="rect">
            <a:avLst/>
          </a:prstGeom>
          <a:solidFill>
            <a:srgbClr val="132338"/>
          </a:solidFill>
          <a:ln w="19050">
            <a:solidFill>
              <a:srgbClr val="8FA8BF"/>
            </a:solidFill>
            <a:prstDash val="solid"/>
          </a:ln>
        </p:spPr>
        <p:txBody>
          <a:bodyPr/>
          <a:lstStyle/>
          <a:p>
            <a:endParaRPr lang="en-US"/>
          </a:p>
        </p:txBody>
      </p:sp>
      <p:sp>
        <p:nvSpPr>
          <p:cNvPr id="50" name="Text 48"/>
          <p:cNvSpPr/>
          <p:nvPr/>
        </p:nvSpPr>
        <p:spPr>
          <a:xfrm>
            <a:off x="1911096" y="315468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51" name="Shape 49"/>
          <p:cNvSpPr/>
          <p:nvPr/>
        </p:nvSpPr>
        <p:spPr>
          <a:xfrm>
            <a:off x="2313432" y="3154680"/>
            <a:ext cx="374904" cy="347472"/>
          </a:xfrm>
          <a:prstGeom prst="rect">
            <a:avLst/>
          </a:prstGeom>
          <a:solidFill>
            <a:srgbClr val="132338"/>
          </a:solidFill>
          <a:ln w="19050">
            <a:solidFill>
              <a:srgbClr val="8FA8BF"/>
            </a:solidFill>
            <a:prstDash val="solid"/>
          </a:ln>
        </p:spPr>
        <p:txBody>
          <a:bodyPr/>
          <a:lstStyle/>
          <a:p>
            <a:endParaRPr lang="en-US"/>
          </a:p>
        </p:txBody>
      </p:sp>
      <p:sp>
        <p:nvSpPr>
          <p:cNvPr id="52" name="Text 50"/>
          <p:cNvSpPr/>
          <p:nvPr/>
        </p:nvSpPr>
        <p:spPr>
          <a:xfrm>
            <a:off x="2313432" y="315468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53" name="Shape 51"/>
          <p:cNvSpPr/>
          <p:nvPr/>
        </p:nvSpPr>
        <p:spPr>
          <a:xfrm>
            <a:off x="2715768" y="3154680"/>
            <a:ext cx="374904" cy="347472"/>
          </a:xfrm>
          <a:prstGeom prst="rect">
            <a:avLst/>
          </a:prstGeom>
          <a:solidFill>
            <a:srgbClr val="132338"/>
          </a:solidFill>
          <a:ln w="19050">
            <a:solidFill>
              <a:srgbClr val="8FA8BF"/>
            </a:solidFill>
            <a:prstDash val="solid"/>
          </a:ln>
        </p:spPr>
        <p:txBody>
          <a:bodyPr/>
          <a:lstStyle/>
          <a:p>
            <a:endParaRPr lang="en-US"/>
          </a:p>
        </p:txBody>
      </p:sp>
      <p:sp>
        <p:nvSpPr>
          <p:cNvPr id="54" name="Text 52"/>
          <p:cNvSpPr/>
          <p:nvPr/>
        </p:nvSpPr>
        <p:spPr>
          <a:xfrm>
            <a:off x="2715768" y="315468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55" name="Shape 53"/>
          <p:cNvSpPr/>
          <p:nvPr/>
        </p:nvSpPr>
        <p:spPr>
          <a:xfrm>
            <a:off x="3118104" y="3154680"/>
            <a:ext cx="374904" cy="347472"/>
          </a:xfrm>
          <a:prstGeom prst="rect">
            <a:avLst/>
          </a:prstGeom>
          <a:solidFill>
            <a:srgbClr val="132338"/>
          </a:solidFill>
          <a:ln w="19050">
            <a:solidFill>
              <a:srgbClr val="8FA8BF"/>
            </a:solidFill>
            <a:prstDash val="solid"/>
          </a:ln>
        </p:spPr>
        <p:txBody>
          <a:bodyPr/>
          <a:lstStyle/>
          <a:p>
            <a:endParaRPr lang="en-US"/>
          </a:p>
        </p:txBody>
      </p:sp>
      <p:sp>
        <p:nvSpPr>
          <p:cNvPr id="56" name="Text 54"/>
          <p:cNvSpPr/>
          <p:nvPr/>
        </p:nvSpPr>
        <p:spPr>
          <a:xfrm>
            <a:off x="3118104" y="315468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57" name="Shape 55"/>
          <p:cNvSpPr/>
          <p:nvPr/>
        </p:nvSpPr>
        <p:spPr>
          <a:xfrm>
            <a:off x="3520440" y="3154680"/>
            <a:ext cx="374904" cy="347472"/>
          </a:xfrm>
          <a:prstGeom prst="rect">
            <a:avLst/>
          </a:prstGeom>
          <a:solidFill>
            <a:srgbClr val="132338"/>
          </a:solidFill>
          <a:ln w="19050">
            <a:solidFill>
              <a:srgbClr val="8FA8BF"/>
            </a:solidFill>
            <a:prstDash val="solid"/>
          </a:ln>
        </p:spPr>
        <p:txBody>
          <a:bodyPr/>
          <a:lstStyle/>
          <a:p>
            <a:endParaRPr lang="en-US"/>
          </a:p>
        </p:txBody>
      </p:sp>
      <p:sp>
        <p:nvSpPr>
          <p:cNvPr id="58" name="Text 56"/>
          <p:cNvSpPr/>
          <p:nvPr/>
        </p:nvSpPr>
        <p:spPr>
          <a:xfrm>
            <a:off x="3520440" y="315468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59" name="Shape 57"/>
          <p:cNvSpPr/>
          <p:nvPr/>
        </p:nvSpPr>
        <p:spPr>
          <a:xfrm>
            <a:off x="3922776" y="3154680"/>
            <a:ext cx="374904" cy="347472"/>
          </a:xfrm>
          <a:prstGeom prst="rect">
            <a:avLst/>
          </a:prstGeom>
          <a:solidFill>
            <a:srgbClr val="132338"/>
          </a:solidFill>
          <a:ln w="19050">
            <a:solidFill>
              <a:srgbClr val="8FA8BF"/>
            </a:solidFill>
            <a:prstDash val="solid"/>
          </a:ln>
        </p:spPr>
        <p:txBody>
          <a:bodyPr/>
          <a:lstStyle/>
          <a:p>
            <a:endParaRPr lang="en-US"/>
          </a:p>
        </p:txBody>
      </p:sp>
      <p:sp>
        <p:nvSpPr>
          <p:cNvPr id="60" name="Text 58"/>
          <p:cNvSpPr/>
          <p:nvPr/>
        </p:nvSpPr>
        <p:spPr>
          <a:xfrm>
            <a:off x="3922776" y="315468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61" name="Shape 59"/>
          <p:cNvSpPr/>
          <p:nvPr/>
        </p:nvSpPr>
        <p:spPr>
          <a:xfrm>
            <a:off x="4325112" y="3154680"/>
            <a:ext cx="374904" cy="347472"/>
          </a:xfrm>
          <a:prstGeom prst="rect">
            <a:avLst/>
          </a:prstGeom>
          <a:solidFill>
            <a:srgbClr val="132338"/>
          </a:solidFill>
          <a:ln w="19050">
            <a:solidFill>
              <a:srgbClr val="8FA8BF"/>
            </a:solidFill>
            <a:prstDash val="solid"/>
          </a:ln>
        </p:spPr>
        <p:txBody>
          <a:bodyPr/>
          <a:lstStyle/>
          <a:p>
            <a:endParaRPr lang="en-US"/>
          </a:p>
        </p:txBody>
      </p:sp>
      <p:sp>
        <p:nvSpPr>
          <p:cNvPr id="62" name="Text 60"/>
          <p:cNvSpPr/>
          <p:nvPr/>
        </p:nvSpPr>
        <p:spPr>
          <a:xfrm>
            <a:off x="4325112" y="3154680"/>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63" name="Text 61"/>
          <p:cNvSpPr/>
          <p:nvPr/>
        </p:nvSpPr>
        <p:spPr>
          <a:xfrm>
            <a:off x="365760" y="3630168"/>
            <a:ext cx="1005840" cy="228600"/>
          </a:xfrm>
          <a:prstGeom prst="rect">
            <a:avLst/>
          </a:prstGeom>
          <a:noFill/>
          <a:ln/>
        </p:spPr>
        <p:txBody>
          <a:bodyPr wrap="square" rtlCol="0" anchor="ctr"/>
          <a:lstStyle/>
          <a:p>
            <a:pPr marL="0" indent="0" algn="ctr">
              <a:buNone/>
            </a:pPr>
            <a:r>
              <a:rPr lang="en-US" sz="1000" dirty="0">
                <a:solidFill>
                  <a:srgbClr val="8FA8BF"/>
                </a:solidFill>
                <a:latin typeface="Calibri" pitchFamily="34" charset="0"/>
                <a:ea typeface="Calibri" pitchFamily="34" charset="-122"/>
                <a:cs typeface="Calibri" pitchFamily="34" charset="-120"/>
              </a:rPr>
              <a:t>Match?</a:t>
            </a:r>
            <a:endParaRPr lang="en-US" sz="1000" dirty="0"/>
          </a:p>
        </p:txBody>
      </p:sp>
      <p:sp>
        <p:nvSpPr>
          <p:cNvPr id="64" name="Shape 62"/>
          <p:cNvSpPr/>
          <p:nvPr/>
        </p:nvSpPr>
        <p:spPr>
          <a:xfrm>
            <a:off x="1508760" y="3630168"/>
            <a:ext cx="374904" cy="228600"/>
          </a:xfrm>
          <a:prstGeom prst="rect">
            <a:avLst/>
          </a:prstGeom>
          <a:solidFill>
            <a:srgbClr val="0A2018"/>
          </a:solidFill>
          <a:ln w="12700">
            <a:solidFill>
              <a:srgbClr val="00C896"/>
            </a:solidFill>
            <a:prstDash val="solid"/>
          </a:ln>
        </p:spPr>
        <p:txBody>
          <a:bodyPr/>
          <a:lstStyle/>
          <a:p>
            <a:endParaRPr lang="en-US"/>
          </a:p>
        </p:txBody>
      </p:sp>
      <p:sp>
        <p:nvSpPr>
          <p:cNvPr id="65" name="Text 63"/>
          <p:cNvSpPr/>
          <p:nvPr/>
        </p:nvSpPr>
        <p:spPr>
          <a:xfrm>
            <a:off x="1508760" y="3630168"/>
            <a:ext cx="374904" cy="228600"/>
          </a:xfrm>
          <a:prstGeom prst="rect">
            <a:avLst/>
          </a:prstGeom>
          <a:noFill/>
          <a:ln/>
        </p:spPr>
        <p:txBody>
          <a:bodyPr wrap="square" lIns="0" tIns="0" rIns="0" bIns="0" rtlCol="0" anchor="ctr"/>
          <a:lstStyle/>
          <a:p>
            <a:pPr marL="0" indent="0" algn="ctr">
              <a:buNone/>
            </a:pPr>
            <a:r>
              <a:rPr lang="en-US" sz="800" b="1" dirty="0">
                <a:solidFill>
                  <a:srgbClr val="00C896"/>
                </a:solidFill>
                <a:latin typeface="Calibri" pitchFamily="34" charset="0"/>
                <a:ea typeface="Calibri" pitchFamily="34" charset="-122"/>
                <a:cs typeface="Calibri" pitchFamily="34" charset="-120"/>
              </a:rPr>
              <a:t>YES</a:t>
            </a:r>
            <a:endParaRPr lang="en-US" sz="800" dirty="0"/>
          </a:p>
        </p:txBody>
      </p:sp>
      <p:sp>
        <p:nvSpPr>
          <p:cNvPr id="66" name="Shape 64"/>
          <p:cNvSpPr/>
          <p:nvPr/>
        </p:nvSpPr>
        <p:spPr>
          <a:xfrm>
            <a:off x="1911096" y="3630168"/>
            <a:ext cx="374904" cy="228600"/>
          </a:xfrm>
          <a:prstGeom prst="rect">
            <a:avLst/>
          </a:prstGeom>
          <a:solidFill>
            <a:srgbClr val="200A0A"/>
          </a:solidFill>
          <a:ln w="12700">
            <a:solidFill>
              <a:srgbClr val="FF6B6B"/>
            </a:solidFill>
            <a:prstDash val="solid"/>
          </a:ln>
        </p:spPr>
        <p:txBody>
          <a:bodyPr/>
          <a:lstStyle/>
          <a:p>
            <a:endParaRPr lang="en-US"/>
          </a:p>
        </p:txBody>
      </p:sp>
      <p:sp>
        <p:nvSpPr>
          <p:cNvPr id="67" name="Text 65"/>
          <p:cNvSpPr/>
          <p:nvPr/>
        </p:nvSpPr>
        <p:spPr>
          <a:xfrm>
            <a:off x="1911096" y="3630168"/>
            <a:ext cx="374904" cy="228600"/>
          </a:xfrm>
          <a:prstGeom prst="rect">
            <a:avLst/>
          </a:prstGeom>
          <a:noFill/>
          <a:ln/>
        </p:spPr>
        <p:txBody>
          <a:bodyPr wrap="square" lIns="0" tIns="0" rIns="0" bIns="0" rtlCol="0" anchor="ctr"/>
          <a:lstStyle/>
          <a:p>
            <a:pPr marL="0" indent="0" algn="ctr">
              <a:buNone/>
            </a:pPr>
            <a:r>
              <a:rPr lang="en-US" sz="800" b="1" dirty="0">
                <a:solidFill>
                  <a:srgbClr val="FF6B6B"/>
                </a:solidFill>
                <a:latin typeface="Calibri" pitchFamily="34" charset="0"/>
                <a:ea typeface="Calibri" pitchFamily="34" charset="-122"/>
                <a:cs typeface="Calibri" pitchFamily="34" charset="-120"/>
              </a:rPr>
              <a:t>NO</a:t>
            </a:r>
            <a:endParaRPr lang="en-US" sz="800" dirty="0"/>
          </a:p>
        </p:txBody>
      </p:sp>
      <p:sp>
        <p:nvSpPr>
          <p:cNvPr id="68" name="Shape 66"/>
          <p:cNvSpPr/>
          <p:nvPr/>
        </p:nvSpPr>
        <p:spPr>
          <a:xfrm>
            <a:off x="2313432" y="3630168"/>
            <a:ext cx="374904" cy="228600"/>
          </a:xfrm>
          <a:prstGeom prst="rect">
            <a:avLst/>
          </a:prstGeom>
          <a:solidFill>
            <a:srgbClr val="0A2018"/>
          </a:solidFill>
          <a:ln w="12700">
            <a:solidFill>
              <a:srgbClr val="00C896"/>
            </a:solidFill>
            <a:prstDash val="solid"/>
          </a:ln>
        </p:spPr>
        <p:txBody>
          <a:bodyPr/>
          <a:lstStyle/>
          <a:p>
            <a:endParaRPr lang="en-US"/>
          </a:p>
        </p:txBody>
      </p:sp>
      <p:sp>
        <p:nvSpPr>
          <p:cNvPr id="69" name="Text 67"/>
          <p:cNvSpPr/>
          <p:nvPr/>
        </p:nvSpPr>
        <p:spPr>
          <a:xfrm>
            <a:off x="2313432" y="3630168"/>
            <a:ext cx="374904" cy="228600"/>
          </a:xfrm>
          <a:prstGeom prst="rect">
            <a:avLst/>
          </a:prstGeom>
          <a:noFill/>
          <a:ln/>
        </p:spPr>
        <p:txBody>
          <a:bodyPr wrap="square" lIns="0" tIns="0" rIns="0" bIns="0" rtlCol="0" anchor="ctr"/>
          <a:lstStyle/>
          <a:p>
            <a:pPr marL="0" indent="0" algn="ctr">
              <a:buNone/>
            </a:pPr>
            <a:r>
              <a:rPr lang="en-US" sz="800" b="1" dirty="0">
                <a:solidFill>
                  <a:srgbClr val="00C896"/>
                </a:solidFill>
                <a:latin typeface="Calibri" pitchFamily="34" charset="0"/>
                <a:ea typeface="Calibri" pitchFamily="34" charset="-122"/>
                <a:cs typeface="Calibri" pitchFamily="34" charset="-120"/>
              </a:rPr>
              <a:t>YES</a:t>
            </a:r>
            <a:endParaRPr lang="en-US" sz="800" dirty="0"/>
          </a:p>
        </p:txBody>
      </p:sp>
      <p:sp>
        <p:nvSpPr>
          <p:cNvPr id="70" name="Shape 68"/>
          <p:cNvSpPr/>
          <p:nvPr/>
        </p:nvSpPr>
        <p:spPr>
          <a:xfrm>
            <a:off x="2715768" y="3630168"/>
            <a:ext cx="374904" cy="228600"/>
          </a:xfrm>
          <a:prstGeom prst="rect">
            <a:avLst/>
          </a:prstGeom>
          <a:solidFill>
            <a:srgbClr val="200A0A"/>
          </a:solidFill>
          <a:ln w="12700">
            <a:solidFill>
              <a:srgbClr val="FF6B6B"/>
            </a:solidFill>
            <a:prstDash val="solid"/>
          </a:ln>
        </p:spPr>
        <p:txBody>
          <a:bodyPr/>
          <a:lstStyle/>
          <a:p>
            <a:endParaRPr lang="en-US"/>
          </a:p>
        </p:txBody>
      </p:sp>
      <p:sp>
        <p:nvSpPr>
          <p:cNvPr id="71" name="Text 69"/>
          <p:cNvSpPr/>
          <p:nvPr/>
        </p:nvSpPr>
        <p:spPr>
          <a:xfrm>
            <a:off x="2715768" y="3630168"/>
            <a:ext cx="374904" cy="228600"/>
          </a:xfrm>
          <a:prstGeom prst="rect">
            <a:avLst/>
          </a:prstGeom>
          <a:noFill/>
          <a:ln/>
        </p:spPr>
        <p:txBody>
          <a:bodyPr wrap="square" lIns="0" tIns="0" rIns="0" bIns="0" rtlCol="0" anchor="ctr"/>
          <a:lstStyle/>
          <a:p>
            <a:pPr marL="0" indent="0" algn="ctr">
              <a:buNone/>
            </a:pPr>
            <a:r>
              <a:rPr lang="en-US" sz="800" b="1" dirty="0">
                <a:solidFill>
                  <a:srgbClr val="FF6B6B"/>
                </a:solidFill>
                <a:latin typeface="Calibri" pitchFamily="34" charset="0"/>
                <a:ea typeface="Calibri" pitchFamily="34" charset="-122"/>
                <a:cs typeface="Calibri" pitchFamily="34" charset="-120"/>
              </a:rPr>
              <a:t>NO</a:t>
            </a:r>
            <a:endParaRPr lang="en-US" sz="800" dirty="0"/>
          </a:p>
        </p:txBody>
      </p:sp>
      <p:sp>
        <p:nvSpPr>
          <p:cNvPr id="72" name="Shape 70"/>
          <p:cNvSpPr/>
          <p:nvPr/>
        </p:nvSpPr>
        <p:spPr>
          <a:xfrm>
            <a:off x="3118104" y="3630168"/>
            <a:ext cx="374904" cy="228600"/>
          </a:xfrm>
          <a:prstGeom prst="rect">
            <a:avLst/>
          </a:prstGeom>
          <a:solidFill>
            <a:srgbClr val="0A2018"/>
          </a:solidFill>
          <a:ln w="12700">
            <a:solidFill>
              <a:srgbClr val="00C896"/>
            </a:solidFill>
            <a:prstDash val="solid"/>
          </a:ln>
        </p:spPr>
        <p:txBody>
          <a:bodyPr/>
          <a:lstStyle/>
          <a:p>
            <a:endParaRPr lang="en-US"/>
          </a:p>
        </p:txBody>
      </p:sp>
      <p:sp>
        <p:nvSpPr>
          <p:cNvPr id="73" name="Text 71"/>
          <p:cNvSpPr/>
          <p:nvPr/>
        </p:nvSpPr>
        <p:spPr>
          <a:xfrm>
            <a:off x="3118104" y="3630168"/>
            <a:ext cx="374904" cy="228600"/>
          </a:xfrm>
          <a:prstGeom prst="rect">
            <a:avLst/>
          </a:prstGeom>
          <a:noFill/>
          <a:ln/>
        </p:spPr>
        <p:txBody>
          <a:bodyPr wrap="square" lIns="0" tIns="0" rIns="0" bIns="0" rtlCol="0" anchor="ctr"/>
          <a:lstStyle/>
          <a:p>
            <a:pPr marL="0" indent="0" algn="ctr">
              <a:buNone/>
            </a:pPr>
            <a:r>
              <a:rPr lang="en-US" sz="800" b="1" dirty="0">
                <a:solidFill>
                  <a:srgbClr val="00C896"/>
                </a:solidFill>
                <a:latin typeface="Calibri" pitchFamily="34" charset="0"/>
                <a:ea typeface="Calibri" pitchFamily="34" charset="-122"/>
                <a:cs typeface="Calibri" pitchFamily="34" charset="-120"/>
              </a:rPr>
              <a:t>YES</a:t>
            </a:r>
            <a:endParaRPr lang="en-US" sz="800" dirty="0"/>
          </a:p>
        </p:txBody>
      </p:sp>
      <p:sp>
        <p:nvSpPr>
          <p:cNvPr id="74" name="Shape 72"/>
          <p:cNvSpPr/>
          <p:nvPr/>
        </p:nvSpPr>
        <p:spPr>
          <a:xfrm>
            <a:off x="3520440" y="3630168"/>
            <a:ext cx="374904" cy="228600"/>
          </a:xfrm>
          <a:prstGeom prst="rect">
            <a:avLst/>
          </a:prstGeom>
          <a:solidFill>
            <a:srgbClr val="200A0A"/>
          </a:solidFill>
          <a:ln w="12700">
            <a:solidFill>
              <a:srgbClr val="FF6B6B"/>
            </a:solidFill>
            <a:prstDash val="solid"/>
          </a:ln>
        </p:spPr>
        <p:txBody>
          <a:bodyPr/>
          <a:lstStyle/>
          <a:p>
            <a:endParaRPr lang="en-US"/>
          </a:p>
        </p:txBody>
      </p:sp>
      <p:sp>
        <p:nvSpPr>
          <p:cNvPr id="75" name="Text 73"/>
          <p:cNvSpPr/>
          <p:nvPr/>
        </p:nvSpPr>
        <p:spPr>
          <a:xfrm>
            <a:off x="3520440" y="3630168"/>
            <a:ext cx="374904" cy="228600"/>
          </a:xfrm>
          <a:prstGeom prst="rect">
            <a:avLst/>
          </a:prstGeom>
          <a:noFill/>
          <a:ln/>
        </p:spPr>
        <p:txBody>
          <a:bodyPr wrap="square" lIns="0" tIns="0" rIns="0" bIns="0" rtlCol="0" anchor="ctr"/>
          <a:lstStyle/>
          <a:p>
            <a:pPr marL="0" indent="0" algn="ctr">
              <a:buNone/>
            </a:pPr>
            <a:r>
              <a:rPr lang="en-US" sz="800" b="1" dirty="0">
                <a:solidFill>
                  <a:srgbClr val="FF6B6B"/>
                </a:solidFill>
                <a:latin typeface="Calibri" pitchFamily="34" charset="0"/>
                <a:ea typeface="Calibri" pitchFamily="34" charset="-122"/>
                <a:cs typeface="Calibri" pitchFamily="34" charset="-120"/>
              </a:rPr>
              <a:t>NO</a:t>
            </a:r>
            <a:endParaRPr lang="en-US" sz="800" dirty="0"/>
          </a:p>
        </p:txBody>
      </p:sp>
      <p:sp>
        <p:nvSpPr>
          <p:cNvPr id="76" name="Shape 74"/>
          <p:cNvSpPr/>
          <p:nvPr/>
        </p:nvSpPr>
        <p:spPr>
          <a:xfrm>
            <a:off x="3922776" y="3630168"/>
            <a:ext cx="374904" cy="228600"/>
          </a:xfrm>
          <a:prstGeom prst="rect">
            <a:avLst/>
          </a:prstGeom>
          <a:solidFill>
            <a:srgbClr val="200A0A"/>
          </a:solidFill>
          <a:ln w="12700">
            <a:solidFill>
              <a:srgbClr val="FF6B6B"/>
            </a:solidFill>
            <a:prstDash val="solid"/>
          </a:ln>
        </p:spPr>
        <p:txBody>
          <a:bodyPr/>
          <a:lstStyle/>
          <a:p>
            <a:endParaRPr lang="en-US"/>
          </a:p>
        </p:txBody>
      </p:sp>
      <p:sp>
        <p:nvSpPr>
          <p:cNvPr id="77" name="Text 75"/>
          <p:cNvSpPr/>
          <p:nvPr/>
        </p:nvSpPr>
        <p:spPr>
          <a:xfrm>
            <a:off x="3922776" y="3630168"/>
            <a:ext cx="374904" cy="228600"/>
          </a:xfrm>
          <a:prstGeom prst="rect">
            <a:avLst/>
          </a:prstGeom>
          <a:noFill/>
          <a:ln/>
        </p:spPr>
        <p:txBody>
          <a:bodyPr wrap="square" lIns="0" tIns="0" rIns="0" bIns="0" rtlCol="0" anchor="ctr"/>
          <a:lstStyle/>
          <a:p>
            <a:pPr marL="0" indent="0" algn="ctr">
              <a:buNone/>
            </a:pPr>
            <a:r>
              <a:rPr lang="en-US" sz="800" b="1" dirty="0">
                <a:solidFill>
                  <a:srgbClr val="FF6B6B"/>
                </a:solidFill>
                <a:latin typeface="Calibri" pitchFamily="34" charset="0"/>
                <a:ea typeface="Calibri" pitchFamily="34" charset="-122"/>
                <a:cs typeface="Calibri" pitchFamily="34" charset="-120"/>
              </a:rPr>
              <a:t>NO</a:t>
            </a:r>
            <a:endParaRPr lang="en-US" sz="800" dirty="0"/>
          </a:p>
        </p:txBody>
      </p:sp>
      <p:sp>
        <p:nvSpPr>
          <p:cNvPr id="78" name="Shape 76"/>
          <p:cNvSpPr/>
          <p:nvPr/>
        </p:nvSpPr>
        <p:spPr>
          <a:xfrm>
            <a:off x="4325112" y="3630168"/>
            <a:ext cx="374904" cy="228600"/>
          </a:xfrm>
          <a:prstGeom prst="rect">
            <a:avLst/>
          </a:prstGeom>
          <a:solidFill>
            <a:srgbClr val="0A2018"/>
          </a:solidFill>
          <a:ln w="12700">
            <a:solidFill>
              <a:srgbClr val="00C896"/>
            </a:solidFill>
            <a:prstDash val="solid"/>
          </a:ln>
        </p:spPr>
        <p:txBody>
          <a:bodyPr/>
          <a:lstStyle/>
          <a:p>
            <a:endParaRPr lang="en-US"/>
          </a:p>
        </p:txBody>
      </p:sp>
      <p:sp>
        <p:nvSpPr>
          <p:cNvPr id="79" name="Text 77"/>
          <p:cNvSpPr/>
          <p:nvPr/>
        </p:nvSpPr>
        <p:spPr>
          <a:xfrm>
            <a:off x="4325112" y="3630168"/>
            <a:ext cx="374904" cy="228600"/>
          </a:xfrm>
          <a:prstGeom prst="rect">
            <a:avLst/>
          </a:prstGeom>
          <a:noFill/>
          <a:ln/>
        </p:spPr>
        <p:txBody>
          <a:bodyPr wrap="square" lIns="0" tIns="0" rIns="0" bIns="0" rtlCol="0" anchor="ctr"/>
          <a:lstStyle/>
          <a:p>
            <a:pPr marL="0" indent="0" algn="ctr">
              <a:buNone/>
            </a:pPr>
            <a:r>
              <a:rPr lang="en-US" sz="800" b="1" dirty="0">
                <a:solidFill>
                  <a:srgbClr val="00C896"/>
                </a:solidFill>
                <a:latin typeface="Calibri" pitchFamily="34" charset="0"/>
                <a:ea typeface="Calibri" pitchFamily="34" charset="-122"/>
                <a:cs typeface="Calibri" pitchFamily="34" charset="-120"/>
              </a:rPr>
              <a:t>YES</a:t>
            </a:r>
            <a:endParaRPr lang="en-US" sz="800" dirty="0"/>
          </a:p>
        </p:txBody>
      </p:sp>
      <p:sp>
        <p:nvSpPr>
          <p:cNvPr id="80" name="Text 78"/>
          <p:cNvSpPr/>
          <p:nvPr/>
        </p:nvSpPr>
        <p:spPr>
          <a:xfrm>
            <a:off x="365760" y="3950208"/>
            <a:ext cx="1005840" cy="256032"/>
          </a:xfrm>
          <a:prstGeom prst="rect">
            <a:avLst/>
          </a:prstGeom>
          <a:noFill/>
          <a:ln/>
        </p:spPr>
        <p:txBody>
          <a:bodyPr wrap="square" rtlCol="0" anchor="ctr"/>
          <a:lstStyle/>
          <a:p>
            <a:pPr marL="0" indent="0">
              <a:buNone/>
            </a:pPr>
            <a:r>
              <a:rPr lang="en-US" sz="1100" i="1" dirty="0">
                <a:solidFill>
                  <a:srgbClr val="8FA8BF"/>
                </a:solidFill>
                <a:latin typeface="Calibri" pitchFamily="34" charset="0"/>
                <a:ea typeface="Calibri" pitchFamily="34" charset="-122"/>
                <a:cs typeface="Calibri" pitchFamily="34" charset="-120"/>
              </a:rPr>
              <a:t>↓  Child:</a:t>
            </a:r>
            <a:endParaRPr lang="en-US" sz="1100" dirty="0"/>
          </a:p>
        </p:txBody>
      </p:sp>
      <p:sp>
        <p:nvSpPr>
          <p:cNvPr id="81" name="Shape 79"/>
          <p:cNvSpPr/>
          <p:nvPr/>
        </p:nvSpPr>
        <p:spPr>
          <a:xfrm>
            <a:off x="365760" y="4251960"/>
            <a:ext cx="1005840" cy="320040"/>
          </a:xfrm>
          <a:prstGeom prst="rect">
            <a:avLst/>
          </a:prstGeom>
          <a:solidFill>
            <a:srgbClr val="E05AFF"/>
          </a:solidFill>
          <a:ln w="12700">
            <a:solidFill>
              <a:srgbClr val="E05AFF"/>
            </a:solidFill>
            <a:prstDash val="solid"/>
          </a:ln>
        </p:spPr>
        <p:txBody>
          <a:bodyPr/>
          <a:lstStyle/>
          <a:p>
            <a:endParaRPr lang="en-US"/>
          </a:p>
        </p:txBody>
      </p:sp>
      <p:sp>
        <p:nvSpPr>
          <p:cNvPr id="82" name="Text 80"/>
          <p:cNvSpPr/>
          <p:nvPr/>
        </p:nvSpPr>
        <p:spPr>
          <a:xfrm>
            <a:off x="365760" y="4251960"/>
            <a:ext cx="1005840" cy="32004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Child</a:t>
            </a:r>
            <a:endParaRPr lang="en-US" sz="1000" dirty="0"/>
          </a:p>
        </p:txBody>
      </p:sp>
      <p:sp>
        <p:nvSpPr>
          <p:cNvPr id="83" name="Shape 81"/>
          <p:cNvSpPr/>
          <p:nvPr/>
        </p:nvSpPr>
        <p:spPr>
          <a:xfrm>
            <a:off x="1508760" y="4233672"/>
            <a:ext cx="374904" cy="347472"/>
          </a:xfrm>
          <a:prstGeom prst="rect">
            <a:avLst/>
          </a:prstGeom>
          <a:solidFill>
            <a:srgbClr val="00C896"/>
          </a:solidFill>
          <a:ln w="19050">
            <a:solidFill>
              <a:srgbClr val="00C896"/>
            </a:solidFill>
            <a:prstDash val="solid"/>
          </a:ln>
        </p:spPr>
        <p:txBody>
          <a:bodyPr/>
          <a:lstStyle/>
          <a:p>
            <a:endParaRPr lang="en-US"/>
          </a:p>
        </p:txBody>
      </p:sp>
      <p:sp>
        <p:nvSpPr>
          <p:cNvPr id="84" name="Text 82"/>
          <p:cNvSpPr/>
          <p:nvPr/>
        </p:nvSpPr>
        <p:spPr>
          <a:xfrm>
            <a:off x="1508760" y="4233672"/>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85" name="Shape 83"/>
          <p:cNvSpPr/>
          <p:nvPr/>
        </p:nvSpPr>
        <p:spPr>
          <a:xfrm>
            <a:off x="1911096" y="4233672"/>
            <a:ext cx="374904" cy="347472"/>
          </a:xfrm>
          <a:prstGeom prst="rect">
            <a:avLst/>
          </a:prstGeom>
          <a:solidFill>
            <a:srgbClr val="132338"/>
          </a:solidFill>
          <a:ln w="19050">
            <a:solidFill>
              <a:srgbClr val="8FA8BF"/>
            </a:solidFill>
            <a:prstDash val="solid"/>
          </a:ln>
        </p:spPr>
        <p:txBody>
          <a:bodyPr/>
          <a:lstStyle/>
          <a:p>
            <a:endParaRPr lang="en-US"/>
          </a:p>
        </p:txBody>
      </p:sp>
      <p:sp>
        <p:nvSpPr>
          <p:cNvPr id="86" name="Text 84"/>
          <p:cNvSpPr/>
          <p:nvPr/>
        </p:nvSpPr>
        <p:spPr>
          <a:xfrm>
            <a:off x="1911096" y="4233672"/>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87" name="Shape 85"/>
          <p:cNvSpPr/>
          <p:nvPr/>
        </p:nvSpPr>
        <p:spPr>
          <a:xfrm>
            <a:off x="2313432" y="4233672"/>
            <a:ext cx="374904" cy="347472"/>
          </a:xfrm>
          <a:prstGeom prst="rect">
            <a:avLst/>
          </a:prstGeom>
          <a:solidFill>
            <a:srgbClr val="00C896"/>
          </a:solidFill>
          <a:ln w="19050">
            <a:solidFill>
              <a:srgbClr val="00C896"/>
            </a:solidFill>
            <a:prstDash val="solid"/>
          </a:ln>
        </p:spPr>
        <p:txBody>
          <a:bodyPr/>
          <a:lstStyle/>
          <a:p>
            <a:endParaRPr lang="en-US"/>
          </a:p>
        </p:txBody>
      </p:sp>
      <p:sp>
        <p:nvSpPr>
          <p:cNvPr id="88" name="Text 86"/>
          <p:cNvSpPr/>
          <p:nvPr/>
        </p:nvSpPr>
        <p:spPr>
          <a:xfrm>
            <a:off x="2313432" y="4233672"/>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89" name="Shape 87"/>
          <p:cNvSpPr/>
          <p:nvPr/>
        </p:nvSpPr>
        <p:spPr>
          <a:xfrm>
            <a:off x="2715768" y="4233672"/>
            <a:ext cx="374904" cy="347472"/>
          </a:xfrm>
          <a:prstGeom prst="rect">
            <a:avLst/>
          </a:prstGeom>
          <a:solidFill>
            <a:srgbClr val="132338"/>
          </a:solidFill>
          <a:ln w="19050">
            <a:solidFill>
              <a:srgbClr val="8FA8BF"/>
            </a:solidFill>
            <a:prstDash val="solid"/>
          </a:ln>
        </p:spPr>
        <p:txBody>
          <a:bodyPr/>
          <a:lstStyle/>
          <a:p>
            <a:endParaRPr lang="en-US"/>
          </a:p>
        </p:txBody>
      </p:sp>
      <p:sp>
        <p:nvSpPr>
          <p:cNvPr id="90" name="Text 88"/>
          <p:cNvSpPr/>
          <p:nvPr/>
        </p:nvSpPr>
        <p:spPr>
          <a:xfrm>
            <a:off x="2715768" y="4233672"/>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91" name="Shape 89"/>
          <p:cNvSpPr/>
          <p:nvPr/>
        </p:nvSpPr>
        <p:spPr>
          <a:xfrm>
            <a:off x="3118104" y="4233672"/>
            <a:ext cx="374904" cy="347472"/>
          </a:xfrm>
          <a:prstGeom prst="rect">
            <a:avLst/>
          </a:prstGeom>
          <a:solidFill>
            <a:srgbClr val="00C896"/>
          </a:solidFill>
          <a:ln w="19050">
            <a:solidFill>
              <a:srgbClr val="00C896"/>
            </a:solidFill>
            <a:prstDash val="solid"/>
          </a:ln>
        </p:spPr>
        <p:txBody>
          <a:bodyPr/>
          <a:lstStyle/>
          <a:p>
            <a:endParaRPr lang="en-US"/>
          </a:p>
        </p:txBody>
      </p:sp>
      <p:sp>
        <p:nvSpPr>
          <p:cNvPr id="92" name="Text 90"/>
          <p:cNvSpPr/>
          <p:nvPr/>
        </p:nvSpPr>
        <p:spPr>
          <a:xfrm>
            <a:off x="3118104" y="4233672"/>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93" name="Shape 91"/>
          <p:cNvSpPr/>
          <p:nvPr/>
        </p:nvSpPr>
        <p:spPr>
          <a:xfrm>
            <a:off x="3520440" y="4233672"/>
            <a:ext cx="374904" cy="347472"/>
          </a:xfrm>
          <a:prstGeom prst="rect">
            <a:avLst/>
          </a:prstGeom>
          <a:solidFill>
            <a:srgbClr val="132338"/>
          </a:solidFill>
          <a:ln w="19050">
            <a:solidFill>
              <a:srgbClr val="8FA8BF"/>
            </a:solidFill>
            <a:prstDash val="solid"/>
          </a:ln>
        </p:spPr>
        <p:txBody>
          <a:bodyPr/>
          <a:lstStyle/>
          <a:p>
            <a:endParaRPr lang="en-US"/>
          </a:p>
        </p:txBody>
      </p:sp>
      <p:sp>
        <p:nvSpPr>
          <p:cNvPr id="94" name="Text 92"/>
          <p:cNvSpPr/>
          <p:nvPr/>
        </p:nvSpPr>
        <p:spPr>
          <a:xfrm>
            <a:off x="3520440" y="4233672"/>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95" name="Shape 93"/>
          <p:cNvSpPr/>
          <p:nvPr/>
        </p:nvSpPr>
        <p:spPr>
          <a:xfrm>
            <a:off x="3922776" y="4233672"/>
            <a:ext cx="374904" cy="347472"/>
          </a:xfrm>
          <a:prstGeom prst="rect">
            <a:avLst/>
          </a:prstGeom>
          <a:solidFill>
            <a:srgbClr val="132338"/>
          </a:solidFill>
          <a:ln w="19050">
            <a:solidFill>
              <a:srgbClr val="8FA8BF"/>
            </a:solidFill>
            <a:prstDash val="solid"/>
          </a:ln>
        </p:spPr>
        <p:txBody>
          <a:bodyPr/>
          <a:lstStyle/>
          <a:p>
            <a:endParaRPr lang="en-US"/>
          </a:p>
        </p:txBody>
      </p:sp>
      <p:sp>
        <p:nvSpPr>
          <p:cNvPr id="96" name="Text 94"/>
          <p:cNvSpPr/>
          <p:nvPr/>
        </p:nvSpPr>
        <p:spPr>
          <a:xfrm>
            <a:off x="3922776" y="4233672"/>
            <a:ext cx="37490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97" name="Shape 95"/>
          <p:cNvSpPr/>
          <p:nvPr/>
        </p:nvSpPr>
        <p:spPr>
          <a:xfrm>
            <a:off x="4325112" y="4233672"/>
            <a:ext cx="374904" cy="347472"/>
          </a:xfrm>
          <a:prstGeom prst="rect">
            <a:avLst/>
          </a:prstGeom>
          <a:solidFill>
            <a:srgbClr val="00C896"/>
          </a:solidFill>
          <a:ln w="19050">
            <a:solidFill>
              <a:srgbClr val="00C896"/>
            </a:solidFill>
            <a:prstDash val="solid"/>
          </a:ln>
        </p:spPr>
        <p:txBody>
          <a:bodyPr/>
          <a:lstStyle/>
          <a:p>
            <a:endParaRPr lang="en-US"/>
          </a:p>
        </p:txBody>
      </p:sp>
      <p:sp>
        <p:nvSpPr>
          <p:cNvPr id="98" name="Text 96"/>
          <p:cNvSpPr/>
          <p:nvPr/>
        </p:nvSpPr>
        <p:spPr>
          <a:xfrm>
            <a:off x="4325112" y="4233672"/>
            <a:ext cx="3749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99" name="Text 97"/>
          <p:cNvSpPr/>
          <p:nvPr/>
        </p:nvSpPr>
        <p:spPr>
          <a:xfrm>
            <a:off x="365760" y="4663440"/>
            <a:ext cx="8412480" cy="256032"/>
          </a:xfrm>
          <a:prstGeom prst="rect">
            <a:avLst/>
          </a:prstGeom>
          <a:noFill/>
          <a:ln/>
        </p:spPr>
        <p:txBody>
          <a:bodyPr wrap="square" rtlCol="0" anchor="ctr"/>
          <a:lstStyle/>
          <a:p>
            <a:pPr marL="0" indent="0">
              <a:buNone/>
            </a:pPr>
            <a:r>
              <a:rPr lang="en-US" sz="1100" i="1" dirty="0">
                <a:solidFill>
                  <a:srgbClr val="8FA8BF"/>
                </a:solidFill>
                <a:latin typeface="Calibri" pitchFamily="34" charset="0"/>
                <a:ea typeface="Calibri" pitchFamily="34" charset="-122"/>
                <a:cs typeface="Calibri" pitchFamily="34" charset="-120"/>
              </a:rPr>
              <a:t>Green = from P1≡P2 agreement · White = from P3</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256032"/>
            <a:ext cx="64008" cy="502920"/>
          </a:xfrm>
          <a:prstGeom prst="rect">
            <a:avLst/>
          </a:prstGeom>
          <a:solidFill>
            <a:srgbClr val="00C896"/>
          </a:solidFill>
          <a:ln w="12700">
            <a:solidFill>
              <a:srgbClr val="00C896"/>
            </a:solidFill>
            <a:prstDash val="solid"/>
          </a:ln>
        </p:spPr>
        <p:txBody>
          <a:bodyPr/>
          <a:lstStyle/>
          <a:p>
            <a:endParaRPr lang="en-US"/>
          </a:p>
        </p:txBody>
      </p:sp>
      <p:sp>
        <p:nvSpPr>
          <p:cNvPr id="3" name="Text 1"/>
          <p:cNvSpPr/>
          <p:nvPr/>
        </p:nvSpPr>
        <p:spPr>
          <a:xfrm>
            <a:off x="512064" y="256032"/>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Shuffle Crossover</a:t>
            </a:r>
            <a:endParaRPr lang="en-US" sz="2800" dirty="0"/>
          </a:p>
        </p:txBody>
      </p:sp>
      <p:sp>
        <p:nvSpPr>
          <p:cNvPr id="5" name="Shape 3"/>
          <p:cNvSpPr/>
          <p:nvPr/>
        </p:nvSpPr>
        <p:spPr>
          <a:xfrm>
            <a:off x="365760" y="868680"/>
            <a:ext cx="8412480" cy="0"/>
          </a:xfrm>
          <a:prstGeom prst="line">
            <a:avLst/>
          </a:prstGeom>
          <a:noFill/>
          <a:ln w="12700">
            <a:solidFill>
              <a:srgbClr val="00C896">
                <a:alpha val="50000"/>
              </a:srgbClr>
            </a:solidFill>
            <a:prstDash val="solid"/>
          </a:ln>
        </p:spPr>
        <p:txBody>
          <a:bodyPr/>
          <a:lstStyle/>
          <a:p>
            <a:endParaRPr lang="en-US"/>
          </a:p>
        </p:txBody>
      </p:sp>
      <p:sp>
        <p:nvSpPr>
          <p:cNvPr id="6" name="Shape 4"/>
          <p:cNvSpPr/>
          <p:nvPr/>
        </p:nvSpPr>
        <p:spPr>
          <a:xfrm>
            <a:off x="365760" y="1005840"/>
            <a:ext cx="8412480" cy="640080"/>
          </a:xfrm>
          <a:prstGeom prst="rect">
            <a:avLst/>
          </a:prstGeom>
          <a:solidFill>
            <a:srgbClr val="1A2E44"/>
          </a:solidFill>
          <a:ln w="19050">
            <a:solidFill>
              <a:srgbClr val="00A3FF"/>
            </a:solidFill>
            <a:prstDash val="solid"/>
          </a:ln>
          <a:effectLst>
            <a:outerShdw blurRad="101600" dist="38100" dir="8100000" algn="bl" rotWithShape="0">
              <a:srgbClr val="000000">
                <a:alpha val="25000"/>
              </a:srgbClr>
            </a:outerShdw>
          </a:effectLst>
        </p:spPr>
        <p:txBody>
          <a:bodyPr/>
          <a:lstStyle/>
          <a:p>
            <a:endParaRPr lang="en-US"/>
          </a:p>
        </p:txBody>
      </p:sp>
      <p:sp>
        <p:nvSpPr>
          <p:cNvPr id="7" name="Text 5"/>
          <p:cNvSpPr/>
          <p:nvPr/>
        </p:nvSpPr>
        <p:spPr>
          <a:xfrm>
            <a:off x="502920" y="1033272"/>
            <a:ext cx="8229600" cy="594360"/>
          </a:xfrm>
          <a:prstGeom prst="rect">
            <a:avLst/>
          </a:prstGeom>
          <a:noFill/>
          <a:ln/>
        </p:spPr>
        <p:txBody>
          <a:bodyPr wrap="square" rtlCol="0" anchor="ctr"/>
          <a:lstStyle/>
          <a:p>
            <a:pPr marL="0" indent="0">
              <a:buNone/>
            </a:pPr>
            <a:r>
              <a:rPr lang="en-US" sz="1250" b="1" dirty="0">
                <a:solidFill>
                  <a:srgbClr val="00A3FF"/>
                </a:solidFill>
                <a:latin typeface="Calibri" pitchFamily="34" charset="0"/>
                <a:ea typeface="Calibri" pitchFamily="34" charset="-122"/>
                <a:cs typeface="Calibri" pitchFamily="34" charset="-120"/>
              </a:rPr>
              <a:t>Definition: </a:t>
            </a:r>
            <a:r>
              <a:rPr lang="en-US" sz="1250" dirty="0">
                <a:solidFill>
                  <a:srgbClr val="E8F0F5"/>
                </a:solidFill>
                <a:latin typeface="Calibri" pitchFamily="34" charset="0"/>
                <a:ea typeface="Calibri" pitchFamily="34" charset="-122"/>
                <a:cs typeface="Calibri" pitchFamily="34" charset="-120"/>
              </a:rPr>
              <a:t>Before crossover, the genes of both parents are randomly shuffled (permuted) together at corresponding positions. Then a standard one-point crossover is applied. After producing offspring, the genes are unshuffled back to their original positions. This reduces positional bias.</a:t>
            </a:r>
            <a:endParaRPr lang="en-US" sz="1250" dirty="0"/>
          </a:p>
        </p:txBody>
      </p:sp>
      <p:sp>
        <p:nvSpPr>
          <p:cNvPr id="8" name="Text 6"/>
          <p:cNvSpPr/>
          <p:nvPr/>
        </p:nvSpPr>
        <p:spPr>
          <a:xfrm>
            <a:off x="365760" y="1828800"/>
            <a:ext cx="6400800" cy="274320"/>
          </a:xfrm>
          <a:prstGeom prst="rect">
            <a:avLst/>
          </a:prstGeom>
          <a:noFill/>
          <a:ln/>
        </p:spPr>
        <p:txBody>
          <a:bodyPr wrap="square" rtlCol="0" anchor="ctr"/>
          <a:lstStyle/>
          <a:p>
            <a:pPr marL="0" indent="0">
              <a:buNone/>
            </a:pPr>
            <a:r>
              <a:rPr lang="en-US" sz="1100" b="1" dirty="0">
                <a:solidFill>
                  <a:srgbClr val="8FA8BF"/>
                </a:solidFill>
                <a:latin typeface="Calibri" pitchFamily="34" charset="0"/>
                <a:ea typeface="Calibri" pitchFamily="34" charset="-122"/>
                <a:cs typeface="Calibri" pitchFamily="34" charset="-120"/>
              </a:rPr>
              <a:t>EXAMPLE  — Shuffle order: [3,1,4,2,7,5,8,6]:</a:t>
            </a:r>
            <a:endParaRPr lang="en-US" sz="1100" dirty="0"/>
          </a:p>
        </p:txBody>
      </p:sp>
      <p:sp>
        <p:nvSpPr>
          <p:cNvPr id="9" name="Shape 7"/>
          <p:cNvSpPr/>
          <p:nvPr/>
        </p:nvSpPr>
        <p:spPr>
          <a:xfrm>
            <a:off x="347472" y="2212848"/>
            <a:ext cx="1078992" cy="274320"/>
          </a:xfrm>
          <a:prstGeom prst="rect">
            <a:avLst/>
          </a:prstGeom>
          <a:solidFill>
            <a:srgbClr val="00C896"/>
          </a:solidFill>
          <a:ln w="12700">
            <a:solidFill>
              <a:srgbClr val="00C896"/>
            </a:solidFill>
            <a:prstDash val="solid"/>
          </a:ln>
        </p:spPr>
        <p:txBody>
          <a:bodyPr/>
          <a:lstStyle/>
          <a:p>
            <a:endParaRPr lang="en-US"/>
          </a:p>
        </p:txBody>
      </p:sp>
      <p:sp>
        <p:nvSpPr>
          <p:cNvPr id="10" name="Text 8"/>
          <p:cNvSpPr/>
          <p:nvPr/>
        </p:nvSpPr>
        <p:spPr>
          <a:xfrm>
            <a:off x="347472" y="2212848"/>
            <a:ext cx="1078992" cy="27432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P1 original</a:t>
            </a:r>
            <a:endParaRPr lang="en-US" sz="1000" dirty="0"/>
          </a:p>
        </p:txBody>
      </p:sp>
      <p:sp>
        <p:nvSpPr>
          <p:cNvPr id="11" name="Shape 9"/>
          <p:cNvSpPr/>
          <p:nvPr/>
        </p:nvSpPr>
        <p:spPr>
          <a:xfrm>
            <a:off x="1508760" y="2194560"/>
            <a:ext cx="374904" cy="310896"/>
          </a:xfrm>
          <a:prstGeom prst="rect">
            <a:avLst/>
          </a:prstGeom>
          <a:solidFill>
            <a:srgbClr val="132338"/>
          </a:solidFill>
          <a:ln w="19050">
            <a:solidFill>
              <a:srgbClr val="8FA8BF"/>
            </a:solidFill>
            <a:prstDash val="solid"/>
          </a:ln>
        </p:spPr>
        <p:txBody>
          <a:bodyPr/>
          <a:lstStyle/>
          <a:p>
            <a:endParaRPr lang="en-US"/>
          </a:p>
        </p:txBody>
      </p:sp>
      <p:sp>
        <p:nvSpPr>
          <p:cNvPr id="12" name="Text 10"/>
          <p:cNvSpPr/>
          <p:nvPr/>
        </p:nvSpPr>
        <p:spPr>
          <a:xfrm>
            <a:off x="1508760" y="2194560"/>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13" name="Shape 11"/>
          <p:cNvSpPr/>
          <p:nvPr/>
        </p:nvSpPr>
        <p:spPr>
          <a:xfrm>
            <a:off x="1911096" y="2194560"/>
            <a:ext cx="374904" cy="310896"/>
          </a:xfrm>
          <a:prstGeom prst="rect">
            <a:avLst/>
          </a:prstGeom>
          <a:solidFill>
            <a:srgbClr val="132338"/>
          </a:solidFill>
          <a:ln w="19050">
            <a:solidFill>
              <a:srgbClr val="8FA8BF"/>
            </a:solidFill>
            <a:prstDash val="solid"/>
          </a:ln>
        </p:spPr>
        <p:txBody>
          <a:bodyPr/>
          <a:lstStyle/>
          <a:p>
            <a:endParaRPr lang="en-US"/>
          </a:p>
        </p:txBody>
      </p:sp>
      <p:sp>
        <p:nvSpPr>
          <p:cNvPr id="14" name="Text 12"/>
          <p:cNvSpPr/>
          <p:nvPr/>
        </p:nvSpPr>
        <p:spPr>
          <a:xfrm>
            <a:off x="1911096" y="2194560"/>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15" name="Shape 13"/>
          <p:cNvSpPr/>
          <p:nvPr/>
        </p:nvSpPr>
        <p:spPr>
          <a:xfrm>
            <a:off x="2313432" y="2194560"/>
            <a:ext cx="374904" cy="310896"/>
          </a:xfrm>
          <a:prstGeom prst="rect">
            <a:avLst/>
          </a:prstGeom>
          <a:solidFill>
            <a:srgbClr val="132338"/>
          </a:solidFill>
          <a:ln w="19050">
            <a:solidFill>
              <a:srgbClr val="8FA8BF"/>
            </a:solidFill>
            <a:prstDash val="solid"/>
          </a:ln>
        </p:spPr>
        <p:txBody>
          <a:bodyPr/>
          <a:lstStyle/>
          <a:p>
            <a:endParaRPr lang="en-US"/>
          </a:p>
        </p:txBody>
      </p:sp>
      <p:sp>
        <p:nvSpPr>
          <p:cNvPr id="16" name="Text 14"/>
          <p:cNvSpPr/>
          <p:nvPr/>
        </p:nvSpPr>
        <p:spPr>
          <a:xfrm>
            <a:off x="2313432" y="2194560"/>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17" name="Shape 15"/>
          <p:cNvSpPr/>
          <p:nvPr/>
        </p:nvSpPr>
        <p:spPr>
          <a:xfrm>
            <a:off x="2715768" y="2194560"/>
            <a:ext cx="374904" cy="310896"/>
          </a:xfrm>
          <a:prstGeom prst="rect">
            <a:avLst/>
          </a:prstGeom>
          <a:solidFill>
            <a:srgbClr val="132338"/>
          </a:solidFill>
          <a:ln w="19050">
            <a:solidFill>
              <a:srgbClr val="8FA8BF"/>
            </a:solidFill>
            <a:prstDash val="solid"/>
          </a:ln>
        </p:spPr>
        <p:txBody>
          <a:bodyPr/>
          <a:lstStyle/>
          <a:p>
            <a:endParaRPr lang="en-US"/>
          </a:p>
        </p:txBody>
      </p:sp>
      <p:sp>
        <p:nvSpPr>
          <p:cNvPr id="18" name="Text 16"/>
          <p:cNvSpPr/>
          <p:nvPr/>
        </p:nvSpPr>
        <p:spPr>
          <a:xfrm>
            <a:off x="2715768" y="2194560"/>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19" name="Shape 17"/>
          <p:cNvSpPr/>
          <p:nvPr/>
        </p:nvSpPr>
        <p:spPr>
          <a:xfrm>
            <a:off x="3118104" y="2194560"/>
            <a:ext cx="374904" cy="310896"/>
          </a:xfrm>
          <a:prstGeom prst="rect">
            <a:avLst/>
          </a:prstGeom>
          <a:solidFill>
            <a:srgbClr val="132338"/>
          </a:solidFill>
          <a:ln w="19050">
            <a:solidFill>
              <a:srgbClr val="8FA8BF"/>
            </a:solidFill>
            <a:prstDash val="solid"/>
          </a:ln>
        </p:spPr>
        <p:txBody>
          <a:bodyPr/>
          <a:lstStyle/>
          <a:p>
            <a:endParaRPr lang="en-US"/>
          </a:p>
        </p:txBody>
      </p:sp>
      <p:sp>
        <p:nvSpPr>
          <p:cNvPr id="20" name="Text 18"/>
          <p:cNvSpPr/>
          <p:nvPr/>
        </p:nvSpPr>
        <p:spPr>
          <a:xfrm>
            <a:off x="3118104" y="2194560"/>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21" name="Shape 19"/>
          <p:cNvSpPr/>
          <p:nvPr/>
        </p:nvSpPr>
        <p:spPr>
          <a:xfrm>
            <a:off x="3520440" y="2194560"/>
            <a:ext cx="374904" cy="310896"/>
          </a:xfrm>
          <a:prstGeom prst="rect">
            <a:avLst/>
          </a:prstGeom>
          <a:solidFill>
            <a:srgbClr val="132338"/>
          </a:solidFill>
          <a:ln w="19050">
            <a:solidFill>
              <a:srgbClr val="8FA8BF"/>
            </a:solidFill>
            <a:prstDash val="solid"/>
          </a:ln>
        </p:spPr>
        <p:txBody>
          <a:bodyPr/>
          <a:lstStyle/>
          <a:p>
            <a:endParaRPr lang="en-US"/>
          </a:p>
        </p:txBody>
      </p:sp>
      <p:sp>
        <p:nvSpPr>
          <p:cNvPr id="22" name="Text 20"/>
          <p:cNvSpPr/>
          <p:nvPr/>
        </p:nvSpPr>
        <p:spPr>
          <a:xfrm>
            <a:off x="3520440" y="2194560"/>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23" name="Shape 21"/>
          <p:cNvSpPr/>
          <p:nvPr/>
        </p:nvSpPr>
        <p:spPr>
          <a:xfrm>
            <a:off x="3922776" y="2194560"/>
            <a:ext cx="374904" cy="310896"/>
          </a:xfrm>
          <a:prstGeom prst="rect">
            <a:avLst/>
          </a:prstGeom>
          <a:solidFill>
            <a:srgbClr val="132338"/>
          </a:solidFill>
          <a:ln w="19050">
            <a:solidFill>
              <a:srgbClr val="8FA8BF"/>
            </a:solidFill>
            <a:prstDash val="solid"/>
          </a:ln>
        </p:spPr>
        <p:txBody>
          <a:bodyPr/>
          <a:lstStyle/>
          <a:p>
            <a:endParaRPr lang="en-US"/>
          </a:p>
        </p:txBody>
      </p:sp>
      <p:sp>
        <p:nvSpPr>
          <p:cNvPr id="24" name="Text 22"/>
          <p:cNvSpPr/>
          <p:nvPr/>
        </p:nvSpPr>
        <p:spPr>
          <a:xfrm>
            <a:off x="3922776" y="2194560"/>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25" name="Shape 23"/>
          <p:cNvSpPr/>
          <p:nvPr/>
        </p:nvSpPr>
        <p:spPr>
          <a:xfrm>
            <a:off x="4325112" y="2194560"/>
            <a:ext cx="374904" cy="310896"/>
          </a:xfrm>
          <a:prstGeom prst="rect">
            <a:avLst/>
          </a:prstGeom>
          <a:solidFill>
            <a:srgbClr val="132338"/>
          </a:solidFill>
          <a:ln w="19050">
            <a:solidFill>
              <a:srgbClr val="8FA8BF"/>
            </a:solidFill>
            <a:prstDash val="solid"/>
          </a:ln>
        </p:spPr>
        <p:txBody>
          <a:bodyPr/>
          <a:lstStyle/>
          <a:p>
            <a:endParaRPr lang="en-US"/>
          </a:p>
        </p:txBody>
      </p:sp>
      <p:sp>
        <p:nvSpPr>
          <p:cNvPr id="26" name="Text 24"/>
          <p:cNvSpPr/>
          <p:nvPr/>
        </p:nvSpPr>
        <p:spPr>
          <a:xfrm>
            <a:off x="4325112" y="2194560"/>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27" name="Shape 25"/>
          <p:cNvSpPr/>
          <p:nvPr/>
        </p:nvSpPr>
        <p:spPr>
          <a:xfrm>
            <a:off x="347472" y="2606040"/>
            <a:ext cx="1078992" cy="274320"/>
          </a:xfrm>
          <a:prstGeom prst="rect">
            <a:avLst/>
          </a:prstGeom>
          <a:solidFill>
            <a:srgbClr val="00A3FF"/>
          </a:solidFill>
          <a:ln w="12700">
            <a:solidFill>
              <a:srgbClr val="00A3FF"/>
            </a:solidFill>
            <a:prstDash val="solid"/>
          </a:ln>
        </p:spPr>
        <p:txBody>
          <a:bodyPr/>
          <a:lstStyle/>
          <a:p>
            <a:endParaRPr lang="en-US"/>
          </a:p>
        </p:txBody>
      </p:sp>
      <p:sp>
        <p:nvSpPr>
          <p:cNvPr id="28" name="Text 26"/>
          <p:cNvSpPr/>
          <p:nvPr/>
        </p:nvSpPr>
        <p:spPr>
          <a:xfrm>
            <a:off x="347472" y="2606040"/>
            <a:ext cx="1078992" cy="27432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P2 original</a:t>
            </a:r>
            <a:endParaRPr lang="en-US" sz="1000" dirty="0"/>
          </a:p>
        </p:txBody>
      </p:sp>
      <p:sp>
        <p:nvSpPr>
          <p:cNvPr id="29" name="Shape 27"/>
          <p:cNvSpPr/>
          <p:nvPr/>
        </p:nvSpPr>
        <p:spPr>
          <a:xfrm>
            <a:off x="1508760" y="2587752"/>
            <a:ext cx="374904" cy="310896"/>
          </a:xfrm>
          <a:prstGeom prst="rect">
            <a:avLst/>
          </a:prstGeom>
          <a:solidFill>
            <a:srgbClr val="132338"/>
          </a:solidFill>
          <a:ln w="19050">
            <a:solidFill>
              <a:srgbClr val="8FA8BF"/>
            </a:solidFill>
            <a:prstDash val="solid"/>
          </a:ln>
        </p:spPr>
        <p:txBody>
          <a:bodyPr/>
          <a:lstStyle/>
          <a:p>
            <a:endParaRPr lang="en-US"/>
          </a:p>
        </p:txBody>
      </p:sp>
      <p:sp>
        <p:nvSpPr>
          <p:cNvPr id="30" name="Text 28"/>
          <p:cNvSpPr/>
          <p:nvPr/>
        </p:nvSpPr>
        <p:spPr>
          <a:xfrm>
            <a:off x="1508760" y="2587752"/>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31" name="Shape 29"/>
          <p:cNvSpPr/>
          <p:nvPr/>
        </p:nvSpPr>
        <p:spPr>
          <a:xfrm>
            <a:off x="1911096" y="2587752"/>
            <a:ext cx="374904" cy="310896"/>
          </a:xfrm>
          <a:prstGeom prst="rect">
            <a:avLst/>
          </a:prstGeom>
          <a:solidFill>
            <a:srgbClr val="132338"/>
          </a:solidFill>
          <a:ln w="19050">
            <a:solidFill>
              <a:srgbClr val="8FA8BF"/>
            </a:solidFill>
            <a:prstDash val="solid"/>
          </a:ln>
        </p:spPr>
        <p:txBody>
          <a:bodyPr/>
          <a:lstStyle/>
          <a:p>
            <a:endParaRPr lang="en-US"/>
          </a:p>
        </p:txBody>
      </p:sp>
      <p:sp>
        <p:nvSpPr>
          <p:cNvPr id="32" name="Text 30"/>
          <p:cNvSpPr/>
          <p:nvPr/>
        </p:nvSpPr>
        <p:spPr>
          <a:xfrm>
            <a:off x="1911096" y="2587752"/>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33" name="Shape 31"/>
          <p:cNvSpPr/>
          <p:nvPr/>
        </p:nvSpPr>
        <p:spPr>
          <a:xfrm>
            <a:off x="2313432" y="2587752"/>
            <a:ext cx="374904" cy="310896"/>
          </a:xfrm>
          <a:prstGeom prst="rect">
            <a:avLst/>
          </a:prstGeom>
          <a:solidFill>
            <a:srgbClr val="132338"/>
          </a:solidFill>
          <a:ln w="19050">
            <a:solidFill>
              <a:srgbClr val="8FA8BF"/>
            </a:solidFill>
            <a:prstDash val="solid"/>
          </a:ln>
        </p:spPr>
        <p:txBody>
          <a:bodyPr/>
          <a:lstStyle/>
          <a:p>
            <a:endParaRPr lang="en-US"/>
          </a:p>
        </p:txBody>
      </p:sp>
      <p:sp>
        <p:nvSpPr>
          <p:cNvPr id="34" name="Text 32"/>
          <p:cNvSpPr/>
          <p:nvPr/>
        </p:nvSpPr>
        <p:spPr>
          <a:xfrm>
            <a:off x="2313432" y="2587752"/>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35" name="Shape 33"/>
          <p:cNvSpPr/>
          <p:nvPr/>
        </p:nvSpPr>
        <p:spPr>
          <a:xfrm>
            <a:off x="2715768" y="2587752"/>
            <a:ext cx="374904" cy="310896"/>
          </a:xfrm>
          <a:prstGeom prst="rect">
            <a:avLst/>
          </a:prstGeom>
          <a:solidFill>
            <a:srgbClr val="132338"/>
          </a:solidFill>
          <a:ln w="19050">
            <a:solidFill>
              <a:srgbClr val="8FA8BF"/>
            </a:solidFill>
            <a:prstDash val="solid"/>
          </a:ln>
        </p:spPr>
        <p:txBody>
          <a:bodyPr/>
          <a:lstStyle/>
          <a:p>
            <a:endParaRPr lang="en-US"/>
          </a:p>
        </p:txBody>
      </p:sp>
      <p:sp>
        <p:nvSpPr>
          <p:cNvPr id="36" name="Text 34"/>
          <p:cNvSpPr/>
          <p:nvPr/>
        </p:nvSpPr>
        <p:spPr>
          <a:xfrm>
            <a:off x="2715768" y="2587752"/>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37" name="Shape 35"/>
          <p:cNvSpPr/>
          <p:nvPr/>
        </p:nvSpPr>
        <p:spPr>
          <a:xfrm>
            <a:off x="3118104" y="2587752"/>
            <a:ext cx="374904" cy="310896"/>
          </a:xfrm>
          <a:prstGeom prst="rect">
            <a:avLst/>
          </a:prstGeom>
          <a:solidFill>
            <a:srgbClr val="132338"/>
          </a:solidFill>
          <a:ln w="19050">
            <a:solidFill>
              <a:srgbClr val="8FA8BF"/>
            </a:solidFill>
            <a:prstDash val="solid"/>
          </a:ln>
        </p:spPr>
        <p:txBody>
          <a:bodyPr/>
          <a:lstStyle/>
          <a:p>
            <a:endParaRPr lang="en-US"/>
          </a:p>
        </p:txBody>
      </p:sp>
      <p:sp>
        <p:nvSpPr>
          <p:cNvPr id="38" name="Text 36"/>
          <p:cNvSpPr/>
          <p:nvPr/>
        </p:nvSpPr>
        <p:spPr>
          <a:xfrm>
            <a:off x="3118104" y="2587752"/>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39" name="Shape 37"/>
          <p:cNvSpPr/>
          <p:nvPr/>
        </p:nvSpPr>
        <p:spPr>
          <a:xfrm>
            <a:off x="3520440" y="2587752"/>
            <a:ext cx="374904" cy="310896"/>
          </a:xfrm>
          <a:prstGeom prst="rect">
            <a:avLst/>
          </a:prstGeom>
          <a:solidFill>
            <a:srgbClr val="132338"/>
          </a:solidFill>
          <a:ln w="19050">
            <a:solidFill>
              <a:srgbClr val="8FA8BF"/>
            </a:solidFill>
            <a:prstDash val="solid"/>
          </a:ln>
        </p:spPr>
        <p:txBody>
          <a:bodyPr/>
          <a:lstStyle/>
          <a:p>
            <a:endParaRPr lang="en-US"/>
          </a:p>
        </p:txBody>
      </p:sp>
      <p:sp>
        <p:nvSpPr>
          <p:cNvPr id="40" name="Text 38"/>
          <p:cNvSpPr/>
          <p:nvPr/>
        </p:nvSpPr>
        <p:spPr>
          <a:xfrm>
            <a:off x="3520440" y="2587752"/>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41" name="Shape 39"/>
          <p:cNvSpPr/>
          <p:nvPr/>
        </p:nvSpPr>
        <p:spPr>
          <a:xfrm>
            <a:off x="3922776" y="2587752"/>
            <a:ext cx="374904" cy="310896"/>
          </a:xfrm>
          <a:prstGeom prst="rect">
            <a:avLst/>
          </a:prstGeom>
          <a:solidFill>
            <a:srgbClr val="132338"/>
          </a:solidFill>
          <a:ln w="19050">
            <a:solidFill>
              <a:srgbClr val="8FA8BF"/>
            </a:solidFill>
            <a:prstDash val="solid"/>
          </a:ln>
        </p:spPr>
        <p:txBody>
          <a:bodyPr/>
          <a:lstStyle/>
          <a:p>
            <a:endParaRPr lang="en-US"/>
          </a:p>
        </p:txBody>
      </p:sp>
      <p:sp>
        <p:nvSpPr>
          <p:cNvPr id="42" name="Text 40"/>
          <p:cNvSpPr/>
          <p:nvPr/>
        </p:nvSpPr>
        <p:spPr>
          <a:xfrm>
            <a:off x="3922776" y="2587752"/>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43" name="Shape 41"/>
          <p:cNvSpPr/>
          <p:nvPr/>
        </p:nvSpPr>
        <p:spPr>
          <a:xfrm>
            <a:off x="4325112" y="2587752"/>
            <a:ext cx="374904" cy="310896"/>
          </a:xfrm>
          <a:prstGeom prst="rect">
            <a:avLst/>
          </a:prstGeom>
          <a:solidFill>
            <a:srgbClr val="132338"/>
          </a:solidFill>
          <a:ln w="19050">
            <a:solidFill>
              <a:srgbClr val="8FA8BF"/>
            </a:solidFill>
            <a:prstDash val="solid"/>
          </a:ln>
        </p:spPr>
        <p:txBody>
          <a:bodyPr/>
          <a:lstStyle/>
          <a:p>
            <a:endParaRPr lang="en-US"/>
          </a:p>
        </p:txBody>
      </p:sp>
      <p:sp>
        <p:nvSpPr>
          <p:cNvPr id="44" name="Text 42"/>
          <p:cNvSpPr/>
          <p:nvPr/>
        </p:nvSpPr>
        <p:spPr>
          <a:xfrm>
            <a:off x="4325112" y="2587752"/>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45" name="Shape 43"/>
          <p:cNvSpPr/>
          <p:nvPr/>
        </p:nvSpPr>
        <p:spPr>
          <a:xfrm>
            <a:off x="347472" y="2999232"/>
            <a:ext cx="1078992" cy="274320"/>
          </a:xfrm>
          <a:prstGeom prst="rect">
            <a:avLst/>
          </a:prstGeom>
          <a:solidFill>
            <a:srgbClr val="99DDBB"/>
          </a:solidFill>
          <a:ln w="12700">
            <a:solidFill>
              <a:srgbClr val="99DDBB"/>
            </a:solidFill>
            <a:prstDash val="solid"/>
          </a:ln>
        </p:spPr>
        <p:txBody>
          <a:bodyPr/>
          <a:lstStyle/>
          <a:p>
            <a:endParaRPr lang="en-US"/>
          </a:p>
        </p:txBody>
      </p:sp>
      <p:sp>
        <p:nvSpPr>
          <p:cNvPr id="46" name="Text 44"/>
          <p:cNvSpPr/>
          <p:nvPr/>
        </p:nvSpPr>
        <p:spPr>
          <a:xfrm>
            <a:off x="347472" y="2999232"/>
            <a:ext cx="1078992" cy="27432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P1 shuffled</a:t>
            </a:r>
            <a:endParaRPr lang="en-US" sz="1000" dirty="0"/>
          </a:p>
        </p:txBody>
      </p:sp>
      <p:sp>
        <p:nvSpPr>
          <p:cNvPr id="47" name="Shape 45"/>
          <p:cNvSpPr/>
          <p:nvPr/>
        </p:nvSpPr>
        <p:spPr>
          <a:xfrm>
            <a:off x="1508760" y="2980944"/>
            <a:ext cx="374904" cy="310896"/>
          </a:xfrm>
          <a:prstGeom prst="rect">
            <a:avLst/>
          </a:prstGeom>
          <a:solidFill>
            <a:srgbClr val="00C896"/>
          </a:solidFill>
          <a:ln w="19050">
            <a:solidFill>
              <a:srgbClr val="00C896"/>
            </a:solidFill>
            <a:prstDash val="solid"/>
          </a:ln>
        </p:spPr>
        <p:txBody>
          <a:bodyPr/>
          <a:lstStyle/>
          <a:p>
            <a:endParaRPr lang="en-US"/>
          </a:p>
        </p:txBody>
      </p:sp>
      <p:sp>
        <p:nvSpPr>
          <p:cNvPr id="48" name="Text 46"/>
          <p:cNvSpPr/>
          <p:nvPr/>
        </p:nvSpPr>
        <p:spPr>
          <a:xfrm>
            <a:off x="1508760" y="2980944"/>
            <a:ext cx="374904" cy="310896"/>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49" name="Shape 47"/>
          <p:cNvSpPr/>
          <p:nvPr/>
        </p:nvSpPr>
        <p:spPr>
          <a:xfrm>
            <a:off x="1911096" y="2980944"/>
            <a:ext cx="374904" cy="310896"/>
          </a:xfrm>
          <a:prstGeom prst="rect">
            <a:avLst/>
          </a:prstGeom>
          <a:solidFill>
            <a:srgbClr val="00C896"/>
          </a:solidFill>
          <a:ln w="19050">
            <a:solidFill>
              <a:srgbClr val="00C896"/>
            </a:solidFill>
            <a:prstDash val="solid"/>
          </a:ln>
        </p:spPr>
        <p:txBody>
          <a:bodyPr/>
          <a:lstStyle/>
          <a:p>
            <a:endParaRPr lang="en-US"/>
          </a:p>
        </p:txBody>
      </p:sp>
      <p:sp>
        <p:nvSpPr>
          <p:cNvPr id="50" name="Text 48"/>
          <p:cNvSpPr/>
          <p:nvPr/>
        </p:nvSpPr>
        <p:spPr>
          <a:xfrm>
            <a:off x="1911096" y="2980944"/>
            <a:ext cx="374904" cy="310896"/>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51" name="Shape 49"/>
          <p:cNvSpPr/>
          <p:nvPr/>
        </p:nvSpPr>
        <p:spPr>
          <a:xfrm>
            <a:off x="2313432" y="2980944"/>
            <a:ext cx="374904" cy="310896"/>
          </a:xfrm>
          <a:prstGeom prst="rect">
            <a:avLst/>
          </a:prstGeom>
          <a:solidFill>
            <a:srgbClr val="00C896"/>
          </a:solidFill>
          <a:ln w="19050">
            <a:solidFill>
              <a:srgbClr val="00C896"/>
            </a:solidFill>
            <a:prstDash val="solid"/>
          </a:ln>
        </p:spPr>
        <p:txBody>
          <a:bodyPr/>
          <a:lstStyle/>
          <a:p>
            <a:endParaRPr lang="en-US"/>
          </a:p>
        </p:txBody>
      </p:sp>
      <p:sp>
        <p:nvSpPr>
          <p:cNvPr id="52" name="Text 50"/>
          <p:cNvSpPr/>
          <p:nvPr/>
        </p:nvSpPr>
        <p:spPr>
          <a:xfrm>
            <a:off x="2313432" y="2980944"/>
            <a:ext cx="374904" cy="310896"/>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53" name="Shape 51"/>
          <p:cNvSpPr/>
          <p:nvPr/>
        </p:nvSpPr>
        <p:spPr>
          <a:xfrm>
            <a:off x="2715768" y="2980944"/>
            <a:ext cx="374904" cy="310896"/>
          </a:xfrm>
          <a:prstGeom prst="rect">
            <a:avLst/>
          </a:prstGeom>
          <a:solidFill>
            <a:srgbClr val="132338"/>
          </a:solidFill>
          <a:ln w="19050">
            <a:solidFill>
              <a:srgbClr val="8FA8BF"/>
            </a:solidFill>
            <a:prstDash val="solid"/>
          </a:ln>
        </p:spPr>
        <p:txBody>
          <a:bodyPr/>
          <a:lstStyle/>
          <a:p>
            <a:endParaRPr lang="en-US"/>
          </a:p>
        </p:txBody>
      </p:sp>
      <p:sp>
        <p:nvSpPr>
          <p:cNvPr id="54" name="Text 52"/>
          <p:cNvSpPr/>
          <p:nvPr/>
        </p:nvSpPr>
        <p:spPr>
          <a:xfrm>
            <a:off x="2715768" y="2980944"/>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55" name="Shape 53"/>
          <p:cNvSpPr/>
          <p:nvPr/>
        </p:nvSpPr>
        <p:spPr>
          <a:xfrm>
            <a:off x="3118104" y="2980944"/>
            <a:ext cx="374904" cy="310896"/>
          </a:xfrm>
          <a:prstGeom prst="rect">
            <a:avLst/>
          </a:prstGeom>
          <a:solidFill>
            <a:srgbClr val="132338"/>
          </a:solidFill>
          <a:ln w="19050">
            <a:solidFill>
              <a:srgbClr val="8FA8BF"/>
            </a:solidFill>
            <a:prstDash val="solid"/>
          </a:ln>
        </p:spPr>
        <p:txBody>
          <a:bodyPr/>
          <a:lstStyle/>
          <a:p>
            <a:endParaRPr lang="en-US"/>
          </a:p>
        </p:txBody>
      </p:sp>
      <p:sp>
        <p:nvSpPr>
          <p:cNvPr id="56" name="Text 54"/>
          <p:cNvSpPr/>
          <p:nvPr/>
        </p:nvSpPr>
        <p:spPr>
          <a:xfrm>
            <a:off x="3118104" y="2980944"/>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57" name="Shape 55"/>
          <p:cNvSpPr/>
          <p:nvPr/>
        </p:nvSpPr>
        <p:spPr>
          <a:xfrm>
            <a:off x="3520440" y="2980944"/>
            <a:ext cx="374904" cy="310896"/>
          </a:xfrm>
          <a:prstGeom prst="rect">
            <a:avLst/>
          </a:prstGeom>
          <a:solidFill>
            <a:srgbClr val="132338"/>
          </a:solidFill>
          <a:ln w="19050">
            <a:solidFill>
              <a:srgbClr val="8FA8BF"/>
            </a:solidFill>
            <a:prstDash val="solid"/>
          </a:ln>
        </p:spPr>
        <p:txBody>
          <a:bodyPr/>
          <a:lstStyle/>
          <a:p>
            <a:endParaRPr lang="en-US"/>
          </a:p>
        </p:txBody>
      </p:sp>
      <p:sp>
        <p:nvSpPr>
          <p:cNvPr id="58" name="Text 56"/>
          <p:cNvSpPr/>
          <p:nvPr/>
        </p:nvSpPr>
        <p:spPr>
          <a:xfrm>
            <a:off x="3520440" y="2980944"/>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59" name="Shape 57"/>
          <p:cNvSpPr/>
          <p:nvPr/>
        </p:nvSpPr>
        <p:spPr>
          <a:xfrm>
            <a:off x="3922776" y="2980944"/>
            <a:ext cx="374904" cy="310896"/>
          </a:xfrm>
          <a:prstGeom prst="rect">
            <a:avLst/>
          </a:prstGeom>
          <a:solidFill>
            <a:srgbClr val="132338"/>
          </a:solidFill>
          <a:ln w="19050">
            <a:solidFill>
              <a:srgbClr val="8FA8BF"/>
            </a:solidFill>
            <a:prstDash val="solid"/>
          </a:ln>
        </p:spPr>
        <p:txBody>
          <a:bodyPr/>
          <a:lstStyle/>
          <a:p>
            <a:endParaRPr lang="en-US"/>
          </a:p>
        </p:txBody>
      </p:sp>
      <p:sp>
        <p:nvSpPr>
          <p:cNvPr id="60" name="Text 58"/>
          <p:cNvSpPr/>
          <p:nvPr/>
        </p:nvSpPr>
        <p:spPr>
          <a:xfrm>
            <a:off x="3922776" y="2980944"/>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61" name="Shape 59"/>
          <p:cNvSpPr/>
          <p:nvPr/>
        </p:nvSpPr>
        <p:spPr>
          <a:xfrm>
            <a:off x="4325112" y="2980944"/>
            <a:ext cx="374904" cy="310896"/>
          </a:xfrm>
          <a:prstGeom prst="rect">
            <a:avLst/>
          </a:prstGeom>
          <a:solidFill>
            <a:srgbClr val="132338"/>
          </a:solidFill>
          <a:ln w="19050">
            <a:solidFill>
              <a:srgbClr val="8FA8BF"/>
            </a:solidFill>
            <a:prstDash val="solid"/>
          </a:ln>
        </p:spPr>
        <p:txBody>
          <a:bodyPr/>
          <a:lstStyle/>
          <a:p>
            <a:endParaRPr lang="en-US"/>
          </a:p>
        </p:txBody>
      </p:sp>
      <p:sp>
        <p:nvSpPr>
          <p:cNvPr id="62" name="Text 60"/>
          <p:cNvSpPr/>
          <p:nvPr/>
        </p:nvSpPr>
        <p:spPr>
          <a:xfrm>
            <a:off x="4325112" y="2980944"/>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63" name="Shape 61"/>
          <p:cNvSpPr/>
          <p:nvPr/>
        </p:nvSpPr>
        <p:spPr>
          <a:xfrm>
            <a:off x="347472" y="3392424"/>
            <a:ext cx="1078992" cy="274320"/>
          </a:xfrm>
          <a:prstGeom prst="rect">
            <a:avLst/>
          </a:prstGeom>
          <a:solidFill>
            <a:srgbClr val="6699DD"/>
          </a:solidFill>
          <a:ln w="12700">
            <a:solidFill>
              <a:srgbClr val="6699DD"/>
            </a:solidFill>
            <a:prstDash val="solid"/>
          </a:ln>
        </p:spPr>
        <p:txBody>
          <a:bodyPr/>
          <a:lstStyle/>
          <a:p>
            <a:endParaRPr lang="en-US"/>
          </a:p>
        </p:txBody>
      </p:sp>
      <p:sp>
        <p:nvSpPr>
          <p:cNvPr id="64" name="Text 62"/>
          <p:cNvSpPr/>
          <p:nvPr/>
        </p:nvSpPr>
        <p:spPr>
          <a:xfrm>
            <a:off x="347472" y="3392424"/>
            <a:ext cx="1078992" cy="27432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P2 shuffled</a:t>
            </a:r>
            <a:endParaRPr lang="en-US" sz="1000" dirty="0"/>
          </a:p>
        </p:txBody>
      </p:sp>
      <p:sp>
        <p:nvSpPr>
          <p:cNvPr id="65" name="Shape 63"/>
          <p:cNvSpPr/>
          <p:nvPr/>
        </p:nvSpPr>
        <p:spPr>
          <a:xfrm>
            <a:off x="1508760" y="3374136"/>
            <a:ext cx="374904" cy="310896"/>
          </a:xfrm>
          <a:prstGeom prst="rect">
            <a:avLst/>
          </a:prstGeom>
          <a:solidFill>
            <a:srgbClr val="132338"/>
          </a:solidFill>
          <a:ln w="19050">
            <a:solidFill>
              <a:srgbClr val="8FA8BF"/>
            </a:solidFill>
            <a:prstDash val="solid"/>
          </a:ln>
        </p:spPr>
        <p:txBody>
          <a:bodyPr/>
          <a:lstStyle/>
          <a:p>
            <a:endParaRPr lang="en-US"/>
          </a:p>
        </p:txBody>
      </p:sp>
      <p:sp>
        <p:nvSpPr>
          <p:cNvPr id="66" name="Text 64"/>
          <p:cNvSpPr/>
          <p:nvPr/>
        </p:nvSpPr>
        <p:spPr>
          <a:xfrm>
            <a:off x="1508760" y="3374136"/>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67" name="Shape 65"/>
          <p:cNvSpPr/>
          <p:nvPr/>
        </p:nvSpPr>
        <p:spPr>
          <a:xfrm>
            <a:off x="1911096" y="3374136"/>
            <a:ext cx="374904" cy="310896"/>
          </a:xfrm>
          <a:prstGeom prst="rect">
            <a:avLst/>
          </a:prstGeom>
          <a:solidFill>
            <a:srgbClr val="132338"/>
          </a:solidFill>
          <a:ln w="19050">
            <a:solidFill>
              <a:srgbClr val="8FA8BF"/>
            </a:solidFill>
            <a:prstDash val="solid"/>
          </a:ln>
        </p:spPr>
        <p:txBody>
          <a:bodyPr/>
          <a:lstStyle/>
          <a:p>
            <a:endParaRPr lang="en-US"/>
          </a:p>
        </p:txBody>
      </p:sp>
      <p:sp>
        <p:nvSpPr>
          <p:cNvPr id="68" name="Text 66"/>
          <p:cNvSpPr/>
          <p:nvPr/>
        </p:nvSpPr>
        <p:spPr>
          <a:xfrm>
            <a:off x="1911096" y="3374136"/>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69" name="Shape 67"/>
          <p:cNvSpPr/>
          <p:nvPr/>
        </p:nvSpPr>
        <p:spPr>
          <a:xfrm>
            <a:off x="2313432" y="3374136"/>
            <a:ext cx="374904" cy="310896"/>
          </a:xfrm>
          <a:prstGeom prst="rect">
            <a:avLst/>
          </a:prstGeom>
          <a:solidFill>
            <a:srgbClr val="132338"/>
          </a:solidFill>
          <a:ln w="19050">
            <a:solidFill>
              <a:srgbClr val="8FA8BF"/>
            </a:solidFill>
            <a:prstDash val="solid"/>
          </a:ln>
        </p:spPr>
        <p:txBody>
          <a:bodyPr/>
          <a:lstStyle/>
          <a:p>
            <a:endParaRPr lang="en-US"/>
          </a:p>
        </p:txBody>
      </p:sp>
      <p:sp>
        <p:nvSpPr>
          <p:cNvPr id="70" name="Text 68"/>
          <p:cNvSpPr/>
          <p:nvPr/>
        </p:nvSpPr>
        <p:spPr>
          <a:xfrm>
            <a:off x="2313432" y="3374136"/>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71" name="Shape 69"/>
          <p:cNvSpPr/>
          <p:nvPr/>
        </p:nvSpPr>
        <p:spPr>
          <a:xfrm>
            <a:off x="2715768" y="3374136"/>
            <a:ext cx="374904" cy="310896"/>
          </a:xfrm>
          <a:prstGeom prst="rect">
            <a:avLst/>
          </a:prstGeom>
          <a:solidFill>
            <a:srgbClr val="00C896"/>
          </a:solidFill>
          <a:ln w="19050">
            <a:solidFill>
              <a:srgbClr val="00C896"/>
            </a:solidFill>
            <a:prstDash val="solid"/>
          </a:ln>
        </p:spPr>
        <p:txBody>
          <a:bodyPr/>
          <a:lstStyle/>
          <a:p>
            <a:endParaRPr lang="en-US"/>
          </a:p>
        </p:txBody>
      </p:sp>
      <p:sp>
        <p:nvSpPr>
          <p:cNvPr id="72" name="Text 70"/>
          <p:cNvSpPr/>
          <p:nvPr/>
        </p:nvSpPr>
        <p:spPr>
          <a:xfrm>
            <a:off x="2715768" y="3374136"/>
            <a:ext cx="374904" cy="310896"/>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73" name="Shape 71"/>
          <p:cNvSpPr/>
          <p:nvPr/>
        </p:nvSpPr>
        <p:spPr>
          <a:xfrm>
            <a:off x="3118104" y="3374136"/>
            <a:ext cx="374904" cy="310896"/>
          </a:xfrm>
          <a:prstGeom prst="rect">
            <a:avLst/>
          </a:prstGeom>
          <a:solidFill>
            <a:srgbClr val="00C896"/>
          </a:solidFill>
          <a:ln w="19050">
            <a:solidFill>
              <a:srgbClr val="00C896"/>
            </a:solidFill>
            <a:prstDash val="solid"/>
          </a:ln>
        </p:spPr>
        <p:txBody>
          <a:bodyPr/>
          <a:lstStyle/>
          <a:p>
            <a:endParaRPr lang="en-US"/>
          </a:p>
        </p:txBody>
      </p:sp>
      <p:sp>
        <p:nvSpPr>
          <p:cNvPr id="74" name="Text 72"/>
          <p:cNvSpPr/>
          <p:nvPr/>
        </p:nvSpPr>
        <p:spPr>
          <a:xfrm>
            <a:off x="3118104" y="3374136"/>
            <a:ext cx="374904" cy="310896"/>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0</a:t>
            </a:r>
            <a:endParaRPr lang="en-US" sz="1300" dirty="0"/>
          </a:p>
        </p:txBody>
      </p:sp>
      <p:sp>
        <p:nvSpPr>
          <p:cNvPr id="75" name="Shape 73"/>
          <p:cNvSpPr/>
          <p:nvPr/>
        </p:nvSpPr>
        <p:spPr>
          <a:xfrm>
            <a:off x="3520440" y="3374136"/>
            <a:ext cx="374904" cy="310896"/>
          </a:xfrm>
          <a:prstGeom prst="rect">
            <a:avLst/>
          </a:prstGeom>
          <a:solidFill>
            <a:srgbClr val="00C896"/>
          </a:solidFill>
          <a:ln w="19050">
            <a:solidFill>
              <a:srgbClr val="00C896"/>
            </a:solidFill>
            <a:prstDash val="solid"/>
          </a:ln>
        </p:spPr>
        <p:txBody>
          <a:bodyPr/>
          <a:lstStyle/>
          <a:p>
            <a:endParaRPr lang="en-US"/>
          </a:p>
        </p:txBody>
      </p:sp>
      <p:sp>
        <p:nvSpPr>
          <p:cNvPr id="76" name="Text 74"/>
          <p:cNvSpPr/>
          <p:nvPr/>
        </p:nvSpPr>
        <p:spPr>
          <a:xfrm>
            <a:off x="3520440" y="3374136"/>
            <a:ext cx="374904" cy="310896"/>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77" name="Shape 75"/>
          <p:cNvSpPr/>
          <p:nvPr/>
        </p:nvSpPr>
        <p:spPr>
          <a:xfrm>
            <a:off x="3922776" y="3374136"/>
            <a:ext cx="374904" cy="310896"/>
          </a:xfrm>
          <a:prstGeom prst="rect">
            <a:avLst/>
          </a:prstGeom>
          <a:solidFill>
            <a:srgbClr val="00C896"/>
          </a:solidFill>
          <a:ln w="19050">
            <a:solidFill>
              <a:srgbClr val="00C896"/>
            </a:solidFill>
            <a:prstDash val="solid"/>
          </a:ln>
        </p:spPr>
        <p:txBody>
          <a:bodyPr/>
          <a:lstStyle/>
          <a:p>
            <a:endParaRPr lang="en-US"/>
          </a:p>
        </p:txBody>
      </p:sp>
      <p:sp>
        <p:nvSpPr>
          <p:cNvPr id="78" name="Text 76"/>
          <p:cNvSpPr/>
          <p:nvPr/>
        </p:nvSpPr>
        <p:spPr>
          <a:xfrm>
            <a:off x="3922776" y="3374136"/>
            <a:ext cx="374904" cy="310896"/>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79" name="Shape 77"/>
          <p:cNvSpPr/>
          <p:nvPr/>
        </p:nvSpPr>
        <p:spPr>
          <a:xfrm>
            <a:off x="4325112" y="3374136"/>
            <a:ext cx="374904" cy="310896"/>
          </a:xfrm>
          <a:prstGeom prst="rect">
            <a:avLst/>
          </a:prstGeom>
          <a:solidFill>
            <a:srgbClr val="00C896"/>
          </a:solidFill>
          <a:ln w="19050">
            <a:solidFill>
              <a:srgbClr val="00C896"/>
            </a:solidFill>
            <a:prstDash val="solid"/>
          </a:ln>
        </p:spPr>
        <p:txBody>
          <a:bodyPr/>
          <a:lstStyle/>
          <a:p>
            <a:endParaRPr lang="en-US"/>
          </a:p>
        </p:txBody>
      </p:sp>
      <p:sp>
        <p:nvSpPr>
          <p:cNvPr id="80" name="Text 78"/>
          <p:cNvSpPr/>
          <p:nvPr/>
        </p:nvSpPr>
        <p:spPr>
          <a:xfrm>
            <a:off x="4325112" y="3374136"/>
            <a:ext cx="374904" cy="310896"/>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81" name="Shape 79"/>
          <p:cNvSpPr/>
          <p:nvPr/>
        </p:nvSpPr>
        <p:spPr>
          <a:xfrm>
            <a:off x="2743200" y="2880360"/>
            <a:ext cx="0" cy="731520"/>
          </a:xfrm>
          <a:prstGeom prst="line">
            <a:avLst/>
          </a:prstGeom>
          <a:noFill/>
          <a:ln w="25400">
            <a:solidFill>
              <a:srgbClr val="FFB830"/>
            </a:solidFill>
            <a:prstDash val="dash"/>
          </a:ln>
        </p:spPr>
        <p:txBody>
          <a:bodyPr/>
          <a:lstStyle/>
          <a:p>
            <a:endParaRPr lang="en-US"/>
          </a:p>
        </p:txBody>
      </p:sp>
      <p:sp>
        <p:nvSpPr>
          <p:cNvPr id="82" name="Text 80"/>
          <p:cNvSpPr/>
          <p:nvPr/>
        </p:nvSpPr>
        <p:spPr>
          <a:xfrm>
            <a:off x="2286000" y="3657600"/>
            <a:ext cx="1005840" cy="201168"/>
          </a:xfrm>
          <a:prstGeom prst="rect">
            <a:avLst/>
          </a:prstGeom>
          <a:noFill/>
          <a:ln/>
        </p:spPr>
        <p:txBody>
          <a:bodyPr wrap="square" rtlCol="0" anchor="ctr"/>
          <a:lstStyle/>
          <a:p>
            <a:pPr marL="0" indent="0" algn="ctr">
              <a:buNone/>
            </a:pPr>
            <a:r>
              <a:rPr lang="en-US" sz="800" dirty="0">
                <a:solidFill>
                  <a:srgbClr val="FFB830"/>
                </a:solidFill>
                <a:latin typeface="Calibri" pitchFamily="34" charset="0"/>
                <a:ea typeface="Calibri" pitchFamily="34" charset="-122"/>
                <a:cs typeface="Calibri" pitchFamily="34" charset="-120"/>
              </a:rPr>
              <a:t>↑ cut pt 3</a:t>
            </a:r>
            <a:endParaRPr lang="en-US" sz="800" dirty="0"/>
          </a:p>
        </p:txBody>
      </p:sp>
      <p:sp>
        <p:nvSpPr>
          <p:cNvPr id="83" name="Shape 81"/>
          <p:cNvSpPr/>
          <p:nvPr/>
        </p:nvSpPr>
        <p:spPr>
          <a:xfrm>
            <a:off x="347472" y="3813048"/>
            <a:ext cx="1078992" cy="274320"/>
          </a:xfrm>
          <a:prstGeom prst="rect">
            <a:avLst/>
          </a:prstGeom>
          <a:solidFill>
            <a:srgbClr val="E05AFF"/>
          </a:solidFill>
          <a:ln w="12700">
            <a:solidFill>
              <a:srgbClr val="E05AFF"/>
            </a:solidFill>
            <a:prstDash val="solid"/>
          </a:ln>
        </p:spPr>
        <p:txBody>
          <a:bodyPr/>
          <a:lstStyle/>
          <a:p>
            <a:endParaRPr lang="en-US"/>
          </a:p>
        </p:txBody>
      </p:sp>
      <p:sp>
        <p:nvSpPr>
          <p:cNvPr id="84" name="Text 82"/>
          <p:cNvSpPr/>
          <p:nvPr/>
        </p:nvSpPr>
        <p:spPr>
          <a:xfrm>
            <a:off x="347472" y="3813048"/>
            <a:ext cx="1078992" cy="27432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Child shuffled</a:t>
            </a:r>
            <a:endParaRPr lang="en-US" sz="1000" dirty="0"/>
          </a:p>
        </p:txBody>
      </p:sp>
      <p:sp>
        <p:nvSpPr>
          <p:cNvPr id="85" name="Shape 83"/>
          <p:cNvSpPr/>
          <p:nvPr/>
        </p:nvSpPr>
        <p:spPr>
          <a:xfrm>
            <a:off x="1508760" y="3794760"/>
            <a:ext cx="374904" cy="310896"/>
          </a:xfrm>
          <a:prstGeom prst="rect">
            <a:avLst/>
          </a:prstGeom>
          <a:solidFill>
            <a:srgbClr val="00C896"/>
          </a:solidFill>
          <a:ln w="19050">
            <a:solidFill>
              <a:srgbClr val="00C896"/>
            </a:solidFill>
            <a:prstDash val="solid"/>
          </a:ln>
        </p:spPr>
        <p:txBody>
          <a:bodyPr/>
          <a:lstStyle/>
          <a:p>
            <a:endParaRPr lang="en-US"/>
          </a:p>
        </p:txBody>
      </p:sp>
      <p:sp>
        <p:nvSpPr>
          <p:cNvPr id="86" name="Text 84"/>
          <p:cNvSpPr/>
          <p:nvPr/>
        </p:nvSpPr>
        <p:spPr>
          <a:xfrm>
            <a:off x="1508760" y="3794760"/>
            <a:ext cx="374904" cy="310896"/>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87" name="Shape 85"/>
          <p:cNvSpPr/>
          <p:nvPr/>
        </p:nvSpPr>
        <p:spPr>
          <a:xfrm>
            <a:off x="1911096" y="3794760"/>
            <a:ext cx="374904" cy="310896"/>
          </a:xfrm>
          <a:prstGeom prst="rect">
            <a:avLst/>
          </a:prstGeom>
          <a:solidFill>
            <a:srgbClr val="00C896"/>
          </a:solidFill>
          <a:ln w="19050">
            <a:solidFill>
              <a:srgbClr val="00C896"/>
            </a:solidFill>
            <a:prstDash val="solid"/>
          </a:ln>
        </p:spPr>
        <p:txBody>
          <a:bodyPr/>
          <a:lstStyle/>
          <a:p>
            <a:endParaRPr lang="en-US"/>
          </a:p>
        </p:txBody>
      </p:sp>
      <p:sp>
        <p:nvSpPr>
          <p:cNvPr id="88" name="Text 86"/>
          <p:cNvSpPr/>
          <p:nvPr/>
        </p:nvSpPr>
        <p:spPr>
          <a:xfrm>
            <a:off x="1911096" y="3794760"/>
            <a:ext cx="374904" cy="310896"/>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89" name="Shape 87"/>
          <p:cNvSpPr/>
          <p:nvPr/>
        </p:nvSpPr>
        <p:spPr>
          <a:xfrm>
            <a:off x="2313432" y="3794760"/>
            <a:ext cx="374904" cy="310896"/>
          </a:xfrm>
          <a:prstGeom prst="rect">
            <a:avLst/>
          </a:prstGeom>
          <a:solidFill>
            <a:srgbClr val="00C896"/>
          </a:solidFill>
          <a:ln w="19050">
            <a:solidFill>
              <a:srgbClr val="00C896"/>
            </a:solidFill>
            <a:prstDash val="solid"/>
          </a:ln>
        </p:spPr>
        <p:txBody>
          <a:bodyPr/>
          <a:lstStyle/>
          <a:p>
            <a:endParaRPr lang="en-US"/>
          </a:p>
        </p:txBody>
      </p:sp>
      <p:sp>
        <p:nvSpPr>
          <p:cNvPr id="90" name="Text 88"/>
          <p:cNvSpPr/>
          <p:nvPr/>
        </p:nvSpPr>
        <p:spPr>
          <a:xfrm>
            <a:off x="2313432" y="3794760"/>
            <a:ext cx="374904" cy="310896"/>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91" name="Shape 89"/>
          <p:cNvSpPr/>
          <p:nvPr/>
        </p:nvSpPr>
        <p:spPr>
          <a:xfrm>
            <a:off x="2715768" y="3794760"/>
            <a:ext cx="374904" cy="310896"/>
          </a:xfrm>
          <a:prstGeom prst="rect">
            <a:avLst/>
          </a:prstGeom>
          <a:solidFill>
            <a:srgbClr val="132338"/>
          </a:solidFill>
          <a:ln w="19050">
            <a:solidFill>
              <a:srgbClr val="8FA8BF"/>
            </a:solidFill>
            <a:prstDash val="solid"/>
          </a:ln>
        </p:spPr>
        <p:txBody>
          <a:bodyPr/>
          <a:lstStyle/>
          <a:p>
            <a:endParaRPr lang="en-US"/>
          </a:p>
        </p:txBody>
      </p:sp>
      <p:sp>
        <p:nvSpPr>
          <p:cNvPr id="92" name="Text 90"/>
          <p:cNvSpPr/>
          <p:nvPr/>
        </p:nvSpPr>
        <p:spPr>
          <a:xfrm>
            <a:off x="2715768" y="3794760"/>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93" name="Shape 91"/>
          <p:cNvSpPr/>
          <p:nvPr/>
        </p:nvSpPr>
        <p:spPr>
          <a:xfrm>
            <a:off x="3118104" y="3794760"/>
            <a:ext cx="374904" cy="310896"/>
          </a:xfrm>
          <a:prstGeom prst="rect">
            <a:avLst/>
          </a:prstGeom>
          <a:solidFill>
            <a:srgbClr val="132338"/>
          </a:solidFill>
          <a:ln w="19050">
            <a:solidFill>
              <a:srgbClr val="8FA8BF"/>
            </a:solidFill>
            <a:prstDash val="solid"/>
          </a:ln>
        </p:spPr>
        <p:txBody>
          <a:bodyPr/>
          <a:lstStyle/>
          <a:p>
            <a:endParaRPr lang="en-US"/>
          </a:p>
        </p:txBody>
      </p:sp>
      <p:sp>
        <p:nvSpPr>
          <p:cNvPr id="94" name="Text 92"/>
          <p:cNvSpPr/>
          <p:nvPr/>
        </p:nvSpPr>
        <p:spPr>
          <a:xfrm>
            <a:off x="3118104" y="3794760"/>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95" name="Shape 93"/>
          <p:cNvSpPr/>
          <p:nvPr/>
        </p:nvSpPr>
        <p:spPr>
          <a:xfrm>
            <a:off x="3520440" y="3794760"/>
            <a:ext cx="374904" cy="310896"/>
          </a:xfrm>
          <a:prstGeom prst="rect">
            <a:avLst/>
          </a:prstGeom>
          <a:solidFill>
            <a:srgbClr val="132338"/>
          </a:solidFill>
          <a:ln w="19050">
            <a:solidFill>
              <a:srgbClr val="8FA8BF"/>
            </a:solidFill>
            <a:prstDash val="solid"/>
          </a:ln>
        </p:spPr>
        <p:txBody>
          <a:bodyPr/>
          <a:lstStyle/>
          <a:p>
            <a:endParaRPr lang="en-US"/>
          </a:p>
        </p:txBody>
      </p:sp>
      <p:sp>
        <p:nvSpPr>
          <p:cNvPr id="96" name="Text 94"/>
          <p:cNvSpPr/>
          <p:nvPr/>
        </p:nvSpPr>
        <p:spPr>
          <a:xfrm>
            <a:off x="3520440" y="3794760"/>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97" name="Shape 95"/>
          <p:cNvSpPr/>
          <p:nvPr/>
        </p:nvSpPr>
        <p:spPr>
          <a:xfrm>
            <a:off x="3922776" y="3794760"/>
            <a:ext cx="374904" cy="310896"/>
          </a:xfrm>
          <a:prstGeom prst="rect">
            <a:avLst/>
          </a:prstGeom>
          <a:solidFill>
            <a:srgbClr val="132338"/>
          </a:solidFill>
          <a:ln w="19050">
            <a:solidFill>
              <a:srgbClr val="8FA8BF"/>
            </a:solidFill>
            <a:prstDash val="solid"/>
          </a:ln>
        </p:spPr>
        <p:txBody>
          <a:bodyPr/>
          <a:lstStyle/>
          <a:p>
            <a:endParaRPr lang="en-US"/>
          </a:p>
        </p:txBody>
      </p:sp>
      <p:sp>
        <p:nvSpPr>
          <p:cNvPr id="98" name="Text 96"/>
          <p:cNvSpPr/>
          <p:nvPr/>
        </p:nvSpPr>
        <p:spPr>
          <a:xfrm>
            <a:off x="3922776" y="3794760"/>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99" name="Shape 97"/>
          <p:cNvSpPr/>
          <p:nvPr/>
        </p:nvSpPr>
        <p:spPr>
          <a:xfrm>
            <a:off x="4325112" y="3794760"/>
            <a:ext cx="374904" cy="310896"/>
          </a:xfrm>
          <a:prstGeom prst="rect">
            <a:avLst/>
          </a:prstGeom>
          <a:solidFill>
            <a:srgbClr val="132338"/>
          </a:solidFill>
          <a:ln w="19050">
            <a:solidFill>
              <a:srgbClr val="8FA8BF"/>
            </a:solidFill>
            <a:prstDash val="solid"/>
          </a:ln>
        </p:spPr>
        <p:txBody>
          <a:bodyPr/>
          <a:lstStyle/>
          <a:p>
            <a:endParaRPr lang="en-US"/>
          </a:p>
        </p:txBody>
      </p:sp>
      <p:sp>
        <p:nvSpPr>
          <p:cNvPr id="100" name="Text 98"/>
          <p:cNvSpPr/>
          <p:nvPr/>
        </p:nvSpPr>
        <p:spPr>
          <a:xfrm>
            <a:off x="4325112" y="3794760"/>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101" name="Shape 99"/>
          <p:cNvSpPr/>
          <p:nvPr/>
        </p:nvSpPr>
        <p:spPr>
          <a:xfrm>
            <a:off x="347472" y="4206240"/>
            <a:ext cx="1078992" cy="274320"/>
          </a:xfrm>
          <a:prstGeom prst="rect">
            <a:avLst/>
          </a:prstGeom>
          <a:solidFill>
            <a:srgbClr val="FF6B6B"/>
          </a:solidFill>
          <a:ln w="12700">
            <a:solidFill>
              <a:srgbClr val="FF6B6B"/>
            </a:solidFill>
            <a:prstDash val="solid"/>
          </a:ln>
        </p:spPr>
        <p:txBody>
          <a:bodyPr/>
          <a:lstStyle/>
          <a:p>
            <a:endParaRPr lang="en-US"/>
          </a:p>
        </p:txBody>
      </p:sp>
      <p:sp>
        <p:nvSpPr>
          <p:cNvPr id="102" name="Text 100"/>
          <p:cNvSpPr/>
          <p:nvPr/>
        </p:nvSpPr>
        <p:spPr>
          <a:xfrm>
            <a:off x="347472" y="4206240"/>
            <a:ext cx="1078992" cy="27432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Child (final)</a:t>
            </a:r>
            <a:endParaRPr lang="en-US" sz="1000" dirty="0"/>
          </a:p>
        </p:txBody>
      </p:sp>
      <p:sp>
        <p:nvSpPr>
          <p:cNvPr id="103" name="Shape 101"/>
          <p:cNvSpPr/>
          <p:nvPr/>
        </p:nvSpPr>
        <p:spPr>
          <a:xfrm>
            <a:off x="1508760" y="4187952"/>
            <a:ext cx="374904" cy="310896"/>
          </a:xfrm>
          <a:prstGeom prst="rect">
            <a:avLst/>
          </a:prstGeom>
          <a:solidFill>
            <a:srgbClr val="132338"/>
          </a:solidFill>
          <a:ln w="19050">
            <a:solidFill>
              <a:srgbClr val="8FA8BF"/>
            </a:solidFill>
            <a:prstDash val="solid"/>
          </a:ln>
        </p:spPr>
        <p:txBody>
          <a:bodyPr/>
          <a:lstStyle/>
          <a:p>
            <a:endParaRPr lang="en-US"/>
          </a:p>
        </p:txBody>
      </p:sp>
      <p:sp>
        <p:nvSpPr>
          <p:cNvPr id="104" name="Text 102"/>
          <p:cNvSpPr/>
          <p:nvPr/>
        </p:nvSpPr>
        <p:spPr>
          <a:xfrm>
            <a:off x="1508760" y="4187952"/>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105" name="Shape 103"/>
          <p:cNvSpPr/>
          <p:nvPr/>
        </p:nvSpPr>
        <p:spPr>
          <a:xfrm>
            <a:off x="1911096" y="4187952"/>
            <a:ext cx="374904" cy="310896"/>
          </a:xfrm>
          <a:prstGeom prst="rect">
            <a:avLst/>
          </a:prstGeom>
          <a:solidFill>
            <a:srgbClr val="132338"/>
          </a:solidFill>
          <a:ln w="19050">
            <a:solidFill>
              <a:srgbClr val="8FA8BF"/>
            </a:solidFill>
            <a:prstDash val="solid"/>
          </a:ln>
        </p:spPr>
        <p:txBody>
          <a:bodyPr/>
          <a:lstStyle/>
          <a:p>
            <a:endParaRPr lang="en-US"/>
          </a:p>
        </p:txBody>
      </p:sp>
      <p:sp>
        <p:nvSpPr>
          <p:cNvPr id="106" name="Text 104"/>
          <p:cNvSpPr/>
          <p:nvPr/>
        </p:nvSpPr>
        <p:spPr>
          <a:xfrm>
            <a:off x="1911096" y="4187952"/>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107" name="Shape 105"/>
          <p:cNvSpPr/>
          <p:nvPr/>
        </p:nvSpPr>
        <p:spPr>
          <a:xfrm>
            <a:off x="2313432" y="4187952"/>
            <a:ext cx="374904" cy="310896"/>
          </a:xfrm>
          <a:prstGeom prst="rect">
            <a:avLst/>
          </a:prstGeom>
          <a:solidFill>
            <a:srgbClr val="132338"/>
          </a:solidFill>
          <a:ln w="19050">
            <a:solidFill>
              <a:srgbClr val="8FA8BF"/>
            </a:solidFill>
            <a:prstDash val="solid"/>
          </a:ln>
        </p:spPr>
        <p:txBody>
          <a:bodyPr/>
          <a:lstStyle/>
          <a:p>
            <a:endParaRPr lang="en-US"/>
          </a:p>
        </p:txBody>
      </p:sp>
      <p:sp>
        <p:nvSpPr>
          <p:cNvPr id="108" name="Text 106"/>
          <p:cNvSpPr/>
          <p:nvPr/>
        </p:nvSpPr>
        <p:spPr>
          <a:xfrm>
            <a:off x="2313432" y="4187952"/>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109" name="Shape 107"/>
          <p:cNvSpPr/>
          <p:nvPr/>
        </p:nvSpPr>
        <p:spPr>
          <a:xfrm>
            <a:off x="2715768" y="4187952"/>
            <a:ext cx="374904" cy="310896"/>
          </a:xfrm>
          <a:prstGeom prst="rect">
            <a:avLst/>
          </a:prstGeom>
          <a:solidFill>
            <a:srgbClr val="132338"/>
          </a:solidFill>
          <a:ln w="19050">
            <a:solidFill>
              <a:srgbClr val="8FA8BF"/>
            </a:solidFill>
            <a:prstDash val="solid"/>
          </a:ln>
        </p:spPr>
        <p:txBody>
          <a:bodyPr/>
          <a:lstStyle/>
          <a:p>
            <a:endParaRPr lang="en-US"/>
          </a:p>
        </p:txBody>
      </p:sp>
      <p:sp>
        <p:nvSpPr>
          <p:cNvPr id="110" name="Text 108"/>
          <p:cNvSpPr/>
          <p:nvPr/>
        </p:nvSpPr>
        <p:spPr>
          <a:xfrm>
            <a:off x="2715768" y="4187952"/>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111" name="Shape 109"/>
          <p:cNvSpPr/>
          <p:nvPr/>
        </p:nvSpPr>
        <p:spPr>
          <a:xfrm>
            <a:off x="3118104" y="4187952"/>
            <a:ext cx="374904" cy="310896"/>
          </a:xfrm>
          <a:prstGeom prst="rect">
            <a:avLst/>
          </a:prstGeom>
          <a:solidFill>
            <a:srgbClr val="132338"/>
          </a:solidFill>
          <a:ln w="19050">
            <a:solidFill>
              <a:srgbClr val="8FA8BF"/>
            </a:solidFill>
            <a:prstDash val="solid"/>
          </a:ln>
        </p:spPr>
        <p:txBody>
          <a:bodyPr/>
          <a:lstStyle/>
          <a:p>
            <a:endParaRPr lang="en-US"/>
          </a:p>
        </p:txBody>
      </p:sp>
      <p:sp>
        <p:nvSpPr>
          <p:cNvPr id="112" name="Text 110"/>
          <p:cNvSpPr/>
          <p:nvPr/>
        </p:nvSpPr>
        <p:spPr>
          <a:xfrm>
            <a:off x="3118104" y="4187952"/>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113" name="Shape 111"/>
          <p:cNvSpPr/>
          <p:nvPr/>
        </p:nvSpPr>
        <p:spPr>
          <a:xfrm>
            <a:off x="3520440" y="4187952"/>
            <a:ext cx="374904" cy="310896"/>
          </a:xfrm>
          <a:prstGeom prst="rect">
            <a:avLst/>
          </a:prstGeom>
          <a:solidFill>
            <a:srgbClr val="132338"/>
          </a:solidFill>
          <a:ln w="19050">
            <a:solidFill>
              <a:srgbClr val="8FA8BF"/>
            </a:solidFill>
            <a:prstDash val="solid"/>
          </a:ln>
        </p:spPr>
        <p:txBody>
          <a:bodyPr/>
          <a:lstStyle/>
          <a:p>
            <a:endParaRPr lang="en-US"/>
          </a:p>
        </p:txBody>
      </p:sp>
      <p:sp>
        <p:nvSpPr>
          <p:cNvPr id="114" name="Text 112"/>
          <p:cNvSpPr/>
          <p:nvPr/>
        </p:nvSpPr>
        <p:spPr>
          <a:xfrm>
            <a:off x="3520440" y="4187952"/>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115" name="Shape 113"/>
          <p:cNvSpPr/>
          <p:nvPr/>
        </p:nvSpPr>
        <p:spPr>
          <a:xfrm>
            <a:off x="3922776" y="4187952"/>
            <a:ext cx="374904" cy="310896"/>
          </a:xfrm>
          <a:prstGeom prst="rect">
            <a:avLst/>
          </a:prstGeom>
          <a:solidFill>
            <a:srgbClr val="132338"/>
          </a:solidFill>
          <a:ln w="19050">
            <a:solidFill>
              <a:srgbClr val="8FA8BF"/>
            </a:solidFill>
            <a:prstDash val="solid"/>
          </a:ln>
        </p:spPr>
        <p:txBody>
          <a:bodyPr/>
          <a:lstStyle/>
          <a:p>
            <a:endParaRPr lang="en-US"/>
          </a:p>
        </p:txBody>
      </p:sp>
      <p:sp>
        <p:nvSpPr>
          <p:cNvPr id="116" name="Text 114"/>
          <p:cNvSpPr/>
          <p:nvPr/>
        </p:nvSpPr>
        <p:spPr>
          <a:xfrm>
            <a:off x="3922776" y="4187952"/>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117" name="Shape 115"/>
          <p:cNvSpPr/>
          <p:nvPr/>
        </p:nvSpPr>
        <p:spPr>
          <a:xfrm>
            <a:off x="4325112" y="4187952"/>
            <a:ext cx="374904" cy="310896"/>
          </a:xfrm>
          <a:prstGeom prst="rect">
            <a:avLst/>
          </a:prstGeom>
          <a:solidFill>
            <a:srgbClr val="132338"/>
          </a:solidFill>
          <a:ln w="19050">
            <a:solidFill>
              <a:srgbClr val="8FA8BF"/>
            </a:solidFill>
            <a:prstDash val="solid"/>
          </a:ln>
        </p:spPr>
        <p:txBody>
          <a:bodyPr/>
          <a:lstStyle/>
          <a:p>
            <a:endParaRPr lang="en-US"/>
          </a:p>
        </p:txBody>
      </p:sp>
      <p:sp>
        <p:nvSpPr>
          <p:cNvPr id="118" name="Text 116"/>
          <p:cNvSpPr/>
          <p:nvPr/>
        </p:nvSpPr>
        <p:spPr>
          <a:xfrm>
            <a:off x="4325112" y="4187952"/>
            <a:ext cx="374904"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119" name="Text 117"/>
          <p:cNvSpPr/>
          <p:nvPr/>
        </p:nvSpPr>
        <p:spPr>
          <a:xfrm>
            <a:off x="365760" y="4663440"/>
            <a:ext cx="8412480" cy="256032"/>
          </a:xfrm>
          <a:prstGeom prst="rect">
            <a:avLst/>
          </a:prstGeom>
          <a:noFill/>
          <a:ln/>
        </p:spPr>
        <p:txBody>
          <a:bodyPr wrap="square" rtlCol="0" anchor="ctr"/>
          <a:lstStyle/>
          <a:p>
            <a:pPr marL="0" indent="0">
              <a:buNone/>
            </a:pPr>
            <a:r>
              <a:rPr lang="en-US" sz="1100" i="1" dirty="0">
                <a:solidFill>
                  <a:srgbClr val="8FA8BF"/>
                </a:solidFill>
                <a:latin typeface="Calibri" pitchFamily="34" charset="0"/>
                <a:ea typeface="Calibri" pitchFamily="34" charset="-122"/>
                <a:cs typeface="Calibri" pitchFamily="34" charset="-120"/>
              </a:rPr>
              <a:t>✅  Reduces positional bias — every gene has an equal chance to be at each crossover segment.</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256032"/>
            <a:ext cx="64008" cy="502920"/>
          </a:xfrm>
          <a:prstGeom prst="rect">
            <a:avLst/>
          </a:prstGeom>
          <a:solidFill>
            <a:srgbClr val="00C896"/>
          </a:solidFill>
          <a:ln w="12700">
            <a:solidFill>
              <a:srgbClr val="00C896"/>
            </a:solidFill>
            <a:prstDash val="solid"/>
          </a:ln>
        </p:spPr>
        <p:txBody>
          <a:bodyPr/>
          <a:lstStyle/>
          <a:p>
            <a:endParaRPr lang="en-US"/>
          </a:p>
        </p:txBody>
      </p:sp>
      <p:sp>
        <p:nvSpPr>
          <p:cNvPr id="3" name="Text 1"/>
          <p:cNvSpPr/>
          <p:nvPr/>
        </p:nvSpPr>
        <p:spPr>
          <a:xfrm>
            <a:off x="512064" y="256032"/>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  Mutation</a:t>
            </a:r>
            <a:endParaRPr lang="en-US" sz="2800" dirty="0"/>
          </a:p>
        </p:txBody>
      </p:sp>
      <p:sp>
        <p:nvSpPr>
          <p:cNvPr id="4" name="Shape 2"/>
          <p:cNvSpPr/>
          <p:nvPr/>
        </p:nvSpPr>
        <p:spPr>
          <a:xfrm>
            <a:off x="365760" y="868680"/>
            <a:ext cx="8412480" cy="0"/>
          </a:xfrm>
          <a:prstGeom prst="line">
            <a:avLst/>
          </a:prstGeom>
          <a:noFill/>
          <a:ln w="12700">
            <a:solidFill>
              <a:srgbClr val="00C896">
                <a:alpha val="50000"/>
              </a:srgbClr>
            </a:solidFill>
            <a:prstDash val="solid"/>
          </a:ln>
        </p:spPr>
        <p:txBody>
          <a:bodyPr/>
          <a:lstStyle/>
          <a:p>
            <a:endParaRPr lang="en-US"/>
          </a:p>
        </p:txBody>
      </p:sp>
      <p:sp>
        <p:nvSpPr>
          <p:cNvPr id="5" name="Shape 3"/>
          <p:cNvSpPr/>
          <p:nvPr/>
        </p:nvSpPr>
        <p:spPr>
          <a:xfrm>
            <a:off x="365760" y="1005840"/>
            <a:ext cx="8412480" cy="777240"/>
          </a:xfrm>
          <a:prstGeom prst="rect">
            <a:avLst/>
          </a:prstGeom>
          <a:solidFill>
            <a:srgbClr val="1A2E44"/>
          </a:solidFill>
          <a:ln w="19050">
            <a:solidFill>
              <a:srgbClr val="FF6B6B"/>
            </a:solidFill>
            <a:prstDash val="solid"/>
          </a:ln>
          <a:effectLst>
            <a:outerShdw blurRad="101600" dist="38100" dir="8100000" algn="bl" rotWithShape="0">
              <a:srgbClr val="000000">
                <a:alpha val="25000"/>
              </a:srgbClr>
            </a:outerShdw>
          </a:effectLst>
        </p:spPr>
        <p:txBody>
          <a:bodyPr/>
          <a:lstStyle/>
          <a:p>
            <a:endParaRPr lang="en-US"/>
          </a:p>
        </p:txBody>
      </p:sp>
      <p:sp>
        <p:nvSpPr>
          <p:cNvPr id="6" name="Text 4"/>
          <p:cNvSpPr/>
          <p:nvPr/>
        </p:nvSpPr>
        <p:spPr>
          <a:xfrm>
            <a:off x="502920" y="1033272"/>
            <a:ext cx="8229600" cy="731520"/>
          </a:xfrm>
          <a:prstGeom prst="rect">
            <a:avLst/>
          </a:prstGeom>
          <a:noFill/>
          <a:ln/>
        </p:spPr>
        <p:txBody>
          <a:bodyPr wrap="square" rtlCol="0" anchor="ctr"/>
          <a:lstStyle/>
          <a:p>
            <a:pPr marL="0" indent="0">
              <a:buNone/>
            </a:pPr>
            <a:r>
              <a:rPr lang="en-US" sz="1250" b="1" dirty="0">
                <a:solidFill>
                  <a:srgbClr val="FF6B6B"/>
                </a:solidFill>
                <a:latin typeface="Calibri" pitchFamily="34" charset="0"/>
                <a:ea typeface="Calibri" pitchFamily="34" charset="-122"/>
                <a:cs typeface="Calibri" pitchFamily="34" charset="-120"/>
              </a:rPr>
              <a:t>Mutation </a:t>
            </a:r>
            <a:r>
              <a:rPr lang="en-US" sz="1250" dirty="0">
                <a:solidFill>
                  <a:srgbClr val="E8F0F5"/>
                </a:solidFill>
                <a:latin typeface="Calibri" pitchFamily="34" charset="0"/>
                <a:ea typeface="Calibri" pitchFamily="34" charset="-122"/>
                <a:cs typeface="Calibri" pitchFamily="34" charset="-120"/>
              </a:rPr>
              <a:t>is a genetic operator that randomly alters one or more genes in a chromosome with a small probability (mutation rate μ, typically 0.001–0.01). It introduces new genetic material to maintain diversity and prevent premature convergence to a local optimum.</a:t>
            </a:r>
            <a:endParaRPr lang="en-US" sz="1250" dirty="0"/>
          </a:p>
        </p:txBody>
      </p:sp>
      <p:sp>
        <p:nvSpPr>
          <p:cNvPr id="7" name="Text 5"/>
          <p:cNvSpPr/>
          <p:nvPr/>
        </p:nvSpPr>
        <p:spPr>
          <a:xfrm>
            <a:off x="365760" y="1920240"/>
            <a:ext cx="6400800" cy="274320"/>
          </a:xfrm>
          <a:prstGeom prst="rect">
            <a:avLst/>
          </a:prstGeom>
          <a:noFill/>
          <a:ln/>
        </p:spPr>
        <p:txBody>
          <a:bodyPr wrap="square" rtlCol="0" anchor="ctr"/>
          <a:lstStyle/>
          <a:p>
            <a:pPr marL="0" indent="0">
              <a:buNone/>
            </a:pPr>
            <a:r>
              <a:rPr lang="en-US" sz="1100" b="1" dirty="0">
                <a:solidFill>
                  <a:srgbClr val="8FA8BF"/>
                </a:solidFill>
                <a:latin typeface="Calibri" pitchFamily="34" charset="0"/>
                <a:ea typeface="Calibri" pitchFamily="34" charset="-122"/>
                <a:cs typeface="Calibri" pitchFamily="34" charset="-120"/>
              </a:rPr>
              <a:t>EXAMPLE  — Bit Flip Mutation at gene position 5:</a:t>
            </a:r>
            <a:endParaRPr lang="en-US" sz="1100" dirty="0"/>
          </a:p>
        </p:txBody>
      </p:sp>
      <p:sp>
        <p:nvSpPr>
          <p:cNvPr id="8" name="Shape 6"/>
          <p:cNvSpPr/>
          <p:nvPr/>
        </p:nvSpPr>
        <p:spPr>
          <a:xfrm>
            <a:off x="365760" y="2304288"/>
            <a:ext cx="868680" cy="320040"/>
          </a:xfrm>
          <a:prstGeom prst="rect">
            <a:avLst/>
          </a:prstGeom>
          <a:solidFill>
            <a:srgbClr val="00C896"/>
          </a:solidFill>
          <a:ln w="12700">
            <a:solidFill>
              <a:srgbClr val="00C896"/>
            </a:solidFill>
            <a:prstDash val="solid"/>
          </a:ln>
        </p:spPr>
        <p:txBody>
          <a:bodyPr/>
          <a:lstStyle/>
          <a:p>
            <a:endParaRPr lang="en-US"/>
          </a:p>
        </p:txBody>
      </p:sp>
      <p:sp>
        <p:nvSpPr>
          <p:cNvPr id="9" name="Text 7"/>
          <p:cNvSpPr/>
          <p:nvPr/>
        </p:nvSpPr>
        <p:spPr>
          <a:xfrm>
            <a:off x="365760" y="2304288"/>
            <a:ext cx="868680" cy="32004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Before</a:t>
            </a:r>
            <a:endParaRPr lang="en-US" sz="1000" dirty="0"/>
          </a:p>
        </p:txBody>
      </p:sp>
      <p:sp>
        <p:nvSpPr>
          <p:cNvPr id="10" name="Shape 8"/>
          <p:cNvSpPr/>
          <p:nvPr/>
        </p:nvSpPr>
        <p:spPr>
          <a:xfrm>
            <a:off x="1389888" y="2286000"/>
            <a:ext cx="411480" cy="365760"/>
          </a:xfrm>
          <a:prstGeom prst="rect">
            <a:avLst/>
          </a:prstGeom>
          <a:solidFill>
            <a:srgbClr val="132338"/>
          </a:solidFill>
          <a:ln w="19050">
            <a:solidFill>
              <a:srgbClr val="8FA8BF"/>
            </a:solidFill>
            <a:prstDash val="solid"/>
          </a:ln>
        </p:spPr>
        <p:txBody>
          <a:bodyPr/>
          <a:lstStyle/>
          <a:p>
            <a:endParaRPr lang="en-US"/>
          </a:p>
        </p:txBody>
      </p:sp>
      <p:sp>
        <p:nvSpPr>
          <p:cNvPr id="11" name="Text 9"/>
          <p:cNvSpPr/>
          <p:nvPr/>
        </p:nvSpPr>
        <p:spPr>
          <a:xfrm>
            <a:off x="1389888" y="2286000"/>
            <a:ext cx="411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12" name="Shape 10"/>
          <p:cNvSpPr/>
          <p:nvPr/>
        </p:nvSpPr>
        <p:spPr>
          <a:xfrm>
            <a:off x="1828800" y="2286000"/>
            <a:ext cx="411480" cy="365760"/>
          </a:xfrm>
          <a:prstGeom prst="rect">
            <a:avLst/>
          </a:prstGeom>
          <a:solidFill>
            <a:srgbClr val="132338"/>
          </a:solidFill>
          <a:ln w="19050">
            <a:solidFill>
              <a:srgbClr val="8FA8BF"/>
            </a:solidFill>
            <a:prstDash val="solid"/>
          </a:ln>
        </p:spPr>
        <p:txBody>
          <a:bodyPr/>
          <a:lstStyle/>
          <a:p>
            <a:endParaRPr lang="en-US"/>
          </a:p>
        </p:txBody>
      </p:sp>
      <p:sp>
        <p:nvSpPr>
          <p:cNvPr id="13" name="Text 11"/>
          <p:cNvSpPr/>
          <p:nvPr/>
        </p:nvSpPr>
        <p:spPr>
          <a:xfrm>
            <a:off x="1828800" y="2286000"/>
            <a:ext cx="411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14" name="Shape 12"/>
          <p:cNvSpPr/>
          <p:nvPr/>
        </p:nvSpPr>
        <p:spPr>
          <a:xfrm>
            <a:off x="2267712" y="2286000"/>
            <a:ext cx="411480" cy="365760"/>
          </a:xfrm>
          <a:prstGeom prst="rect">
            <a:avLst/>
          </a:prstGeom>
          <a:solidFill>
            <a:srgbClr val="132338"/>
          </a:solidFill>
          <a:ln w="19050">
            <a:solidFill>
              <a:srgbClr val="8FA8BF"/>
            </a:solidFill>
            <a:prstDash val="solid"/>
          </a:ln>
        </p:spPr>
        <p:txBody>
          <a:bodyPr/>
          <a:lstStyle/>
          <a:p>
            <a:endParaRPr lang="en-US"/>
          </a:p>
        </p:txBody>
      </p:sp>
      <p:sp>
        <p:nvSpPr>
          <p:cNvPr id="15" name="Text 13"/>
          <p:cNvSpPr/>
          <p:nvPr/>
        </p:nvSpPr>
        <p:spPr>
          <a:xfrm>
            <a:off x="2267712" y="2286000"/>
            <a:ext cx="411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16" name="Shape 14"/>
          <p:cNvSpPr/>
          <p:nvPr/>
        </p:nvSpPr>
        <p:spPr>
          <a:xfrm>
            <a:off x="2706624" y="2286000"/>
            <a:ext cx="411480" cy="365760"/>
          </a:xfrm>
          <a:prstGeom prst="rect">
            <a:avLst/>
          </a:prstGeom>
          <a:solidFill>
            <a:srgbClr val="132338"/>
          </a:solidFill>
          <a:ln w="19050">
            <a:solidFill>
              <a:srgbClr val="8FA8BF"/>
            </a:solidFill>
            <a:prstDash val="solid"/>
          </a:ln>
        </p:spPr>
        <p:txBody>
          <a:bodyPr/>
          <a:lstStyle/>
          <a:p>
            <a:endParaRPr lang="en-US"/>
          </a:p>
        </p:txBody>
      </p:sp>
      <p:sp>
        <p:nvSpPr>
          <p:cNvPr id="17" name="Text 15"/>
          <p:cNvSpPr/>
          <p:nvPr/>
        </p:nvSpPr>
        <p:spPr>
          <a:xfrm>
            <a:off x="2706624" y="2286000"/>
            <a:ext cx="411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18" name="Shape 16"/>
          <p:cNvSpPr/>
          <p:nvPr/>
        </p:nvSpPr>
        <p:spPr>
          <a:xfrm>
            <a:off x="3145536" y="2286000"/>
            <a:ext cx="411480" cy="365760"/>
          </a:xfrm>
          <a:prstGeom prst="rect">
            <a:avLst/>
          </a:prstGeom>
          <a:solidFill>
            <a:srgbClr val="132338"/>
          </a:solidFill>
          <a:ln w="19050">
            <a:solidFill>
              <a:srgbClr val="8FA8BF"/>
            </a:solidFill>
            <a:prstDash val="solid"/>
          </a:ln>
        </p:spPr>
        <p:txBody>
          <a:bodyPr/>
          <a:lstStyle/>
          <a:p>
            <a:endParaRPr lang="en-US"/>
          </a:p>
        </p:txBody>
      </p:sp>
      <p:sp>
        <p:nvSpPr>
          <p:cNvPr id="19" name="Text 17"/>
          <p:cNvSpPr/>
          <p:nvPr/>
        </p:nvSpPr>
        <p:spPr>
          <a:xfrm>
            <a:off x="3145536" y="2286000"/>
            <a:ext cx="411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20" name="Shape 18"/>
          <p:cNvSpPr/>
          <p:nvPr/>
        </p:nvSpPr>
        <p:spPr>
          <a:xfrm>
            <a:off x="3584448" y="2286000"/>
            <a:ext cx="411480" cy="365760"/>
          </a:xfrm>
          <a:prstGeom prst="rect">
            <a:avLst/>
          </a:prstGeom>
          <a:solidFill>
            <a:srgbClr val="132338"/>
          </a:solidFill>
          <a:ln w="19050">
            <a:solidFill>
              <a:srgbClr val="8FA8BF"/>
            </a:solidFill>
            <a:prstDash val="solid"/>
          </a:ln>
        </p:spPr>
        <p:txBody>
          <a:bodyPr/>
          <a:lstStyle/>
          <a:p>
            <a:endParaRPr lang="en-US"/>
          </a:p>
        </p:txBody>
      </p:sp>
      <p:sp>
        <p:nvSpPr>
          <p:cNvPr id="21" name="Text 19"/>
          <p:cNvSpPr/>
          <p:nvPr/>
        </p:nvSpPr>
        <p:spPr>
          <a:xfrm>
            <a:off x="3584448" y="2286000"/>
            <a:ext cx="411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22" name="Shape 20"/>
          <p:cNvSpPr/>
          <p:nvPr/>
        </p:nvSpPr>
        <p:spPr>
          <a:xfrm>
            <a:off x="4023360" y="2286000"/>
            <a:ext cx="411480" cy="365760"/>
          </a:xfrm>
          <a:prstGeom prst="rect">
            <a:avLst/>
          </a:prstGeom>
          <a:solidFill>
            <a:srgbClr val="132338"/>
          </a:solidFill>
          <a:ln w="19050">
            <a:solidFill>
              <a:srgbClr val="8FA8BF"/>
            </a:solidFill>
            <a:prstDash val="solid"/>
          </a:ln>
        </p:spPr>
        <p:txBody>
          <a:bodyPr/>
          <a:lstStyle/>
          <a:p>
            <a:endParaRPr lang="en-US"/>
          </a:p>
        </p:txBody>
      </p:sp>
      <p:sp>
        <p:nvSpPr>
          <p:cNvPr id="23" name="Text 21"/>
          <p:cNvSpPr/>
          <p:nvPr/>
        </p:nvSpPr>
        <p:spPr>
          <a:xfrm>
            <a:off x="4023360" y="2286000"/>
            <a:ext cx="411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24" name="Shape 22"/>
          <p:cNvSpPr/>
          <p:nvPr/>
        </p:nvSpPr>
        <p:spPr>
          <a:xfrm>
            <a:off x="4462272" y="2286000"/>
            <a:ext cx="411480" cy="365760"/>
          </a:xfrm>
          <a:prstGeom prst="rect">
            <a:avLst/>
          </a:prstGeom>
          <a:solidFill>
            <a:srgbClr val="132338"/>
          </a:solidFill>
          <a:ln w="19050">
            <a:solidFill>
              <a:srgbClr val="8FA8BF"/>
            </a:solidFill>
            <a:prstDash val="solid"/>
          </a:ln>
        </p:spPr>
        <p:txBody>
          <a:bodyPr/>
          <a:lstStyle/>
          <a:p>
            <a:endParaRPr lang="en-US"/>
          </a:p>
        </p:txBody>
      </p:sp>
      <p:sp>
        <p:nvSpPr>
          <p:cNvPr id="25" name="Text 23"/>
          <p:cNvSpPr/>
          <p:nvPr/>
        </p:nvSpPr>
        <p:spPr>
          <a:xfrm>
            <a:off x="4462272" y="2286000"/>
            <a:ext cx="411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26" name="Shape 24"/>
          <p:cNvSpPr/>
          <p:nvPr/>
        </p:nvSpPr>
        <p:spPr>
          <a:xfrm>
            <a:off x="365760" y="2798064"/>
            <a:ext cx="868680" cy="320040"/>
          </a:xfrm>
          <a:prstGeom prst="rect">
            <a:avLst/>
          </a:prstGeom>
          <a:solidFill>
            <a:srgbClr val="FF6B6B"/>
          </a:solidFill>
          <a:ln w="12700">
            <a:solidFill>
              <a:srgbClr val="FF6B6B"/>
            </a:solidFill>
            <a:prstDash val="solid"/>
          </a:ln>
        </p:spPr>
        <p:txBody>
          <a:bodyPr/>
          <a:lstStyle/>
          <a:p>
            <a:endParaRPr lang="en-US"/>
          </a:p>
        </p:txBody>
      </p:sp>
      <p:sp>
        <p:nvSpPr>
          <p:cNvPr id="27" name="Text 25"/>
          <p:cNvSpPr/>
          <p:nvPr/>
        </p:nvSpPr>
        <p:spPr>
          <a:xfrm>
            <a:off x="365760" y="2798064"/>
            <a:ext cx="868680" cy="32004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After</a:t>
            </a:r>
            <a:endParaRPr lang="en-US" sz="1000" dirty="0"/>
          </a:p>
        </p:txBody>
      </p:sp>
      <p:sp>
        <p:nvSpPr>
          <p:cNvPr id="28" name="Shape 26"/>
          <p:cNvSpPr/>
          <p:nvPr/>
        </p:nvSpPr>
        <p:spPr>
          <a:xfrm>
            <a:off x="1389888" y="2779776"/>
            <a:ext cx="411480" cy="365760"/>
          </a:xfrm>
          <a:prstGeom prst="rect">
            <a:avLst/>
          </a:prstGeom>
          <a:solidFill>
            <a:srgbClr val="132338"/>
          </a:solidFill>
          <a:ln w="19050">
            <a:solidFill>
              <a:srgbClr val="8FA8BF"/>
            </a:solidFill>
            <a:prstDash val="solid"/>
          </a:ln>
        </p:spPr>
        <p:txBody>
          <a:bodyPr/>
          <a:lstStyle/>
          <a:p>
            <a:endParaRPr lang="en-US"/>
          </a:p>
        </p:txBody>
      </p:sp>
      <p:sp>
        <p:nvSpPr>
          <p:cNvPr id="29" name="Text 27"/>
          <p:cNvSpPr/>
          <p:nvPr/>
        </p:nvSpPr>
        <p:spPr>
          <a:xfrm>
            <a:off x="1389888" y="2779776"/>
            <a:ext cx="411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30" name="Shape 28"/>
          <p:cNvSpPr/>
          <p:nvPr/>
        </p:nvSpPr>
        <p:spPr>
          <a:xfrm>
            <a:off x="1828800" y="2779776"/>
            <a:ext cx="411480" cy="365760"/>
          </a:xfrm>
          <a:prstGeom prst="rect">
            <a:avLst/>
          </a:prstGeom>
          <a:solidFill>
            <a:srgbClr val="132338"/>
          </a:solidFill>
          <a:ln w="19050">
            <a:solidFill>
              <a:srgbClr val="8FA8BF"/>
            </a:solidFill>
            <a:prstDash val="solid"/>
          </a:ln>
        </p:spPr>
        <p:txBody>
          <a:bodyPr/>
          <a:lstStyle/>
          <a:p>
            <a:endParaRPr lang="en-US"/>
          </a:p>
        </p:txBody>
      </p:sp>
      <p:sp>
        <p:nvSpPr>
          <p:cNvPr id="31" name="Text 29"/>
          <p:cNvSpPr/>
          <p:nvPr/>
        </p:nvSpPr>
        <p:spPr>
          <a:xfrm>
            <a:off x="1828800" y="2779776"/>
            <a:ext cx="411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32" name="Shape 30"/>
          <p:cNvSpPr/>
          <p:nvPr/>
        </p:nvSpPr>
        <p:spPr>
          <a:xfrm>
            <a:off x="2267712" y="2779776"/>
            <a:ext cx="411480" cy="365760"/>
          </a:xfrm>
          <a:prstGeom prst="rect">
            <a:avLst/>
          </a:prstGeom>
          <a:solidFill>
            <a:srgbClr val="132338"/>
          </a:solidFill>
          <a:ln w="19050">
            <a:solidFill>
              <a:srgbClr val="8FA8BF"/>
            </a:solidFill>
            <a:prstDash val="solid"/>
          </a:ln>
        </p:spPr>
        <p:txBody>
          <a:bodyPr/>
          <a:lstStyle/>
          <a:p>
            <a:endParaRPr lang="en-US"/>
          </a:p>
        </p:txBody>
      </p:sp>
      <p:sp>
        <p:nvSpPr>
          <p:cNvPr id="33" name="Text 31"/>
          <p:cNvSpPr/>
          <p:nvPr/>
        </p:nvSpPr>
        <p:spPr>
          <a:xfrm>
            <a:off x="2267712" y="2779776"/>
            <a:ext cx="411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34" name="Shape 32"/>
          <p:cNvSpPr/>
          <p:nvPr/>
        </p:nvSpPr>
        <p:spPr>
          <a:xfrm>
            <a:off x="2706624" y="2779776"/>
            <a:ext cx="411480" cy="365760"/>
          </a:xfrm>
          <a:prstGeom prst="rect">
            <a:avLst/>
          </a:prstGeom>
          <a:solidFill>
            <a:srgbClr val="132338"/>
          </a:solidFill>
          <a:ln w="19050">
            <a:solidFill>
              <a:srgbClr val="8FA8BF"/>
            </a:solidFill>
            <a:prstDash val="solid"/>
          </a:ln>
        </p:spPr>
        <p:txBody>
          <a:bodyPr/>
          <a:lstStyle/>
          <a:p>
            <a:endParaRPr lang="en-US"/>
          </a:p>
        </p:txBody>
      </p:sp>
      <p:sp>
        <p:nvSpPr>
          <p:cNvPr id="35" name="Text 33"/>
          <p:cNvSpPr/>
          <p:nvPr/>
        </p:nvSpPr>
        <p:spPr>
          <a:xfrm>
            <a:off x="2706624" y="2779776"/>
            <a:ext cx="411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36" name="Shape 34"/>
          <p:cNvSpPr/>
          <p:nvPr/>
        </p:nvSpPr>
        <p:spPr>
          <a:xfrm>
            <a:off x="3145536" y="2779776"/>
            <a:ext cx="411480" cy="365760"/>
          </a:xfrm>
          <a:prstGeom prst="rect">
            <a:avLst/>
          </a:prstGeom>
          <a:solidFill>
            <a:srgbClr val="132338"/>
          </a:solidFill>
          <a:ln w="19050">
            <a:solidFill>
              <a:srgbClr val="8FA8BF"/>
            </a:solidFill>
            <a:prstDash val="solid"/>
          </a:ln>
        </p:spPr>
        <p:txBody>
          <a:bodyPr/>
          <a:lstStyle/>
          <a:p>
            <a:endParaRPr lang="en-US"/>
          </a:p>
        </p:txBody>
      </p:sp>
      <p:sp>
        <p:nvSpPr>
          <p:cNvPr id="37" name="Text 35"/>
          <p:cNvSpPr/>
          <p:nvPr/>
        </p:nvSpPr>
        <p:spPr>
          <a:xfrm>
            <a:off x="3145536" y="2779776"/>
            <a:ext cx="411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38" name="Shape 36"/>
          <p:cNvSpPr/>
          <p:nvPr/>
        </p:nvSpPr>
        <p:spPr>
          <a:xfrm>
            <a:off x="3584448" y="2779776"/>
            <a:ext cx="411480" cy="365760"/>
          </a:xfrm>
          <a:prstGeom prst="rect">
            <a:avLst/>
          </a:prstGeom>
          <a:solidFill>
            <a:srgbClr val="00C896"/>
          </a:solidFill>
          <a:ln w="19050">
            <a:solidFill>
              <a:srgbClr val="00C896"/>
            </a:solidFill>
            <a:prstDash val="solid"/>
          </a:ln>
        </p:spPr>
        <p:txBody>
          <a:bodyPr/>
          <a:lstStyle/>
          <a:p>
            <a:endParaRPr lang="en-US"/>
          </a:p>
        </p:txBody>
      </p:sp>
      <p:sp>
        <p:nvSpPr>
          <p:cNvPr id="39" name="Text 37"/>
          <p:cNvSpPr/>
          <p:nvPr/>
        </p:nvSpPr>
        <p:spPr>
          <a:xfrm>
            <a:off x="3584448" y="2779776"/>
            <a:ext cx="411480" cy="365760"/>
          </a:xfrm>
          <a:prstGeom prst="rect">
            <a:avLst/>
          </a:prstGeom>
          <a:noFill/>
          <a:ln/>
        </p:spPr>
        <p:txBody>
          <a:bodyPr wrap="square" lIns="0" tIns="0" rIns="0" bIns="0" rtlCol="0" anchor="ctr"/>
          <a:lstStyle/>
          <a:p>
            <a:pPr marL="0" indent="0" algn="ctr">
              <a:buNone/>
            </a:pPr>
            <a:r>
              <a:rPr lang="en-US" sz="1300" b="1" dirty="0">
                <a:solidFill>
                  <a:srgbClr val="0D1B2A"/>
                </a:solidFill>
                <a:latin typeface="Consolas" pitchFamily="34" charset="0"/>
                <a:ea typeface="Consolas" pitchFamily="34" charset="-122"/>
                <a:cs typeface="Consolas" pitchFamily="34" charset="-120"/>
              </a:rPr>
              <a:t>1</a:t>
            </a:r>
            <a:endParaRPr lang="en-US" sz="1300" dirty="0"/>
          </a:p>
        </p:txBody>
      </p:sp>
      <p:sp>
        <p:nvSpPr>
          <p:cNvPr id="40" name="Shape 38"/>
          <p:cNvSpPr/>
          <p:nvPr/>
        </p:nvSpPr>
        <p:spPr>
          <a:xfrm>
            <a:off x="4023360" y="2779776"/>
            <a:ext cx="411480" cy="365760"/>
          </a:xfrm>
          <a:prstGeom prst="rect">
            <a:avLst/>
          </a:prstGeom>
          <a:solidFill>
            <a:srgbClr val="132338"/>
          </a:solidFill>
          <a:ln w="19050">
            <a:solidFill>
              <a:srgbClr val="8FA8BF"/>
            </a:solidFill>
            <a:prstDash val="solid"/>
          </a:ln>
        </p:spPr>
        <p:txBody>
          <a:bodyPr/>
          <a:lstStyle/>
          <a:p>
            <a:endParaRPr lang="en-US"/>
          </a:p>
        </p:txBody>
      </p:sp>
      <p:sp>
        <p:nvSpPr>
          <p:cNvPr id="41" name="Text 39"/>
          <p:cNvSpPr/>
          <p:nvPr/>
        </p:nvSpPr>
        <p:spPr>
          <a:xfrm>
            <a:off x="4023360" y="2779776"/>
            <a:ext cx="411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42" name="Shape 40"/>
          <p:cNvSpPr/>
          <p:nvPr/>
        </p:nvSpPr>
        <p:spPr>
          <a:xfrm>
            <a:off x="4462272" y="2779776"/>
            <a:ext cx="411480" cy="365760"/>
          </a:xfrm>
          <a:prstGeom prst="rect">
            <a:avLst/>
          </a:prstGeom>
          <a:solidFill>
            <a:srgbClr val="132338"/>
          </a:solidFill>
          <a:ln w="19050">
            <a:solidFill>
              <a:srgbClr val="8FA8BF"/>
            </a:solidFill>
            <a:prstDash val="solid"/>
          </a:ln>
        </p:spPr>
        <p:txBody>
          <a:bodyPr/>
          <a:lstStyle/>
          <a:p>
            <a:endParaRPr lang="en-US"/>
          </a:p>
        </p:txBody>
      </p:sp>
      <p:sp>
        <p:nvSpPr>
          <p:cNvPr id="43" name="Text 41"/>
          <p:cNvSpPr/>
          <p:nvPr/>
        </p:nvSpPr>
        <p:spPr>
          <a:xfrm>
            <a:off x="4462272" y="2779776"/>
            <a:ext cx="411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0</a:t>
            </a:r>
            <a:endParaRPr lang="en-US" sz="1300" dirty="0"/>
          </a:p>
        </p:txBody>
      </p:sp>
      <p:sp>
        <p:nvSpPr>
          <p:cNvPr id="44" name="Shape 42"/>
          <p:cNvSpPr/>
          <p:nvPr/>
        </p:nvSpPr>
        <p:spPr>
          <a:xfrm>
            <a:off x="3538728" y="2651760"/>
            <a:ext cx="0" cy="128016"/>
          </a:xfrm>
          <a:prstGeom prst="line">
            <a:avLst/>
          </a:prstGeom>
          <a:noFill/>
          <a:ln w="31750">
            <a:solidFill>
              <a:srgbClr val="FF6B6B"/>
            </a:solidFill>
            <a:prstDash val="solid"/>
          </a:ln>
        </p:spPr>
        <p:txBody>
          <a:bodyPr/>
          <a:lstStyle/>
          <a:p>
            <a:endParaRPr lang="en-US"/>
          </a:p>
        </p:txBody>
      </p:sp>
      <p:sp>
        <p:nvSpPr>
          <p:cNvPr id="45" name="Text 43"/>
          <p:cNvSpPr/>
          <p:nvPr/>
        </p:nvSpPr>
        <p:spPr>
          <a:xfrm>
            <a:off x="3291840" y="2633472"/>
            <a:ext cx="822960" cy="502920"/>
          </a:xfrm>
          <a:prstGeom prst="rect">
            <a:avLst/>
          </a:prstGeom>
          <a:noFill/>
          <a:ln/>
        </p:spPr>
        <p:txBody>
          <a:bodyPr wrap="square" rtlCol="0" anchor="ctr"/>
          <a:lstStyle/>
          <a:p>
            <a:pPr marL="0" indent="0" algn="ctr">
              <a:buNone/>
            </a:pPr>
            <a:r>
              <a:rPr lang="en-US" sz="800" dirty="0">
                <a:solidFill>
                  <a:srgbClr val="FF6B6B"/>
                </a:solidFill>
                <a:latin typeface="Calibri" pitchFamily="34" charset="0"/>
                <a:ea typeface="Calibri" pitchFamily="34" charset="-122"/>
                <a:cs typeface="Calibri" pitchFamily="34" charset="-120"/>
              </a:rPr>
              <a:t>⚡ flipped!</a:t>
            </a:r>
            <a:endParaRPr lang="en-US" sz="800" dirty="0"/>
          </a:p>
          <a:p>
            <a:pPr marL="0" indent="0" algn="ctr">
              <a:buNone/>
            </a:pPr>
            <a:r>
              <a:rPr lang="en-US" sz="800" dirty="0">
                <a:solidFill>
                  <a:srgbClr val="FF6B6B"/>
                </a:solidFill>
                <a:latin typeface="Calibri" pitchFamily="34" charset="0"/>
                <a:ea typeface="Calibri" pitchFamily="34" charset="-122"/>
                <a:cs typeface="Calibri" pitchFamily="34" charset="-120"/>
              </a:rPr>
              <a:t>0→1</a:t>
            </a:r>
            <a:endParaRPr lang="en-US" sz="800" dirty="0"/>
          </a:p>
        </p:txBody>
      </p:sp>
      <p:sp>
        <p:nvSpPr>
          <p:cNvPr id="46" name="Text 44"/>
          <p:cNvSpPr/>
          <p:nvPr/>
        </p:nvSpPr>
        <p:spPr>
          <a:xfrm>
            <a:off x="365760" y="3273552"/>
            <a:ext cx="3657600" cy="256032"/>
          </a:xfrm>
          <a:prstGeom prst="rect">
            <a:avLst/>
          </a:prstGeom>
          <a:noFill/>
          <a:ln/>
        </p:spPr>
        <p:txBody>
          <a:bodyPr wrap="square" rtlCol="0" anchor="ctr"/>
          <a:lstStyle/>
          <a:p>
            <a:pPr marL="0" indent="0">
              <a:buNone/>
            </a:pPr>
            <a:r>
              <a:rPr lang="en-US" sz="1000" b="1" dirty="0">
                <a:solidFill>
                  <a:srgbClr val="8FA8BF"/>
                </a:solidFill>
                <a:latin typeface="Calibri" pitchFamily="34" charset="0"/>
                <a:ea typeface="Calibri" pitchFamily="34" charset="-122"/>
                <a:cs typeface="Calibri" pitchFamily="34" charset="-120"/>
              </a:rPr>
              <a:t>COMMON MUTATION TYPES:</a:t>
            </a:r>
            <a:endParaRPr lang="en-US" sz="1000" dirty="0"/>
          </a:p>
        </p:txBody>
      </p:sp>
      <p:sp>
        <p:nvSpPr>
          <p:cNvPr id="47" name="Shape 45"/>
          <p:cNvSpPr/>
          <p:nvPr/>
        </p:nvSpPr>
        <p:spPr>
          <a:xfrm>
            <a:off x="365760" y="3566160"/>
            <a:ext cx="4114800" cy="566928"/>
          </a:xfrm>
          <a:prstGeom prst="rect">
            <a:avLst/>
          </a:prstGeom>
          <a:solidFill>
            <a:srgbClr val="1A2E44"/>
          </a:solidFill>
          <a:ln w="19050">
            <a:solidFill>
              <a:srgbClr val="FF6B6B"/>
            </a:solidFill>
            <a:prstDash val="solid"/>
          </a:ln>
          <a:effectLst>
            <a:outerShdw blurRad="101600" dist="38100" dir="8100000" algn="bl" rotWithShape="0">
              <a:srgbClr val="000000">
                <a:alpha val="25000"/>
              </a:srgbClr>
            </a:outerShdw>
          </a:effectLst>
        </p:spPr>
        <p:txBody>
          <a:bodyPr/>
          <a:lstStyle/>
          <a:p>
            <a:endParaRPr lang="en-US"/>
          </a:p>
        </p:txBody>
      </p:sp>
      <p:sp>
        <p:nvSpPr>
          <p:cNvPr id="48" name="Text 46"/>
          <p:cNvSpPr/>
          <p:nvPr/>
        </p:nvSpPr>
        <p:spPr>
          <a:xfrm>
            <a:off x="475488" y="3611880"/>
            <a:ext cx="3895344" cy="475488"/>
          </a:xfrm>
          <a:prstGeom prst="rect">
            <a:avLst/>
          </a:prstGeom>
          <a:noFill/>
          <a:ln/>
        </p:spPr>
        <p:txBody>
          <a:bodyPr wrap="square" rtlCol="0" anchor="ctr"/>
          <a:lstStyle/>
          <a:p>
            <a:pPr marL="0" indent="0">
              <a:buNone/>
            </a:pPr>
            <a:r>
              <a:rPr lang="en-US" sz="1150" b="1" dirty="0">
                <a:solidFill>
                  <a:srgbClr val="FF6B6B"/>
                </a:solidFill>
                <a:latin typeface="Calibri" pitchFamily="34" charset="0"/>
                <a:ea typeface="Calibri" pitchFamily="34" charset="-122"/>
                <a:cs typeface="Calibri" pitchFamily="34" charset="-120"/>
              </a:rPr>
              <a:t>Bit Flip: </a:t>
            </a:r>
            <a:r>
              <a:rPr lang="en-US" sz="1150" dirty="0">
                <a:solidFill>
                  <a:srgbClr val="E8F0F5"/>
                </a:solidFill>
                <a:latin typeface="Calibri" pitchFamily="34" charset="0"/>
                <a:ea typeface="Calibri" pitchFamily="34" charset="-122"/>
                <a:cs typeface="Calibri" pitchFamily="34" charset="-120"/>
              </a:rPr>
              <a:t>Flip a bit 0→1 or 1→0 at a random position (binary encoding).</a:t>
            </a:r>
            <a:endParaRPr lang="en-US" sz="1150" dirty="0"/>
          </a:p>
        </p:txBody>
      </p:sp>
      <p:sp>
        <p:nvSpPr>
          <p:cNvPr id="49" name="Shape 47"/>
          <p:cNvSpPr/>
          <p:nvPr/>
        </p:nvSpPr>
        <p:spPr>
          <a:xfrm>
            <a:off x="4681728" y="3566160"/>
            <a:ext cx="4114800" cy="566928"/>
          </a:xfrm>
          <a:prstGeom prst="rect">
            <a:avLst/>
          </a:prstGeom>
          <a:solidFill>
            <a:srgbClr val="1A2E44"/>
          </a:solidFill>
          <a:ln w="19050">
            <a:solidFill>
              <a:srgbClr val="FF6B6B"/>
            </a:solidFill>
            <a:prstDash val="solid"/>
          </a:ln>
          <a:effectLst>
            <a:outerShdw blurRad="101600" dist="38100" dir="8100000" algn="bl" rotWithShape="0">
              <a:srgbClr val="000000">
                <a:alpha val="25000"/>
              </a:srgbClr>
            </a:outerShdw>
          </a:effectLst>
        </p:spPr>
        <p:txBody>
          <a:bodyPr/>
          <a:lstStyle/>
          <a:p>
            <a:endParaRPr lang="en-US"/>
          </a:p>
        </p:txBody>
      </p:sp>
      <p:sp>
        <p:nvSpPr>
          <p:cNvPr id="50" name="Text 48"/>
          <p:cNvSpPr/>
          <p:nvPr/>
        </p:nvSpPr>
        <p:spPr>
          <a:xfrm>
            <a:off x="4791456" y="3611880"/>
            <a:ext cx="3895344" cy="475488"/>
          </a:xfrm>
          <a:prstGeom prst="rect">
            <a:avLst/>
          </a:prstGeom>
          <a:noFill/>
          <a:ln/>
        </p:spPr>
        <p:txBody>
          <a:bodyPr wrap="square" rtlCol="0" anchor="ctr"/>
          <a:lstStyle/>
          <a:p>
            <a:pPr marL="0" indent="0">
              <a:buNone/>
            </a:pPr>
            <a:r>
              <a:rPr lang="en-US" sz="1150" b="1" dirty="0">
                <a:solidFill>
                  <a:srgbClr val="FF6B6B"/>
                </a:solidFill>
                <a:latin typeface="Calibri" pitchFamily="34" charset="0"/>
                <a:ea typeface="Calibri" pitchFamily="34" charset="-122"/>
                <a:cs typeface="Calibri" pitchFamily="34" charset="-120"/>
              </a:rPr>
              <a:t>Swap: </a:t>
            </a:r>
            <a:r>
              <a:rPr lang="en-US" sz="1150" dirty="0">
                <a:solidFill>
                  <a:srgbClr val="E8F0F5"/>
                </a:solidFill>
                <a:latin typeface="Calibri" pitchFamily="34" charset="0"/>
                <a:ea typeface="Calibri" pitchFamily="34" charset="-122"/>
                <a:cs typeface="Calibri" pitchFamily="34" charset="-120"/>
              </a:rPr>
              <a:t>Randomly select two gene positions and swap their values.</a:t>
            </a:r>
            <a:endParaRPr lang="en-US" sz="1150" dirty="0"/>
          </a:p>
        </p:txBody>
      </p:sp>
      <p:sp>
        <p:nvSpPr>
          <p:cNvPr id="51" name="Shape 49"/>
          <p:cNvSpPr/>
          <p:nvPr/>
        </p:nvSpPr>
        <p:spPr>
          <a:xfrm>
            <a:off x="365760" y="4224528"/>
            <a:ext cx="4114800" cy="566928"/>
          </a:xfrm>
          <a:prstGeom prst="rect">
            <a:avLst/>
          </a:prstGeom>
          <a:solidFill>
            <a:srgbClr val="1A2E44"/>
          </a:solidFill>
          <a:ln w="19050">
            <a:solidFill>
              <a:srgbClr val="FF6B6B"/>
            </a:solidFill>
            <a:prstDash val="solid"/>
          </a:ln>
          <a:effectLst>
            <a:outerShdw blurRad="101600" dist="38100" dir="8100000" algn="bl" rotWithShape="0">
              <a:srgbClr val="000000">
                <a:alpha val="25000"/>
              </a:srgbClr>
            </a:outerShdw>
          </a:effectLst>
        </p:spPr>
        <p:txBody>
          <a:bodyPr/>
          <a:lstStyle/>
          <a:p>
            <a:endParaRPr lang="en-US"/>
          </a:p>
        </p:txBody>
      </p:sp>
      <p:sp>
        <p:nvSpPr>
          <p:cNvPr id="52" name="Text 50"/>
          <p:cNvSpPr/>
          <p:nvPr/>
        </p:nvSpPr>
        <p:spPr>
          <a:xfrm>
            <a:off x="475488" y="4270248"/>
            <a:ext cx="3895344" cy="475488"/>
          </a:xfrm>
          <a:prstGeom prst="rect">
            <a:avLst/>
          </a:prstGeom>
          <a:noFill/>
          <a:ln/>
        </p:spPr>
        <p:txBody>
          <a:bodyPr wrap="square" rtlCol="0" anchor="ctr"/>
          <a:lstStyle/>
          <a:p>
            <a:pPr marL="0" indent="0">
              <a:buNone/>
            </a:pPr>
            <a:r>
              <a:rPr lang="en-US" sz="1150" b="1" dirty="0">
                <a:solidFill>
                  <a:srgbClr val="FF6B6B"/>
                </a:solidFill>
                <a:latin typeface="Calibri" pitchFamily="34" charset="0"/>
                <a:ea typeface="Calibri" pitchFamily="34" charset="-122"/>
                <a:cs typeface="Calibri" pitchFamily="34" charset="-120"/>
              </a:rPr>
              <a:t>Scramble: </a:t>
            </a:r>
            <a:r>
              <a:rPr lang="en-US" sz="1150" dirty="0">
                <a:solidFill>
                  <a:srgbClr val="E8F0F5"/>
                </a:solidFill>
                <a:latin typeface="Calibri" pitchFamily="34" charset="0"/>
                <a:ea typeface="Calibri" pitchFamily="34" charset="-122"/>
                <a:cs typeface="Calibri" pitchFamily="34" charset="-120"/>
              </a:rPr>
              <a:t>Select a random subset of genes and shuffle their order.</a:t>
            </a:r>
            <a:endParaRPr lang="en-US" sz="1150" dirty="0"/>
          </a:p>
        </p:txBody>
      </p:sp>
      <p:sp>
        <p:nvSpPr>
          <p:cNvPr id="53" name="Shape 51"/>
          <p:cNvSpPr/>
          <p:nvPr/>
        </p:nvSpPr>
        <p:spPr>
          <a:xfrm>
            <a:off x="4681728" y="4224528"/>
            <a:ext cx="4114800" cy="566928"/>
          </a:xfrm>
          <a:prstGeom prst="rect">
            <a:avLst/>
          </a:prstGeom>
          <a:solidFill>
            <a:srgbClr val="1A2E44"/>
          </a:solidFill>
          <a:ln w="19050">
            <a:solidFill>
              <a:srgbClr val="FF6B6B"/>
            </a:solidFill>
            <a:prstDash val="solid"/>
          </a:ln>
          <a:effectLst>
            <a:outerShdw blurRad="101600" dist="38100" dir="8100000" algn="bl" rotWithShape="0">
              <a:srgbClr val="000000">
                <a:alpha val="25000"/>
              </a:srgbClr>
            </a:outerShdw>
          </a:effectLst>
        </p:spPr>
        <p:txBody>
          <a:bodyPr/>
          <a:lstStyle/>
          <a:p>
            <a:endParaRPr lang="en-US"/>
          </a:p>
        </p:txBody>
      </p:sp>
      <p:sp>
        <p:nvSpPr>
          <p:cNvPr id="54" name="Text 52"/>
          <p:cNvSpPr/>
          <p:nvPr/>
        </p:nvSpPr>
        <p:spPr>
          <a:xfrm>
            <a:off x="4791456" y="4270248"/>
            <a:ext cx="3895344" cy="475488"/>
          </a:xfrm>
          <a:prstGeom prst="rect">
            <a:avLst/>
          </a:prstGeom>
          <a:noFill/>
          <a:ln/>
        </p:spPr>
        <p:txBody>
          <a:bodyPr wrap="square" rtlCol="0" anchor="ctr"/>
          <a:lstStyle/>
          <a:p>
            <a:pPr marL="0" indent="0">
              <a:buNone/>
            </a:pPr>
            <a:r>
              <a:rPr lang="en-US" sz="1150" b="1" dirty="0">
                <a:solidFill>
                  <a:srgbClr val="FF6B6B"/>
                </a:solidFill>
                <a:latin typeface="Calibri" pitchFamily="34" charset="0"/>
                <a:ea typeface="Calibri" pitchFamily="34" charset="-122"/>
                <a:cs typeface="Calibri" pitchFamily="34" charset="-120"/>
              </a:rPr>
              <a:t>Inversion: </a:t>
            </a:r>
            <a:r>
              <a:rPr lang="en-US" sz="1150" dirty="0">
                <a:solidFill>
                  <a:srgbClr val="E8F0F5"/>
                </a:solidFill>
                <a:latin typeface="Calibri" pitchFamily="34" charset="0"/>
                <a:ea typeface="Calibri" pitchFamily="34" charset="-122"/>
                <a:cs typeface="Calibri" pitchFamily="34" charset="-120"/>
              </a:rPr>
              <a:t>Reverse the order of genes between two randomly chosen positions.</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256032"/>
            <a:ext cx="64008" cy="502920"/>
          </a:xfrm>
          <a:prstGeom prst="rect">
            <a:avLst/>
          </a:prstGeom>
          <a:solidFill>
            <a:srgbClr val="00C896"/>
          </a:solidFill>
          <a:ln w="12700">
            <a:solidFill>
              <a:srgbClr val="00C896"/>
            </a:solidFill>
            <a:prstDash val="solid"/>
          </a:ln>
        </p:spPr>
        <p:txBody>
          <a:bodyPr/>
          <a:lstStyle/>
          <a:p>
            <a:endParaRPr lang="en-US"/>
          </a:p>
        </p:txBody>
      </p:sp>
      <p:sp>
        <p:nvSpPr>
          <p:cNvPr id="3" name="Text 1"/>
          <p:cNvSpPr/>
          <p:nvPr/>
        </p:nvSpPr>
        <p:spPr>
          <a:xfrm>
            <a:off x="512064" y="256032"/>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  Fitness Function</a:t>
            </a:r>
            <a:endParaRPr lang="en-US" sz="2800" dirty="0"/>
          </a:p>
        </p:txBody>
      </p:sp>
      <p:sp>
        <p:nvSpPr>
          <p:cNvPr id="4" name="Shape 2"/>
          <p:cNvSpPr/>
          <p:nvPr/>
        </p:nvSpPr>
        <p:spPr>
          <a:xfrm>
            <a:off x="365760" y="868680"/>
            <a:ext cx="8412480" cy="0"/>
          </a:xfrm>
          <a:prstGeom prst="line">
            <a:avLst/>
          </a:prstGeom>
          <a:noFill/>
          <a:ln w="12700">
            <a:solidFill>
              <a:srgbClr val="00C896">
                <a:alpha val="50000"/>
              </a:srgbClr>
            </a:solidFill>
            <a:prstDash val="solid"/>
          </a:ln>
        </p:spPr>
        <p:txBody>
          <a:bodyPr/>
          <a:lstStyle/>
          <a:p>
            <a:endParaRPr lang="en-US"/>
          </a:p>
        </p:txBody>
      </p:sp>
      <p:sp>
        <p:nvSpPr>
          <p:cNvPr id="5" name="Shape 3"/>
          <p:cNvSpPr/>
          <p:nvPr/>
        </p:nvSpPr>
        <p:spPr>
          <a:xfrm>
            <a:off x="365760" y="1005840"/>
            <a:ext cx="8412480" cy="777240"/>
          </a:xfrm>
          <a:prstGeom prst="rect">
            <a:avLst/>
          </a:prstGeom>
          <a:solidFill>
            <a:srgbClr val="1A2E44"/>
          </a:solidFill>
          <a:ln w="19050">
            <a:solidFill>
              <a:srgbClr val="FFB830"/>
            </a:solidFill>
            <a:prstDash val="solid"/>
          </a:ln>
          <a:effectLst>
            <a:outerShdw blurRad="101600" dist="38100" dir="8100000" algn="bl" rotWithShape="0">
              <a:srgbClr val="000000">
                <a:alpha val="25000"/>
              </a:srgbClr>
            </a:outerShdw>
          </a:effectLst>
        </p:spPr>
        <p:txBody>
          <a:bodyPr/>
          <a:lstStyle/>
          <a:p>
            <a:endParaRPr lang="en-US"/>
          </a:p>
        </p:txBody>
      </p:sp>
      <p:sp>
        <p:nvSpPr>
          <p:cNvPr id="6" name="Text 4"/>
          <p:cNvSpPr/>
          <p:nvPr/>
        </p:nvSpPr>
        <p:spPr>
          <a:xfrm>
            <a:off x="502920" y="1033272"/>
            <a:ext cx="8229600" cy="731520"/>
          </a:xfrm>
          <a:prstGeom prst="rect">
            <a:avLst/>
          </a:prstGeom>
          <a:noFill/>
          <a:ln/>
        </p:spPr>
        <p:txBody>
          <a:bodyPr wrap="square" rtlCol="0" anchor="ctr"/>
          <a:lstStyle/>
          <a:p>
            <a:pPr marL="0" indent="0">
              <a:buNone/>
            </a:pPr>
            <a:r>
              <a:rPr lang="en-US" sz="1250" b="1" dirty="0">
                <a:solidFill>
                  <a:srgbClr val="FFB830"/>
                </a:solidFill>
                <a:latin typeface="Calibri" pitchFamily="34" charset="0"/>
                <a:ea typeface="Calibri" pitchFamily="34" charset="-122"/>
                <a:cs typeface="Calibri" pitchFamily="34" charset="-120"/>
              </a:rPr>
              <a:t>Fitness Function </a:t>
            </a:r>
            <a:r>
              <a:rPr lang="en-US" sz="1250" dirty="0">
                <a:solidFill>
                  <a:srgbClr val="E8F0F5"/>
                </a:solidFill>
                <a:latin typeface="Calibri" pitchFamily="34" charset="0"/>
                <a:ea typeface="Calibri" pitchFamily="34" charset="-122"/>
                <a:cs typeface="Calibri" pitchFamily="34" charset="-120"/>
              </a:rPr>
              <a:t>is the evaluation function that measures how well each chromosome (solution) solves the problem. It assigns a numerical score — the "fitness" — to each individual. The GA uses this score to guide selection: higher fitness = better solution = higher chance of being selected.</a:t>
            </a:r>
            <a:endParaRPr lang="en-US" sz="1250" dirty="0"/>
          </a:p>
        </p:txBody>
      </p:sp>
      <p:sp>
        <p:nvSpPr>
          <p:cNvPr id="7" name="Text 5"/>
          <p:cNvSpPr/>
          <p:nvPr/>
        </p:nvSpPr>
        <p:spPr>
          <a:xfrm>
            <a:off x="365760" y="1901952"/>
            <a:ext cx="8412480" cy="274320"/>
          </a:xfrm>
          <a:prstGeom prst="rect">
            <a:avLst/>
          </a:prstGeom>
          <a:noFill/>
          <a:ln/>
        </p:spPr>
        <p:txBody>
          <a:bodyPr wrap="square" rtlCol="0" anchor="ctr"/>
          <a:lstStyle/>
          <a:p>
            <a:pPr marL="0" indent="0">
              <a:buNone/>
            </a:pPr>
            <a:r>
              <a:rPr lang="en-US" sz="1100" b="1" dirty="0">
                <a:solidFill>
                  <a:srgbClr val="8FA8BF"/>
                </a:solidFill>
                <a:latin typeface="Calibri" pitchFamily="34" charset="0"/>
                <a:ea typeface="Calibri" pitchFamily="34" charset="-122"/>
                <a:cs typeface="Calibri" pitchFamily="34" charset="-120"/>
              </a:rPr>
              <a:t>EXAMPLE  — Maximizing  f(x) = x²  where x is encoded as a 4-bit binary:</a:t>
            </a:r>
            <a:endParaRPr lang="en-US" sz="1100" dirty="0"/>
          </a:p>
        </p:txBody>
      </p:sp>
      <p:graphicFrame>
        <p:nvGraphicFramePr>
          <p:cNvPr id="18" name="Table 0"/>
          <p:cNvGraphicFramePr>
            <a:graphicFrameLocks noGrp="1"/>
          </p:cNvGraphicFramePr>
          <p:nvPr/>
        </p:nvGraphicFramePr>
        <p:xfrm>
          <a:off x="365760" y="2171697"/>
          <a:ext cx="8412480" cy="1481330"/>
        </p:xfrm>
        <a:graphic>
          <a:graphicData uri="http://schemas.openxmlformats.org/drawingml/2006/table">
            <a:tbl>
              <a:tblPr/>
              <a:tblGrid>
                <a:gridCol w="27432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296266">
                <a:tc>
                  <a:txBody>
                    <a:bodyPr/>
                    <a:lstStyle/>
                    <a:p>
                      <a:pPr marL="0" indent="0" algn="ctr">
                        <a:buNone/>
                      </a:pPr>
                      <a:r>
                        <a:rPr lang="en-US" sz="1200" b="1" dirty="0">
                          <a:solidFill>
                            <a:srgbClr val="0D1B2A"/>
                          </a:solidFill>
                        </a:rPr>
                        <a:t>Chromosome (bits)</a:t>
                      </a:r>
                      <a:endParaRPr lang="en-US" sz="1200" dirty="0"/>
                    </a:p>
                  </a:txBody>
                  <a:tcPr anchor="ctr">
                    <a:lnL w="0" cap="flat" cmpd="sng" algn="ctr">
                      <a:noFill/>
                    </a:lnL>
                    <a:lnR w="0" cap="flat" cmpd="sng" algn="ctr">
                      <a:noFill/>
                    </a:lnR>
                    <a:lnT w="0" cap="flat" cmpd="sng" algn="ctr">
                      <a:noFill/>
                    </a:lnT>
                    <a:lnB w="0" cap="flat" cmpd="sng" algn="ctr">
                      <a:noFill/>
                    </a:lnB>
                    <a:solidFill>
                      <a:srgbClr val="FFB830"/>
                    </a:solidFill>
                  </a:tcPr>
                </a:tc>
                <a:tc>
                  <a:txBody>
                    <a:bodyPr/>
                    <a:lstStyle/>
                    <a:p>
                      <a:pPr marL="0" indent="0" algn="ctr">
                        <a:buNone/>
                      </a:pPr>
                      <a:r>
                        <a:rPr lang="en-US" sz="1200" b="1" dirty="0">
                          <a:solidFill>
                            <a:srgbClr val="0D1B2A"/>
                          </a:solidFill>
                        </a:rPr>
                        <a:t>Decimal (x)</a:t>
                      </a:r>
                      <a:endParaRPr lang="en-US" sz="1200" dirty="0"/>
                    </a:p>
                  </a:txBody>
                  <a:tcPr anchor="ctr">
                    <a:lnL w="0" cap="flat" cmpd="sng" algn="ctr">
                      <a:noFill/>
                    </a:lnL>
                    <a:lnR w="0" cap="flat" cmpd="sng" algn="ctr">
                      <a:noFill/>
                    </a:lnR>
                    <a:lnT w="0" cap="flat" cmpd="sng" algn="ctr">
                      <a:noFill/>
                    </a:lnT>
                    <a:lnB w="0" cap="flat" cmpd="sng" algn="ctr">
                      <a:noFill/>
                    </a:lnB>
                    <a:solidFill>
                      <a:srgbClr val="FFB830"/>
                    </a:solidFill>
                  </a:tcPr>
                </a:tc>
                <a:tc>
                  <a:txBody>
                    <a:bodyPr/>
                    <a:lstStyle/>
                    <a:p>
                      <a:pPr marL="0" indent="0" algn="ctr">
                        <a:buNone/>
                      </a:pPr>
                      <a:r>
                        <a:rPr lang="en-US" sz="1200" b="1" dirty="0">
                          <a:solidFill>
                            <a:srgbClr val="0D1B2A"/>
                          </a:solidFill>
                        </a:rPr>
                        <a:t>Fitness f(x)=x²</a:t>
                      </a:r>
                      <a:endParaRPr lang="en-US" sz="1200" dirty="0"/>
                    </a:p>
                  </a:txBody>
                  <a:tcPr anchor="ctr">
                    <a:lnL w="0" cap="flat" cmpd="sng" algn="ctr">
                      <a:noFill/>
                    </a:lnL>
                    <a:lnR w="0" cap="flat" cmpd="sng" algn="ctr">
                      <a:noFill/>
                    </a:lnR>
                    <a:lnT w="0" cap="flat" cmpd="sng" algn="ctr">
                      <a:noFill/>
                    </a:lnT>
                    <a:lnB w="0" cap="flat" cmpd="sng" algn="ctr">
                      <a:noFill/>
                    </a:lnB>
                    <a:solidFill>
                      <a:srgbClr val="FFB830"/>
                    </a:solidFill>
                  </a:tcPr>
                </a:tc>
                <a:tc>
                  <a:txBody>
                    <a:bodyPr/>
                    <a:lstStyle/>
                    <a:p>
                      <a:pPr marL="0" indent="0" algn="ctr">
                        <a:buNone/>
                      </a:pPr>
                      <a:r>
                        <a:rPr lang="en-US" sz="1200" b="1" dirty="0">
                          <a:solidFill>
                            <a:srgbClr val="0D1B2A"/>
                          </a:solidFill>
                        </a:rPr>
                        <a:t>Rank</a:t>
                      </a:r>
                      <a:endParaRPr lang="en-US" sz="1200" dirty="0"/>
                    </a:p>
                  </a:txBody>
                  <a:tcPr anchor="ctr">
                    <a:lnL w="0" cap="flat" cmpd="sng" algn="ctr">
                      <a:noFill/>
                    </a:lnL>
                    <a:lnR w="0" cap="flat" cmpd="sng" algn="ctr">
                      <a:noFill/>
                    </a:lnR>
                    <a:lnT w="0" cap="flat" cmpd="sng" algn="ctr">
                      <a:noFill/>
                    </a:lnT>
                    <a:lnB w="0" cap="flat" cmpd="sng" algn="ctr">
                      <a:noFill/>
                    </a:lnB>
                    <a:solidFill>
                      <a:srgbClr val="FFB830"/>
                    </a:solidFill>
                  </a:tcPr>
                </a:tc>
                <a:extLst>
                  <a:ext uri="{0D108BD9-81ED-4DB2-BD59-A6C34878D82A}">
                    <a16:rowId xmlns:a16="http://schemas.microsoft.com/office/drawing/2014/main" val="10000"/>
                  </a:ext>
                </a:extLst>
              </a:tr>
              <a:tr h="296266">
                <a:tc>
                  <a:txBody>
                    <a:bodyPr/>
                    <a:lstStyle/>
                    <a:p>
                      <a:pPr marL="0" indent="0" algn="ctr">
                        <a:buNone/>
                      </a:pPr>
                      <a:r>
                        <a:rPr lang="en-US" sz="1200" dirty="0">
                          <a:solidFill>
                            <a:srgbClr val="E8F0F5"/>
                          </a:solidFill>
                        </a:rPr>
                        <a:t>0101</a:t>
                      </a:r>
                      <a:endParaRPr lang="en-US" sz="120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200" dirty="0">
                          <a:solidFill>
                            <a:srgbClr val="E8F0F5"/>
                          </a:solidFill>
                        </a:rPr>
                        <a:t>5</a:t>
                      </a:r>
                      <a:endParaRPr lang="en-US" sz="120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200" dirty="0">
                          <a:solidFill>
                            <a:srgbClr val="E8F0F5"/>
                          </a:solidFill>
                        </a:rPr>
                        <a:t>25</a:t>
                      </a:r>
                      <a:endParaRPr lang="en-US" sz="120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200" dirty="0">
                          <a:solidFill>
                            <a:srgbClr val="E8F0F5"/>
                          </a:solidFill>
                        </a:rPr>
                        <a:t>3</a:t>
                      </a:r>
                      <a:endParaRPr lang="en-US" sz="1200" dirty="0"/>
                    </a:p>
                  </a:txBody>
                  <a:tcPr anchor="ctr">
                    <a:lnL w="0" cap="flat" cmpd="sng" algn="ctr">
                      <a:noFill/>
                    </a:lnL>
                    <a:lnR w="0" cap="flat" cmpd="sng" algn="ctr">
                      <a:noFill/>
                    </a:lnR>
                    <a:lnT w="0" cap="flat" cmpd="sng" algn="ctr">
                      <a:noFill/>
                    </a:lnT>
                    <a:lnB w="0" cap="flat" cmpd="sng" algn="ctr">
                      <a:noFill/>
                    </a:lnB>
                    <a:solidFill>
                      <a:srgbClr val="132338"/>
                    </a:solidFill>
                  </a:tcPr>
                </a:tc>
                <a:extLst>
                  <a:ext uri="{0D108BD9-81ED-4DB2-BD59-A6C34878D82A}">
                    <a16:rowId xmlns:a16="http://schemas.microsoft.com/office/drawing/2014/main" val="10001"/>
                  </a:ext>
                </a:extLst>
              </a:tr>
              <a:tr h="296266">
                <a:tc>
                  <a:txBody>
                    <a:bodyPr/>
                    <a:lstStyle/>
                    <a:p>
                      <a:pPr marL="0" indent="0" algn="ctr">
                        <a:buNone/>
                      </a:pPr>
                      <a:r>
                        <a:rPr lang="en-US" sz="1200" dirty="0">
                          <a:solidFill>
                            <a:srgbClr val="E8F0F5"/>
                          </a:solidFill>
                        </a:rPr>
                        <a:t>1011</a:t>
                      </a:r>
                      <a:endParaRPr lang="en-US" sz="1200" dirty="0"/>
                    </a:p>
                  </a:txBody>
                  <a:tcPr anchor="ctr">
                    <a:lnL w="0" cap="flat" cmpd="sng" algn="ctr">
                      <a:noFill/>
                    </a:lnL>
                    <a:lnR w="0" cap="flat" cmpd="sng" algn="ctr">
                      <a:noFill/>
                    </a:lnR>
                    <a:lnT w="0" cap="flat" cmpd="sng" algn="ctr">
                      <a:noFill/>
                    </a:lnT>
                    <a:lnB w="0" cap="flat" cmpd="sng" algn="ctr">
                      <a:noFill/>
                    </a:lnB>
                    <a:solidFill>
                      <a:srgbClr val="1A2E44"/>
                    </a:solidFill>
                  </a:tcPr>
                </a:tc>
                <a:tc>
                  <a:txBody>
                    <a:bodyPr/>
                    <a:lstStyle/>
                    <a:p>
                      <a:pPr marL="0" indent="0" algn="ctr">
                        <a:buNone/>
                      </a:pPr>
                      <a:r>
                        <a:rPr lang="en-US" sz="1200" dirty="0">
                          <a:solidFill>
                            <a:srgbClr val="E8F0F5"/>
                          </a:solidFill>
                        </a:rPr>
                        <a:t>11</a:t>
                      </a:r>
                      <a:endParaRPr lang="en-US" sz="1200" dirty="0"/>
                    </a:p>
                  </a:txBody>
                  <a:tcPr anchor="ctr">
                    <a:lnL w="0" cap="flat" cmpd="sng" algn="ctr">
                      <a:noFill/>
                    </a:lnL>
                    <a:lnR w="0" cap="flat" cmpd="sng" algn="ctr">
                      <a:noFill/>
                    </a:lnR>
                    <a:lnT w="0" cap="flat" cmpd="sng" algn="ctr">
                      <a:noFill/>
                    </a:lnT>
                    <a:lnB w="0" cap="flat" cmpd="sng" algn="ctr">
                      <a:noFill/>
                    </a:lnB>
                    <a:solidFill>
                      <a:srgbClr val="1A2E44"/>
                    </a:solidFill>
                  </a:tcPr>
                </a:tc>
                <a:tc>
                  <a:txBody>
                    <a:bodyPr/>
                    <a:lstStyle/>
                    <a:p>
                      <a:pPr marL="0" indent="0" algn="ctr">
                        <a:buNone/>
                      </a:pPr>
                      <a:r>
                        <a:rPr lang="en-US" sz="1200" dirty="0">
                          <a:solidFill>
                            <a:srgbClr val="E8F0F5"/>
                          </a:solidFill>
                        </a:rPr>
                        <a:t>121</a:t>
                      </a:r>
                      <a:endParaRPr lang="en-US" sz="1200" dirty="0"/>
                    </a:p>
                  </a:txBody>
                  <a:tcPr anchor="ctr">
                    <a:lnL w="0" cap="flat" cmpd="sng" algn="ctr">
                      <a:noFill/>
                    </a:lnL>
                    <a:lnR w="0" cap="flat" cmpd="sng" algn="ctr">
                      <a:noFill/>
                    </a:lnR>
                    <a:lnT w="0" cap="flat" cmpd="sng" algn="ctr">
                      <a:noFill/>
                    </a:lnT>
                    <a:lnB w="0" cap="flat" cmpd="sng" algn="ctr">
                      <a:noFill/>
                    </a:lnB>
                    <a:solidFill>
                      <a:srgbClr val="1A2E44"/>
                    </a:solidFill>
                  </a:tcPr>
                </a:tc>
                <a:tc>
                  <a:txBody>
                    <a:bodyPr/>
                    <a:lstStyle/>
                    <a:p>
                      <a:pPr marL="0" indent="0" algn="ctr">
                        <a:buNone/>
                      </a:pPr>
                      <a:r>
                        <a:rPr lang="en-US" sz="1200" dirty="0">
                          <a:solidFill>
                            <a:srgbClr val="E8F0F5"/>
                          </a:solidFill>
                        </a:rPr>
                        <a:t>2</a:t>
                      </a:r>
                      <a:endParaRPr lang="en-US" sz="1200" dirty="0"/>
                    </a:p>
                  </a:txBody>
                  <a:tcPr anchor="ctr">
                    <a:lnL w="0" cap="flat" cmpd="sng" algn="ctr">
                      <a:noFill/>
                    </a:lnL>
                    <a:lnR w="0" cap="flat" cmpd="sng" algn="ctr">
                      <a:noFill/>
                    </a:lnR>
                    <a:lnT w="0" cap="flat" cmpd="sng" algn="ctr">
                      <a:noFill/>
                    </a:lnT>
                    <a:lnB w="0" cap="flat" cmpd="sng" algn="ctr">
                      <a:noFill/>
                    </a:lnB>
                    <a:solidFill>
                      <a:srgbClr val="1A2E44"/>
                    </a:solidFill>
                  </a:tcPr>
                </a:tc>
                <a:extLst>
                  <a:ext uri="{0D108BD9-81ED-4DB2-BD59-A6C34878D82A}">
                    <a16:rowId xmlns:a16="http://schemas.microsoft.com/office/drawing/2014/main" val="10002"/>
                  </a:ext>
                </a:extLst>
              </a:tr>
              <a:tr h="296266">
                <a:tc>
                  <a:txBody>
                    <a:bodyPr/>
                    <a:lstStyle/>
                    <a:p>
                      <a:pPr marL="0" indent="0" algn="ctr">
                        <a:buNone/>
                      </a:pPr>
                      <a:r>
                        <a:rPr lang="en-US" sz="1200" dirty="0">
                          <a:solidFill>
                            <a:srgbClr val="E8F0F5"/>
                          </a:solidFill>
                        </a:rPr>
                        <a:t>0011</a:t>
                      </a:r>
                      <a:endParaRPr lang="en-US" sz="120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200" dirty="0">
                          <a:solidFill>
                            <a:srgbClr val="E8F0F5"/>
                          </a:solidFill>
                        </a:rPr>
                        <a:t>3</a:t>
                      </a:r>
                      <a:endParaRPr lang="en-US" sz="120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200" dirty="0">
                          <a:solidFill>
                            <a:srgbClr val="E8F0F5"/>
                          </a:solidFill>
                        </a:rPr>
                        <a:t>9</a:t>
                      </a:r>
                      <a:endParaRPr lang="en-US" sz="1200" dirty="0"/>
                    </a:p>
                  </a:txBody>
                  <a:tcPr anchor="ctr">
                    <a:lnL w="0" cap="flat" cmpd="sng" algn="ctr">
                      <a:noFill/>
                    </a:lnL>
                    <a:lnR w="0" cap="flat" cmpd="sng" algn="ctr">
                      <a:noFill/>
                    </a:lnR>
                    <a:lnT w="0" cap="flat" cmpd="sng" algn="ctr">
                      <a:noFill/>
                    </a:lnT>
                    <a:lnB w="0" cap="flat" cmpd="sng" algn="ctr">
                      <a:noFill/>
                    </a:lnB>
                    <a:solidFill>
                      <a:srgbClr val="132338"/>
                    </a:solidFill>
                  </a:tcPr>
                </a:tc>
                <a:tc>
                  <a:txBody>
                    <a:bodyPr/>
                    <a:lstStyle/>
                    <a:p>
                      <a:pPr marL="0" indent="0" algn="ctr">
                        <a:buNone/>
                      </a:pPr>
                      <a:r>
                        <a:rPr lang="en-US" sz="1200" dirty="0">
                          <a:solidFill>
                            <a:srgbClr val="E8F0F5"/>
                          </a:solidFill>
                        </a:rPr>
                        <a:t>4</a:t>
                      </a:r>
                      <a:endParaRPr lang="en-US" sz="1200" dirty="0"/>
                    </a:p>
                  </a:txBody>
                  <a:tcPr anchor="ctr">
                    <a:lnL w="0" cap="flat" cmpd="sng" algn="ctr">
                      <a:noFill/>
                    </a:lnL>
                    <a:lnR w="0" cap="flat" cmpd="sng" algn="ctr">
                      <a:noFill/>
                    </a:lnR>
                    <a:lnT w="0" cap="flat" cmpd="sng" algn="ctr">
                      <a:noFill/>
                    </a:lnT>
                    <a:lnB w="0" cap="flat" cmpd="sng" algn="ctr">
                      <a:noFill/>
                    </a:lnB>
                    <a:solidFill>
                      <a:srgbClr val="132338"/>
                    </a:solidFill>
                  </a:tcPr>
                </a:tc>
                <a:extLst>
                  <a:ext uri="{0D108BD9-81ED-4DB2-BD59-A6C34878D82A}">
                    <a16:rowId xmlns:a16="http://schemas.microsoft.com/office/drawing/2014/main" val="10003"/>
                  </a:ext>
                </a:extLst>
              </a:tr>
              <a:tr h="296266">
                <a:tc>
                  <a:txBody>
                    <a:bodyPr/>
                    <a:lstStyle/>
                    <a:p>
                      <a:pPr marL="0" indent="0" algn="ctr">
                        <a:buNone/>
                      </a:pPr>
                      <a:r>
                        <a:rPr lang="en-US" sz="1200" dirty="0">
                          <a:solidFill>
                            <a:srgbClr val="FFB830"/>
                          </a:solidFill>
                        </a:rPr>
                        <a:t>1110</a:t>
                      </a:r>
                      <a:endParaRPr lang="en-US" sz="1200" dirty="0"/>
                    </a:p>
                  </a:txBody>
                  <a:tcPr anchor="ctr">
                    <a:lnL w="0" cap="flat" cmpd="sng" algn="ctr">
                      <a:noFill/>
                    </a:lnL>
                    <a:lnR w="0" cap="flat" cmpd="sng" algn="ctr">
                      <a:noFill/>
                    </a:lnR>
                    <a:lnT w="0" cap="flat" cmpd="sng" algn="ctr">
                      <a:noFill/>
                    </a:lnT>
                    <a:lnB w="0" cap="flat" cmpd="sng" algn="ctr">
                      <a:noFill/>
                    </a:lnB>
                    <a:solidFill>
                      <a:srgbClr val="1A2E44"/>
                    </a:solidFill>
                  </a:tcPr>
                </a:tc>
                <a:tc>
                  <a:txBody>
                    <a:bodyPr/>
                    <a:lstStyle/>
                    <a:p>
                      <a:pPr marL="0" indent="0" algn="ctr">
                        <a:buNone/>
                      </a:pPr>
                      <a:r>
                        <a:rPr lang="en-US" sz="1200" dirty="0">
                          <a:solidFill>
                            <a:srgbClr val="FFB830"/>
                          </a:solidFill>
                        </a:rPr>
                        <a:t>14</a:t>
                      </a:r>
                      <a:endParaRPr lang="en-US" sz="1200" dirty="0"/>
                    </a:p>
                  </a:txBody>
                  <a:tcPr anchor="ctr">
                    <a:lnL w="0" cap="flat" cmpd="sng" algn="ctr">
                      <a:noFill/>
                    </a:lnL>
                    <a:lnR w="0" cap="flat" cmpd="sng" algn="ctr">
                      <a:noFill/>
                    </a:lnR>
                    <a:lnT w="0" cap="flat" cmpd="sng" algn="ctr">
                      <a:noFill/>
                    </a:lnT>
                    <a:lnB w="0" cap="flat" cmpd="sng" algn="ctr">
                      <a:noFill/>
                    </a:lnB>
                    <a:solidFill>
                      <a:srgbClr val="1A2E44"/>
                    </a:solidFill>
                  </a:tcPr>
                </a:tc>
                <a:tc>
                  <a:txBody>
                    <a:bodyPr/>
                    <a:lstStyle/>
                    <a:p>
                      <a:pPr marL="0" indent="0" algn="ctr">
                        <a:buNone/>
                      </a:pPr>
                      <a:r>
                        <a:rPr lang="en-US" sz="1200" dirty="0">
                          <a:solidFill>
                            <a:srgbClr val="FFB830"/>
                          </a:solidFill>
                        </a:rPr>
                        <a:t>196</a:t>
                      </a:r>
                      <a:endParaRPr lang="en-US" sz="1200" dirty="0"/>
                    </a:p>
                  </a:txBody>
                  <a:tcPr anchor="ctr">
                    <a:lnL w="0" cap="flat" cmpd="sng" algn="ctr">
                      <a:noFill/>
                    </a:lnL>
                    <a:lnR w="0" cap="flat" cmpd="sng" algn="ctr">
                      <a:noFill/>
                    </a:lnR>
                    <a:lnT w="0" cap="flat" cmpd="sng" algn="ctr">
                      <a:noFill/>
                    </a:lnT>
                    <a:lnB w="0" cap="flat" cmpd="sng" algn="ctr">
                      <a:noFill/>
                    </a:lnB>
                    <a:solidFill>
                      <a:srgbClr val="1A2E44"/>
                    </a:solidFill>
                  </a:tcPr>
                </a:tc>
                <a:tc>
                  <a:txBody>
                    <a:bodyPr/>
                    <a:lstStyle/>
                    <a:p>
                      <a:pPr marL="0" indent="0" algn="ctr">
                        <a:buNone/>
                      </a:pPr>
                      <a:r>
                        <a:rPr lang="en-US" sz="1200" dirty="0">
                          <a:solidFill>
                            <a:srgbClr val="FFB830"/>
                          </a:solidFill>
                        </a:rPr>
                        <a:t>1 🏆</a:t>
                      </a:r>
                      <a:endParaRPr lang="en-US" sz="1200" dirty="0"/>
                    </a:p>
                  </a:txBody>
                  <a:tcPr anchor="ctr">
                    <a:lnL w="0" cap="flat" cmpd="sng" algn="ctr">
                      <a:noFill/>
                    </a:lnL>
                    <a:lnR w="0" cap="flat" cmpd="sng" algn="ctr">
                      <a:noFill/>
                    </a:lnR>
                    <a:lnT w="0" cap="flat" cmpd="sng" algn="ctr">
                      <a:noFill/>
                    </a:lnT>
                    <a:lnB w="0" cap="flat" cmpd="sng" algn="ctr">
                      <a:noFill/>
                    </a:lnB>
                    <a:solidFill>
                      <a:srgbClr val="1A2E44"/>
                    </a:solidFill>
                  </a:tcPr>
                </a:tc>
                <a:extLst>
                  <a:ext uri="{0D108BD9-81ED-4DB2-BD59-A6C34878D82A}">
                    <a16:rowId xmlns:a16="http://schemas.microsoft.com/office/drawing/2014/main" val="10004"/>
                  </a:ext>
                </a:extLst>
              </a:tr>
            </a:tbl>
          </a:graphicData>
        </a:graphic>
      </p:graphicFrame>
      <p:sp>
        <p:nvSpPr>
          <p:cNvPr id="9" name="Shape 6"/>
          <p:cNvSpPr/>
          <p:nvPr/>
        </p:nvSpPr>
        <p:spPr>
          <a:xfrm>
            <a:off x="365760" y="3783670"/>
            <a:ext cx="8412480" cy="457200"/>
          </a:xfrm>
          <a:prstGeom prst="rect">
            <a:avLst/>
          </a:prstGeom>
          <a:solidFill>
            <a:srgbClr val="121A08"/>
          </a:solidFill>
          <a:ln w="19050">
            <a:solidFill>
              <a:srgbClr val="FFB830"/>
            </a:solidFill>
            <a:prstDash val="solid"/>
          </a:ln>
          <a:effectLst>
            <a:outerShdw blurRad="101600" dist="38100" dir="8100000" algn="bl" rotWithShape="0">
              <a:srgbClr val="000000">
                <a:alpha val="25000"/>
              </a:srgbClr>
            </a:outerShdw>
          </a:effectLst>
        </p:spPr>
        <p:txBody>
          <a:bodyPr/>
          <a:lstStyle/>
          <a:p>
            <a:endParaRPr lang="en-US"/>
          </a:p>
        </p:txBody>
      </p:sp>
      <p:sp>
        <p:nvSpPr>
          <p:cNvPr id="10" name="Text 7"/>
          <p:cNvSpPr/>
          <p:nvPr/>
        </p:nvSpPr>
        <p:spPr>
          <a:xfrm>
            <a:off x="502920" y="3829390"/>
            <a:ext cx="8229600" cy="365760"/>
          </a:xfrm>
          <a:prstGeom prst="rect">
            <a:avLst/>
          </a:prstGeom>
          <a:noFill/>
          <a:ln/>
        </p:spPr>
        <p:txBody>
          <a:bodyPr wrap="square" rtlCol="0" anchor="ctr"/>
          <a:lstStyle/>
          <a:p>
            <a:pPr marL="0" indent="0">
              <a:buNone/>
            </a:pPr>
            <a:r>
              <a:rPr lang="en-US" sz="1250" b="1" dirty="0">
                <a:solidFill>
                  <a:srgbClr val="FFB830"/>
                </a:solidFill>
                <a:latin typeface="Calibri" pitchFamily="34" charset="0"/>
                <a:ea typeface="Calibri" pitchFamily="34" charset="-122"/>
                <a:cs typeface="Calibri" pitchFamily="34" charset="-120"/>
              </a:rPr>
              <a:t>🏆  Best: [1110] → x=14 → f(14) = 196  — Highest fitness, most likely selected for reproduction!</a:t>
            </a:r>
            <a:endParaRPr lang="en-US" sz="1250" dirty="0"/>
          </a:p>
        </p:txBody>
      </p:sp>
      <p:sp>
        <p:nvSpPr>
          <p:cNvPr id="11" name="Text 8"/>
          <p:cNvSpPr/>
          <p:nvPr/>
        </p:nvSpPr>
        <p:spPr>
          <a:xfrm>
            <a:off x="365760" y="4286590"/>
            <a:ext cx="2743200" cy="228600"/>
          </a:xfrm>
          <a:prstGeom prst="rect">
            <a:avLst/>
          </a:prstGeom>
          <a:noFill/>
          <a:ln/>
        </p:spPr>
        <p:txBody>
          <a:bodyPr wrap="square" rtlCol="0" anchor="ctr"/>
          <a:lstStyle/>
          <a:p>
            <a:pPr marL="0" indent="0">
              <a:buNone/>
            </a:pPr>
            <a:r>
              <a:rPr lang="en-US" sz="1000" b="1" dirty="0">
                <a:solidFill>
                  <a:srgbClr val="8FA8BF"/>
                </a:solidFill>
                <a:latin typeface="Calibri" pitchFamily="34" charset="0"/>
                <a:ea typeface="Calibri" pitchFamily="34" charset="-122"/>
                <a:cs typeface="Calibri" pitchFamily="34" charset="-120"/>
              </a:rPr>
              <a:t>KEY PROPERTIES:</a:t>
            </a:r>
            <a:endParaRPr lang="en-US" sz="1000" dirty="0"/>
          </a:p>
        </p:txBody>
      </p:sp>
      <p:sp>
        <p:nvSpPr>
          <p:cNvPr id="12" name="Text 9"/>
          <p:cNvSpPr/>
          <p:nvPr/>
        </p:nvSpPr>
        <p:spPr>
          <a:xfrm>
            <a:off x="365760" y="4434840"/>
            <a:ext cx="8412480" cy="457200"/>
          </a:xfrm>
          <a:prstGeom prst="rect">
            <a:avLst/>
          </a:prstGeom>
          <a:noFill/>
          <a:ln/>
        </p:spPr>
        <p:txBody>
          <a:bodyPr wrap="square" rtlCol="0" anchor="t"/>
          <a:lstStyle/>
          <a:p>
            <a:pPr marL="0" indent="0">
              <a:spcAft>
                <a:spcPts val="600"/>
              </a:spcAft>
              <a:buNone/>
            </a:pPr>
            <a:r>
              <a:rPr lang="en-US" sz="1100" b="1" dirty="0">
                <a:solidFill>
                  <a:srgbClr val="00C896"/>
                </a:solidFill>
                <a:latin typeface="Calibri" pitchFamily="34" charset="0"/>
                <a:ea typeface="Calibri" pitchFamily="34" charset="-122"/>
                <a:cs typeface="Calibri" pitchFamily="34" charset="-120"/>
              </a:rPr>
              <a:t>▸  </a:t>
            </a:r>
            <a:r>
              <a:rPr lang="en-US" sz="1100" dirty="0">
                <a:solidFill>
                  <a:srgbClr val="E8F0F5"/>
                </a:solidFill>
                <a:latin typeface="Calibri" pitchFamily="34" charset="0"/>
                <a:ea typeface="Calibri" pitchFamily="34" charset="-122"/>
                <a:cs typeface="Calibri" pitchFamily="34" charset="-120"/>
              </a:rPr>
              <a:t>  Problem-specific — must be carefully designed</a:t>
            </a:r>
            <a:endParaRPr lang="en-US" sz="1100" dirty="0"/>
          </a:p>
          <a:p>
            <a:pPr marL="0" indent="0">
              <a:spcAft>
                <a:spcPts val="600"/>
              </a:spcAft>
              <a:buNone/>
            </a:pPr>
            <a:r>
              <a:rPr lang="en-US" sz="1100" b="1" dirty="0">
                <a:solidFill>
                  <a:srgbClr val="00C896"/>
                </a:solidFill>
                <a:latin typeface="Calibri" pitchFamily="34" charset="0"/>
                <a:ea typeface="Calibri" pitchFamily="34" charset="-122"/>
                <a:cs typeface="Calibri" pitchFamily="34" charset="-120"/>
              </a:rPr>
              <a:t>▸  </a:t>
            </a:r>
            <a:r>
              <a:rPr lang="en-US" sz="1100" dirty="0">
                <a:solidFill>
                  <a:srgbClr val="E8F0F5"/>
                </a:solidFill>
                <a:latin typeface="Calibri" pitchFamily="34" charset="0"/>
                <a:ea typeface="Calibri" pitchFamily="34" charset="-122"/>
                <a:cs typeface="Calibri" pitchFamily="34" charset="-120"/>
              </a:rPr>
              <a:t>  Computationally inexpensive (called every generation)</a:t>
            </a:r>
            <a:endParaRPr lang="en-US" sz="1100" dirty="0"/>
          </a:p>
          <a:p>
            <a:pPr marL="0" indent="0">
              <a:spcAft>
                <a:spcPts val="600"/>
              </a:spcAft>
              <a:buNone/>
            </a:pPr>
            <a:r>
              <a:rPr lang="en-US" sz="1100" b="1" dirty="0">
                <a:solidFill>
                  <a:srgbClr val="00C896"/>
                </a:solidFill>
                <a:latin typeface="Calibri" pitchFamily="34" charset="0"/>
                <a:ea typeface="Calibri" pitchFamily="34" charset="-122"/>
                <a:cs typeface="Calibri" pitchFamily="34" charset="-120"/>
              </a:rPr>
              <a:t>▸  </a:t>
            </a:r>
            <a:r>
              <a:rPr lang="en-US" sz="1100" dirty="0">
                <a:solidFill>
                  <a:srgbClr val="E8F0F5"/>
                </a:solidFill>
                <a:latin typeface="Calibri" pitchFamily="34" charset="0"/>
                <a:ea typeface="Calibri" pitchFamily="34" charset="-122"/>
                <a:cs typeface="Calibri" pitchFamily="34" charset="-120"/>
              </a:rPr>
              <a:t>  Continuous and differentiable helps, but not required</a:t>
            </a:r>
            <a:endParaRPr lang="en-US" sz="1100" dirty="0"/>
          </a:p>
        </p:txBody>
      </p:sp>
    </p:spTree>
    <p:extLst>
      <p:ext uri="{BB962C8B-B14F-4D97-AF65-F5344CB8AC3E}">
        <p14:creationId xmlns:p14="http://schemas.microsoft.com/office/powerpoint/2010/main" val="29190877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256032"/>
            <a:ext cx="64008" cy="502920"/>
          </a:xfrm>
          <a:prstGeom prst="rect">
            <a:avLst/>
          </a:prstGeom>
          <a:solidFill>
            <a:srgbClr val="00C896"/>
          </a:solidFill>
          <a:ln w="12700">
            <a:solidFill>
              <a:srgbClr val="00C896"/>
            </a:solidFill>
            <a:prstDash val="solid"/>
          </a:ln>
        </p:spPr>
        <p:txBody>
          <a:bodyPr/>
          <a:lstStyle/>
          <a:p>
            <a:endParaRPr lang="en-US"/>
          </a:p>
        </p:txBody>
      </p:sp>
      <p:sp>
        <p:nvSpPr>
          <p:cNvPr id="3" name="Text 1"/>
          <p:cNvSpPr/>
          <p:nvPr/>
        </p:nvSpPr>
        <p:spPr>
          <a:xfrm>
            <a:off x="512064" y="256032"/>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  Conclusion</a:t>
            </a:r>
            <a:endParaRPr lang="en-US" sz="2800" dirty="0"/>
          </a:p>
        </p:txBody>
      </p:sp>
      <p:sp>
        <p:nvSpPr>
          <p:cNvPr id="4" name="Shape 2"/>
          <p:cNvSpPr/>
          <p:nvPr/>
        </p:nvSpPr>
        <p:spPr>
          <a:xfrm>
            <a:off x="365760" y="868680"/>
            <a:ext cx="8412480" cy="0"/>
          </a:xfrm>
          <a:prstGeom prst="line">
            <a:avLst/>
          </a:prstGeom>
          <a:noFill/>
          <a:ln w="12700">
            <a:solidFill>
              <a:srgbClr val="00C896">
                <a:alpha val="50000"/>
              </a:srgbClr>
            </a:solidFill>
            <a:prstDash val="solid"/>
          </a:ln>
        </p:spPr>
        <p:txBody>
          <a:bodyPr/>
          <a:lstStyle/>
          <a:p>
            <a:endParaRPr lang="en-US"/>
          </a:p>
        </p:txBody>
      </p:sp>
      <p:sp>
        <p:nvSpPr>
          <p:cNvPr id="5" name="Shape 3"/>
          <p:cNvSpPr/>
          <p:nvPr/>
        </p:nvSpPr>
        <p:spPr>
          <a:xfrm>
            <a:off x="365760" y="1005840"/>
            <a:ext cx="8412480" cy="1396892"/>
          </a:xfrm>
          <a:prstGeom prst="rect">
            <a:avLst/>
          </a:prstGeom>
          <a:solidFill>
            <a:srgbClr val="1A2E44"/>
          </a:solidFill>
          <a:ln w="19050">
            <a:solidFill>
              <a:srgbClr val="FFB830"/>
            </a:solidFill>
            <a:prstDash val="solid"/>
          </a:ln>
          <a:effectLst>
            <a:outerShdw blurRad="101600" dist="38100" dir="8100000" algn="bl" rotWithShape="0">
              <a:srgbClr val="000000">
                <a:alpha val="25000"/>
              </a:srgbClr>
            </a:outerShdw>
          </a:effectLst>
        </p:spPr>
        <p:txBody>
          <a:bodyPr/>
          <a:lstStyle/>
          <a:p>
            <a:endParaRPr lang="en-US"/>
          </a:p>
        </p:txBody>
      </p:sp>
      <p:sp>
        <p:nvSpPr>
          <p:cNvPr id="6" name="Text 4"/>
          <p:cNvSpPr/>
          <p:nvPr/>
        </p:nvSpPr>
        <p:spPr>
          <a:xfrm>
            <a:off x="502920" y="1237553"/>
            <a:ext cx="8229600" cy="731520"/>
          </a:xfrm>
          <a:prstGeom prst="rect">
            <a:avLst/>
          </a:prstGeom>
          <a:noFill/>
          <a:ln/>
        </p:spPr>
        <p:txBody>
          <a:bodyPr wrap="square" rtlCol="0" anchor="ctr"/>
          <a:lstStyle/>
          <a:p>
            <a:r>
              <a:rPr lang="en-US" sz="1400" dirty="0">
                <a:solidFill>
                  <a:schemeClr val="bg1"/>
                </a:solidFill>
              </a:rPr>
              <a:t> Genetic Algorithms mimic the process of natural evolution to intelligently explore and optimize solutions, continuously refining them over generations by evolving better answers instead of directly computing a single result.</a:t>
            </a:r>
            <a:endParaRPr lang="en-US" sz="1250" dirty="0">
              <a:solidFill>
                <a:schemeClr val="bg1"/>
              </a:solidFill>
            </a:endParaRPr>
          </a:p>
        </p:txBody>
      </p:sp>
    </p:spTree>
    <p:extLst>
      <p:ext uri="{BB962C8B-B14F-4D97-AF65-F5344CB8AC3E}">
        <p14:creationId xmlns:p14="http://schemas.microsoft.com/office/powerpoint/2010/main" val="28648706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274320" y="-274320"/>
            <a:ext cx="1828800" cy="1828800"/>
          </a:xfrm>
          <a:prstGeom prst="ellipse">
            <a:avLst/>
          </a:prstGeom>
          <a:solidFill>
            <a:srgbClr val="1B4F9C">
              <a:alpha val="20000"/>
            </a:srgbClr>
          </a:solidFill>
          <a:ln w="12700">
            <a:solidFill>
              <a:srgbClr val="1B4F9C">
                <a:alpha val="40000"/>
              </a:srgbClr>
            </a:solidFill>
            <a:prstDash val="solid"/>
          </a:ln>
        </p:spPr>
        <p:txBody>
          <a:bodyPr/>
          <a:lstStyle/>
          <a:p>
            <a:endParaRPr lang="en-US"/>
          </a:p>
        </p:txBody>
      </p:sp>
      <p:sp>
        <p:nvSpPr>
          <p:cNvPr id="3" name="Shape 1"/>
          <p:cNvSpPr/>
          <p:nvPr/>
        </p:nvSpPr>
        <p:spPr>
          <a:xfrm>
            <a:off x="7772400" y="3657600"/>
            <a:ext cx="2286000" cy="2286000"/>
          </a:xfrm>
          <a:prstGeom prst="ellipse">
            <a:avLst/>
          </a:prstGeom>
          <a:solidFill>
            <a:srgbClr val="0096C7">
              <a:alpha val="15000"/>
            </a:srgbClr>
          </a:solidFill>
          <a:ln w="12700">
            <a:solidFill>
              <a:srgbClr val="0096C7">
                <a:alpha val="40000"/>
              </a:srgbClr>
            </a:solidFill>
            <a:prstDash val="solid"/>
          </a:ln>
        </p:spPr>
        <p:txBody>
          <a:bodyPr/>
          <a:lstStyle/>
          <a:p>
            <a:endParaRPr lang="en-US"/>
          </a:p>
        </p:txBody>
      </p:sp>
      <p:sp>
        <p:nvSpPr>
          <p:cNvPr id="4" name="Shape 2"/>
          <p:cNvSpPr/>
          <p:nvPr/>
        </p:nvSpPr>
        <p:spPr>
          <a:xfrm>
            <a:off x="6858000" y="-457200"/>
            <a:ext cx="1371600" cy="1371600"/>
          </a:xfrm>
          <a:prstGeom prst="ellipse">
            <a:avLst/>
          </a:prstGeom>
          <a:solidFill>
            <a:srgbClr val="00B4D8">
              <a:alpha val="25000"/>
            </a:srgbClr>
          </a:solidFill>
          <a:ln w="12700">
            <a:solidFill>
              <a:srgbClr val="00B4D8">
                <a:alpha val="40000"/>
              </a:srgbClr>
            </a:solidFill>
            <a:prstDash val="solid"/>
          </a:ln>
        </p:spPr>
        <p:txBody>
          <a:bodyPr/>
          <a:lstStyle/>
          <a:p>
            <a:endParaRPr lang="en-US"/>
          </a:p>
        </p:txBody>
      </p:sp>
      <p:sp>
        <p:nvSpPr>
          <p:cNvPr id="5" name="Shape 3"/>
          <p:cNvSpPr/>
          <p:nvPr/>
        </p:nvSpPr>
        <p:spPr>
          <a:xfrm>
            <a:off x="457200" y="3840480"/>
            <a:ext cx="1097280" cy="1097280"/>
          </a:xfrm>
          <a:prstGeom prst="ellipse">
            <a:avLst/>
          </a:prstGeom>
          <a:solidFill>
            <a:srgbClr val="1B4F9C">
              <a:alpha val="20000"/>
            </a:srgbClr>
          </a:solidFill>
          <a:ln w="12700">
            <a:solidFill>
              <a:srgbClr val="1B4F9C">
                <a:alpha val="40000"/>
              </a:srgbClr>
            </a:solidFill>
            <a:prstDash val="solid"/>
          </a:ln>
        </p:spPr>
        <p:txBody>
          <a:bodyPr/>
          <a:lstStyle/>
          <a:p>
            <a:endParaRPr lang="en-US"/>
          </a:p>
        </p:txBody>
      </p:sp>
      <p:sp>
        <p:nvSpPr>
          <p:cNvPr id="6" name="Shape 4"/>
          <p:cNvSpPr/>
          <p:nvPr/>
        </p:nvSpPr>
        <p:spPr>
          <a:xfrm>
            <a:off x="457200" y="1371600"/>
            <a:ext cx="3200400" cy="0"/>
          </a:xfrm>
          <a:prstGeom prst="line">
            <a:avLst/>
          </a:prstGeom>
          <a:noFill/>
          <a:ln w="12700">
            <a:solidFill>
              <a:srgbClr val="00B4D8">
                <a:alpha val="30000"/>
              </a:srgbClr>
            </a:solidFill>
            <a:prstDash val="solid"/>
          </a:ln>
        </p:spPr>
        <p:txBody>
          <a:bodyPr/>
          <a:lstStyle/>
          <a:p>
            <a:endParaRPr lang="en-US"/>
          </a:p>
        </p:txBody>
      </p:sp>
      <p:sp>
        <p:nvSpPr>
          <p:cNvPr id="7" name="Shape 5"/>
          <p:cNvSpPr/>
          <p:nvPr/>
        </p:nvSpPr>
        <p:spPr>
          <a:xfrm>
            <a:off x="5486400" y="4114800"/>
            <a:ext cx="3200400" cy="0"/>
          </a:xfrm>
          <a:prstGeom prst="line">
            <a:avLst/>
          </a:prstGeom>
          <a:noFill/>
          <a:ln w="12700">
            <a:solidFill>
              <a:srgbClr val="0096C7">
                <a:alpha val="30000"/>
              </a:srgbClr>
            </a:solidFill>
            <a:prstDash val="solid"/>
          </a:ln>
        </p:spPr>
        <p:txBody>
          <a:bodyPr/>
          <a:lstStyle/>
          <a:p>
            <a:endParaRPr lang="en-US"/>
          </a:p>
        </p:txBody>
      </p:sp>
      <p:sp>
        <p:nvSpPr>
          <p:cNvPr id="8" name="Shape 6"/>
          <p:cNvSpPr/>
          <p:nvPr/>
        </p:nvSpPr>
        <p:spPr>
          <a:xfrm>
            <a:off x="548640" y="794385"/>
            <a:ext cx="2286000" cy="292608"/>
          </a:xfrm>
          <a:prstGeom prst="rect">
            <a:avLst/>
          </a:prstGeom>
          <a:solidFill>
            <a:srgbClr val="00B4D8"/>
          </a:solidFill>
          <a:ln w="12700">
            <a:solidFill>
              <a:srgbClr val="00B4D8"/>
            </a:solidFill>
            <a:prstDash val="solid"/>
          </a:ln>
        </p:spPr>
        <p:txBody>
          <a:bodyPr/>
          <a:lstStyle/>
          <a:p>
            <a:endParaRPr lang="en-US"/>
          </a:p>
        </p:txBody>
      </p:sp>
      <p:sp>
        <p:nvSpPr>
          <p:cNvPr id="9" name="Text 7"/>
          <p:cNvSpPr/>
          <p:nvPr/>
        </p:nvSpPr>
        <p:spPr>
          <a:xfrm>
            <a:off x="548640" y="794385"/>
            <a:ext cx="2286000" cy="292608"/>
          </a:xfrm>
          <a:prstGeom prst="rect">
            <a:avLst/>
          </a:prstGeom>
          <a:noFill/>
        </p:spPr>
        <p:txBody>
          <a:bodyPr wrap="square" lIns="0" tIns="0" rIns="0" bIns="0" rtlCol="0" anchor="ctr"/>
          <a:lstStyle/>
          <a:p>
            <a:pPr marL="0" indent="0" algn="ctr">
              <a:buNone/>
            </a:pPr>
            <a:r>
              <a:rPr lang="en-US" sz="800" b="1" dirty="0">
                <a:solidFill>
                  <a:srgbClr val="0A1628"/>
                </a:solidFill>
              </a:rPr>
              <a:t> MACHINE LEARNING</a:t>
            </a:r>
            <a:endParaRPr lang="en-US" sz="800" dirty="0"/>
          </a:p>
        </p:txBody>
      </p:sp>
      <p:sp>
        <p:nvSpPr>
          <p:cNvPr id="10" name="Text 8"/>
          <p:cNvSpPr/>
          <p:nvPr/>
        </p:nvSpPr>
        <p:spPr>
          <a:xfrm>
            <a:off x="548640" y="1336675"/>
            <a:ext cx="8046720" cy="685800"/>
          </a:xfrm>
          <a:prstGeom prst="rect">
            <a:avLst/>
          </a:prstGeom>
          <a:noFill/>
        </p:spPr>
        <p:txBody>
          <a:bodyPr wrap="square" rtlCol="0" anchor="ctr"/>
          <a:lstStyle/>
          <a:p>
            <a:pPr marL="0" indent="0" algn="l">
              <a:buNone/>
            </a:pPr>
            <a:r>
              <a:rPr lang="en-US" sz="3400" dirty="0">
                <a:solidFill>
                  <a:srgbClr val="94A3B8"/>
                </a:solidFill>
              </a:rPr>
              <a:t>Learning with</a:t>
            </a:r>
            <a:endParaRPr lang="en-US" sz="3400" dirty="0"/>
          </a:p>
        </p:txBody>
      </p:sp>
      <p:sp>
        <p:nvSpPr>
          <p:cNvPr id="11" name="Text 9"/>
          <p:cNvSpPr/>
          <p:nvPr/>
        </p:nvSpPr>
        <p:spPr>
          <a:xfrm>
            <a:off x="548640" y="1960880"/>
            <a:ext cx="8046720" cy="1005840"/>
          </a:xfrm>
          <a:prstGeom prst="rect">
            <a:avLst/>
          </a:prstGeom>
          <a:noFill/>
        </p:spPr>
        <p:txBody>
          <a:bodyPr wrap="square" rtlCol="0" anchor="ctr"/>
          <a:lstStyle/>
          <a:p>
            <a:pPr marL="0" indent="0" algn="l">
              <a:buNone/>
            </a:pPr>
            <a:r>
              <a:rPr lang="en-US" sz="5800" b="1" dirty="0">
                <a:solidFill>
                  <a:srgbClr val="FFFFFF"/>
                </a:solidFill>
              </a:rPr>
              <a:t>Neural Networks</a:t>
            </a:r>
            <a:endParaRPr lang="en-US" sz="5800" dirty="0"/>
          </a:p>
        </p:txBody>
      </p:sp>
      <p:sp>
        <p:nvSpPr>
          <p:cNvPr id="12" name="Shape 10"/>
          <p:cNvSpPr/>
          <p:nvPr/>
        </p:nvSpPr>
        <p:spPr>
          <a:xfrm>
            <a:off x="548640" y="3209290"/>
            <a:ext cx="3657600" cy="54864"/>
          </a:xfrm>
          <a:prstGeom prst="rect">
            <a:avLst/>
          </a:prstGeom>
          <a:solidFill>
            <a:srgbClr val="00B4D8"/>
          </a:solidFill>
          <a:ln w="12700">
            <a:solidFill>
              <a:srgbClr val="00B4D8"/>
            </a:solidFill>
            <a:prstDash val="solid"/>
          </a:ln>
        </p:spPr>
        <p:txBody>
          <a:bodyPr/>
          <a:lstStyle/>
          <a:p>
            <a:endParaRPr lang="en-US"/>
          </a:p>
        </p:txBody>
      </p:sp>
      <p:sp>
        <p:nvSpPr>
          <p:cNvPr id="13" name="Text 11"/>
          <p:cNvSpPr/>
          <p:nvPr/>
        </p:nvSpPr>
        <p:spPr>
          <a:xfrm>
            <a:off x="548640" y="2743200"/>
            <a:ext cx="7315200" cy="411480"/>
          </a:xfrm>
          <a:prstGeom prst="rect">
            <a:avLst/>
          </a:prstGeom>
          <a:noFill/>
        </p:spPr>
        <p:txBody>
          <a:bodyPr wrap="square" rtlCol="0" anchor="ctr"/>
          <a:lstStyle/>
          <a:p>
            <a:pPr marL="0" indent="0" algn="l">
              <a:buNone/>
            </a:pPr>
            <a:endParaRPr lang="en-US" sz="1800" dirty="0"/>
          </a:p>
        </p:txBody>
      </p:sp>
      <p:sp>
        <p:nvSpPr>
          <p:cNvPr id="20" name="Shape 18"/>
          <p:cNvSpPr/>
          <p:nvPr/>
        </p:nvSpPr>
        <p:spPr>
          <a:xfrm>
            <a:off x="7498080" y="914400"/>
            <a:ext cx="256032" cy="256032"/>
          </a:xfrm>
          <a:prstGeom prst="ellipse">
            <a:avLst/>
          </a:prstGeom>
          <a:solidFill>
            <a:srgbClr val="00B4D8">
              <a:alpha val="70000"/>
            </a:srgbClr>
          </a:solidFill>
          <a:ln w="25400">
            <a:solidFill>
              <a:srgbClr val="00B4D8"/>
            </a:solidFill>
            <a:prstDash val="solid"/>
          </a:ln>
        </p:spPr>
        <p:txBody>
          <a:bodyPr/>
          <a:lstStyle/>
          <a:p>
            <a:endParaRPr lang="en-US"/>
          </a:p>
        </p:txBody>
      </p:sp>
      <p:sp>
        <p:nvSpPr>
          <p:cNvPr id="21" name="Shape 19"/>
          <p:cNvSpPr/>
          <p:nvPr/>
        </p:nvSpPr>
        <p:spPr>
          <a:xfrm>
            <a:off x="7498080" y="2011680"/>
            <a:ext cx="256032" cy="256032"/>
          </a:xfrm>
          <a:prstGeom prst="ellipse">
            <a:avLst/>
          </a:prstGeom>
          <a:solidFill>
            <a:srgbClr val="00B4D8">
              <a:alpha val="70000"/>
            </a:srgbClr>
          </a:solidFill>
          <a:ln w="25400">
            <a:solidFill>
              <a:srgbClr val="00B4D8"/>
            </a:solidFill>
            <a:prstDash val="solid"/>
          </a:ln>
        </p:spPr>
        <p:txBody>
          <a:bodyPr/>
          <a:lstStyle/>
          <a:p>
            <a:endParaRPr lang="en-US"/>
          </a:p>
        </p:txBody>
      </p:sp>
      <p:sp>
        <p:nvSpPr>
          <p:cNvPr id="22" name="Shape 20"/>
          <p:cNvSpPr/>
          <p:nvPr/>
        </p:nvSpPr>
        <p:spPr>
          <a:xfrm>
            <a:off x="7498080" y="3108960"/>
            <a:ext cx="256032" cy="256032"/>
          </a:xfrm>
          <a:prstGeom prst="ellipse">
            <a:avLst/>
          </a:prstGeom>
          <a:solidFill>
            <a:srgbClr val="00B4D8">
              <a:alpha val="70000"/>
            </a:srgbClr>
          </a:solidFill>
          <a:ln w="25400">
            <a:solidFill>
              <a:srgbClr val="00B4D8"/>
            </a:solidFill>
            <a:prstDash val="solid"/>
          </a:ln>
        </p:spPr>
        <p:txBody>
          <a:bodyPr/>
          <a:lstStyle/>
          <a:p>
            <a:endParaRPr lang="en-US"/>
          </a:p>
        </p:txBody>
      </p:sp>
      <p:sp>
        <p:nvSpPr>
          <p:cNvPr id="23" name="Shape 21"/>
          <p:cNvSpPr/>
          <p:nvPr/>
        </p:nvSpPr>
        <p:spPr>
          <a:xfrm>
            <a:off x="8229600" y="1463040"/>
            <a:ext cx="256032" cy="256032"/>
          </a:xfrm>
          <a:prstGeom prst="ellipse">
            <a:avLst/>
          </a:prstGeom>
          <a:solidFill>
            <a:srgbClr val="00B4D8">
              <a:alpha val="70000"/>
            </a:srgbClr>
          </a:solidFill>
          <a:ln w="25400">
            <a:solidFill>
              <a:srgbClr val="00B4D8"/>
            </a:solidFill>
            <a:prstDash val="solid"/>
          </a:ln>
        </p:spPr>
        <p:txBody>
          <a:bodyPr/>
          <a:lstStyle/>
          <a:p>
            <a:endParaRPr lang="en-US"/>
          </a:p>
        </p:txBody>
      </p:sp>
      <p:sp>
        <p:nvSpPr>
          <p:cNvPr id="24" name="Shape 22"/>
          <p:cNvSpPr/>
          <p:nvPr/>
        </p:nvSpPr>
        <p:spPr>
          <a:xfrm>
            <a:off x="8229600" y="2560320"/>
            <a:ext cx="256032" cy="256032"/>
          </a:xfrm>
          <a:prstGeom prst="ellipse">
            <a:avLst/>
          </a:prstGeom>
          <a:solidFill>
            <a:srgbClr val="00B4D8">
              <a:alpha val="70000"/>
            </a:srgbClr>
          </a:solidFill>
          <a:ln w="25400">
            <a:solidFill>
              <a:srgbClr val="00B4D8"/>
            </a:solidFill>
            <a:prstDash val="solid"/>
          </a:ln>
        </p:spPr>
        <p:txBody>
          <a:bodyPr/>
          <a:lstStyle/>
          <a:p>
            <a:endParaRPr lang="en-US"/>
          </a:p>
        </p:txBody>
      </p:sp>
      <p:sp>
        <p:nvSpPr>
          <p:cNvPr id="25" name="Shape 23"/>
          <p:cNvSpPr/>
          <p:nvPr/>
        </p:nvSpPr>
        <p:spPr>
          <a:xfrm>
            <a:off x="8778240" y="2011680"/>
            <a:ext cx="256032" cy="256032"/>
          </a:xfrm>
          <a:prstGeom prst="ellipse">
            <a:avLst/>
          </a:prstGeom>
          <a:solidFill>
            <a:srgbClr val="00B4D8">
              <a:alpha val="70000"/>
            </a:srgbClr>
          </a:solidFill>
          <a:ln w="25400">
            <a:solidFill>
              <a:srgbClr val="00B4D8"/>
            </a:solidFill>
            <a:prstDash val="solid"/>
          </a:ln>
        </p:spPr>
        <p:txBody>
          <a:bodyPr/>
          <a:lstStyle/>
          <a:p>
            <a:endParaRPr lang="en-US"/>
          </a:p>
        </p:txBody>
      </p:sp>
      <p:sp>
        <p:nvSpPr>
          <p:cNvPr id="26" name="Shape 24"/>
          <p:cNvSpPr/>
          <p:nvPr/>
        </p:nvSpPr>
        <p:spPr>
          <a:xfrm>
            <a:off x="7626096" y="1042416"/>
            <a:ext cx="731520" cy="548640"/>
          </a:xfrm>
          <a:prstGeom prst="line">
            <a:avLst/>
          </a:prstGeom>
          <a:noFill/>
          <a:ln w="12700">
            <a:solidFill>
              <a:srgbClr val="00B4D8">
                <a:alpha val="50000"/>
              </a:srgbClr>
            </a:solidFill>
            <a:prstDash val="solid"/>
          </a:ln>
        </p:spPr>
        <p:txBody>
          <a:bodyPr/>
          <a:lstStyle/>
          <a:p>
            <a:endParaRPr lang="en-US"/>
          </a:p>
        </p:txBody>
      </p:sp>
      <p:sp>
        <p:nvSpPr>
          <p:cNvPr id="27" name="Shape 25"/>
          <p:cNvSpPr/>
          <p:nvPr/>
        </p:nvSpPr>
        <p:spPr>
          <a:xfrm>
            <a:off x="7626096" y="1591056"/>
            <a:ext cx="731520" cy="548640"/>
          </a:xfrm>
          <a:prstGeom prst="line">
            <a:avLst/>
          </a:prstGeom>
          <a:noFill/>
          <a:ln w="12700">
            <a:solidFill>
              <a:srgbClr val="00B4D8">
                <a:alpha val="50000"/>
              </a:srgbClr>
            </a:solidFill>
            <a:prstDash val="solid"/>
          </a:ln>
        </p:spPr>
        <p:txBody>
          <a:bodyPr/>
          <a:lstStyle/>
          <a:p>
            <a:endParaRPr lang="en-US"/>
          </a:p>
        </p:txBody>
      </p:sp>
      <p:sp>
        <p:nvSpPr>
          <p:cNvPr id="28" name="Shape 26"/>
          <p:cNvSpPr/>
          <p:nvPr/>
        </p:nvSpPr>
        <p:spPr>
          <a:xfrm>
            <a:off x="7626096" y="2139696"/>
            <a:ext cx="731520" cy="548640"/>
          </a:xfrm>
          <a:prstGeom prst="line">
            <a:avLst/>
          </a:prstGeom>
          <a:noFill/>
          <a:ln w="12700">
            <a:solidFill>
              <a:srgbClr val="00B4D8">
                <a:alpha val="50000"/>
              </a:srgbClr>
            </a:solidFill>
            <a:prstDash val="solid"/>
          </a:ln>
        </p:spPr>
        <p:txBody>
          <a:bodyPr/>
          <a:lstStyle/>
          <a:p>
            <a:endParaRPr lang="en-US"/>
          </a:p>
        </p:txBody>
      </p:sp>
      <p:sp>
        <p:nvSpPr>
          <p:cNvPr id="29" name="Shape 27"/>
          <p:cNvSpPr/>
          <p:nvPr/>
        </p:nvSpPr>
        <p:spPr>
          <a:xfrm>
            <a:off x="7626096" y="2688336"/>
            <a:ext cx="731520" cy="548640"/>
          </a:xfrm>
          <a:prstGeom prst="line">
            <a:avLst/>
          </a:prstGeom>
          <a:noFill/>
          <a:ln w="12700">
            <a:solidFill>
              <a:srgbClr val="00B4D8">
                <a:alpha val="50000"/>
              </a:srgbClr>
            </a:solidFill>
            <a:prstDash val="solid"/>
          </a:ln>
        </p:spPr>
        <p:txBody>
          <a:bodyPr/>
          <a:lstStyle/>
          <a:p>
            <a:endParaRPr lang="en-US"/>
          </a:p>
        </p:txBody>
      </p:sp>
      <p:sp>
        <p:nvSpPr>
          <p:cNvPr id="30" name="Shape 28"/>
          <p:cNvSpPr/>
          <p:nvPr/>
        </p:nvSpPr>
        <p:spPr>
          <a:xfrm>
            <a:off x="8357616" y="1591056"/>
            <a:ext cx="548640" cy="548640"/>
          </a:xfrm>
          <a:prstGeom prst="line">
            <a:avLst/>
          </a:prstGeom>
          <a:noFill/>
          <a:ln w="12700">
            <a:solidFill>
              <a:srgbClr val="00B4D8">
                <a:alpha val="50000"/>
              </a:srgbClr>
            </a:solidFill>
            <a:prstDash val="solid"/>
          </a:ln>
        </p:spPr>
        <p:txBody>
          <a:bodyPr/>
          <a:lstStyle/>
          <a:p>
            <a:endParaRPr lang="en-US"/>
          </a:p>
        </p:txBody>
      </p:sp>
      <p:sp>
        <p:nvSpPr>
          <p:cNvPr id="31" name="Shape 29"/>
          <p:cNvSpPr/>
          <p:nvPr/>
        </p:nvSpPr>
        <p:spPr>
          <a:xfrm>
            <a:off x="8357616" y="2139696"/>
            <a:ext cx="548640" cy="548640"/>
          </a:xfrm>
          <a:prstGeom prst="line">
            <a:avLst/>
          </a:prstGeom>
          <a:noFill/>
          <a:ln w="12700">
            <a:solidFill>
              <a:srgbClr val="00B4D8">
                <a:alpha val="50000"/>
              </a:srgbClr>
            </a:solidFill>
            <a:prstDash val="solid"/>
          </a:ln>
        </p:spPr>
        <p:txBody>
          <a:bodyPr/>
          <a:lstStyle/>
          <a:p>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4F9C"/>
          </a:solidFill>
          <a:ln w="12700">
            <a:solidFill>
              <a:srgbClr val="1B4F9C"/>
            </a:solidFill>
            <a:prstDash val="solid"/>
          </a:ln>
        </p:spPr>
        <p:txBody>
          <a:bodyPr/>
          <a:lstStyle/>
          <a:p>
            <a:endParaRPr lang="en-US"/>
          </a:p>
        </p:txBody>
      </p:sp>
      <p:sp>
        <p:nvSpPr>
          <p:cNvPr id="3" name="Text 1"/>
          <p:cNvSpPr/>
          <p:nvPr/>
        </p:nvSpPr>
        <p:spPr>
          <a:xfrm>
            <a:off x="457200" y="0"/>
            <a:ext cx="8229600" cy="914400"/>
          </a:xfrm>
          <a:prstGeom prst="rect">
            <a:avLst/>
          </a:prstGeom>
          <a:noFill/>
        </p:spPr>
        <p:txBody>
          <a:bodyPr wrap="square" rtlCol="0" anchor="ctr"/>
          <a:lstStyle/>
          <a:p>
            <a:pPr marL="0" indent="0" algn="l">
              <a:buNone/>
            </a:pPr>
            <a:r>
              <a:rPr lang="en-US" sz="2800" b="1" dirty="0">
                <a:solidFill>
                  <a:srgbClr val="FFFFFF"/>
                </a:solidFill>
              </a:rPr>
              <a:t>TODAY'S AGENDA</a:t>
            </a:r>
            <a:endParaRPr lang="en-US" sz="2800" dirty="0"/>
          </a:p>
        </p:txBody>
      </p:sp>
      <p:sp>
        <p:nvSpPr>
          <p:cNvPr id="4" name="Shape 2"/>
          <p:cNvSpPr/>
          <p:nvPr/>
        </p:nvSpPr>
        <p:spPr>
          <a:xfrm>
            <a:off x="457200" y="1097280"/>
            <a:ext cx="4023360" cy="1554480"/>
          </a:xfrm>
          <a:prstGeom prst="rect">
            <a:avLst/>
          </a:prstGeom>
          <a:solidFill>
            <a:srgbClr val="1E3A5F"/>
          </a:solidFill>
          <a:ln w="25400">
            <a:solidFill>
              <a:srgbClr val="00B4D8"/>
            </a:solidFill>
            <a:prstDash val="solid"/>
          </a:ln>
          <a:effectLst>
            <a:outerShdw blurRad="101600" dist="38100" dir="8100000" algn="bl" rotWithShape="0">
              <a:srgbClr val="000000">
                <a:alpha val="18000"/>
              </a:srgbClr>
            </a:outerShdw>
          </a:effectLst>
        </p:spPr>
        <p:txBody>
          <a:bodyPr/>
          <a:lstStyle/>
          <a:p>
            <a:endParaRPr lang="en-US"/>
          </a:p>
        </p:txBody>
      </p:sp>
      <p:sp>
        <p:nvSpPr>
          <p:cNvPr id="5" name="Shape 3"/>
          <p:cNvSpPr/>
          <p:nvPr/>
        </p:nvSpPr>
        <p:spPr>
          <a:xfrm>
            <a:off x="457200" y="1097280"/>
            <a:ext cx="73152" cy="1554480"/>
          </a:xfrm>
          <a:prstGeom prst="rect">
            <a:avLst/>
          </a:prstGeom>
          <a:solidFill>
            <a:srgbClr val="00B4D8"/>
          </a:solidFill>
          <a:ln w="12700">
            <a:solidFill>
              <a:srgbClr val="00B4D8"/>
            </a:solidFill>
            <a:prstDash val="solid"/>
          </a:ln>
        </p:spPr>
        <p:txBody>
          <a:bodyPr/>
          <a:lstStyle/>
          <a:p>
            <a:endParaRPr lang="en-US"/>
          </a:p>
        </p:txBody>
      </p:sp>
      <p:sp>
        <p:nvSpPr>
          <p:cNvPr id="6" name="Text 4"/>
          <p:cNvSpPr/>
          <p:nvPr/>
        </p:nvSpPr>
        <p:spPr>
          <a:xfrm>
            <a:off x="594360" y="1188720"/>
            <a:ext cx="640080" cy="457200"/>
          </a:xfrm>
          <a:prstGeom prst="rect">
            <a:avLst/>
          </a:prstGeom>
          <a:noFill/>
        </p:spPr>
        <p:txBody>
          <a:bodyPr wrap="square" rtlCol="0" anchor="ctr"/>
          <a:lstStyle/>
          <a:p>
            <a:pPr marL="0" indent="0" algn="l">
              <a:buNone/>
            </a:pPr>
            <a:r>
              <a:rPr lang="en-US" sz="2600" b="1" dirty="0">
                <a:solidFill>
                  <a:srgbClr val="00B4D8"/>
                </a:solidFill>
              </a:rPr>
              <a:t>01</a:t>
            </a:r>
            <a:endParaRPr lang="en-US" sz="2600" dirty="0"/>
          </a:p>
        </p:txBody>
      </p:sp>
      <p:sp>
        <p:nvSpPr>
          <p:cNvPr id="7" name="Text 5"/>
          <p:cNvSpPr/>
          <p:nvPr/>
        </p:nvSpPr>
        <p:spPr>
          <a:xfrm>
            <a:off x="594360" y="1600200"/>
            <a:ext cx="3657600" cy="347472"/>
          </a:xfrm>
          <a:prstGeom prst="rect">
            <a:avLst/>
          </a:prstGeom>
          <a:noFill/>
        </p:spPr>
        <p:txBody>
          <a:bodyPr wrap="square" rtlCol="0" anchor="ctr"/>
          <a:lstStyle/>
          <a:p>
            <a:pPr marL="0" indent="0" algn="l">
              <a:buNone/>
            </a:pPr>
            <a:r>
              <a:rPr lang="en-US" sz="1600" b="1" dirty="0">
                <a:solidFill>
                  <a:srgbClr val="FFFFFF"/>
                </a:solidFill>
              </a:rPr>
              <a:t>Introduction</a:t>
            </a:r>
            <a:endParaRPr lang="en-US" sz="1600" dirty="0"/>
          </a:p>
        </p:txBody>
      </p:sp>
      <p:sp>
        <p:nvSpPr>
          <p:cNvPr id="8" name="Text 6"/>
          <p:cNvSpPr/>
          <p:nvPr/>
        </p:nvSpPr>
        <p:spPr>
          <a:xfrm>
            <a:off x="594360" y="1965960"/>
            <a:ext cx="3657600" cy="548640"/>
          </a:xfrm>
          <a:prstGeom prst="rect">
            <a:avLst/>
          </a:prstGeom>
          <a:noFill/>
        </p:spPr>
        <p:txBody>
          <a:bodyPr wrap="square" rtlCol="0" anchor="ctr"/>
          <a:lstStyle/>
          <a:p>
            <a:pPr marL="0" indent="0" algn="l">
              <a:buNone/>
            </a:pPr>
            <a:r>
              <a:rPr lang="en-US" sz="1100" dirty="0">
                <a:solidFill>
                  <a:srgbClr val="94A3B8"/>
                </a:solidFill>
              </a:rPr>
              <a:t>What are neural networks? Why do they matter?</a:t>
            </a:r>
            <a:endParaRPr lang="en-US" sz="1100" dirty="0"/>
          </a:p>
        </p:txBody>
      </p:sp>
      <p:sp>
        <p:nvSpPr>
          <p:cNvPr id="9" name="Shape 7"/>
          <p:cNvSpPr/>
          <p:nvPr/>
        </p:nvSpPr>
        <p:spPr>
          <a:xfrm>
            <a:off x="457200" y="2834640"/>
            <a:ext cx="4023360" cy="1554480"/>
          </a:xfrm>
          <a:prstGeom prst="rect">
            <a:avLst/>
          </a:prstGeom>
          <a:solidFill>
            <a:srgbClr val="1E3A5F"/>
          </a:solidFill>
          <a:ln w="25400">
            <a:solidFill>
              <a:srgbClr val="FFB703"/>
            </a:solidFill>
            <a:prstDash val="solid"/>
          </a:ln>
          <a:effectLst>
            <a:outerShdw blurRad="101600" dist="38100" dir="8100000" algn="bl" rotWithShape="0">
              <a:srgbClr val="000000">
                <a:alpha val="18000"/>
              </a:srgbClr>
            </a:outerShdw>
          </a:effectLst>
        </p:spPr>
        <p:txBody>
          <a:bodyPr/>
          <a:lstStyle/>
          <a:p>
            <a:endParaRPr lang="en-US"/>
          </a:p>
        </p:txBody>
      </p:sp>
      <p:sp>
        <p:nvSpPr>
          <p:cNvPr id="10" name="Shape 8"/>
          <p:cNvSpPr/>
          <p:nvPr/>
        </p:nvSpPr>
        <p:spPr>
          <a:xfrm>
            <a:off x="457200" y="2834640"/>
            <a:ext cx="73152" cy="1554480"/>
          </a:xfrm>
          <a:prstGeom prst="rect">
            <a:avLst/>
          </a:prstGeom>
          <a:solidFill>
            <a:srgbClr val="FFB703"/>
          </a:solidFill>
          <a:ln w="12700">
            <a:solidFill>
              <a:srgbClr val="FFB703"/>
            </a:solidFill>
            <a:prstDash val="solid"/>
          </a:ln>
        </p:spPr>
        <p:txBody>
          <a:bodyPr/>
          <a:lstStyle/>
          <a:p>
            <a:endParaRPr lang="en-US"/>
          </a:p>
        </p:txBody>
      </p:sp>
      <p:sp>
        <p:nvSpPr>
          <p:cNvPr id="11" name="Text 9"/>
          <p:cNvSpPr/>
          <p:nvPr/>
        </p:nvSpPr>
        <p:spPr>
          <a:xfrm>
            <a:off x="594360" y="2926080"/>
            <a:ext cx="640080" cy="457200"/>
          </a:xfrm>
          <a:prstGeom prst="rect">
            <a:avLst/>
          </a:prstGeom>
          <a:noFill/>
        </p:spPr>
        <p:txBody>
          <a:bodyPr wrap="square" rtlCol="0" anchor="ctr"/>
          <a:lstStyle/>
          <a:p>
            <a:pPr marL="0" indent="0" algn="l">
              <a:buNone/>
            </a:pPr>
            <a:r>
              <a:rPr lang="en-US" sz="2600" b="1" dirty="0">
                <a:solidFill>
                  <a:srgbClr val="FFB703"/>
                </a:solidFill>
              </a:rPr>
              <a:t>02</a:t>
            </a:r>
            <a:endParaRPr lang="en-US" sz="2600" dirty="0"/>
          </a:p>
        </p:txBody>
      </p:sp>
      <p:sp>
        <p:nvSpPr>
          <p:cNvPr id="12" name="Text 10"/>
          <p:cNvSpPr/>
          <p:nvPr/>
        </p:nvSpPr>
        <p:spPr>
          <a:xfrm>
            <a:off x="594360" y="3337560"/>
            <a:ext cx="3657600" cy="347472"/>
          </a:xfrm>
          <a:prstGeom prst="rect">
            <a:avLst/>
          </a:prstGeom>
          <a:noFill/>
        </p:spPr>
        <p:txBody>
          <a:bodyPr wrap="square" rtlCol="0" anchor="ctr"/>
          <a:lstStyle/>
          <a:p>
            <a:pPr marL="0" indent="0" algn="l">
              <a:buNone/>
            </a:pPr>
            <a:r>
              <a:rPr lang="en-US" sz="1600" b="1" dirty="0">
                <a:solidFill>
                  <a:srgbClr val="FFFFFF"/>
                </a:solidFill>
              </a:rPr>
              <a:t>Biological vs Artificial</a:t>
            </a:r>
            <a:endParaRPr lang="en-US" sz="1600" dirty="0"/>
          </a:p>
        </p:txBody>
      </p:sp>
      <p:sp>
        <p:nvSpPr>
          <p:cNvPr id="13" name="Text 11"/>
          <p:cNvSpPr/>
          <p:nvPr/>
        </p:nvSpPr>
        <p:spPr>
          <a:xfrm>
            <a:off x="594360" y="3703320"/>
            <a:ext cx="3657600" cy="548640"/>
          </a:xfrm>
          <a:prstGeom prst="rect">
            <a:avLst/>
          </a:prstGeom>
          <a:noFill/>
        </p:spPr>
        <p:txBody>
          <a:bodyPr wrap="square" rtlCol="0" anchor="ctr"/>
          <a:lstStyle/>
          <a:p>
            <a:pPr marL="0" indent="0" algn="l">
              <a:buNone/>
            </a:pPr>
            <a:r>
              <a:rPr lang="en-US" sz="1100" dirty="0">
                <a:solidFill>
                  <a:srgbClr val="94A3B8"/>
                </a:solidFill>
              </a:rPr>
              <a:t>How the brain inspired AI — from neurons to nodes</a:t>
            </a:r>
            <a:endParaRPr lang="en-US" sz="1100" dirty="0"/>
          </a:p>
        </p:txBody>
      </p:sp>
      <p:sp>
        <p:nvSpPr>
          <p:cNvPr id="14" name="Shape 12"/>
          <p:cNvSpPr/>
          <p:nvPr/>
        </p:nvSpPr>
        <p:spPr>
          <a:xfrm>
            <a:off x="4846320" y="1097280"/>
            <a:ext cx="4023360" cy="1554480"/>
          </a:xfrm>
          <a:prstGeom prst="rect">
            <a:avLst/>
          </a:prstGeom>
          <a:solidFill>
            <a:srgbClr val="1E3A5F"/>
          </a:solidFill>
          <a:ln w="25400">
            <a:solidFill>
              <a:srgbClr val="06D6A0"/>
            </a:solidFill>
            <a:prstDash val="solid"/>
          </a:ln>
          <a:effectLst>
            <a:outerShdw blurRad="101600" dist="38100" dir="8100000" algn="bl" rotWithShape="0">
              <a:srgbClr val="000000">
                <a:alpha val="18000"/>
              </a:srgbClr>
            </a:outerShdw>
          </a:effectLst>
        </p:spPr>
        <p:txBody>
          <a:bodyPr/>
          <a:lstStyle/>
          <a:p>
            <a:endParaRPr lang="en-US"/>
          </a:p>
        </p:txBody>
      </p:sp>
      <p:sp>
        <p:nvSpPr>
          <p:cNvPr id="15" name="Shape 13"/>
          <p:cNvSpPr/>
          <p:nvPr/>
        </p:nvSpPr>
        <p:spPr>
          <a:xfrm>
            <a:off x="4846320" y="1097280"/>
            <a:ext cx="73152" cy="1554480"/>
          </a:xfrm>
          <a:prstGeom prst="rect">
            <a:avLst/>
          </a:prstGeom>
          <a:solidFill>
            <a:srgbClr val="06D6A0"/>
          </a:solidFill>
          <a:ln w="12700">
            <a:solidFill>
              <a:srgbClr val="06D6A0"/>
            </a:solidFill>
            <a:prstDash val="solid"/>
          </a:ln>
        </p:spPr>
        <p:txBody>
          <a:bodyPr/>
          <a:lstStyle/>
          <a:p>
            <a:endParaRPr lang="en-US"/>
          </a:p>
        </p:txBody>
      </p:sp>
      <p:sp>
        <p:nvSpPr>
          <p:cNvPr id="16" name="Text 14"/>
          <p:cNvSpPr/>
          <p:nvPr/>
        </p:nvSpPr>
        <p:spPr>
          <a:xfrm>
            <a:off x="4983480" y="1188720"/>
            <a:ext cx="640080" cy="457200"/>
          </a:xfrm>
          <a:prstGeom prst="rect">
            <a:avLst/>
          </a:prstGeom>
          <a:noFill/>
        </p:spPr>
        <p:txBody>
          <a:bodyPr wrap="square" rtlCol="0" anchor="ctr"/>
          <a:lstStyle/>
          <a:p>
            <a:pPr marL="0" indent="0" algn="l">
              <a:buNone/>
            </a:pPr>
            <a:r>
              <a:rPr lang="en-US" sz="2600" b="1" dirty="0">
                <a:solidFill>
                  <a:srgbClr val="06D6A0"/>
                </a:solidFill>
              </a:rPr>
              <a:t>03</a:t>
            </a:r>
            <a:endParaRPr lang="en-US" sz="2600" dirty="0"/>
          </a:p>
        </p:txBody>
      </p:sp>
      <p:sp>
        <p:nvSpPr>
          <p:cNvPr id="17" name="Text 15"/>
          <p:cNvSpPr/>
          <p:nvPr/>
        </p:nvSpPr>
        <p:spPr>
          <a:xfrm>
            <a:off x="4983480" y="1600200"/>
            <a:ext cx="3657600" cy="347472"/>
          </a:xfrm>
          <a:prstGeom prst="rect">
            <a:avLst/>
          </a:prstGeom>
          <a:noFill/>
        </p:spPr>
        <p:txBody>
          <a:bodyPr wrap="square" rtlCol="0" anchor="ctr"/>
          <a:lstStyle/>
          <a:p>
            <a:pPr marL="0" indent="0" algn="l">
              <a:buNone/>
            </a:pPr>
            <a:r>
              <a:rPr lang="en-US" sz="1600" b="1" dirty="0">
                <a:solidFill>
                  <a:srgbClr val="FFFFFF"/>
                </a:solidFill>
              </a:rPr>
              <a:t>Mathematical Model</a:t>
            </a:r>
            <a:endParaRPr lang="en-US" sz="1600" dirty="0"/>
          </a:p>
        </p:txBody>
      </p:sp>
      <p:sp>
        <p:nvSpPr>
          <p:cNvPr id="18" name="Text 16"/>
          <p:cNvSpPr/>
          <p:nvPr/>
        </p:nvSpPr>
        <p:spPr>
          <a:xfrm>
            <a:off x="4983480" y="1965960"/>
            <a:ext cx="3657600" cy="548640"/>
          </a:xfrm>
          <a:prstGeom prst="rect">
            <a:avLst/>
          </a:prstGeom>
          <a:noFill/>
        </p:spPr>
        <p:txBody>
          <a:bodyPr wrap="square" rtlCol="0" anchor="ctr"/>
          <a:lstStyle/>
          <a:p>
            <a:pPr marL="0" indent="0" algn="l">
              <a:buNone/>
            </a:pPr>
            <a:r>
              <a:rPr lang="en-US" sz="1100" dirty="0">
                <a:solidFill>
                  <a:srgbClr val="94A3B8"/>
                </a:solidFill>
              </a:rPr>
              <a:t>Weights, biases, activation functions, and learning</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6306"/>
            <a:ext cx="9144000" cy="1005840"/>
          </a:xfrm>
          <a:prstGeom prst="rect">
            <a:avLst/>
          </a:prstGeom>
          <a:solidFill>
            <a:srgbClr val="1B4F9C"/>
          </a:solidFill>
          <a:ln w="12700">
            <a:solidFill>
              <a:srgbClr val="1B4F9C"/>
            </a:solidFill>
            <a:prstDash val="solid"/>
          </a:ln>
        </p:spPr>
        <p:txBody>
          <a:bodyPr/>
          <a:lstStyle/>
          <a:p>
            <a:endParaRPr lang="en-US"/>
          </a:p>
        </p:txBody>
      </p:sp>
      <p:sp>
        <p:nvSpPr>
          <p:cNvPr id="3" name="Text 1"/>
          <p:cNvSpPr/>
          <p:nvPr/>
        </p:nvSpPr>
        <p:spPr>
          <a:xfrm>
            <a:off x="274320" y="0"/>
            <a:ext cx="822960" cy="1005840"/>
          </a:xfrm>
          <a:prstGeom prst="rect">
            <a:avLst/>
          </a:prstGeom>
          <a:noFill/>
        </p:spPr>
        <p:txBody>
          <a:bodyPr wrap="square" rtlCol="0" anchor="ctr"/>
          <a:lstStyle/>
          <a:p>
            <a:pPr marL="0" indent="0" algn="l">
              <a:buNone/>
            </a:pPr>
            <a:r>
              <a:rPr lang="en-US" sz="3800" b="1" dirty="0">
                <a:solidFill>
                  <a:srgbClr val="00B4D8"/>
                </a:solidFill>
              </a:rPr>
              <a:t>01</a:t>
            </a:r>
            <a:endParaRPr lang="en-US" sz="3800" dirty="0"/>
          </a:p>
        </p:txBody>
      </p:sp>
      <p:sp>
        <p:nvSpPr>
          <p:cNvPr id="4" name="Text 2"/>
          <p:cNvSpPr/>
          <p:nvPr/>
        </p:nvSpPr>
        <p:spPr>
          <a:xfrm>
            <a:off x="1097280" y="0"/>
            <a:ext cx="7315200" cy="1005840"/>
          </a:xfrm>
          <a:prstGeom prst="rect">
            <a:avLst/>
          </a:prstGeom>
          <a:noFill/>
        </p:spPr>
        <p:txBody>
          <a:bodyPr wrap="square" rtlCol="0" anchor="ctr"/>
          <a:lstStyle/>
          <a:p>
            <a:pPr marL="0" indent="0" algn="l">
              <a:buNone/>
            </a:pPr>
            <a:r>
              <a:rPr lang="en-US" sz="2400" b="1" dirty="0">
                <a:solidFill>
                  <a:srgbClr val="FFFFFF"/>
                </a:solidFill>
              </a:rPr>
              <a:t>Introduction to Neural Networks</a:t>
            </a:r>
            <a:endParaRPr lang="en-US" sz="2400" dirty="0"/>
          </a:p>
        </p:txBody>
      </p:sp>
      <p:sp>
        <p:nvSpPr>
          <p:cNvPr id="5" name="Shape 3"/>
          <p:cNvSpPr/>
          <p:nvPr/>
        </p:nvSpPr>
        <p:spPr>
          <a:xfrm>
            <a:off x="365760" y="1143000"/>
            <a:ext cx="8412480" cy="777240"/>
          </a:xfrm>
          <a:prstGeom prst="rect">
            <a:avLst/>
          </a:prstGeom>
          <a:solidFill>
            <a:srgbClr val="00B4D8">
              <a:alpha val="15000"/>
            </a:srgbClr>
          </a:solidFill>
          <a:ln w="12700">
            <a:solidFill>
              <a:srgbClr val="00B4D8"/>
            </a:solidFill>
            <a:prstDash val="solid"/>
          </a:ln>
        </p:spPr>
        <p:txBody>
          <a:bodyPr/>
          <a:lstStyle/>
          <a:p>
            <a:endParaRPr lang="en-US"/>
          </a:p>
        </p:txBody>
      </p:sp>
      <p:sp>
        <p:nvSpPr>
          <p:cNvPr id="6" name="Text 4"/>
          <p:cNvSpPr/>
          <p:nvPr/>
        </p:nvSpPr>
        <p:spPr>
          <a:xfrm>
            <a:off x="457200" y="1143000"/>
            <a:ext cx="8229600" cy="777240"/>
          </a:xfrm>
          <a:prstGeom prst="rect">
            <a:avLst/>
          </a:prstGeom>
          <a:noFill/>
        </p:spPr>
        <p:txBody>
          <a:bodyPr wrap="square" rtlCol="0" anchor="ctr"/>
          <a:lstStyle/>
          <a:p>
            <a:pPr marL="0" indent="0">
              <a:buNone/>
            </a:pPr>
            <a:r>
              <a:rPr lang="en-US" sz="1300" b="1" dirty="0">
                <a:solidFill>
                  <a:schemeClr val="bg1"/>
                </a:solidFill>
              </a:rPr>
              <a:t>Neural Network: </a:t>
            </a:r>
            <a:r>
              <a:rPr lang="en-US" sz="1300" dirty="0">
                <a:solidFill>
                  <a:schemeClr val="bg1"/>
                </a:solidFill>
              </a:rPr>
              <a:t>A computing system inspired by biological neural networks in animal brains — it learns from examples to perform tasks without explicit programming.</a:t>
            </a:r>
          </a:p>
        </p:txBody>
      </p:sp>
      <p:sp>
        <p:nvSpPr>
          <p:cNvPr id="7" name="Shape 5"/>
          <p:cNvSpPr/>
          <p:nvPr/>
        </p:nvSpPr>
        <p:spPr>
          <a:xfrm>
            <a:off x="365760" y="2057400"/>
            <a:ext cx="4023360" cy="1280160"/>
          </a:xfrm>
          <a:prstGeom prst="rect">
            <a:avLst/>
          </a:prstGeom>
          <a:solidFill>
            <a:srgbClr val="FFFFFF"/>
          </a:solidFill>
          <a:ln w="12700">
            <a:solidFill>
              <a:srgbClr val="D0DFF0"/>
            </a:solidFill>
            <a:prstDash val="solid"/>
          </a:ln>
          <a:effectLst>
            <a:outerShdw blurRad="101600" dist="38100" dir="8100000" algn="bl" rotWithShape="0">
              <a:srgbClr val="000000">
                <a:alpha val="18000"/>
              </a:srgbClr>
            </a:outerShdw>
          </a:effectLst>
        </p:spPr>
        <p:txBody>
          <a:bodyPr/>
          <a:lstStyle/>
          <a:p>
            <a:endParaRPr lang="en-US"/>
          </a:p>
        </p:txBody>
      </p:sp>
      <p:sp>
        <p:nvSpPr>
          <p:cNvPr id="8" name="Text 6"/>
          <p:cNvSpPr/>
          <p:nvPr/>
        </p:nvSpPr>
        <p:spPr>
          <a:xfrm>
            <a:off x="365760" y="2148840"/>
            <a:ext cx="822960" cy="548640"/>
          </a:xfrm>
          <a:prstGeom prst="rect">
            <a:avLst/>
          </a:prstGeom>
          <a:noFill/>
        </p:spPr>
        <p:txBody>
          <a:bodyPr wrap="square" rtlCol="0" anchor="ctr"/>
          <a:lstStyle/>
          <a:p>
            <a:pPr marL="0" indent="0" algn="ctr">
              <a:buNone/>
            </a:pPr>
            <a:r>
              <a:rPr lang="en-US" sz="2600" dirty="0">
                <a:solidFill>
                  <a:srgbClr val="000000"/>
                </a:solidFill>
              </a:rPr>
              <a:t>🧠</a:t>
            </a:r>
            <a:endParaRPr lang="en-US" sz="2600" dirty="0"/>
          </a:p>
        </p:txBody>
      </p:sp>
      <p:sp>
        <p:nvSpPr>
          <p:cNvPr id="9" name="Text 7"/>
          <p:cNvSpPr/>
          <p:nvPr/>
        </p:nvSpPr>
        <p:spPr>
          <a:xfrm>
            <a:off x="1143000" y="2167128"/>
            <a:ext cx="3017520" cy="365760"/>
          </a:xfrm>
          <a:prstGeom prst="rect">
            <a:avLst/>
          </a:prstGeom>
          <a:noFill/>
        </p:spPr>
        <p:txBody>
          <a:bodyPr wrap="square" rtlCol="0" anchor="ctr"/>
          <a:lstStyle/>
          <a:p>
            <a:pPr marL="0" indent="0" algn="l">
              <a:buNone/>
            </a:pPr>
            <a:r>
              <a:rPr lang="en-US" sz="1300" b="1" dirty="0">
                <a:solidFill>
                  <a:srgbClr val="1B4F9C"/>
                </a:solidFill>
              </a:rPr>
              <a:t>Inspired by Biology</a:t>
            </a:r>
            <a:endParaRPr lang="en-US" sz="1300" dirty="0"/>
          </a:p>
        </p:txBody>
      </p:sp>
      <p:sp>
        <p:nvSpPr>
          <p:cNvPr id="10" name="Text 8"/>
          <p:cNvSpPr/>
          <p:nvPr/>
        </p:nvSpPr>
        <p:spPr>
          <a:xfrm>
            <a:off x="1143000" y="2532888"/>
            <a:ext cx="3017520" cy="640080"/>
          </a:xfrm>
          <a:prstGeom prst="rect">
            <a:avLst/>
          </a:prstGeom>
          <a:noFill/>
        </p:spPr>
        <p:txBody>
          <a:bodyPr wrap="square" rtlCol="0" anchor="ctr"/>
          <a:lstStyle/>
          <a:p>
            <a:pPr marL="0" indent="0" algn="l">
              <a:buNone/>
            </a:pPr>
            <a:r>
              <a:rPr lang="en-US" sz="1100" dirty="0">
                <a:solidFill>
                  <a:srgbClr val="1E293B"/>
                </a:solidFill>
              </a:rPr>
              <a:t>Modeled after the human brain's structure of connected neurons</a:t>
            </a:r>
            <a:endParaRPr lang="en-US" sz="1100" dirty="0"/>
          </a:p>
        </p:txBody>
      </p:sp>
      <p:sp>
        <p:nvSpPr>
          <p:cNvPr id="11" name="Shape 9"/>
          <p:cNvSpPr/>
          <p:nvPr/>
        </p:nvSpPr>
        <p:spPr>
          <a:xfrm>
            <a:off x="4663440" y="2057400"/>
            <a:ext cx="4023360" cy="1280160"/>
          </a:xfrm>
          <a:prstGeom prst="rect">
            <a:avLst/>
          </a:prstGeom>
          <a:solidFill>
            <a:srgbClr val="FFFFFF"/>
          </a:solidFill>
          <a:ln w="12700">
            <a:solidFill>
              <a:srgbClr val="D0DFF0"/>
            </a:solidFill>
            <a:prstDash val="solid"/>
          </a:ln>
          <a:effectLst>
            <a:outerShdw blurRad="101600" dist="38100" dir="8100000" algn="bl" rotWithShape="0">
              <a:srgbClr val="000000">
                <a:alpha val="18000"/>
              </a:srgbClr>
            </a:outerShdw>
          </a:effectLst>
        </p:spPr>
        <p:txBody>
          <a:bodyPr/>
          <a:lstStyle/>
          <a:p>
            <a:endParaRPr lang="en-US"/>
          </a:p>
        </p:txBody>
      </p:sp>
      <p:sp>
        <p:nvSpPr>
          <p:cNvPr id="12" name="Text 10"/>
          <p:cNvSpPr/>
          <p:nvPr/>
        </p:nvSpPr>
        <p:spPr>
          <a:xfrm>
            <a:off x="4663440" y="2148840"/>
            <a:ext cx="822960" cy="548640"/>
          </a:xfrm>
          <a:prstGeom prst="rect">
            <a:avLst/>
          </a:prstGeom>
          <a:noFill/>
        </p:spPr>
        <p:txBody>
          <a:bodyPr wrap="square" rtlCol="0" anchor="ctr"/>
          <a:lstStyle/>
          <a:p>
            <a:pPr marL="0" indent="0" algn="ctr">
              <a:buNone/>
            </a:pPr>
            <a:r>
              <a:rPr lang="en-US" sz="2600" dirty="0">
                <a:solidFill>
                  <a:srgbClr val="000000"/>
                </a:solidFill>
              </a:rPr>
              <a:t>📚</a:t>
            </a:r>
            <a:endParaRPr lang="en-US" sz="2600" dirty="0"/>
          </a:p>
        </p:txBody>
      </p:sp>
      <p:sp>
        <p:nvSpPr>
          <p:cNvPr id="13" name="Text 11"/>
          <p:cNvSpPr/>
          <p:nvPr/>
        </p:nvSpPr>
        <p:spPr>
          <a:xfrm>
            <a:off x="5440680" y="2167128"/>
            <a:ext cx="3017520" cy="365760"/>
          </a:xfrm>
          <a:prstGeom prst="rect">
            <a:avLst/>
          </a:prstGeom>
          <a:noFill/>
        </p:spPr>
        <p:txBody>
          <a:bodyPr wrap="square" rtlCol="0" anchor="ctr"/>
          <a:lstStyle/>
          <a:p>
            <a:pPr marL="0" indent="0" algn="l">
              <a:buNone/>
            </a:pPr>
            <a:r>
              <a:rPr lang="en-US" sz="1300" b="1" dirty="0">
                <a:solidFill>
                  <a:srgbClr val="1B4F9C"/>
                </a:solidFill>
              </a:rPr>
              <a:t>Learns from Data</a:t>
            </a:r>
            <a:endParaRPr lang="en-US" sz="1300" dirty="0"/>
          </a:p>
        </p:txBody>
      </p:sp>
      <p:sp>
        <p:nvSpPr>
          <p:cNvPr id="14" name="Text 12"/>
          <p:cNvSpPr/>
          <p:nvPr/>
        </p:nvSpPr>
        <p:spPr>
          <a:xfrm>
            <a:off x="5440680" y="2532888"/>
            <a:ext cx="3017520" cy="640080"/>
          </a:xfrm>
          <a:prstGeom prst="rect">
            <a:avLst/>
          </a:prstGeom>
          <a:noFill/>
        </p:spPr>
        <p:txBody>
          <a:bodyPr wrap="square" rtlCol="0" anchor="ctr"/>
          <a:lstStyle/>
          <a:p>
            <a:pPr marL="0" indent="0" algn="l">
              <a:buNone/>
            </a:pPr>
            <a:r>
              <a:rPr lang="en-US" sz="1100" dirty="0">
                <a:solidFill>
                  <a:srgbClr val="1E293B"/>
                </a:solidFill>
              </a:rPr>
              <a:t>Improves its performance through training on examples</a:t>
            </a:r>
            <a:endParaRPr lang="en-US" sz="1100" dirty="0"/>
          </a:p>
        </p:txBody>
      </p:sp>
      <p:sp>
        <p:nvSpPr>
          <p:cNvPr id="15" name="Shape 13"/>
          <p:cNvSpPr/>
          <p:nvPr/>
        </p:nvSpPr>
        <p:spPr>
          <a:xfrm>
            <a:off x="365760" y="3474720"/>
            <a:ext cx="4023360" cy="1280160"/>
          </a:xfrm>
          <a:prstGeom prst="rect">
            <a:avLst/>
          </a:prstGeom>
          <a:solidFill>
            <a:srgbClr val="FFFFFF"/>
          </a:solidFill>
          <a:ln w="12700">
            <a:solidFill>
              <a:srgbClr val="D0DFF0"/>
            </a:solidFill>
            <a:prstDash val="solid"/>
          </a:ln>
          <a:effectLst>
            <a:outerShdw blurRad="101600" dist="38100" dir="8100000" algn="bl" rotWithShape="0">
              <a:srgbClr val="000000">
                <a:alpha val="18000"/>
              </a:srgbClr>
            </a:outerShdw>
          </a:effectLst>
        </p:spPr>
        <p:txBody>
          <a:bodyPr/>
          <a:lstStyle/>
          <a:p>
            <a:endParaRPr lang="en-US"/>
          </a:p>
        </p:txBody>
      </p:sp>
      <p:sp>
        <p:nvSpPr>
          <p:cNvPr id="16" name="Text 14"/>
          <p:cNvSpPr/>
          <p:nvPr/>
        </p:nvSpPr>
        <p:spPr>
          <a:xfrm>
            <a:off x="365760" y="3566160"/>
            <a:ext cx="822960" cy="548640"/>
          </a:xfrm>
          <a:prstGeom prst="rect">
            <a:avLst/>
          </a:prstGeom>
          <a:noFill/>
        </p:spPr>
        <p:txBody>
          <a:bodyPr wrap="square" rtlCol="0" anchor="ctr"/>
          <a:lstStyle/>
          <a:p>
            <a:pPr marL="0" indent="0" algn="ctr">
              <a:buNone/>
            </a:pPr>
            <a:r>
              <a:rPr lang="en-US" sz="2600" dirty="0">
                <a:solidFill>
                  <a:srgbClr val="000000"/>
                </a:solidFill>
              </a:rPr>
              <a:t>🔗</a:t>
            </a:r>
            <a:endParaRPr lang="en-US" sz="2600" dirty="0"/>
          </a:p>
        </p:txBody>
      </p:sp>
      <p:sp>
        <p:nvSpPr>
          <p:cNvPr id="17" name="Text 15"/>
          <p:cNvSpPr/>
          <p:nvPr/>
        </p:nvSpPr>
        <p:spPr>
          <a:xfrm>
            <a:off x="1143000" y="3584448"/>
            <a:ext cx="3017520" cy="365760"/>
          </a:xfrm>
          <a:prstGeom prst="rect">
            <a:avLst/>
          </a:prstGeom>
          <a:noFill/>
        </p:spPr>
        <p:txBody>
          <a:bodyPr wrap="square" rtlCol="0" anchor="ctr"/>
          <a:lstStyle/>
          <a:p>
            <a:pPr marL="0" indent="0" algn="l">
              <a:buNone/>
            </a:pPr>
            <a:r>
              <a:rPr lang="en-US" sz="1300" b="1" dirty="0">
                <a:solidFill>
                  <a:srgbClr val="1B4F9C"/>
                </a:solidFill>
              </a:rPr>
              <a:t>Interconnected Layers</a:t>
            </a:r>
            <a:endParaRPr lang="en-US" sz="1300" dirty="0"/>
          </a:p>
        </p:txBody>
      </p:sp>
      <p:sp>
        <p:nvSpPr>
          <p:cNvPr id="18" name="Text 16"/>
          <p:cNvSpPr/>
          <p:nvPr/>
        </p:nvSpPr>
        <p:spPr>
          <a:xfrm>
            <a:off x="1143000" y="3950208"/>
            <a:ext cx="3017520" cy="640080"/>
          </a:xfrm>
          <a:prstGeom prst="rect">
            <a:avLst/>
          </a:prstGeom>
          <a:noFill/>
        </p:spPr>
        <p:txBody>
          <a:bodyPr wrap="square" rtlCol="0" anchor="ctr"/>
          <a:lstStyle/>
          <a:p>
            <a:pPr marL="0" indent="0" algn="l">
              <a:buNone/>
            </a:pPr>
            <a:r>
              <a:rPr lang="en-US" sz="1100" dirty="0">
                <a:solidFill>
                  <a:srgbClr val="1E293B"/>
                </a:solidFill>
              </a:rPr>
              <a:t>Input → Hidden → Output layers process information</a:t>
            </a:r>
            <a:endParaRPr lang="en-US" sz="1100" dirty="0"/>
          </a:p>
        </p:txBody>
      </p:sp>
      <p:sp>
        <p:nvSpPr>
          <p:cNvPr id="19" name="Shape 17"/>
          <p:cNvSpPr/>
          <p:nvPr/>
        </p:nvSpPr>
        <p:spPr>
          <a:xfrm>
            <a:off x="4663440" y="3474720"/>
            <a:ext cx="4023360" cy="1280160"/>
          </a:xfrm>
          <a:prstGeom prst="rect">
            <a:avLst/>
          </a:prstGeom>
          <a:solidFill>
            <a:srgbClr val="FFFFFF"/>
          </a:solidFill>
          <a:ln w="12700">
            <a:solidFill>
              <a:srgbClr val="D0DFF0"/>
            </a:solidFill>
            <a:prstDash val="solid"/>
          </a:ln>
          <a:effectLst>
            <a:outerShdw blurRad="101600" dist="38100" dir="8100000" algn="bl" rotWithShape="0">
              <a:srgbClr val="000000">
                <a:alpha val="18000"/>
              </a:srgbClr>
            </a:outerShdw>
          </a:effectLst>
        </p:spPr>
        <p:txBody>
          <a:bodyPr/>
          <a:lstStyle/>
          <a:p>
            <a:endParaRPr lang="en-US"/>
          </a:p>
        </p:txBody>
      </p:sp>
      <p:sp>
        <p:nvSpPr>
          <p:cNvPr id="20" name="Text 18"/>
          <p:cNvSpPr/>
          <p:nvPr/>
        </p:nvSpPr>
        <p:spPr>
          <a:xfrm>
            <a:off x="4663440" y="3566160"/>
            <a:ext cx="822960" cy="548640"/>
          </a:xfrm>
          <a:prstGeom prst="rect">
            <a:avLst/>
          </a:prstGeom>
          <a:noFill/>
        </p:spPr>
        <p:txBody>
          <a:bodyPr wrap="square" rtlCol="0" anchor="ctr"/>
          <a:lstStyle/>
          <a:p>
            <a:pPr marL="0" indent="0" algn="ctr">
              <a:buNone/>
            </a:pPr>
            <a:r>
              <a:rPr lang="en-US" sz="2600" dirty="0">
                <a:solidFill>
                  <a:srgbClr val="000000"/>
                </a:solidFill>
              </a:rPr>
              <a:t>⚡</a:t>
            </a:r>
            <a:endParaRPr lang="en-US" sz="2600" dirty="0"/>
          </a:p>
        </p:txBody>
      </p:sp>
      <p:sp>
        <p:nvSpPr>
          <p:cNvPr id="21" name="Text 19"/>
          <p:cNvSpPr/>
          <p:nvPr/>
        </p:nvSpPr>
        <p:spPr>
          <a:xfrm>
            <a:off x="5440680" y="3584448"/>
            <a:ext cx="3017520" cy="365760"/>
          </a:xfrm>
          <a:prstGeom prst="rect">
            <a:avLst/>
          </a:prstGeom>
          <a:noFill/>
        </p:spPr>
        <p:txBody>
          <a:bodyPr wrap="square" rtlCol="0" anchor="ctr"/>
          <a:lstStyle/>
          <a:p>
            <a:pPr marL="0" indent="0" algn="l">
              <a:buNone/>
            </a:pPr>
            <a:r>
              <a:rPr lang="en-US" sz="1300" b="1" dirty="0">
                <a:solidFill>
                  <a:srgbClr val="1B4F9C"/>
                </a:solidFill>
              </a:rPr>
              <a:t>Pattern Recognition</a:t>
            </a:r>
            <a:endParaRPr lang="en-US" sz="1300" dirty="0"/>
          </a:p>
        </p:txBody>
      </p:sp>
      <p:sp>
        <p:nvSpPr>
          <p:cNvPr id="22" name="Text 20"/>
          <p:cNvSpPr/>
          <p:nvPr/>
        </p:nvSpPr>
        <p:spPr>
          <a:xfrm>
            <a:off x="5440680" y="3950208"/>
            <a:ext cx="3017520" cy="640080"/>
          </a:xfrm>
          <a:prstGeom prst="rect">
            <a:avLst/>
          </a:prstGeom>
          <a:noFill/>
        </p:spPr>
        <p:txBody>
          <a:bodyPr wrap="square" rtlCol="0" anchor="ctr"/>
          <a:lstStyle/>
          <a:p>
            <a:pPr marL="0" indent="0" algn="l">
              <a:buNone/>
            </a:pPr>
            <a:r>
              <a:rPr lang="en-US" sz="1100" dirty="0">
                <a:solidFill>
                  <a:srgbClr val="1E293B"/>
                </a:solidFill>
              </a:rPr>
              <a:t>Excels at finding complex patterns in images, text &amp; numbers</a:t>
            </a:r>
            <a:endParaRPr lang="en-US" sz="1100" dirty="0"/>
          </a:p>
        </p:txBody>
      </p:sp>
      <p:sp>
        <p:nvSpPr>
          <p:cNvPr id="23" name="Shape 21"/>
          <p:cNvSpPr/>
          <p:nvPr/>
        </p:nvSpPr>
        <p:spPr>
          <a:xfrm>
            <a:off x="0" y="4800600"/>
            <a:ext cx="9144000" cy="342900"/>
          </a:xfrm>
          <a:prstGeom prst="rect">
            <a:avLst/>
          </a:prstGeom>
          <a:solidFill>
            <a:srgbClr val="0A1628"/>
          </a:solidFill>
          <a:ln w="12700">
            <a:solidFill>
              <a:srgbClr val="0A1628"/>
            </a:solidFill>
            <a:prstDash val="solid"/>
          </a:ln>
        </p:spPr>
        <p:txBody>
          <a:bodyPr/>
          <a:lstStyle/>
          <a:p>
            <a:endParaRPr lang="en-US"/>
          </a:p>
        </p:txBody>
      </p:sp>
      <p:sp>
        <p:nvSpPr>
          <p:cNvPr id="24" name="Text 22"/>
          <p:cNvSpPr/>
          <p:nvPr/>
        </p:nvSpPr>
        <p:spPr>
          <a:xfrm>
            <a:off x="182880" y="4800600"/>
            <a:ext cx="2194560" cy="342900"/>
          </a:xfrm>
          <a:prstGeom prst="rect">
            <a:avLst/>
          </a:prstGeom>
          <a:noFill/>
        </p:spPr>
        <p:txBody>
          <a:bodyPr wrap="square" rtlCol="0" anchor="ctr"/>
          <a:lstStyle/>
          <a:p>
            <a:pPr marL="0" indent="0" algn="ctr">
              <a:buNone/>
            </a:pPr>
            <a:r>
              <a:rPr lang="en-US" sz="850" dirty="0">
                <a:solidFill>
                  <a:srgbClr val="00B4D8"/>
                </a:solidFill>
              </a:rPr>
              <a:t>1943 — McCulloch-Pitts neuron</a:t>
            </a:r>
            <a:endParaRPr lang="en-US" sz="850" dirty="0"/>
          </a:p>
        </p:txBody>
      </p:sp>
      <p:sp>
        <p:nvSpPr>
          <p:cNvPr id="25" name="Shape 23"/>
          <p:cNvSpPr/>
          <p:nvPr/>
        </p:nvSpPr>
        <p:spPr>
          <a:xfrm>
            <a:off x="2423160" y="4846320"/>
            <a:ext cx="0" cy="246888"/>
          </a:xfrm>
          <a:prstGeom prst="line">
            <a:avLst/>
          </a:prstGeom>
          <a:noFill/>
          <a:ln w="12700">
            <a:solidFill>
              <a:srgbClr val="94A3B8">
                <a:alpha val="50000"/>
              </a:srgbClr>
            </a:solidFill>
            <a:prstDash val="solid"/>
          </a:ln>
        </p:spPr>
        <p:txBody>
          <a:bodyPr/>
          <a:lstStyle/>
          <a:p>
            <a:endParaRPr lang="en-US"/>
          </a:p>
        </p:txBody>
      </p:sp>
      <p:sp>
        <p:nvSpPr>
          <p:cNvPr id="26" name="Text 24"/>
          <p:cNvSpPr/>
          <p:nvPr/>
        </p:nvSpPr>
        <p:spPr>
          <a:xfrm>
            <a:off x="2423160" y="4800600"/>
            <a:ext cx="2194560" cy="342900"/>
          </a:xfrm>
          <a:prstGeom prst="rect">
            <a:avLst/>
          </a:prstGeom>
          <a:noFill/>
        </p:spPr>
        <p:txBody>
          <a:bodyPr wrap="square" rtlCol="0" anchor="ctr"/>
          <a:lstStyle/>
          <a:p>
            <a:pPr marL="0" indent="0" algn="ctr">
              <a:buNone/>
            </a:pPr>
            <a:r>
              <a:rPr lang="en-US" sz="850" dirty="0">
                <a:solidFill>
                  <a:srgbClr val="00B4D8"/>
                </a:solidFill>
              </a:rPr>
              <a:t>1958 — Perceptron invented</a:t>
            </a:r>
            <a:endParaRPr lang="en-US" sz="850" dirty="0"/>
          </a:p>
        </p:txBody>
      </p:sp>
      <p:sp>
        <p:nvSpPr>
          <p:cNvPr id="27" name="Shape 25"/>
          <p:cNvSpPr/>
          <p:nvPr/>
        </p:nvSpPr>
        <p:spPr>
          <a:xfrm>
            <a:off x="4663440" y="4846320"/>
            <a:ext cx="0" cy="246888"/>
          </a:xfrm>
          <a:prstGeom prst="line">
            <a:avLst/>
          </a:prstGeom>
          <a:noFill/>
          <a:ln w="12700">
            <a:solidFill>
              <a:srgbClr val="94A3B8">
                <a:alpha val="50000"/>
              </a:srgbClr>
            </a:solidFill>
            <a:prstDash val="solid"/>
          </a:ln>
        </p:spPr>
        <p:txBody>
          <a:bodyPr/>
          <a:lstStyle/>
          <a:p>
            <a:endParaRPr lang="en-US"/>
          </a:p>
        </p:txBody>
      </p:sp>
      <p:sp>
        <p:nvSpPr>
          <p:cNvPr id="28" name="Text 26"/>
          <p:cNvSpPr/>
          <p:nvPr/>
        </p:nvSpPr>
        <p:spPr>
          <a:xfrm>
            <a:off x="4663440" y="4800600"/>
            <a:ext cx="2194560" cy="342900"/>
          </a:xfrm>
          <a:prstGeom prst="rect">
            <a:avLst/>
          </a:prstGeom>
          <a:noFill/>
        </p:spPr>
        <p:txBody>
          <a:bodyPr wrap="square" rtlCol="0" anchor="ctr"/>
          <a:lstStyle/>
          <a:p>
            <a:pPr marL="0" indent="0" algn="ctr">
              <a:buNone/>
            </a:pPr>
            <a:r>
              <a:rPr lang="en-US" sz="850" dirty="0">
                <a:solidFill>
                  <a:srgbClr val="00B4D8"/>
                </a:solidFill>
              </a:rPr>
              <a:t>2012 — Deep Learning revolution</a:t>
            </a:r>
            <a:endParaRPr lang="en-US" sz="850" dirty="0"/>
          </a:p>
        </p:txBody>
      </p:sp>
      <p:sp>
        <p:nvSpPr>
          <p:cNvPr id="29" name="Shape 27"/>
          <p:cNvSpPr/>
          <p:nvPr/>
        </p:nvSpPr>
        <p:spPr>
          <a:xfrm>
            <a:off x="6903720" y="4846320"/>
            <a:ext cx="0" cy="246888"/>
          </a:xfrm>
          <a:prstGeom prst="line">
            <a:avLst/>
          </a:prstGeom>
          <a:noFill/>
          <a:ln w="12700">
            <a:solidFill>
              <a:srgbClr val="94A3B8">
                <a:alpha val="50000"/>
              </a:srgbClr>
            </a:solidFill>
            <a:prstDash val="solid"/>
          </a:ln>
        </p:spPr>
        <p:txBody>
          <a:bodyPr/>
          <a:lstStyle/>
          <a:p>
            <a:endParaRPr lang="en-US"/>
          </a:p>
        </p:txBody>
      </p:sp>
      <p:sp>
        <p:nvSpPr>
          <p:cNvPr id="30" name="Text 28"/>
          <p:cNvSpPr/>
          <p:nvPr/>
        </p:nvSpPr>
        <p:spPr>
          <a:xfrm>
            <a:off x="6903720" y="4800600"/>
            <a:ext cx="2194560" cy="342900"/>
          </a:xfrm>
          <a:prstGeom prst="rect">
            <a:avLst/>
          </a:prstGeom>
          <a:noFill/>
        </p:spPr>
        <p:txBody>
          <a:bodyPr wrap="square" rtlCol="0" anchor="ctr"/>
          <a:lstStyle/>
          <a:p>
            <a:pPr marL="0" indent="0" algn="ctr">
              <a:buNone/>
            </a:pPr>
            <a:r>
              <a:rPr lang="en-US" sz="850" dirty="0">
                <a:solidFill>
                  <a:srgbClr val="00B4D8"/>
                </a:solidFill>
              </a:rPr>
              <a:t>Today — Powers ChatGPT, self-driving cars &amp; more</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B703"/>
          </a:solidFill>
          <a:ln w="12700">
            <a:solidFill>
              <a:srgbClr val="FFB703"/>
            </a:solidFill>
            <a:prstDash val="solid"/>
          </a:ln>
        </p:spPr>
        <p:txBody>
          <a:bodyPr/>
          <a:lstStyle/>
          <a:p>
            <a:endParaRPr lang="en-US"/>
          </a:p>
        </p:txBody>
      </p:sp>
      <p:sp>
        <p:nvSpPr>
          <p:cNvPr id="3" name="Text 1"/>
          <p:cNvSpPr/>
          <p:nvPr/>
        </p:nvSpPr>
        <p:spPr>
          <a:xfrm>
            <a:off x="274320" y="0"/>
            <a:ext cx="8595360" cy="914400"/>
          </a:xfrm>
          <a:prstGeom prst="rect">
            <a:avLst/>
          </a:prstGeom>
          <a:noFill/>
        </p:spPr>
        <p:txBody>
          <a:bodyPr wrap="square" rtlCol="0" anchor="ctr"/>
          <a:lstStyle/>
          <a:p>
            <a:pPr marL="0" indent="0" algn="l">
              <a:buNone/>
            </a:pPr>
            <a:r>
              <a:rPr lang="en-US" sz="2200" b="1" dirty="0">
                <a:solidFill>
                  <a:srgbClr val="0A1628"/>
                </a:solidFill>
              </a:rPr>
              <a:t>What IS a Neural Network?</a:t>
            </a:r>
            <a:endParaRPr lang="en-US" sz="2200" dirty="0"/>
          </a:p>
        </p:txBody>
      </p:sp>
      <p:sp>
        <p:nvSpPr>
          <p:cNvPr id="4" name="Shape 2"/>
          <p:cNvSpPr/>
          <p:nvPr/>
        </p:nvSpPr>
        <p:spPr>
          <a:xfrm>
            <a:off x="365760" y="1005840"/>
            <a:ext cx="5120640" cy="3474720"/>
          </a:xfrm>
          <a:prstGeom prst="rect">
            <a:avLst/>
          </a:prstGeom>
          <a:solidFill>
            <a:srgbClr val="FFFFFF"/>
          </a:solidFill>
          <a:ln w="25400">
            <a:solidFill>
              <a:srgbClr val="FFB703"/>
            </a:solidFill>
            <a:prstDash val="solid"/>
          </a:ln>
          <a:effectLst>
            <a:outerShdw blurRad="101600" dist="38100" dir="8100000" algn="bl" rotWithShape="0">
              <a:srgbClr val="000000">
                <a:alpha val="18000"/>
              </a:srgbClr>
            </a:outerShdw>
          </a:effectLst>
        </p:spPr>
        <p:txBody>
          <a:bodyPr/>
          <a:lstStyle/>
          <a:p>
            <a:endParaRPr lang="en-US"/>
          </a:p>
        </p:txBody>
      </p:sp>
      <p:sp>
        <p:nvSpPr>
          <p:cNvPr id="5" name="Text 3"/>
          <p:cNvSpPr/>
          <p:nvPr/>
        </p:nvSpPr>
        <p:spPr>
          <a:xfrm>
            <a:off x="457200" y="1051560"/>
            <a:ext cx="4937760" cy="457200"/>
          </a:xfrm>
          <a:prstGeom prst="rect">
            <a:avLst/>
          </a:prstGeom>
          <a:noFill/>
        </p:spPr>
        <p:txBody>
          <a:bodyPr wrap="square" rtlCol="0" anchor="ctr"/>
          <a:lstStyle/>
          <a:p>
            <a:pPr marL="0" indent="0" algn="l">
              <a:buNone/>
            </a:pPr>
            <a:r>
              <a:rPr lang="en-US" sz="1500" b="1" dirty="0">
                <a:solidFill>
                  <a:srgbClr val="FB8500"/>
                </a:solidFill>
              </a:rPr>
              <a:t>Imagine Your Brain as a Team! 🏆</a:t>
            </a:r>
            <a:endParaRPr lang="en-US" sz="1500" dirty="0"/>
          </a:p>
        </p:txBody>
      </p:sp>
      <p:sp>
        <p:nvSpPr>
          <p:cNvPr id="6" name="Text 4"/>
          <p:cNvSpPr/>
          <p:nvPr/>
        </p:nvSpPr>
        <p:spPr>
          <a:xfrm>
            <a:off x="502920" y="1554480"/>
            <a:ext cx="4846320" cy="2743200"/>
          </a:xfrm>
          <a:prstGeom prst="rect">
            <a:avLst/>
          </a:prstGeom>
          <a:noFill/>
        </p:spPr>
        <p:txBody>
          <a:bodyPr wrap="square" rtlCol="0" anchor="ctr"/>
          <a:lstStyle/>
          <a:p>
            <a:pPr marL="0" indent="0" algn="l">
              <a:buNone/>
            </a:pPr>
            <a:r>
              <a:rPr lang="en-US" sz="1200" dirty="0">
                <a:solidFill>
                  <a:srgbClr val="1E293B"/>
                </a:solidFill>
              </a:rPr>
              <a:t>Think of your brain as a HUGE team of tiny players called neurons. Each player:
</a:t>
            </a:r>
            <a:r>
              <a:rPr lang="en-US" sz="1200" b="1" dirty="0">
                <a:solidFill>
                  <a:srgbClr val="1B4F9C"/>
                </a:solidFill>
              </a:rPr>
              <a:t>👀  Sees information</a:t>
            </a:r>
            <a:endParaRPr lang="en-US" sz="1200" dirty="0"/>
          </a:p>
          <a:p>
            <a:pPr marL="0" indent="0" algn="l">
              <a:buNone/>
            </a:pPr>
            <a:r>
              <a:rPr lang="en-US" sz="1200" b="1" dirty="0">
                <a:solidFill>
                  <a:srgbClr val="1B4F9C"/>
                </a:solidFill>
              </a:rPr>
              <a:t>🤔  Thinks about it a little</a:t>
            </a:r>
            <a:endParaRPr lang="en-US" sz="1200" dirty="0"/>
          </a:p>
          <a:p>
            <a:pPr marL="0" indent="0" algn="l">
              <a:buNone/>
            </a:pPr>
            <a:r>
              <a:rPr lang="en-US" sz="1200" b="1" dirty="0">
                <a:solidFill>
                  <a:srgbClr val="1B4F9C"/>
                </a:solidFill>
              </a:rPr>
              <a:t>📣  Passes it to the next player</a:t>
            </a:r>
            <a:endParaRPr lang="en-US" sz="1200" dirty="0"/>
          </a:p>
          <a:p>
            <a:pPr marL="0" indent="0" algn="l">
              <a:buNone/>
            </a:pPr>
            <a:r>
              <a:rPr lang="en-US" sz="1200" dirty="0">
                <a:solidFill>
                  <a:srgbClr val="1E293B"/>
                </a:solidFill>
              </a:rPr>
              <a:t>
When you see a cat 🐱:
→  Eyes see pointy ears, whiskers, fur
</a:t>
            </a:r>
            <a:endParaRPr lang="en-US" sz="1200" dirty="0"/>
          </a:p>
          <a:p>
            <a:pPr marL="0" indent="0" algn="l">
              <a:buNone/>
            </a:pPr>
            <a:r>
              <a:rPr lang="en-US" sz="1200" dirty="0">
                <a:solidFill>
                  <a:srgbClr val="1E293B"/>
                </a:solidFill>
              </a:rPr>
              <a:t>→  Brain neurons fire up &amp; connect
</a:t>
            </a:r>
            <a:endParaRPr lang="en-US" sz="1200" dirty="0"/>
          </a:p>
          <a:p>
            <a:pPr marL="0" indent="0" algn="l">
              <a:buNone/>
            </a:pPr>
            <a:r>
              <a:rPr lang="en-US" sz="1200" dirty="0">
                <a:solidFill>
                  <a:srgbClr val="1E293B"/>
                </a:solidFill>
              </a:rPr>
              <a:t>→  You say "That's a cat!"
</a:t>
            </a:r>
            <a:endParaRPr lang="en-US" sz="1200" dirty="0"/>
          </a:p>
          <a:p>
            <a:pPr marL="0" indent="0" algn="l">
              <a:buNone/>
            </a:pPr>
            <a:r>
              <a:rPr lang="en-US" sz="1200" b="1" dirty="0">
                <a:solidFill>
                  <a:srgbClr val="FB8500"/>
                </a:solidFill>
              </a:rPr>
              <a:t>A computer neural network does the SAME thing — but with math instead of a real brain!</a:t>
            </a:r>
            <a:endParaRPr lang="en-US" sz="1200" dirty="0"/>
          </a:p>
        </p:txBody>
      </p:sp>
      <p:sp>
        <p:nvSpPr>
          <p:cNvPr id="7" name="Shape 5"/>
          <p:cNvSpPr/>
          <p:nvPr/>
        </p:nvSpPr>
        <p:spPr>
          <a:xfrm>
            <a:off x="5669280" y="1005840"/>
            <a:ext cx="3108960" cy="3474720"/>
          </a:xfrm>
          <a:prstGeom prst="rect">
            <a:avLst/>
          </a:prstGeom>
          <a:solidFill>
            <a:srgbClr val="FFF3CD"/>
          </a:solidFill>
          <a:ln w="12700">
            <a:solidFill>
              <a:srgbClr val="FFB703"/>
            </a:solidFill>
            <a:prstDash val="solid"/>
          </a:ln>
        </p:spPr>
        <p:txBody>
          <a:bodyPr/>
          <a:lstStyle/>
          <a:p>
            <a:endParaRPr lang="en-US"/>
          </a:p>
        </p:txBody>
      </p:sp>
      <p:sp>
        <p:nvSpPr>
          <p:cNvPr id="8" name="Text 6"/>
          <p:cNvSpPr/>
          <p:nvPr/>
        </p:nvSpPr>
        <p:spPr>
          <a:xfrm>
            <a:off x="5760720" y="1097280"/>
            <a:ext cx="2926080" cy="365760"/>
          </a:xfrm>
          <a:prstGeom prst="rect">
            <a:avLst/>
          </a:prstGeom>
          <a:noFill/>
        </p:spPr>
        <p:txBody>
          <a:bodyPr wrap="square" rtlCol="0" anchor="ctr"/>
          <a:lstStyle/>
          <a:p>
            <a:pPr marL="0" indent="0" algn="ctr">
              <a:buNone/>
            </a:pPr>
            <a:r>
              <a:rPr lang="en-US" sz="1300" b="1" dirty="0">
                <a:solidFill>
                  <a:srgbClr val="FB8500"/>
                </a:solidFill>
              </a:rPr>
              <a:t>How a Kid Learns:</a:t>
            </a:r>
            <a:endParaRPr lang="en-US" sz="1300" dirty="0"/>
          </a:p>
        </p:txBody>
      </p:sp>
      <p:sp>
        <p:nvSpPr>
          <p:cNvPr id="9" name="Text 7"/>
          <p:cNvSpPr/>
          <p:nvPr/>
        </p:nvSpPr>
        <p:spPr>
          <a:xfrm>
            <a:off x="5715000" y="1554480"/>
            <a:ext cx="457200" cy="457200"/>
          </a:xfrm>
          <a:prstGeom prst="rect">
            <a:avLst/>
          </a:prstGeom>
          <a:noFill/>
        </p:spPr>
        <p:txBody>
          <a:bodyPr wrap="square" rtlCol="0" anchor="ctr"/>
          <a:lstStyle/>
          <a:p>
            <a:pPr marL="0" indent="0" algn="ctr">
              <a:buNone/>
            </a:pPr>
            <a:r>
              <a:rPr lang="en-US" sz="1800" dirty="0">
                <a:solidFill>
                  <a:srgbClr val="000000"/>
                </a:solidFill>
              </a:rPr>
              <a:t>👶</a:t>
            </a:r>
            <a:endParaRPr lang="en-US" sz="1800" dirty="0"/>
          </a:p>
        </p:txBody>
      </p:sp>
      <p:sp>
        <p:nvSpPr>
          <p:cNvPr id="10" name="Text 8"/>
          <p:cNvSpPr/>
          <p:nvPr/>
        </p:nvSpPr>
        <p:spPr>
          <a:xfrm>
            <a:off x="6172200" y="1572768"/>
            <a:ext cx="2468880" cy="411480"/>
          </a:xfrm>
          <a:prstGeom prst="rect">
            <a:avLst/>
          </a:prstGeom>
          <a:noFill/>
        </p:spPr>
        <p:txBody>
          <a:bodyPr wrap="square" rtlCol="0" anchor="ctr"/>
          <a:lstStyle/>
          <a:p>
            <a:pPr marL="0" indent="0" algn="l">
              <a:buNone/>
            </a:pPr>
            <a:r>
              <a:rPr lang="en-US" sz="1100" dirty="0">
                <a:solidFill>
                  <a:srgbClr val="1E293B"/>
                </a:solidFill>
              </a:rPr>
              <a:t>Baby sees many dogs</a:t>
            </a:r>
            <a:endParaRPr lang="en-US" sz="1100" dirty="0"/>
          </a:p>
        </p:txBody>
      </p:sp>
      <p:sp>
        <p:nvSpPr>
          <p:cNvPr id="11" name="Shape 9"/>
          <p:cNvSpPr/>
          <p:nvPr/>
        </p:nvSpPr>
        <p:spPr>
          <a:xfrm>
            <a:off x="5852160" y="1993392"/>
            <a:ext cx="0" cy="109728"/>
          </a:xfrm>
          <a:prstGeom prst="line">
            <a:avLst/>
          </a:prstGeom>
          <a:noFill/>
          <a:ln w="12700">
            <a:solidFill>
              <a:srgbClr val="FB8500"/>
            </a:solidFill>
            <a:prstDash val="solid"/>
          </a:ln>
        </p:spPr>
        <p:txBody>
          <a:bodyPr/>
          <a:lstStyle/>
          <a:p>
            <a:endParaRPr lang="en-US"/>
          </a:p>
        </p:txBody>
      </p:sp>
      <p:sp>
        <p:nvSpPr>
          <p:cNvPr id="12" name="Text 10"/>
          <p:cNvSpPr/>
          <p:nvPr/>
        </p:nvSpPr>
        <p:spPr>
          <a:xfrm>
            <a:off x="5715000" y="2103120"/>
            <a:ext cx="457200" cy="457200"/>
          </a:xfrm>
          <a:prstGeom prst="rect">
            <a:avLst/>
          </a:prstGeom>
          <a:noFill/>
        </p:spPr>
        <p:txBody>
          <a:bodyPr wrap="square" rtlCol="0" anchor="ctr"/>
          <a:lstStyle/>
          <a:p>
            <a:pPr marL="0" indent="0" algn="ctr">
              <a:buNone/>
            </a:pPr>
            <a:r>
              <a:rPr lang="en-US" sz="1800" dirty="0">
                <a:solidFill>
                  <a:srgbClr val="000000"/>
                </a:solidFill>
              </a:rPr>
              <a:t>✅</a:t>
            </a:r>
            <a:endParaRPr lang="en-US" sz="1800" dirty="0"/>
          </a:p>
        </p:txBody>
      </p:sp>
      <p:sp>
        <p:nvSpPr>
          <p:cNvPr id="13" name="Text 11"/>
          <p:cNvSpPr/>
          <p:nvPr/>
        </p:nvSpPr>
        <p:spPr>
          <a:xfrm>
            <a:off x="6172200" y="2121408"/>
            <a:ext cx="2468880" cy="411480"/>
          </a:xfrm>
          <a:prstGeom prst="rect">
            <a:avLst/>
          </a:prstGeom>
          <a:noFill/>
        </p:spPr>
        <p:txBody>
          <a:bodyPr wrap="square" rtlCol="0" anchor="ctr"/>
          <a:lstStyle/>
          <a:p>
            <a:pPr marL="0" indent="0" algn="l">
              <a:buNone/>
            </a:pPr>
            <a:r>
              <a:rPr lang="en-US" sz="1100" dirty="0">
                <a:solidFill>
                  <a:srgbClr val="1E293B"/>
                </a:solidFill>
              </a:rPr>
              <a:t>Mom says "That's a dog!"</a:t>
            </a:r>
            <a:endParaRPr lang="en-US" sz="1100" dirty="0"/>
          </a:p>
        </p:txBody>
      </p:sp>
      <p:sp>
        <p:nvSpPr>
          <p:cNvPr id="14" name="Shape 12"/>
          <p:cNvSpPr/>
          <p:nvPr/>
        </p:nvSpPr>
        <p:spPr>
          <a:xfrm>
            <a:off x="5852160" y="2542032"/>
            <a:ext cx="0" cy="109728"/>
          </a:xfrm>
          <a:prstGeom prst="line">
            <a:avLst/>
          </a:prstGeom>
          <a:noFill/>
          <a:ln w="12700">
            <a:solidFill>
              <a:srgbClr val="FB8500"/>
            </a:solidFill>
            <a:prstDash val="solid"/>
          </a:ln>
        </p:spPr>
        <p:txBody>
          <a:bodyPr/>
          <a:lstStyle/>
          <a:p>
            <a:endParaRPr lang="en-US"/>
          </a:p>
        </p:txBody>
      </p:sp>
      <p:sp>
        <p:nvSpPr>
          <p:cNvPr id="15" name="Text 13"/>
          <p:cNvSpPr/>
          <p:nvPr/>
        </p:nvSpPr>
        <p:spPr>
          <a:xfrm>
            <a:off x="5715000" y="2651760"/>
            <a:ext cx="457200" cy="457200"/>
          </a:xfrm>
          <a:prstGeom prst="rect">
            <a:avLst/>
          </a:prstGeom>
          <a:noFill/>
        </p:spPr>
        <p:txBody>
          <a:bodyPr wrap="square" rtlCol="0" anchor="ctr"/>
          <a:lstStyle/>
          <a:p>
            <a:pPr marL="0" indent="0" algn="ctr">
              <a:buNone/>
            </a:pPr>
            <a:r>
              <a:rPr lang="en-US" sz="1800" dirty="0">
                <a:solidFill>
                  <a:srgbClr val="000000"/>
                </a:solidFill>
              </a:rPr>
              <a:t>❌</a:t>
            </a:r>
            <a:endParaRPr lang="en-US" sz="1800" dirty="0"/>
          </a:p>
        </p:txBody>
      </p:sp>
      <p:sp>
        <p:nvSpPr>
          <p:cNvPr id="16" name="Text 14"/>
          <p:cNvSpPr/>
          <p:nvPr/>
        </p:nvSpPr>
        <p:spPr>
          <a:xfrm>
            <a:off x="6172200" y="2670048"/>
            <a:ext cx="2468880" cy="411480"/>
          </a:xfrm>
          <a:prstGeom prst="rect">
            <a:avLst/>
          </a:prstGeom>
          <a:noFill/>
        </p:spPr>
        <p:txBody>
          <a:bodyPr wrap="square" rtlCol="0" anchor="ctr"/>
          <a:lstStyle/>
          <a:p>
            <a:pPr marL="0" indent="0" algn="l">
              <a:buNone/>
            </a:pPr>
            <a:r>
              <a:rPr lang="en-US" sz="1100" dirty="0">
                <a:solidFill>
                  <a:srgbClr val="1E293B"/>
                </a:solidFill>
              </a:rPr>
              <a:t>"No, that's a cat!"</a:t>
            </a:r>
            <a:endParaRPr lang="en-US" sz="1100" dirty="0"/>
          </a:p>
        </p:txBody>
      </p:sp>
      <p:sp>
        <p:nvSpPr>
          <p:cNvPr id="17" name="Shape 15"/>
          <p:cNvSpPr/>
          <p:nvPr/>
        </p:nvSpPr>
        <p:spPr>
          <a:xfrm>
            <a:off x="5852160" y="3090672"/>
            <a:ext cx="0" cy="109728"/>
          </a:xfrm>
          <a:prstGeom prst="line">
            <a:avLst/>
          </a:prstGeom>
          <a:noFill/>
          <a:ln w="12700">
            <a:solidFill>
              <a:srgbClr val="FB8500"/>
            </a:solidFill>
            <a:prstDash val="solid"/>
          </a:ln>
        </p:spPr>
        <p:txBody>
          <a:bodyPr/>
          <a:lstStyle/>
          <a:p>
            <a:endParaRPr lang="en-US"/>
          </a:p>
        </p:txBody>
      </p:sp>
      <p:sp>
        <p:nvSpPr>
          <p:cNvPr id="18" name="Text 16"/>
          <p:cNvSpPr/>
          <p:nvPr/>
        </p:nvSpPr>
        <p:spPr>
          <a:xfrm>
            <a:off x="5715000" y="3200400"/>
            <a:ext cx="457200" cy="457200"/>
          </a:xfrm>
          <a:prstGeom prst="rect">
            <a:avLst/>
          </a:prstGeom>
          <a:noFill/>
        </p:spPr>
        <p:txBody>
          <a:bodyPr wrap="square" rtlCol="0" anchor="ctr"/>
          <a:lstStyle/>
          <a:p>
            <a:pPr marL="0" indent="0" algn="ctr">
              <a:buNone/>
            </a:pPr>
            <a:r>
              <a:rPr lang="en-US" sz="1800" dirty="0">
                <a:solidFill>
                  <a:srgbClr val="000000"/>
                </a:solidFill>
              </a:rPr>
              <a:t>🧠</a:t>
            </a:r>
            <a:endParaRPr lang="en-US" sz="1800" dirty="0"/>
          </a:p>
        </p:txBody>
      </p:sp>
      <p:sp>
        <p:nvSpPr>
          <p:cNvPr id="19" name="Text 17"/>
          <p:cNvSpPr/>
          <p:nvPr/>
        </p:nvSpPr>
        <p:spPr>
          <a:xfrm>
            <a:off x="6172200" y="3218688"/>
            <a:ext cx="2468880" cy="411480"/>
          </a:xfrm>
          <a:prstGeom prst="rect">
            <a:avLst/>
          </a:prstGeom>
          <a:noFill/>
        </p:spPr>
        <p:txBody>
          <a:bodyPr wrap="square" rtlCol="0" anchor="ctr"/>
          <a:lstStyle/>
          <a:p>
            <a:pPr marL="0" indent="0" algn="l">
              <a:buNone/>
            </a:pPr>
            <a:r>
              <a:rPr lang="en-US" sz="1100" dirty="0">
                <a:solidFill>
                  <a:srgbClr val="1E293B"/>
                </a:solidFill>
              </a:rPr>
              <a:t>Brain updates &amp; learns</a:t>
            </a:r>
            <a:endParaRPr lang="en-US" sz="1100" dirty="0"/>
          </a:p>
        </p:txBody>
      </p:sp>
      <p:sp>
        <p:nvSpPr>
          <p:cNvPr id="20" name="Shape 18"/>
          <p:cNvSpPr/>
          <p:nvPr/>
        </p:nvSpPr>
        <p:spPr>
          <a:xfrm>
            <a:off x="5852160" y="3639312"/>
            <a:ext cx="0" cy="109728"/>
          </a:xfrm>
          <a:prstGeom prst="line">
            <a:avLst/>
          </a:prstGeom>
          <a:noFill/>
          <a:ln w="12700">
            <a:solidFill>
              <a:srgbClr val="FB8500"/>
            </a:solidFill>
            <a:prstDash val="solid"/>
          </a:ln>
        </p:spPr>
        <p:txBody>
          <a:bodyPr/>
          <a:lstStyle/>
          <a:p>
            <a:endParaRPr lang="en-US"/>
          </a:p>
        </p:txBody>
      </p:sp>
      <p:sp>
        <p:nvSpPr>
          <p:cNvPr id="21" name="Text 19"/>
          <p:cNvSpPr/>
          <p:nvPr/>
        </p:nvSpPr>
        <p:spPr>
          <a:xfrm>
            <a:off x="5715000" y="3749040"/>
            <a:ext cx="457200" cy="457200"/>
          </a:xfrm>
          <a:prstGeom prst="rect">
            <a:avLst/>
          </a:prstGeom>
          <a:noFill/>
        </p:spPr>
        <p:txBody>
          <a:bodyPr wrap="square" rtlCol="0" anchor="ctr"/>
          <a:lstStyle/>
          <a:p>
            <a:pPr marL="0" indent="0" algn="ctr">
              <a:buNone/>
            </a:pPr>
            <a:r>
              <a:rPr lang="en-US" sz="1800" dirty="0">
                <a:solidFill>
                  <a:srgbClr val="000000"/>
                </a:solidFill>
              </a:rPr>
              <a:t>🎉</a:t>
            </a:r>
            <a:endParaRPr lang="en-US" sz="1800" dirty="0"/>
          </a:p>
        </p:txBody>
      </p:sp>
      <p:sp>
        <p:nvSpPr>
          <p:cNvPr id="22" name="Text 20"/>
          <p:cNvSpPr/>
          <p:nvPr/>
        </p:nvSpPr>
        <p:spPr>
          <a:xfrm>
            <a:off x="6172200" y="3767328"/>
            <a:ext cx="2468880" cy="411480"/>
          </a:xfrm>
          <a:prstGeom prst="rect">
            <a:avLst/>
          </a:prstGeom>
          <a:noFill/>
        </p:spPr>
        <p:txBody>
          <a:bodyPr wrap="square" rtlCol="0" anchor="ctr"/>
          <a:lstStyle/>
          <a:p>
            <a:pPr marL="0" indent="0" algn="l">
              <a:buNone/>
            </a:pPr>
            <a:r>
              <a:rPr lang="en-US" sz="1100" dirty="0">
                <a:solidFill>
                  <a:srgbClr val="1E293B"/>
                </a:solidFill>
              </a:rPr>
              <a:t>Now recognizes dogs!</a:t>
            </a:r>
            <a:endParaRPr lang="en-US" sz="1100" dirty="0"/>
          </a:p>
        </p:txBody>
      </p:sp>
      <p:sp>
        <p:nvSpPr>
          <p:cNvPr id="23" name="Text 21"/>
          <p:cNvSpPr/>
          <p:nvPr/>
        </p:nvSpPr>
        <p:spPr>
          <a:xfrm>
            <a:off x="365760" y="4617720"/>
            <a:ext cx="8412480" cy="411480"/>
          </a:xfrm>
          <a:prstGeom prst="rect">
            <a:avLst/>
          </a:prstGeom>
          <a:noFill/>
        </p:spPr>
        <p:txBody>
          <a:bodyPr wrap="square" rtlCol="0" anchor="ctr"/>
          <a:lstStyle/>
          <a:p>
            <a:pPr marL="0" indent="0" algn="ctr">
              <a:buNone/>
            </a:pPr>
            <a:r>
              <a:rPr lang="en-US" sz="1200" b="1" i="1" dirty="0">
                <a:solidFill>
                  <a:srgbClr val="FB8500"/>
                </a:solidFill>
              </a:rPr>
              <a:t>🌟 This is EXACTLY how neural networks are trained with data!</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 Box 1"/>
          <p:cNvSpPr txBox="1"/>
          <p:nvPr/>
        </p:nvSpPr>
        <p:spPr>
          <a:xfrm>
            <a:off x="1324610" y="688340"/>
            <a:ext cx="6062345" cy="2967990"/>
          </a:xfrm>
          <a:prstGeom prst="rect">
            <a:avLst/>
          </a:prstGeom>
          <a:noFill/>
        </p:spPr>
        <p:txBody>
          <a:bodyPr wrap="square" rtlCol="0">
            <a:noAutofit/>
          </a:bodyPr>
          <a:lstStyle/>
          <a:p>
            <a:endParaRPr lang="en-US"/>
          </a:p>
        </p:txBody>
      </p:sp>
      <p:pic>
        <p:nvPicPr>
          <p:cNvPr id="3" name="Picture 2"/>
          <p:cNvPicPr>
            <a:picLocks noChangeAspect="1"/>
          </p:cNvPicPr>
          <p:nvPr/>
        </p:nvPicPr>
        <p:blipFill>
          <a:blip r:embed="rId2"/>
          <a:stretch>
            <a:fillRect/>
          </a:stretch>
        </p:blipFill>
        <p:spPr>
          <a:xfrm>
            <a:off x="-92075" y="12065"/>
            <a:ext cx="9236710" cy="513143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7B2FBE"/>
          </a:solidFill>
          <a:ln w="12700">
            <a:solidFill>
              <a:srgbClr val="7B2FBE"/>
            </a:solidFill>
            <a:prstDash val="solid"/>
          </a:ln>
        </p:spPr>
        <p:txBody>
          <a:bodyPr/>
          <a:lstStyle/>
          <a:p>
            <a:endParaRPr lang="en-US"/>
          </a:p>
        </p:txBody>
      </p:sp>
      <p:sp>
        <p:nvSpPr>
          <p:cNvPr id="3" name="Text 1"/>
          <p:cNvSpPr/>
          <p:nvPr/>
        </p:nvSpPr>
        <p:spPr>
          <a:xfrm>
            <a:off x="274320" y="0"/>
            <a:ext cx="822960" cy="960120"/>
          </a:xfrm>
          <a:prstGeom prst="rect">
            <a:avLst/>
          </a:prstGeom>
          <a:noFill/>
        </p:spPr>
        <p:txBody>
          <a:bodyPr wrap="square" rtlCol="0" anchor="ctr"/>
          <a:lstStyle/>
          <a:p>
            <a:pPr marL="0" indent="0" algn="l">
              <a:buNone/>
            </a:pPr>
            <a:r>
              <a:rPr lang="en-US" sz="3600" b="1" dirty="0">
                <a:solidFill>
                  <a:srgbClr val="D4BBFF"/>
                </a:solidFill>
              </a:rPr>
              <a:t>02</a:t>
            </a:r>
            <a:endParaRPr lang="en-US" sz="3600" dirty="0"/>
          </a:p>
        </p:txBody>
      </p:sp>
      <p:sp>
        <p:nvSpPr>
          <p:cNvPr id="4" name="Text 2"/>
          <p:cNvSpPr/>
          <p:nvPr/>
        </p:nvSpPr>
        <p:spPr>
          <a:xfrm>
            <a:off x="1097280" y="0"/>
            <a:ext cx="7315200" cy="960120"/>
          </a:xfrm>
          <a:prstGeom prst="rect">
            <a:avLst/>
          </a:prstGeom>
          <a:noFill/>
        </p:spPr>
        <p:txBody>
          <a:bodyPr wrap="square" rtlCol="0" anchor="ctr"/>
          <a:lstStyle/>
          <a:p>
            <a:pPr marL="0" indent="0" algn="l">
              <a:buNone/>
            </a:pPr>
            <a:r>
              <a:rPr lang="en-US" sz="2400" b="1" dirty="0">
                <a:solidFill>
                  <a:srgbClr val="FFFFFF"/>
                </a:solidFill>
              </a:rPr>
              <a:t>Biological Neural Network</a:t>
            </a:r>
            <a:endParaRPr lang="en-US" sz="2400" dirty="0"/>
          </a:p>
        </p:txBody>
      </p:sp>
      <p:sp>
        <p:nvSpPr>
          <p:cNvPr id="5" name="Text 3"/>
          <p:cNvSpPr/>
          <p:nvPr/>
        </p:nvSpPr>
        <p:spPr>
          <a:xfrm>
            <a:off x="365760" y="1051560"/>
            <a:ext cx="5486400" cy="411480"/>
          </a:xfrm>
          <a:prstGeom prst="rect">
            <a:avLst/>
          </a:prstGeom>
          <a:noFill/>
        </p:spPr>
        <p:txBody>
          <a:bodyPr wrap="square" rtlCol="0" anchor="ctr"/>
          <a:lstStyle/>
          <a:p>
            <a:pPr marL="0" indent="0" algn="l">
              <a:buNone/>
            </a:pPr>
            <a:r>
              <a:rPr lang="en-US" sz="1600" b="1" dirty="0">
                <a:solidFill>
                  <a:srgbClr val="7B2FBE"/>
                </a:solidFill>
              </a:rPr>
              <a:t>Parts of a Biological Neuron 🧠</a:t>
            </a:r>
            <a:endParaRPr lang="en-US" sz="1600" dirty="0"/>
          </a:p>
        </p:txBody>
      </p:sp>
      <p:sp>
        <p:nvSpPr>
          <p:cNvPr id="6" name="Shape 4"/>
          <p:cNvSpPr/>
          <p:nvPr/>
        </p:nvSpPr>
        <p:spPr>
          <a:xfrm>
            <a:off x="365760" y="1536192"/>
            <a:ext cx="5212080" cy="713232"/>
          </a:xfrm>
          <a:prstGeom prst="rect">
            <a:avLst/>
          </a:prstGeom>
          <a:solidFill>
            <a:srgbClr val="FFFFFF"/>
          </a:solidFill>
          <a:ln w="25400">
            <a:solidFill>
              <a:srgbClr val="7B2FBE"/>
            </a:solidFill>
            <a:prstDash val="solid"/>
          </a:ln>
          <a:effectLst>
            <a:outerShdw blurRad="101600" dist="38100" dir="8100000" algn="bl" rotWithShape="0">
              <a:srgbClr val="000000">
                <a:alpha val="18000"/>
              </a:srgbClr>
            </a:outerShdw>
          </a:effectLst>
        </p:spPr>
        <p:txBody>
          <a:bodyPr/>
          <a:lstStyle/>
          <a:p>
            <a:endParaRPr lang="en-US"/>
          </a:p>
        </p:txBody>
      </p:sp>
      <p:sp>
        <p:nvSpPr>
          <p:cNvPr id="7" name="Shape 5"/>
          <p:cNvSpPr/>
          <p:nvPr/>
        </p:nvSpPr>
        <p:spPr>
          <a:xfrm>
            <a:off x="365760" y="1536192"/>
            <a:ext cx="64008" cy="713232"/>
          </a:xfrm>
          <a:prstGeom prst="rect">
            <a:avLst/>
          </a:prstGeom>
          <a:solidFill>
            <a:srgbClr val="7B2FBE"/>
          </a:solidFill>
          <a:ln w="12700">
            <a:solidFill>
              <a:srgbClr val="7B2FBE"/>
            </a:solidFill>
            <a:prstDash val="solid"/>
          </a:ln>
        </p:spPr>
        <p:txBody>
          <a:bodyPr/>
          <a:lstStyle/>
          <a:p>
            <a:endParaRPr lang="en-US"/>
          </a:p>
        </p:txBody>
      </p:sp>
      <p:sp>
        <p:nvSpPr>
          <p:cNvPr id="8" name="Text 6"/>
          <p:cNvSpPr/>
          <p:nvPr/>
        </p:nvSpPr>
        <p:spPr>
          <a:xfrm>
            <a:off x="548640" y="1554480"/>
            <a:ext cx="2011680" cy="320040"/>
          </a:xfrm>
          <a:prstGeom prst="rect">
            <a:avLst/>
          </a:prstGeom>
          <a:noFill/>
        </p:spPr>
        <p:txBody>
          <a:bodyPr wrap="square" rtlCol="0" anchor="ctr"/>
          <a:lstStyle/>
          <a:p>
            <a:pPr marL="0" indent="0" algn="l">
              <a:buNone/>
            </a:pPr>
            <a:r>
              <a:rPr lang="en-US" sz="1300" b="1" dirty="0">
                <a:solidFill>
                  <a:srgbClr val="7B2FBE"/>
                </a:solidFill>
              </a:rPr>
              <a:t>Dendrites</a:t>
            </a:r>
            <a:endParaRPr lang="en-US" sz="1300" dirty="0"/>
          </a:p>
        </p:txBody>
      </p:sp>
      <p:sp>
        <p:nvSpPr>
          <p:cNvPr id="9" name="Text 7"/>
          <p:cNvSpPr/>
          <p:nvPr/>
        </p:nvSpPr>
        <p:spPr>
          <a:xfrm>
            <a:off x="548640" y="1847088"/>
            <a:ext cx="4846320" cy="329184"/>
          </a:xfrm>
          <a:prstGeom prst="rect">
            <a:avLst/>
          </a:prstGeom>
          <a:noFill/>
        </p:spPr>
        <p:txBody>
          <a:bodyPr wrap="square" rtlCol="0" anchor="ctr"/>
          <a:lstStyle/>
          <a:p>
            <a:pPr marL="0" indent="0" algn="l">
              <a:buNone/>
            </a:pPr>
            <a:r>
              <a:rPr lang="en-US" sz="1050" dirty="0">
                <a:solidFill>
                  <a:srgbClr val="1E293B"/>
                </a:solidFill>
              </a:rPr>
              <a:t>Branch-like extensions that RECEIVE signals from other neurons — like antennae picking up information</a:t>
            </a:r>
            <a:endParaRPr lang="en-US" sz="1050" dirty="0"/>
          </a:p>
        </p:txBody>
      </p:sp>
      <p:sp>
        <p:nvSpPr>
          <p:cNvPr id="10" name="Shape 8"/>
          <p:cNvSpPr/>
          <p:nvPr/>
        </p:nvSpPr>
        <p:spPr>
          <a:xfrm>
            <a:off x="365760" y="2322576"/>
            <a:ext cx="5212080" cy="713232"/>
          </a:xfrm>
          <a:prstGeom prst="rect">
            <a:avLst/>
          </a:prstGeom>
          <a:solidFill>
            <a:srgbClr val="FFFFFF"/>
          </a:solidFill>
          <a:ln w="25400">
            <a:solidFill>
              <a:srgbClr val="9D4EDD"/>
            </a:solidFill>
            <a:prstDash val="solid"/>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365760" y="2322576"/>
            <a:ext cx="64008" cy="713232"/>
          </a:xfrm>
          <a:prstGeom prst="rect">
            <a:avLst/>
          </a:prstGeom>
          <a:solidFill>
            <a:srgbClr val="9D4EDD"/>
          </a:solidFill>
          <a:ln w="12700">
            <a:solidFill>
              <a:srgbClr val="9D4EDD"/>
            </a:solidFill>
            <a:prstDash val="solid"/>
          </a:ln>
        </p:spPr>
        <p:txBody>
          <a:bodyPr/>
          <a:lstStyle/>
          <a:p>
            <a:endParaRPr lang="en-US"/>
          </a:p>
        </p:txBody>
      </p:sp>
      <p:sp>
        <p:nvSpPr>
          <p:cNvPr id="12" name="Text 10"/>
          <p:cNvSpPr/>
          <p:nvPr/>
        </p:nvSpPr>
        <p:spPr>
          <a:xfrm>
            <a:off x="548640" y="2340864"/>
            <a:ext cx="2011680" cy="320040"/>
          </a:xfrm>
          <a:prstGeom prst="rect">
            <a:avLst/>
          </a:prstGeom>
          <a:noFill/>
        </p:spPr>
        <p:txBody>
          <a:bodyPr wrap="square" rtlCol="0" anchor="ctr"/>
          <a:lstStyle/>
          <a:p>
            <a:pPr marL="0" indent="0" algn="l">
              <a:buNone/>
            </a:pPr>
            <a:r>
              <a:rPr lang="en-US" sz="1300" b="1" dirty="0">
                <a:solidFill>
                  <a:srgbClr val="9D4EDD"/>
                </a:solidFill>
              </a:rPr>
              <a:t>Cell Body (Soma)</a:t>
            </a:r>
            <a:endParaRPr lang="en-US" sz="1300" dirty="0"/>
          </a:p>
        </p:txBody>
      </p:sp>
      <p:sp>
        <p:nvSpPr>
          <p:cNvPr id="13" name="Text 11"/>
          <p:cNvSpPr/>
          <p:nvPr/>
        </p:nvSpPr>
        <p:spPr>
          <a:xfrm>
            <a:off x="548640" y="2641727"/>
            <a:ext cx="4846320" cy="329184"/>
          </a:xfrm>
          <a:prstGeom prst="rect">
            <a:avLst/>
          </a:prstGeom>
          <a:noFill/>
        </p:spPr>
        <p:txBody>
          <a:bodyPr wrap="square" rtlCol="0" anchor="ctr"/>
          <a:lstStyle/>
          <a:p>
            <a:pPr marL="0" indent="0" algn="l">
              <a:buNone/>
            </a:pPr>
            <a:r>
              <a:rPr lang="en-US" sz="1050" dirty="0">
                <a:solidFill>
                  <a:srgbClr val="1E293B"/>
                </a:solidFill>
              </a:rPr>
              <a:t>The neuron's headquarters — processes all incoming signals and decides whether to fire</a:t>
            </a:r>
            <a:endParaRPr lang="en-US" sz="1050" dirty="0"/>
          </a:p>
        </p:txBody>
      </p:sp>
      <p:sp>
        <p:nvSpPr>
          <p:cNvPr id="14" name="Shape 12"/>
          <p:cNvSpPr/>
          <p:nvPr/>
        </p:nvSpPr>
        <p:spPr>
          <a:xfrm>
            <a:off x="365760" y="3108960"/>
            <a:ext cx="5212080" cy="713232"/>
          </a:xfrm>
          <a:prstGeom prst="rect">
            <a:avLst/>
          </a:prstGeom>
          <a:solidFill>
            <a:srgbClr val="FFFFFF"/>
          </a:solidFill>
          <a:ln w="25400">
            <a:solidFill>
              <a:srgbClr val="C77DFF"/>
            </a:solidFill>
            <a:prstDash val="solid"/>
          </a:ln>
          <a:effectLst>
            <a:outerShdw blurRad="101600" dist="38100" dir="8100000" algn="bl" rotWithShape="0">
              <a:srgbClr val="000000">
                <a:alpha val="18000"/>
              </a:srgbClr>
            </a:outerShdw>
          </a:effectLst>
        </p:spPr>
        <p:txBody>
          <a:bodyPr/>
          <a:lstStyle/>
          <a:p>
            <a:endParaRPr lang="en-US"/>
          </a:p>
        </p:txBody>
      </p:sp>
      <p:sp>
        <p:nvSpPr>
          <p:cNvPr id="15" name="Shape 13"/>
          <p:cNvSpPr/>
          <p:nvPr/>
        </p:nvSpPr>
        <p:spPr>
          <a:xfrm>
            <a:off x="365760" y="3108960"/>
            <a:ext cx="64008" cy="713232"/>
          </a:xfrm>
          <a:prstGeom prst="rect">
            <a:avLst/>
          </a:prstGeom>
          <a:solidFill>
            <a:srgbClr val="C77DFF"/>
          </a:solidFill>
          <a:ln w="12700">
            <a:solidFill>
              <a:srgbClr val="C77DFF"/>
            </a:solidFill>
            <a:prstDash val="solid"/>
          </a:ln>
        </p:spPr>
        <p:txBody>
          <a:bodyPr/>
          <a:lstStyle/>
          <a:p>
            <a:endParaRPr lang="en-US"/>
          </a:p>
        </p:txBody>
      </p:sp>
      <p:sp>
        <p:nvSpPr>
          <p:cNvPr id="16" name="Text 14"/>
          <p:cNvSpPr/>
          <p:nvPr/>
        </p:nvSpPr>
        <p:spPr>
          <a:xfrm>
            <a:off x="548640" y="3127248"/>
            <a:ext cx="2011680" cy="320040"/>
          </a:xfrm>
          <a:prstGeom prst="rect">
            <a:avLst/>
          </a:prstGeom>
          <a:noFill/>
        </p:spPr>
        <p:txBody>
          <a:bodyPr wrap="square" rtlCol="0" anchor="ctr"/>
          <a:lstStyle/>
          <a:p>
            <a:pPr marL="0" indent="0" algn="l">
              <a:buNone/>
            </a:pPr>
            <a:r>
              <a:rPr lang="en-US" sz="1300" b="1" dirty="0">
                <a:solidFill>
                  <a:srgbClr val="C77DFF"/>
                </a:solidFill>
              </a:rPr>
              <a:t>Axon</a:t>
            </a:r>
            <a:endParaRPr lang="en-US" sz="1300" dirty="0"/>
          </a:p>
        </p:txBody>
      </p:sp>
      <p:sp>
        <p:nvSpPr>
          <p:cNvPr id="17" name="Text 15"/>
          <p:cNvSpPr/>
          <p:nvPr/>
        </p:nvSpPr>
        <p:spPr>
          <a:xfrm>
            <a:off x="548640" y="3419856"/>
            <a:ext cx="4846320" cy="329184"/>
          </a:xfrm>
          <a:prstGeom prst="rect">
            <a:avLst/>
          </a:prstGeom>
          <a:noFill/>
        </p:spPr>
        <p:txBody>
          <a:bodyPr wrap="square" rtlCol="0" anchor="ctr"/>
          <a:lstStyle/>
          <a:p>
            <a:pPr marL="0" indent="0" algn="l">
              <a:buNone/>
            </a:pPr>
            <a:r>
              <a:rPr lang="en-US" sz="1050" dirty="0">
                <a:solidFill>
                  <a:srgbClr val="1E293B"/>
                </a:solidFill>
              </a:rPr>
              <a:t>Long fiber that TRANSMITS the signal to the next neuron — like a cable sending data</a:t>
            </a:r>
            <a:endParaRPr lang="en-US" sz="1050" dirty="0"/>
          </a:p>
        </p:txBody>
      </p:sp>
      <p:sp>
        <p:nvSpPr>
          <p:cNvPr id="18" name="Shape 16"/>
          <p:cNvSpPr/>
          <p:nvPr/>
        </p:nvSpPr>
        <p:spPr>
          <a:xfrm>
            <a:off x="365760" y="3895344"/>
            <a:ext cx="5212080" cy="713232"/>
          </a:xfrm>
          <a:prstGeom prst="rect">
            <a:avLst/>
          </a:prstGeom>
          <a:solidFill>
            <a:srgbClr val="FFFFFF"/>
          </a:solidFill>
          <a:ln w="25400">
            <a:solidFill>
              <a:srgbClr val="E0AAFF"/>
            </a:solidFill>
            <a:prstDash val="solid"/>
          </a:ln>
          <a:effectLst>
            <a:outerShdw blurRad="101600" dist="38100" dir="8100000" algn="bl" rotWithShape="0">
              <a:srgbClr val="000000">
                <a:alpha val="18000"/>
              </a:srgbClr>
            </a:outerShdw>
          </a:effectLst>
        </p:spPr>
        <p:txBody>
          <a:bodyPr/>
          <a:lstStyle/>
          <a:p>
            <a:endParaRPr lang="en-US"/>
          </a:p>
        </p:txBody>
      </p:sp>
      <p:sp>
        <p:nvSpPr>
          <p:cNvPr id="19" name="Shape 17"/>
          <p:cNvSpPr/>
          <p:nvPr/>
        </p:nvSpPr>
        <p:spPr>
          <a:xfrm>
            <a:off x="365760" y="3895344"/>
            <a:ext cx="64008" cy="713232"/>
          </a:xfrm>
          <a:prstGeom prst="rect">
            <a:avLst/>
          </a:prstGeom>
          <a:solidFill>
            <a:srgbClr val="E0AAFF"/>
          </a:solidFill>
          <a:ln w="12700">
            <a:solidFill>
              <a:srgbClr val="E0AAFF"/>
            </a:solidFill>
            <a:prstDash val="solid"/>
          </a:ln>
        </p:spPr>
        <p:txBody>
          <a:bodyPr/>
          <a:lstStyle/>
          <a:p>
            <a:endParaRPr lang="en-US"/>
          </a:p>
        </p:txBody>
      </p:sp>
      <p:sp>
        <p:nvSpPr>
          <p:cNvPr id="20" name="Text 18"/>
          <p:cNvSpPr/>
          <p:nvPr/>
        </p:nvSpPr>
        <p:spPr>
          <a:xfrm>
            <a:off x="548640" y="3913632"/>
            <a:ext cx="2011680" cy="320040"/>
          </a:xfrm>
          <a:prstGeom prst="rect">
            <a:avLst/>
          </a:prstGeom>
          <a:noFill/>
        </p:spPr>
        <p:txBody>
          <a:bodyPr wrap="square" rtlCol="0" anchor="ctr"/>
          <a:lstStyle/>
          <a:p>
            <a:pPr marL="0" indent="0" algn="l">
              <a:buNone/>
            </a:pPr>
            <a:r>
              <a:rPr lang="en-US" sz="1300" b="1" dirty="0">
                <a:solidFill>
                  <a:srgbClr val="E0AAFF"/>
                </a:solidFill>
              </a:rPr>
              <a:t>Synapse</a:t>
            </a:r>
            <a:endParaRPr lang="en-US" sz="1300" dirty="0"/>
          </a:p>
        </p:txBody>
      </p:sp>
      <p:sp>
        <p:nvSpPr>
          <p:cNvPr id="21" name="Text 19"/>
          <p:cNvSpPr/>
          <p:nvPr/>
        </p:nvSpPr>
        <p:spPr>
          <a:xfrm>
            <a:off x="548640" y="4206240"/>
            <a:ext cx="4846320" cy="329184"/>
          </a:xfrm>
          <a:prstGeom prst="rect">
            <a:avLst/>
          </a:prstGeom>
          <a:noFill/>
        </p:spPr>
        <p:txBody>
          <a:bodyPr wrap="square" rtlCol="0" anchor="ctr"/>
          <a:lstStyle/>
          <a:p>
            <a:pPr marL="0" indent="0" algn="l">
              <a:buNone/>
            </a:pPr>
            <a:r>
              <a:rPr lang="en-US" sz="1050" dirty="0">
                <a:solidFill>
                  <a:srgbClr val="1E293B"/>
                </a:solidFill>
              </a:rPr>
              <a:t>The tiny gap between neurons where signals jump across using chemicals (neurotransmitters)</a:t>
            </a:r>
            <a:endParaRPr lang="en-US" sz="1050" dirty="0"/>
          </a:p>
        </p:txBody>
      </p:sp>
      <p:sp>
        <p:nvSpPr>
          <p:cNvPr id="22" name="Shape 20"/>
          <p:cNvSpPr/>
          <p:nvPr/>
        </p:nvSpPr>
        <p:spPr>
          <a:xfrm>
            <a:off x="5760720" y="1051560"/>
            <a:ext cx="3108960" cy="3931920"/>
          </a:xfrm>
          <a:prstGeom prst="rect">
            <a:avLst/>
          </a:prstGeom>
          <a:solidFill>
            <a:srgbClr val="7B2FBE">
              <a:alpha val="10000"/>
            </a:srgbClr>
          </a:solidFill>
          <a:ln w="12700">
            <a:solidFill>
              <a:srgbClr val="7B2FBE"/>
            </a:solidFill>
            <a:prstDash val="solid"/>
          </a:ln>
        </p:spPr>
        <p:txBody>
          <a:bodyPr/>
          <a:lstStyle/>
          <a:p>
            <a:endParaRPr lang="en-US" dirty="0"/>
          </a:p>
        </p:txBody>
      </p:sp>
      <p:sp>
        <p:nvSpPr>
          <p:cNvPr id="23" name="Text 21"/>
          <p:cNvSpPr/>
          <p:nvPr/>
        </p:nvSpPr>
        <p:spPr>
          <a:xfrm>
            <a:off x="5852160" y="1143000"/>
            <a:ext cx="2926080" cy="365760"/>
          </a:xfrm>
          <a:prstGeom prst="rect">
            <a:avLst/>
          </a:prstGeom>
          <a:noFill/>
        </p:spPr>
        <p:txBody>
          <a:bodyPr wrap="square" rtlCol="0" anchor="ctr"/>
          <a:lstStyle/>
          <a:p>
            <a:pPr marL="0" indent="0" algn="ctr">
              <a:buNone/>
            </a:pPr>
            <a:r>
              <a:rPr lang="en-US" sz="1300" b="1" dirty="0">
                <a:solidFill>
                  <a:srgbClr val="7B2FBE"/>
                </a:solidFill>
              </a:rPr>
              <a:t>How It Works:</a:t>
            </a:r>
            <a:endParaRPr lang="en-US" sz="1300" dirty="0"/>
          </a:p>
        </p:txBody>
      </p:sp>
      <p:sp>
        <p:nvSpPr>
          <p:cNvPr id="24" name="Shape 22"/>
          <p:cNvSpPr/>
          <p:nvPr/>
        </p:nvSpPr>
        <p:spPr>
          <a:xfrm>
            <a:off x="5852160" y="1600200"/>
            <a:ext cx="347472" cy="347472"/>
          </a:xfrm>
          <a:prstGeom prst="ellipse">
            <a:avLst/>
          </a:prstGeom>
          <a:solidFill>
            <a:srgbClr val="7B2FBE"/>
          </a:solidFill>
          <a:ln w="12700">
            <a:solidFill>
              <a:srgbClr val="7B2FBE"/>
            </a:solidFill>
            <a:prstDash val="solid"/>
          </a:ln>
        </p:spPr>
        <p:txBody>
          <a:bodyPr/>
          <a:lstStyle/>
          <a:p>
            <a:endParaRPr lang="en-US"/>
          </a:p>
        </p:txBody>
      </p:sp>
      <p:sp>
        <p:nvSpPr>
          <p:cNvPr id="25" name="Text 23"/>
          <p:cNvSpPr/>
          <p:nvPr/>
        </p:nvSpPr>
        <p:spPr>
          <a:xfrm>
            <a:off x="5852160" y="1600200"/>
            <a:ext cx="347472" cy="347472"/>
          </a:xfrm>
          <a:prstGeom prst="rect">
            <a:avLst/>
          </a:prstGeom>
          <a:noFill/>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26" name="Text 24"/>
          <p:cNvSpPr/>
          <p:nvPr/>
        </p:nvSpPr>
        <p:spPr>
          <a:xfrm>
            <a:off x="6263640" y="1618488"/>
            <a:ext cx="2377440" cy="365760"/>
          </a:xfrm>
          <a:prstGeom prst="rect">
            <a:avLst/>
          </a:prstGeom>
          <a:noFill/>
        </p:spPr>
        <p:txBody>
          <a:bodyPr wrap="square" rtlCol="0" anchor="ctr"/>
          <a:lstStyle/>
          <a:p>
            <a:pPr marL="0" indent="0" algn="l">
              <a:buNone/>
            </a:pPr>
            <a:r>
              <a:rPr lang="en-US" sz="1050" dirty="0">
                <a:solidFill>
                  <a:schemeClr val="bg1"/>
                </a:solidFill>
              </a:rPr>
              <a:t>Signal arrives at dendrites</a:t>
            </a:r>
          </a:p>
        </p:txBody>
      </p:sp>
      <p:sp>
        <p:nvSpPr>
          <p:cNvPr id="27" name="Shape 25"/>
          <p:cNvSpPr/>
          <p:nvPr/>
        </p:nvSpPr>
        <p:spPr>
          <a:xfrm>
            <a:off x="6025896" y="1947672"/>
            <a:ext cx="0" cy="274320"/>
          </a:xfrm>
          <a:prstGeom prst="line">
            <a:avLst/>
          </a:prstGeom>
          <a:noFill/>
          <a:ln w="12700">
            <a:solidFill>
              <a:srgbClr val="7B2FBE">
                <a:alpha val="60000"/>
              </a:srgbClr>
            </a:solidFill>
            <a:prstDash val="solid"/>
          </a:ln>
        </p:spPr>
        <p:txBody>
          <a:bodyPr/>
          <a:lstStyle/>
          <a:p>
            <a:endParaRPr lang="en-US"/>
          </a:p>
        </p:txBody>
      </p:sp>
      <p:sp>
        <p:nvSpPr>
          <p:cNvPr id="28" name="Shape 26"/>
          <p:cNvSpPr/>
          <p:nvPr/>
        </p:nvSpPr>
        <p:spPr>
          <a:xfrm>
            <a:off x="5852160" y="2221992"/>
            <a:ext cx="347472" cy="347472"/>
          </a:xfrm>
          <a:prstGeom prst="ellipse">
            <a:avLst/>
          </a:prstGeom>
          <a:solidFill>
            <a:srgbClr val="7B2FBE"/>
          </a:solidFill>
          <a:ln w="12700">
            <a:solidFill>
              <a:srgbClr val="7B2FBE"/>
            </a:solidFill>
            <a:prstDash val="solid"/>
          </a:ln>
        </p:spPr>
        <p:txBody>
          <a:bodyPr/>
          <a:lstStyle/>
          <a:p>
            <a:endParaRPr lang="en-US"/>
          </a:p>
        </p:txBody>
      </p:sp>
      <p:sp>
        <p:nvSpPr>
          <p:cNvPr id="29" name="Text 27"/>
          <p:cNvSpPr/>
          <p:nvPr/>
        </p:nvSpPr>
        <p:spPr>
          <a:xfrm>
            <a:off x="5852160" y="2221992"/>
            <a:ext cx="347472" cy="347472"/>
          </a:xfrm>
          <a:prstGeom prst="rect">
            <a:avLst/>
          </a:prstGeom>
          <a:noFill/>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30" name="Text 28"/>
          <p:cNvSpPr/>
          <p:nvPr/>
        </p:nvSpPr>
        <p:spPr>
          <a:xfrm>
            <a:off x="6263640" y="2240280"/>
            <a:ext cx="2377440" cy="365760"/>
          </a:xfrm>
          <a:prstGeom prst="rect">
            <a:avLst/>
          </a:prstGeom>
          <a:noFill/>
        </p:spPr>
        <p:txBody>
          <a:bodyPr wrap="square" rtlCol="0" anchor="ctr"/>
          <a:lstStyle/>
          <a:p>
            <a:pPr marL="0" indent="0" algn="l">
              <a:buNone/>
            </a:pPr>
            <a:r>
              <a:rPr lang="en-US" sz="1050" dirty="0">
                <a:solidFill>
                  <a:schemeClr val="bg1"/>
                </a:solidFill>
              </a:rPr>
              <a:t>Soma integrates all inputs</a:t>
            </a:r>
          </a:p>
        </p:txBody>
      </p:sp>
      <p:sp>
        <p:nvSpPr>
          <p:cNvPr id="31" name="Shape 29"/>
          <p:cNvSpPr/>
          <p:nvPr/>
        </p:nvSpPr>
        <p:spPr>
          <a:xfrm>
            <a:off x="6025896" y="2569464"/>
            <a:ext cx="0" cy="274320"/>
          </a:xfrm>
          <a:prstGeom prst="line">
            <a:avLst/>
          </a:prstGeom>
          <a:noFill/>
          <a:ln w="12700">
            <a:solidFill>
              <a:srgbClr val="7B2FBE">
                <a:alpha val="60000"/>
              </a:srgbClr>
            </a:solidFill>
            <a:prstDash val="solid"/>
          </a:ln>
        </p:spPr>
        <p:txBody>
          <a:bodyPr/>
          <a:lstStyle/>
          <a:p>
            <a:endParaRPr lang="en-US"/>
          </a:p>
        </p:txBody>
      </p:sp>
      <p:sp>
        <p:nvSpPr>
          <p:cNvPr id="32" name="Shape 30"/>
          <p:cNvSpPr/>
          <p:nvPr/>
        </p:nvSpPr>
        <p:spPr>
          <a:xfrm>
            <a:off x="5852160" y="2843784"/>
            <a:ext cx="347472" cy="347472"/>
          </a:xfrm>
          <a:prstGeom prst="ellipse">
            <a:avLst/>
          </a:prstGeom>
          <a:solidFill>
            <a:srgbClr val="7B2FBE"/>
          </a:solidFill>
          <a:ln w="12700">
            <a:solidFill>
              <a:srgbClr val="7B2FBE"/>
            </a:solidFill>
            <a:prstDash val="solid"/>
          </a:ln>
        </p:spPr>
        <p:txBody>
          <a:bodyPr/>
          <a:lstStyle/>
          <a:p>
            <a:endParaRPr lang="en-US"/>
          </a:p>
        </p:txBody>
      </p:sp>
      <p:sp>
        <p:nvSpPr>
          <p:cNvPr id="33" name="Text 31"/>
          <p:cNvSpPr/>
          <p:nvPr/>
        </p:nvSpPr>
        <p:spPr>
          <a:xfrm>
            <a:off x="5852160" y="2843784"/>
            <a:ext cx="347472" cy="347472"/>
          </a:xfrm>
          <a:prstGeom prst="rect">
            <a:avLst/>
          </a:prstGeom>
          <a:noFill/>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34" name="Text 32"/>
          <p:cNvSpPr/>
          <p:nvPr/>
        </p:nvSpPr>
        <p:spPr>
          <a:xfrm>
            <a:off x="6263640" y="2862072"/>
            <a:ext cx="2377440" cy="365760"/>
          </a:xfrm>
          <a:prstGeom prst="rect">
            <a:avLst/>
          </a:prstGeom>
          <a:noFill/>
        </p:spPr>
        <p:txBody>
          <a:bodyPr wrap="square" rtlCol="0" anchor="ctr"/>
          <a:lstStyle/>
          <a:p>
            <a:pPr marL="0" indent="0" algn="l">
              <a:buNone/>
            </a:pPr>
            <a:r>
              <a:rPr lang="en-US" sz="1050" dirty="0">
                <a:solidFill>
                  <a:schemeClr val="bg1"/>
                </a:solidFill>
              </a:rPr>
              <a:t>If threshold is met → fires!</a:t>
            </a:r>
          </a:p>
        </p:txBody>
      </p:sp>
      <p:sp>
        <p:nvSpPr>
          <p:cNvPr id="35" name="Shape 33"/>
          <p:cNvSpPr/>
          <p:nvPr/>
        </p:nvSpPr>
        <p:spPr>
          <a:xfrm>
            <a:off x="6025896" y="3191256"/>
            <a:ext cx="0" cy="274320"/>
          </a:xfrm>
          <a:prstGeom prst="line">
            <a:avLst/>
          </a:prstGeom>
          <a:noFill/>
          <a:ln w="12700">
            <a:solidFill>
              <a:srgbClr val="7B2FBE">
                <a:alpha val="60000"/>
              </a:srgbClr>
            </a:solidFill>
            <a:prstDash val="solid"/>
          </a:ln>
        </p:spPr>
        <p:txBody>
          <a:bodyPr/>
          <a:lstStyle/>
          <a:p>
            <a:endParaRPr lang="en-US"/>
          </a:p>
        </p:txBody>
      </p:sp>
      <p:sp>
        <p:nvSpPr>
          <p:cNvPr id="36" name="Shape 34"/>
          <p:cNvSpPr/>
          <p:nvPr/>
        </p:nvSpPr>
        <p:spPr>
          <a:xfrm>
            <a:off x="5852160" y="3465576"/>
            <a:ext cx="347472" cy="347472"/>
          </a:xfrm>
          <a:prstGeom prst="ellipse">
            <a:avLst/>
          </a:prstGeom>
          <a:solidFill>
            <a:srgbClr val="7B2FBE"/>
          </a:solidFill>
          <a:ln w="12700">
            <a:solidFill>
              <a:srgbClr val="7B2FBE"/>
            </a:solidFill>
            <a:prstDash val="solid"/>
          </a:ln>
        </p:spPr>
        <p:txBody>
          <a:bodyPr/>
          <a:lstStyle/>
          <a:p>
            <a:endParaRPr lang="en-US"/>
          </a:p>
        </p:txBody>
      </p:sp>
      <p:sp>
        <p:nvSpPr>
          <p:cNvPr id="37" name="Text 35"/>
          <p:cNvSpPr/>
          <p:nvPr/>
        </p:nvSpPr>
        <p:spPr>
          <a:xfrm>
            <a:off x="5852160" y="3465576"/>
            <a:ext cx="347472" cy="347472"/>
          </a:xfrm>
          <a:prstGeom prst="rect">
            <a:avLst/>
          </a:prstGeom>
          <a:noFill/>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38" name="Text 36"/>
          <p:cNvSpPr/>
          <p:nvPr/>
        </p:nvSpPr>
        <p:spPr>
          <a:xfrm>
            <a:off x="6263640" y="3483864"/>
            <a:ext cx="2377440" cy="365760"/>
          </a:xfrm>
          <a:prstGeom prst="rect">
            <a:avLst/>
          </a:prstGeom>
          <a:noFill/>
        </p:spPr>
        <p:txBody>
          <a:bodyPr wrap="square" rtlCol="0" anchor="ctr"/>
          <a:lstStyle/>
          <a:p>
            <a:pPr marL="0" indent="0" algn="l">
              <a:buNone/>
            </a:pPr>
            <a:r>
              <a:rPr lang="en-US" sz="1050" dirty="0">
                <a:solidFill>
                  <a:schemeClr val="bg1"/>
                </a:solidFill>
              </a:rPr>
              <a:t>Signal travels down axon</a:t>
            </a:r>
          </a:p>
        </p:txBody>
      </p:sp>
      <p:sp>
        <p:nvSpPr>
          <p:cNvPr id="39" name="Shape 37"/>
          <p:cNvSpPr/>
          <p:nvPr/>
        </p:nvSpPr>
        <p:spPr>
          <a:xfrm>
            <a:off x="6025896" y="3813048"/>
            <a:ext cx="0" cy="274320"/>
          </a:xfrm>
          <a:prstGeom prst="line">
            <a:avLst/>
          </a:prstGeom>
          <a:noFill/>
          <a:ln w="12700">
            <a:solidFill>
              <a:srgbClr val="7B2FBE">
                <a:alpha val="60000"/>
              </a:srgbClr>
            </a:solidFill>
            <a:prstDash val="solid"/>
          </a:ln>
        </p:spPr>
        <p:txBody>
          <a:bodyPr/>
          <a:lstStyle/>
          <a:p>
            <a:endParaRPr lang="en-US"/>
          </a:p>
        </p:txBody>
      </p:sp>
      <p:sp>
        <p:nvSpPr>
          <p:cNvPr id="40" name="Shape 38"/>
          <p:cNvSpPr/>
          <p:nvPr/>
        </p:nvSpPr>
        <p:spPr>
          <a:xfrm>
            <a:off x="5852160" y="4087368"/>
            <a:ext cx="347472" cy="347472"/>
          </a:xfrm>
          <a:prstGeom prst="ellipse">
            <a:avLst/>
          </a:prstGeom>
          <a:solidFill>
            <a:srgbClr val="7B2FBE"/>
          </a:solidFill>
          <a:ln w="12700">
            <a:solidFill>
              <a:srgbClr val="7B2FBE"/>
            </a:solidFill>
            <a:prstDash val="solid"/>
          </a:ln>
        </p:spPr>
        <p:txBody>
          <a:bodyPr/>
          <a:lstStyle/>
          <a:p>
            <a:endParaRPr lang="en-US"/>
          </a:p>
        </p:txBody>
      </p:sp>
      <p:sp>
        <p:nvSpPr>
          <p:cNvPr id="41" name="Text 39"/>
          <p:cNvSpPr/>
          <p:nvPr/>
        </p:nvSpPr>
        <p:spPr>
          <a:xfrm>
            <a:off x="5852160" y="4087368"/>
            <a:ext cx="347472" cy="347472"/>
          </a:xfrm>
          <a:prstGeom prst="rect">
            <a:avLst/>
          </a:prstGeom>
          <a:noFill/>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42" name="Text 40"/>
          <p:cNvSpPr/>
          <p:nvPr/>
        </p:nvSpPr>
        <p:spPr>
          <a:xfrm>
            <a:off x="6263640" y="4105656"/>
            <a:ext cx="2377440" cy="365760"/>
          </a:xfrm>
          <a:prstGeom prst="rect">
            <a:avLst/>
          </a:prstGeom>
          <a:noFill/>
        </p:spPr>
        <p:txBody>
          <a:bodyPr wrap="square" rtlCol="0" anchor="ctr"/>
          <a:lstStyle/>
          <a:p>
            <a:pPr marL="0" indent="0" algn="l">
              <a:buNone/>
            </a:pPr>
            <a:r>
              <a:rPr lang="en-US" sz="1050" dirty="0">
                <a:solidFill>
                  <a:schemeClr val="bg1"/>
                </a:solidFill>
              </a:rPr>
              <a:t>Crosses synapse to next neuron</a:t>
            </a:r>
          </a:p>
        </p:txBody>
      </p:sp>
      <p:sp>
        <p:nvSpPr>
          <p:cNvPr id="43" name="Text 41"/>
          <p:cNvSpPr/>
          <p:nvPr/>
        </p:nvSpPr>
        <p:spPr>
          <a:xfrm>
            <a:off x="5760720" y="4572000"/>
            <a:ext cx="3108960" cy="320040"/>
          </a:xfrm>
          <a:prstGeom prst="rect">
            <a:avLst/>
          </a:prstGeom>
          <a:noFill/>
        </p:spPr>
        <p:txBody>
          <a:bodyPr wrap="square" rtlCol="0" anchor="ctr"/>
          <a:lstStyle/>
          <a:p>
            <a:pPr marL="0" indent="0" algn="ctr">
              <a:buNone/>
            </a:pPr>
            <a:r>
              <a:rPr lang="en-US" sz="1000" b="1" i="1" dirty="0">
                <a:solidFill>
                  <a:srgbClr val="7B2FBE"/>
                </a:solidFill>
              </a:rPr>
              <a:t>⚡ 86 billion neurons in the human brain!</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96C7"/>
          </a:solidFill>
          <a:ln w="12700">
            <a:solidFill>
              <a:srgbClr val="0096C7"/>
            </a:solidFill>
            <a:prstDash val="solid"/>
          </a:ln>
        </p:spPr>
        <p:txBody>
          <a:bodyPr/>
          <a:lstStyle/>
          <a:p>
            <a:endParaRPr lang="en-US"/>
          </a:p>
        </p:txBody>
      </p:sp>
      <p:sp>
        <p:nvSpPr>
          <p:cNvPr id="3" name="Text 1"/>
          <p:cNvSpPr/>
          <p:nvPr/>
        </p:nvSpPr>
        <p:spPr>
          <a:xfrm>
            <a:off x="365760" y="0"/>
            <a:ext cx="8412480" cy="960120"/>
          </a:xfrm>
          <a:prstGeom prst="rect">
            <a:avLst/>
          </a:prstGeom>
          <a:noFill/>
        </p:spPr>
        <p:txBody>
          <a:bodyPr wrap="square" rtlCol="0" anchor="ctr"/>
          <a:lstStyle/>
          <a:p>
            <a:pPr marL="0" indent="0" algn="l">
              <a:buNone/>
            </a:pPr>
            <a:r>
              <a:rPr lang="en-US" sz="2400" b="1" dirty="0">
                <a:solidFill>
                  <a:srgbClr val="FFFFFF"/>
                </a:solidFill>
              </a:rPr>
              <a:t>Artificial Neural Network (ANN) — Structure</a:t>
            </a:r>
            <a:endParaRPr lang="en-US" sz="2400" dirty="0"/>
          </a:p>
        </p:txBody>
      </p:sp>
      <p:sp>
        <p:nvSpPr>
          <p:cNvPr id="4" name="Shape 2"/>
          <p:cNvSpPr/>
          <p:nvPr/>
        </p:nvSpPr>
        <p:spPr>
          <a:xfrm>
            <a:off x="1234440" y="1289304"/>
            <a:ext cx="2194560" cy="182880"/>
          </a:xfrm>
          <a:prstGeom prst="line">
            <a:avLst/>
          </a:prstGeom>
          <a:noFill/>
          <a:ln w="9525">
            <a:solidFill>
              <a:srgbClr val="00B4D8">
                <a:alpha val="25000"/>
              </a:srgbClr>
            </a:solidFill>
            <a:prstDash val="solid"/>
          </a:ln>
        </p:spPr>
        <p:txBody>
          <a:bodyPr/>
          <a:lstStyle/>
          <a:p>
            <a:endParaRPr lang="en-US"/>
          </a:p>
        </p:txBody>
      </p:sp>
      <p:sp>
        <p:nvSpPr>
          <p:cNvPr id="5" name="Shape 3"/>
          <p:cNvSpPr/>
          <p:nvPr/>
        </p:nvSpPr>
        <p:spPr>
          <a:xfrm>
            <a:off x="1234440" y="1472184"/>
            <a:ext cx="2194560" cy="365760"/>
          </a:xfrm>
          <a:prstGeom prst="line">
            <a:avLst/>
          </a:prstGeom>
          <a:noFill/>
          <a:ln w="9525">
            <a:solidFill>
              <a:srgbClr val="00B4D8">
                <a:alpha val="25000"/>
              </a:srgbClr>
            </a:solidFill>
            <a:prstDash val="solid"/>
          </a:ln>
        </p:spPr>
        <p:txBody>
          <a:bodyPr/>
          <a:lstStyle/>
          <a:p>
            <a:endParaRPr lang="en-US"/>
          </a:p>
        </p:txBody>
      </p:sp>
      <p:sp>
        <p:nvSpPr>
          <p:cNvPr id="6" name="Shape 4"/>
          <p:cNvSpPr/>
          <p:nvPr/>
        </p:nvSpPr>
        <p:spPr>
          <a:xfrm>
            <a:off x="1234440" y="1472184"/>
            <a:ext cx="2194560" cy="914400"/>
          </a:xfrm>
          <a:prstGeom prst="line">
            <a:avLst/>
          </a:prstGeom>
          <a:noFill/>
          <a:ln w="9525">
            <a:solidFill>
              <a:srgbClr val="00B4D8">
                <a:alpha val="25000"/>
              </a:srgbClr>
            </a:solidFill>
            <a:prstDash val="solid"/>
          </a:ln>
        </p:spPr>
        <p:txBody>
          <a:bodyPr/>
          <a:lstStyle/>
          <a:p>
            <a:endParaRPr lang="en-US"/>
          </a:p>
        </p:txBody>
      </p:sp>
      <p:sp>
        <p:nvSpPr>
          <p:cNvPr id="7" name="Shape 5"/>
          <p:cNvSpPr/>
          <p:nvPr/>
        </p:nvSpPr>
        <p:spPr>
          <a:xfrm>
            <a:off x="1234440" y="1472184"/>
            <a:ext cx="2194560" cy="1463040"/>
          </a:xfrm>
          <a:prstGeom prst="line">
            <a:avLst/>
          </a:prstGeom>
          <a:noFill/>
          <a:ln w="9525">
            <a:solidFill>
              <a:srgbClr val="00B4D8">
                <a:alpha val="25000"/>
              </a:srgbClr>
            </a:solidFill>
            <a:prstDash val="solid"/>
          </a:ln>
        </p:spPr>
        <p:txBody>
          <a:bodyPr/>
          <a:lstStyle/>
          <a:p>
            <a:endParaRPr lang="en-US"/>
          </a:p>
        </p:txBody>
      </p:sp>
      <p:sp>
        <p:nvSpPr>
          <p:cNvPr id="8" name="Shape 6"/>
          <p:cNvSpPr/>
          <p:nvPr/>
        </p:nvSpPr>
        <p:spPr>
          <a:xfrm>
            <a:off x="1234440" y="1289304"/>
            <a:ext cx="2194560" cy="822960"/>
          </a:xfrm>
          <a:prstGeom prst="line">
            <a:avLst/>
          </a:prstGeom>
          <a:noFill/>
          <a:ln w="9525">
            <a:solidFill>
              <a:srgbClr val="00B4D8">
                <a:alpha val="25000"/>
              </a:srgbClr>
            </a:solidFill>
            <a:prstDash val="solid"/>
          </a:ln>
        </p:spPr>
        <p:txBody>
          <a:bodyPr/>
          <a:lstStyle/>
          <a:p>
            <a:endParaRPr lang="en-US"/>
          </a:p>
        </p:txBody>
      </p:sp>
      <p:sp>
        <p:nvSpPr>
          <p:cNvPr id="9" name="Shape 7"/>
          <p:cNvSpPr/>
          <p:nvPr/>
        </p:nvSpPr>
        <p:spPr>
          <a:xfrm>
            <a:off x="1234440" y="1837944"/>
            <a:ext cx="2194560" cy="274320"/>
          </a:xfrm>
          <a:prstGeom prst="line">
            <a:avLst/>
          </a:prstGeom>
          <a:noFill/>
          <a:ln w="9525">
            <a:solidFill>
              <a:srgbClr val="00B4D8">
                <a:alpha val="25000"/>
              </a:srgbClr>
            </a:solidFill>
            <a:prstDash val="solid"/>
          </a:ln>
        </p:spPr>
        <p:txBody>
          <a:bodyPr/>
          <a:lstStyle/>
          <a:p>
            <a:endParaRPr lang="en-US"/>
          </a:p>
        </p:txBody>
      </p:sp>
      <p:sp>
        <p:nvSpPr>
          <p:cNvPr id="10" name="Shape 8"/>
          <p:cNvSpPr/>
          <p:nvPr/>
        </p:nvSpPr>
        <p:spPr>
          <a:xfrm>
            <a:off x="1234440" y="2112264"/>
            <a:ext cx="2194560" cy="274320"/>
          </a:xfrm>
          <a:prstGeom prst="line">
            <a:avLst/>
          </a:prstGeom>
          <a:noFill/>
          <a:ln w="9525">
            <a:solidFill>
              <a:srgbClr val="00B4D8">
                <a:alpha val="25000"/>
              </a:srgbClr>
            </a:solidFill>
            <a:prstDash val="solid"/>
          </a:ln>
        </p:spPr>
        <p:txBody>
          <a:bodyPr/>
          <a:lstStyle/>
          <a:p>
            <a:endParaRPr lang="en-US"/>
          </a:p>
        </p:txBody>
      </p:sp>
      <p:sp>
        <p:nvSpPr>
          <p:cNvPr id="11" name="Shape 9"/>
          <p:cNvSpPr/>
          <p:nvPr/>
        </p:nvSpPr>
        <p:spPr>
          <a:xfrm>
            <a:off x="1234440" y="2112264"/>
            <a:ext cx="2194560" cy="822960"/>
          </a:xfrm>
          <a:prstGeom prst="line">
            <a:avLst/>
          </a:prstGeom>
          <a:noFill/>
          <a:ln w="9525">
            <a:solidFill>
              <a:srgbClr val="00B4D8">
                <a:alpha val="25000"/>
              </a:srgbClr>
            </a:solidFill>
            <a:prstDash val="solid"/>
          </a:ln>
        </p:spPr>
        <p:txBody>
          <a:bodyPr/>
          <a:lstStyle/>
          <a:p>
            <a:endParaRPr lang="en-US"/>
          </a:p>
        </p:txBody>
      </p:sp>
      <p:sp>
        <p:nvSpPr>
          <p:cNvPr id="12" name="Shape 10"/>
          <p:cNvSpPr/>
          <p:nvPr/>
        </p:nvSpPr>
        <p:spPr>
          <a:xfrm>
            <a:off x="1234440" y="1289304"/>
            <a:ext cx="2194560" cy="1463040"/>
          </a:xfrm>
          <a:prstGeom prst="line">
            <a:avLst/>
          </a:prstGeom>
          <a:noFill/>
          <a:ln w="9525">
            <a:solidFill>
              <a:srgbClr val="00B4D8">
                <a:alpha val="25000"/>
              </a:srgbClr>
            </a:solidFill>
            <a:prstDash val="solid"/>
          </a:ln>
        </p:spPr>
        <p:txBody>
          <a:bodyPr/>
          <a:lstStyle/>
          <a:p>
            <a:endParaRPr lang="en-US"/>
          </a:p>
        </p:txBody>
      </p:sp>
      <p:sp>
        <p:nvSpPr>
          <p:cNvPr id="13" name="Shape 11"/>
          <p:cNvSpPr/>
          <p:nvPr/>
        </p:nvSpPr>
        <p:spPr>
          <a:xfrm>
            <a:off x="1234440" y="1837944"/>
            <a:ext cx="2194560" cy="914400"/>
          </a:xfrm>
          <a:prstGeom prst="line">
            <a:avLst/>
          </a:prstGeom>
          <a:noFill/>
          <a:ln w="9525">
            <a:solidFill>
              <a:srgbClr val="00B4D8">
                <a:alpha val="25000"/>
              </a:srgbClr>
            </a:solidFill>
            <a:prstDash val="solid"/>
          </a:ln>
        </p:spPr>
        <p:txBody>
          <a:bodyPr/>
          <a:lstStyle/>
          <a:p>
            <a:endParaRPr lang="en-US"/>
          </a:p>
        </p:txBody>
      </p:sp>
      <p:sp>
        <p:nvSpPr>
          <p:cNvPr id="14" name="Shape 12"/>
          <p:cNvSpPr/>
          <p:nvPr/>
        </p:nvSpPr>
        <p:spPr>
          <a:xfrm>
            <a:off x="1234440" y="2386584"/>
            <a:ext cx="2194560" cy="365760"/>
          </a:xfrm>
          <a:prstGeom prst="line">
            <a:avLst/>
          </a:prstGeom>
          <a:noFill/>
          <a:ln w="9525">
            <a:solidFill>
              <a:srgbClr val="00B4D8">
                <a:alpha val="25000"/>
              </a:srgbClr>
            </a:solidFill>
            <a:prstDash val="solid"/>
          </a:ln>
        </p:spPr>
        <p:txBody>
          <a:bodyPr/>
          <a:lstStyle/>
          <a:p>
            <a:endParaRPr lang="en-US"/>
          </a:p>
        </p:txBody>
      </p:sp>
      <p:sp>
        <p:nvSpPr>
          <p:cNvPr id="15" name="Shape 13"/>
          <p:cNvSpPr/>
          <p:nvPr/>
        </p:nvSpPr>
        <p:spPr>
          <a:xfrm>
            <a:off x="1234440" y="2752344"/>
            <a:ext cx="2194560" cy="182880"/>
          </a:xfrm>
          <a:prstGeom prst="line">
            <a:avLst/>
          </a:prstGeom>
          <a:noFill/>
          <a:ln w="9525">
            <a:solidFill>
              <a:srgbClr val="00B4D8">
                <a:alpha val="25000"/>
              </a:srgbClr>
            </a:solidFill>
            <a:prstDash val="solid"/>
          </a:ln>
        </p:spPr>
        <p:txBody>
          <a:bodyPr/>
          <a:lstStyle/>
          <a:p>
            <a:endParaRPr lang="en-US"/>
          </a:p>
        </p:txBody>
      </p:sp>
      <p:sp>
        <p:nvSpPr>
          <p:cNvPr id="16" name="Shape 14"/>
          <p:cNvSpPr/>
          <p:nvPr/>
        </p:nvSpPr>
        <p:spPr>
          <a:xfrm>
            <a:off x="4251960" y="1289304"/>
            <a:ext cx="2194560" cy="457200"/>
          </a:xfrm>
          <a:prstGeom prst="line">
            <a:avLst/>
          </a:prstGeom>
          <a:noFill/>
          <a:ln w="9525">
            <a:solidFill>
              <a:srgbClr val="06D6A0">
                <a:alpha val="30000"/>
              </a:srgbClr>
            </a:solidFill>
            <a:prstDash val="solid"/>
          </a:ln>
        </p:spPr>
        <p:txBody>
          <a:bodyPr/>
          <a:lstStyle/>
          <a:p>
            <a:endParaRPr lang="en-US"/>
          </a:p>
        </p:txBody>
      </p:sp>
      <p:sp>
        <p:nvSpPr>
          <p:cNvPr id="17" name="Shape 15"/>
          <p:cNvSpPr/>
          <p:nvPr/>
        </p:nvSpPr>
        <p:spPr>
          <a:xfrm>
            <a:off x="4251960" y="1289304"/>
            <a:ext cx="2194560" cy="1188720"/>
          </a:xfrm>
          <a:prstGeom prst="line">
            <a:avLst/>
          </a:prstGeom>
          <a:noFill/>
          <a:ln w="9525">
            <a:solidFill>
              <a:srgbClr val="06D6A0">
                <a:alpha val="30000"/>
              </a:srgbClr>
            </a:solidFill>
            <a:prstDash val="solid"/>
          </a:ln>
        </p:spPr>
        <p:txBody>
          <a:bodyPr/>
          <a:lstStyle/>
          <a:p>
            <a:endParaRPr lang="en-US"/>
          </a:p>
        </p:txBody>
      </p:sp>
      <p:sp>
        <p:nvSpPr>
          <p:cNvPr id="18" name="Shape 16"/>
          <p:cNvSpPr/>
          <p:nvPr/>
        </p:nvSpPr>
        <p:spPr>
          <a:xfrm>
            <a:off x="4251960" y="1746504"/>
            <a:ext cx="2194560" cy="91440"/>
          </a:xfrm>
          <a:prstGeom prst="line">
            <a:avLst/>
          </a:prstGeom>
          <a:noFill/>
          <a:ln w="9525">
            <a:solidFill>
              <a:srgbClr val="06D6A0">
                <a:alpha val="30000"/>
              </a:srgbClr>
            </a:solidFill>
            <a:prstDash val="solid"/>
          </a:ln>
        </p:spPr>
        <p:txBody>
          <a:bodyPr/>
          <a:lstStyle/>
          <a:p>
            <a:endParaRPr lang="en-US"/>
          </a:p>
        </p:txBody>
      </p:sp>
      <p:sp>
        <p:nvSpPr>
          <p:cNvPr id="19" name="Shape 17"/>
          <p:cNvSpPr/>
          <p:nvPr/>
        </p:nvSpPr>
        <p:spPr>
          <a:xfrm>
            <a:off x="4251960" y="1837944"/>
            <a:ext cx="2194560" cy="640080"/>
          </a:xfrm>
          <a:prstGeom prst="line">
            <a:avLst/>
          </a:prstGeom>
          <a:noFill/>
          <a:ln w="9525">
            <a:solidFill>
              <a:srgbClr val="06D6A0">
                <a:alpha val="30000"/>
              </a:srgbClr>
            </a:solidFill>
            <a:prstDash val="solid"/>
          </a:ln>
        </p:spPr>
        <p:txBody>
          <a:bodyPr/>
          <a:lstStyle/>
          <a:p>
            <a:endParaRPr lang="en-US"/>
          </a:p>
        </p:txBody>
      </p:sp>
      <p:sp>
        <p:nvSpPr>
          <p:cNvPr id="20" name="Shape 18"/>
          <p:cNvSpPr/>
          <p:nvPr/>
        </p:nvSpPr>
        <p:spPr>
          <a:xfrm>
            <a:off x="4251960" y="1746504"/>
            <a:ext cx="2194560" cy="640080"/>
          </a:xfrm>
          <a:prstGeom prst="line">
            <a:avLst/>
          </a:prstGeom>
          <a:noFill/>
          <a:ln w="9525">
            <a:solidFill>
              <a:srgbClr val="06D6A0">
                <a:alpha val="30000"/>
              </a:srgbClr>
            </a:solidFill>
            <a:prstDash val="solid"/>
          </a:ln>
        </p:spPr>
        <p:txBody>
          <a:bodyPr/>
          <a:lstStyle/>
          <a:p>
            <a:endParaRPr lang="en-US"/>
          </a:p>
        </p:txBody>
      </p:sp>
      <p:sp>
        <p:nvSpPr>
          <p:cNvPr id="21" name="Shape 19"/>
          <p:cNvSpPr/>
          <p:nvPr/>
        </p:nvSpPr>
        <p:spPr>
          <a:xfrm>
            <a:off x="4251960" y="2386584"/>
            <a:ext cx="2194560" cy="91440"/>
          </a:xfrm>
          <a:prstGeom prst="line">
            <a:avLst/>
          </a:prstGeom>
          <a:noFill/>
          <a:ln w="9525">
            <a:solidFill>
              <a:srgbClr val="06D6A0">
                <a:alpha val="30000"/>
              </a:srgbClr>
            </a:solidFill>
            <a:prstDash val="solid"/>
          </a:ln>
        </p:spPr>
        <p:txBody>
          <a:bodyPr/>
          <a:lstStyle/>
          <a:p>
            <a:endParaRPr lang="en-US"/>
          </a:p>
        </p:txBody>
      </p:sp>
      <p:sp>
        <p:nvSpPr>
          <p:cNvPr id="22" name="Shape 20"/>
          <p:cNvSpPr/>
          <p:nvPr/>
        </p:nvSpPr>
        <p:spPr>
          <a:xfrm>
            <a:off x="4251960" y="1746504"/>
            <a:ext cx="2194560" cy="1188720"/>
          </a:xfrm>
          <a:prstGeom prst="line">
            <a:avLst/>
          </a:prstGeom>
          <a:noFill/>
          <a:ln w="9525">
            <a:solidFill>
              <a:srgbClr val="06D6A0">
                <a:alpha val="30000"/>
              </a:srgbClr>
            </a:solidFill>
            <a:prstDash val="solid"/>
          </a:ln>
        </p:spPr>
        <p:txBody>
          <a:bodyPr/>
          <a:lstStyle/>
          <a:p>
            <a:endParaRPr lang="en-US"/>
          </a:p>
        </p:txBody>
      </p:sp>
      <p:sp>
        <p:nvSpPr>
          <p:cNvPr id="23" name="Shape 21"/>
          <p:cNvSpPr/>
          <p:nvPr/>
        </p:nvSpPr>
        <p:spPr>
          <a:xfrm>
            <a:off x="4251960" y="2478024"/>
            <a:ext cx="2194560" cy="457200"/>
          </a:xfrm>
          <a:prstGeom prst="line">
            <a:avLst/>
          </a:prstGeom>
          <a:noFill/>
          <a:ln w="9525">
            <a:solidFill>
              <a:srgbClr val="06D6A0">
                <a:alpha val="30000"/>
              </a:srgbClr>
            </a:solidFill>
            <a:prstDash val="solid"/>
          </a:ln>
        </p:spPr>
        <p:txBody>
          <a:bodyPr/>
          <a:lstStyle/>
          <a:p>
            <a:endParaRPr lang="en-US"/>
          </a:p>
        </p:txBody>
      </p:sp>
      <p:sp>
        <p:nvSpPr>
          <p:cNvPr id="24" name="Shape 22"/>
          <p:cNvSpPr/>
          <p:nvPr/>
        </p:nvSpPr>
        <p:spPr>
          <a:xfrm>
            <a:off x="1005840" y="1371600"/>
            <a:ext cx="457200" cy="457200"/>
          </a:xfrm>
          <a:prstGeom prst="ellipse">
            <a:avLst/>
          </a:prstGeom>
          <a:solidFill>
            <a:srgbClr val="00B4D8"/>
          </a:solidFill>
          <a:ln w="25400">
            <a:solidFill>
              <a:srgbClr val="FFFFFF"/>
            </a:solidFill>
            <a:prstDash val="solid"/>
          </a:ln>
        </p:spPr>
        <p:txBody>
          <a:bodyPr/>
          <a:lstStyle/>
          <a:p>
            <a:endParaRPr lang="en-US"/>
          </a:p>
        </p:txBody>
      </p:sp>
      <p:sp>
        <p:nvSpPr>
          <p:cNvPr id="25" name="Shape 23"/>
          <p:cNvSpPr/>
          <p:nvPr/>
        </p:nvSpPr>
        <p:spPr>
          <a:xfrm>
            <a:off x="1005840" y="2011680"/>
            <a:ext cx="457200" cy="457200"/>
          </a:xfrm>
          <a:prstGeom prst="ellipse">
            <a:avLst/>
          </a:prstGeom>
          <a:solidFill>
            <a:srgbClr val="00B4D8"/>
          </a:solidFill>
          <a:ln w="25400">
            <a:solidFill>
              <a:srgbClr val="FFFFFF"/>
            </a:solidFill>
            <a:prstDash val="solid"/>
          </a:ln>
        </p:spPr>
        <p:txBody>
          <a:bodyPr/>
          <a:lstStyle/>
          <a:p>
            <a:endParaRPr lang="en-US"/>
          </a:p>
        </p:txBody>
      </p:sp>
      <p:sp>
        <p:nvSpPr>
          <p:cNvPr id="26" name="Shape 24"/>
          <p:cNvSpPr/>
          <p:nvPr/>
        </p:nvSpPr>
        <p:spPr>
          <a:xfrm>
            <a:off x="1005840" y="2651760"/>
            <a:ext cx="457200" cy="457200"/>
          </a:xfrm>
          <a:prstGeom prst="ellipse">
            <a:avLst/>
          </a:prstGeom>
          <a:solidFill>
            <a:srgbClr val="00B4D8"/>
          </a:solidFill>
          <a:ln w="25400">
            <a:solidFill>
              <a:srgbClr val="FFFFFF"/>
            </a:solidFill>
            <a:prstDash val="solid"/>
          </a:ln>
        </p:spPr>
        <p:txBody>
          <a:bodyPr/>
          <a:lstStyle/>
          <a:p>
            <a:endParaRPr lang="en-US"/>
          </a:p>
        </p:txBody>
      </p:sp>
      <p:sp>
        <p:nvSpPr>
          <p:cNvPr id="27" name="Shape 25"/>
          <p:cNvSpPr/>
          <p:nvPr/>
        </p:nvSpPr>
        <p:spPr>
          <a:xfrm>
            <a:off x="4023360" y="1188720"/>
            <a:ext cx="457200" cy="457200"/>
          </a:xfrm>
          <a:prstGeom prst="ellipse">
            <a:avLst/>
          </a:prstGeom>
          <a:solidFill>
            <a:srgbClr val="0096C7"/>
          </a:solidFill>
          <a:ln w="25400">
            <a:solidFill>
              <a:srgbClr val="FFFFFF"/>
            </a:solidFill>
            <a:prstDash val="solid"/>
          </a:ln>
        </p:spPr>
        <p:txBody>
          <a:bodyPr/>
          <a:lstStyle/>
          <a:p>
            <a:endParaRPr lang="en-US"/>
          </a:p>
        </p:txBody>
      </p:sp>
      <p:sp>
        <p:nvSpPr>
          <p:cNvPr id="28" name="Shape 26"/>
          <p:cNvSpPr/>
          <p:nvPr/>
        </p:nvSpPr>
        <p:spPr>
          <a:xfrm>
            <a:off x="4023360" y="1737360"/>
            <a:ext cx="457200" cy="457200"/>
          </a:xfrm>
          <a:prstGeom prst="ellipse">
            <a:avLst/>
          </a:prstGeom>
          <a:solidFill>
            <a:srgbClr val="0096C7"/>
          </a:solidFill>
          <a:ln w="25400">
            <a:solidFill>
              <a:srgbClr val="FFFFFF"/>
            </a:solidFill>
            <a:prstDash val="solid"/>
          </a:ln>
        </p:spPr>
        <p:txBody>
          <a:bodyPr/>
          <a:lstStyle/>
          <a:p>
            <a:endParaRPr lang="en-US"/>
          </a:p>
        </p:txBody>
      </p:sp>
      <p:sp>
        <p:nvSpPr>
          <p:cNvPr id="29" name="Shape 27"/>
          <p:cNvSpPr/>
          <p:nvPr/>
        </p:nvSpPr>
        <p:spPr>
          <a:xfrm>
            <a:off x="4023360" y="2286000"/>
            <a:ext cx="457200" cy="457200"/>
          </a:xfrm>
          <a:prstGeom prst="ellipse">
            <a:avLst/>
          </a:prstGeom>
          <a:solidFill>
            <a:srgbClr val="0096C7"/>
          </a:solidFill>
          <a:ln w="25400">
            <a:solidFill>
              <a:srgbClr val="FFFFFF"/>
            </a:solidFill>
            <a:prstDash val="solid"/>
          </a:ln>
        </p:spPr>
        <p:txBody>
          <a:bodyPr/>
          <a:lstStyle/>
          <a:p>
            <a:endParaRPr lang="en-US"/>
          </a:p>
        </p:txBody>
      </p:sp>
      <p:sp>
        <p:nvSpPr>
          <p:cNvPr id="30" name="Shape 28"/>
          <p:cNvSpPr/>
          <p:nvPr/>
        </p:nvSpPr>
        <p:spPr>
          <a:xfrm>
            <a:off x="4023360" y="2834640"/>
            <a:ext cx="457200" cy="457200"/>
          </a:xfrm>
          <a:prstGeom prst="ellipse">
            <a:avLst/>
          </a:prstGeom>
          <a:solidFill>
            <a:srgbClr val="0096C7"/>
          </a:solidFill>
          <a:ln w="25400">
            <a:solidFill>
              <a:srgbClr val="FFFFFF"/>
            </a:solidFill>
            <a:prstDash val="solid"/>
          </a:ln>
        </p:spPr>
        <p:txBody>
          <a:bodyPr/>
          <a:lstStyle/>
          <a:p>
            <a:endParaRPr lang="en-US"/>
          </a:p>
        </p:txBody>
      </p:sp>
      <p:sp>
        <p:nvSpPr>
          <p:cNvPr id="31" name="Shape 29"/>
          <p:cNvSpPr/>
          <p:nvPr/>
        </p:nvSpPr>
        <p:spPr>
          <a:xfrm>
            <a:off x="7040880" y="1645920"/>
            <a:ext cx="457200" cy="457200"/>
          </a:xfrm>
          <a:prstGeom prst="ellipse">
            <a:avLst/>
          </a:prstGeom>
          <a:solidFill>
            <a:srgbClr val="06D6A0"/>
          </a:solidFill>
          <a:ln w="25400">
            <a:solidFill>
              <a:srgbClr val="FFFFFF"/>
            </a:solidFill>
            <a:prstDash val="solid"/>
          </a:ln>
        </p:spPr>
        <p:txBody>
          <a:bodyPr/>
          <a:lstStyle/>
          <a:p>
            <a:endParaRPr lang="en-US"/>
          </a:p>
        </p:txBody>
      </p:sp>
      <p:sp>
        <p:nvSpPr>
          <p:cNvPr id="32" name="Shape 30"/>
          <p:cNvSpPr/>
          <p:nvPr/>
        </p:nvSpPr>
        <p:spPr>
          <a:xfrm>
            <a:off x="7040880" y="2377440"/>
            <a:ext cx="457200" cy="457200"/>
          </a:xfrm>
          <a:prstGeom prst="ellipse">
            <a:avLst/>
          </a:prstGeom>
          <a:solidFill>
            <a:srgbClr val="06D6A0"/>
          </a:solidFill>
          <a:ln w="25400">
            <a:solidFill>
              <a:srgbClr val="FFFFFF"/>
            </a:solidFill>
            <a:prstDash val="solid"/>
          </a:ln>
        </p:spPr>
        <p:txBody>
          <a:bodyPr/>
          <a:lstStyle/>
          <a:p>
            <a:endParaRPr lang="en-US"/>
          </a:p>
        </p:txBody>
      </p:sp>
      <p:sp>
        <p:nvSpPr>
          <p:cNvPr id="33" name="Shape 31"/>
          <p:cNvSpPr/>
          <p:nvPr/>
        </p:nvSpPr>
        <p:spPr>
          <a:xfrm>
            <a:off x="777240" y="3383280"/>
            <a:ext cx="2011680" cy="329184"/>
          </a:xfrm>
          <a:prstGeom prst="rect">
            <a:avLst/>
          </a:prstGeom>
          <a:solidFill>
            <a:srgbClr val="00B4D8">
              <a:alpha val="15000"/>
            </a:srgbClr>
          </a:solidFill>
          <a:ln w="12700">
            <a:solidFill>
              <a:srgbClr val="00B4D8"/>
            </a:solidFill>
            <a:prstDash val="solid"/>
          </a:ln>
        </p:spPr>
        <p:txBody>
          <a:bodyPr/>
          <a:lstStyle/>
          <a:p>
            <a:endParaRPr lang="en-US"/>
          </a:p>
        </p:txBody>
      </p:sp>
      <p:sp>
        <p:nvSpPr>
          <p:cNvPr id="34" name="Text 32"/>
          <p:cNvSpPr/>
          <p:nvPr/>
        </p:nvSpPr>
        <p:spPr>
          <a:xfrm>
            <a:off x="777240" y="3383280"/>
            <a:ext cx="2011680" cy="329184"/>
          </a:xfrm>
          <a:prstGeom prst="rect">
            <a:avLst/>
          </a:prstGeom>
          <a:noFill/>
        </p:spPr>
        <p:txBody>
          <a:bodyPr wrap="square" lIns="0" tIns="0" rIns="0" bIns="0" rtlCol="0" anchor="ctr"/>
          <a:lstStyle/>
          <a:p>
            <a:pPr marL="0" indent="0" algn="ctr">
              <a:buNone/>
            </a:pPr>
            <a:r>
              <a:rPr lang="en-US" sz="950" b="1" dirty="0">
                <a:solidFill>
                  <a:srgbClr val="00B4D8"/>
                </a:solidFill>
              </a:rPr>
              <a:t>INPUT LAYER</a:t>
            </a:r>
            <a:endParaRPr lang="en-US" sz="950" dirty="0"/>
          </a:p>
        </p:txBody>
      </p:sp>
      <p:sp>
        <p:nvSpPr>
          <p:cNvPr id="35" name="Text 33"/>
          <p:cNvSpPr/>
          <p:nvPr/>
        </p:nvSpPr>
        <p:spPr>
          <a:xfrm>
            <a:off x="548640" y="3749040"/>
            <a:ext cx="2468880" cy="640080"/>
          </a:xfrm>
          <a:prstGeom prst="rect">
            <a:avLst/>
          </a:prstGeom>
          <a:noFill/>
        </p:spPr>
        <p:txBody>
          <a:bodyPr wrap="square" rtlCol="0" anchor="ctr"/>
          <a:lstStyle/>
          <a:p>
            <a:pPr marL="0" indent="0" algn="ctr">
              <a:buNone/>
            </a:pPr>
            <a:r>
              <a:rPr lang="en-US" sz="1000" dirty="0">
                <a:solidFill>
                  <a:schemeClr val="bg1"/>
                </a:solidFill>
              </a:rPr>
              <a:t>Receives raw data</a:t>
            </a:r>
          </a:p>
          <a:p>
            <a:pPr marL="0" indent="0" algn="ctr">
              <a:buNone/>
            </a:pPr>
            <a:r>
              <a:rPr lang="en-US" sz="1000" dirty="0">
                <a:solidFill>
                  <a:schemeClr val="bg1"/>
                </a:solidFill>
              </a:rPr>
              <a:t>(pixels, numbers, text)</a:t>
            </a:r>
          </a:p>
        </p:txBody>
      </p:sp>
      <p:sp>
        <p:nvSpPr>
          <p:cNvPr id="36" name="Shape 34"/>
          <p:cNvSpPr/>
          <p:nvPr/>
        </p:nvSpPr>
        <p:spPr>
          <a:xfrm>
            <a:off x="3794760" y="3383280"/>
            <a:ext cx="2011680" cy="329184"/>
          </a:xfrm>
          <a:prstGeom prst="rect">
            <a:avLst/>
          </a:prstGeom>
          <a:solidFill>
            <a:srgbClr val="0096C7">
              <a:alpha val="15000"/>
            </a:srgbClr>
          </a:solidFill>
          <a:ln w="12700">
            <a:solidFill>
              <a:srgbClr val="0096C7"/>
            </a:solidFill>
            <a:prstDash val="solid"/>
          </a:ln>
        </p:spPr>
        <p:txBody>
          <a:bodyPr/>
          <a:lstStyle/>
          <a:p>
            <a:endParaRPr lang="en-US"/>
          </a:p>
        </p:txBody>
      </p:sp>
      <p:sp>
        <p:nvSpPr>
          <p:cNvPr id="37" name="Text 35"/>
          <p:cNvSpPr/>
          <p:nvPr/>
        </p:nvSpPr>
        <p:spPr>
          <a:xfrm>
            <a:off x="3794760" y="3383280"/>
            <a:ext cx="2011680" cy="329184"/>
          </a:xfrm>
          <a:prstGeom prst="rect">
            <a:avLst/>
          </a:prstGeom>
          <a:noFill/>
        </p:spPr>
        <p:txBody>
          <a:bodyPr wrap="square" lIns="0" tIns="0" rIns="0" bIns="0" rtlCol="0" anchor="ctr"/>
          <a:lstStyle/>
          <a:p>
            <a:pPr marL="0" indent="0" algn="ctr">
              <a:buNone/>
            </a:pPr>
            <a:r>
              <a:rPr lang="en-US" sz="950" b="1" dirty="0">
                <a:solidFill>
                  <a:srgbClr val="0096C7"/>
                </a:solidFill>
              </a:rPr>
              <a:t>HIDDEN LAYERS</a:t>
            </a:r>
            <a:endParaRPr lang="en-US" sz="950" dirty="0"/>
          </a:p>
        </p:txBody>
      </p:sp>
      <p:sp>
        <p:nvSpPr>
          <p:cNvPr id="38" name="Text 36"/>
          <p:cNvSpPr/>
          <p:nvPr/>
        </p:nvSpPr>
        <p:spPr>
          <a:xfrm>
            <a:off x="3566160" y="3749040"/>
            <a:ext cx="2468880" cy="640080"/>
          </a:xfrm>
          <a:prstGeom prst="rect">
            <a:avLst/>
          </a:prstGeom>
          <a:noFill/>
        </p:spPr>
        <p:txBody>
          <a:bodyPr wrap="square" rtlCol="0" anchor="ctr"/>
          <a:lstStyle/>
          <a:p>
            <a:pPr marL="0" indent="0" algn="ctr">
              <a:buNone/>
            </a:pPr>
            <a:r>
              <a:rPr lang="en-US" sz="1000" dirty="0">
                <a:solidFill>
                  <a:schemeClr val="bg1"/>
                </a:solidFill>
              </a:rPr>
              <a:t>Learns features &amp;</a:t>
            </a:r>
          </a:p>
          <a:p>
            <a:pPr marL="0" indent="0" algn="ctr">
              <a:buNone/>
            </a:pPr>
            <a:r>
              <a:rPr lang="en-US" sz="1000" dirty="0">
                <a:solidFill>
                  <a:schemeClr val="bg1"/>
                </a:solidFill>
              </a:rPr>
              <a:t>patterns from data</a:t>
            </a:r>
          </a:p>
        </p:txBody>
      </p:sp>
      <p:sp>
        <p:nvSpPr>
          <p:cNvPr id="39" name="Shape 37"/>
          <p:cNvSpPr/>
          <p:nvPr/>
        </p:nvSpPr>
        <p:spPr>
          <a:xfrm>
            <a:off x="6812280" y="3383280"/>
            <a:ext cx="2011680" cy="329184"/>
          </a:xfrm>
          <a:prstGeom prst="rect">
            <a:avLst/>
          </a:prstGeom>
          <a:solidFill>
            <a:srgbClr val="06D6A0">
              <a:alpha val="15000"/>
            </a:srgbClr>
          </a:solidFill>
          <a:ln w="12700">
            <a:solidFill>
              <a:srgbClr val="06D6A0"/>
            </a:solidFill>
            <a:prstDash val="solid"/>
          </a:ln>
        </p:spPr>
        <p:txBody>
          <a:bodyPr/>
          <a:lstStyle/>
          <a:p>
            <a:endParaRPr lang="en-US"/>
          </a:p>
        </p:txBody>
      </p:sp>
      <p:sp>
        <p:nvSpPr>
          <p:cNvPr id="40" name="Text 38"/>
          <p:cNvSpPr/>
          <p:nvPr/>
        </p:nvSpPr>
        <p:spPr>
          <a:xfrm>
            <a:off x="6812280" y="3383280"/>
            <a:ext cx="2011680" cy="329184"/>
          </a:xfrm>
          <a:prstGeom prst="rect">
            <a:avLst/>
          </a:prstGeom>
          <a:noFill/>
        </p:spPr>
        <p:txBody>
          <a:bodyPr wrap="square" lIns="0" tIns="0" rIns="0" bIns="0" rtlCol="0" anchor="ctr"/>
          <a:lstStyle/>
          <a:p>
            <a:pPr marL="0" indent="0" algn="ctr">
              <a:buNone/>
            </a:pPr>
            <a:r>
              <a:rPr lang="en-US" sz="950" b="1" dirty="0">
                <a:solidFill>
                  <a:srgbClr val="06D6A0"/>
                </a:solidFill>
              </a:rPr>
              <a:t>OUTPUT LAYER</a:t>
            </a:r>
            <a:endParaRPr lang="en-US" sz="950" dirty="0"/>
          </a:p>
        </p:txBody>
      </p:sp>
      <p:sp>
        <p:nvSpPr>
          <p:cNvPr id="41" name="Text 39"/>
          <p:cNvSpPr/>
          <p:nvPr/>
        </p:nvSpPr>
        <p:spPr>
          <a:xfrm>
            <a:off x="6583680" y="3749040"/>
            <a:ext cx="2468880" cy="640080"/>
          </a:xfrm>
          <a:prstGeom prst="rect">
            <a:avLst/>
          </a:prstGeom>
          <a:noFill/>
        </p:spPr>
        <p:txBody>
          <a:bodyPr wrap="square" rtlCol="0" anchor="ctr"/>
          <a:lstStyle/>
          <a:p>
            <a:pPr marL="0" indent="0" algn="ctr">
              <a:buNone/>
            </a:pPr>
            <a:r>
              <a:rPr lang="en-US" sz="1000" dirty="0">
                <a:solidFill>
                  <a:schemeClr val="bg1"/>
                </a:solidFill>
              </a:rPr>
              <a:t>Produces final</a:t>
            </a:r>
          </a:p>
          <a:p>
            <a:pPr marL="0" indent="0" algn="ctr">
              <a:buNone/>
            </a:pPr>
            <a:r>
              <a:rPr lang="en-US" sz="1000" dirty="0">
                <a:solidFill>
                  <a:schemeClr val="bg1"/>
                </a:solidFill>
              </a:rPr>
              <a:t>prediction/result</a:t>
            </a:r>
          </a:p>
        </p:txBody>
      </p:sp>
      <p:sp>
        <p:nvSpPr>
          <p:cNvPr id="42" name="Shape 40"/>
          <p:cNvSpPr/>
          <p:nvPr/>
        </p:nvSpPr>
        <p:spPr>
          <a:xfrm>
            <a:off x="1600200" y="2103120"/>
            <a:ext cx="2286000" cy="0"/>
          </a:xfrm>
          <a:prstGeom prst="line">
            <a:avLst/>
          </a:prstGeom>
          <a:noFill/>
          <a:ln w="19050">
            <a:solidFill>
              <a:srgbClr val="94A3B8"/>
            </a:solidFill>
            <a:prstDash val="solid"/>
          </a:ln>
        </p:spPr>
        <p:txBody>
          <a:bodyPr/>
          <a:lstStyle/>
          <a:p>
            <a:endParaRPr lang="en-US"/>
          </a:p>
        </p:txBody>
      </p:sp>
      <p:sp>
        <p:nvSpPr>
          <p:cNvPr id="43" name="Shape 41"/>
          <p:cNvSpPr/>
          <p:nvPr/>
        </p:nvSpPr>
        <p:spPr>
          <a:xfrm>
            <a:off x="4617720" y="2103120"/>
            <a:ext cx="2286000" cy="0"/>
          </a:xfrm>
          <a:prstGeom prst="line">
            <a:avLst/>
          </a:prstGeom>
          <a:noFill/>
          <a:ln w="19050">
            <a:solidFill>
              <a:srgbClr val="94A3B8"/>
            </a:solidFill>
            <a:prstDash val="solid"/>
          </a:ln>
        </p:spPr>
        <p:txBody>
          <a:bodyPr/>
          <a:lstStyle/>
          <a:p>
            <a:endParaRPr lang="en-US"/>
          </a:p>
        </p:txBody>
      </p:sp>
      <p:sp>
        <p:nvSpPr>
          <p:cNvPr id="44" name="Shape 42"/>
          <p:cNvSpPr/>
          <p:nvPr/>
        </p:nvSpPr>
        <p:spPr>
          <a:xfrm>
            <a:off x="274320" y="4526280"/>
            <a:ext cx="8595360" cy="457200"/>
          </a:xfrm>
          <a:prstGeom prst="rect">
            <a:avLst/>
          </a:prstGeom>
          <a:solidFill>
            <a:srgbClr val="0A1628"/>
          </a:solidFill>
          <a:ln w="12700">
            <a:solidFill>
              <a:srgbClr val="0A1628"/>
            </a:solidFill>
            <a:prstDash val="solid"/>
          </a:ln>
        </p:spPr>
        <p:txBody>
          <a:bodyPr/>
          <a:lstStyle/>
          <a:p>
            <a:endParaRPr lang="en-US"/>
          </a:p>
        </p:txBody>
      </p:sp>
      <p:sp>
        <p:nvSpPr>
          <p:cNvPr id="45" name="Text 43"/>
          <p:cNvSpPr/>
          <p:nvPr/>
        </p:nvSpPr>
        <p:spPr>
          <a:xfrm>
            <a:off x="365760" y="4526280"/>
            <a:ext cx="8412480" cy="457200"/>
          </a:xfrm>
          <a:prstGeom prst="rect">
            <a:avLst/>
          </a:prstGeom>
          <a:noFill/>
        </p:spPr>
        <p:txBody>
          <a:bodyPr wrap="square" rtlCol="0" anchor="ctr"/>
          <a:lstStyle/>
          <a:p>
            <a:pPr marL="0" indent="0" algn="l">
              <a:buNone/>
            </a:pPr>
            <a:r>
              <a:rPr lang="en-US" sz="1100" dirty="0">
                <a:solidFill>
                  <a:srgbClr val="00B4D8"/>
                </a:solidFill>
              </a:rPr>
              <a:t>💡  Each connection has a WEIGHT that determines how strongly one neuron influences another — this is where learning happens!</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578485"/>
            <a:ext cx="9144000" cy="3985895"/>
          </a:xfrm>
          <a:prstGeom prst="rect">
            <a:avLst/>
          </a:prstGeom>
        </p:spPr>
      </p:pic>
      <p:sp>
        <p:nvSpPr>
          <p:cNvPr id="4" name="Text Box 3"/>
          <p:cNvSpPr txBox="1"/>
          <p:nvPr/>
        </p:nvSpPr>
        <p:spPr>
          <a:xfrm>
            <a:off x="2582545" y="4859655"/>
            <a:ext cx="3048000" cy="368300"/>
          </a:xfrm>
          <a:prstGeom prst="rect">
            <a:avLst/>
          </a:prstGeom>
          <a:noFill/>
        </p:spPr>
        <p:txBody>
          <a:bodyPr wrap="square" rtlCol="0">
            <a:spAutoFit/>
          </a:bodyPr>
          <a:lstStyle/>
          <a:p>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93B"/>
          </a:solidFill>
          <a:ln w="12700">
            <a:solidFill>
              <a:srgbClr val="1E293B"/>
            </a:solidFill>
            <a:prstDash val="solid"/>
          </a:ln>
        </p:spPr>
        <p:txBody>
          <a:bodyPr/>
          <a:lstStyle/>
          <a:p>
            <a:endParaRPr lang="en-US"/>
          </a:p>
        </p:txBody>
      </p:sp>
      <p:sp>
        <p:nvSpPr>
          <p:cNvPr id="3" name="Text 1"/>
          <p:cNvSpPr/>
          <p:nvPr/>
        </p:nvSpPr>
        <p:spPr>
          <a:xfrm>
            <a:off x="365760" y="0"/>
            <a:ext cx="8412480" cy="960120"/>
          </a:xfrm>
          <a:prstGeom prst="rect">
            <a:avLst/>
          </a:prstGeom>
          <a:noFill/>
        </p:spPr>
        <p:txBody>
          <a:bodyPr wrap="square" rtlCol="0" anchor="ctr"/>
          <a:lstStyle/>
          <a:p>
            <a:pPr marL="0" indent="0" algn="ctr">
              <a:buNone/>
            </a:pPr>
            <a:r>
              <a:rPr lang="en-US" sz="2200" b="1" dirty="0">
                <a:solidFill>
                  <a:srgbClr val="FFFFFF"/>
                </a:solidFill>
              </a:rPr>
              <a:t>🧠 Biological  vs  🤖 Artificial Neural Networks</a:t>
            </a:r>
            <a:endParaRPr lang="en-US" sz="2200" dirty="0"/>
          </a:p>
        </p:txBody>
      </p:sp>
      <p:sp>
        <p:nvSpPr>
          <p:cNvPr id="4" name="Shape 2"/>
          <p:cNvSpPr/>
          <p:nvPr/>
        </p:nvSpPr>
        <p:spPr>
          <a:xfrm>
            <a:off x="274320" y="1005840"/>
            <a:ext cx="2926080" cy="384048"/>
          </a:xfrm>
          <a:prstGeom prst="rect">
            <a:avLst/>
          </a:prstGeom>
          <a:solidFill>
            <a:srgbClr val="0A1628"/>
          </a:solidFill>
          <a:ln w="12700">
            <a:solidFill>
              <a:srgbClr val="0A1628"/>
            </a:solidFill>
            <a:prstDash val="solid"/>
          </a:ln>
        </p:spPr>
        <p:txBody>
          <a:bodyPr/>
          <a:lstStyle/>
          <a:p>
            <a:endParaRPr lang="en-US"/>
          </a:p>
        </p:txBody>
      </p:sp>
      <p:sp>
        <p:nvSpPr>
          <p:cNvPr id="5" name="Text 3"/>
          <p:cNvSpPr/>
          <p:nvPr/>
        </p:nvSpPr>
        <p:spPr>
          <a:xfrm>
            <a:off x="274320" y="1005840"/>
            <a:ext cx="2926080" cy="384048"/>
          </a:xfrm>
          <a:prstGeom prst="rect">
            <a:avLst/>
          </a:prstGeom>
          <a:noFill/>
        </p:spPr>
        <p:txBody>
          <a:bodyPr wrap="square" lIns="0" tIns="0" rIns="0" bIns="0" rtlCol="0" anchor="ctr"/>
          <a:lstStyle/>
          <a:p>
            <a:pPr marL="0" indent="0" algn="ctr">
              <a:buNone/>
            </a:pPr>
            <a:r>
              <a:rPr lang="en-US" sz="1200" b="1" dirty="0">
                <a:solidFill>
                  <a:srgbClr val="FFFFFF"/>
                </a:solidFill>
              </a:rPr>
              <a:t>Feature</a:t>
            </a:r>
            <a:endParaRPr lang="en-US" sz="1200" dirty="0"/>
          </a:p>
        </p:txBody>
      </p:sp>
      <p:sp>
        <p:nvSpPr>
          <p:cNvPr id="6" name="Shape 4"/>
          <p:cNvSpPr/>
          <p:nvPr/>
        </p:nvSpPr>
        <p:spPr>
          <a:xfrm>
            <a:off x="3246120" y="1005840"/>
            <a:ext cx="2743200" cy="384048"/>
          </a:xfrm>
          <a:prstGeom prst="rect">
            <a:avLst/>
          </a:prstGeom>
          <a:solidFill>
            <a:srgbClr val="7B2FBE"/>
          </a:solidFill>
          <a:ln w="12700">
            <a:solidFill>
              <a:srgbClr val="7B2FBE"/>
            </a:solidFill>
            <a:prstDash val="solid"/>
          </a:ln>
        </p:spPr>
        <p:txBody>
          <a:bodyPr/>
          <a:lstStyle/>
          <a:p>
            <a:endParaRPr lang="en-US"/>
          </a:p>
        </p:txBody>
      </p:sp>
      <p:sp>
        <p:nvSpPr>
          <p:cNvPr id="7" name="Text 5"/>
          <p:cNvSpPr/>
          <p:nvPr/>
        </p:nvSpPr>
        <p:spPr>
          <a:xfrm>
            <a:off x="3246120" y="1005840"/>
            <a:ext cx="2743200" cy="384048"/>
          </a:xfrm>
          <a:prstGeom prst="rect">
            <a:avLst/>
          </a:prstGeom>
          <a:noFill/>
        </p:spPr>
        <p:txBody>
          <a:bodyPr wrap="square" lIns="0" tIns="0" rIns="0" bIns="0" rtlCol="0" anchor="ctr"/>
          <a:lstStyle/>
          <a:p>
            <a:pPr marL="0" indent="0" algn="ctr">
              <a:buNone/>
            </a:pPr>
            <a:r>
              <a:rPr lang="en-US" sz="1200" b="1" dirty="0">
                <a:solidFill>
                  <a:srgbClr val="FFFFFF"/>
                </a:solidFill>
              </a:rPr>
              <a:t>🧠 Biological</a:t>
            </a:r>
            <a:endParaRPr lang="en-US" sz="1200" dirty="0"/>
          </a:p>
        </p:txBody>
      </p:sp>
      <p:sp>
        <p:nvSpPr>
          <p:cNvPr id="8" name="Shape 6"/>
          <p:cNvSpPr/>
          <p:nvPr/>
        </p:nvSpPr>
        <p:spPr>
          <a:xfrm>
            <a:off x="6035040" y="1005840"/>
            <a:ext cx="2834640" cy="384048"/>
          </a:xfrm>
          <a:prstGeom prst="rect">
            <a:avLst/>
          </a:prstGeom>
          <a:solidFill>
            <a:srgbClr val="0096C7"/>
          </a:solidFill>
          <a:ln w="12700">
            <a:solidFill>
              <a:srgbClr val="0096C7"/>
            </a:solidFill>
            <a:prstDash val="solid"/>
          </a:ln>
        </p:spPr>
        <p:txBody>
          <a:bodyPr/>
          <a:lstStyle/>
          <a:p>
            <a:endParaRPr lang="en-US"/>
          </a:p>
        </p:txBody>
      </p:sp>
      <p:sp>
        <p:nvSpPr>
          <p:cNvPr id="9" name="Text 7"/>
          <p:cNvSpPr/>
          <p:nvPr/>
        </p:nvSpPr>
        <p:spPr>
          <a:xfrm>
            <a:off x="6035040" y="1005840"/>
            <a:ext cx="2834640" cy="384048"/>
          </a:xfrm>
          <a:prstGeom prst="rect">
            <a:avLst/>
          </a:prstGeom>
          <a:noFill/>
        </p:spPr>
        <p:txBody>
          <a:bodyPr wrap="square" lIns="0" tIns="0" rIns="0" bIns="0" rtlCol="0" anchor="ctr"/>
          <a:lstStyle/>
          <a:p>
            <a:pPr marL="0" indent="0" algn="ctr">
              <a:buNone/>
            </a:pPr>
            <a:r>
              <a:rPr lang="en-US" sz="1200" b="1" dirty="0">
                <a:solidFill>
                  <a:srgbClr val="FFFFFF"/>
                </a:solidFill>
              </a:rPr>
              <a:t>🤖 Artificial</a:t>
            </a:r>
            <a:endParaRPr lang="en-US" sz="1200" dirty="0"/>
          </a:p>
        </p:txBody>
      </p:sp>
      <p:sp>
        <p:nvSpPr>
          <p:cNvPr id="10" name="Shape 8"/>
          <p:cNvSpPr/>
          <p:nvPr/>
        </p:nvSpPr>
        <p:spPr>
          <a:xfrm>
            <a:off x="274320" y="1417320"/>
            <a:ext cx="2926080" cy="448056"/>
          </a:xfrm>
          <a:prstGeom prst="rect">
            <a:avLst/>
          </a:prstGeom>
          <a:solidFill>
            <a:srgbClr val="F0F4FF"/>
          </a:solidFill>
          <a:ln w="6350">
            <a:solidFill>
              <a:srgbClr val="D0D8F0"/>
            </a:solidFill>
            <a:prstDash val="solid"/>
          </a:ln>
        </p:spPr>
        <p:txBody>
          <a:bodyPr/>
          <a:lstStyle/>
          <a:p>
            <a:endParaRPr lang="en-US"/>
          </a:p>
        </p:txBody>
      </p:sp>
      <p:sp>
        <p:nvSpPr>
          <p:cNvPr id="11" name="Shape 9"/>
          <p:cNvSpPr/>
          <p:nvPr/>
        </p:nvSpPr>
        <p:spPr>
          <a:xfrm>
            <a:off x="3246120" y="1417320"/>
            <a:ext cx="2743200" cy="448056"/>
          </a:xfrm>
          <a:prstGeom prst="rect">
            <a:avLst/>
          </a:prstGeom>
          <a:solidFill>
            <a:srgbClr val="F0F4FF"/>
          </a:solidFill>
          <a:ln w="6350">
            <a:solidFill>
              <a:srgbClr val="D0D8F0"/>
            </a:solidFill>
            <a:prstDash val="solid"/>
          </a:ln>
        </p:spPr>
        <p:txBody>
          <a:bodyPr/>
          <a:lstStyle/>
          <a:p>
            <a:endParaRPr lang="en-US"/>
          </a:p>
        </p:txBody>
      </p:sp>
      <p:sp>
        <p:nvSpPr>
          <p:cNvPr id="12" name="Shape 10"/>
          <p:cNvSpPr/>
          <p:nvPr/>
        </p:nvSpPr>
        <p:spPr>
          <a:xfrm>
            <a:off x="6035040" y="1417320"/>
            <a:ext cx="2834640" cy="448056"/>
          </a:xfrm>
          <a:prstGeom prst="rect">
            <a:avLst/>
          </a:prstGeom>
          <a:solidFill>
            <a:srgbClr val="F0F4FF"/>
          </a:solidFill>
          <a:ln w="6350">
            <a:solidFill>
              <a:srgbClr val="D0D8F0"/>
            </a:solidFill>
            <a:prstDash val="solid"/>
          </a:ln>
        </p:spPr>
        <p:txBody>
          <a:bodyPr/>
          <a:lstStyle/>
          <a:p>
            <a:endParaRPr lang="en-US"/>
          </a:p>
        </p:txBody>
      </p:sp>
      <p:sp>
        <p:nvSpPr>
          <p:cNvPr id="13" name="Text 11"/>
          <p:cNvSpPr/>
          <p:nvPr/>
        </p:nvSpPr>
        <p:spPr>
          <a:xfrm>
            <a:off x="320040" y="1417320"/>
            <a:ext cx="2834640" cy="448056"/>
          </a:xfrm>
          <a:prstGeom prst="rect">
            <a:avLst/>
          </a:prstGeom>
          <a:noFill/>
        </p:spPr>
        <p:txBody>
          <a:bodyPr wrap="square" rtlCol="0" anchor="ctr"/>
          <a:lstStyle/>
          <a:p>
            <a:pPr marL="0" indent="0" algn="l">
              <a:buNone/>
            </a:pPr>
            <a:r>
              <a:rPr lang="en-US" sz="1100" b="1" dirty="0">
                <a:solidFill>
                  <a:srgbClr val="0A1628"/>
                </a:solidFill>
              </a:rPr>
              <a:t>Basic Unit</a:t>
            </a:r>
            <a:endParaRPr lang="en-US" sz="1100" dirty="0"/>
          </a:p>
        </p:txBody>
      </p:sp>
      <p:sp>
        <p:nvSpPr>
          <p:cNvPr id="14" name="Text 12"/>
          <p:cNvSpPr/>
          <p:nvPr/>
        </p:nvSpPr>
        <p:spPr>
          <a:xfrm>
            <a:off x="3291840" y="1417320"/>
            <a:ext cx="2651760" cy="448056"/>
          </a:xfrm>
          <a:prstGeom prst="rect">
            <a:avLst/>
          </a:prstGeom>
          <a:noFill/>
        </p:spPr>
        <p:txBody>
          <a:bodyPr wrap="square" rtlCol="0" anchor="ctr"/>
          <a:lstStyle/>
          <a:p>
            <a:pPr marL="0" indent="0" algn="l">
              <a:buNone/>
            </a:pPr>
            <a:r>
              <a:rPr lang="en-US" sz="1050" dirty="0">
                <a:solidFill>
                  <a:srgbClr val="5B0089"/>
                </a:solidFill>
              </a:rPr>
              <a:t>Neuron</a:t>
            </a:r>
            <a:endParaRPr lang="en-US" sz="1050" dirty="0"/>
          </a:p>
        </p:txBody>
      </p:sp>
      <p:sp>
        <p:nvSpPr>
          <p:cNvPr id="15" name="Text 13"/>
          <p:cNvSpPr/>
          <p:nvPr/>
        </p:nvSpPr>
        <p:spPr>
          <a:xfrm>
            <a:off x="6080760" y="1417320"/>
            <a:ext cx="2743200" cy="448056"/>
          </a:xfrm>
          <a:prstGeom prst="rect">
            <a:avLst/>
          </a:prstGeom>
          <a:noFill/>
        </p:spPr>
        <p:txBody>
          <a:bodyPr wrap="square" rtlCol="0" anchor="ctr"/>
          <a:lstStyle/>
          <a:p>
            <a:pPr marL="0" indent="0" algn="l">
              <a:buNone/>
            </a:pPr>
            <a:r>
              <a:rPr lang="en-US" sz="1050" dirty="0">
                <a:solidFill>
                  <a:srgbClr val="0096C7"/>
                </a:solidFill>
              </a:rPr>
              <a:t>Artificial Node / Perceptron</a:t>
            </a:r>
            <a:endParaRPr lang="en-US" sz="1050" dirty="0"/>
          </a:p>
        </p:txBody>
      </p:sp>
      <p:sp>
        <p:nvSpPr>
          <p:cNvPr id="16" name="Shape 14"/>
          <p:cNvSpPr/>
          <p:nvPr/>
        </p:nvSpPr>
        <p:spPr>
          <a:xfrm>
            <a:off x="274320" y="1892808"/>
            <a:ext cx="2926080" cy="448056"/>
          </a:xfrm>
          <a:prstGeom prst="rect">
            <a:avLst/>
          </a:prstGeom>
          <a:solidFill>
            <a:srgbClr val="FFFFFF"/>
          </a:solidFill>
          <a:ln w="6350">
            <a:solidFill>
              <a:srgbClr val="D0D8F0"/>
            </a:solidFill>
            <a:prstDash val="solid"/>
          </a:ln>
        </p:spPr>
        <p:txBody>
          <a:bodyPr/>
          <a:lstStyle/>
          <a:p>
            <a:endParaRPr lang="en-US"/>
          </a:p>
        </p:txBody>
      </p:sp>
      <p:sp>
        <p:nvSpPr>
          <p:cNvPr id="17" name="Shape 15"/>
          <p:cNvSpPr/>
          <p:nvPr/>
        </p:nvSpPr>
        <p:spPr>
          <a:xfrm>
            <a:off x="3246120" y="1892808"/>
            <a:ext cx="2743200" cy="448056"/>
          </a:xfrm>
          <a:prstGeom prst="rect">
            <a:avLst/>
          </a:prstGeom>
          <a:solidFill>
            <a:srgbClr val="FFFFFF"/>
          </a:solidFill>
          <a:ln w="6350">
            <a:solidFill>
              <a:srgbClr val="D0D8F0"/>
            </a:solidFill>
            <a:prstDash val="solid"/>
          </a:ln>
        </p:spPr>
        <p:txBody>
          <a:bodyPr/>
          <a:lstStyle/>
          <a:p>
            <a:endParaRPr lang="en-US"/>
          </a:p>
        </p:txBody>
      </p:sp>
      <p:sp>
        <p:nvSpPr>
          <p:cNvPr id="18" name="Shape 16"/>
          <p:cNvSpPr/>
          <p:nvPr/>
        </p:nvSpPr>
        <p:spPr>
          <a:xfrm>
            <a:off x="6035040" y="1892808"/>
            <a:ext cx="2834640" cy="448056"/>
          </a:xfrm>
          <a:prstGeom prst="rect">
            <a:avLst/>
          </a:prstGeom>
          <a:solidFill>
            <a:srgbClr val="FFFFFF"/>
          </a:solidFill>
          <a:ln w="6350">
            <a:solidFill>
              <a:srgbClr val="D0D8F0"/>
            </a:solidFill>
            <a:prstDash val="solid"/>
          </a:ln>
        </p:spPr>
        <p:txBody>
          <a:bodyPr/>
          <a:lstStyle/>
          <a:p>
            <a:endParaRPr lang="en-US"/>
          </a:p>
        </p:txBody>
      </p:sp>
      <p:sp>
        <p:nvSpPr>
          <p:cNvPr id="19" name="Text 17"/>
          <p:cNvSpPr/>
          <p:nvPr/>
        </p:nvSpPr>
        <p:spPr>
          <a:xfrm>
            <a:off x="320040" y="1892808"/>
            <a:ext cx="2834640" cy="448056"/>
          </a:xfrm>
          <a:prstGeom prst="rect">
            <a:avLst/>
          </a:prstGeom>
          <a:noFill/>
        </p:spPr>
        <p:txBody>
          <a:bodyPr wrap="square" rtlCol="0" anchor="ctr"/>
          <a:lstStyle/>
          <a:p>
            <a:pPr marL="0" indent="0" algn="l">
              <a:buNone/>
            </a:pPr>
            <a:r>
              <a:rPr lang="en-US" sz="1100" b="1" dirty="0">
                <a:solidFill>
                  <a:srgbClr val="0A1628"/>
                </a:solidFill>
              </a:rPr>
              <a:t>Connections</a:t>
            </a:r>
            <a:endParaRPr lang="en-US" sz="1100" dirty="0"/>
          </a:p>
        </p:txBody>
      </p:sp>
      <p:sp>
        <p:nvSpPr>
          <p:cNvPr id="20" name="Text 18"/>
          <p:cNvSpPr/>
          <p:nvPr/>
        </p:nvSpPr>
        <p:spPr>
          <a:xfrm>
            <a:off x="3291840" y="1892808"/>
            <a:ext cx="2651760" cy="448056"/>
          </a:xfrm>
          <a:prstGeom prst="rect">
            <a:avLst/>
          </a:prstGeom>
          <a:noFill/>
        </p:spPr>
        <p:txBody>
          <a:bodyPr wrap="square" rtlCol="0" anchor="ctr"/>
          <a:lstStyle/>
          <a:p>
            <a:pPr marL="0" indent="0" algn="l">
              <a:buNone/>
            </a:pPr>
            <a:r>
              <a:rPr lang="en-US" sz="1050" dirty="0">
                <a:solidFill>
                  <a:srgbClr val="5B0089"/>
                </a:solidFill>
              </a:rPr>
              <a:t>Synapses (~7000/neuron)</a:t>
            </a:r>
            <a:endParaRPr lang="en-US" sz="1050" dirty="0"/>
          </a:p>
        </p:txBody>
      </p:sp>
      <p:sp>
        <p:nvSpPr>
          <p:cNvPr id="21" name="Text 19"/>
          <p:cNvSpPr/>
          <p:nvPr/>
        </p:nvSpPr>
        <p:spPr>
          <a:xfrm>
            <a:off x="6080760" y="1892808"/>
            <a:ext cx="2743200" cy="448056"/>
          </a:xfrm>
          <a:prstGeom prst="rect">
            <a:avLst/>
          </a:prstGeom>
          <a:noFill/>
        </p:spPr>
        <p:txBody>
          <a:bodyPr wrap="square" rtlCol="0" anchor="ctr"/>
          <a:lstStyle/>
          <a:p>
            <a:pPr marL="0" indent="0" algn="l">
              <a:buNone/>
            </a:pPr>
            <a:r>
              <a:rPr lang="en-US" sz="1050" dirty="0">
                <a:solidFill>
                  <a:srgbClr val="0096C7"/>
                </a:solidFill>
              </a:rPr>
              <a:t>Weighted Edges</a:t>
            </a:r>
            <a:endParaRPr lang="en-US" sz="1050" dirty="0"/>
          </a:p>
        </p:txBody>
      </p:sp>
      <p:sp>
        <p:nvSpPr>
          <p:cNvPr id="22" name="Shape 20"/>
          <p:cNvSpPr/>
          <p:nvPr/>
        </p:nvSpPr>
        <p:spPr>
          <a:xfrm>
            <a:off x="274320" y="2368296"/>
            <a:ext cx="2926080" cy="448056"/>
          </a:xfrm>
          <a:prstGeom prst="rect">
            <a:avLst/>
          </a:prstGeom>
          <a:solidFill>
            <a:srgbClr val="F0F4FF"/>
          </a:solidFill>
          <a:ln w="6350">
            <a:solidFill>
              <a:srgbClr val="D0D8F0"/>
            </a:solidFill>
            <a:prstDash val="solid"/>
          </a:ln>
        </p:spPr>
        <p:txBody>
          <a:bodyPr/>
          <a:lstStyle/>
          <a:p>
            <a:endParaRPr lang="en-US"/>
          </a:p>
        </p:txBody>
      </p:sp>
      <p:sp>
        <p:nvSpPr>
          <p:cNvPr id="23" name="Shape 21"/>
          <p:cNvSpPr/>
          <p:nvPr/>
        </p:nvSpPr>
        <p:spPr>
          <a:xfrm>
            <a:off x="3246120" y="2368296"/>
            <a:ext cx="2743200" cy="448056"/>
          </a:xfrm>
          <a:prstGeom prst="rect">
            <a:avLst/>
          </a:prstGeom>
          <a:solidFill>
            <a:srgbClr val="F0F4FF"/>
          </a:solidFill>
          <a:ln w="6350">
            <a:solidFill>
              <a:srgbClr val="D0D8F0"/>
            </a:solidFill>
            <a:prstDash val="solid"/>
          </a:ln>
        </p:spPr>
        <p:txBody>
          <a:bodyPr/>
          <a:lstStyle/>
          <a:p>
            <a:endParaRPr lang="en-US"/>
          </a:p>
        </p:txBody>
      </p:sp>
      <p:sp>
        <p:nvSpPr>
          <p:cNvPr id="24" name="Shape 22"/>
          <p:cNvSpPr/>
          <p:nvPr/>
        </p:nvSpPr>
        <p:spPr>
          <a:xfrm>
            <a:off x="6035040" y="2368296"/>
            <a:ext cx="2834640" cy="448056"/>
          </a:xfrm>
          <a:prstGeom prst="rect">
            <a:avLst/>
          </a:prstGeom>
          <a:solidFill>
            <a:srgbClr val="F0F4FF"/>
          </a:solidFill>
          <a:ln w="6350">
            <a:solidFill>
              <a:srgbClr val="D0D8F0"/>
            </a:solidFill>
            <a:prstDash val="solid"/>
          </a:ln>
        </p:spPr>
        <p:txBody>
          <a:bodyPr/>
          <a:lstStyle/>
          <a:p>
            <a:endParaRPr lang="en-US"/>
          </a:p>
        </p:txBody>
      </p:sp>
      <p:sp>
        <p:nvSpPr>
          <p:cNvPr id="25" name="Text 23"/>
          <p:cNvSpPr/>
          <p:nvPr/>
        </p:nvSpPr>
        <p:spPr>
          <a:xfrm>
            <a:off x="320040" y="2368296"/>
            <a:ext cx="2834640" cy="448056"/>
          </a:xfrm>
          <a:prstGeom prst="rect">
            <a:avLst/>
          </a:prstGeom>
          <a:noFill/>
        </p:spPr>
        <p:txBody>
          <a:bodyPr wrap="square" rtlCol="0" anchor="ctr"/>
          <a:lstStyle/>
          <a:p>
            <a:pPr marL="0" indent="0" algn="l">
              <a:buNone/>
            </a:pPr>
            <a:r>
              <a:rPr lang="en-US" sz="1100" b="1" dirty="0">
                <a:solidFill>
                  <a:srgbClr val="0A1628"/>
                </a:solidFill>
              </a:rPr>
              <a:t>Speed</a:t>
            </a:r>
            <a:endParaRPr lang="en-US" sz="1100" dirty="0"/>
          </a:p>
        </p:txBody>
      </p:sp>
      <p:sp>
        <p:nvSpPr>
          <p:cNvPr id="26" name="Text 24"/>
          <p:cNvSpPr/>
          <p:nvPr/>
        </p:nvSpPr>
        <p:spPr>
          <a:xfrm>
            <a:off x="3291840" y="2368296"/>
            <a:ext cx="2651760" cy="448056"/>
          </a:xfrm>
          <a:prstGeom prst="rect">
            <a:avLst/>
          </a:prstGeom>
          <a:noFill/>
        </p:spPr>
        <p:txBody>
          <a:bodyPr wrap="square" rtlCol="0" anchor="ctr"/>
          <a:lstStyle/>
          <a:p>
            <a:pPr marL="0" indent="0" algn="l">
              <a:buNone/>
            </a:pPr>
            <a:r>
              <a:rPr lang="en-US" sz="1050" dirty="0">
                <a:solidFill>
                  <a:srgbClr val="5B0089"/>
                </a:solidFill>
              </a:rPr>
              <a:t>~200 signals/sec</a:t>
            </a:r>
            <a:endParaRPr lang="en-US" sz="1050" dirty="0"/>
          </a:p>
        </p:txBody>
      </p:sp>
      <p:sp>
        <p:nvSpPr>
          <p:cNvPr id="27" name="Text 25"/>
          <p:cNvSpPr/>
          <p:nvPr/>
        </p:nvSpPr>
        <p:spPr>
          <a:xfrm>
            <a:off x="6080760" y="2368296"/>
            <a:ext cx="2743200" cy="448056"/>
          </a:xfrm>
          <a:prstGeom prst="rect">
            <a:avLst/>
          </a:prstGeom>
          <a:noFill/>
        </p:spPr>
        <p:txBody>
          <a:bodyPr wrap="square" rtlCol="0" anchor="ctr"/>
          <a:lstStyle/>
          <a:p>
            <a:pPr marL="0" indent="0" algn="l">
              <a:buNone/>
            </a:pPr>
            <a:r>
              <a:rPr lang="en-US" sz="1050" dirty="0">
                <a:solidFill>
                  <a:srgbClr val="0096C7"/>
                </a:solidFill>
              </a:rPr>
              <a:t>Millions of ops/sec (GPU)</a:t>
            </a:r>
            <a:endParaRPr lang="en-US" sz="1050" dirty="0"/>
          </a:p>
        </p:txBody>
      </p:sp>
      <p:sp>
        <p:nvSpPr>
          <p:cNvPr id="28" name="Shape 26"/>
          <p:cNvSpPr/>
          <p:nvPr/>
        </p:nvSpPr>
        <p:spPr>
          <a:xfrm>
            <a:off x="274320" y="2843784"/>
            <a:ext cx="2926080" cy="448056"/>
          </a:xfrm>
          <a:prstGeom prst="rect">
            <a:avLst/>
          </a:prstGeom>
          <a:solidFill>
            <a:srgbClr val="FFFFFF"/>
          </a:solidFill>
          <a:ln w="6350">
            <a:solidFill>
              <a:srgbClr val="D0D8F0"/>
            </a:solidFill>
            <a:prstDash val="solid"/>
          </a:ln>
        </p:spPr>
        <p:txBody>
          <a:bodyPr/>
          <a:lstStyle/>
          <a:p>
            <a:endParaRPr lang="en-US"/>
          </a:p>
        </p:txBody>
      </p:sp>
      <p:sp>
        <p:nvSpPr>
          <p:cNvPr id="29" name="Shape 27"/>
          <p:cNvSpPr/>
          <p:nvPr/>
        </p:nvSpPr>
        <p:spPr>
          <a:xfrm>
            <a:off x="3246120" y="2843784"/>
            <a:ext cx="2743200" cy="448056"/>
          </a:xfrm>
          <a:prstGeom prst="rect">
            <a:avLst/>
          </a:prstGeom>
          <a:solidFill>
            <a:srgbClr val="FFFFFF"/>
          </a:solidFill>
          <a:ln w="6350">
            <a:solidFill>
              <a:srgbClr val="D0D8F0"/>
            </a:solidFill>
            <a:prstDash val="solid"/>
          </a:ln>
        </p:spPr>
        <p:txBody>
          <a:bodyPr/>
          <a:lstStyle/>
          <a:p>
            <a:endParaRPr lang="en-US"/>
          </a:p>
        </p:txBody>
      </p:sp>
      <p:sp>
        <p:nvSpPr>
          <p:cNvPr id="30" name="Shape 28"/>
          <p:cNvSpPr/>
          <p:nvPr/>
        </p:nvSpPr>
        <p:spPr>
          <a:xfrm>
            <a:off x="6035040" y="2843784"/>
            <a:ext cx="2834640" cy="448056"/>
          </a:xfrm>
          <a:prstGeom prst="rect">
            <a:avLst/>
          </a:prstGeom>
          <a:solidFill>
            <a:srgbClr val="FFFFFF"/>
          </a:solidFill>
          <a:ln w="6350">
            <a:solidFill>
              <a:srgbClr val="D0D8F0"/>
            </a:solidFill>
            <a:prstDash val="solid"/>
          </a:ln>
        </p:spPr>
        <p:txBody>
          <a:bodyPr/>
          <a:lstStyle/>
          <a:p>
            <a:endParaRPr lang="en-US"/>
          </a:p>
        </p:txBody>
      </p:sp>
      <p:sp>
        <p:nvSpPr>
          <p:cNvPr id="31" name="Text 29"/>
          <p:cNvSpPr/>
          <p:nvPr/>
        </p:nvSpPr>
        <p:spPr>
          <a:xfrm>
            <a:off x="320040" y="2843784"/>
            <a:ext cx="2834640" cy="448056"/>
          </a:xfrm>
          <a:prstGeom prst="rect">
            <a:avLst/>
          </a:prstGeom>
          <a:noFill/>
        </p:spPr>
        <p:txBody>
          <a:bodyPr wrap="square" rtlCol="0" anchor="ctr"/>
          <a:lstStyle/>
          <a:p>
            <a:pPr marL="0" indent="0" algn="l">
              <a:buNone/>
            </a:pPr>
            <a:r>
              <a:rPr lang="en-US" sz="1100" b="1" dirty="0">
                <a:solidFill>
                  <a:srgbClr val="0A1628"/>
                </a:solidFill>
              </a:rPr>
              <a:t>Learning</a:t>
            </a:r>
            <a:endParaRPr lang="en-US" sz="1100" dirty="0"/>
          </a:p>
        </p:txBody>
      </p:sp>
      <p:sp>
        <p:nvSpPr>
          <p:cNvPr id="32" name="Text 30"/>
          <p:cNvSpPr/>
          <p:nvPr/>
        </p:nvSpPr>
        <p:spPr>
          <a:xfrm>
            <a:off x="3291840" y="2843784"/>
            <a:ext cx="2651760" cy="448056"/>
          </a:xfrm>
          <a:prstGeom prst="rect">
            <a:avLst/>
          </a:prstGeom>
          <a:noFill/>
        </p:spPr>
        <p:txBody>
          <a:bodyPr wrap="square" rtlCol="0" anchor="ctr"/>
          <a:lstStyle/>
          <a:p>
            <a:pPr marL="0" indent="0" algn="l">
              <a:buNone/>
            </a:pPr>
            <a:r>
              <a:rPr lang="en-US" sz="1050" dirty="0">
                <a:solidFill>
                  <a:srgbClr val="5B0089"/>
                </a:solidFill>
              </a:rPr>
              <a:t>Synaptic plasticity</a:t>
            </a:r>
            <a:endParaRPr lang="en-US" sz="1050" dirty="0"/>
          </a:p>
        </p:txBody>
      </p:sp>
      <p:sp>
        <p:nvSpPr>
          <p:cNvPr id="33" name="Text 31"/>
          <p:cNvSpPr/>
          <p:nvPr/>
        </p:nvSpPr>
        <p:spPr>
          <a:xfrm>
            <a:off x="6080760" y="2843784"/>
            <a:ext cx="2743200" cy="448056"/>
          </a:xfrm>
          <a:prstGeom prst="rect">
            <a:avLst/>
          </a:prstGeom>
          <a:noFill/>
        </p:spPr>
        <p:txBody>
          <a:bodyPr wrap="square" rtlCol="0" anchor="ctr"/>
          <a:lstStyle/>
          <a:p>
            <a:pPr marL="0" indent="0" algn="l">
              <a:buNone/>
            </a:pPr>
            <a:r>
              <a:rPr lang="en-US" sz="1050" dirty="0">
                <a:solidFill>
                  <a:srgbClr val="0096C7"/>
                </a:solidFill>
              </a:rPr>
              <a:t>Backpropagation + Gradient Descent</a:t>
            </a:r>
            <a:endParaRPr lang="en-US" sz="1050" dirty="0"/>
          </a:p>
        </p:txBody>
      </p:sp>
      <p:sp>
        <p:nvSpPr>
          <p:cNvPr id="34" name="Shape 32"/>
          <p:cNvSpPr/>
          <p:nvPr/>
        </p:nvSpPr>
        <p:spPr>
          <a:xfrm>
            <a:off x="274320" y="3319272"/>
            <a:ext cx="2926080" cy="448056"/>
          </a:xfrm>
          <a:prstGeom prst="rect">
            <a:avLst/>
          </a:prstGeom>
          <a:solidFill>
            <a:srgbClr val="F0F4FF"/>
          </a:solidFill>
          <a:ln w="6350">
            <a:solidFill>
              <a:srgbClr val="D0D8F0"/>
            </a:solidFill>
            <a:prstDash val="solid"/>
          </a:ln>
        </p:spPr>
        <p:txBody>
          <a:bodyPr/>
          <a:lstStyle/>
          <a:p>
            <a:endParaRPr lang="en-US"/>
          </a:p>
        </p:txBody>
      </p:sp>
      <p:sp>
        <p:nvSpPr>
          <p:cNvPr id="35" name="Shape 33"/>
          <p:cNvSpPr/>
          <p:nvPr/>
        </p:nvSpPr>
        <p:spPr>
          <a:xfrm>
            <a:off x="3246120" y="3319272"/>
            <a:ext cx="2743200" cy="448056"/>
          </a:xfrm>
          <a:prstGeom prst="rect">
            <a:avLst/>
          </a:prstGeom>
          <a:solidFill>
            <a:srgbClr val="F0F4FF"/>
          </a:solidFill>
          <a:ln w="6350">
            <a:solidFill>
              <a:srgbClr val="D0D8F0"/>
            </a:solidFill>
            <a:prstDash val="solid"/>
          </a:ln>
        </p:spPr>
        <p:txBody>
          <a:bodyPr/>
          <a:lstStyle/>
          <a:p>
            <a:endParaRPr lang="en-US"/>
          </a:p>
        </p:txBody>
      </p:sp>
      <p:sp>
        <p:nvSpPr>
          <p:cNvPr id="36" name="Shape 34"/>
          <p:cNvSpPr/>
          <p:nvPr/>
        </p:nvSpPr>
        <p:spPr>
          <a:xfrm>
            <a:off x="6035040" y="3319272"/>
            <a:ext cx="2834640" cy="448056"/>
          </a:xfrm>
          <a:prstGeom prst="rect">
            <a:avLst/>
          </a:prstGeom>
          <a:solidFill>
            <a:srgbClr val="F0F4FF"/>
          </a:solidFill>
          <a:ln w="6350">
            <a:solidFill>
              <a:srgbClr val="D0D8F0"/>
            </a:solidFill>
            <a:prstDash val="solid"/>
          </a:ln>
        </p:spPr>
        <p:txBody>
          <a:bodyPr/>
          <a:lstStyle/>
          <a:p>
            <a:endParaRPr lang="en-US"/>
          </a:p>
        </p:txBody>
      </p:sp>
      <p:sp>
        <p:nvSpPr>
          <p:cNvPr id="37" name="Text 35"/>
          <p:cNvSpPr/>
          <p:nvPr/>
        </p:nvSpPr>
        <p:spPr>
          <a:xfrm>
            <a:off x="320040" y="3319272"/>
            <a:ext cx="2834640" cy="448056"/>
          </a:xfrm>
          <a:prstGeom prst="rect">
            <a:avLst/>
          </a:prstGeom>
          <a:noFill/>
        </p:spPr>
        <p:txBody>
          <a:bodyPr wrap="square" rtlCol="0" anchor="ctr"/>
          <a:lstStyle/>
          <a:p>
            <a:pPr marL="0" indent="0" algn="l">
              <a:buNone/>
            </a:pPr>
            <a:r>
              <a:rPr lang="en-US" sz="1100" b="1" dirty="0">
                <a:solidFill>
                  <a:srgbClr val="0A1628"/>
                </a:solidFill>
              </a:rPr>
              <a:t>Memory</a:t>
            </a:r>
            <a:endParaRPr lang="en-US" sz="1100" dirty="0"/>
          </a:p>
        </p:txBody>
      </p:sp>
      <p:sp>
        <p:nvSpPr>
          <p:cNvPr id="38" name="Text 36"/>
          <p:cNvSpPr/>
          <p:nvPr/>
        </p:nvSpPr>
        <p:spPr>
          <a:xfrm>
            <a:off x="3291840" y="3319272"/>
            <a:ext cx="2651760" cy="448056"/>
          </a:xfrm>
          <a:prstGeom prst="rect">
            <a:avLst/>
          </a:prstGeom>
          <a:noFill/>
        </p:spPr>
        <p:txBody>
          <a:bodyPr wrap="square" rtlCol="0" anchor="ctr"/>
          <a:lstStyle/>
          <a:p>
            <a:pPr marL="0" indent="0" algn="l">
              <a:buNone/>
            </a:pPr>
            <a:r>
              <a:rPr lang="en-US" sz="1050" dirty="0">
                <a:solidFill>
                  <a:srgbClr val="5B0089"/>
                </a:solidFill>
              </a:rPr>
              <a:t>Distributed across neurons</a:t>
            </a:r>
            <a:endParaRPr lang="en-US" sz="1050" dirty="0"/>
          </a:p>
        </p:txBody>
      </p:sp>
      <p:sp>
        <p:nvSpPr>
          <p:cNvPr id="39" name="Text 37"/>
          <p:cNvSpPr/>
          <p:nvPr/>
        </p:nvSpPr>
        <p:spPr>
          <a:xfrm>
            <a:off x="6080760" y="3319272"/>
            <a:ext cx="2743200" cy="448056"/>
          </a:xfrm>
          <a:prstGeom prst="rect">
            <a:avLst/>
          </a:prstGeom>
          <a:noFill/>
        </p:spPr>
        <p:txBody>
          <a:bodyPr wrap="square" rtlCol="0" anchor="ctr"/>
          <a:lstStyle/>
          <a:p>
            <a:pPr marL="0" indent="0" algn="l">
              <a:buNone/>
            </a:pPr>
            <a:r>
              <a:rPr lang="en-US" sz="1050" dirty="0">
                <a:solidFill>
                  <a:srgbClr val="0096C7"/>
                </a:solidFill>
              </a:rPr>
              <a:t>Stored in weights &amp; biases</a:t>
            </a:r>
            <a:endParaRPr lang="en-US" sz="1050" dirty="0"/>
          </a:p>
        </p:txBody>
      </p:sp>
      <p:sp>
        <p:nvSpPr>
          <p:cNvPr id="40" name="Shape 38"/>
          <p:cNvSpPr/>
          <p:nvPr/>
        </p:nvSpPr>
        <p:spPr>
          <a:xfrm>
            <a:off x="274320" y="3794760"/>
            <a:ext cx="2926080" cy="448056"/>
          </a:xfrm>
          <a:prstGeom prst="rect">
            <a:avLst/>
          </a:prstGeom>
          <a:solidFill>
            <a:srgbClr val="FFFFFF"/>
          </a:solidFill>
          <a:ln w="6350">
            <a:solidFill>
              <a:srgbClr val="D0D8F0"/>
            </a:solidFill>
            <a:prstDash val="solid"/>
          </a:ln>
        </p:spPr>
        <p:txBody>
          <a:bodyPr/>
          <a:lstStyle/>
          <a:p>
            <a:endParaRPr lang="en-US"/>
          </a:p>
        </p:txBody>
      </p:sp>
      <p:sp>
        <p:nvSpPr>
          <p:cNvPr id="41" name="Shape 39"/>
          <p:cNvSpPr/>
          <p:nvPr/>
        </p:nvSpPr>
        <p:spPr>
          <a:xfrm>
            <a:off x="3246120" y="3794760"/>
            <a:ext cx="2743200" cy="448056"/>
          </a:xfrm>
          <a:prstGeom prst="rect">
            <a:avLst/>
          </a:prstGeom>
          <a:solidFill>
            <a:srgbClr val="FFFFFF"/>
          </a:solidFill>
          <a:ln w="6350">
            <a:solidFill>
              <a:srgbClr val="D0D8F0"/>
            </a:solidFill>
            <a:prstDash val="solid"/>
          </a:ln>
        </p:spPr>
        <p:txBody>
          <a:bodyPr/>
          <a:lstStyle/>
          <a:p>
            <a:endParaRPr lang="en-US"/>
          </a:p>
        </p:txBody>
      </p:sp>
      <p:sp>
        <p:nvSpPr>
          <p:cNvPr id="42" name="Shape 40"/>
          <p:cNvSpPr/>
          <p:nvPr/>
        </p:nvSpPr>
        <p:spPr>
          <a:xfrm>
            <a:off x="6035040" y="3794760"/>
            <a:ext cx="2834640" cy="448056"/>
          </a:xfrm>
          <a:prstGeom prst="rect">
            <a:avLst/>
          </a:prstGeom>
          <a:solidFill>
            <a:srgbClr val="FFFFFF"/>
          </a:solidFill>
          <a:ln w="6350">
            <a:solidFill>
              <a:srgbClr val="D0D8F0"/>
            </a:solidFill>
            <a:prstDash val="solid"/>
          </a:ln>
        </p:spPr>
        <p:txBody>
          <a:bodyPr/>
          <a:lstStyle/>
          <a:p>
            <a:endParaRPr lang="en-US"/>
          </a:p>
        </p:txBody>
      </p:sp>
      <p:sp>
        <p:nvSpPr>
          <p:cNvPr id="43" name="Text 41"/>
          <p:cNvSpPr/>
          <p:nvPr/>
        </p:nvSpPr>
        <p:spPr>
          <a:xfrm>
            <a:off x="320040" y="3794760"/>
            <a:ext cx="2834640" cy="448056"/>
          </a:xfrm>
          <a:prstGeom prst="rect">
            <a:avLst/>
          </a:prstGeom>
          <a:noFill/>
        </p:spPr>
        <p:txBody>
          <a:bodyPr wrap="square" rtlCol="0" anchor="ctr"/>
          <a:lstStyle/>
          <a:p>
            <a:pPr marL="0" indent="0" algn="l">
              <a:buNone/>
            </a:pPr>
            <a:r>
              <a:rPr lang="en-US" sz="1100" b="1" dirty="0">
                <a:solidFill>
                  <a:srgbClr val="0A1628"/>
                </a:solidFill>
              </a:rPr>
              <a:t>Power</a:t>
            </a:r>
            <a:endParaRPr lang="en-US" sz="1100" dirty="0"/>
          </a:p>
        </p:txBody>
      </p:sp>
      <p:sp>
        <p:nvSpPr>
          <p:cNvPr id="44" name="Text 42"/>
          <p:cNvSpPr/>
          <p:nvPr/>
        </p:nvSpPr>
        <p:spPr>
          <a:xfrm>
            <a:off x="3291840" y="3794760"/>
            <a:ext cx="2651760" cy="448056"/>
          </a:xfrm>
          <a:prstGeom prst="rect">
            <a:avLst/>
          </a:prstGeom>
          <a:noFill/>
        </p:spPr>
        <p:txBody>
          <a:bodyPr wrap="square" rtlCol="0" anchor="ctr"/>
          <a:lstStyle/>
          <a:p>
            <a:pPr marL="0" indent="0" algn="l">
              <a:buNone/>
            </a:pPr>
            <a:r>
              <a:rPr lang="en-US" sz="1050" dirty="0">
                <a:solidFill>
                  <a:srgbClr val="5B0089"/>
                </a:solidFill>
              </a:rPr>
              <a:t>~20 watts</a:t>
            </a:r>
            <a:endParaRPr lang="en-US" sz="1050" dirty="0"/>
          </a:p>
        </p:txBody>
      </p:sp>
      <p:sp>
        <p:nvSpPr>
          <p:cNvPr id="45" name="Text 43"/>
          <p:cNvSpPr/>
          <p:nvPr/>
        </p:nvSpPr>
        <p:spPr>
          <a:xfrm>
            <a:off x="6080760" y="3794760"/>
            <a:ext cx="2743200" cy="448056"/>
          </a:xfrm>
          <a:prstGeom prst="rect">
            <a:avLst/>
          </a:prstGeom>
          <a:noFill/>
        </p:spPr>
        <p:txBody>
          <a:bodyPr wrap="square" rtlCol="0" anchor="ctr"/>
          <a:lstStyle/>
          <a:p>
            <a:pPr marL="0" indent="0" algn="l">
              <a:buNone/>
            </a:pPr>
            <a:r>
              <a:rPr lang="en-US" sz="1050" dirty="0">
                <a:solidFill>
                  <a:srgbClr val="0096C7"/>
                </a:solidFill>
              </a:rPr>
              <a:t>100s of watts to megawatts</a:t>
            </a:r>
            <a:endParaRPr lang="en-US" sz="1050" dirty="0"/>
          </a:p>
        </p:txBody>
      </p:sp>
      <p:sp>
        <p:nvSpPr>
          <p:cNvPr id="46" name="Shape 44"/>
          <p:cNvSpPr/>
          <p:nvPr/>
        </p:nvSpPr>
        <p:spPr>
          <a:xfrm>
            <a:off x="274320" y="4270248"/>
            <a:ext cx="2926080" cy="448056"/>
          </a:xfrm>
          <a:prstGeom prst="rect">
            <a:avLst/>
          </a:prstGeom>
          <a:solidFill>
            <a:srgbClr val="F0F4FF"/>
          </a:solidFill>
          <a:ln w="6350">
            <a:solidFill>
              <a:srgbClr val="D0D8F0"/>
            </a:solidFill>
            <a:prstDash val="solid"/>
          </a:ln>
        </p:spPr>
        <p:txBody>
          <a:bodyPr/>
          <a:lstStyle/>
          <a:p>
            <a:endParaRPr lang="en-US"/>
          </a:p>
        </p:txBody>
      </p:sp>
      <p:sp>
        <p:nvSpPr>
          <p:cNvPr id="47" name="Shape 45"/>
          <p:cNvSpPr/>
          <p:nvPr/>
        </p:nvSpPr>
        <p:spPr>
          <a:xfrm>
            <a:off x="3246120" y="4270248"/>
            <a:ext cx="2743200" cy="448056"/>
          </a:xfrm>
          <a:prstGeom prst="rect">
            <a:avLst/>
          </a:prstGeom>
          <a:solidFill>
            <a:srgbClr val="F0F4FF"/>
          </a:solidFill>
          <a:ln w="6350">
            <a:solidFill>
              <a:srgbClr val="D0D8F0"/>
            </a:solidFill>
            <a:prstDash val="solid"/>
          </a:ln>
        </p:spPr>
        <p:txBody>
          <a:bodyPr/>
          <a:lstStyle/>
          <a:p>
            <a:endParaRPr lang="en-US"/>
          </a:p>
        </p:txBody>
      </p:sp>
      <p:sp>
        <p:nvSpPr>
          <p:cNvPr id="48" name="Shape 46"/>
          <p:cNvSpPr/>
          <p:nvPr/>
        </p:nvSpPr>
        <p:spPr>
          <a:xfrm>
            <a:off x="6035040" y="4270248"/>
            <a:ext cx="2834640" cy="448056"/>
          </a:xfrm>
          <a:prstGeom prst="rect">
            <a:avLst/>
          </a:prstGeom>
          <a:solidFill>
            <a:srgbClr val="F0F4FF"/>
          </a:solidFill>
          <a:ln w="6350">
            <a:solidFill>
              <a:srgbClr val="D0D8F0"/>
            </a:solidFill>
            <a:prstDash val="solid"/>
          </a:ln>
        </p:spPr>
        <p:txBody>
          <a:bodyPr/>
          <a:lstStyle/>
          <a:p>
            <a:endParaRPr lang="en-US"/>
          </a:p>
        </p:txBody>
      </p:sp>
      <p:sp>
        <p:nvSpPr>
          <p:cNvPr id="49" name="Text 47"/>
          <p:cNvSpPr/>
          <p:nvPr/>
        </p:nvSpPr>
        <p:spPr>
          <a:xfrm>
            <a:off x="320040" y="4270248"/>
            <a:ext cx="2834640" cy="448056"/>
          </a:xfrm>
          <a:prstGeom prst="rect">
            <a:avLst/>
          </a:prstGeom>
          <a:noFill/>
        </p:spPr>
        <p:txBody>
          <a:bodyPr wrap="square" rtlCol="0" anchor="ctr"/>
          <a:lstStyle/>
          <a:p>
            <a:pPr marL="0" indent="0" algn="l">
              <a:buNone/>
            </a:pPr>
            <a:r>
              <a:rPr lang="en-US" sz="1100" b="1" dirty="0">
                <a:solidFill>
                  <a:srgbClr val="0A1628"/>
                </a:solidFill>
              </a:rPr>
              <a:t>Fault Tolerant</a:t>
            </a:r>
            <a:endParaRPr lang="en-US" sz="1100" dirty="0"/>
          </a:p>
        </p:txBody>
      </p:sp>
      <p:sp>
        <p:nvSpPr>
          <p:cNvPr id="50" name="Text 48"/>
          <p:cNvSpPr/>
          <p:nvPr/>
        </p:nvSpPr>
        <p:spPr>
          <a:xfrm>
            <a:off x="3291840" y="4270248"/>
            <a:ext cx="2651760" cy="448056"/>
          </a:xfrm>
          <a:prstGeom prst="rect">
            <a:avLst/>
          </a:prstGeom>
          <a:noFill/>
        </p:spPr>
        <p:txBody>
          <a:bodyPr wrap="square" rtlCol="0" anchor="ctr"/>
          <a:lstStyle/>
          <a:p>
            <a:pPr marL="0" indent="0" algn="l">
              <a:buNone/>
            </a:pPr>
            <a:r>
              <a:rPr lang="en-US" sz="1050" dirty="0">
                <a:solidFill>
                  <a:srgbClr val="5B0089"/>
                </a:solidFill>
              </a:rPr>
              <a:t>Yes — adapts to damage</a:t>
            </a:r>
            <a:endParaRPr lang="en-US" sz="1050" dirty="0"/>
          </a:p>
        </p:txBody>
      </p:sp>
      <p:sp>
        <p:nvSpPr>
          <p:cNvPr id="51" name="Text 49"/>
          <p:cNvSpPr/>
          <p:nvPr/>
        </p:nvSpPr>
        <p:spPr>
          <a:xfrm>
            <a:off x="6080760" y="4270248"/>
            <a:ext cx="2743200" cy="448056"/>
          </a:xfrm>
          <a:prstGeom prst="rect">
            <a:avLst/>
          </a:prstGeom>
          <a:noFill/>
        </p:spPr>
        <p:txBody>
          <a:bodyPr wrap="square" rtlCol="0" anchor="ctr"/>
          <a:lstStyle/>
          <a:p>
            <a:pPr marL="0" indent="0" algn="l">
              <a:buNone/>
            </a:pPr>
            <a:r>
              <a:rPr lang="en-US" sz="1050" dirty="0">
                <a:solidFill>
                  <a:srgbClr val="0096C7"/>
                </a:solidFill>
              </a:rPr>
              <a:t>Partially — distributed weights</a:t>
            </a:r>
            <a:endParaRPr lang="en-US" sz="1050" dirty="0"/>
          </a:p>
        </p:txBody>
      </p:sp>
      <p:sp>
        <p:nvSpPr>
          <p:cNvPr id="52" name="Shape 50"/>
          <p:cNvSpPr/>
          <p:nvPr/>
        </p:nvSpPr>
        <p:spPr>
          <a:xfrm>
            <a:off x="274320" y="4773168"/>
            <a:ext cx="8595360" cy="301752"/>
          </a:xfrm>
          <a:prstGeom prst="rect">
            <a:avLst/>
          </a:prstGeom>
          <a:solidFill>
            <a:srgbClr val="FFFBEA"/>
          </a:solidFill>
          <a:ln w="12700">
            <a:solidFill>
              <a:srgbClr val="FFB703"/>
            </a:solidFill>
            <a:prstDash val="solid"/>
          </a:ln>
        </p:spPr>
        <p:txBody>
          <a:bodyPr/>
          <a:lstStyle/>
          <a:p>
            <a:endParaRPr lang="en-US"/>
          </a:p>
        </p:txBody>
      </p:sp>
      <p:sp>
        <p:nvSpPr>
          <p:cNvPr id="53" name="Text 51"/>
          <p:cNvSpPr/>
          <p:nvPr/>
        </p:nvSpPr>
        <p:spPr>
          <a:xfrm>
            <a:off x="365760" y="4773168"/>
            <a:ext cx="8412480" cy="301752"/>
          </a:xfrm>
          <a:prstGeom prst="rect">
            <a:avLst/>
          </a:prstGeom>
          <a:noFill/>
        </p:spPr>
        <p:txBody>
          <a:bodyPr wrap="square" rtlCol="0" anchor="ctr"/>
          <a:lstStyle/>
          <a:p>
            <a:pPr marL="0" indent="0" algn="ctr">
              <a:buNone/>
            </a:pPr>
            <a:r>
              <a:rPr lang="en-US" sz="1000" b="1" dirty="0">
                <a:solidFill>
                  <a:srgbClr val="FB8500"/>
                </a:solidFill>
              </a:rPr>
              <a:t>Key Insight: ANNs are a simplified mathematical abstraction of biological neural networks — not a perfect replica!</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4F9C"/>
          </a:solidFill>
          <a:ln w="12700">
            <a:solidFill>
              <a:srgbClr val="1B4F9C"/>
            </a:solidFill>
            <a:prstDash val="solid"/>
          </a:ln>
        </p:spPr>
        <p:txBody>
          <a:bodyPr/>
          <a:lstStyle/>
          <a:p>
            <a:endParaRPr lang="en-US"/>
          </a:p>
        </p:txBody>
      </p:sp>
      <p:sp>
        <p:nvSpPr>
          <p:cNvPr id="3" name="Text 1"/>
          <p:cNvSpPr/>
          <p:nvPr/>
        </p:nvSpPr>
        <p:spPr>
          <a:xfrm>
            <a:off x="365760" y="0"/>
            <a:ext cx="8412480" cy="960120"/>
          </a:xfrm>
          <a:prstGeom prst="rect">
            <a:avLst/>
          </a:prstGeom>
          <a:noFill/>
        </p:spPr>
        <p:txBody>
          <a:bodyPr wrap="square" rtlCol="0" anchor="ctr"/>
          <a:lstStyle/>
          <a:p>
            <a:pPr marL="0" indent="0" algn="l">
              <a:buNone/>
            </a:pPr>
            <a:r>
              <a:rPr lang="en-US" sz="2400" b="1" dirty="0">
                <a:solidFill>
                  <a:srgbClr val="FFFFFF"/>
                </a:solidFill>
              </a:rPr>
              <a:t>03  Mathematical Model of ANN</a:t>
            </a:r>
            <a:endParaRPr lang="en-US" sz="2400" dirty="0"/>
          </a:p>
        </p:txBody>
      </p:sp>
      <p:sp>
        <p:nvSpPr>
          <p:cNvPr id="4" name="Shape 2"/>
          <p:cNvSpPr/>
          <p:nvPr/>
        </p:nvSpPr>
        <p:spPr>
          <a:xfrm>
            <a:off x="365760" y="1051560"/>
            <a:ext cx="8412480" cy="822960"/>
          </a:xfrm>
          <a:prstGeom prst="rect">
            <a:avLst/>
          </a:prstGeom>
          <a:solidFill>
            <a:srgbClr val="0A1628"/>
          </a:solidFill>
          <a:ln w="25400">
            <a:solidFill>
              <a:srgbClr val="00B4D8"/>
            </a:solidFill>
            <a:prstDash val="solid"/>
          </a:ln>
          <a:effectLst>
            <a:outerShdw blurRad="101600" dist="38100" dir="8100000" algn="bl" rotWithShape="0">
              <a:srgbClr val="000000">
                <a:alpha val="18000"/>
              </a:srgbClr>
            </a:outerShdw>
          </a:effectLst>
        </p:spPr>
        <p:txBody>
          <a:bodyPr/>
          <a:lstStyle/>
          <a:p>
            <a:endParaRPr lang="en-US"/>
          </a:p>
        </p:txBody>
      </p:sp>
      <p:sp>
        <p:nvSpPr>
          <p:cNvPr id="5" name="Text 3"/>
          <p:cNvSpPr/>
          <p:nvPr/>
        </p:nvSpPr>
        <p:spPr>
          <a:xfrm>
            <a:off x="548640" y="1097280"/>
            <a:ext cx="1828800" cy="320040"/>
          </a:xfrm>
          <a:prstGeom prst="rect">
            <a:avLst/>
          </a:prstGeom>
          <a:noFill/>
        </p:spPr>
        <p:txBody>
          <a:bodyPr wrap="square" rtlCol="0" anchor="ctr"/>
          <a:lstStyle/>
          <a:p>
            <a:pPr marL="0" indent="0" algn="l">
              <a:buNone/>
            </a:pPr>
            <a:r>
              <a:rPr lang="en-US" sz="1100" dirty="0">
                <a:solidFill>
                  <a:srgbClr val="94A3B8"/>
                </a:solidFill>
              </a:rPr>
              <a:t>Core Equation:</a:t>
            </a:r>
            <a:endParaRPr lang="en-US" sz="1100" dirty="0"/>
          </a:p>
        </p:txBody>
      </p:sp>
      <p:sp>
        <p:nvSpPr>
          <p:cNvPr id="6" name="Text 4"/>
          <p:cNvSpPr/>
          <p:nvPr/>
        </p:nvSpPr>
        <p:spPr>
          <a:xfrm>
            <a:off x="548640" y="1389888"/>
            <a:ext cx="8046720" cy="411480"/>
          </a:xfrm>
          <a:prstGeom prst="rect">
            <a:avLst/>
          </a:prstGeom>
          <a:noFill/>
        </p:spPr>
        <p:txBody>
          <a:bodyPr wrap="square" rtlCol="0" anchor="ctr"/>
          <a:lstStyle/>
          <a:p>
            <a:pPr marL="0" indent="0" algn="ctr">
              <a:buNone/>
            </a:pPr>
            <a:r>
              <a:rPr lang="en-US" sz="1800" b="1" dirty="0">
                <a:solidFill>
                  <a:srgbClr val="00B4D8"/>
                </a:solidFill>
                <a:latin typeface="Consolas" panose="020B0609020204030204" pitchFamily="34" charset="0"/>
                <a:ea typeface="Consolas" panose="020B0609020204030204" pitchFamily="34" charset="-122"/>
                <a:cs typeface="Consolas" panose="020B0609020204030204" pitchFamily="34" charset="-120"/>
              </a:rPr>
              <a:t>Output  =  f( w₁x₁ + w₂x₂ + ... + wₙxₙ + b )</a:t>
            </a:r>
            <a:endParaRPr lang="en-US" sz="1800" dirty="0"/>
          </a:p>
        </p:txBody>
      </p:sp>
      <p:sp>
        <p:nvSpPr>
          <p:cNvPr id="7" name="Shape 5"/>
          <p:cNvSpPr/>
          <p:nvPr/>
        </p:nvSpPr>
        <p:spPr>
          <a:xfrm>
            <a:off x="365760" y="2011680"/>
            <a:ext cx="4023360" cy="1188720"/>
          </a:xfrm>
          <a:prstGeom prst="rect">
            <a:avLst/>
          </a:prstGeom>
          <a:solidFill>
            <a:srgbClr val="FFFFFF"/>
          </a:solidFill>
          <a:ln w="25400">
            <a:solidFill>
              <a:srgbClr val="00B4D8"/>
            </a:solidFill>
            <a:prstDash val="solid"/>
          </a:ln>
          <a:effectLst>
            <a:outerShdw blurRad="101600" dist="38100" dir="8100000" algn="bl" rotWithShape="0">
              <a:srgbClr val="000000">
                <a:alpha val="18000"/>
              </a:srgbClr>
            </a:outerShdw>
          </a:effectLst>
        </p:spPr>
        <p:txBody>
          <a:bodyPr/>
          <a:lstStyle/>
          <a:p>
            <a:endParaRPr lang="en-US"/>
          </a:p>
        </p:txBody>
      </p:sp>
      <p:sp>
        <p:nvSpPr>
          <p:cNvPr id="8" name="Shape 6"/>
          <p:cNvSpPr/>
          <p:nvPr/>
        </p:nvSpPr>
        <p:spPr>
          <a:xfrm>
            <a:off x="475488" y="2194560"/>
            <a:ext cx="685800" cy="685800"/>
          </a:xfrm>
          <a:prstGeom prst="ellipse">
            <a:avLst/>
          </a:prstGeom>
          <a:solidFill>
            <a:srgbClr val="00B4D8"/>
          </a:solidFill>
          <a:ln w="12700">
            <a:solidFill>
              <a:srgbClr val="00B4D8"/>
            </a:solidFill>
            <a:prstDash val="solid"/>
          </a:ln>
        </p:spPr>
        <p:txBody>
          <a:bodyPr/>
          <a:lstStyle/>
          <a:p>
            <a:endParaRPr lang="en-US"/>
          </a:p>
        </p:txBody>
      </p:sp>
      <p:sp>
        <p:nvSpPr>
          <p:cNvPr id="9" name="Text 7"/>
          <p:cNvSpPr/>
          <p:nvPr/>
        </p:nvSpPr>
        <p:spPr>
          <a:xfrm>
            <a:off x="475488" y="2194560"/>
            <a:ext cx="685800" cy="685800"/>
          </a:xfrm>
          <a:prstGeom prst="rect">
            <a:avLst/>
          </a:prstGeom>
          <a:noFill/>
        </p:spPr>
        <p:txBody>
          <a:bodyPr wrap="square" lIns="0" tIns="0" rIns="0" bIns="0" rtlCol="0" anchor="ctr"/>
          <a:lstStyle/>
          <a:p>
            <a:pPr marL="0" indent="0" algn="ctr">
              <a:buNone/>
            </a:pPr>
            <a:r>
              <a:rPr lang="en-US" sz="1600" b="1" dirty="0">
                <a:solidFill>
                  <a:srgbClr val="FFFFFF"/>
                </a:solidFill>
                <a:latin typeface="Consolas" panose="020B0609020204030204" pitchFamily="34" charset="0"/>
                <a:ea typeface="Consolas" panose="020B0609020204030204" pitchFamily="34" charset="-122"/>
                <a:cs typeface="Consolas" panose="020B0609020204030204" pitchFamily="34" charset="-120"/>
              </a:rPr>
              <a:t>xᵢ</a:t>
            </a:r>
            <a:endParaRPr lang="en-US" sz="1600" dirty="0"/>
          </a:p>
        </p:txBody>
      </p:sp>
      <p:sp>
        <p:nvSpPr>
          <p:cNvPr id="10" name="Text 8"/>
          <p:cNvSpPr/>
          <p:nvPr/>
        </p:nvSpPr>
        <p:spPr>
          <a:xfrm>
            <a:off x="1280160" y="2148840"/>
            <a:ext cx="2926080" cy="347472"/>
          </a:xfrm>
          <a:prstGeom prst="rect">
            <a:avLst/>
          </a:prstGeom>
          <a:noFill/>
        </p:spPr>
        <p:txBody>
          <a:bodyPr wrap="square" rtlCol="0" anchor="ctr"/>
          <a:lstStyle/>
          <a:p>
            <a:pPr marL="0" indent="0" algn="l">
              <a:buNone/>
            </a:pPr>
            <a:r>
              <a:rPr lang="en-US" sz="1400" b="1" dirty="0">
                <a:solidFill>
                  <a:srgbClr val="00B4D8"/>
                </a:solidFill>
              </a:rPr>
              <a:t>Inputs</a:t>
            </a:r>
            <a:endParaRPr lang="en-US" sz="1400" dirty="0"/>
          </a:p>
        </p:txBody>
      </p:sp>
      <p:sp>
        <p:nvSpPr>
          <p:cNvPr id="11" name="Text 9"/>
          <p:cNvSpPr/>
          <p:nvPr/>
        </p:nvSpPr>
        <p:spPr>
          <a:xfrm>
            <a:off x="1280160" y="2487168"/>
            <a:ext cx="2971800" cy="594360"/>
          </a:xfrm>
          <a:prstGeom prst="rect">
            <a:avLst/>
          </a:prstGeom>
          <a:noFill/>
        </p:spPr>
        <p:txBody>
          <a:bodyPr wrap="square" rtlCol="0" anchor="ctr"/>
          <a:lstStyle/>
          <a:p>
            <a:pPr marL="0" indent="0" algn="l">
              <a:buNone/>
            </a:pPr>
            <a:r>
              <a:rPr lang="en-US" sz="1050" dirty="0">
                <a:solidFill>
                  <a:srgbClr val="1E293B"/>
                </a:solidFill>
              </a:rPr>
              <a:t>The data fed into the neuron (e.g., pixel values, sensor readings, numbers)</a:t>
            </a:r>
            <a:endParaRPr lang="en-US" sz="1050" dirty="0"/>
          </a:p>
        </p:txBody>
      </p:sp>
      <p:sp>
        <p:nvSpPr>
          <p:cNvPr id="12" name="Shape 10"/>
          <p:cNvSpPr/>
          <p:nvPr/>
        </p:nvSpPr>
        <p:spPr>
          <a:xfrm>
            <a:off x="4663440" y="2011680"/>
            <a:ext cx="4023360" cy="1188720"/>
          </a:xfrm>
          <a:prstGeom prst="rect">
            <a:avLst/>
          </a:prstGeom>
          <a:solidFill>
            <a:srgbClr val="FFFFFF"/>
          </a:solidFill>
          <a:ln w="25400">
            <a:solidFill>
              <a:srgbClr val="FFB703"/>
            </a:solidFill>
            <a:prstDash val="solid"/>
          </a:ln>
          <a:effectLst>
            <a:outerShdw blurRad="101600" dist="38100" dir="8100000" algn="bl" rotWithShape="0">
              <a:srgbClr val="000000">
                <a:alpha val="18000"/>
              </a:srgbClr>
            </a:outerShdw>
          </a:effectLst>
        </p:spPr>
        <p:txBody>
          <a:bodyPr/>
          <a:lstStyle/>
          <a:p>
            <a:endParaRPr lang="en-US"/>
          </a:p>
        </p:txBody>
      </p:sp>
      <p:sp>
        <p:nvSpPr>
          <p:cNvPr id="13" name="Shape 11"/>
          <p:cNvSpPr/>
          <p:nvPr/>
        </p:nvSpPr>
        <p:spPr>
          <a:xfrm>
            <a:off x="4773168" y="2194560"/>
            <a:ext cx="685800" cy="685800"/>
          </a:xfrm>
          <a:prstGeom prst="ellipse">
            <a:avLst/>
          </a:prstGeom>
          <a:solidFill>
            <a:srgbClr val="FFB703"/>
          </a:solidFill>
          <a:ln w="12700">
            <a:solidFill>
              <a:srgbClr val="FFB703"/>
            </a:solidFill>
            <a:prstDash val="solid"/>
          </a:ln>
        </p:spPr>
        <p:txBody>
          <a:bodyPr/>
          <a:lstStyle/>
          <a:p>
            <a:endParaRPr lang="en-US"/>
          </a:p>
        </p:txBody>
      </p:sp>
      <p:sp>
        <p:nvSpPr>
          <p:cNvPr id="14" name="Text 12"/>
          <p:cNvSpPr/>
          <p:nvPr/>
        </p:nvSpPr>
        <p:spPr>
          <a:xfrm>
            <a:off x="4773168" y="2194560"/>
            <a:ext cx="685800" cy="685800"/>
          </a:xfrm>
          <a:prstGeom prst="rect">
            <a:avLst/>
          </a:prstGeom>
          <a:noFill/>
        </p:spPr>
        <p:txBody>
          <a:bodyPr wrap="square" lIns="0" tIns="0" rIns="0" bIns="0" rtlCol="0" anchor="ctr"/>
          <a:lstStyle/>
          <a:p>
            <a:pPr marL="0" indent="0" algn="ctr">
              <a:buNone/>
            </a:pPr>
            <a:r>
              <a:rPr lang="en-US" sz="1600" b="1" dirty="0">
                <a:solidFill>
                  <a:srgbClr val="FFFFFF"/>
                </a:solidFill>
                <a:latin typeface="Consolas" panose="020B0609020204030204" pitchFamily="34" charset="0"/>
                <a:ea typeface="Consolas" panose="020B0609020204030204" pitchFamily="34" charset="-122"/>
                <a:cs typeface="Consolas" panose="020B0609020204030204" pitchFamily="34" charset="-120"/>
              </a:rPr>
              <a:t>wᵢ</a:t>
            </a:r>
            <a:endParaRPr lang="en-US" sz="1600" dirty="0"/>
          </a:p>
        </p:txBody>
      </p:sp>
      <p:sp>
        <p:nvSpPr>
          <p:cNvPr id="15" name="Text 13"/>
          <p:cNvSpPr/>
          <p:nvPr/>
        </p:nvSpPr>
        <p:spPr>
          <a:xfrm>
            <a:off x="5577840" y="2148840"/>
            <a:ext cx="2926080" cy="347472"/>
          </a:xfrm>
          <a:prstGeom prst="rect">
            <a:avLst/>
          </a:prstGeom>
          <a:noFill/>
        </p:spPr>
        <p:txBody>
          <a:bodyPr wrap="square" rtlCol="0" anchor="ctr"/>
          <a:lstStyle/>
          <a:p>
            <a:pPr marL="0" indent="0" algn="l">
              <a:buNone/>
            </a:pPr>
            <a:r>
              <a:rPr lang="en-US" sz="1400" b="1" dirty="0">
                <a:solidFill>
                  <a:srgbClr val="FFB703"/>
                </a:solidFill>
              </a:rPr>
              <a:t>Weights</a:t>
            </a:r>
            <a:endParaRPr lang="en-US" sz="1400" dirty="0"/>
          </a:p>
        </p:txBody>
      </p:sp>
      <p:sp>
        <p:nvSpPr>
          <p:cNvPr id="16" name="Text 14"/>
          <p:cNvSpPr/>
          <p:nvPr/>
        </p:nvSpPr>
        <p:spPr>
          <a:xfrm>
            <a:off x="5577840" y="2487168"/>
            <a:ext cx="2971800" cy="594360"/>
          </a:xfrm>
          <a:prstGeom prst="rect">
            <a:avLst/>
          </a:prstGeom>
          <a:noFill/>
        </p:spPr>
        <p:txBody>
          <a:bodyPr wrap="square" rtlCol="0" anchor="ctr"/>
          <a:lstStyle/>
          <a:p>
            <a:pPr marL="0" indent="0" algn="l">
              <a:buNone/>
            </a:pPr>
            <a:r>
              <a:rPr lang="en-US" sz="1050" dirty="0">
                <a:solidFill>
                  <a:srgbClr val="1E293B"/>
                </a:solidFill>
              </a:rPr>
              <a:t>How important each input is — learned during training. High weight = strong influence</a:t>
            </a:r>
            <a:endParaRPr lang="en-US" sz="1050" dirty="0"/>
          </a:p>
        </p:txBody>
      </p:sp>
      <p:sp>
        <p:nvSpPr>
          <p:cNvPr id="17" name="Shape 15"/>
          <p:cNvSpPr/>
          <p:nvPr/>
        </p:nvSpPr>
        <p:spPr>
          <a:xfrm>
            <a:off x="365760" y="3337560"/>
            <a:ext cx="4023360" cy="1188720"/>
          </a:xfrm>
          <a:prstGeom prst="rect">
            <a:avLst/>
          </a:prstGeom>
          <a:solidFill>
            <a:srgbClr val="FFFFFF"/>
          </a:solidFill>
          <a:ln w="25400">
            <a:solidFill>
              <a:srgbClr val="06D6A0"/>
            </a:solidFill>
            <a:prstDash val="solid"/>
          </a:ln>
          <a:effectLst>
            <a:outerShdw blurRad="101600" dist="38100" dir="8100000" algn="bl" rotWithShape="0">
              <a:srgbClr val="000000">
                <a:alpha val="18000"/>
              </a:srgbClr>
            </a:outerShdw>
          </a:effectLst>
        </p:spPr>
        <p:txBody>
          <a:bodyPr/>
          <a:lstStyle/>
          <a:p>
            <a:endParaRPr lang="en-US"/>
          </a:p>
        </p:txBody>
      </p:sp>
      <p:sp>
        <p:nvSpPr>
          <p:cNvPr id="18" name="Shape 16"/>
          <p:cNvSpPr/>
          <p:nvPr/>
        </p:nvSpPr>
        <p:spPr>
          <a:xfrm>
            <a:off x="475488" y="3520440"/>
            <a:ext cx="685800" cy="685800"/>
          </a:xfrm>
          <a:prstGeom prst="ellipse">
            <a:avLst/>
          </a:prstGeom>
          <a:solidFill>
            <a:srgbClr val="06D6A0"/>
          </a:solidFill>
          <a:ln w="12700">
            <a:solidFill>
              <a:srgbClr val="06D6A0"/>
            </a:solidFill>
            <a:prstDash val="solid"/>
          </a:ln>
        </p:spPr>
        <p:txBody>
          <a:bodyPr/>
          <a:lstStyle/>
          <a:p>
            <a:endParaRPr lang="en-US"/>
          </a:p>
        </p:txBody>
      </p:sp>
      <p:sp>
        <p:nvSpPr>
          <p:cNvPr id="19" name="Text 17"/>
          <p:cNvSpPr/>
          <p:nvPr/>
        </p:nvSpPr>
        <p:spPr>
          <a:xfrm>
            <a:off x="475488" y="3520440"/>
            <a:ext cx="685800" cy="685800"/>
          </a:xfrm>
          <a:prstGeom prst="rect">
            <a:avLst/>
          </a:prstGeom>
          <a:noFill/>
        </p:spPr>
        <p:txBody>
          <a:bodyPr wrap="square" lIns="0" tIns="0" rIns="0" bIns="0" rtlCol="0" anchor="ctr"/>
          <a:lstStyle/>
          <a:p>
            <a:pPr marL="0" indent="0" algn="ctr">
              <a:buNone/>
            </a:pPr>
            <a:r>
              <a:rPr lang="en-US" sz="1600" b="1" dirty="0">
                <a:solidFill>
                  <a:srgbClr val="FFFFFF"/>
                </a:solidFill>
                <a:latin typeface="Consolas" panose="020B0609020204030204" pitchFamily="34" charset="0"/>
                <a:ea typeface="Consolas" panose="020B0609020204030204" pitchFamily="34" charset="-122"/>
                <a:cs typeface="Consolas" panose="020B0609020204030204" pitchFamily="34" charset="-120"/>
              </a:rPr>
              <a:t>b</a:t>
            </a:r>
            <a:endParaRPr lang="en-US" sz="1600" dirty="0"/>
          </a:p>
        </p:txBody>
      </p:sp>
      <p:sp>
        <p:nvSpPr>
          <p:cNvPr id="20" name="Text 18"/>
          <p:cNvSpPr/>
          <p:nvPr/>
        </p:nvSpPr>
        <p:spPr>
          <a:xfrm>
            <a:off x="1280160" y="3474720"/>
            <a:ext cx="2926080" cy="347472"/>
          </a:xfrm>
          <a:prstGeom prst="rect">
            <a:avLst/>
          </a:prstGeom>
          <a:noFill/>
        </p:spPr>
        <p:txBody>
          <a:bodyPr wrap="square" rtlCol="0" anchor="ctr"/>
          <a:lstStyle/>
          <a:p>
            <a:pPr marL="0" indent="0" algn="l">
              <a:buNone/>
            </a:pPr>
            <a:r>
              <a:rPr lang="en-US" sz="1400" b="1" dirty="0">
                <a:solidFill>
                  <a:srgbClr val="06D6A0"/>
                </a:solidFill>
              </a:rPr>
              <a:t>Bias</a:t>
            </a:r>
            <a:endParaRPr lang="en-US" sz="1400" dirty="0"/>
          </a:p>
        </p:txBody>
      </p:sp>
      <p:sp>
        <p:nvSpPr>
          <p:cNvPr id="21" name="Text 19"/>
          <p:cNvSpPr/>
          <p:nvPr/>
        </p:nvSpPr>
        <p:spPr>
          <a:xfrm>
            <a:off x="1280160" y="3813048"/>
            <a:ext cx="2971800" cy="594360"/>
          </a:xfrm>
          <a:prstGeom prst="rect">
            <a:avLst/>
          </a:prstGeom>
          <a:noFill/>
        </p:spPr>
        <p:txBody>
          <a:bodyPr wrap="square" rtlCol="0" anchor="ctr"/>
          <a:lstStyle/>
          <a:p>
            <a:pPr marL="0" indent="0" algn="l">
              <a:buNone/>
            </a:pPr>
            <a:r>
              <a:rPr lang="en-US" sz="1050" dirty="0">
                <a:solidFill>
                  <a:srgbClr val="1E293B"/>
                </a:solidFill>
              </a:rPr>
              <a:t>A constant that helps the model shift its decision boundary — adds flexibility</a:t>
            </a:r>
            <a:endParaRPr lang="en-US" sz="1050" dirty="0"/>
          </a:p>
        </p:txBody>
      </p:sp>
      <p:sp>
        <p:nvSpPr>
          <p:cNvPr id="22" name="Shape 20"/>
          <p:cNvSpPr/>
          <p:nvPr/>
        </p:nvSpPr>
        <p:spPr>
          <a:xfrm>
            <a:off x="4663440" y="3337560"/>
            <a:ext cx="4023360" cy="1188720"/>
          </a:xfrm>
          <a:prstGeom prst="rect">
            <a:avLst/>
          </a:prstGeom>
          <a:solidFill>
            <a:srgbClr val="FFFFFF"/>
          </a:solidFill>
          <a:ln w="25400">
            <a:solidFill>
              <a:srgbClr val="FF6B9D"/>
            </a:solidFill>
            <a:prstDash val="solid"/>
          </a:ln>
          <a:effectLst>
            <a:outerShdw blurRad="101600" dist="38100" dir="8100000" algn="bl" rotWithShape="0">
              <a:srgbClr val="000000">
                <a:alpha val="18000"/>
              </a:srgbClr>
            </a:outerShdw>
          </a:effectLst>
        </p:spPr>
        <p:txBody>
          <a:bodyPr/>
          <a:lstStyle/>
          <a:p>
            <a:endParaRPr lang="en-US"/>
          </a:p>
        </p:txBody>
      </p:sp>
      <p:sp>
        <p:nvSpPr>
          <p:cNvPr id="23" name="Shape 21"/>
          <p:cNvSpPr/>
          <p:nvPr/>
        </p:nvSpPr>
        <p:spPr>
          <a:xfrm>
            <a:off x="4773168" y="3520440"/>
            <a:ext cx="685800" cy="685800"/>
          </a:xfrm>
          <a:prstGeom prst="ellipse">
            <a:avLst/>
          </a:prstGeom>
          <a:solidFill>
            <a:srgbClr val="FF6B9D"/>
          </a:solidFill>
          <a:ln w="12700">
            <a:solidFill>
              <a:srgbClr val="FF6B9D"/>
            </a:solidFill>
            <a:prstDash val="solid"/>
          </a:ln>
        </p:spPr>
        <p:txBody>
          <a:bodyPr/>
          <a:lstStyle/>
          <a:p>
            <a:endParaRPr lang="en-US"/>
          </a:p>
        </p:txBody>
      </p:sp>
      <p:sp>
        <p:nvSpPr>
          <p:cNvPr id="24" name="Text 22"/>
          <p:cNvSpPr/>
          <p:nvPr/>
        </p:nvSpPr>
        <p:spPr>
          <a:xfrm>
            <a:off x="4773168" y="3520440"/>
            <a:ext cx="685800" cy="685800"/>
          </a:xfrm>
          <a:prstGeom prst="rect">
            <a:avLst/>
          </a:prstGeom>
          <a:noFill/>
        </p:spPr>
        <p:txBody>
          <a:bodyPr wrap="square" lIns="0" tIns="0" rIns="0" bIns="0" rtlCol="0" anchor="ctr"/>
          <a:lstStyle/>
          <a:p>
            <a:pPr marL="0" indent="0" algn="ctr">
              <a:buNone/>
            </a:pPr>
            <a:r>
              <a:rPr lang="en-US" sz="1600" b="1" dirty="0">
                <a:solidFill>
                  <a:srgbClr val="FFFFFF"/>
                </a:solidFill>
                <a:latin typeface="Consolas" panose="020B0609020204030204" pitchFamily="34" charset="0"/>
                <a:ea typeface="Consolas" panose="020B0609020204030204" pitchFamily="34" charset="-122"/>
                <a:cs typeface="Consolas" panose="020B0609020204030204" pitchFamily="34" charset="-120"/>
              </a:rPr>
              <a:t>f()</a:t>
            </a:r>
            <a:endParaRPr lang="en-US" sz="1600" dirty="0"/>
          </a:p>
        </p:txBody>
      </p:sp>
      <p:sp>
        <p:nvSpPr>
          <p:cNvPr id="25" name="Text 23"/>
          <p:cNvSpPr/>
          <p:nvPr/>
        </p:nvSpPr>
        <p:spPr>
          <a:xfrm>
            <a:off x="5577840" y="3474720"/>
            <a:ext cx="2926080" cy="347472"/>
          </a:xfrm>
          <a:prstGeom prst="rect">
            <a:avLst/>
          </a:prstGeom>
          <a:noFill/>
        </p:spPr>
        <p:txBody>
          <a:bodyPr wrap="square" rtlCol="0" anchor="ctr"/>
          <a:lstStyle/>
          <a:p>
            <a:pPr marL="0" indent="0" algn="l">
              <a:buNone/>
            </a:pPr>
            <a:r>
              <a:rPr lang="en-US" sz="1400" b="1" dirty="0">
                <a:solidFill>
                  <a:srgbClr val="FF6B9D"/>
                </a:solidFill>
              </a:rPr>
              <a:t>Activation</a:t>
            </a:r>
            <a:endParaRPr lang="en-US" sz="1400" dirty="0"/>
          </a:p>
        </p:txBody>
      </p:sp>
      <p:sp>
        <p:nvSpPr>
          <p:cNvPr id="26" name="Text 24"/>
          <p:cNvSpPr/>
          <p:nvPr/>
        </p:nvSpPr>
        <p:spPr>
          <a:xfrm>
            <a:off x="5577840" y="3813048"/>
            <a:ext cx="2971800" cy="594360"/>
          </a:xfrm>
          <a:prstGeom prst="rect">
            <a:avLst/>
          </a:prstGeom>
          <a:noFill/>
        </p:spPr>
        <p:txBody>
          <a:bodyPr wrap="square" rtlCol="0" anchor="ctr"/>
          <a:lstStyle/>
          <a:p>
            <a:pPr marL="0" indent="0" algn="l">
              <a:buNone/>
            </a:pPr>
            <a:r>
              <a:rPr lang="en-US" sz="1050" dirty="0">
                <a:solidFill>
                  <a:srgbClr val="1E293B"/>
                </a:solidFill>
              </a:rPr>
              <a:t>A function that decides if/how strongly the neuron fires (sigmoid, ReLU, tanh…)</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651510" y="0"/>
            <a:ext cx="7840980" cy="51435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B703"/>
          </a:solidFill>
          <a:ln w="12700">
            <a:solidFill>
              <a:srgbClr val="FFB703"/>
            </a:solidFill>
            <a:prstDash val="solid"/>
          </a:ln>
        </p:spPr>
        <p:txBody>
          <a:bodyPr/>
          <a:lstStyle/>
          <a:p>
            <a:endParaRPr lang="en-US"/>
          </a:p>
        </p:txBody>
      </p:sp>
      <p:sp>
        <p:nvSpPr>
          <p:cNvPr id="3" name="Text 1"/>
          <p:cNvSpPr/>
          <p:nvPr/>
        </p:nvSpPr>
        <p:spPr>
          <a:xfrm>
            <a:off x="274320" y="0"/>
            <a:ext cx="8595360" cy="914400"/>
          </a:xfrm>
          <a:prstGeom prst="rect">
            <a:avLst/>
          </a:prstGeom>
          <a:noFill/>
        </p:spPr>
        <p:txBody>
          <a:bodyPr wrap="square" rtlCol="0" anchor="ctr"/>
          <a:lstStyle/>
          <a:p>
            <a:pPr marL="0" indent="0" algn="l">
              <a:buNone/>
            </a:pPr>
            <a:r>
              <a:rPr lang="en-US" sz="2200" b="1" dirty="0">
                <a:solidFill>
                  <a:srgbClr val="0A1628"/>
                </a:solidFill>
              </a:rPr>
              <a:t>Understanding Weights with a Story!</a:t>
            </a:r>
            <a:endParaRPr lang="en-US" sz="2200" dirty="0"/>
          </a:p>
        </p:txBody>
      </p:sp>
      <p:sp>
        <p:nvSpPr>
          <p:cNvPr id="4" name="Shape 2"/>
          <p:cNvSpPr/>
          <p:nvPr/>
        </p:nvSpPr>
        <p:spPr>
          <a:xfrm>
            <a:off x="274320" y="1005840"/>
            <a:ext cx="5303520" cy="3931920"/>
          </a:xfrm>
          <a:prstGeom prst="rect">
            <a:avLst/>
          </a:prstGeom>
          <a:solidFill>
            <a:srgbClr val="FFFFFF"/>
          </a:solidFill>
          <a:ln w="25400">
            <a:solidFill>
              <a:srgbClr val="FFB703"/>
            </a:solidFill>
            <a:prstDash val="solid"/>
          </a:ln>
          <a:effectLst>
            <a:outerShdw blurRad="101600" dist="38100" dir="8100000" algn="bl" rotWithShape="0">
              <a:srgbClr val="000000">
                <a:alpha val="18000"/>
              </a:srgbClr>
            </a:outerShdw>
          </a:effectLst>
        </p:spPr>
        <p:txBody>
          <a:bodyPr/>
          <a:lstStyle/>
          <a:p>
            <a:endParaRPr lang="en-US"/>
          </a:p>
        </p:txBody>
      </p:sp>
      <p:sp>
        <p:nvSpPr>
          <p:cNvPr id="5" name="Text 3"/>
          <p:cNvSpPr/>
          <p:nvPr/>
        </p:nvSpPr>
        <p:spPr>
          <a:xfrm>
            <a:off x="457200" y="1078992"/>
            <a:ext cx="4937760" cy="411480"/>
          </a:xfrm>
          <a:prstGeom prst="rect">
            <a:avLst/>
          </a:prstGeom>
          <a:noFill/>
        </p:spPr>
        <p:txBody>
          <a:bodyPr wrap="square" rtlCol="0" anchor="ctr"/>
          <a:lstStyle/>
          <a:p>
            <a:pPr marL="0" indent="0" algn="l">
              <a:buNone/>
            </a:pPr>
            <a:r>
              <a:rPr lang="en-US" sz="1500" b="1" dirty="0">
                <a:solidFill>
                  <a:srgbClr val="FB8500"/>
                </a:solidFill>
              </a:rPr>
              <a:t>🎂 The Birthday Cake Decider!</a:t>
            </a:r>
            <a:endParaRPr lang="en-US" sz="1500" dirty="0"/>
          </a:p>
        </p:txBody>
      </p:sp>
      <p:sp>
        <p:nvSpPr>
          <p:cNvPr id="6" name="Text 4"/>
          <p:cNvSpPr/>
          <p:nvPr/>
        </p:nvSpPr>
        <p:spPr>
          <a:xfrm>
            <a:off x="457200" y="1508760"/>
            <a:ext cx="5029200" cy="3200400"/>
          </a:xfrm>
          <a:prstGeom prst="rect">
            <a:avLst/>
          </a:prstGeom>
          <a:noFill/>
        </p:spPr>
        <p:txBody>
          <a:bodyPr wrap="square" rtlCol="0" anchor="ctr"/>
          <a:lstStyle/>
          <a:p>
            <a:pPr marL="0" indent="0" algn="l">
              <a:buNone/>
            </a:pPr>
            <a:r>
              <a:rPr lang="en-US" sz="1150" dirty="0">
                <a:solidFill>
                  <a:srgbClr val="1E293B"/>
                </a:solidFill>
              </a:rPr>
              <a:t>Imagine you're deciding if Mom will bake a birthday cake.
</a:t>
            </a:r>
            <a:r>
              <a:rPr lang="en-US" sz="1150" b="1" dirty="0">
                <a:solidFill>
                  <a:srgbClr val="1B4F9C"/>
                </a:solidFill>
              </a:rPr>
              <a:t>The INPUTS are clues:
</a:t>
            </a:r>
            <a:r>
              <a:rPr lang="en-US" sz="1150" dirty="0">
                <a:solidFill>
                  <a:srgbClr val="1E293B"/>
                </a:solidFill>
              </a:rPr>
              <a:t>  🎂  Is it your birthday?  (x₁ = 1 if Yes, 0 if No)
  😊  Is Mom in a good mood?  (x₂ = 1 if Yes, 0 if No)
  🛒  Are there ingredients?  (x₃ = 1 if Yes, 0 if No)
</a:t>
            </a:r>
            <a:r>
              <a:rPr lang="en-US" sz="1150" b="1" dirty="0">
                <a:solidFill>
                  <a:srgbClr val="1B4F9C"/>
                </a:solidFill>
              </a:rPr>
              <a:t>The WEIGHTS show importance:
</a:t>
            </a:r>
            <a:r>
              <a:rPr lang="en-US" sz="1150" dirty="0">
                <a:solidFill>
                  <a:srgbClr val="1E293B"/>
                </a:solidFill>
              </a:rPr>
              <a:t>  Birthday? = 5 (very important!)
  Good mood? = 3 (quite important)
  Ingredients? = 4 (very important!)
</a:t>
            </a:r>
            <a:r>
              <a:rPr lang="en-US" sz="1150" b="1" dirty="0">
                <a:solidFill>
                  <a:srgbClr val="0096C7"/>
                </a:solidFill>
              </a:rPr>
              <a:t>SUM = (1×5) + (1×3) + (1×4) = 12
</a:t>
            </a:r>
            <a:r>
              <a:rPr lang="en-US" sz="1150" b="1" dirty="0">
                <a:solidFill>
                  <a:srgbClr val="06D6A0"/>
                </a:solidFill>
              </a:rPr>
              <a:t>If SUM &gt; 7 → 🎂 YES, bake a cake!
</a:t>
            </a:r>
            <a:r>
              <a:rPr lang="en-US" sz="1150" b="1" dirty="0">
                <a:solidFill>
                  <a:srgbClr val="EF4444"/>
                </a:solidFill>
              </a:rPr>
              <a:t>If SUM ≤ 7 → ❌ No cake today...</a:t>
            </a:r>
            <a:endParaRPr lang="en-US" sz="1150" dirty="0"/>
          </a:p>
        </p:txBody>
      </p:sp>
      <p:sp>
        <p:nvSpPr>
          <p:cNvPr id="7" name="Shape 5"/>
          <p:cNvSpPr/>
          <p:nvPr/>
        </p:nvSpPr>
        <p:spPr>
          <a:xfrm>
            <a:off x="5760720" y="1005840"/>
            <a:ext cx="3108960" cy="3931920"/>
          </a:xfrm>
          <a:prstGeom prst="rect">
            <a:avLst/>
          </a:prstGeom>
          <a:solidFill>
            <a:srgbClr val="FFF8E7"/>
          </a:solidFill>
          <a:ln w="12700">
            <a:solidFill>
              <a:srgbClr val="FB8500"/>
            </a:solidFill>
            <a:prstDash val="solid"/>
          </a:ln>
        </p:spPr>
        <p:txBody>
          <a:bodyPr/>
          <a:lstStyle/>
          <a:p>
            <a:endParaRPr lang="en-US"/>
          </a:p>
        </p:txBody>
      </p:sp>
      <p:sp>
        <p:nvSpPr>
          <p:cNvPr id="8" name="Text 6"/>
          <p:cNvSpPr/>
          <p:nvPr/>
        </p:nvSpPr>
        <p:spPr>
          <a:xfrm>
            <a:off x="5852160" y="1078992"/>
            <a:ext cx="2926080" cy="365760"/>
          </a:xfrm>
          <a:prstGeom prst="rect">
            <a:avLst/>
          </a:prstGeom>
          <a:noFill/>
        </p:spPr>
        <p:txBody>
          <a:bodyPr wrap="square" rtlCol="0" anchor="ctr"/>
          <a:lstStyle/>
          <a:p>
            <a:pPr marL="0" indent="0" algn="ctr">
              <a:buNone/>
            </a:pPr>
            <a:r>
              <a:rPr lang="en-US" sz="1300" b="1" dirty="0">
                <a:solidFill>
                  <a:srgbClr val="FB8500"/>
                </a:solidFill>
              </a:rPr>
              <a:t>The Math in Real Life:</a:t>
            </a:r>
            <a:endParaRPr lang="en-US" sz="1300" dirty="0"/>
          </a:p>
        </p:txBody>
      </p:sp>
      <p:sp>
        <p:nvSpPr>
          <p:cNvPr id="9" name="Shape 7"/>
          <p:cNvSpPr/>
          <p:nvPr/>
        </p:nvSpPr>
        <p:spPr>
          <a:xfrm>
            <a:off x="5806440" y="1508760"/>
            <a:ext cx="1371600" cy="292608"/>
          </a:xfrm>
          <a:prstGeom prst="rect">
            <a:avLst/>
          </a:prstGeom>
          <a:solidFill>
            <a:srgbClr val="0A1628"/>
          </a:solidFill>
          <a:ln w="12700">
            <a:solidFill>
              <a:srgbClr val="0A1628"/>
            </a:solidFill>
            <a:prstDash val="solid"/>
          </a:ln>
        </p:spPr>
        <p:txBody>
          <a:bodyPr/>
          <a:lstStyle/>
          <a:p>
            <a:endParaRPr lang="en-US"/>
          </a:p>
        </p:txBody>
      </p:sp>
      <p:sp>
        <p:nvSpPr>
          <p:cNvPr id="10" name="Text 8"/>
          <p:cNvSpPr/>
          <p:nvPr/>
        </p:nvSpPr>
        <p:spPr>
          <a:xfrm>
            <a:off x="5806440" y="1508760"/>
            <a:ext cx="1371600" cy="292608"/>
          </a:xfrm>
          <a:prstGeom prst="rect">
            <a:avLst/>
          </a:prstGeom>
          <a:noFill/>
        </p:spPr>
        <p:txBody>
          <a:bodyPr wrap="square" lIns="0" tIns="0" rIns="0" bIns="0" rtlCol="0" anchor="ctr"/>
          <a:lstStyle/>
          <a:p>
            <a:pPr marL="0" indent="0" algn="ctr">
              <a:buNone/>
            </a:pPr>
            <a:r>
              <a:rPr lang="en-US" sz="900" b="1" dirty="0">
                <a:solidFill>
                  <a:srgbClr val="FFB703"/>
                </a:solidFill>
              </a:rPr>
              <a:t>Story</a:t>
            </a:r>
            <a:endParaRPr lang="en-US" sz="900" dirty="0"/>
          </a:p>
        </p:txBody>
      </p:sp>
      <p:sp>
        <p:nvSpPr>
          <p:cNvPr id="11" name="Shape 9"/>
          <p:cNvSpPr/>
          <p:nvPr/>
        </p:nvSpPr>
        <p:spPr>
          <a:xfrm>
            <a:off x="7242048" y="1508760"/>
            <a:ext cx="1554480" cy="292608"/>
          </a:xfrm>
          <a:prstGeom prst="rect">
            <a:avLst/>
          </a:prstGeom>
          <a:solidFill>
            <a:srgbClr val="0A1628"/>
          </a:solidFill>
          <a:ln w="12700">
            <a:solidFill>
              <a:srgbClr val="0A1628"/>
            </a:solidFill>
            <a:prstDash val="solid"/>
          </a:ln>
        </p:spPr>
        <p:txBody>
          <a:bodyPr/>
          <a:lstStyle/>
          <a:p>
            <a:endParaRPr lang="en-US"/>
          </a:p>
        </p:txBody>
      </p:sp>
      <p:sp>
        <p:nvSpPr>
          <p:cNvPr id="12" name="Text 10"/>
          <p:cNvSpPr/>
          <p:nvPr/>
        </p:nvSpPr>
        <p:spPr>
          <a:xfrm>
            <a:off x="7242048" y="1508760"/>
            <a:ext cx="1554480" cy="292608"/>
          </a:xfrm>
          <a:prstGeom prst="rect">
            <a:avLst/>
          </a:prstGeom>
          <a:noFill/>
        </p:spPr>
        <p:txBody>
          <a:bodyPr wrap="square" lIns="0" tIns="0" rIns="0" bIns="0" rtlCol="0" anchor="ctr"/>
          <a:lstStyle/>
          <a:p>
            <a:pPr marL="0" indent="0" algn="ctr">
              <a:buNone/>
            </a:pPr>
            <a:r>
              <a:rPr lang="en-US" sz="900" b="1" dirty="0">
                <a:solidFill>
                  <a:srgbClr val="00B4D8"/>
                </a:solidFill>
              </a:rPr>
              <a:t>ANN Math</a:t>
            </a:r>
            <a:endParaRPr lang="en-US" sz="900" dirty="0"/>
          </a:p>
        </p:txBody>
      </p:sp>
      <p:sp>
        <p:nvSpPr>
          <p:cNvPr id="13" name="Shape 11"/>
          <p:cNvSpPr/>
          <p:nvPr/>
        </p:nvSpPr>
        <p:spPr>
          <a:xfrm>
            <a:off x="5806440" y="1828800"/>
            <a:ext cx="1371600" cy="429768"/>
          </a:xfrm>
          <a:prstGeom prst="rect">
            <a:avLst/>
          </a:prstGeom>
          <a:solidFill>
            <a:srgbClr val="FFFDE7"/>
          </a:solidFill>
          <a:ln w="6350">
            <a:solidFill>
              <a:srgbClr val="E0C060"/>
            </a:solidFill>
            <a:prstDash val="solid"/>
          </a:ln>
        </p:spPr>
        <p:txBody>
          <a:bodyPr/>
          <a:lstStyle/>
          <a:p>
            <a:endParaRPr lang="en-US"/>
          </a:p>
        </p:txBody>
      </p:sp>
      <p:sp>
        <p:nvSpPr>
          <p:cNvPr id="14" name="Shape 12"/>
          <p:cNvSpPr/>
          <p:nvPr/>
        </p:nvSpPr>
        <p:spPr>
          <a:xfrm>
            <a:off x="7242048" y="1828800"/>
            <a:ext cx="1554480" cy="429768"/>
          </a:xfrm>
          <a:prstGeom prst="rect">
            <a:avLst/>
          </a:prstGeom>
          <a:solidFill>
            <a:srgbClr val="FFFDE7"/>
          </a:solidFill>
          <a:ln w="6350">
            <a:solidFill>
              <a:srgbClr val="E0C060"/>
            </a:solidFill>
            <a:prstDash val="solid"/>
          </a:ln>
        </p:spPr>
        <p:txBody>
          <a:bodyPr/>
          <a:lstStyle/>
          <a:p>
            <a:endParaRPr lang="en-US"/>
          </a:p>
        </p:txBody>
      </p:sp>
      <p:sp>
        <p:nvSpPr>
          <p:cNvPr id="15" name="Text 13"/>
          <p:cNvSpPr/>
          <p:nvPr/>
        </p:nvSpPr>
        <p:spPr>
          <a:xfrm>
            <a:off x="5833872" y="1847088"/>
            <a:ext cx="1335024" cy="393192"/>
          </a:xfrm>
          <a:prstGeom prst="rect">
            <a:avLst/>
          </a:prstGeom>
          <a:noFill/>
        </p:spPr>
        <p:txBody>
          <a:bodyPr wrap="square" rtlCol="0" anchor="ctr"/>
          <a:lstStyle/>
          <a:p>
            <a:pPr marL="0" indent="0" algn="ctr">
              <a:buNone/>
            </a:pPr>
            <a:r>
              <a:rPr lang="en-US" sz="900" dirty="0">
                <a:solidFill>
                  <a:srgbClr val="FB8500"/>
                </a:solidFill>
              </a:rPr>
              <a:t>Cake Inputs</a:t>
            </a:r>
            <a:endParaRPr lang="en-US" sz="900" dirty="0"/>
          </a:p>
        </p:txBody>
      </p:sp>
      <p:sp>
        <p:nvSpPr>
          <p:cNvPr id="16" name="Text 14"/>
          <p:cNvSpPr/>
          <p:nvPr/>
        </p:nvSpPr>
        <p:spPr>
          <a:xfrm>
            <a:off x="7269480" y="1847088"/>
            <a:ext cx="1517904" cy="393192"/>
          </a:xfrm>
          <a:prstGeom prst="rect">
            <a:avLst/>
          </a:prstGeom>
          <a:noFill/>
        </p:spPr>
        <p:txBody>
          <a:bodyPr wrap="square" rtlCol="0" anchor="ctr"/>
          <a:lstStyle/>
          <a:p>
            <a:pPr marL="0" indent="0" algn="ctr">
              <a:buNone/>
            </a:pPr>
            <a:r>
              <a:rPr lang="en-US" sz="900" dirty="0">
                <a:solidFill>
                  <a:srgbClr val="0096C7"/>
                </a:solidFill>
                <a:latin typeface="Consolas" panose="020B0609020204030204" pitchFamily="34" charset="0"/>
                <a:ea typeface="Consolas" panose="020B0609020204030204" pitchFamily="34" charset="-122"/>
                <a:cs typeface="Consolas" panose="020B0609020204030204" pitchFamily="34" charset="-120"/>
              </a:rPr>
              <a:t>x₁, x₂, x₃ (Input values)</a:t>
            </a:r>
            <a:endParaRPr lang="en-US" sz="900" dirty="0"/>
          </a:p>
        </p:txBody>
      </p:sp>
      <p:sp>
        <p:nvSpPr>
          <p:cNvPr id="17" name="Shape 15"/>
          <p:cNvSpPr/>
          <p:nvPr/>
        </p:nvSpPr>
        <p:spPr>
          <a:xfrm>
            <a:off x="5806440" y="2286000"/>
            <a:ext cx="1371600" cy="429768"/>
          </a:xfrm>
          <a:prstGeom prst="rect">
            <a:avLst/>
          </a:prstGeom>
          <a:solidFill>
            <a:srgbClr val="FFF8E7"/>
          </a:solidFill>
          <a:ln w="6350">
            <a:solidFill>
              <a:srgbClr val="E0C060"/>
            </a:solidFill>
            <a:prstDash val="solid"/>
          </a:ln>
        </p:spPr>
        <p:txBody>
          <a:bodyPr/>
          <a:lstStyle/>
          <a:p>
            <a:endParaRPr lang="en-US"/>
          </a:p>
        </p:txBody>
      </p:sp>
      <p:sp>
        <p:nvSpPr>
          <p:cNvPr id="18" name="Shape 16"/>
          <p:cNvSpPr/>
          <p:nvPr/>
        </p:nvSpPr>
        <p:spPr>
          <a:xfrm>
            <a:off x="7242048" y="2286000"/>
            <a:ext cx="1554480" cy="429768"/>
          </a:xfrm>
          <a:prstGeom prst="rect">
            <a:avLst/>
          </a:prstGeom>
          <a:solidFill>
            <a:srgbClr val="FFF8E7"/>
          </a:solidFill>
          <a:ln w="6350">
            <a:solidFill>
              <a:srgbClr val="E0C060"/>
            </a:solidFill>
            <a:prstDash val="solid"/>
          </a:ln>
        </p:spPr>
        <p:txBody>
          <a:bodyPr/>
          <a:lstStyle/>
          <a:p>
            <a:endParaRPr lang="en-US"/>
          </a:p>
        </p:txBody>
      </p:sp>
      <p:sp>
        <p:nvSpPr>
          <p:cNvPr id="19" name="Text 17"/>
          <p:cNvSpPr/>
          <p:nvPr/>
        </p:nvSpPr>
        <p:spPr>
          <a:xfrm>
            <a:off x="5833872" y="2304288"/>
            <a:ext cx="1335024" cy="393192"/>
          </a:xfrm>
          <a:prstGeom prst="rect">
            <a:avLst/>
          </a:prstGeom>
          <a:noFill/>
        </p:spPr>
        <p:txBody>
          <a:bodyPr wrap="square" rtlCol="0" anchor="ctr"/>
          <a:lstStyle/>
          <a:p>
            <a:pPr marL="0" indent="0" algn="ctr">
              <a:buNone/>
            </a:pPr>
            <a:r>
              <a:rPr lang="en-US" sz="900" dirty="0">
                <a:solidFill>
                  <a:srgbClr val="FB8500"/>
                </a:solidFill>
              </a:rPr>
              <a:t>Importance</a:t>
            </a:r>
            <a:endParaRPr lang="en-US" sz="900" dirty="0"/>
          </a:p>
        </p:txBody>
      </p:sp>
      <p:sp>
        <p:nvSpPr>
          <p:cNvPr id="20" name="Text 18"/>
          <p:cNvSpPr/>
          <p:nvPr/>
        </p:nvSpPr>
        <p:spPr>
          <a:xfrm>
            <a:off x="7269480" y="2304288"/>
            <a:ext cx="1517904" cy="393192"/>
          </a:xfrm>
          <a:prstGeom prst="rect">
            <a:avLst/>
          </a:prstGeom>
          <a:noFill/>
        </p:spPr>
        <p:txBody>
          <a:bodyPr wrap="square" rtlCol="0" anchor="ctr"/>
          <a:lstStyle/>
          <a:p>
            <a:pPr marL="0" indent="0" algn="ctr">
              <a:buNone/>
            </a:pPr>
            <a:r>
              <a:rPr lang="en-US" sz="900" dirty="0">
                <a:solidFill>
                  <a:srgbClr val="0096C7"/>
                </a:solidFill>
                <a:latin typeface="Consolas" panose="020B0609020204030204" pitchFamily="34" charset="0"/>
                <a:ea typeface="Consolas" panose="020B0609020204030204" pitchFamily="34" charset="-122"/>
                <a:cs typeface="Consolas" panose="020B0609020204030204" pitchFamily="34" charset="-120"/>
              </a:rPr>
              <a:t>w₁, w₂, w₃ (Weights)</a:t>
            </a:r>
            <a:endParaRPr lang="en-US" sz="900" dirty="0"/>
          </a:p>
        </p:txBody>
      </p:sp>
      <p:sp>
        <p:nvSpPr>
          <p:cNvPr id="21" name="Shape 19"/>
          <p:cNvSpPr/>
          <p:nvPr/>
        </p:nvSpPr>
        <p:spPr>
          <a:xfrm>
            <a:off x="5806440" y="2743200"/>
            <a:ext cx="1371600" cy="429768"/>
          </a:xfrm>
          <a:prstGeom prst="rect">
            <a:avLst/>
          </a:prstGeom>
          <a:solidFill>
            <a:srgbClr val="FFFDE7"/>
          </a:solidFill>
          <a:ln w="6350">
            <a:solidFill>
              <a:srgbClr val="E0C060"/>
            </a:solidFill>
            <a:prstDash val="solid"/>
          </a:ln>
        </p:spPr>
        <p:txBody>
          <a:bodyPr/>
          <a:lstStyle/>
          <a:p>
            <a:endParaRPr lang="en-US"/>
          </a:p>
        </p:txBody>
      </p:sp>
      <p:sp>
        <p:nvSpPr>
          <p:cNvPr id="22" name="Shape 20"/>
          <p:cNvSpPr/>
          <p:nvPr/>
        </p:nvSpPr>
        <p:spPr>
          <a:xfrm>
            <a:off x="7242048" y="2743200"/>
            <a:ext cx="1554480" cy="429768"/>
          </a:xfrm>
          <a:prstGeom prst="rect">
            <a:avLst/>
          </a:prstGeom>
          <a:solidFill>
            <a:srgbClr val="FFFDE7"/>
          </a:solidFill>
          <a:ln w="6350">
            <a:solidFill>
              <a:srgbClr val="E0C060"/>
            </a:solidFill>
            <a:prstDash val="solid"/>
          </a:ln>
        </p:spPr>
        <p:txBody>
          <a:bodyPr/>
          <a:lstStyle/>
          <a:p>
            <a:endParaRPr lang="en-US"/>
          </a:p>
        </p:txBody>
      </p:sp>
      <p:sp>
        <p:nvSpPr>
          <p:cNvPr id="23" name="Text 21"/>
          <p:cNvSpPr/>
          <p:nvPr/>
        </p:nvSpPr>
        <p:spPr>
          <a:xfrm>
            <a:off x="5833872" y="2761488"/>
            <a:ext cx="1335024" cy="393192"/>
          </a:xfrm>
          <a:prstGeom prst="rect">
            <a:avLst/>
          </a:prstGeom>
          <a:noFill/>
        </p:spPr>
        <p:txBody>
          <a:bodyPr wrap="square" rtlCol="0" anchor="ctr"/>
          <a:lstStyle/>
          <a:p>
            <a:pPr marL="0" indent="0" algn="ctr">
              <a:buNone/>
            </a:pPr>
            <a:r>
              <a:rPr lang="en-US" sz="900" dirty="0">
                <a:solidFill>
                  <a:srgbClr val="FB8500"/>
                </a:solidFill>
              </a:rPr>
              <a:t>"How sure am I?"</a:t>
            </a:r>
            <a:endParaRPr lang="en-US" sz="900" dirty="0"/>
          </a:p>
        </p:txBody>
      </p:sp>
      <p:sp>
        <p:nvSpPr>
          <p:cNvPr id="24" name="Text 22"/>
          <p:cNvSpPr/>
          <p:nvPr/>
        </p:nvSpPr>
        <p:spPr>
          <a:xfrm>
            <a:off x="7269480" y="2761488"/>
            <a:ext cx="1517904" cy="393192"/>
          </a:xfrm>
          <a:prstGeom prst="rect">
            <a:avLst/>
          </a:prstGeom>
          <a:noFill/>
        </p:spPr>
        <p:txBody>
          <a:bodyPr wrap="square" rtlCol="0" anchor="ctr"/>
          <a:lstStyle/>
          <a:p>
            <a:pPr marL="0" indent="0" algn="ctr">
              <a:buNone/>
            </a:pPr>
            <a:r>
              <a:rPr lang="en-US" sz="900" dirty="0">
                <a:solidFill>
                  <a:srgbClr val="0096C7"/>
                </a:solidFill>
                <a:latin typeface="Consolas" panose="020B0609020204030204" pitchFamily="34" charset="0"/>
                <a:ea typeface="Consolas" panose="020B0609020204030204" pitchFamily="34" charset="-122"/>
                <a:cs typeface="Consolas" panose="020B0609020204030204" pitchFamily="34" charset="-120"/>
              </a:rPr>
              <a:t>b (Bias)</a:t>
            </a:r>
            <a:endParaRPr lang="en-US" sz="900" dirty="0"/>
          </a:p>
        </p:txBody>
      </p:sp>
      <p:sp>
        <p:nvSpPr>
          <p:cNvPr id="25" name="Shape 23"/>
          <p:cNvSpPr/>
          <p:nvPr/>
        </p:nvSpPr>
        <p:spPr>
          <a:xfrm>
            <a:off x="5806440" y="3200400"/>
            <a:ext cx="1371600" cy="429768"/>
          </a:xfrm>
          <a:prstGeom prst="rect">
            <a:avLst/>
          </a:prstGeom>
          <a:solidFill>
            <a:srgbClr val="FFF8E7"/>
          </a:solidFill>
          <a:ln w="6350">
            <a:solidFill>
              <a:srgbClr val="E0C060"/>
            </a:solidFill>
            <a:prstDash val="solid"/>
          </a:ln>
        </p:spPr>
        <p:txBody>
          <a:bodyPr/>
          <a:lstStyle/>
          <a:p>
            <a:endParaRPr lang="en-US"/>
          </a:p>
        </p:txBody>
      </p:sp>
      <p:sp>
        <p:nvSpPr>
          <p:cNvPr id="26" name="Shape 24"/>
          <p:cNvSpPr/>
          <p:nvPr/>
        </p:nvSpPr>
        <p:spPr>
          <a:xfrm>
            <a:off x="7242048" y="3200400"/>
            <a:ext cx="1554480" cy="429768"/>
          </a:xfrm>
          <a:prstGeom prst="rect">
            <a:avLst/>
          </a:prstGeom>
          <a:solidFill>
            <a:srgbClr val="FFF8E7"/>
          </a:solidFill>
          <a:ln w="6350">
            <a:solidFill>
              <a:srgbClr val="E0C060"/>
            </a:solidFill>
            <a:prstDash val="solid"/>
          </a:ln>
        </p:spPr>
        <p:txBody>
          <a:bodyPr/>
          <a:lstStyle/>
          <a:p>
            <a:endParaRPr lang="en-US"/>
          </a:p>
        </p:txBody>
      </p:sp>
      <p:sp>
        <p:nvSpPr>
          <p:cNvPr id="27" name="Text 25"/>
          <p:cNvSpPr/>
          <p:nvPr/>
        </p:nvSpPr>
        <p:spPr>
          <a:xfrm>
            <a:off x="5833872" y="3218688"/>
            <a:ext cx="1335024" cy="393192"/>
          </a:xfrm>
          <a:prstGeom prst="rect">
            <a:avLst/>
          </a:prstGeom>
          <a:noFill/>
        </p:spPr>
        <p:txBody>
          <a:bodyPr wrap="square" rtlCol="0" anchor="ctr"/>
          <a:lstStyle/>
          <a:p>
            <a:pPr marL="0" indent="0" algn="ctr">
              <a:buNone/>
            </a:pPr>
            <a:r>
              <a:rPr lang="en-US" sz="900" dirty="0">
                <a:solidFill>
                  <a:srgbClr val="FB8500"/>
                </a:solidFill>
              </a:rPr>
              <a:t>Counting up clues</a:t>
            </a:r>
            <a:endParaRPr lang="en-US" sz="900" dirty="0"/>
          </a:p>
        </p:txBody>
      </p:sp>
      <p:sp>
        <p:nvSpPr>
          <p:cNvPr id="28" name="Text 26"/>
          <p:cNvSpPr/>
          <p:nvPr/>
        </p:nvSpPr>
        <p:spPr>
          <a:xfrm>
            <a:off x="7269480" y="3218688"/>
            <a:ext cx="1517904" cy="393192"/>
          </a:xfrm>
          <a:prstGeom prst="rect">
            <a:avLst/>
          </a:prstGeom>
          <a:noFill/>
        </p:spPr>
        <p:txBody>
          <a:bodyPr wrap="square" rtlCol="0" anchor="ctr"/>
          <a:lstStyle/>
          <a:p>
            <a:pPr marL="0" indent="0" algn="ctr">
              <a:buNone/>
            </a:pPr>
            <a:r>
              <a:rPr lang="en-US" sz="900" dirty="0">
                <a:solidFill>
                  <a:srgbClr val="0096C7"/>
                </a:solidFill>
                <a:latin typeface="Consolas" panose="020B0609020204030204" pitchFamily="34" charset="0"/>
                <a:ea typeface="Consolas" panose="020B0609020204030204" pitchFamily="34" charset="-122"/>
                <a:cs typeface="Consolas" panose="020B0609020204030204" pitchFamily="34" charset="-120"/>
              </a:rPr>
              <a:t>Σ(wᵢxᵢ) + b</a:t>
            </a:r>
            <a:endParaRPr lang="en-US" sz="900" dirty="0"/>
          </a:p>
        </p:txBody>
      </p:sp>
      <p:sp>
        <p:nvSpPr>
          <p:cNvPr id="29" name="Shape 27"/>
          <p:cNvSpPr/>
          <p:nvPr/>
        </p:nvSpPr>
        <p:spPr>
          <a:xfrm>
            <a:off x="5806440" y="3657600"/>
            <a:ext cx="1371600" cy="429768"/>
          </a:xfrm>
          <a:prstGeom prst="rect">
            <a:avLst/>
          </a:prstGeom>
          <a:solidFill>
            <a:srgbClr val="FFFDE7"/>
          </a:solidFill>
          <a:ln w="6350">
            <a:solidFill>
              <a:srgbClr val="E0C060"/>
            </a:solidFill>
            <a:prstDash val="solid"/>
          </a:ln>
        </p:spPr>
        <p:txBody>
          <a:bodyPr/>
          <a:lstStyle/>
          <a:p>
            <a:endParaRPr lang="en-US"/>
          </a:p>
        </p:txBody>
      </p:sp>
      <p:sp>
        <p:nvSpPr>
          <p:cNvPr id="30" name="Shape 28"/>
          <p:cNvSpPr/>
          <p:nvPr/>
        </p:nvSpPr>
        <p:spPr>
          <a:xfrm>
            <a:off x="7242048" y="3657600"/>
            <a:ext cx="1554480" cy="429768"/>
          </a:xfrm>
          <a:prstGeom prst="rect">
            <a:avLst/>
          </a:prstGeom>
          <a:solidFill>
            <a:srgbClr val="FFFDE7"/>
          </a:solidFill>
          <a:ln w="6350">
            <a:solidFill>
              <a:srgbClr val="E0C060"/>
            </a:solidFill>
            <a:prstDash val="solid"/>
          </a:ln>
        </p:spPr>
        <p:txBody>
          <a:bodyPr/>
          <a:lstStyle/>
          <a:p>
            <a:endParaRPr lang="en-US"/>
          </a:p>
        </p:txBody>
      </p:sp>
      <p:sp>
        <p:nvSpPr>
          <p:cNvPr id="31" name="Text 29"/>
          <p:cNvSpPr/>
          <p:nvPr/>
        </p:nvSpPr>
        <p:spPr>
          <a:xfrm>
            <a:off x="5833872" y="3675888"/>
            <a:ext cx="1335024" cy="393192"/>
          </a:xfrm>
          <a:prstGeom prst="rect">
            <a:avLst/>
          </a:prstGeom>
          <a:noFill/>
        </p:spPr>
        <p:txBody>
          <a:bodyPr wrap="square" rtlCol="0" anchor="ctr"/>
          <a:lstStyle/>
          <a:p>
            <a:pPr marL="0" indent="0" algn="ctr">
              <a:buNone/>
            </a:pPr>
            <a:r>
              <a:rPr lang="en-US" sz="900" dirty="0">
                <a:solidFill>
                  <a:srgbClr val="FB8500"/>
                </a:solidFill>
              </a:rPr>
              <a:t>"Bake or not?"</a:t>
            </a:r>
            <a:endParaRPr lang="en-US" sz="900" dirty="0"/>
          </a:p>
        </p:txBody>
      </p:sp>
      <p:sp>
        <p:nvSpPr>
          <p:cNvPr id="32" name="Text 30"/>
          <p:cNvSpPr/>
          <p:nvPr/>
        </p:nvSpPr>
        <p:spPr>
          <a:xfrm>
            <a:off x="7269480" y="3675888"/>
            <a:ext cx="1517904" cy="393192"/>
          </a:xfrm>
          <a:prstGeom prst="rect">
            <a:avLst/>
          </a:prstGeom>
          <a:noFill/>
        </p:spPr>
        <p:txBody>
          <a:bodyPr wrap="square" rtlCol="0" anchor="ctr"/>
          <a:lstStyle/>
          <a:p>
            <a:pPr marL="0" indent="0" algn="ctr">
              <a:buNone/>
            </a:pPr>
            <a:r>
              <a:rPr lang="en-US" sz="900" dirty="0">
                <a:solidFill>
                  <a:srgbClr val="0096C7"/>
                </a:solidFill>
                <a:latin typeface="Consolas" panose="020B0609020204030204" pitchFamily="34" charset="0"/>
                <a:ea typeface="Consolas" panose="020B0609020204030204" pitchFamily="34" charset="-122"/>
                <a:cs typeface="Consolas" panose="020B0609020204030204" pitchFamily="34" charset="-120"/>
              </a:rPr>
              <a:t>f() Activation fn</a:t>
            </a:r>
            <a:endParaRPr lang="en-US" sz="900" dirty="0"/>
          </a:p>
        </p:txBody>
      </p:sp>
      <p:sp>
        <p:nvSpPr>
          <p:cNvPr id="33" name="Shape 31"/>
          <p:cNvSpPr/>
          <p:nvPr/>
        </p:nvSpPr>
        <p:spPr>
          <a:xfrm>
            <a:off x="5806440" y="4114800"/>
            <a:ext cx="1371600" cy="429768"/>
          </a:xfrm>
          <a:prstGeom prst="rect">
            <a:avLst/>
          </a:prstGeom>
          <a:solidFill>
            <a:srgbClr val="FFF8E7"/>
          </a:solidFill>
          <a:ln w="6350">
            <a:solidFill>
              <a:srgbClr val="E0C060"/>
            </a:solidFill>
            <a:prstDash val="solid"/>
          </a:ln>
        </p:spPr>
        <p:txBody>
          <a:bodyPr/>
          <a:lstStyle/>
          <a:p>
            <a:endParaRPr lang="en-US"/>
          </a:p>
        </p:txBody>
      </p:sp>
      <p:sp>
        <p:nvSpPr>
          <p:cNvPr id="34" name="Shape 32"/>
          <p:cNvSpPr/>
          <p:nvPr/>
        </p:nvSpPr>
        <p:spPr>
          <a:xfrm>
            <a:off x="7242048" y="4114800"/>
            <a:ext cx="1554480" cy="429768"/>
          </a:xfrm>
          <a:prstGeom prst="rect">
            <a:avLst/>
          </a:prstGeom>
          <a:solidFill>
            <a:srgbClr val="FFF8E7"/>
          </a:solidFill>
          <a:ln w="6350">
            <a:solidFill>
              <a:srgbClr val="E0C060"/>
            </a:solidFill>
            <a:prstDash val="solid"/>
          </a:ln>
        </p:spPr>
        <p:txBody>
          <a:bodyPr/>
          <a:lstStyle/>
          <a:p>
            <a:endParaRPr lang="en-US"/>
          </a:p>
        </p:txBody>
      </p:sp>
      <p:sp>
        <p:nvSpPr>
          <p:cNvPr id="35" name="Text 33"/>
          <p:cNvSpPr/>
          <p:nvPr/>
        </p:nvSpPr>
        <p:spPr>
          <a:xfrm>
            <a:off x="5833872" y="4133088"/>
            <a:ext cx="1335024" cy="393192"/>
          </a:xfrm>
          <a:prstGeom prst="rect">
            <a:avLst/>
          </a:prstGeom>
          <a:noFill/>
        </p:spPr>
        <p:txBody>
          <a:bodyPr wrap="square" rtlCol="0" anchor="ctr"/>
          <a:lstStyle/>
          <a:p>
            <a:pPr marL="0" indent="0" algn="ctr">
              <a:buNone/>
            </a:pPr>
            <a:r>
              <a:rPr lang="en-US" sz="900" dirty="0">
                <a:solidFill>
                  <a:srgbClr val="FB8500"/>
                </a:solidFill>
              </a:rPr>
              <a:t>Learning from Mom</a:t>
            </a:r>
            <a:endParaRPr lang="en-US" sz="900" dirty="0"/>
          </a:p>
        </p:txBody>
      </p:sp>
      <p:sp>
        <p:nvSpPr>
          <p:cNvPr id="36" name="Text 34"/>
          <p:cNvSpPr/>
          <p:nvPr/>
        </p:nvSpPr>
        <p:spPr>
          <a:xfrm>
            <a:off x="7269480" y="4133088"/>
            <a:ext cx="1517904" cy="393192"/>
          </a:xfrm>
          <a:prstGeom prst="rect">
            <a:avLst/>
          </a:prstGeom>
          <a:noFill/>
        </p:spPr>
        <p:txBody>
          <a:bodyPr wrap="square" rtlCol="0" anchor="ctr"/>
          <a:lstStyle/>
          <a:p>
            <a:pPr marL="0" indent="0" algn="ctr">
              <a:buNone/>
            </a:pPr>
            <a:r>
              <a:rPr lang="en-US" sz="900" dirty="0">
                <a:solidFill>
                  <a:srgbClr val="0096C7"/>
                </a:solidFill>
                <a:latin typeface="Consolas" panose="020B0609020204030204" pitchFamily="34" charset="0"/>
                <a:ea typeface="Consolas" panose="020B0609020204030204" pitchFamily="34" charset="-122"/>
                <a:cs typeface="Consolas" panose="020B0609020204030204" pitchFamily="34" charset="-120"/>
              </a:rPr>
              <a:t>Backpropagation</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6858000" y="3200400"/>
            <a:ext cx="3657600" cy="3657600"/>
          </a:xfrm>
          <a:prstGeom prst="ellipse">
            <a:avLst/>
          </a:prstGeom>
          <a:solidFill>
            <a:srgbClr val="1B4F9C">
              <a:alpha val="15000"/>
            </a:srgbClr>
          </a:solidFill>
          <a:ln w="12700">
            <a:solidFill>
              <a:srgbClr val="1B4F9C">
                <a:alpha val="30000"/>
              </a:srgbClr>
            </a:solidFill>
            <a:prstDash val="solid"/>
          </a:ln>
        </p:spPr>
        <p:txBody>
          <a:bodyPr/>
          <a:lstStyle/>
          <a:p>
            <a:endParaRPr lang="en-US"/>
          </a:p>
        </p:txBody>
      </p:sp>
      <p:sp>
        <p:nvSpPr>
          <p:cNvPr id="3" name="Shape 1"/>
          <p:cNvSpPr/>
          <p:nvPr/>
        </p:nvSpPr>
        <p:spPr>
          <a:xfrm>
            <a:off x="-914400" y="-457200"/>
            <a:ext cx="2743200" cy="2743200"/>
          </a:xfrm>
          <a:prstGeom prst="ellipse">
            <a:avLst/>
          </a:prstGeom>
          <a:solidFill>
            <a:srgbClr val="0096C7">
              <a:alpha val="15000"/>
            </a:srgbClr>
          </a:solidFill>
          <a:ln w="12700">
            <a:solidFill>
              <a:srgbClr val="0096C7">
                <a:alpha val="30000"/>
              </a:srgbClr>
            </a:solidFill>
            <a:prstDash val="solid"/>
          </a:ln>
        </p:spPr>
        <p:txBody>
          <a:bodyPr/>
          <a:lstStyle/>
          <a:p>
            <a:endParaRPr lang="en-US"/>
          </a:p>
        </p:txBody>
      </p:sp>
      <p:sp>
        <p:nvSpPr>
          <p:cNvPr id="4" name="Text 2"/>
          <p:cNvSpPr/>
          <p:nvPr/>
        </p:nvSpPr>
        <p:spPr>
          <a:xfrm>
            <a:off x="457200" y="274320"/>
            <a:ext cx="8229600" cy="640080"/>
          </a:xfrm>
          <a:prstGeom prst="rect">
            <a:avLst/>
          </a:prstGeom>
          <a:noFill/>
        </p:spPr>
        <p:txBody>
          <a:bodyPr wrap="square" rtlCol="0" anchor="ctr"/>
          <a:lstStyle/>
          <a:p>
            <a:pPr marL="0" indent="0" algn="l">
              <a:buNone/>
            </a:pPr>
            <a:r>
              <a:rPr lang="en-US" sz="3000" b="1" dirty="0">
                <a:solidFill>
                  <a:srgbClr val="FFFFFF"/>
                </a:solidFill>
              </a:rPr>
              <a:t>Key Takeaways 🎯</a:t>
            </a:r>
            <a:endParaRPr lang="en-US" sz="3000" dirty="0"/>
          </a:p>
        </p:txBody>
      </p:sp>
      <p:sp>
        <p:nvSpPr>
          <p:cNvPr id="5" name="Shape 3"/>
          <p:cNvSpPr/>
          <p:nvPr/>
        </p:nvSpPr>
        <p:spPr>
          <a:xfrm>
            <a:off x="457200" y="960120"/>
            <a:ext cx="4572000" cy="0"/>
          </a:xfrm>
          <a:prstGeom prst="line">
            <a:avLst/>
          </a:prstGeom>
          <a:noFill/>
          <a:ln w="25400">
            <a:solidFill>
              <a:srgbClr val="00B4D8"/>
            </a:solidFill>
            <a:prstDash val="solid"/>
          </a:ln>
        </p:spPr>
        <p:txBody>
          <a:bodyPr/>
          <a:lstStyle/>
          <a:p>
            <a:endParaRPr lang="en-US"/>
          </a:p>
        </p:txBody>
      </p:sp>
      <p:sp>
        <p:nvSpPr>
          <p:cNvPr id="6" name="Shape 4"/>
          <p:cNvSpPr/>
          <p:nvPr/>
        </p:nvSpPr>
        <p:spPr>
          <a:xfrm>
            <a:off x="365760" y="1097280"/>
            <a:ext cx="7772400" cy="685800"/>
          </a:xfrm>
          <a:prstGeom prst="rect">
            <a:avLst/>
          </a:prstGeom>
          <a:solidFill>
            <a:srgbClr val="1E3A5F">
              <a:alpha val="70000"/>
            </a:srgbClr>
          </a:solidFill>
          <a:ln w="12700">
            <a:solidFill>
              <a:srgbClr val="00B4D8">
                <a:alpha val="30000"/>
              </a:srgbClr>
            </a:solidFill>
            <a:prstDash val="solid"/>
          </a:ln>
        </p:spPr>
        <p:txBody>
          <a:bodyPr/>
          <a:lstStyle/>
          <a:p>
            <a:endParaRPr lang="en-US"/>
          </a:p>
        </p:txBody>
      </p:sp>
      <p:sp>
        <p:nvSpPr>
          <p:cNvPr id="7" name="Text 5"/>
          <p:cNvSpPr/>
          <p:nvPr/>
        </p:nvSpPr>
        <p:spPr>
          <a:xfrm>
            <a:off x="411480" y="1115568"/>
            <a:ext cx="502920" cy="59436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8" name="Text 6"/>
          <p:cNvSpPr/>
          <p:nvPr/>
        </p:nvSpPr>
        <p:spPr>
          <a:xfrm>
            <a:off x="1005840" y="1133856"/>
            <a:ext cx="6949440" cy="594360"/>
          </a:xfrm>
          <a:prstGeom prst="rect">
            <a:avLst/>
          </a:prstGeom>
          <a:noFill/>
        </p:spPr>
        <p:txBody>
          <a:bodyPr wrap="square" rtlCol="0" anchor="ctr"/>
          <a:lstStyle/>
          <a:p>
            <a:pPr marL="0" indent="0" algn="l">
              <a:buNone/>
            </a:pPr>
            <a:r>
              <a:rPr lang="en-US" sz="1200" dirty="0">
                <a:solidFill>
                  <a:srgbClr val="E8F4F8"/>
                </a:solidFill>
              </a:rPr>
              <a:t>Neural Networks are inspired by the human brain — layers of connected nodes that process information</a:t>
            </a:r>
            <a:endParaRPr lang="en-US" sz="1200" dirty="0"/>
          </a:p>
        </p:txBody>
      </p:sp>
      <p:sp>
        <p:nvSpPr>
          <p:cNvPr id="9" name="Shape 7"/>
          <p:cNvSpPr/>
          <p:nvPr/>
        </p:nvSpPr>
        <p:spPr>
          <a:xfrm>
            <a:off x="365760" y="1865376"/>
            <a:ext cx="7772400" cy="685800"/>
          </a:xfrm>
          <a:prstGeom prst="rect">
            <a:avLst/>
          </a:prstGeom>
          <a:solidFill>
            <a:srgbClr val="1E3A5F">
              <a:alpha val="70000"/>
            </a:srgbClr>
          </a:solidFill>
          <a:ln w="12700">
            <a:solidFill>
              <a:srgbClr val="00B4D8">
                <a:alpha val="30000"/>
              </a:srgbClr>
            </a:solidFill>
            <a:prstDash val="solid"/>
          </a:ln>
        </p:spPr>
        <p:txBody>
          <a:bodyPr/>
          <a:lstStyle/>
          <a:p>
            <a:endParaRPr lang="en-US"/>
          </a:p>
        </p:txBody>
      </p:sp>
      <p:sp>
        <p:nvSpPr>
          <p:cNvPr id="10" name="Text 8"/>
          <p:cNvSpPr/>
          <p:nvPr/>
        </p:nvSpPr>
        <p:spPr>
          <a:xfrm>
            <a:off x="411480" y="1883664"/>
            <a:ext cx="502920" cy="59436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11" name="Text 9"/>
          <p:cNvSpPr/>
          <p:nvPr/>
        </p:nvSpPr>
        <p:spPr>
          <a:xfrm>
            <a:off x="1005840" y="1901952"/>
            <a:ext cx="6949440" cy="594360"/>
          </a:xfrm>
          <a:prstGeom prst="rect">
            <a:avLst/>
          </a:prstGeom>
          <a:noFill/>
        </p:spPr>
        <p:txBody>
          <a:bodyPr wrap="square" rtlCol="0" anchor="ctr"/>
          <a:lstStyle/>
          <a:p>
            <a:pPr marL="0" indent="0" algn="l">
              <a:buNone/>
            </a:pPr>
            <a:r>
              <a:rPr lang="en-US" sz="1200" dirty="0">
                <a:solidFill>
                  <a:srgbClr val="E8F4F8"/>
                </a:solidFill>
              </a:rPr>
              <a:t>Weights &amp; Biases are the adjustable parameters that make learning possible — they define what the network knows</a:t>
            </a:r>
            <a:endParaRPr lang="en-US" sz="1200" dirty="0"/>
          </a:p>
        </p:txBody>
      </p:sp>
      <p:sp>
        <p:nvSpPr>
          <p:cNvPr id="12" name="Shape 10"/>
          <p:cNvSpPr/>
          <p:nvPr/>
        </p:nvSpPr>
        <p:spPr>
          <a:xfrm>
            <a:off x="365760" y="2633472"/>
            <a:ext cx="7772400" cy="685800"/>
          </a:xfrm>
          <a:prstGeom prst="rect">
            <a:avLst/>
          </a:prstGeom>
          <a:solidFill>
            <a:srgbClr val="1E3A5F">
              <a:alpha val="70000"/>
            </a:srgbClr>
          </a:solidFill>
          <a:ln w="12700">
            <a:solidFill>
              <a:srgbClr val="00B4D8">
                <a:alpha val="30000"/>
              </a:srgbClr>
            </a:solidFill>
            <a:prstDash val="solid"/>
          </a:ln>
        </p:spPr>
        <p:txBody>
          <a:bodyPr/>
          <a:lstStyle/>
          <a:p>
            <a:endParaRPr lang="en-US"/>
          </a:p>
        </p:txBody>
      </p:sp>
      <p:sp>
        <p:nvSpPr>
          <p:cNvPr id="13" name="Text 11"/>
          <p:cNvSpPr/>
          <p:nvPr/>
        </p:nvSpPr>
        <p:spPr>
          <a:xfrm>
            <a:off x="411480" y="2651760"/>
            <a:ext cx="502920" cy="59436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14" name="Text 12"/>
          <p:cNvSpPr/>
          <p:nvPr/>
        </p:nvSpPr>
        <p:spPr>
          <a:xfrm>
            <a:off x="1005840" y="2670048"/>
            <a:ext cx="6949440" cy="594360"/>
          </a:xfrm>
          <a:prstGeom prst="rect">
            <a:avLst/>
          </a:prstGeom>
          <a:noFill/>
        </p:spPr>
        <p:txBody>
          <a:bodyPr wrap="square" rtlCol="0" anchor="ctr"/>
          <a:lstStyle/>
          <a:p>
            <a:pPr marL="0" indent="0" algn="l">
              <a:buNone/>
            </a:pPr>
            <a:r>
              <a:rPr lang="en-US" sz="1200" dirty="0">
                <a:solidFill>
                  <a:srgbClr val="E8F4F8"/>
                </a:solidFill>
              </a:rPr>
              <a:t>Activation functions introduce non-linearity, allowing ANNs to learn complex, real-world patterns</a:t>
            </a:r>
            <a:endParaRPr lang="en-US" sz="1200" dirty="0"/>
          </a:p>
        </p:txBody>
      </p:sp>
      <p:sp>
        <p:nvSpPr>
          <p:cNvPr id="15" name="Shape 13"/>
          <p:cNvSpPr/>
          <p:nvPr/>
        </p:nvSpPr>
        <p:spPr>
          <a:xfrm>
            <a:off x="365760" y="3401568"/>
            <a:ext cx="7772400" cy="685800"/>
          </a:xfrm>
          <a:prstGeom prst="rect">
            <a:avLst/>
          </a:prstGeom>
          <a:solidFill>
            <a:srgbClr val="1E3A5F">
              <a:alpha val="70000"/>
            </a:srgbClr>
          </a:solidFill>
          <a:ln w="12700">
            <a:solidFill>
              <a:srgbClr val="00B4D8">
                <a:alpha val="30000"/>
              </a:srgbClr>
            </a:solidFill>
            <a:prstDash val="solid"/>
          </a:ln>
        </p:spPr>
        <p:txBody>
          <a:bodyPr/>
          <a:lstStyle/>
          <a:p>
            <a:endParaRPr lang="en-US"/>
          </a:p>
        </p:txBody>
      </p:sp>
      <p:sp>
        <p:nvSpPr>
          <p:cNvPr id="16" name="Text 14"/>
          <p:cNvSpPr/>
          <p:nvPr/>
        </p:nvSpPr>
        <p:spPr>
          <a:xfrm>
            <a:off x="411480" y="3419856"/>
            <a:ext cx="502920" cy="59436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17" name="Text 15"/>
          <p:cNvSpPr/>
          <p:nvPr/>
        </p:nvSpPr>
        <p:spPr>
          <a:xfrm>
            <a:off x="1005840" y="3438144"/>
            <a:ext cx="6949440" cy="594360"/>
          </a:xfrm>
          <a:prstGeom prst="rect">
            <a:avLst/>
          </a:prstGeom>
          <a:noFill/>
        </p:spPr>
        <p:txBody>
          <a:bodyPr wrap="square" rtlCol="0" anchor="ctr"/>
          <a:lstStyle/>
          <a:p>
            <a:pPr marL="0" indent="0" algn="l">
              <a:buNone/>
            </a:pPr>
            <a:r>
              <a:rPr lang="en-US" sz="1200" dirty="0">
                <a:solidFill>
                  <a:srgbClr val="E8F4F8"/>
                </a:solidFill>
              </a:rPr>
              <a:t>Training uses Forward Pass + Loss Calculation + Backpropagation + Weight Updates in a continuous cycle</a:t>
            </a:r>
            <a:endParaRPr lang="en-US" sz="1200" dirty="0"/>
          </a:p>
        </p:txBody>
      </p:sp>
      <p:sp>
        <p:nvSpPr>
          <p:cNvPr id="18" name="Shape 16"/>
          <p:cNvSpPr/>
          <p:nvPr/>
        </p:nvSpPr>
        <p:spPr>
          <a:xfrm>
            <a:off x="365760" y="4169664"/>
            <a:ext cx="7772400" cy="685800"/>
          </a:xfrm>
          <a:prstGeom prst="rect">
            <a:avLst/>
          </a:prstGeom>
          <a:solidFill>
            <a:srgbClr val="1E3A5F">
              <a:alpha val="70000"/>
            </a:srgbClr>
          </a:solidFill>
          <a:ln w="12700">
            <a:solidFill>
              <a:srgbClr val="00B4D8">
                <a:alpha val="30000"/>
              </a:srgbClr>
            </a:solidFill>
            <a:prstDash val="solid"/>
          </a:ln>
        </p:spPr>
        <p:txBody>
          <a:bodyPr/>
          <a:lstStyle/>
          <a:p>
            <a:endParaRPr lang="en-US"/>
          </a:p>
        </p:txBody>
      </p:sp>
      <p:sp>
        <p:nvSpPr>
          <p:cNvPr id="19" name="Text 17"/>
          <p:cNvSpPr/>
          <p:nvPr/>
        </p:nvSpPr>
        <p:spPr>
          <a:xfrm>
            <a:off x="411480" y="4187952"/>
            <a:ext cx="502920" cy="59436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20" name="Text 18"/>
          <p:cNvSpPr/>
          <p:nvPr/>
        </p:nvSpPr>
        <p:spPr>
          <a:xfrm>
            <a:off x="1005840" y="4206240"/>
            <a:ext cx="6949440" cy="594360"/>
          </a:xfrm>
          <a:prstGeom prst="rect">
            <a:avLst/>
          </a:prstGeom>
          <a:noFill/>
        </p:spPr>
        <p:txBody>
          <a:bodyPr wrap="square" rtlCol="0" anchor="ctr"/>
          <a:lstStyle/>
          <a:p>
            <a:pPr marL="0" indent="0" algn="l">
              <a:buNone/>
            </a:pPr>
            <a:r>
              <a:rPr lang="en-US" sz="1200" dirty="0">
                <a:solidFill>
                  <a:srgbClr val="E8F4F8"/>
                </a:solidFill>
              </a:rPr>
              <a:t>Neural Networks power everyday AI — from your phone's face unlock to medical diagnoses and language translation</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6400800" y="457200"/>
            <a:ext cx="2286000" cy="2286000"/>
          </a:xfrm>
          <a:prstGeom prst="rect">
            <a:avLst/>
          </a:prstGeom>
          <a:noFill/>
          <a:ln/>
        </p:spPr>
        <p:txBody>
          <a:bodyPr wrap="square" lIns="0" tIns="0" rIns="0" bIns="0" rtlCol="0" anchor="ctr"/>
          <a:lstStyle/>
          <a:p>
            <a:pPr marL="0" indent="0" algn="r">
              <a:buNone/>
            </a:pPr>
            <a:r>
              <a:rPr lang="en-US" sz="12000" b="1" dirty="0">
                <a:solidFill>
                  <a:srgbClr val="1B4F72"/>
                </a:solidFill>
                <a:latin typeface="Calibri" pitchFamily="34" charset="0"/>
                <a:ea typeface="Calibri" pitchFamily="34" charset="-122"/>
                <a:cs typeface="Calibri" pitchFamily="34" charset="-120"/>
              </a:rPr>
              <a:t>01</a:t>
            </a:r>
            <a:endParaRPr lang="en-US" sz="12000" dirty="0"/>
          </a:p>
        </p:txBody>
      </p:sp>
      <p:sp>
        <p:nvSpPr>
          <p:cNvPr id="4" name="Text 2"/>
          <p:cNvSpPr/>
          <p:nvPr/>
        </p:nvSpPr>
        <p:spPr>
          <a:xfrm>
            <a:off x="457200" y="1371600"/>
            <a:ext cx="3657600" cy="365760"/>
          </a:xfrm>
          <a:prstGeom prst="rect">
            <a:avLst/>
          </a:prstGeom>
          <a:noFill/>
          <a:ln/>
        </p:spPr>
        <p:txBody>
          <a:bodyPr wrap="square" lIns="0" tIns="0" rIns="0" bIns="0" rtlCol="0" anchor="ctr"/>
          <a:lstStyle/>
          <a:p>
            <a:pPr marL="0" indent="0" algn="l">
              <a:buNone/>
            </a:pPr>
            <a:r>
              <a:rPr lang="en-US" sz="1300" b="1" kern="0" spc="400" dirty="0">
                <a:solidFill>
                  <a:srgbClr val="0D9488"/>
                </a:solidFill>
                <a:latin typeface="Calibri" pitchFamily="34" charset="0"/>
                <a:ea typeface="Calibri" pitchFamily="34" charset="-122"/>
                <a:cs typeface="Calibri" pitchFamily="34" charset="-120"/>
              </a:rPr>
              <a:t>SECTION</a:t>
            </a:r>
            <a:endParaRPr lang="en-US" sz="1300" dirty="0"/>
          </a:p>
        </p:txBody>
      </p:sp>
      <p:sp>
        <p:nvSpPr>
          <p:cNvPr id="5" name="Text 3"/>
          <p:cNvSpPr/>
          <p:nvPr/>
        </p:nvSpPr>
        <p:spPr>
          <a:xfrm>
            <a:off x="457200" y="1828800"/>
            <a:ext cx="5486400" cy="1645920"/>
          </a:xfrm>
          <a:prstGeom prst="rect">
            <a:avLst/>
          </a:prstGeom>
          <a:noFill/>
          <a:ln/>
        </p:spPr>
        <p:txBody>
          <a:bodyPr wrap="square" lIns="0" tIns="0" rIns="0" bIns="0" rtlCol="0" anchor="ctr"/>
          <a:lstStyle/>
          <a:p>
            <a:pPr marL="0" indent="0" algn="l">
              <a:buNone/>
            </a:pPr>
            <a:r>
              <a:rPr lang="en-US" sz="4800" b="1" dirty="0">
                <a:solidFill>
                  <a:srgbClr val="FFFFFF"/>
                </a:solidFill>
                <a:latin typeface="Calibri" pitchFamily="34" charset="0"/>
                <a:ea typeface="Calibri" pitchFamily="34" charset="-122"/>
                <a:cs typeface="Calibri" pitchFamily="34" charset="-120"/>
              </a:rPr>
              <a:t>Activation</a:t>
            </a:r>
            <a:endParaRPr lang="en-US" sz="4800" dirty="0"/>
          </a:p>
          <a:p>
            <a:pPr marL="0" indent="0" algn="l">
              <a:buNone/>
            </a:pPr>
            <a:r>
              <a:rPr lang="en-US" sz="4800" b="1" dirty="0">
                <a:solidFill>
                  <a:srgbClr val="FFFFFF"/>
                </a:solidFill>
                <a:latin typeface="Calibri" pitchFamily="34" charset="0"/>
                <a:ea typeface="Calibri" pitchFamily="34" charset="-122"/>
                <a:cs typeface="Calibri" pitchFamily="34" charset="-120"/>
              </a:rPr>
              <a:t>Functions</a:t>
            </a:r>
            <a:endParaRPr lang="en-US" sz="4800" dirty="0"/>
          </a:p>
        </p:txBody>
      </p:sp>
      <p:sp>
        <p:nvSpPr>
          <p:cNvPr id="6" name="Text 4"/>
          <p:cNvSpPr/>
          <p:nvPr/>
        </p:nvSpPr>
        <p:spPr>
          <a:xfrm>
            <a:off x="457200" y="3566160"/>
            <a:ext cx="7315200" cy="457200"/>
          </a:xfrm>
          <a:prstGeom prst="rect">
            <a:avLst/>
          </a:prstGeom>
          <a:noFill/>
          <a:ln/>
        </p:spPr>
        <p:txBody>
          <a:bodyPr wrap="square" lIns="0" tIns="0" rIns="0" bIns="0" rtlCol="0" anchor="ctr"/>
          <a:lstStyle/>
          <a:p>
            <a:pPr marL="0" indent="0" algn="l">
              <a:buNone/>
            </a:pPr>
            <a:r>
              <a:rPr lang="en-US" sz="1500" dirty="0">
                <a:solidFill>
                  <a:srgbClr val="5EEAD4"/>
                </a:solidFill>
                <a:latin typeface="Calibri" pitchFamily="34" charset="0"/>
                <a:ea typeface="Calibri" pitchFamily="34" charset="-122"/>
                <a:cs typeface="Calibri" pitchFamily="34" charset="-120"/>
              </a:rPr>
              <a:t>Mathematical operations applied to neural signal outputs</a:t>
            </a:r>
            <a:endParaRPr lang="en-US" sz="1500" dirty="0"/>
          </a:p>
        </p:txBody>
      </p:sp>
      <p:sp>
        <p:nvSpPr>
          <p:cNvPr id="7" name="Shape 5"/>
          <p:cNvSpPr/>
          <p:nvPr/>
        </p:nvSpPr>
        <p:spPr>
          <a:xfrm>
            <a:off x="457200" y="3429000"/>
            <a:ext cx="3657600" cy="54864"/>
          </a:xfrm>
          <a:prstGeom prst="rect">
            <a:avLst/>
          </a:prstGeom>
          <a:solidFill>
            <a:srgbClr val="F59E0B"/>
          </a:solidFill>
          <a:ln w="12700">
            <a:solidFill>
              <a:srgbClr val="F59E0B"/>
            </a:solidFill>
            <a:prstDash val="solid"/>
          </a:ln>
        </p:spPr>
        <p:txBody>
          <a:bodyPr/>
          <a:lstStyle/>
          <a:p>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274320" y="91440"/>
            <a:ext cx="8595360" cy="64008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What is an Activation Function?</a:t>
            </a:r>
            <a:endParaRPr lang="en-US" sz="2600" dirty="0"/>
          </a:p>
        </p:txBody>
      </p:sp>
      <p:sp>
        <p:nvSpPr>
          <p:cNvPr id="4" name="Shape 2"/>
          <p:cNvSpPr/>
          <p:nvPr/>
        </p:nvSpPr>
        <p:spPr>
          <a:xfrm>
            <a:off x="274320" y="960120"/>
            <a:ext cx="8595360" cy="777240"/>
          </a:xfrm>
          <a:prstGeom prst="rect">
            <a:avLst/>
          </a:prstGeom>
          <a:solidFill>
            <a:srgbClr val="1B4F72"/>
          </a:solidFill>
          <a:ln w="12700">
            <a:solidFill>
              <a:srgbClr val="1B4F72"/>
            </a:solidFill>
            <a:prstDash val="solid"/>
          </a:ln>
          <a:effectLst>
            <a:outerShdw blurRad="76200" dist="25400" dir="8100000" algn="bl" rotWithShape="0">
              <a:srgbClr val="000000">
                <a:alpha val="15000"/>
              </a:srgbClr>
            </a:outerShdw>
          </a:effectLst>
        </p:spPr>
        <p:txBody>
          <a:bodyPr/>
          <a:lstStyle/>
          <a:p>
            <a:endParaRPr lang="en-US"/>
          </a:p>
        </p:txBody>
      </p:sp>
      <p:sp>
        <p:nvSpPr>
          <p:cNvPr id="5" name="Text 3"/>
          <p:cNvSpPr/>
          <p:nvPr/>
        </p:nvSpPr>
        <p:spPr>
          <a:xfrm>
            <a:off x="457200" y="1005840"/>
            <a:ext cx="8229600" cy="68580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An activation function f performs a mathematical operation on the signal output of a neuron, determining whether and how strongly it fires.</a:t>
            </a:r>
            <a:endParaRPr lang="en-US" sz="1400" dirty="0"/>
          </a:p>
        </p:txBody>
      </p:sp>
      <p:sp>
        <p:nvSpPr>
          <p:cNvPr id="6" name="Text 4"/>
          <p:cNvSpPr/>
          <p:nvPr/>
        </p:nvSpPr>
        <p:spPr>
          <a:xfrm>
            <a:off x="274320" y="1874520"/>
            <a:ext cx="8595360" cy="365760"/>
          </a:xfrm>
          <a:prstGeom prst="rect">
            <a:avLst/>
          </a:prstGeom>
          <a:noFill/>
          <a:ln/>
        </p:spPr>
        <p:txBody>
          <a:bodyPr wrap="square" rtlCol="0" anchor="ctr"/>
          <a:lstStyle/>
          <a:p>
            <a:pPr marL="0" indent="0" algn="ctr">
              <a:buNone/>
            </a:pPr>
            <a:r>
              <a:rPr lang="en-US" sz="1300" b="1" dirty="0">
                <a:solidFill>
                  <a:srgbClr val="334155"/>
                </a:solidFill>
                <a:latin typeface="Calibri" pitchFamily="34" charset="0"/>
                <a:ea typeface="Calibri" pitchFamily="34" charset="-122"/>
                <a:cs typeface="Calibri" pitchFamily="34" charset="-120"/>
              </a:rPr>
              <a:t>Notation: Vₖ = X  (input)  |  Yₖ = Y  (output)</a:t>
            </a:r>
            <a:endParaRPr lang="en-US" sz="1300" dirty="0"/>
          </a:p>
        </p:txBody>
      </p:sp>
      <p:sp>
        <p:nvSpPr>
          <p:cNvPr id="7" name="Shape 5"/>
          <p:cNvSpPr/>
          <p:nvPr/>
        </p:nvSpPr>
        <p:spPr>
          <a:xfrm>
            <a:off x="274320" y="2331720"/>
            <a:ext cx="2011680" cy="2468880"/>
          </a:xfrm>
          <a:prstGeom prst="rect">
            <a:avLst/>
          </a:prstGeom>
          <a:solidFill>
            <a:srgbClr val="FFFFFF"/>
          </a:solidFill>
          <a:ln w="25400">
            <a:solidFill>
              <a:srgbClr val="0D9488"/>
            </a:solidFill>
            <a:prstDash val="solid"/>
          </a:ln>
          <a:effectLst>
            <a:outerShdw blurRad="63500" dist="25400" dir="8100000" algn="bl" rotWithShape="0">
              <a:srgbClr val="000000">
                <a:alpha val="10000"/>
              </a:srgbClr>
            </a:outerShdw>
          </a:effectLst>
        </p:spPr>
        <p:txBody>
          <a:bodyPr/>
          <a:lstStyle/>
          <a:p>
            <a:endParaRPr lang="en-US"/>
          </a:p>
        </p:txBody>
      </p:sp>
      <p:sp>
        <p:nvSpPr>
          <p:cNvPr id="8" name="Shape 6"/>
          <p:cNvSpPr/>
          <p:nvPr/>
        </p:nvSpPr>
        <p:spPr>
          <a:xfrm>
            <a:off x="274320" y="2331720"/>
            <a:ext cx="2011680" cy="502920"/>
          </a:xfrm>
          <a:prstGeom prst="rect">
            <a:avLst/>
          </a:prstGeom>
          <a:solidFill>
            <a:srgbClr val="0D9488"/>
          </a:solidFill>
          <a:ln w="12700">
            <a:solidFill>
              <a:srgbClr val="0D9488"/>
            </a:solidFill>
            <a:prstDash val="solid"/>
          </a:ln>
        </p:spPr>
        <p:txBody>
          <a:bodyPr/>
          <a:lstStyle/>
          <a:p>
            <a:endParaRPr lang="en-US"/>
          </a:p>
        </p:txBody>
      </p:sp>
      <p:sp>
        <p:nvSpPr>
          <p:cNvPr id="9" name="Text 7"/>
          <p:cNvSpPr/>
          <p:nvPr/>
        </p:nvSpPr>
        <p:spPr>
          <a:xfrm>
            <a:off x="320040" y="2377440"/>
            <a:ext cx="192024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Step Function</a:t>
            </a:r>
            <a:endParaRPr lang="en-US" sz="1200" dirty="0"/>
          </a:p>
        </p:txBody>
      </p:sp>
      <p:sp>
        <p:nvSpPr>
          <p:cNvPr id="10" name="Shape 8"/>
          <p:cNvSpPr/>
          <p:nvPr/>
        </p:nvSpPr>
        <p:spPr>
          <a:xfrm>
            <a:off x="457200" y="2926080"/>
            <a:ext cx="1645920" cy="1097280"/>
          </a:xfrm>
          <a:prstGeom prst="rect">
            <a:avLst/>
          </a:prstGeom>
          <a:solidFill>
            <a:srgbClr val="E2E8F0">
              <a:alpha val="60000"/>
            </a:srgbClr>
          </a:solidFill>
          <a:ln w="12700">
            <a:solidFill>
              <a:srgbClr val="E2E8F0"/>
            </a:solidFill>
            <a:prstDash val="solid"/>
          </a:ln>
        </p:spPr>
        <p:txBody>
          <a:bodyPr/>
          <a:lstStyle/>
          <a:p>
            <a:endParaRPr lang="en-US"/>
          </a:p>
        </p:txBody>
      </p:sp>
      <p:sp>
        <p:nvSpPr>
          <p:cNvPr id="11" name="Text 9"/>
          <p:cNvSpPr/>
          <p:nvPr/>
        </p:nvSpPr>
        <p:spPr>
          <a:xfrm>
            <a:off x="914400" y="3154680"/>
            <a:ext cx="731520" cy="640080"/>
          </a:xfrm>
          <a:prstGeom prst="rect">
            <a:avLst/>
          </a:prstGeom>
          <a:noFill/>
          <a:ln/>
        </p:spPr>
        <p:txBody>
          <a:bodyPr wrap="square" rtlCol="0" anchor="ctr"/>
          <a:lstStyle/>
          <a:p>
            <a:pPr marL="0" indent="0" algn="ctr">
              <a:buNone/>
            </a:pPr>
            <a:endParaRPr lang="en-US" sz="2200" dirty="0"/>
          </a:p>
        </p:txBody>
      </p:sp>
      <p:sp>
        <p:nvSpPr>
          <p:cNvPr id="12" name="Text 10"/>
          <p:cNvSpPr/>
          <p:nvPr/>
        </p:nvSpPr>
        <p:spPr>
          <a:xfrm>
            <a:off x="320040" y="4069080"/>
            <a:ext cx="1920240" cy="640080"/>
          </a:xfrm>
          <a:prstGeom prst="rect">
            <a:avLst/>
          </a:prstGeom>
          <a:noFill/>
          <a:ln/>
        </p:spPr>
        <p:txBody>
          <a:bodyPr wrap="square" rtlCol="0" anchor="ctr"/>
          <a:lstStyle/>
          <a:p>
            <a:pPr marL="0" indent="0" algn="ctr">
              <a:buNone/>
            </a:pPr>
            <a:r>
              <a:rPr lang="en-US" sz="1000" dirty="0">
                <a:solidFill>
                  <a:srgbClr val="334155"/>
                </a:solidFill>
                <a:latin typeface="Calibri" pitchFamily="34" charset="0"/>
                <a:ea typeface="Calibri" pitchFamily="34" charset="-122"/>
                <a:cs typeface="Calibri" pitchFamily="34" charset="-120"/>
              </a:rPr>
              <a:t>Y = 1, if X ≥ 0</a:t>
            </a:r>
            <a:endParaRPr lang="en-US" sz="1000" dirty="0"/>
          </a:p>
          <a:p>
            <a:pPr marL="0" indent="0" algn="ctr">
              <a:buNone/>
            </a:pPr>
            <a:r>
              <a:rPr lang="en-US" sz="1000" dirty="0">
                <a:solidFill>
                  <a:srgbClr val="334155"/>
                </a:solidFill>
                <a:latin typeface="Calibri" pitchFamily="34" charset="0"/>
                <a:ea typeface="Calibri" pitchFamily="34" charset="-122"/>
                <a:cs typeface="Calibri" pitchFamily="34" charset="-120"/>
              </a:rPr>
              <a:t>Y = 0, if X &lt; 0</a:t>
            </a:r>
            <a:endParaRPr lang="en-US" sz="1000" dirty="0"/>
          </a:p>
        </p:txBody>
      </p:sp>
      <p:sp>
        <p:nvSpPr>
          <p:cNvPr id="13" name="Shape 11"/>
          <p:cNvSpPr/>
          <p:nvPr/>
        </p:nvSpPr>
        <p:spPr>
          <a:xfrm>
            <a:off x="2441448" y="2331720"/>
            <a:ext cx="2011680" cy="2468880"/>
          </a:xfrm>
          <a:prstGeom prst="rect">
            <a:avLst/>
          </a:prstGeom>
          <a:solidFill>
            <a:srgbClr val="FFFFFF"/>
          </a:solidFill>
          <a:ln w="25400">
            <a:solidFill>
              <a:srgbClr val="1B4F72"/>
            </a:solidFill>
            <a:prstDash val="solid"/>
          </a:ln>
          <a:effectLst>
            <a:outerShdw blurRad="63500" dist="25400" dir="8100000" algn="bl" rotWithShape="0">
              <a:srgbClr val="000000">
                <a:alpha val="10000"/>
              </a:srgbClr>
            </a:outerShdw>
          </a:effectLst>
        </p:spPr>
        <p:txBody>
          <a:bodyPr/>
          <a:lstStyle/>
          <a:p>
            <a:endParaRPr lang="en-US"/>
          </a:p>
        </p:txBody>
      </p:sp>
      <p:sp>
        <p:nvSpPr>
          <p:cNvPr id="14" name="Shape 12"/>
          <p:cNvSpPr/>
          <p:nvPr/>
        </p:nvSpPr>
        <p:spPr>
          <a:xfrm>
            <a:off x="2441448" y="2331720"/>
            <a:ext cx="2011680" cy="502920"/>
          </a:xfrm>
          <a:prstGeom prst="rect">
            <a:avLst/>
          </a:prstGeom>
          <a:solidFill>
            <a:srgbClr val="1B4F72"/>
          </a:solidFill>
          <a:ln w="12700">
            <a:solidFill>
              <a:srgbClr val="1B4F72"/>
            </a:solidFill>
            <a:prstDash val="solid"/>
          </a:ln>
        </p:spPr>
        <p:txBody>
          <a:bodyPr/>
          <a:lstStyle/>
          <a:p>
            <a:endParaRPr lang="en-US"/>
          </a:p>
        </p:txBody>
      </p:sp>
      <p:sp>
        <p:nvSpPr>
          <p:cNvPr id="15" name="Text 13"/>
          <p:cNvSpPr/>
          <p:nvPr/>
        </p:nvSpPr>
        <p:spPr>
          <a:xfrm>
            <a:off x="2487168" y="2377440"/>
            <a:ext cx="192024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Sign Function</a:t>
            </a:r>
            <a:endParaRPr lang="en-US" sz="1200" dirty="0"/>
          </a:p>
        </p:txBody>
      </p:sp>
      <p:sp>
        <p:nvSpPr>
          <p:cNvPr id="16" name="Shape 14"/>
          <p:cNvSpPr/>
          <p:nvPr/>
        </p:nvSpPr>
        <p:spPr>
          <a:xfrm>
            <a:off x="2624328" y="2926080"/>
            <a:ext cx="1645920" cy="1097280"/>
          </a:xfrm>
          <a:prstGeom prst="rect">
            <a:avLst/>
          </a:prstGeom>
          <a:solidFill>
            <a:srgbClr val="E2E8F0">
              <a:alpha val="60000"/>
            </a:srgbClr>
          </a:solidFill>
          <a:ln w="12700">
            <a:solidFill>
              <a:srgbClr val="E2E8F0"/>
            </a:solidFill>
            <a:prstDash val="solid"/>
          </a:ln>
        </p:spPr>
        <p:txBody>
          <a:bodyPr/>
          <a:lstStyle/>
          <a:p>
            <a:endParaRPr lang="en-US"/>
          </a:p>
        </p:txBody>
      </p:sp>
      <p:sp>
        <p:nvSpPr>
          <p:cNvPr id="17" name="Text 15"/>
          <p:cNvSpPr/>
          <p:nvPr/>
        </p:nvSpPr>
        <p:spPr>
          <a:xfrm>
            <a:off x="3081528" y="3154680"/>
            <a:ext cx="731520" cy="640080"/>
          </a:xfrm>
          <a:prstGeom prst="rect">
            <a:avLst/>
          </a:prstGeom>
          <a:noFill/>
          <a:ln/>
        </p:spPr>
        <p:txBody>
          <a:bodyPr wrap="square" rtlCol="0" anchor="ctr"/>
          <a:lstStyle/>
          <a:p>
            <a:pPr marL="0" indent="0" algn="ctr">
              <a:buNone/>
            </a:pPr>
            <a:endParaRPr lang="en-US" sz="2200" dirty="0"/>
          </a:p>
        </p:txBody>
      </p:sp>
      <p:sp>
        <p:nvSpPr>
          <p:cNvPr id="18" name="Text 16"/>
          <p:cNvSpPr/>
          <p:nvPr/>
        </p:nvSpPr>
        <p:spPr>
          <a:xfrm>
            <a:off x="2487168" y="4069080"/>
            <a:ext cx="1920240" cy="640080"/>
          </a:xfrm>
          <a:prstGeom prst="rect">
            <a:avLst/>
          </a:prstGeom>
          <a:noFill/>
          <a:ln/>
        </p:spPr>
        <p:txBody>
          <a:bodyPr wrap="square" rtlCol="0" anchor="ctr"/>
          <a:lstStyle/>
          <a:p>
            <a:pPr marL="0" indent="0" algn="ctr">
              <a:buNone/>
            </a:pPr>
            <a:r>
              <a:rPr lang="en-US" sz="1000" dirty="0">
                <a:solidFill>
                  <a:srgbClr val="334155"/>
                </a:solidFill>
                <a:latin typeface="Calibri" pitchFamily="34" charset="0"/>
                <a:ea typeface="Calibri" pitchFamily="34" charset="-122"/>
                <a:cs typeface="Calibri" pitchFamily="34" charset="-120"/>
              </a:rPr>
              <a:t>Y = +1, if X ≥ 0</a:t>
            </a:r>
            <a:endParaRPr lang="en-US" sz="1000" dirty="0"/>
          </a:p>
          <a:p>
            <a:pPr marL="0" indent="0" algn="ctr">
              <a:buNone/>
            </a:pPr>
            <a:r>
              <a:rPr lang="en-US" sz="1000" dirty="0">
                <a:solidFill>
                  <a:srgbClr val="334155"/>
                </a:solidFill>
                <a:latin typeface="Calibri" pitchFamily="34" charset="0"/>
                <a:ea typeface="Calibri" pitchFamily="34" charset="-122"/>
                <a:cs typeface="Calibri" pitchFamily="34" charset="-120"/>
              </a:rPr>
              <a:t>Y = -1, if X &lt; 0</a:t>
            </a:r>
            <a:endParaRPr lang="en-US" sz="1000" dirty="0"/>
          </a:p>
        </p:txBody>
      </p:sp>
      <p:sp>
        <p:nvSpPr>
          <p:cNvPr id="19" name="Shape 17"/>
          <p:cNvSpPr/>
          <p:nvPr/>
        </p:nvSpPr>
        <p:spPr>
          <a:xfrm>
            <a:off x="4608576" y="2331720"/>
            <a:ext cx="2011680" cy="2468880"/>
          </a:xfrm>
          <a:prstGeom prst="rect">
            <a:avLst/>
          </a:prstGeom>
          <a:solidFill>
            <a:srgbClr val="FFFFFF"/>
          </a:solidFill>
          <a:ln w="25400">
            <a:solidFill>
              <a:srgbClr val="7C3AED"/>
            </a:solidFill>
            <a:prstDash val="solid"/>
          </a:ln>
          <a:effectLst>
            <a:outerShdw blurRad="63500" dist="25400" dir="8100000" algn="bl" rotWithShape="0">
              <a:srgbClr val="000000">
                <a:alpha val="10000"/>
              </a:srgbClr>
            </a:outerShdw>
          </a:effectLst>
        </p:spPr>
        <p:txBody>
          <a:bodyPr/>
          <a:lstStyle/>
          <a:p>
            <a:endParaRPr lang="en-US"/>
          </a:p>
        </p:txBody>
      </p:sp>
      <p:sp>
        <p:nvSpPr>
          <p:cNvPr id="20" name="Shape 18"/>
          <p:cNvSpPr/>
          <p:nvPr/>
        </p:nvSpPr>
        <p:spPr>
          <a:xfrm>
            <a:off x="4608576" y="2331720"/>
            <a:ext cx="2011680" cy="502920"/>
          </a:xfrm>
          <a:prstGeom prst="rect">
            <a:avLst/>
          </a:prstGeom>
          <a:solidFill>
            <a:srgbClr val="7C3AED"/>
          </a:solidFill>
          <a:ln w="12700">
            <a:solidFill>
              <a:srgbClr val="7C3AED"/>
            </a:solidFill>
            <a:prstDash val="solid"/>
          </a:ln>
        </p:spPr>
        <p:txBody>
          <a:bodyPr/>
          <a:lstStyle/>
          <a:p>
            <a:endParaRPr lang="en-US"/>
          </a:p>
        </p:txBody>
      </p:sp>
      <p:sp>
        <p:nvSpPr>
          <p:cNvPr id="21" name="Text 19"/>
          <p:cNvSpPr/>
          <p:nvPr/>
        </p:nvSpPr>
        <p:spPr>
          <a:xfrm>
            <a:off x="4654296" y="2377440"/>
            <a:ext cx="192024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Sigmoid Function</a:t>
            </a:r>
            <a:endParaRPr lang="en-US" sz="1200" dirty="0"/>
          </a:p>
        </p:txBody>
      </p:sp>
      <p:sp>
        <p:nvSpPr>
          <p:cNvPr id="22" name="Shape 20"/>
          <p:cNvSpPr/>
          <p:nvPr/>
        </p:nvSpPr>
        <p:spPr>
          <a:xfrm>
            <a:off x="4791456" y="2926080"/>
            <a:ext cx="1645920" cy="1097280"/>
          </a:xfrm>
          <a:prstGeom prst="rect">
            <a:avLst/>
          </a:prstGeom>
          <a:solidFill>
            <a:srgbClr val="E2E8F0">
              <a:alpha val="60000"/>
            </a:srgbClr>
          </a:solidFill>
          <a:ln w="12700">
            <a:solidFill>
              <a:srgbClr val="E2E8F0"/>
            </a:solidFill>
            <a:prstDash val="solid"/>
          </a:ln>
        </p:spPr>
        <p:txBody>
          <a:bodyPr/>
          <a:lstStyle/>
          <a:p>
            <a:endParaRPr lang="en-US"/>
          </a:p>
        </p:txBody>
      </p:sp>
      <p:sp>
        <p:nvSpPr>
          <p:cNvPr id="23" name="Text 21"/>
          <p:cNvSpPr/>
          <p:nvPr/>
        </p:nvSpPr>
        <p:spPr>
          <a:xfrm>
            <a:off x="5248656" y="3154680"/>
            <a:ext cx="731520" cy="6400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4" name="Text 22"/>
          <p:cNvSpPr/>
          <p:nvPr/>
        </p:nvSpPr>
        <p:spPr>
          <a:xfrm>
            <a:off x="4654296" y="4069080"/>
            <a:ext cx="1920240" cy="640080"/>
          </a:xfrm>
          <a:prstGeom prst="rect">
            <a:avLst/>
          </a:prstGeom>
          <a:noFill/>
          <a:ln/>
        </p:spPr>
        <p:txBody>
          <a:bodyPr wrap="square" rtlCol="0" anchor="ctr"/>
          <a:lstStyle/>
          <a:p>
            <a:pPr marL="0" indent="0" algn="ctr">
              <a:buNone/>
            </a:pPr>
            <a:r>
              <a:rPr lang="en-US" sz="1000" dirty="0">
                <a:solidFill>
                  <a:srgbClr val="334155"/>
                </a:solidFill>
                <a:latin typeface="Calibri" pitchFamily="34" charset="0"/>
                <a:ea typeface="Calibri" pitchFamily="34" charset="-122"/>
                <a:cs typeface="Calibri" pitchFamily="34" charset="-120"/>
              </a:rPr>
              <a:t>Y = 1 / (1 + e⁻ˣ)</a:t>
            </a:r>
            <a:endParaRPr lang="en-US" sz="1000" dirty="0"/>
          </a:p>
        </p:txBody>
      </p:sp>
      <p:sp>
        <p:nvSpPr>
          <p:cNvPr id="25" name="Shape 23"/>
          <p:cNvSpPr/>
          <p:nvPr/>
        </p:nvSpPr>
        <p:spPr>
          <a:xfrm>
            <a:off x="6775704" y="2331720"/>
            <a:ext cx="2011680" cy="2468880"/>
          </a:xfrm>
          <a:prstGeom prst="rect">
            <a:avLst/>
          </a:prstGeom>
          <a:solidFill>
            <a:srgbClr val="FFFFFF"/>
          </a:solidFill>
          <a:ln w="25400">
            <a:solidFill>
              <a:srgbClr val="B45309"/>
            </a:solidFill>
            <a:prstDash val="solid"/>
          </a:ln>
          <a:effectLst>
            <a:outerShdw blurRad="63500" dist="25400" dir="8100000" algn="bl" rotWithShape="0">
              <a:srgbClr val="000000">
                <a:alpha val="10000"/>
              </a:srgbClr>
            </a:outerShdw>
          </a:effectLst>
        </p:spPr>
        <p:txBody>
          <a:bodyPr/>
          <a:lstStyle/>
          <a:p>
            <a:endParaRPr lang="en-US"/>
          </a:p>
        </p:txBody>
      </p:sp>
      <p:sp>
        <p:nvSpPr>
          <p:cNvPr id="26" name="Shape 24"/>
          <p:cNvSpPr/>
          <p:nvPr/>
        </p:nvSpPr>
        <p:spPr>
          <a:xfrm>
            <a:off x="6775704" y="2331720"/>
            <a:ext cx="2011680" cy="502920"/>
          </a:xfrm>
          <a:prstGeom prst="rect">
            <a:avLst/>
          </a:prstGeom>
          <a:solidFill>
            <a:srgbClr val="B45309"/>
          </a:solidFill>
          <a:ln w="12700">
            <a:solidFill>
              <a:srgbClr val="B45309"/>
            </a:solidFill>
            <a:prstDash val="solid"/>
          </a:ln>
        </p:spPr>
        <p:txBody>
          <a:bodyPr/>
          <a:lstStyle/>
          <a:p>
            <a:endParaRPr lang="en-US"/>
          </a:p>
        </p:txBody>
      </p:sp>
      <p:sp>
        <p:nvSpPr>
          <p:cNvPr id="27" name="Text 25"/>
          <p:cNvSpPr/>
          <p:nvPr/>
        </p:nvSpPr>
        <p:spPr>
          <a:xfrm>
            <a:off x="6821424" y="2377440"/>
            <a:ext cx="192024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Linear Function</a:t>
            </a:r>
            <a:endParaRPr lang="en-US" sz="1200" dirty="0"/>
          </a:p>
        </p:txBody>
      </p:sp>
      <p:sp>
        <p:nvSpPr>
          <p:cNvPr id="28" name="Shape 26"/>
          <p:cNvSpPr/>
          <p:nvPr/>
        </p:nvSpPr>
        <p:spPr>
          <a:xfrm>
            <a:off x="6958584" y="2926080"/>
            <a:ext cx="1645920" cy="1097280"/>
          </a:xfrm>
          <a:prstGeom prst="rect">
            <a:avLst/>
          </a:prstGeom>
          <a:solidFill>
            <a:srgbClr val="E2E8F0">
              <a:alpha val="60000"/>
            </a:srgbClr>
          </a:solidFill>
          <a:ln w="12700">
            <a:solidFill>
              <a:srgbClr val="E2E8F0"/>
            </a:solidFill>
            <a:prstDash val="solid"/>
          </a:ln>
        </p:spPr>
        <p:txBody>
          <a:bodyPr/>
          <a:lstStyle/>
          <a:p>
            <a:endParaRPr lang="en-US"/>
          </a:p>
        </p:txBody>
      </p:sp>
      <p:sp>
        <p:nvSpPr>
          <p:cNvPr id="29" name="Text 27"/>
          <p:cNvSpPr/>
          <p:nvPr/>
        </p:nvSpPr>
        <p:spPr>
          <a:xfrm>
            <a:off x="7415784" y="3154680"/>
            <a:ext cx="731520" cy="6400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0" name="Text 28"/>
          <p:cNvSpPr/>
          <p:nvPr/>
        </p:nvSpPr>
        <p:spPr>
          <a:xfrm>
            <a:off x="6821424" y="4069080"/>
            <a:ext cx="1920240" cy="640080"/>
          </a:xfrm>
          <a:prstGeom prst="rect">
            <a:avLst/>
          </a:prstGeom>
          <a:noFill/>
          <a:ln/>
        </p:spPr>
        <p:txBody>
          <a:bodyPr wrap="square" rtlCol="0" anchor="ctr"/>
          <a:lstStyle/>
          <a:p>
            <a:pPr marL="0" indent="0" algn="ctr">
              <a:buNone/>
            </a:pPr>
            <a:r>
              <a:rPr lang="en-US" sz="1000" dirty="0">
                <a:solidFill>
                  <a:srgbClr val="334155"/>
                </a:solidFill>
                <a:latin typeface="Calibri" pitchFamily="34" charset="0"/>
                <a:ea typeface="Calibri" pitchFamily="34" charset="-122"/>
                <a:cs typeface="Calibri" pitchFamily="34" charset="-120"/>
              </a:rPr>
              <a:t>Y = X</a:t>
            </a:r>
            <a:endParaRPr lang="en-US" sz="10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023" y="2926080"/>
            <a:ext cx="1503671" cy="1010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 name="Picture 2" descr="6: The sign activation function. | Download Scientific Diagra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2854" y="2910915"/>
            <a:ext cx="1628868" cy="1112445"/>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Sigmoid-Activation-Funct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91456" y="2952291"/>
            <a:ext cx="1645920" cy="1157379"/>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Linear-Activation-Functi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47274" y="2926081"/>
            <a:ext cx="1657230" cy="10972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274320" y="91440"/>
            <a:ext cx="8595360" cy="64008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Activation Functions — Details &amp; Comparison</a:t>
            </a:r>
            <a:endParaRPr lang="en-US" sz="2400" dirty="0"/>
          </a:p>
        </p:txBody>
      </p:sp>
      <p:sp>
        <p:nvSpPr>
          <p:cNvPr id="4" name="Shape 2"/>
          <p:cNvSpPr/>
          <p:nvPr/>
        </p:nvSpPr>
        <p:spPr>
          <a:xfrm>
            <a:off x="274320" y="960120"/>
            <a:ext cx="8595360" cy="868680"/>
          </a:xfrm>
          <a:prstGeom prst="rect">
            <a:avLst/>
          </a:prstGeom>
          <a:solidFill>
            <a:srgbClr val="FFFFFF"/>
          </a:solidFill>
          <a:ln w="12700">
            <a:solidFill>
              <a:srgbClr val="E2E8F0"/>
            </a:solidFill>
            <a:prstDash val="solid"/>
          </a:ln>
        </p:spPr>
        <p:txBody>
          <a:bodyPr/>
          <a:lstStyle/>
          <a:p>
            <a:endParaRPr lang="en-US"/>
          </a:p>
        </p:txBody>
      </p:sp>
      <p:sp>
        <p:nvSpPr>
          <p:cNvPr id="5" name="Shape 3"/>
          <p:cNvSpPr/>
          <p:nvPr/>
        </p:nvSpPr>
        <p:spPr>
          <a:xfrm>
            <a:off x="274320" y="960120"/>
            <a:ext cx="164592" cy="868680"/>
          </a:xfrm>
          <a:prstGeom prst="rect">
            <a:avLst/>
          </a:prstGeom>
          <a:solidFill>
            <a:srgbClr val="0D9488"/>
          </a:solidFill>
          <a:ln w="12700">
            <a:solidFill>
              <a:srgbClr val="0D9488"/>
            </a:solidFill>
            <a:prstDash val="solid"/>
          </a:ln>
        </p:spPr>
        <p:txBody>
          <a:bodyPr/>
          <a:lstStyle/>
          <a:p>
            <a:endParaRPr lang="en-US"/>
          </a:p>
        </p:txBody>
      </p:sp>
      <p:sp>
        <p:nvSpPr>
          <p:cNvPr id="6" name="Text 4"/>
          <p:cNvSpPr/>
          <p:nvPr/>
        </p:nvSpPr>
        <p:spPr>
          <a:xfrm>
            <a:off x="594360" y="1005840"/>
            <a:ext cx="1828800" cy="320040"/>
          </a:xfrm>
          <a:prstGeom prst="rect">
            <a:avLst/>
          </a:prstGeom>
          <a:noFill/>
          <a:ln/>
        </p:spPr>
        <p:txBody>
          <a:bodyPr wrap="square" lIns="0" tIns="0" rIns="0" bIns="0" rtlCol="0" anchor="ctr"/>
          <a:lstStyle/>
          <a:p>
            <a:pPr marL="0" indent="0" algn="l">
              <a:buNone/>
            </a:pPr>
            <a:r>
              <a:rPr lang="en-US" sz="1300" b="1" dirty="0">
                <a:solidFill>
                  <a:srgbClr val="0D9488"/>
                </a:solidFill>
                <a:latin typeface="Calibri" pitchFamily="34" charset="0"/>
                <a:ea typeface="Calibri" pitchFamily="34" charset="-122"/>
                <a:cs typeface="Calibri" pitchFamily="34" charset="-120"/>
              </a:rPr>
              <a:t>Step Function</a:t>
            </a:r>
            <a:endParaRPr lang="en-US" sz="1300" dirty="0"/>
          </a:p>
        </p:txBody>
      </p:sp>
      <p:sp>
        <p:nvSpPr>
          <p:cNvPr id="7" name="Text 5"/>
          <p:cNvSpPr/>
          <p:nvPr/>
        </p:nvSpPr>
        <p:spPr>
          <a:xfrm>
            <a:off x="594360" y="1325880"/>
            <a:ext cx="2011680" cy="411480"/>
          </a:xfrm>
          <a:prstGeom prst="rect">
            <a:avLst/>
          </a:prstGeom>
          <a:noFill/>
          <a:ln/>
        </p:spPr>
        <p:txBody>
          <a:bodyPr wrap="square" rtlCol="0" anchor="ctr"/>
          <a:lstStyle/>
          <a:p>
            <a:pPr marL="0" indent="0" algn="l">
              <a:buNone/>
            </a:pPr>
            <a:r>
              <a:rPr lang="en-US" sz="1100" i="1" dirty="0">
                <a:solidFill>
                  <a:srgbClr val="334155"/>
                </a:solidFill>
                <a:latin typeface="Calibri" pitchFamily="34" charset="0"/>
                <a:ea typeface="Calibri" pitchFamily="34" charset="-122"/>
                <a:cs typeface="Calibri" pitchFamily="34" charset="-120"/>
              </a:rPr>
              <a:t>Y = 1 if X ≥ 0, else Y = 0</a:t>
            </a:r>
            <a:endParaRPr lang="en-US" sz="1100" dirty="0"/>
          </a:p>
        </p:txBody>
      </p:sp>
      <p:sp>
        <p:nvSpPr>
          <p:cNvPr id="8" name="Text 6"/>
          <p:cNvSpPr/>
          <p:nvPr/>
        </p:nvSpPr>
        <p:spPr>
          <a:xfrm>
            <a:off x="2743200" y="1005840"/>
            <a:ext cx="4114800" cy="777240"/>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Binary output — fires or doesn't. Useful for simple threshold decisions but non-differentiable at 0.</a:t>
            </a:r>
            <a:endParaRPr lang="en-US" sz="1100" dirty="0"/>
          </a:p>
        </p:txBody>
      </p:sp>
      <p:sp>
        <p:nvSpPr>
          <p:cNvPr id="9" name="Shape 7"/>
          <p:cNvSpPr/>
          <p:nvPr/>
        </p:nvSpPr>
        <p:spPr>
          <a:xfrm>
            <a:off x="6949440" y="1097280"/>
            <a:ext cx="1737360" cy="548640"/>
          </a:xfrm>
          <a:prstGeom prst="rect">
            <a:avLst/>
          </a:prstGeom>
          <a:solidFill>
            <a:srgbClr val="0D9488">
              <a:alpha val="15000"/>
            </a:srgbClr>
          </a:solidFill>
          <a:ln w="12700">
            <a:solidFill>
              <a:srgbClr val="0D9488"/>
            </a:solidFill>
            <a:prstDash val="solid"/>
          </a:ln>
        </p:spPr>
        <p:txBody>
          <a:bodyPr/>
          <a:lstStyle/>
          <a:p>
            <a:endParaRPr lang="en-US"/>
          </a:p>
        </p:txBody>
      </p:sp>
      <p:sp>
        <p:nvSpPr>
          <p:cNvPr id="10" name="Text 8"/>
          <p:cNvSpPr/>
          <p:nvPr/>
        </p:nvSpPr>
        <p:spPr>
          <a:xfrm>
            <a:off x="6995160" y="1143000"/>
            <a:ext cx="1645920" cy="457200"/>
          </a:xfrm>
          <a:prstGeom prst="rect">
            <a:avLst/>
          </a:prstGeom>
          <a:noFill/>
          <a:ln/>
        </p:spPr>
        <p:txBody>
          <a:bodyPr wrap="square" rtlCol="0" anchor="ctr"/>
          <a:lstStyle/>
          <a:p>
            <a:pPr marL="0" indent="0" algn="ctr">
              <a:buNone/>
            </a:pPr>
            <a:r>
              <a:rPr lang="en-US" sz="950" b="1" dirty="0">
                <a:solidFill>
                  <a:srgbClr val="0D9488"/>
                </a:solidFill>
                <a:latin typeface="Calibri" pitchFamily="34" charset="0"/>
                <a:ea typeface="Calibri" pitchFamily="34" charset="-122"/>
                <a:cs typeface="Calibri" pitchFamily="34" charset="-120"/>
              </a:rPr>
              <a:t>Use: Binary classifiers</a:t>
            </a:r>
            <a:endParaRPr lang="en-US" sz="950" dirty="0"/>
          </a:p>
        </p:txBody>
      </p:sp>
      <p:sp>
        <p:nvSpPr>
          <p:cNvPr id="11" name="Shape 9"/>
          <p:cNvSpPr/>
          <p:nvPr/>
        </p:nvSpPr>
        <p:spPr>
          <a:xfrm>
            <a:off x="274320" y="1965960"/>
            <a:ext cx="8595360" cy="868680"/>
          </a:xfrm>
          <a:prstGeom prst="rect">
            <a:avLst/>
          </a:prstGeom>
          <a:solidFill>
            <a:srgbClr val="FFFFFF"/>
          </a:solidFill>
          <a:ln w="12700">
            <a:solidFill>
              <a:srgbClr val="E2E8F0"/>
            </a:solidFill>
            <a:prstDash val="solid"/>
          </a:ln>
        </p:spPr>
        <p:txBody>
          <a:bodyPr/>
          <a:lstStyle/>
          <a:p>
            <a:endParaRPr lang="en-US"/>
          </a:p>
        </p:txBody>
      </p:sp>
      <p:sp>
        <p:nvSpPr>
          <p:cNvPr id="12" name="Shape 10"/>
          <p:cNvSpPr/>
          <p:nvPr/>
        </p:nvSpPr>
        <p:spPr>
          <a:xfrm>
            <a:off x="274320" y="1965960"/>
            <a:ext cx="164592" cy="868680"/>
          </a:xfrm>
          <a:prstGeom prst="rect">
            <a:avLst/>
          </a:prstGeom>
          <a:solidFill>
            <a:srgbClr val="1B4F72"/>
          </a:solidFill>
          <a:ln w="12700">
            <a:solidFill>
              <a:srgbClr val="1B4F72"/>
            </a:solidFill>
            <a:prstDash val="solid"/>
          </a:ln>
        </p:spPr>
        <p:txBody>
          <a:bodyPr/>
          <a:lstStyle/>
          <a:p>
            <a:endParaRPr lang="en-US"/>
          </a:p>
        </p:txBody>
      </p:sp>
      <p:sp>
        <p:nvSpPr>
          <p:cNvPr id="13" name="Text 11"/>
          <p:cNvSpPr/>
          <p:nvPr/>
        </p:nvSpPr>
        <p:spPr>
          <a:xfrm>
            <a:off x="594360" y="2011680"/>
            <a:ext cx="1828800" cy="320040"/>
          </a:xfrm>
          <a:prstGeom prst="rect">
            <a:avLst/>
          </a:prstGeom>
          <a:noFill/>
          <a:ln/>
        </p:spPr>
        <p:txBody>
          <a:bodyPr wrap="square" lIns="0" tIns="0" rIns="0" bIns="0" rtlCol="0" anchor="ctr"/>
          <a:lstStyle/>
          <a:p>
            <a:pPr marL="0" indent="0" algn="l">
              <a:buNone/>
            </a:pPr>
            <a:r>
              <a:rPr lang="en-US" sz="1300" b="1" dirty="0">
                <a:solidFill>
                  <a:srgbClr val="1B4F72"/>
                </a:solidFill>
                <a:latin typeface="Calibri" pitchFamily="34" charset="0"/>
                <a:ea typeface="Calibri" pitchFamily="34" charset="-122"/>
                <a:cs typeface="Calibri" pitchFamily="34" charset="-120"/>
              </a:rPr>
              <a:t>Sign Function</a:t>
            </a:r>
            <a:endParaRPr lang="en-US" sz="1300" dirty="0"/>
          </a:p>
        </p:txBody>
      </p:sp>
      <p:sp>
        <p:nvSpPr>
          <p:cNvPr id="14" name="Text 12"/>
          <p:cNvSpPr/>
          <p:nvPr/>
        </p:nvSpPr>
        <p:spPr>
          <a:xfrm>
            <a:off x="594360" y="2331720"/>
            <a:ext cx="2011680" cy="411480"/>
          </a:xfrm>
          <a:prstGeom prst="rect">
            <a:avLst/>
          </a:prstGeom>
          <a:noFill/>
          <a:ln/>
        </p:spPr>
        <p:txBody>
          <a:bodyPr wrap="square" rtlCol="0" anchor="ctr"/>
          <a:lstStyle/>
          <a:p>
            <a:pPr marL="0" indent="0" algn="l">
              <a:buNone/>
            </a:pPr>
            <a:r>
              <a:rPr lang="en-US" sz="1100" i="1" dirty="0">
                <a:solidFill>
                  <a:srgbClr val="334155"/>
                </a:solidFill>
                <a:latin typeface="Calibri" pitchFamily="34" charset="0"/>
                <a:ea typeface="Calibri" pitchFamily="34" charset="-122"/>
                <a:cs typeface="Calibri" pitchFamily="34" charset="-120"/>
              </a:rPr>
              <a:t>Y = +1 if X ≥ 0, else Y = −1</a:t>
            </a:r>
            <a:endParaRPr lang="en-US" sz="1100" dirty="0"/>
          </a:p>
        </p:txBody>
      </p:sp>
      <p:sp>
        <p:nvSpPr>
          <p:cNvPr id="15" name="Text 13"/>
          <p:cNvSpPr/>
          <p:nvPr/>
        </p:nvSpPr>
        <p:spPr>
          <a:xfrm>
            <a:off x="2743200" y="2011680"/>
            <a:ext cx="4114800" cy="777240"/>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Similar to step but outputs −1/+1 instead of 0/1. Good for bipolar data representations.</a:t>
            </a:r>
            <a:endParaRPr lang="en-US" sz="1100" dirty="0"/>
          </a:p>
        </p:txBody>
      </p:sp>
      <p:sp>
        <p:nvSpPr>
          <p:cNvPr id="16" name="Shape 14"/>
          <p:cNvSpPr/>
          <p:nvPr/>
        </p:nvSpPr>
        <p:spPr>
          <a:xfrm>
            <a:off x="6949440" y="2103120"/>
            <a:ext cx="1737360" cy="548640"/>
          </a:xfrm>
          <a:prstGeom prst="rect">
            <a:avLst/>
          </a:prstGeom>
          <a:solidFill>
            <a:srgbClr val="1B4F72">
              <a:alpha val="15000"/>
            </a:srgbClr>
          </a:solidFill>
          <a:ln w="12700">
            <a:solidFill>
              <a:srgbClr val="1B4F72"/>
            </a:solidFill>
            <a:prstDash val="solid"/>
          </a:ln>
        </p:spPr>
        <p:txBody>
          <a:bodyPr/>
          <a:lstStyle/>
          <a:p>
            <a:endParaRPr lang="en-US"/>
          </a:p>
        </p:txBody>
      </p:sp>
      <p:sp>
        <p:nvSpPr>
          <p:cNvPr id="17" name="Text 15"/>
          <p:cNvSpPr/>
          <p:nvPr/>
        </p:nvSpPr>
        <p:spPr>
          <a:xfrm>
            <a:off x="6995160" y="2148840"/>
            <a:ext cx="1645920" cy="457200"/>
          </a:xfrm>
          <a:prstGeom prst="rect">
            <a:avLst/>
          </a:prstGeom>
          <a:noFill/>
          <a:ln/>
        </p:spPr>
        <p:txBody>
          <a:bodyPr wrap="square" rtlCol="0" anchor="ctr"/>
          <a:lstStyle/>
          <a:p>
            <a:pPr marL="0" indent="0" algn="ctr">
              <a:buNone/>
            </a:pPr>
            <a:r>
              <a:rPr lang="en-US" sz="950" b="1" dirty="0">
                <a:solidFill>
                  <a:srgbClr val="1B4F72"/>
                </a:solidFill>
                <a:latin typeface="Calibri" pitchFamily="34" charset="0"/>
                <a:ea typeface="Calibri" pitchFamily="34" charset="-122"/>
                <a:cs typeface="Calibri" pitchFamily="34" charset="-120"/>
              </a:rPr>
              <a:t>Use: Bipolar classifiers</a:t>
            </a:r>
            <a:endParaRPr lang="en-US" sz="950" dirty="0"/>
          </a:p>
        </p:txBody>
      </p:sp>
      <p:sp>
        <p:nvSpPr>
          <p:cNvPr id="18" name="Shape 16"/>
          <p:cNvSpPr/>
          <p:nvPr/>
        </p:nvSpPr>
        <p:spPr>
          <a:xfrm>
            <a:off x="274320" y="2971800"/>
            <a:ext cx="8595360" cy="868680"/>
          </a:xfrm>
          <a:prstGeom prst="rect">
            <a:avLst/>
          </a:prstGeom>
          <a:solidFill>
            <a:srgbClr val="FFFFFF"/>
          </a:solidFill>
          <a:ln w="12700">
            <a:solidFill>
              <a:srgbClr val="E2E8F0"/>
            </a:solidFill>
            <a:prstDash val="solid"/>
          </a:ln>
        </p:spPr>
        <p:txBody>
          <a:bodyPr/>
          <a:lstStyle/>
          <a:p>
            <a:endParaRPr lang="en-US"/>
          </a:p>
        </p:txBody>
      </p:sp>
      <p:sp>
        <p:nvSpPr>
          <p:cNvPr id="19" name="Shape 17"/>
          <p:cNvSpPr/>
          <p:nvPr/>
        </p:nvSpPr>
        <p:spPr>
          <a:xfrm>
            <a:off x="274320" y="2971800"/>
            <a:ext cx="164592" cy="868680"/>
          </a:xfrm>
          <a:prstGeom prst="rect">
            <a:avLst/>
          </a:prstGeom>
          <a:solidFill>
            <a:srgbClr val="7C3AED"/>
          </a:solidFill>
          <a:ln w="12700">
            <a:solidFill>
              <a:srgbClr val="7C3AED"/>
            </a:solidFill>
            <a:prstDash val="solid"/>
          </a:ln>
        </p:spPr>
        <p:txBody>
          <a:bodyPr/>
          <a:lstStyle/>
          <a:p>
            <a:endParaRPr lang="en-US"/>
          </a:p>
        </p:txBody>
      </p:sp>
      <p:sp>
        <p:nvSpPr>
          <p:cNvPr id="20" name="Text 18"/>
          <p:cNvSpPr/>
          <p:nvPr/>
        </p:nvSpPr>
        <p:spPr>
          <a:xfrm>
            <a:off x="594360" y="3017520"/>
            <a:ext cx="1828800" cy="320040"/>
          </a:xfrm>
          <a:prstGeom prst="rect">
            <a:avLst/>
          </a:prstGeom>
          <a:noFill/>
          <a:ln/>
        </p:spPr>
        <p:txBody>
          <a:bodyPr wrap="square" lIns="0" tIns="0" rIns="0" bIns="0" rtlCol="0" anchor="ctr"/>
          <a:lstStyle/>
          <a:p>
            <a:pPr marL="0" indent="0" algn="l">
              <a:buNone/>
            </a:pPr>
            <a:r>
              <a:rPr lang="en-US" sz="1300" b="1" dirty="0">
                <a:solidFill>
                  <a:srgbClr val="7C3AED"/>
                </a:solidFill>
                <a:latin typeface="Calibri" pitchFamily="34" charset="0"/>
                <a:ea typeface="Calibri" pitchFamily="34" charset="-122"/>
                <a:cs typeface="Calibri" pitchFamily="34" charset="-120"/>
              </a:rPr>
              <a:t>Sigmoid Function</a:t>
            </a:r>
            <a:endParaRPr lang="en-US" sz="1300" dirty="0"/>
          </a:p>
        </p:txBody>
      </p:sp>
      <p:sp>
        <p:nvSpPr>
          <p:cNvPr id="21" name="Text 19"/>
          <p:cNvSpPr/>
          <p:nvPr/>
        </p:nvSpPr>
        <p:spPr>
          <a:xfrm>
            <a:off x="594360" y="3337560"/>
            <a:ext cx="2011680" cy="411480"/>
          </a:xfrm>
          <a:prstGeom prst="rect">
            <a:avLst/>
          </a:prstGeom>
          <a:noFill/>
          <a:ln/>
        </p:spPr>
        <p:txBody>
          <a:bodyPr wrap="square" rtlCol="0" anchor="ctr"/>
          <a:lstStyle/>
          <a:p>
            <a:pPr marL="0" indent="0" algn="l">
              <a:buNone/>
            </a:pPr>
            <a:r>
              <a:rPr lang="en-US" sz="1100" i="1" dirty="0">
                <a:solidFill>
                  <a:srgbClr val="334155"/>
                </a:solidFill>
                <a:latin typeface="Calibri" pitchFamily="34" charset="0"/>
                <a:ea typeface="Calibri" pitchFamily="34" charset="-122"/>
                <a:cs typeface="Calibri" pitchFamily="34" charset="-120"/>
              </a:rPr>
              <a:t>Y = 1 / (1 + e⁻ˣ)</a:t>
            </a:r>
            <a:endParaRPr lang="en-US" sz="1100" dirty="0"/>
          </a:p>
        </p:txBody>
      </p:sp>
      <p:sp>
        <p:nvSpPr>
          <p:cNvPr id="22" name="Text 20"/>
          <p:cNvSpPr/>
          <p:nvPr/>
        </p:nvSpPr>
        <p:spPr>
          <a:xfrm>
            <a:off x="2743200" y="3017520"/>
            <a:ext cx="4114800" cy="777240"/>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Smooth, differentiable S-shaped curve. Outputs between 0 and 1. Widely used in hidden layers.</a:t>
            </a:r>
            <a:endParaRPr lang="en-US" sz="1100" dirty="0"/>
          </a:p>
        </p:txBody>
      </p:sp>
      <p:sp>
        <p:nvSpPr>
          <p:cNvPr id="23" name="Shape 21"/>
          <p:cNvSpPr/>
          <p:nvPr/>
        </p:nvSpPr>
        <p:spPr>
          <a:xfrm>
            <a:off x="6949440" y="3108960"/>
            <a:ext cx="1737360" cy="548640"/>
          </a:xfrm>
          <a:prstGeom prst="rect">
            <a:avLst/>
          </a:prstGeom>
          <a:solidFill>
            <a:srgbClr val="7C3AED">
              <a:alpha val="15000"/>
            </a:srgbClr>
          </a:solidFill>
          <a:ln w="12700">
            <a:solidFill>
              <a:srgbClr val="7C3AED"/>
            </a:solidFill>
            <a:prstDash val="solid"/>
          </a:ln>
        </p:spPr>
        <p:txBody>
          <a:bodyPr/>
          <a:lstStyle/>
          <a:p>
            <a:endParaRPr lang="en-US"/>
          </a:p>
        </p:txBody>
      </p:sp>
      <p:sp>
        <p:nvSpPr>
          <p:cNvPr id="24" name="Text 22"/>
          <p:cNvSpPr/>
          <p:nvPr/>
        </p:nvSpPr>
        <p:spPr>
          <a:xfrm>
            <a:off x="6995160" y="3154680"/>
            <a:ext cx="1645920" cy="457200"/>
          </a:xfrm>
          <a:prstGeom prst="rect">
            <a:avLst/>
          </a:prstGeom>
          <a:noFill/>
          <a:ln/>
        </p:spPr>
        <p:txBody>
          <a:bodyPr wrap="square" rtlCol="0" anchor="ctr"/>
          <a:lstStyle/>
          <a:p>
            <a:pPr marL="0" indent="0" algn="ctr">
              <a:buNone/>
            </a:pPr>
            <a:r>
              <a:rPr lang="en-US" sz="950" b="1" dirty="0">
                <a:solidFill>
                  <a:srgbClr val="7C3AED"/>
                </a:solidFill>
                <a:latin typeface="Calibri" pitchFamily="34" charset="0"/>
                <a:ea typeface="Calibri" pitchFamily="34" charset="-122"/>
                <a:cs typeface="Calibri" pitchFamily="34" charset="-120"/>
              </a:rPr>
              <a:t>Use: Hidden layers, probabilities</a:t>
            </a:r>
            <a:endParaRPr lang="en-US" sz="950" dirty="0"/>
          </a:p>
        </p:txBody>
      </p:sp>
      <p:sp>
        <p:nvSpPr>
          <p:cNvPr id="25" name="Shape 23"/>
          <p:cNvSpPr/>
          <p:nvPr/>
        </p:nvSpPr>
        <p:spPr>
          <a:xfrm>
            <a:off x="274320" y="3977640"/>
            <a:ext cx="8595360" cy="868680"/>
          </a:xfrm>
          <a:prstGeom prst="rect">
            <a:avLst/>
          </a:prstGeom>
          <a:solidFill>
            <a:srgbClr val="FFFFFF"/>
          </a:solidFill>
          <a:ln w="12700">
            <a:solidFill>
              <a:srgbClr val="E2E8F0"/>
            </a:solidFill>
            <a:prstDash val="solid"/>
          </a:ln>
        </p:spPr>
        <p:txBody>
          <a:bodyPr/>
          <a:lstStyle/>
          <a:p>
            <a:endParaRPr lang="en-US"/>
          </a:p>
        </p:txBody>
      </p:sp>
      <p:sp>
        <p:nvSpPr>
          <p:cNvPr id="26" name="Shape 24"/>
          <p:cNvSpPr/>
          <p:nvPr/>
        </p:nvSpPr>
        <p:spPr>
          <a:xfrm>
            <a:off x="274320" y="3977640"/>
            <a:ext cx="164592" cy="868680"/>
          </a:xfrm>
          <a:prstGeom prst="rect">
            <a:avLst/>
          </a:prstGeom>
          <a:solidFill>
            <a:srgbClr val="B45309"/>
          </a:solidFill>
          <a:ln w="12700">
            <a:solidFill>
              <a:srgbClr val="B45309"/>
            </a:solidFill>
            <a:prstDash val="solid"/>
          </a:ln>
        </p:spPr>
        <p:txBody>
          <a:bodyPr/>
          <a:lstStyle/>
          <a:p>
            <a:endParaRPr lang="en-US"/>
          </a:p>
        </p:txBody>
      </p:sp>
      <p:sp>
        <p:nvSpPr>
          <p:cNvPr id="27" name="Text 25"/>
          <p:cNvSpPr/>
          <p:nvPr/>
        </p:nvSpPr>
        <p:spPr>
          <a:xfrm>
            <a:off x="594360" y="4023360"/>
            <a:ext cx="1828800" cy="320040"/>
          </a:xfrm>
          <a:prstGeom prst="rect">
            <a:avLst/>
          </a:prstGeom>
          <a:noFill/>
          <a:ln/>
        </p:spPr>
        <p:txBody>
          <a:bodyPr wrap="square" lIns="0" tIns="0" rIns="0" bIns="0" rtlCol="0" anchor="ctr"/>
          <a:lstStyle/>
          <a:p>
            <a:pPr marL="0" indent="0" algn="l">
              <a:buNone/>
            </a:pPr>
            <a:r>
              <a:rPr lang="en-US" sz="1300" b="1" dirty="0">
                <a:solidFill>
                  <a:srgbClr val="B45309"/>
                </a:solidFill>
                <a:latin typeface="Calibri" pitchFamily="34" charset="0"/>
                <a:ea typeface="Calibri" pitchFamily="34" charset="-122"/>
                <a:cs typeface="Calibri" pitchFamily="34" charset="-120"/>
              </a:rPr>
              <a:t>Linear Function</a:t>
            </a:r>
            <a:endParaRPr lang="en-US" sz="1300" dirty="0"/>
          </a:p>
        </p:txBody>
      </p:sp>
      <p:sp>
        <p:nvSpPr>
          <p:cNvPr id="28" name="Text 26"/>
          <p:cNvSpPr/>
          <p:nvPr/>
        </p:nvSpPr>
        <p:spPr>
          <a:xfrm>
            <a:off x="594360" y="4343400"/>
            <a:ext cx="2011680" cy="411480"/>
          </a:xfrm>
          <a:prstGeom prst="rect">
            <a:avLst/>
          </a:prstGeom>
          <a:noFill/>
          <a:ln/>
        </p:spPr>
        <p:txBody>
          <a:bodyPr wrap="square" rtlCol="0" anchor="ctr"/>
          <a:lstStyle/>
          <a:p>
            <a:pPr marL="0" indent="0" algn="l">
              <a:buNone/>
            </a:pPr>
            <a:r>
              <a:rPr lang="en-US" sz="1100" i="1" dirty="0">
                <a:solidFill>
                  <a:srgbClr val="334155"/>
                </a:solidFill>
                <a:latin typeface="Calibri" pitchFamily="34" charset="0"/>
                <a:ea typeface="Calibri" pitchFamily="34" charset="-122"/>
                <a:cs typeface="Calibri" pitchFamily="34" charset="-120"/>
              </a:rPr>
              <a:t>Y = X</a:t>
            </a:r>
            <a:endParaRPr lang="en-US" sz="1100" dirty="0"/>
          </a:p>
        </p:txBody>
      </p:sp>
      <p:sp>
        <p:nvSpPr>
          <p:cNvPr id="29" name="Text 27"/>
          <p:cNvSpPr/>
          <p:nvPr/>
        </p:nvSpPr>
        <p:spPr>
          <a:xfrm>
            <a:off x="2743200" y="4023360"/>
            <a:ext cx="4114800" cy="777240"/>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Direct pass-through. Output equals input. Simple but cannot model non-linear relationships.</a:t>
            </a:r>
            <a:endParaRPr lang="en-US" sz="1100" dirty="0"/>
          </a:p>
        </p:txBody>
      </p:sp>
      <p:sp>
        <p:nvSpPr>
          <p:cNvPr id="30" name="Shape 28"/>
          <p:cNvSpPr/>
          <p:nvPr/>
        </p:nvSpPr>
        <p:spPr>
          <a:xfrm>
            <a:off x="6949440" y="4114800"/>
            <a:ext cx="1737360" cy="548640"/>
          </a:xfrm>
          <a:prstGeom prst="rect">
            <a:avLst/>
          </a:prstGeom>
          <a:solidFill>
            <a:srgbClr val="B45309">
              <a:alpha val="15000"/>
            </a:srgbClr>
          </a:solidFill>
          <a:ln w="12700">
            <a:solidFill>
              <a:srgbClr val="B45309"/>
            </a:solidFill>
            <a:prstDash val="solid"/>
          </a:ln>
        </p:spPr>
        <p:txBody>
          <a:bodyPr/>
          <a:lstStyle/>
          <a:p>
            <a:endParaRPr lang="en-US"/>
          </a:p>
        </p:txBody>
      </p:sp>
      <p:sp>
        <p:nvSpPr>
          <p:cNvPr id="31" name="Text 29"/>
          <p:cNvSpPr/>
          <p:nvPr/>
        </p:nvSpPr>
        <p:spPr>
          <a:xfrm>
            <a:off x="6995160" y="4160520"/>
            <a:ext cx="1645920" cy="457200"/>
          </a:xfrm>
          <a:prstGeom prst="rect">
            <a:avLst/>
          </a:prstGeom>
          <a:noFill/>
          <a:ln/>
        </p:spPr>
        <p:txBody>
          <a:bodyPr wrap="square" rtlCol="0" anchor="ctr"/>
          <a:lstStyle/>
          <a:p>
            <a:pPr marL="0" indent="0" algn="ctr">
              <a:buNone/>
            </a:pPr>
            <a:r>
              <a:rPr lang="en-US" sz="950" b="1" dirty="0">
                <a:solidFill>
                  <a:srgbClr val="B45309"/>
                </a:solidFill>
                <a:latin typeface="Calibri" pitchFamily="34" charset="0"/>
                <a:ea typeface="Calibri" pitchFamily="34" charset="-122"/>
                <a:cs typeface="Calibri" pitchFamily="34" charset="-120"/>
              </a:rPr>
              <a:t>Use: Regression output layers</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6400800" y="457200"/>
            <a:ext cx="2286000" cy="2286000"/>
          </a:xfrm>
          <a:prstGeom prst="rect">
            <a:avLst/>
          </a:prstGeom>
          <a:noFill/>
          <a:ln/>
        </p:spPr>
        <p:txBody>
          <a:bodyPr wrap="square" lIns="0" tIns="0" rIns="0" bIns="0" rtlCol="0" anchor="ctr"/>
          <a:lstStyle/>
          <a:p>
            <a:pPr marL="0" indent="0" algn="r">
              <a:buNone/>
            </a:pPr>
            <a:r>
              <a:rPr lang="en-US" sz="12000" b="1" dirty="0">
                <a:solidFill>
                  <a:srgbClr val="1E3A4A"/>
                </a:solidFill>
                <a:latin typeface="Calibri" pitchFamily="34" charset="0"/>
                <a:ea typeface="Calibri" pitchFamily="34" charset="-122"/>
                <a:cs typeface="Calibri" pitchFamily="34" charset="-120"/>
              </a:rPr>
              <a:t>02</a:t>
            </a:r>
            <a:endParaRPr lang="en-US" sz="12000" dirty="0"/>
          </a:p>
        </p:txBody>
      </p:sp>
      <p:sp>
        <p:nvSpPr>
          <p:cNvPr id="3" name="Text 1"/>
          <p:cNvSpPr/>
          <p:nvPr/>
        </p:nvSpPr>
        <p:spPr>
          <a:xfrm>
            <a:off x="457200" y="1371600"/>
            <a:ext cx="3657600" cy="365760"/>
          </a:xfrm>
          <a:prstGeom prst="rect">
            <a:avLst/>
          </a:prstGeom>
          <a:noFill/>
          <a:ln/>
        </p:spPr>
        <p:txBody>
          <a:bodyPr wrap="square" lIns="0" tIns="0" rIns="0" bIns="0" rtlCol="0" anchor="ctr"/>
          <a:lstStyle/>
          <a:p>
            <a:pPr marL="0" indent="0" algn="l">
              <a:buNone/>
            </a:pPr>
            <a:r>
              <a:rPr lang="en-US" sz="1300" b="1" kern="0" spc="400" dirty="0">
                <a:solidFill>
                  <a:srgbClr val="F59E0B"/>
                </a:solidFill>
                <a:latin typeface="Calibri" pitchFamily="34" charset="0"/>
                <a:ea typeface="Calibri" pitchFamily="34" charset="-122"/>
                <a:cs typeface="Calibri" pitchFamily="34" charset="-120"/>
              </a:rPr>
              <a:t>SECTION</a:t>
            </a:r>
            <a:endParaRPr lang="en-US" sz="1300" dirty="0"/>
          </a:p>
        </p:txBody>
      </p:sp>
      <p:sp>
        <p:nvSpPr>
          <p:cNvPr id="4" name="Text 2"/>
          <p:cNvSpPr/>
          <p:nvPr/>
        </p:nvSpPr>
        <p:spPr>
          <a:xfrm>
            <a:off x="457200" y="1828800"/>
            <a:ext cx="6400800" cy="1280160"/>
          </a:xfrm>
          <a:prstGeom prst="rect">
            <a:avLst/>
          </a:prstGeom>
          <a:noFill/>
          <a:ln/>
        </p:spPr>
        <p:txBody>
          <a:bodyPr wrap="square" lIns="0" tIns="0" rIns="0" bIns="0" rtlCol="0" anchor="ctr"/>
          <a:lstStyle/>
          <a:p>
            <a:pPr marL="0" indent="0" algn="l">
              <a:buNone/>
            </a:pPr>
            <a:r>
              <a:rPr lang="en-US" sz="4800" b="1" dirty="0">
                <a:solidFill>
                  <a:srgbClr val="FFFFFF"/>
                </a:solidFill>
                <a:latin typeface="Calibri" pitchFamily="34" charset="0"/>
                <a:ea typeface="Calibri" pitchFamily="34" charset="-122"/>
                <a:cs typeface="Calibri" pitchFamily="34" charset="-120"/>
              </a:rPr>
              <a:t>Types of ANN</a:t>
            </a:r>
            <a:endParaRPr lang="en-US" sz="4800" dirty="0"/>
          </a:p>
        </p:txBody>
      </p:sp>
      <p:sp>
        <p:nvSpPr>
          <p:cNvPr id="5" name="Text 3"/>
          <p:cNvSpPr/>
          <p:nvPr/>
        </p:nvSpPr>
        <p:spPr>
          <a:xfrm>
            <a:off x="457200" y="3200400"/>
            <a:ext cx="7315200" cy="457200"/>
          </a:xfrm>
          <a:prstGeom prst="rect">
            <a:avLst/>
          </a:prstGeom>
          <a:noFill/>
          <a:ln/>
        </p:spPr>
        <p:txBody>
          <a:bodyPr wrap="square" lIns="0" tIns="0" rIns="0" bIns="0" rtlCol="0" anchor="ctr"/>
          <a:lstStyle/>
          <a:p>
            <a:pPr marL="0" indent="0" algn="l">
              <a:buNone/>
            </a:pPr>
            <a:r>
              <a:rPr lang="en-US" sz="1600" dirty="0">
                <a:solidFill>
                  <a:srgbClr val="5EEAD4"/>
                </a:solidFill>
                <a:latin typeface="Calibri" pitchFamily="34" charset="0"/>
                <a:ea typeface="Calibri" pitchFamily="34" charset="-122"/>
                <a:cs typeface="Calibri" pitchFamily="34" charset="-120"/>
              </a:rPr>
              <a:t>Feed-forward Networks  •  Recurrent Networks</a:t>
            </a:r>
            <a:endParaRPr lang="en-US" sz="1600" dirty="0"/>
          </a:p>
        </p:txBody>
      </p:sp>
      <p:sp>
        <p:nvSpPr>
          <p:cNvPr id="6" name="Shape 4"/>
          <p:cNvSpPr/>
          <p:nvPr/>
        </p:nvSpPr>
        <p:spPr>
          <a:xfrm>
            <a:off x="457200" y="3108960"/>
            <a:ext cx="4572000" cy="54864"/>
          </a:xfrm>
          <a:prstGeom prst="rect">
            <a:avLst/>
          </a:prstGeom>
          <a:solidFill>
            <a:srgbClr val="F59E0B"/>
          </a:solidFill>
          <a:ln w="12700">
            <a:solidFill>
              <a:srgbClr val="F59E0B"/>
            </a:solidFill>
            <a:prstDash val="solid"/>
          </a:ln>
        </p:spPr>
        <p:txBody>
          <a:bodyPr/>
          <a:lstStyle/>
          <a:p>
            <a:endParaRPr lang="en-US"/>
          </a:p>
        </p:txBody>
      </p:sp>
      <p:sp>
        <p:nvSpPr>
          <p:cNvPr id="7" name="Text 5"/>
          <p:cNvSpPr/>
          <p:nvPr/>
        </p:nvSpPr>
        <p:spPr>
          <a:xfrm>
            <a:off x="457200" y="3749040"/>
            <a:ext cx="7315200" cy="457200"/>
          </a:xfrm>
          <a:prstGeom prst="rect">
            <a:avLst/>
          </a:prstGeom>
          <a:noFill/>
          <a:ln/>
        </p:spPr>
        <p:txBody>
          <a:bodyPr wrap="square" rtlCol="0" anchor="ctr"/>
          <a:lstStyle/>
          <a:p>
            <a:pPr marL="0" indent="0" algn="l">
              <a:buNone/>
            </a:pPr>
            <a:r>
              <a:rPr lang="en-US" sz="1400" dirty="0">
                <a:solidFill>
                  <a:srgbClr val="E2E8F0"/>
                </a:solidFill>
                <a:latin typeface="Calibri" pitchFamily="34" charset="0"/>
                <a:ea typeface="Calibri" pitchFamily="34" charset="-122"/>
                <a:cs typeface="Calibri" pitchFamily="34" charset="-120"/>
              </a:rPr>
              <a:t>Single Layer  •  Multi-Layer</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4F72"/>
          </a:solidFill>
          <a:ln w="12700">
            <a:solidFill>
              <a:srgbClr val="1B4F72"/>
            </a:solidFill>
            <a:prstDash val="solid"/>
          </a:ln>
        </p:spPr>
        <p:txBody>
          <a:bodyPr/>
          <a:lstStyle/>
          <a:p>
            <a:endParaRPr lang="en-US"/>
          </a:p>
        </p:txBody>
      </p:sp>
      <p:sp>
        <p:nvSpPr>
          <p:cNvPr id="3" name="Text 1"/>
          <p:cNvSpPr/>
          <p:nvPr/>
        </p:nvSpPr>
        <p:spPr>
          <a:xfrm>
            <a:off x="274320" y="91440"/>
            <a:ext cx="8595360" cy="64008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Types of ANN: Feed-forward vs Recurrent</a:t>
            </a:r>
            <a:endParaRPr lang="en-US" sz="2400" dirty="0"/>
          </a:p>
        </p:txBody>
      </p:sp>
      <p:sp>
        <p:nvSpPr>
          <p:cNvPr id="4" name="Shape 2"/>
          <p:cNvSpPr/>
          <p:nvPr/>
        </p:nvSpPr>
        <p:spPr>
          <a:xfrm>
            <a:off x="274320" y="960120"/>
            <a:ext cx="4023360" cy="3931920"/>
          </a:xfrm>
          <a:prstGeom prst="rect">
            <a:avLst/>
          </a:prstGeom>
          <a:solidFill>
            <a:srgbClr val="FFFFFF"/>
          </a:solidFill>
          <a:ln w="25400">
            <a:solidFill>
              <a:srgbClr val="0D9488"/>
            </a:solidFill>
            <a:prstDash val="solid"/>
          </a:ln>
          <a:effectLst>
            <a:outerShdw blurRad="76200" dist="25400" dir="8100000" algn="bl" rotWithShape="0">
              <a:srgbClr val="000000">
                <a:alpha val="10000"/>
              </a:srgbClr>
            </a:outerShdw>
          </a:effectLst>
        </p:spPr>
        <p:txBody>
          <a:bodyPr/>
          <a:lstStyle/>
          <a:p>
            <a:endParaRPr lang="en-US"/>
          </a:p>
        </p:txBody>
      </p:sp>
      <p:sp>
        <p:nvSpPr>
          <p:cNvPr id="5" name="Shape 3"/>
          <p:cNvSpPr/>
          <p:nvPr/>
        </p:nvSpPr>
        <p:spPr>
          <a:xfrm>
            <a:off x="274320" y="960120"/>
            <a:ext cx="4023360" cy="502920"/>
          </a:xfrm>
          <a:prstGeom prst="rect">
            <a:avLst/>
          </a:prstGeom>
          <a:solidFill>
            <a:srgbClr val="0D9488"/>
          </a:solidFill>
          <a:ln w="12700">
            <a:solidFill>
              <a:srgbClr val="0D9488"/>
            </a:solidFill>
            <a:prstDash val="solid"/>
          </a:ln>
        </p:spPr>
        <p:txBody>
          <a:bodyPr/>
          <a:lstStyle/>
          <a:p>
            <a:endParaRPr lang="en-US"/>
          </a:p>
        </p:txBody>
      </p:sp>
      <p:sp>
        <p:nvSpPr>
          <p:cNvPr id="6" name="Text 4"/>
          <p:cNvSpPr/>
          <p:nvPr/>
        </p:nvSpPr>
        <p:spPr>
          <a:xfrm>
            <a:off x="365760" y="1005840"/>
            <a:ext cx="3840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Feed-Forward Neural Network</a:t>
            </a:r>
            <a:endParaRPr lang="en-US" sz="1300" dirty="0"/>
          </a:p>
        </p:txBody>
      </p:sp>
      <p:sp>
        <p:nvSpPr>
          <p:cNvPr id="7" name="Text 5"/>
          <p:cNvSpPr/>
          <p:nvPr/>
        </p:nvSpPr>
        <p:spPr>
          <a:xfrm>
            <a:off x="457200" y="1554480"/>
            <a:ext cx="3657600" cy="2286000"/>
          </a:xfrm>
          <a:prstGeom prst="rect">
            <a:avLst/>
          </a:prstGeom>
          <a:noFill/>
          <a:ln/>
        </p:spPr>
        <p:txBody>
          <a:bodyPr wrap="square" rtlCol="0" anchor="t"/>
          <a:lstStyle/>
          <a:p>
            <a:pPr marL="342900" indent="-342900">
              <a:buSzPct val="100000"/>
              <a:buChar char="•"/>
            </a:pPr>
            <a:r>
              <a:rPr lang="en-US" sz="1150" dirty="0">
                <a:solidFill>
                  <a:srgbClr val="334155"/>
                </a:solidFill>
                <a:latin typeface="Calibri" pitchFamily="34" charset="0"/>
                <a:ea typeface="Calibri" pitchFamily="34" charset="-122"/>
                <a:cs typeface="Calibri" pitchFamily="34" charset="-120"/>
              </a:rPr>
              <a:t>Information flows in ONE direction only</a:t>
            </a:r>
            <a:endParaRPr lang="en-US" sz="1150" dirty="0"/>
          </a:p>
          <a:p>
            <a:pPr marL="342900" indent="-342900">
              <a:buSzPct val="100000"/>
              <a:buChar char="•"/>
            </a:pPr>
            <a:r>
              <a:rPr lang="en-US" sz="1150" dirty="0">
                <a:solidFill>
                  <a:srgbClr val="334155"/>
                </a:solidFill>
                <a:latin typeface="Calibri" pitchFamily="34" charset="0"/>
                <a:ea typeface="Calibri" pitchFamily="34" charset="-122"/>
                <a:cs typeface="Calibri" pitchFamily="34" charset="-120"/>
              </a:rPr>
              <a:t>Input → Hidden Layers → Output</a:t>
            </a:r>
            <a:endParaRPr lang="en-US" sz="1150" dirty="0"/>
          </a:p>
          <a:p>
            <a:pPr marL="342900" indent="-342900">
              <a:buSzPct val="100000"/>
              <a:buChar char="•"/>
            </a:pPr>
            <a:r>
              <a:rPr lang="en-US" sz="1150" dirty="0">
                <a:solidFill>
                  <a:srgbClr val="334155"/>
                </a:solidFill>
                <a:latin typeface="Calibri" pitchFamily="34" charset="0"/>
                <a:ea typeface="Calibri" pitchFamily="34" charset="-122"/>
                <a:cs typeface="Calibri" pitchFamily="34" charset="-120"/>
              </a:rPr>
              <a:t>No loops or feedback connections</a:t>
            </a:r>
            <a:endParaRPr lang="en-US" sz="1150" dirty="0"/>
          </a:p>
          <a:p>
            <a:pPr marL="342900" indent="-342900">
              <a:buSzPct val="100000"/>
              <a:buChar char="•"/>
            </a:pPr>
            <a:r>
              <a:rPr lang="en-US" sz="1150" dirty="0">
                <a:solidFill>
                  <a:srgbClr val="334155"/>
                </a:solidFill>
                <a:latin typeface="Calibri" pitchFamily="34" charset="0"/>
                <a:ea typeface="Calibri" pitchFamily="34" charset="-122"/>
                <a:cs typeface="Calibri" pitchFamily="34" charset="-120"/>
              </a:rPr>
              <a:t>Lacks memory — processes only current input</a:t>
            </a:r>
            <a:endParaRPr lang="en-US" sz="1150" dirty="0"/>
          </a:p>
          <a:p>
            <a:pPr marL="342900" indent="-342900">
              <a:buSzPct val="100000"/>
              <a:buChar char="•"/>
            </a:pPr>
            <a:r>
              <a:rPr lang="en-US" sz="1150" dirty="0">
                <a:solidFill>
                  <a:srgbClr val="334155"/>
                </a:solidFill>
                <a:latin typeface="Calibri" pitchFamily="34" charset="0"/>
                <a:ea typeface="Calibri" pitchFamily="34" charset="-122"/>
                <a:cs typeface="Calibri" pitchFamily="34" charset="-120"/>
              </a:rPr>
              <a:t>Best for static pattern recognition tasks</a:t>
            </a:r>
            <a:endParaRPr lang="en-US" sz="1150" dirty="0"/>
          </a:p>
        </p:txBody>
      </p:sp>
      <p:sp>
        <p:nvSpPr>
          <p:cNvPr id="8" name="Shape 6"/>
          <p:cNvSpPr/>
          <p:nvPr/>
        </p:nvSpPr>
        <p:spPr>
          <a:xfrm>
            <a:off x="457200" y="3931920"/>
            <a:ext cx="3474720" cy="731520"/>
          </a:xfrm>
          <a:prstGeom prst="rect">
            <a:avLst/>
          </a:prstGeom>
          <a:solidFill>
            <a:srgbClr val="0D9488">
              <a:alpha val="15000"/>
            </a:srgbClr>
          </a:solidFill>
          <a:ln w="12700">
            <a:solidFill>
              <a:srgbClr val="0D9488"/>
            </a:solidFill>
            <a:prstDash val="solid"/>
          </a:ln>
        </p:spPr>
        <p:txBody>
          <a:bodyPr/>
          <a:lstStyle/>
          <a:p>
            <a:endParaRPr lang="en-US"/>
          </a:p>
        </p:txBody>
      </p:sp>
      <p:sp>
        <p:nvSpPr>
          <p:cNvPr id="9" name="Text 7"/>
          <p:cNvSpPr/>
          <p:nvPr/>
        </p:nvSpPr>
        <p:spPr>
          <a:xfrm>
            <a:off x="502920" y="3977640"/>
            <a:ext cx="3383280" cy="640080"/>
          </a:xfrm>
          <a:prstGeom prst="rect">
            <a:avLst/>
          </a:prstGeom>
          <a:noFill/>
          <a:ln/>
        </p:spPr>
        <p:txBody>
          <a:bodyPr wrap="square"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Direction: Input → Output (linear)</a:t>
            </a:r>
            <a:endParaRPr lang="en-US" sz="1100" dirty="0"/>
          </a:p>
        </p:txBody>
      </p:sp>
      <p:sp>
        <p:nvSpPr>
          <p:cNvPr id="10" name="Shape 8"/>
          <p:cNvSpPr/>
          <p:nvPr/>
        </p:nvSpPr>
        <p:spPr>
          <a:xfrm>
            <a:off x="4846320" y="960120"/>
            <a:ext cx="4023360" cy="3931920"/>
          </a:xfrm>
          <a:prstGeom prst="rect">
            <a:avLst/>
          </a:prstGeom>
          <a:solidFill>
            <a:srgbClr val="FFFFFF"/>
          </a:solidFill>
          <a:ln w="25400">
            <a:solidFill>
              <a:srgbClr val="1B4F72"/>
            </a:solidFill>
            <a:prstDash val="solid"/>
          </a:ln>
          <a:effectLst>
            <a:outerShdw blurRad="76200" dist="25400" dir="8100000" algn="bl" rotWithShape="0">
              <a:srgbClr val="000000">
                <a:alpha val="10000"/>
              </a:srgbClr>
            </a:outerShdw>
          </a:effectLst>
        </p:spPr>
        <p:txBody>
          <a:bodyPr/>
          <a:lstStyle/>
          <a:p>
            <a:endParaRPr lang="en-US"/>
          </a:p>
        </p:txBody>
      </p:sp>
      <p:sp>
        <p:nvSpPr>
          <p:cNvPr id="11" name="Shape 9"/>
          <p:cNvSpPr/>
          <p:nvPr/>
        </p:nvSpPr>
        <p:spPr>
          <a:xfrm>
            <a:off x="4846320" y="960120"/>
            <a:ext cx="4023360" cy="502920"/>
          </a:xfrm>
          <a:prstGeom prst="rect">
            <a:avLst/>
          </a:prstGeom>
          <a:solidFill>
            <a:srgbClr val="1B4F72"/>
          </a:solidFill>
          <a:ln w="12700">
            <a:solidFill>
              <a:srgbClr val="1B4F72"/>
            </a:solidFill>
            <a:prstDash val="solid"/>
          </a:ln>
        </p:spPr>
        <p:txBody>
          <a:bodyPr/>
          <a:lstStyle/>
          <a:p>
            <a:endParaRPr lang="en-US"/>
          </a:p>
        </p:txBody>
      </p:sp>
      <p:sp>
        <p:nvSpPr>
          <p:cNvPr id="12" name="Text 10"/>
          <p:cNvSpPr/>
          <p:nvPr/>
        </p:nvSpPr>
        <p:spPr>
          <a:xfrm>
            <a:off x="4937760" y="1005840"/>
            <a:ext cx="3840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Recurrent Neural Network (RNN)</a:t>
            </a:r>
            <a:endParaRPr lang="en-US" sz="1300" dirty="0"/>
          </a:p>
        </p:txBody>
      </p:sp>
      <p:sp>
        <p:nvSpPr>
          <p:cNvPr id="13" name="Text 11"/>
          <p:cNvSpPr/>
          <p:nvPr/>
        </p:nvSpPr>
        <p:spPr>
          <a:xfrm>
            <a:off x="4983480" y="1554480"/>
            <a:ext cx="3749040" cy="2286000"/>
          </a:xfrm>
          <a:prstGeom prst="rect">
            <a:avLst/>
          </a:prstGeom>
          <a:noFill/>
          <a:ln/>
        </p:spPr>
        <p:txBody>
          <a:bodyPr wrap="square" rtlCol="0" anchor="t"/>
          <a:lstStyle/>
          <a:p>
            <a:pPr marL="342900" indent="-342900">
              <a:buSzPct val="100000"/>
              <a:buChar char="•"/>
            </a:pPr>
            <a:r>
              <a:rPr lang="en-US" sz="1150" dirty="0">
                <a:solidFill>
                  <a:srgbClr val="334155"/>
                </a:solidFill>
                <a:latin typeface="Calibri" pitchFamily="34" charset="0"/>
                <a:ea typeface="Calibri" pitchFamily="34" charset="-122"/>
                <a:cs typeface="Calibri" pitchFamily="34" charset="-120"/>
              </a:rPr>
              <a:t>Information undergoes a CYCLICAL process</a:t>
            </a:r>
            <a:endParaRPr lang="en-US" sz="1150" dirty="0"/>
          </a:p>
          <a:p>
            <a:pPr marL="342900" indent="-342900">
              <a:buSzPct val="100000"/>
              <a:buChar char="•"/>
            </a:pPr>
            <a:r>
              <a:rPr lang="en-US" sz="1150" dirty="0">
                <a:solidFill>
                  <a:srgbClr val="334155"/>
                </a:solidFill>
                <a:latin typeface="Calibri" pitchFamily="34" charset="0"/>
                <a:ea typeface="Calibri" pitchFamily="34" charset="-122"/>
                <a:cs typeface="Calibri" pitchFamily="34" charset="-120"/>
              </a:rPr>
              <a:t>Contains feedback loops — output re-enters</a:t>
            </a:r>
            <a:endParaRPr lang="en-US" sz="1150" dirty="0"/>
          </a:p>
          <a:p>
            <a:pPr marL="342900" indent="-342900">
              <a:buSzPct val="100000"/>
              <a:buChar char="•"/>
            </a:pPr>
            <a:r>
              <a:rPr lang="en-US" sz="1150" dirty="0">
                <a:solidFill>
                  <a:srgbClr val="334155"/>
                </a:solidFill>
                <a:latin typeface="Calibri" pitchFamily="34" charset="0"/>
                <a:ea typeface="Calibri" pitchFamily="34" charset="-122"/>
                <a:cs typeface="Calibri" pitchFamily="34" charset="-120"/>
              </a:rPr>
              <a:t>Considers current input + past memory</a:t>
            </a:r>
            <a:endParaRPr lang="en-US" sz="1150" dirty="0"/>
          </a:p>
          <a:p>
            <a:pPr marL="342900" indent="-342900">
              <a:buSzPct val="100000"/>
              <a:buChar char="•"/>
            </a:pPr>
            <a:r>
              <a:rPr lang="en-US" sz="1150" dirty="0">
                <a:solidFill>
                  <a:srgbClr val="334155"/>
                </a:solidFill>
                <a:latin typeface="Calibri" pitchFamily="34" charset="0"/>
                <a:ea typeface="Calibri" pitchFamily="34" charset="-122"/>
                <a:cs typeface="Calibri" pitchFamily="34" charset="-120"/>
              </a:rPr>
              <a:t>Incorporates knowledge from previous steps</a:t>
            </a:r>
            <a:endParaRPr lang="en-US" sz="1150" dirty="0"/>
          </a:p>
          <a:p>
            <a:pPr marL="342900" indent="-342900">
              <a:buSzPct val="100000"/>
              <a:buChar char="•"/>
            </a:pPr>
            <a:r>
              <a:rPr lang="en-US" sz="1150" dirty="0">
                <a:solidFill>
                  <a:srgbClr val="334155"/>
                </a:solidFill>
                <a:latin typeface="Calibri" pitchFamily="34" charset="0"/>
                <a:ea typeface="Calibri" pitchFamily="34" charset="-122"/>
                <a:cs typeface="Calibri" pitchFamily="34" charset="-120"/>
              </a:rPr>
              <a:t>Exhibits a form of memory for sequences</a:t>
            </a:r>
            <a:endParaRPr lang="en-US" sz="1150" dirty="0"/>
          </a:p>
        </p:txBody>
      </p:sp>
      <p:sp>
        <p:nvSpPr>
          <p:cNvPr id="14" name="Shape 12"/>
          <p:cNvSpPr/>
          <p:nvPr/>
        </p:nvSpPr>
        <p:spPr>
          <a:xfrm>
            <a:off x="5029200" y="3931920"/>
            <a:ext cx="3474720" cy="731520"/>
          </a:xfrm>
          <a:prstGeom prst="rect">
            <a:avLst/>
          </a:prstGeom>
          <a:solidFill>
            <a:srgbClr val="1B4F72">
              <a:alpha val="15000"/>
            </a:srgbClr>
          </a:solidFill>
          <a:ln w="12700">
            <a:solidFill>
              <a:srgbClr val="1B4F72"/>
            </a:solidFill>
            <a:prstDash val="solid"/>
          </a:ln>
        </p:spPr>
        <p:txBody>
          <a:bodyPr/>
          <a:lstStyle/>
          <a:p>
            <a:endParaRPr lang="en-US"/>
          </a:p>
        </p:txBody>
      </p:sp>
      <p:sp>
        <p:nvSpPr>
          <p:cNvPr id="15" name="Text 13"/>
          <p:cNvSpPr/>
          <p:nvPr/>
        </p:nvSpPr>
        <p:spPr>
          <a:xfrm>
            <a:off x="5074920" y="3977640"/>
            <a:ext cx="3383280" cy="640080"/>
          </a:xfrm>
          <a:prstGeom prst="rect">
            <a:avLst/>
          </a:prstGeom>
          <a:noFill/>
          <a:ln/>
        </p:spPr>
        <p:txBody>
          <a:bodyPr wrap="square" rtlCol="0" anchor="ctr"/>
          <a:lstStyle/>
          <a:p>
            <a:pPr marL="0" indent="0" algn="ctr">
              <a:buNone/>
            </a:pPr>
            <a:r>
              <a:rPr lang="en-US" sz="1100" b="1" dirty="0">
                <a:solidFill>
                  <a:srgbClr val="1B4F72"/>
                </a:solidFill>
                <a:latin typeface="Calibri" pitchFamily="34" charset="0"/>
                <a:ea typeface="Calibri" pitchFamily="34" charset="-122"/>
                <a:cs typeface="Calibri" pitchFamily="34" charset="-120"/>
              </a:rPr>
              <a:t>Direction: Loop (cyclical with feedback)</a:t>
            </a:r>
            <a:endParaRPr lang="en-US" sz="1100" dirty="0"/>
          </a:p>
        </p:txBody>
      </p:sp>
      <p:pic>
        <p:nvPicPr>
          <p:cNvPr id="16" name="Picture 10" descr="FN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09" y="2583180"/>
            <a:ext cx="2457013" cy="1257300"/>
          </a:xfrm>
          <a:prstGeom prst="rect">
            <a:avLst/>
          </a:prstGeom>
          <a:noFill/>
          <a:extLst>
            <a:ext uri="{909E8E84-426E-40DD-AFC4-6F175D3DCCD1}">
              <a14:hiddenFill xmlns:a14="http://schemas.microsoft.com/office/drawing/2010/main">
                <a:solidFill>
                  <a:srgbClr val="FFFFFF"/>
                </a:solidFill>
              </a14:hiddenFill>
            </a:ext>
          </a:extLst>
        </p:spPr>
      </p:pic>
      <p:sp>
        <p:nvSpPr>
          <p:cNvPr id="17" name="AutoShape 2" descr="recurrent_neural_network.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099"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t="7788"/>
          <a:stretch/>
        </p:blipFill>
        <p:spPr bwMode="auto">
          <a:xfrm>
            <a:off x="5319650" y="2569080"/>
            <a:ext cx="2757550" cy="127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274320" y="91440"/>
            <a:ext cx="8595360" cy="64008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Single Layer Feed-forward Network</a:t>
            </a:r>
            <a:endParaRPr lang="en-US" sz="2600" dirty="0"/>
          </a:p>
        </p:txBody>
      </p:sp>
      <p:sp>
        <p:nvSpPr>
          <p:cNvPr id="4" name="Shape 2"/>
          <p:cNvSpPr/>
          <p:nvPr/>
        </p:nvSpPr>
        <p:spPr>
          <a:xfrm>
            <a:off x="640080" y="1280160"/>
            <a:ext cx="502920" cy="502920"/>
          </a:xfrm>
          <a:prstGeom prst="ellipse">
            <a:avLst/>
          </a:prstGeom>
          <a:solidFill>
            <a:srgbClr val="0D9488"/>
          </a:solidFill>
          <a:ln w="12700">
            <a:solidFill>
              <a:srgbClr val="0D9488"/>
            </a:solidFill>
            <a:prstDash val="solid"/>
          </a:ln>
        </p:spPr>
        <p:txBody>
          <a:bodyPr/>
          <a:lstStyle/>
          <a:p>
            <a:endParaRPr lang="en-US"/>
          </a:p>
        </p:txBody>
      </p:sp>
      <p:sp>
        <p:nvSpPr>
          <p:cNvPr id="5" name="Text 3"/>
          <p:cNvSpPr/>
          <p:nvPr/>
        </p:nvSpPr>
        <p:spPr>
          <a:xfrm>
            <a:off x="502920" y="1353312"/>
            <a:ext cx="77724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x1</a:t>
            </a:r>
            <a:endParaRPr lang="en-US" sz="1100" dirty="0"/>
          </a:p>
        </p:txBody>
      </p:sp>
      <p:sp>
        <p:nvSpPr>
          <p:cNvPr id="6" name="Shape 4"/>
          <p:cNvSpPr/>
          <p:nvPr/>
        </p:nvSpPr>
        <p:spPr>
          <a:xfrm>
            <a:off x="640080" y="2103120"/>
            <a:ext cx="502920" cy="502920"/>
          </a:xfrm>
          <a:prstGeom prst="ellipse">
            <a:avLst/>
          </a:prstGeom>
          <a:solidFill>
            <a:srgbClr val="0D9488"/>
          </a:solidFill>
          <a:ln w="12700">
            <a:solidFill>
              <a:srgbClr val="0D9488"/>
            </a:solidFill>
            <a:prstDash val="solid"/>
          </a:ln>
        </p:spPr>
        <p:txBody>
          <a:bodyPr/>
          <a:lstStyle/>
          <a:p>
            <a:endParaRPr lang="en-US"/>
          </a:p>
        </p:txBody>
      </p:sp>
      <p:sp>
        <p:nvSpPr>
          <p:cNvPr id="7" name="Text 5"/>
          <p:cNvSpPr/>
          <p:nvPr/>
        </p:nvSpPr>
        <p:spPr>
          <a:xfrm>
            <a:off x="502920" y="2176272"/>
            <a:ext cx="77724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x2</a:t>
            </a:r>
            <a:endParaRPr lang="en-US" sz="1100" dirty="0"/>
          </a:p>
        </p:txBody>
      </p:sp>
      <p:sp>
        <p:nvSpPr>
          <p:cNvPr id="8" name="Shape 6"/>
          <p:cNvSpPr/>
          <p:nvPr/>
        </p:nvSpPr>
        <p:spPr>
          <a:xfrm>
            <a:off x="640080" y="2926080"/>
            <a:ext cx="502920" cy="502920"/>
          </a:xfrm>
          <a:prstGeom prst="ellipse">
            <a:avLst/>
          </a:prstGeom>
          <a:solidFill>
            <a:srgbClr val="0D9488"/>
          </a:solidFill>
          <a:ln w="12700">
            <a:solidFill>
              <a:srgbClr val="0D9488"/>
            </a:solidFill>
            <a:prstDash val="solid"/>
          </a:ln>
        </p:spPr>
        <p:txBody>
          <a:bodyPr/>
          <a:lstStyle/>
          <a:p>
            <a:endParaRPr lang="en-US"/>
          </a:p>
        </p:txBody>
      </p:sp>
      <p:sp>
        <p:nvSpPr>
          <p:cNvPr id="9" name="Text 7"/>
          <p:cNvSpPr/>
          <p:nvPr/>
        </p:nvSpPr>
        <p:spPr>
          <a:xfrm>
            <a:off x="502920" y="2999232"/>
            <a:ext cx="77724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x3</a:t>
            </a:r>
            <a:endParaRPr lang="en-US" sz="1100" dirty="0"/>
          </a:p>
        </p:txBody>
      </p:sp>
      <p:sp>
        <p:nvSpPr>
          <p:cNvPr id="10" name="Shape 8"/>
          <p:cNvSpPr/>
          <p:nvPr/>
        </p:nvSpPr>
        <p:spPr>
          <a:xfrm>
            <a:off x="640080" y="3749040"/>
            <a:ext cx="502920" cy="502920"/>
          </a:xfrm>
          <a:prstGeom prst="ellipse">
            <a:avLst/>
          </a:prstGeom>
          <a:solidFill>
            <a:srgbClr val="0D9488"/>
          </a:solidFill>
          <a:ln w="12700">
            <a:solidFill>
              <a:srgbClr val="0D9488"/>
            </a:solidFill>
            <a:prstDash val="solid"/>
          </a:ln>
        </p:spPr>
        <p:txBody>
          <a:bodyPr/>
          <a:lstStyle/>
          <a:p>
            <a:endParaRPr lang="en-US"/>
          </a:p>
        </p:txBody>
      </p:sp>
      <p:sp>
        <p:nvSpPr>
          <p:cNvPr id="11" name="Text 9"/>
          <p:cNvSpPr/>
          <p:nvPr/>
        </p:nvSpPr>
        <p:spPr>
          <a:xfrm>
            <a:off x="502920" y="3822192"/>
            <a:ext cx="77724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xₙ</a:t>
            </a:r>
            <a:endParaRPr lang="en-US" sz="1100" dirty="0"/>
          </a:p>
        </p:txBody>
      </p:sp>
      <p:sp>
        <p:nvSpPr>
          <p:cNvPr id="12" name="Shape 10"/>
          <p:cNvSpPr/>
          <p:nvPr/>
        </p:nvSpPr>
        <p:spPr>
          <a:xfrm>
            <a:off x="3657600" y="1463040"/>
            <a:ext cx="502920" cy="502920"/>
          </a:xfrm>
          <a:prstGeom prst="ellipse">
            <a:avLst/>
          </a:prstGeom>
          <a:solidFill>
            <a:srgbClr val="0D1B2A"/>
          </a:solidFill>
          <a:ln w="12700">
            <a:solidFill>
              <a:srgbClr val="0D1B2A"/>
            </a:solidFill>
            <a:prstDash val="solid"/>
          </a:ln>
        </p:spPr>
        <p:txBody>
          <a:bodyPr/>
          <a:lstStyle/>
          <a:p>
            <a:endParaRPr lang="en-US"/>
          </a:p>
        </p:txBody>
      </p:sp>
      <p:sp>
        <p:nvSpPr>
          <p:cNvPr id="13" name="Text 11"/>
          <p:cNvSpPr/>
          <p:nvPr/>
        </p:nvSpPr>
        <p:spPr>
          <a:xfrm>
            <a:off x="3520440" y="1536192"/>
            <a:ext cx="77724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y1</a:t>
            </a:r>
            <a:endParaRPr lang="en-US" sz="1100" dirty="0"/>
          </a:p>
        </p:txBody>
      </p:sp>
      <p:sp>
        <p:nvSpPr>
          <p:cNvPr id="14" name="Shape 12"/>
          <p:cNvSpPr/>
          <p:nvPr/>
        </p:nvSpPr>
        <p:spPr>
          <a:xfrm>
            <a:off x="3657600" y="2286000"/>
            <a:ext cx="502920" cy="502920"/>
          </a:xfrm>
          <a:prstGeom prst="ellipse">
            <a:avLst/>
          </a:prstGeom>
          <a:solidFill>
            <a:srgbClr val="0D1B2A"/>
          </a:solidFill>
          <a:ln w="12700">
            <a:solidFill>
              <a:srgbClr val="0D1B2A"/>
            </a:solidFill>
            <a:prstDash val="solid"/>
          </a:ln>
        </p:spPr>
        <p:txBody>
          <a:bodyPr/>
          <a:lstStyle/>
          <a:p>
            <a:endParaRPr lang="en-US"/>
          </a:p>
        </p:txBody>
      </p:sp>
      <p:sp>
        <p:nvSpPr>
          <p:cNvPr id="15" name="Text 13"/>
          <p:cNvSpPr/>
          <p:nvPr/>
        </p:nvSpPr>
        <p:spPr>
          <a:xfrm>
            <a:off x="3520440" y="2359152"/>
            <a:ext cx="77724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y2</a:t>
            </a:r>
            <a:endParaRPr lang="en-US" sz="1100" dirty="0"/>
          </a:p>
        </p:txBody>
      </p:sp>
      <p:sp>
        <p:nvSpPr>
          <p:cNvPr id="16" name="Shape 14"/>
          <p:cNvSpPr/>
          <p:nvPr/>
        </p:nvSpPr>
        <p:spPr>
          <a:xfrm>
            <a:off x="3657600" y="3108960"/>
            <a:ext cx="502920" cy="502920"/>
          </a:xfrm>
          <a:prstGeom prst="ellipse">
            <a:avLst/>
          </a:prstGeom>
          <a:solidFill>
            <a:srgbClr val="0D1B2A"/>
          </a:solidFill>
          <a:ln w="12700">
            <a:solidFill>
              <a:srgbClr val="0D1B2A"/>
            </a:solidFill>
            <a:prstDash val="solid"/>
          </a:ln>
        </p:spPr>
        <p:txBody>
          <a:bodyPr/>
          <a:lstStyle/>
          <a:p>
            <a:endParaRPr lang="en-US"/>
          </a:p>
        </p:txBody>
      </p:sp>
      <p:sp>
        <p:nvSpPr>
          <p:cNvPr id="17" name="Text 15"/>
          <p:cNvSpPr/>
          <p:nvPr/>
        </p:nvSpPr>
        <p:spPr>
          <a:xfrm>
            <a:off x="3520440" y="3182112"/>
            <a:ext cx="77724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yₘ</a:t>
            </a:r>
            <a:endParaRPr lang="en-US" sz="1100" dirty="0"/>
          </a:p>
        </p:txBody>
      </p:sp>
      <p:sp>
        <p:nvSpPr>
          <p:cNvPr id="18" name="Shape 16"/>
          <p:cNvSpPr/>
          <p:nvPr/>
        </p:nvSpPr>
        <p:spPr>
          <a:xfrm>
            <a:off x="1143000" y="1527048"/>
            <a:ext cx="2514600" cy="182880"/>
          </a:xfrm>
          <a:prstGeom prst="line">
            <a:avLst/>
          </a:prstGeom>
          <a:noFill/>
          <a:ln w="8890">
            <a:solidFill>
              <a:srgbClr val="E2E8F0"/>
            </a:solidFill>
            <a:prstDash val="solid"/>
          </a:ln>
        </p:spPr>
        <p:txBody>
          <a:bodyPr/>
          <a:lstStyle/>
          <a:p>
            <a:endParaRPr lang="en-US"/>
          </a:p>
        </p:txBody>
      </p:sp>
      <p:sp>
        <p:nvSpPr>
          <p:cNvPr id="19" name="Shape 17"/>
          <p:cNvSpPr/>
          <p:nvPr/>
        </p:nvSpPr>
        <p:spPr>
          <a:xfrm>
            <a:off x="1143000" y="1527048"/>
            <a:ext cx="2514600" cy="1005840"/>
          </a:xfrm>
          <a:prstGeom prst="line">
            <a:avLst/>
          </a:prstGeom>
          <a:noFill/>
          <a:ln w="8890">
            <a:solidFill>
              <a:srgbClr val="E2E8F0"/>
            </a:solidFill>
            <a:prstDash val="solid"/>
          </a:ln>
        </p:spPr>
        <p:txBody>
          <a:bodyPr/>
          <a:lstStyle/>
          <a:p>
            <a:endParaRPr lang="en-US"/>
          </a:p>
        </p:txBody>
      </p:sp>
      <p:sp>
        <p:nvSpPr>
          <p:cNvPr id="20" name="Shape 18"/>
          <p:cNvSpPr/>
          <p:nvPr/>
        </p:nvSpPr>
        <p:spPr>
          <a:xfrm>
            <a:off x="1143000" y="1527048"/>
            <a:ext cx="2514600" cy="1828800"/>
          </a:xfrm>
          <a:prstGeom prst="line">
            <a:avLst/>
          </a:prstGeom>
          <a:noFill/>
          <a:ln w="8890">
            <a:solidFill>
              <a:srgbClr val="E2E8F0"/>
            </a:solidFill>
            <a:prstDash val="solid"/>
          </a:ln>
        </p:spPr>
        <p:txBody>
          <a:bodyPr/>
          <a:lstStyle/>
          <a:p>
            <a:endParaRPr lang="en-US"/>
          </a:p>
        </p:txBody>
      </p:sp>
      <p:sp>
        <p:nvSpPr>
          <p:cNvPr id="21" name="Shape 19"/>
          <p:cNvSpPr/>
          <p:nvPr/>
        </p:nvSpPr>
        <p:spPr>
          <a:xfrm>
            <a:off x="1143000" y="2350008"/>
            <a:ext cx="2514600" cy="0"/>
          </a:xfrm>
          <a:prstGeom prst="line">
            <a:avLst/>
          </a:prstGeom>
          <a:noFill/>
          <a:ln w="8890">
            <a:solidFill>
              <a:srgbClr val="E2E8F0"/>
            </a:solidFill>
            <a:prstDash val="solid"/>
          </a:ln>
        </p:spPr>
        <p:txBody>
          <a:bodyPr/>
          <a:lstStyle/>
          <a:p>
            <a:endParaRPr lang="en-US"/>
          </a:p>
        </p:txBody>
      </p:sp>
      <p:sp>
        <p:nvSpPr>
          <p:cNvPr id="22" name="Shape 20"/>
          <p:cNvSpPr/>
          <p:nvPr/>
        </p:nvSpPr>
        <p:spPr>
          <a:xfrm>
            <a:off x="1143000" y="2350008"/>
            <a:ext cx="2514600" cy="182880"/>
          </a:xfrm>
          <a:prstGeom prst="line">
            <a:avLst/>
          </a:prstGeom>
          <a:noFill/>
          <a:ln w="8890">
            <a:solidFill>
              <a:srgbClr val="E2E8F0"/>
            </a:solidFill>
            <a:prstDash val="solid"/>
          </a:ln>
        </p:spPr>
        <p:txBody>
          <a:bodyPr/>
          <a:lstStyle/>
          <a:p>
            <a:endParaRPr lang="en-US"/>
          </a:p>
        </p:txBody>
      </p:sp>
      <p:sp>
        <p:nvSpPr>
          <p:cNvPr id="23" name="Shape 21"/>
          <p:cNvSpPr/>
          <p:nvPr/>
        </p:nvSpPr>
        <p:spPr>
          <a:xfrm>
            <a:off x="1143000" y="2350008"/>
            <a:ext cx="2514600" cy="1005840"/>
          </a:xfrm>
          <a:prstGeom prst="line">
            <a:avLst/>
          </a:prstGeom>
          <a:noFill/>
          <a:ln w="8890">
            <a:solidFill>
              <a:srgbClr val="E2E8F0"/>
            </a:solidFill>
            <a:prstDash val="solid"/>
          </a:ln>
        </p:spPr>
        <p:txBody>
          <a:bodyPr/>
          <a:lstStyle/>
          <a:p>
            <a:endParaRPr lang="en-US"/>
          </a:p>
        </p:txBody>
      </p:sp>
      <p:sp>
        <p:nvSpPr>
          <p:cNvPr id="24" name="Shape 22"/>
          <p:cNvSpPr/>
          <p:nvPr/>
        </p:nvSpPr>
        <p:spPr>
          <a:xfrm>
            <a:off x="1143000" y="3172968"/>
            <a:ext cx="2514600" cy="0"/>
          </a:xfrm>
          <a:prstGeom prst="line">
            <a:avLst/>
          </a:prstGeom>
          <a:noFill/>
          <a:ln w="8890">
            <a:solidFill>
              <a:srgbClr val="E2E8F0"/>
            </a:solidFill>
            <a:prstDash val="solid"/>
          </a:ln>
        </p:spPr>
        <p:txBody>
          <a:bodyPr/>
          <a:lstStyle/>
          <a:p>
            <a:endParaRPr lang="en-US"/>
          </a:p>
        </p:txBody>
      </p:sp>
      <p:sp>
        <p:nvSpPr>
          <p:cNvPr id="25" name="Shape 23"/>
          <p:cNvSpPr/>
          <p:nvPr/>
        </p:nvSpPr>
        <p:spPr>
          <a:xfrm>
            <a:off x="1143000" y="3172968"/>
            <a:ext cx="2514600" cy="0"/>
          </a:xfrm>
          <a:prstGeom prst="line">
            <a:avLst/>
          </a:prstGeom>
          <a:noFill/>
          <a:ln w="8890">
            <a:solidFill>
              <a:srgbClr val="E2E8F0"/>
            </a:solidFill>
            <a:prstDash val="solid"/>
          </a:ln>
        </p:spPr>
        <p:txBody>
          <a:bodyPr/>
          <a:lstStyle/>
          <a:p>
            <a:endParaRPr lang="en-US"/>
          </a:p>
        </p:txBody>
      </p:sp>
      <p:sp>
        <p:nvSpPr>
          <p:cNvPr id="26" name="Shape 24"/>
          <p:cNvSpPr/>
          <p:nvPr/>
        </p:nvSpPr>
        <p:spPr>
          <a:xfrm>
            <a:off x="1143000" y="3172968"/>
            <a:ext cx="2514600" cy="182880"/>
          </a:xfrm>
          <a:prstGeom prst="line">
            <a:avLst/>
          </a:prstGeom>
          <a:noFill/>
          <a:ln w="8890">
            <a:solidFill>
              <a:srgbClr val="E2E8F0"/>
            </a:solidFill>
            <a:prstDash val="solid"/>
          </a:ln>
        </p:spPr>
        <p:txBody>
          <a:bodyPr/>
          <a:lstStyle/>
          <a:p>
            <a:endParaRPr lang="en-US"/>
          </a:p>
        </p:txBody>
      </p:sp>
      <p:sp>
        <p:nvSpPr>
          <p:cNvPr id="27" name="Shape 25"/>
          <p:cNvSpPr/>
          <p:nvPr/>
        </p:nvSpPr>
        <p:spPr>
          <a:xfrm>
            <a:off x="1143000" y="3995928"/>
            <a:ext cx="2514600" cy="0"/>
          </a:xfrm>
          <a:prstGeom prst="line">
            <a:avLst/>
          </a:prstGeom>
          <a:noFill/>
          <a:ln w="8890">
            <a:solidFill>
              <a:srgbClr val="E2E8F0"/>
            </a:solidFill>
            <a:prstDash val="solid"/>
          </a:ln>
        </p:spPr>
        <p:txBody>
          <a:bodyPr/>
          <a:lstStyle/>
          <a:p>
            <a:endParaRPr lang="en-US"/>
          </a:p>
        </p:txBody>
      </p:sp>
      <p:sp>
        <p:nvSpPr>
          <p:cNvPr id="28" name="Shape 26"/>
          <p:cNvSpPr/>
          <p:nvPr/>
        </p:nvSpPr>
        <p:spPr>
          <a:xfrm>
            <a:off x="1143000" y="3995928"/>
            <a:ext cx="2514600" cy="0"/>
          </a:xfrm>
          <a:prstGeom prst="line">
            <a:avLst/>
          </a:prstGeom>
          <a:noFill/>
          <a:ln w="8890">
            <a:solidFill>
              <a:srgbClr val="E2E8F0"/>
            </a:solidFill>
            <a:prstDash val="solid"/>
          </a:ln>
        </p:spPr>
        <p:txBody>
          <a:bodyPr/>
          <a:lstStyle/>
          <a:p>
            <a:endParaRPr lang="en-US"/>
          </a:p>
        </p:txBody>
      </p:sp>
      <p:sp>
        <p:nvSpPr>
          <p:cNvPr id="29" name="Shape 27"/>
          <p:cNvSpPr/>
          <p:nvPr/>
        </p:nvSpPr>
        <p:spPr>
          <a:xfrm>
            <a:off x="1143000" y="3995928"/>
            <a:ext cx="2514600" cy="0"/>
          </a:xfrm>
          <a:prstGeom prst="line">
            <a:avLst/>
          </a:prstGeom>
          <a:noFill/>
          <a:ln w="8890">
            <a:solidFill>
              <a:srgbClr val="E2E8F0"/>
            </a:solidFill>
            <a:prstDash val="solid"/>
          </a:ln>
        </p:spPr>
        <p:txBody>
          <a:bodyPr/>
          <a:lstStyle/>
          <a:p>
            <a:endParaRPr lang="en-US"/>
          </a:p>
        </p:txBody>
      </p:sp>
      <p:sp>
        <p:nvSpPr>
          <p:cNvPr id="30" name="Text 28"/>
          <p:cNvSpPr/>
          <p:nvPr/>
        </p:nvSpPr>
        <p:spPr>
          <a:xfrm>
            <a:off x="2011680" y="2377440"/>
            <a:ext cx="548640" cy="320040"/>
          </a:xfrm>
          <a:prstGeom prst="rect">
            <a:avLst/>
          </a:prstGeom>
          <a:noFill/>
          <a:ln/>
        </p:spPr>
        <p:txBody>
          <a:bodyPr wrap="square"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wᵢⱼ</a:t>
            </a:r>
            <a:endParaRPr lang="en-US" sz="1100" dirty="0"/>
          </a:p>
        </p:txBody>
      </p:sp>
      <p:sp>
        <p:nvSpPr>
          <p:cNvPr id="31" name="Text 29"/>
          <p:cNvSpPr/>
          <p:nvPr/>
        </p:nvSpPr>
        <p:spPr>
          <a:xfrm>
            <a:off x="365760" y="4389120"/>
            <a:ext cx="1097280" cy="548640"/>
          </a:xfrm>
          <a:prstGeom prst="rect">
            <a:avLst/>
          </a:prstGeom>
          <a:noFill/>
          <a:ln/>
        </p:spPr>
        <p:txBody>
          <a:bodyPr wrap="square"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Input</a:t>
            </a:r>
            <a:endParaRPr lang="en-US" sz="900" dirty="0"/>
          </a:p>
          <a:p>
            <a:pPr marL="0" indent="0" algn="ctr">
              <a:buNone/>
            </a:pPr>
            <a:r>
              <a:rPr lang="en-US" sz="900" b="1" dirty="0">
                <a:solidFill>
                  <a:srgbClr val="0D9488"/>
                </a:solidFill>
                <a:latin typeface="Calibri" pitchFamily="34" charset="0"/>
                <a:ea typeface="Calibri" pitchFamily="34" charset="-122"/>
                <a:cs typeface="Calibri" pitchFamily="34" charset="-120"/>
              </a:rPr>
              <a:t>Neurons (xᵢ)</a:t>
            </a:r>
            <a:endParaRPr lang="en-US" sz="900" dirty="0"/>
          </a:p>
        </p:txBody>
      </p:sp>
      <p:sp>
        <p:nvSpPr>
          <p:cNvPr id="32" name="Text 30"/>
          <p:cNvSpPr/>
          <p:nvPr/>
        </p:nvSpPr>
        <p:spPr>
          <a:xfrm>
            <a:off x="1828800" y="4389120"/>
            <a:ext cx="1097280" cy="54864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Weights</a:t>
            </a:r>
            <a:endParaRPr lang="en-US" sz="900" dirty="0"/>
          </a:p>
          <a:p>
            <a:pPr marL="0" indent="0" algn="ctr">
              <a:buNone/>
            </a:pPr>
            <a:r>
              <a:rPr lang="en-US" sz="900" dirty="0">
                <a:solidFill>
                  <a:srgbClr val="64748B"/>
                </a:solidFill>
                <a:latin typeface="Calibri" pitchFamily="34" charset="0"/>
                <a:ea typeface="Calibri" pitchFamily="34" charset="-122"/>
                <a:cs typeface="Calibri" pitchFamily="34" charset="-120"/>
              </a:rPr>
              <a:t>(wᵢⱼ)</a:t>
            </a:r>
            <a:endParaRPr lang="en-US" sz="900" dirty="0"/>
          </a:p>
        </p:txBody>
      </p:sp>
      <p:sp>
        <p:nvSpPr>
          <p:cNvPr id="33" name="Text 31"/>
          <p:cNvSpPr/>
          <p:nvPr/>
        </p:nvSpPr>
        <p:spPr>
          <a:xfrm>
            <a:off x="3474720" y="4389120"/>
            <a:ext cx="1097280" cy="548640"/>
          </a:xfrm>
          <a:prstGeom prst="rect">
            <a:avLst/>
          </a:prstGeom>
          <a:noFill/>
          <a:ln/>
        </p:spPr>
        <p:txBody>
          <a:bodyPr wrap="square" rtlCol="0" anchor="ctr"/>
          <a:lstStyle/>
          <a:p>
            <a:pPr marL="0" indent="0" algn="ctr">
              <a:buNone/>
            </a:pPr>
            <a:r>
              <a:rPr lang="en-US" sz="900" b="1" dirty="0">
                <a:solidFill>
                  <a:srgbClr val="0D1B2A"/>
                </a:solidFill>
                <a:latin typeface="Calibri" pitchFamily="34" charset="0"/>
                <a:ea typeface="Calibri" pitchFamily="34" charset="-122"/>
                <a:cs typeface="Calibri" pitchFamily="34" charset="-120"/>
              </a:rPr>
              <a:t>Single Layer</a:t>
            </a:r>
            <a:endParaRPr lang="en-US" sz="900" dirty="0"/>
          </a:p>
          <a:p>
            <a:pPr marL="0" indent="0" algn="ctr">
              <a:buNone/>
            </a:pPr>
            <a:r>
              <a:rPr lang="en-US" sz="900" b="1" dirty="0">
                <a:solidFill>
                  <a:srgbClr val="0D1B2A"/>
                </a:solidFill>
                <a:latin typeface="Calibri" pitchFamily="34" charset="0"/>
                <a:ea typeface="Calibri" pitchFamily="34" charset="-122"/>
                <a:cs typeface="Calibri" pitchFamily="34" charset="-120"/>
              </a:rPr>
              <a:t>Neurons (yⱼ)</a:t>
            </a:r>
            <a:endParaRPr lang="en-US" sz="900" dirty="0"/>
          </a:p>
        </p:txBody>
      </p:sp>
      <p:sp>
        <p:nvSpPr>
          <p:cNvPr id="34" name="Shape 32"/>
          <p:cNvSpPr/>
          <p:nvPr/>
        </p:nvSpPr>
        <p:spPr>
          <a:xfrm>
            <a:off x="4846320" y="960120"/>
            <a:ext cx="4023360" cy="3931920"/>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en-US"/>
          </a:p>
        </p:txBody>
      </p:sp>
      <p:sp>
        <p:nvSpPr>
          <p:cNvPr id="35" name="Text 33"/>
          <p:cNvSpPr/>
          <p:nvPr/>
        </p:nvSpPr>
        <p:spPr>
          <a:xfrm>
            <a:off x="5029200" y="1097280"/>
            <a:ext cx="3657600" cy="365760"/>
          </a:xfrm>
          <a:prstGeom prst="rect">
            <a:avLst/>
          </a:prstGeom>
          <a:noFill/>
          <a:ln/>
        </p:spPr>
        <p:txBody>
          <a:bodyPr wrap="square" rtlCol="0" anchor="ctr"/>
          <a:lstStyle/>
          <a:p>
            <a:pPr marL="0" indent="0" algn="l">
              <a:buNone/>
            </a:pPr>
            <a:r>
              <a:rPr lang="en-US" sz="1500" b="1" dirty="0">
                <a:solidFill>
                  <a:srgbClr val="0D9488"/>
                </a:solidFill>
                <a:latin typeface="Calibri" pitchFamily="34" charset="0"/>
                <a:ea typeface="Calibri" pitchFamily="34" charset="-122"/>
                <a:cs typeface="Calibri" pitchFamily="34" charset="-120"/>
              </a:rPr>
              <a:t>Key Characteristics</a:t>
            </a:r>
            <a:endParaRPr lang="en-US" sz="1500" dirty="0"/>
          </a:p>
        </p:txBody>
      </p:sp>
      <p:sp>
        <p:nvSpPr>
          <p:cNvPr id="36" name="Shape 34"/>
          <p:cNvSpPr/>
          <p:nvPr/>
        </p:nvSpPr>
        <p:spPr>
          <a:xfrm>
            <a:off x="5029200" y="1508760"/>
            <a:ext cx="3474720" cy="36576"/>
          </a:xfrm>
          <a:prstGeom prst="rect">
            <a:avLst/>
          </a:prstGeom>
          <a:solidFill>
            <a:srgbClr val="0D9488"/>
          </a:solidFill>
          <a:ln w="12700">
            <a:solidFill>
              <a:srgbClr val="0D9488"/>
            </a:solidFill>
            <a:prstDash val="solid"/>
          </a:ln>
        </p:spPr>
        <p:txBody>
          <a:bodyPr/>
          <a:lstStyle/>
          <a:p>
            <a:endParaRPr lang="en-US"/>
          </a:p>
        </p:txBody>
      </p:sp>
      <p:sp>
        <p:nvSpPr>
          <p:cNvPr id="37" name="Text 35"/>
          <p:cNvSpPr/>
          <p:nvPr/>
        </p:nvSpPr>
        <p:spPr>
          <a:xfrm>
            <a:off x="5029200" y="1600200"/>
            <a:ext cx="3566160" cy="3108960"/>
          </a:xfrm>
          <a:prstGeom prst="rect">
            <a:avLst/>
          </a:prstGeom>
          <a:noFill/>
          <a:ln/>
        </p:spPr>
        <p:txBody>
          <a:bodyPr wrap="square" rtlCol="0" anchor="t"/>
          <a:lstStyle/>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n input neurons (x₁ to xₙ)</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m output (single-layer) neurons</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Each input connects to every output via weights wᵢⱼ</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No hidden layers — direct input to output</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Simplest form of feed-forward network</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Suitable for linearly separable problems</a:t>
            </a:r>
            <a:endParaRPr lang="en-US" sz="1200" dirty="0"/>
          </a:p>
        </p:txBody>
      </p:sp>
      <p:sp>
        <p:nvSpPr>
          <p:cNvPr id="38" name="AutoShape 2" descr="11"/>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95" y="960120"/>
            <a:ext cx="4444725" cy="3931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4F72"/>
          </a:solidFill>
          <a:ln w="12700">
            <a:solidFill>
              <a:srgbClr val="1B4F72"/>
            </a:solidFill>
            <a:prstDash val="solid"/>
          </a:ln>
        </p:spPr>
        <p:txBody>
          <a:bodyPr/>
          <a:lstStyle/>
          <a:p>
            <a:endParaRPr lang="en-US"/>
          </a:p>
        </p:txBody>
      </p:sp>
      <p:sp>
        <p:nvSpPr>
          <p:cNvPr id="3" name="Text 1"/>
          <p:cNvSpPr/>
          <p:nvPr/>
        </p:nvSpPr>
        <p:spPr>
          <a:xfrm>
            <a:off x="274320" y="91440"/>
            <a:ext cx="8595360" cy="64008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Multi-Layer Feed-forward Network (ℓ – m – n Configuration)</a:t>
            </a:r>
            <a:endParaRPr lang="en-US" sz="2200" dirty="0"/>
          </a:p>
        </p:txBody>
      </p:sp>
      <p:sp>
        <p:nvSpPr>
          <p:cNvPr id="51" name="Shape 49"/>
          <p:cNvSpPr/>
          <p:nvPr/>
        </p:nvSpPr>
        <p:spPr>
          <a:xfrm>
            <a:off x="4846320" y="937260"/>
            <a:ext cx="4023360" cy="3931920"/>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en-US"/>
          </a:p>
        </p:txBody>
      </p:sp>
      <p:sp>
        <p:nvSpPr>
          <p:cNvPr id="52" name="Text 50"/>
          <p:cNvSpPr/>
          <p:nvPr/>
        </p:nvSpPr>
        <p:spPr>
          <a:xfrm>
            <a:off x="5029200" y="1097280"/>
            <a:ext cx="3657600" cy="365760"/>
          </a:xfrm>
          <a:prstGeom prst="rect">
            <a:avLst/>
          </a:prstGeom>
          <a:noFill/>
          <a:ln/>
        </p:spPr>
        <p:txBody>
          <a:bodyPr wrap="square" rtlCol="0" anchor="ctr"/>
          <a:lstStyle/>
          <a:p>
            <a:pPr marL="0" indent="0" algn="l">
              <a:buNone/>
            </a:pPr>
            <a:r>
              <a:rPr lang="en-US" sz="1500" b="1" dirty="0">
                <a:solidFill>
                  <a:srgbClr val="1B4F72"/>
                </a:solidFill>
                <a:latin typeface="Calibri" pitchFamily="34" charset="0"/>
                <a:ea typeface="Calibri" pitchFamily="34" charset="-122"/>
                <a:cs typeface="Calibri" pitchFamily="34" charset="-120"/>
              </a:rPr>
              <a:t>Architecture Details</a:t>
            </a:r>
            <a:endParaRPr lang="en-US" sz="1500" dirty="0"/>
          </a:p>
        </p:txBody>
      </p:sp>
      <p:sp>
        <p:nvSpPr>
          <p:cNvPr id="53" name="Shape 51"/>
          <p:cNvSpPr/>
          <p:nvPr/>
        </p:nvSpPr>
        <p:spPr>
          <a:xfrm>
            <a:off x="5029200" y="1508760"/>
            <a:ext cx="3474720" cy="36576"/>
          </a:xfrm>
          <a:prstGeom prst="rect">
            <a:avLst/>
          </a:prstGeom>
          <a:solidFill>
            <a:srgbClr val="1B4F72"/>
          </a:solidFill>
          <a:ln w="12700">
            <a:solidFill>
              <a:srgbClr val="1B4F72"/>
            </a:solidFill>
            <a:prstDash val="solid"/>
          </a:ln>
        </p:spPr>
        <p:txBody>
          <a:bodyPr/>
          <a:lstStyle/>
          <a:p>
            <a:endParaRPr lang="en-US"/>
          </a:p>
        </p:txBody>
      </p:sp>
      <p:sp>
        <p:nvSpPr>
          <p:cNvPr id="54" name="Shape 52"/>
          <p:cNvSpPr/>
          <p:nvPr/>
        </p:nvSpPr>
        <p:spPr>
          <a:xfrm>
            <a:off x="4937760" y="1645920"/>
            <a:ext cx="109728" cy="777240"/>
          </a:xfrm>
          <a:prstGeom prst="rect">
            <a:avLst/>
          </a:prstGeom>
          <a:solidFill>
            <a:srgbClr val="0D9488"/>
          </a:solidFill>
          <a:ln w="12700">
            <a:solidFill>
              <a:srgbClr val="0D9488"/>
            </a:solidFill>
            <a:prstDash val="solid"/>
          </a:ln>
        </p:spPr>
        <p:txBody>
          <a:bodyPr/>
          <a:lstStyle/>
          <a:p>
            <a:endParaRPr lang="en-US"/>
          </a:p>
        </p:txBody>
      </p:sp>
      <p:sp>
        <p:nvSpPr>
          <p:cNvPr id="55" name="Text 53"/>
          <p:cNvSpPr/>
          <p:nvPr/>
        </p:nvSpPr>
        <p:spPr>
          <a:xfrm>
            <a:off x="5120640" y="1664208"/>
            <a:ext cx="3566160" cy="320040"/>
          </a:xfrm>
          <a:prstGeom prst="rect">
            <a:avLst/>
          </a:prstGeom>
          <a:noFill/>
          <a:ln/>
        </p:spPr>
        <p:txBody>
          <a:bodyPr wrap="square" lIns="0" tIns="0" rIns="0" bIns="0" rtlCol="0" anchor="ctr"/>
          <a:lstStyle/>
          <a:p>
            <a:pPr marL="0" indent="0" algn="l">
              <a:buNone/>
            </a:pPr>
            <a:r>
              <a:rPr lang="en-US" sz="1200" b="1" dirty="0">
                <a:solidFill>
                  <a:srgbClr val="0D9488"/>
                </a:solidFill>
                <a:latin typeface="Calibri" pitchFamily="34" charset="0"/>
                <a:ea typeface="Calibri" pitchFamily="34" charset="-122"/>
                <a:cs typeface="Calibri" pitchFamily="34" charset="-120"/>
              </a:rPr>
              <a:t>Input Layer (ℓ)</a:t>
            </a:r>
            <a:endParaRPr lang="en-US" sz="1200" dirty="0"/>
          </a:p>
        </p:txBody>
      </p:sp>
      <p:sp>
        <p:nvSpPr>
          <p:cNvPr id="56" name="Text 54"/>
          <p:cNvSpPr/>
          <p:nvPr/>
        </p:nvSpPr>
        <p:spPr>
          <a:xfrm>
            <a:off x="5120640" y="1993392"/>
            <a:ext cx="3566160" cy="411480"/>
          </a:xfrm>
          <a:prstGeom prst="rect">
            <a:avLst/>
          </a:prstGeom>
          <a:noFill/>
          <a:ln/>
        </p:spPr>
        <p:txBody>
          <a:bodyPr wrap="square" rtlCol="0" anchor="ctr"/>
          <a:lstStyle/>
          <a:p>
            <a:pPr marL="0" indent="0" algn="l">
              <a:buNone/>
            </a:pPr>
            <a:r>
              <a:rPr lang="en-US" sz="1050" dirty="0">
                <a:solidFill>
                  <a:srgbClr val="334155"/>
                </a:solidFill>
                <a:latin typeface="Calibri" pitchFamily="34" charset="0"/>
                <a:ea typeface="Calibri" pitchFamily="34" charset="-122"/>
                <a:cs typeface="Calibri" pitchFamily="34" charset="-120"/>
              </a:rPr>
              <a:t>Receives raw input features; neurons xᵢ pass data forward</a:t>
            </a:r>
            <a:endParaRPr lang="en-US" sz="1050" dirty="0"/>
          </a:p>
        </p:txBody>
      </p:sp>
      <p:sp>
        <p:nvSpPr>
          <p:cNvPr id="57" name="Shape 55"/>
          <p:cNvSpPr/>
          <p:nvPr/>
        </p:nvSpPr>
        <p:spPr>
          <a:xfrm>
            <a:off x="4937760" y="2651760"/>
            <a:ext cx="109728" cy="777240"/>
          </a:xfrm>
          <a:prstGeom prst="rect">
            <a:avLst/>
          </a:prstGeom>
          <a:solidFill>
            <a:srgbClr val="7C3AED"/>
          </a:solidFill>
          <a:ln w="12700">
            <a:solidFill>
              <a:srgbClr val="7C3AED"/>
            </a:solidFill>
            <a:prstDash val="solid"/>
          </a:ln>
        </p:spPr>
        <p:txBody>
          <a:bodyPr/>
          <a:lstStyle/>
          <a:p>
            <a:endParaRPr lang="en-US"/>
          </a:p>
        </p:txBody>
      </p:sp>
      <p:sp>
        <p:nvSpPr>
          <p:cNvPr id="58" name="Text 56"/>
          <p:cNvSpPr/>
          <p:nvPr/>
        </p:nvSpPr>
        <p:spPr>
          <a:xfrm>
            <a:off x="5120640" y="2670048"/>
            <a:ext cx="3566160" cy="320040"/>
          </a:xfrm>
          <a:prstGeom prst="rect">
            <a:avLst/>
          </a:prstGeom>
          <a:noFill/>
          <a:ln/>
        </p:spPr>
        <p:txBody>
          <a:bodyPr wrap="square" lIns="0" tIns="0" rIns="0" bIns="0" rtlCol="0" anchor="ctr"/>
          <a:lstStyle/>
          <a:p>
            <a:pPr marL="0" indent="0" algn="l">
              <a:buNone/>
            </a:pPr>
            <a:r>
              <a:rPr lang="en-US" sz="1200" b="1" dirty="0">
                <a:solidFill>
                  <a:srgbClr val="7C3AED"/>
                </a:solidFill>
                <a:latin typeface="Calibri" pitchFamily="34" charset="0"/>
                <a:ea typeface="Calibri" pitchFamily="34" charset="-122"/>
                <a:cs typeface="Calibri" pitchFamily="34" charset="-120"/>
              </a:rPr>
              <a:t>Hidden Layer (m)</a:t>
            </a:r>
            <a:endParaRPr lang="en-US" sz="1200" dirty="0"/>
          </a:p>
        </p:txBody>
      </p:sp>
      <p:sp>
        <p:nvSpPr>
          <p:cNvPr id="59" name="Text 57"/>
          <p:cNvSpPr/>
          <p:nvPr/>
        </p:nvSpPr>
        <p:spPr>
          <a:xfrm>
            <a:off x="5120640" y="2999232"/>
            <a:ext cx="3566160" cy="411480"/>
          </a:xfrm>
          <a:prstGeom prst="rect">
            <a:avLst/>
          </a:prstGeom>
          <a:noFill/>
          <a:ln/>
        </p:spPr>
        <p:txBody>
          <a:bodyPr wrap="square" rtlCol="0" anchor="ctr"/>
          <a:lstStyle/>
          <a:p>
            <a:pPr marL="0" indent="0" algn="l">
              <a:buNone/>
            </a:pPr>
            <a:r>
              <a:rPr lang="en-US" sz="1050" dirty="0">
                <a:solidFill>
                  <a:srgbClr val="334155"/>
                </a:solidFill>
                <a:latin typeface="Calibri" pitchFamily="34" charset="0"/>
                <a:ea typeface="Calibri" pitchFamily="34" charset="-122"/>
                <a:cs typeface="Calibri" pitchFamily="34" charset="-120"/>
              </a:rPr>
              <a:t>Intermediate processing; weights Vᵢⱼ connect input to hidden neurons yⱼ</a:t>
            </a:r>
            <a:endParaRPr lang="en-US" sz="1050" dirty="0"/>
          </a:p>
        </p:txBody>
      </p:sp>
      <p:sp>
        <p:nvSpPr>
          <p:cNvPr id="60" name="Shape 58"/>
          <p:cNvSpPr/>
          <p:nvPr/>
        </p:nvSpPr>
        <p:spPr>
          <a:xfrm>
            <a:off x="4937760" y="3657600"/>
            <a:ext cx="109728" cy="777240"/>
          </a:xfrm>
          <a:prstGeom prst="rect">
            <a:avLst/>
          </a:prstGeom>
          <a:solidFill>
            <a:srgbClr val="0D1B2A"/>
          </a:solidFill>
          <a:ln w="12700">
            <a:solidFill>
              <a:srgbClr val="0D1B2A"/>
            </a:solidFill>
            <a:prstDash val="solid"/>
          </a:ln>
        </p:spPr>
        <p:txBody>
          <a:bodyPr/>
          <a:lstStyle/>
          <a:p>
            <a:endParaRPr lang="en-US"/>
          </a:p>
        </p:txBody>
      </p:sp>
      <p:sp>
        <p:nvSpPr>
          <p:cNvPr id="61" name="Text 59"/>
          <p:cNvSpPr/>
          <p:nvPr/>
        </p:nvSpPr>
        <p:spPr>
          <a:xfrm>
            <a:off x="5120640" y="3675888"/>
            <a:ext cx="3566160" cy="320040"/>
          </a:xfrm>
          <a:prstGeom prst="rect">
            <a:avLst/>
          </a:prstGeom>
          <a:noFill/>
          <a:ln/>
        </p:spPr>
        <p:txBody>
          <a:bodyPr wrap="square" lIns="0" tIns="0" rIns="0" bIns="0" rtlCol="0" anchor="ctr"/>
          <a:lstStyle/>
          <a:p>
            <a:pPr marL="0" indent="0" algn="l">
              <a:buNone/>
            </a:pPr>
            <a:r>
              <a:rPr lang="en-US" sz="1200" b="1" dirty="0">
                <a:solidFill>
                  <a:srgbClr val="0D1B2A"/>
                </a:solidFill>
                <a:latin typeface="Calibri" pitchFamily="34" charset="0"/>
                <a:ea typeface="Calibri" pitchFamily="34" charset="-122"/>
                <a:cs typeface="Calibri" pitchFamily="34" charset="-120"/>
              </a:rPr>
              <a:t>Output Layer (n)</a:t>
            </a:r>
            <a:endParaRPr lang="en-US" sz="1200" dirty="0"/>
          </a:p>
        </p:txBody>
      </p:sp>
      <p:sp>
        <p:nvSpPr>
          <p:cNvPr id="62" name="Text 60"/>
          <p:cNvSpPr/>
          <p:nvPr/>
        </p:nvSpPr>
        <p:spPr>
          <a:xfrm>
            <a:off x="5120640" y="4005072"/>
            <a:ext cx="3566160" cy="411480"/>
          </a:xfrm>
          <a:prstGeom prst="rect">
            <a:avLst/>
          </a:prstGeom>
          <a:noFill/>
          <a:ln/>
        </p:spPr>
        <p:txBody>
          <a:bodyPr wrap="square" rtlCol="0" anchor="ctr"/>
          <a:lstStyle/>
          <a:p>
            <a:pPr marL="0" indent="0" algn="l">
              <a:buNone/>
            </a:pPr>
            <a:r>
              <a:rPr lang="en-US" sz="1050" dirty="0">
                <a:solidFill>
                  <a:srgbClr val="334155"/>
                </a:solidFill>
                <a:latin typeface="Calibri" pitchFamily="34" charset="0"/>
                <a:ea typeface="Calibri" pitchFamily="34" charset="-122"/>
                <a:cs typeface="Calibri" pitchFamily="34" charset="-120"/>
              </a:rPr>
              <a:t>Final result; weights Wⱼₖ connect hidden to output neurons zₖ</a:t>
            </a:r>
            <a:endParaRPr lang="en-US" sz="1050" dirty="0"/>
          </a:p>
        </p:txBody>
      </p:sp>
      <p:sp>
        <p:nvSpPr>
          <p:cNvPr id="63" name="Shape 61"/>
          <p:cNvSpPr/>
          <p:nvPr/>
        </p:nvSpPr>
        <p:spPr>
          <a:xfrm>
            <a:off x="4937760" y="4663440"/>
            <a:ext cx="3840480" cy="365760"/>
          </a:xfrm>
          <a:prstGeom prst="rect">
            <a:avLst/>
          </a:prstGeom>
          <a:solidFill>
            <a:srgbClr val="1B4F72">
              <a:alpha val="15000"/>
            </a:srgbClr>
          </a:solidFill>
          <a:ln w="12700">
            <a:solidFill>
              <a:srgbClr val="1B4F72"/>
            </a:solidFill>
            <a:prstDash val="solid"/>
          </a:ln>
        </p:spPr>
        <p:txBody>
          <a:bodyPr/>
          <a:lstStyle/>
          <a:p>
            <a:endParaRPr lang="en-US"/>
          </a:p>
        </p:txBody>
      </p:sp>
      <p:sp>
        <p:nvSpPr>
          <p:cNvPr id="64" name="Text 62"/>
          <p:cNvSpPr/>
          <p:nvPr/>
        </p:nvSpPr>
        <p:spPr>
          <a:xfrm>
            <a:off x="4983480" y="4681728"/>
            <a:ext cx="3749040" cy="329184"/>
          </a:xfrm>
          <a:prstGeom prst="rect">
            <a:avLst/>
          </a:prstGeom>
          <a:noFill/>
          <a:ln/>
        </p:spPr>
        <p:txBody>
          <a:bodyPr wrap="square" rtlCol="0" anchor="ctr"/>
          <a:lstStyle/>
          <a:p>
            <a:pPr marL="0" indent="0" algn="ctr">
              <a:buNone/>
            </a:pPr>
            <a:r>
              <a:rPr lang="en-US" sz="1050" b="1" i="1" dirty="0">
                <a:solidFill>
                  <a:srgbClr val="1B4F72"/>
                </a:solidFill>
                <a:latin typeface="Calibri" pitchFamily="34" charset="0"/>
                <a:ea typeface="Calibri" pitchFamily="34" charset="-122"/>
                <a:cs typeface="Calibri" pitchFamily="34" charset="-120"/>
              </a:rPr>
              <a:t>More layers = greater capacity for non-linear learning</a:t>
            </a:r>
            <a:endParaRPr lang="en-US" sz="1050"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77" y="1280160"/>
            <a:ext cx="4659630" cy="2930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6400800" y="457200"/>
            <a:ext cx="2286000" cy="2286000"/>
          </a:xfrm>
          <a:prstGeom prst="rect">
            <a:avLst/>
          </a:prstGeom>
          <a:noFill/>
          <a:ln/>
        </p:spPr>
        <p:txBody>
          <a:bodyPr wrap="square" lIns="0" tIns="0" rIns="0" bIns="0" rtlCol="0" anchor="ctr"/>
          <a:lstStyle/>
          <a:p>
            <a:pPr marL="0" indent="0" algn="r">
              <a:buNone/>
            </a:pPr>
            <a:r>
              <a:rPr lang="en-US" sz="12000" b="1" dirty="0">
                <a:solidFill>
                  <a:srgbClr val="1E3A4A"/>
                </a:solidFill>
                <a:latin typeface="Calibri" pitchFamily="34" charset="0"/>
                <a:ea typeface="Calibri" pitchFamily="34" charset="-122"/>
                <a:cs typeface="Calibri" pitchFamily="34" charset="-120"/>
              </a:rPr>
              <a:t>03</a:t>
            </a:r>
            <a:endParaRPr lang="en-US" sz="12000" dirty="0"/>
          </a:p>
        </p:txBody>
      </p:sp>
      <p:sp>
        <p:nvSpPr>
          <p:cNvPr id="3" name="Text 1"/>
          <p:cNvSpPr/>
          <p:nvPr/>
        </p:nvSpPr>
        <p:spPr>
          <a:xfrm>
            <a:off x="457200" y="1371600"/>
            <a:ext cx="4572000" cy="365760"/>
          </a:xfrm>
          <a:prstGeom prst="rect">
            <a:avLst/>
          </a:prstGeom>
          <a:noFill/>
          <a:ln/>
        </p:spPr>
        <p:txBody>
          <a:bodyPr wrap="square" lIns="0" tIns="0" rIns="0" bIns="0" rtlCol="0" anchor="ctr"/>
          <a:lstStyle/>
          <a:p>
            <a:pPr marL="0" indent="0" algn="l">
              <a:buNone/>
            </a:pPr>
            <a:r>
              <a:rPr lang="en-US" sz="1300" b="1" kern="0" spc="400" dirty="0">
                <a:solidFill>
                  <a:srgbClr val="F59E0B"/>
                </a:solidFill>
                <a:latin typeface="Calibri" pitchFamily="34" charset="0"/>
                <a:ea typeface="Calibri" pitchFamily="34" charset="-122"/>
                <a:cs typeface="Calibri" pitchFamily="34" charset="-120"/>
              </a:rPr>
              <a:t>SECTION</a:t>
            </a:r>
            <a:endParaRPr lang="en-US" sz="1300" dirty="0"/>
          </a:p>
        </p:txBody>
      </p:sp>
      <p:sp>
        <p:nvSpPr>
          <p:cNvPr id="4" name="Text 2"/>
          <p:cNvSpPr/>
          <p:nvPr/>
        </p:nvSpPr>
        <p:spPr>
          <a:xfrm>
            <a:off x="457200" y="1828800"/>
            <a:ext cx="7315200" cy="1645920"/>
          </a:xfrm>
          <a:prstGeom prst="rect">
            <a:avLst/>
          </a:prstGeom>
          <a:noFill/>
          <a:ln/>
        </p:spPr>
        <p:txBody>
          <a:bodyPr wrap="square" lIns="0" tIns="0" rIns="0" bIns="0" rtlCol="0" anchor="ctr"/>
          <a:lstStyle/>
          <a:p>
            <a:pPr marL="0" indent="0" algn="l">
              <a:buNone/>
            </a:pPr>
            <a:r>
              <a:rPr lang="en-US" sz="4400" b="1" dirty="0">
                <a:solidFill>
                  <a:srgbClr val="FFFFFF"/>
                </a:solidFill>
                <a:latin typeface="Calibri" pitchFamily="34" charset="0"/>
                <a:ea typeface="Calibri" pitchFamily="34" charset="-122"/>
                <a:cs typeface="Calibri" pitchFamily="34" charset="-120"/>
              </a:rPr>
              <a:t>Applications of</a:t>
            </a:r>
            <a:endParaRPr lang="en-US" sz="4400" dirty="0"/>
          </a:p>
          <a:p>
            <a:pPr marL="0" indent="0" algn="l">
              <a:buNone/>
            </a:pPr>
            <a:r>
              <a:rPr lang="en-US" sz="4400" b="1" dirty="0">
                <a:solidFill>
                  <a:srgbClr val="FFFFFF"/>
                </a:solidFill>
                <a:latin typeface="Calibri" pitchFamily="34" charset="0"/>
                <a:ea typeface="Calibri" pitchFamily="34" charset="-122"/>
                <a:cs typeface="Calibri" pitchFamily="34" charset="-120"/>
              </a:rPr>
              <a:t>Neural Networks</a:t>
            </a:r>
            <a:endParaRPr lang="en-US" sz="4400" dirty="0"/>
          </a:p>
        </p:txBody>
      </p:sp>
      <p:sp>
        <p:nvSpPr>
          <p:cNvPr id="5" name="Shape 3"/>
          <p:cNvSpPr/>
          <p:nvPr/>
        </p:nvSpPr>
        <p:spPr>
          <a:xfrm>
            <a:off x="457200" y="3611880"/>
            <a:ext cx="5486400" cy="54864"/>
          </a:xfrm>
          <a:prstGeom prst="rect">
            <a:avLst/>
          </a:prstGeom>
          <a:solidFill>
            <a:srgbClr val="F59E0B"/>
          </a:solidFill>
          <a:ln w="12700">
            <a:solidFill>
              <a:srgbClr val="F59E0B"/>
            </a:solidFill>
            <a:prstDash val="solid"/>
          </a:ln>
        </p:spPr>
        <p:txBody>
          <a:bodyPr/>
          <a:lstStyle/>
          <a:p>
            <a:endParaRPr lang="en-US"/>
          </a:p>
        </p:txBody>
      </p:sp>
      <p:sp>
        <p:nvSpPr>
          <p:cNvPr id="6" name="Text 4"/>
          <p:cNvSpPr/>
          <p:nvPr/>
        </p:nvSpPr>
        <p:spPr>
          <a:xfrm>
            <a:off x="457200" y="3749040"/>
            <a:ext cx="7315200" cy="457200"/>
          </a:xfrm>
          <a:prstGeom prst="rect">
            <a:avLst/>
          </a:prstGeom>
          <a:noFill/>
          <a:ln/>
        </p:spPr>
        <p:txBody>
          <a:bodyPr wrap="square" lIns="0" tIns="0" rIns="0" bIns="0" rtlCol="0" anchor="ctr"/>
          <a:lstStyle/>
          <a:p>
            <a:pPr marL="0" indent="0" algn="l">
              <a:buNone/>
            </a:pPr>
            <a:r>
              <a:rPr lang="en-US" sz="1400" dirty="0">
                <a:solidFill>
                  <a:srgbClr val="5EEAD4"/>
                </a:solidFill>
                <a:latin typeface="Calibri" pitchFamily="34" charset="0"/>
                <a:ea typeface="Calibri" pitchFamily="34" charset="-122"/>
                <a:cs typeface="Calibri" pitchFamily="34" charset="-120"/>
              </a:rPr>
              <a:t>7 Real-World Domains Where Neural Networks Excel</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274320" y="91440"/>
            <a:ext cx="8595360" cy="64008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Neural Network Applications (Part 1)</a:t>
            </a:r>
            <a:endParaRPr lang="en-US" sz="2600" dirty="0"/>
          </a:p>
        </p:txBody>
      </p:sp>
      <p:sp>
        <p:nvSpPr>
          <p:cNvPr id="4" name="Shape 2"/>
          <p:cNvSpPr/>
          <p:nvPr/>
        </p:nvSpPr>
        <p:spPr>
          <a:xfrm>
            <a:off x="274320" y="960120"/>
            <a:ext cx="4206240" cy="1874520"/>
          </a:xfrm>
          <a:prstGeom prst="rect">
            <a:avLst/>
          </a:prstGeom>
          <a:solidFill>
            <a:srgbClr val="FFFFFF"/>
          </a:solidFill>
          <a:ln w="19050">
            <a:solidFill>
              <a:srgbClr val="0D9488"/>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411480" y="1069848"/>
            <a:ext cx="411480" cy="411480"/>
          </a:xfrm>
          <a:prstGeom prst="ellipse">
            <a:avLst/>
          </a:prstGeom>
          <a:solidFill>
            <a:srgbClr val="0D9488"/>
          </a:solidFill>
          <a:ln w="12700">
            <a:solidFill>
              <a:srgbClr val="0D9488"/>
            </a:solidFill>
            <a:prstDash val="solid"/>
          </a:ln>
        </p:spPr>
        <p:txBody>
          <a:bodyPr/>
          <a:lstStyle/>
          <a:p>
            <a:endParaRPr lang="en-US"/>
          </a:p>
        </p:txBody>
      </p:sp>
      <p:sp>
        <p:nvSpPr>
          <p:cNvPr id="6" name="Text 4"/>
          <p:cNvSpPr/>
          <p:nvPr/>
        </p:nvSpPr>
        <p:spPr>
          <a:xfrm>
            <a:off x="411480" y="1088136"/>
            <a:ext cx="411480" cy="37490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914400" y="1033272"/>
            <a:ext cx="3429000" cy="274320"/>
          </a:xfrm>
          <a:prstGeom prst="rect">
            <a:avLst/>
          </a:prstGeom>
          <a:noFill/>
          <a:ln/>
        </p:spPr>
        <p:txBody>
          <a:bodyPr wrap="square" lIns="0" tIns="0" rIns="0" bIns="0" rtlCol="0" anchor="ctr"/>
          <a:lstStyle/>
          <a:p>
            <a:pPr marL="0" indent="0" algn="l">
              <a:buNone/>
            </a:pPr>
            <a:r>
              <a:rPr lang="en-US" sz="1200" b="1" dirty="0">
                <a:solidFill>
                  <a:srgbClr val="0D9488"/>
                </a:solidFill>
                <a:latin typeface="Calibri" pitchFamily="34" charset="0"/>
                <a:ea typeface="Calibri" pitchFamily="34" charset="-122"/>
                <a:cs typeface="Calibri" pitchFamily="34" charset="-120"/>
              </a:rPr>
              <a:t>Financial Modeling</a:t>
            </a:r>
            <a:endParaRPr lang="en-US" sz="1200" dirty="0"/>
          </a:p>
        </p:txBody>
      </p:sp>
      <p:sp>
        <p:nvSpPr>
          <p:cNvPr id="8" name="Text 6"/>
          <p:cNvSpPr/>
          <p:nvPr/>
        </p:nvSpPr>
        <p:spPr>
          <a:xfrm>
            <a:off x="914400" y="1307592"/>
            <a:ext cx="3429000" cy="228600"/>
          </a:xfrm>
          <a:prstGeom prst="rect">
            <a:avLst/>
          </a:prstGeom>
          <a:noFill/>
          <a:ln/>
        </p:spPr>
        <p:txBody>
          <a:bodyPr wrap="square" lIns="0" tIns="0" rIns="0" bIns="0" rtlCol="0" anchor="ctr"/>
          <a:lstStyle/>
          <a:p>
            <a:pPr marL="0" indent="0" algn="l">
              <a:buNone/>
            </a:pPr>
            <a:r>
              <a:rPr lang="en-US" sz="950" i="1" dirty="0">
                <a:solidFill>
                  <a:srgbClr val="64748B"/>
                </a:solidFill>
                <a:latin typeface="Calibri" pitchFamily="34" charset="0"/>
                <a:ea typeface="Calibri" pitchFamily="34" charset="-122"/>
                <a:cs typeface="Calibri" pitchFamily="34" charset="-120"/>
              </a:rPr>
              <a:t>Predicting the Stock Market</a:t>
            </a:r>
            <a:endParaRPr lang="en-US" sz="950" dirty="0"/>
          </a:p>
        </p:txBody>
      </p:sp>
      <p:sp>
        <p:nvSpPr>
          <p:cNvPr id="9" name="Shape 7"/>
          <p:cNvSpPr/>
          <p:nvPr/>
        </p:nvSpPr>
        <p:spPr>
          <a:xfrm>
            <a:off x="411480" y="1600200"/>
            <a:ext cx="3931920" cy="27432"/>
          </a:xfrm>
          <a:prstGeom prst="rect">
            <a:avLst/>
          </a:prstGeom>
          <a:solidFill>
            <a:srgbClr val="E2E8F0"/>
          </a:solidFill>
          <a:ln w="12700">
            <a:solidFill>
              <a:srgbClr val="E2E8F0"/>
            </a:solidFill>
            <a:prstDash val="solid"/>
          </a:ln>
        </p:spPr>
        <p:txBody>
          <a:bodyPr/>
          <a:lstStyle/>
          <a:p>
            <a:endParaRPr lang="en-US"/>
          </a:p>
        </p:txBody>
      </p:sp>
      <p:sp>
        <p:nvSpPr>
          <p:cNvPr id="10" name="Text 8"/>
          <p:cNvSpPr/>
          <p:nvPr/>
        </p:nvSpPr>
        <p:spPr>
          <a:xfrm>
            <a:off x="411480" y="1664208"/>
            <a:ext cx="3886200" cy="1097280"/>
          </a:xfrm>
          <a:prstGeom prst="rect">
            <a:avLst/>
          </a:prstGeom>
          <a:noFill/>
          <a:ln/>
        </p:spPr>
        <p:txBody>
          <a:bodyPr wrap="square" rtlCol="0" anchor="t"/>
          <a:lstStyle/>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Stock Price Prediction: Analyze historical prices, market indicators &amp; financial data using RNNs / LSTM networks</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Algorithmic Trading: Make trading decisions based on predicted price movements, executing trades automatically</a:t>
            </a:r>
            <a:endParaRPr lang="en-US" sz="950" dirty="0"/>
          </a:p>
        </p:txBody>
      </p:sp>
      <p:sp>
        <p:nvSpPr>
          <p:cNvPr id="11" name="Shape 9"/>
          <p:cNvSpPr/>
          <p:nvPr/>
        </p:nvSpPr>
        <p:spPr>
          <a:xfrm>
            <a:off x="4709160" y="960120"/>
            <a:ext cx="4206240" cy="1874520"/>
          </a:xfrm>
          <a:prstGeom prst="rect">
            <a:avLst/>
          </a:prstGeom>
          <a:solidFill>
            <a:srgbClr val="FFFFFF"/>
          </a:solidFill>
          <a:ln w="19050">
            <a:solidFill>
              <a:srgbClr val="0369A1"/>
            </a:solidFill>
            <a:prstDash val="solid"/>
          </a:ln>
          <a:effectLst>
            <a:outerShdw blurRad="63500" dist="25400" dir="8100000" algn="bl" rotWithShape="0">
              <a:srgbClr val="000000">
                <a:alpha val="8000"/>
              </a:srgbClr>
            </a:outerShdw>
          </a:effectLst>
        </p:spPr>
        <p:txBody>
          <a:bodyPr/>
          <a:lstStyle/>
          <a:p>
            <a:endParaRPr lang="en-US"/>
          </a:p>
        </p:txBody>
      </p:sp>
      <p:sp>
        <p:nvSpPr>
          <p:cNvPr id="12" name="Shape 10"/>
          <p:cNvSpPr/>
          <p:nvPr/>
        </p:nvSpPr>
        <p:spPr>
          <a:xfrm>
            <a:off x="4846320" y="1069848"/>
            <a:ext cx="411480" cy="411480"/>
          </a:xfrm>
          <a:prstGeom prst="ellipse">
            <a:avLst/>
          </a:prstGeom>
          <a:solidFill>
            <a:srgbClr val="0369A1"/>
          </a:solidFill>
          <a:ln w="12700">
            <a:solidFill>
              <a:srgbClr val="0369A1"/>
            </a:solidFill>
            <a:prstDash val="solid"/>
          </a:ln>
        </p:spPr>
        <p:txBody>
          <a:bodyPr/>
          <a:lstStyle/>
          <a:p>
            <a:endParaRPr lang="en-US"/>
          </a:p>
        </p:txBody>
      </p:sp>
      <p:sp>
        <p:nvSpPr>
          <p:cNvPr id="13" name="Text 11"/>
          <p:cNvSpPr/>
          <p:nvPr/>
        </p:nvSpPr>
        <p:spPr>
          <a:xfrm>
            <a:off x="4846320" y="1088136"/>
            <a:ext cx="411480" cy="37490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5349240" y="1033272"/>
            <a:ext cx="3429000" cy="274320"/>
          </a:xfrm>
          <a:prstGeom prst="rect">
            <a:avLst/>
          </a:prstGeom>
          <a:noFill/>
          <a:ln/>
        </p:spPr>
        <p:txBody>
          <a:bodyPr wrap="square" lIns="0" tIns="0" rIns="0" bIns="0" rtlCol="0" anchor="ctr"/>
          <a:lstStyle/>
          <a:p>
            <a:pPr marL="0" indent="0" algn="l">
              <a:buNone/>
            </a:pPr>
            <a:r>
              <a:rPr lang="en-US" sz="1200" b="1" dirty="0">
                <a:solidFill>
                  <a:srgbClr val="0369A1"/>
                </a:solidFill>
                <a:latin typeface="Calibri" pitchFamily="34" charset="0"/>
                <a:ea typeface="Calibri" pitchFamily="34" charset="-122"/>
                <a:cs typeface="Calibri" pitchFamily="34" charset="-120"/>
              </a:rPr>
              <a:t>Time Series Prediction</a:t>
            </a:r>
            <a:endParaRPr lang="en-US" sz="1200" dirty="0"/>
          </a:p>
        </p:txBody>
      </p:sp>
      <p:sp>
        <p:nvSpPr>
          <p:cNvPr id="15" name="Text 13"/>
          <p:cNvSpPr/>
          <p:nvPr/>
        </p:nvSpPr>
        <p:spPr>
          <a:xfrm>
            <a:off x="5349240" y="1307592"/>
            <a:ext cx="3429000" cy="228600"/>
          </a:xfrm>
          <a:prstGeom prst="rect">
            <a:avLst/>
          </a:prstGeom>
          <a:noFill/>
          <a:ln/>
        </p:spPr>
        <p:txBody>
          <a:bodyPr wrap="square" lIns="0" tIns="0" rIns="0" bIns="0" rtlCol="0" anchor="ctr"/>
          <a:lstStyle/>
          <a:p>
            <a:pPr marL="0" indent="0" algn="l">
              <a:buNone/>
            </a:pPr>
            <a:r>
              <a:rPr lang="en-US" sz="950" i="1" dirty="0">
                <a:solidFill>
                  <a:srgbClr val="64748B"/>
                </a:solidFill>
                <a:latin typeface="Calibri" pitchFamily="34" charset="0"/>
                <a:ea typeface="Calibri" pitchFamily="34" charset="-122"/>
                <a:cs typeface="Calibri" pitchFamily="34" charset="-120"/>
              </a:rPr>
              <a:t>Climate, Weather &amp; Seizures</a:t>
            </a:r>
            <a:endParaRPr lang="en-US" sz="950" dirty="0"/>
          </a:p>
        </p:txBody>
      </p:sp>
      <p:sp>
        <p:nvSpPr>
          <p:cNvPr id="16" name="Shape 14"/>
          <p:cNvSpPr/>
          <p:nvPr/>
        </p:nvSpPr>
        <p:spPr>
          <a:xfrm>
            <a:off x="4846320" y="1600200"/>
            <a:ext cx="3931920" cy="27432"/>
          </a:xfrm>
          <a:prstGeom prst="rect">
            <a:avLst/>
          </a:prstGeom>
          <a:solidFill>
            <a:srgbClr val="E2E8F0"/>
          </a:solidFill>
          <a:ln w="12700">
            <a:solidFill>
              <a:srgbClr val="E2E8F0"/>
            </a:solidFill>
            <a:prstDash val="solid"/>
          </a:ln>
        </p:spPr>
        <p:txBody>
          <a:bodyPr/>
          <a:lstStyle/>
          <a:p>
            <a:endParaRPr lang="en-US"/>
          </a:p>
        </p:txBody>
      </p:sp>
      <p:sp>
        <p:nvSpPr>
          <p:cNvPr id="17" name="Text 15"/>
          <p:cNvSpPr/>
          <p:nvPr/>
        </p:nvSpPr>
        <p:spPr>
          <a:xfrm>
            <a:off x="4846320" y="1664208"/>
            <a:ext cx="3886200" cy="1097280"/>
          </a:xfrm>
          <a:prstGeom prst="rect">
            <a:avLst/>
          </a:prstGeom>
          <a:noFill/>
          <a:ln/>
        </p:spPr>
        <p:txBody>
          <a:bodyPr wrap="square" rtlCol="0" anchor="t"/>
          <a:lstStyle/>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Climate &amp; Weather Forecasting: Predict future patterns by analyzing historical weather data and satellite images</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Seizure Prediction: Analyze EEG signals to forecast epileptic seizures for timely medical intervention</a:t>
            </a:r>
            <a:endParaRPr lang="en-US" sz="950" dirty="0"/>
          </a:p>
        </p:txBody>
      </p:sp>
      <p:sp>
        <p:nvSpPr>
          <p:cNvPr id="18" name="Shape 16"/>
          <p:cNvSpPr/>
          <p:nvPr/>
        </p:nvSpPr>
        <p:spPr>
          <a:xfrm>
            <a:off x="274320" y="2971800"/>
            <a:ext cx="4206240" cy="1874520"/>
          </a:xfrm>
          <a:prstGeom prst="rect">
            <a:avLst/>
          </a:prstGeom>
          <a:solidFill>
            <a:srgbClr val="FFFFFF"/>
          </a:solidFill>
          <a:ln w="19050">
            <a:solidFill>
              <a:srgbClr val="7C3AED"/>
            </a:solidFill>
            <a:prstDash val="solid"/>
          </a:ln>
          <a:effectLst>
            <a:outerShdw blurRad="63500" dist="25400" dir="8100000" algn="bl" rotWithShape="0">
              <a:srgbClr val="000000">
                <a:alpha val="8000"/>
              </a:srgbClr>
            </a:outerShdw>
          </a:effectLst>
        </p:spPr>
        <p:txBody>
          <a:bodyPr/>
          <a:lstStyle/>
          <a:p>
            <a:endParaRPr lang="en-US"/>
          </a:p>
        </p:txBody>
      </p:sp>
      <p:sp>
        <p:nvSpPr>
          <p:cNvPr id="19" name="Shape 17"/>
          <p:cNvSpPr/>
          <p:nvPr/>
        </p:nvSpPr>
        <p:spPr>
          <a:xfrm>
            <a:off x="411480" y="3081528"/>
            <a:ext cx="411480" cy="411480"/>
          </a:xfrm>
          <a:prstGeom prst="ellipse">
            <a:avLst/>
          </a:prstGeom>
          <a:solidFill>
            <a:srgbClr val="7C3AED"/>
          </a:solidFill>
          <a:ln w="12700">
            <a:solidFill>
              <a:srgbClr val="7C3AED"/>
            </a:solidFill>
            <a:prstDash val="solid"/>
          </a:ln>
        </p:spPr>
        <p:txBody>
          <a:bodyPr/>
          <a:lstStyle/>
          <a:p>
            <a:endParaRPr lang="en-US"/>
          </a:p>
        </p:txBody>
      </p:sp>
      <p:sp>
        <p:nvSpPr>
          <p:cNvPr id="20" name="Text 18"/>
          <p:cNvSpPr/>
          <p:nvPr/>
        </p:nvSpPr>
        <p:spPr>
          <a:xfrm>
            <a:off x="411480" y="3099816"/>
            <a:ext cx="411480" cy="37490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914400" y="3044952"/>
            <a:ext cx="3429000" cy="274320"/>
          </a:xfrm>
          <a:prstGeom prst="rect">
            <a:avLst/>
          </a:prstGeom>
          <a:noFill/>
          <a:ln/>
        </p:spPr>
        <p:txBody>
          <a:bodyPr wrap="square" lIns="0" tIns="0" rIns="0" bIns="0" rtlCol="0" anchor="ctr"/>
          <a:lstStyle/>
          <a:p>
            <a:pPr marL="0" indent="0" algn="l">
              <a:buNone/>
            </a:pPr>
            <a:r>
              <a:rPr lang="en-US" sz="1200" b="1" dirty="0">
                <a:solidFill>
                  <a:srgbClr val="7C3AED"/>
                </a:solidFill>
                <a:latin typeface="Calibri" pitchFamily="34" charset="0"/>
                <a:ea typeface="Calibri" pitchFamily="34" charset="-122"/>
                <a:cs typeface="Calibri" pitchFamily="34" charset="-120"/>
              </a:rPr>
              <a:t>Computer Games</a:t>
            </a:r>
            <a:endParaRPr lang="en-US" sz="1200" dirty="0"/>
          </a:p>
        </p:txBody>
      </p:sp>
      <p:sp>
        <p:nvSpPr>
          <p:cNvPr id="22" name="Text 20"/>
          <p:cNvSpPr/>
          <p:nvPr/>
        </p:nvSpPr>
        <p:spPr>
          <a:xfrm>
            <a:off x="914400" y="3319272"/>
            <a:ext cx="3429000" cy="228600"/>
          </a:xfrm>
          <a:prstGeom prst="rect">
            <a:avLst/>
          </a:prstGeom>
          <a:noFill/>
          <a:ln/>
        </p:spPr>
        <p:txBody>
          <a:bodyPr wrap="square" lIns="0" tIns="0" rIns="0" bIns="0" rtlCol="0" anchor="ctr"/>
          <a:lstStyle/>
          <a:p>
            <a:pPr marL="0" indent="0" algn="l">
              <a:buNone/>
            </a:pPr>
            <a:r>
              <a:rPr lang="en-US" sz="950" i="1" dirty="0">
                <a:solidFill>
                  <a:srgbClr val="64748B"/>
                </a:solidFill>
                <a:latin typeface="Calibri" pitchFamily="34" charset="0"/>
                <a:ea typeface="Calibri" pitchFamily="34" charset="-122"/>
                <a:cs typeface="Calibri" pitchFamily="34" charset="-120"/>
              </a:rPr>
              <a:t>Intelligent Agents, Chess, Backgammon</a:t>
            </a:r>
            <a:endParaRPr lang="en-US" sz="950" dirty="0"/>
          </a:p>
        </p:txBody>
      </p:sp>
      <p:sp>
        <p:nvSpPr>
          <p:cNvPr id="23" name="Shape 21"/>
          <p:cNvSpPr/>
          <p:nvPr/>
        </p:nvSpPr>
        <p:spPr>
          <a:xfrm>
            <a:off x="411480" y="3611880"/>
            <a:ext cx="3931920" cy="27432"/>
          </a:xfrm>
          <a:prstGeom prst="rect">
            <a:avLst/>
          </a:prstGeom>
          <a:solidFill>
            <a:srgbClr val="E2E8F0"/>
          </a:solidFill>
          <a:ln w="12700">
            <a:solidFill>
              <a:srgbClr val="E2E8F0"/>
            </a:solidFill>
            <a:prstDash val="solid"/>
          </a:ln>
        </p:spPr>
        <p:txBody>
          <a:bodyPr/>
          <a:lstStyle/>
          <a:p>
            <a:endParaRPr lang="en-US"/>
          </a:p>
        </p:txBody>
      </p:sp>
      <p:sp>
        <p:nvSpPr>
          <p:cNvPr id="24" name="Text 22"/>
          <p:cNvSpPr/>
          <p:nvPr/>
        </p:nvSpPr>
        <p:spPr>
          <a:xfrm>
            <a:off x="411480" y="3675888"/>
            <a:ext cx="3886200" cy="1097280"/>
          </a:xfrm>
          <a:prstGeom prst="rect">
            <a:avLst/>
          </a:prstGeom>
          <a:noFill/>
          <a:ln/>
        </p:spPr>
        <p:txBody>
          <a:bodyPr wrap="square" rtlCol="0" anchor="t"/>
          <a:lstStyle/>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Intelligent Agents: Power adaptive game AI that learns from player actions for challenging gameplay</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Game Playing: Achieve superhuman performance in chess, backgammon &amp; Go via reinforcement learning</a:t>
            </a:r>
            <a:endParaRPr lang="en-US" sz="950" dirty="0"/>
          </a:p>
        </p:txBody>
      </p:sp>
      <p:sp>
        <p:nvSpPr>
          <p:cNvPr id="25" name="Shape 23"/>
          <p:cNvSpPr/>
          <p:nvPr/>
        </p:nvSpPr>
        <p:spPr>
          <a:xfrm>
            <a:off x="4709160" y="2971800"/>
            <a:ext cx="4206240" cy="1874520"/>
          </a:xfrm>
          <a:prstGeom prst="rect">
            <a:avLst/>
          </a:prstGeom>
          <a:solidFill>
            <a:srgbClr val="FFFFFF"/>
          </a:solidFill>
          <a:ln w="19050">
            <a:solidFill>
              <a:srgbClr val="1B4F72"/>
            </a:solidFill>
            <a:prstDash val="solid"/>
          </a:ln>
          <a:effectLst>
            <a:outerShdw blurRad="63500" dist="25400" dir="8100000" algn="bl" rotWithShape="0">
              <a:srgbClr val="000000">
                <a:alpha val="8000"/>
              </a:srgbClr>
            </a:outerShdw>
          </a:effectLst>
        </p:spPr>
        <p:txBody>
          <a:bodyPr/>
          <a:lstStyle/>
          <a:p>
            <a:endParaRPr lang="en-US"/>
          </a:p>
        </p:txBody>
      </p:sp>
      <p:sp>
        <p:nvSpPr>
          <p:cNvPr id="26" name="Shape 24"/>
          <p:cNvSpPr/>
          <p:nvPr/>
        </p:nvSpPr>
        <p:spPr>
          <a:xfrm>
            <a:off x="4846320" y="3081528"/>
            <a:ext cx="411480" cy="411480"/>
          </a:xfrm>
          <a:prstGeom prst="ellipse">
            <a:avLst/>
          </a:prstGeom>
          <a:solidFill>
            <a:srgbClr val="1B4F72"/>
          </a:solidFill>
          <a:ln w="12700">
            <a:solidFill>
              <a:srgbClr val="1B4F72"/>
            </a:solidFill>
            <a:prstDash val="solid"/>
          </a:ln>
        </p:spPr>
        <p:txBody>
          <a:bodyPr/>
          <a:lstStyle/>
          <a:p>
            <a:endParaRPr lang="en-US"/>
          </a:p>
        </p:txBody>
      </p:sp>
      <p:sp>
        <p:nvSpPr>
          <p:cNvPr id="27" name="Text 25"/>
          <p:cNvSpPr/>
          <p:nvPr/>
        </p:nvSpPr>
        <p:spPr>
          <a:xfrm>
            <a:off x="4846320" y="3099816"/>
            <a:ext cx="411480" cy="37490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8" name="Text 26"/>
          <p:cNvSpPr/>
          <p:nvPr/>
        </p:nvSpPr>
        <p:spPr>
          <a:xfrm>
            <a:off x="5349240" y="3044952"/>
            <a:ext cx="3429000" cy="274320"/>
          </a:xfrm>
          <a:prstGeom prst="rect">
            <a:avLst/>
          </a:prstGeom>
          <a:noFill/>
          <a:ln/>
        </p:spPr>
        <p:txBody>
          <a:bodyPr wrap="square" lIns="0" tIns="0" rIns="0" bIns="0" rtlCol="0" anchor="ctr"/>
          <a:lstStyle/>
          <a:p>
            <a:pPr marL="0" indent="0" algn="l">
              <a:buNone/>
            </a:pPr>
            <a:r>
              <a:rPr lang="en-US" sz="1200" b="1" dirty="0">
                <a:solidFill>
                  <a:srgbClr val="1B4F72"/>
                </a:solidFill>
                <a:latin typeface="Calibri" pitchFamily="34" charset="0"/>
                <a:ea typeface="Calibri" pitchFamily="34" charset="-122"/>
                <a:cs typeface="Calibri" pitchFamily="34" charset="-120"/>
              </a:rPr>
              <a:t>Robotics</a:t>
            </a:r>
            <a:endParaRPr lang="en-US" sz="1200" dirty="0"/>
          </a:p>
        </p:txBody>
      </p:sp>
      <p:sp>
        <p:nvSpPr>
          <p:cNvPr id="29" name="Text 27"/>
          <p:cNvSpPr/>
          <p:nvPr/>
        </p:nvSpPr>
        <p:spPr>
          <a:xfrm>
            <a:off x="5349240" y="3319272"/>
            <a:ext cx="3429000" cy="228600"/>
          </a:xfrm>
          <a:prstGeom prst="rect">
            <a:avLst/>
          </a:prstGeom>
          <a:noFill/>
          <a:ln/>
        </p:spPr>
        <p:txBody>
          <a:bodyPr wrap="square" lIns="0" tIns="0" rIns="0" bIns="0" rtlCol="0" anchor="ctr"/>
          <a:lstStyle/>
          <a:p>
            <a:pPr marL="0" indent="0" algn="l">
              <a:buNone/>
            </a:pPr>
            <a:r>
              <a:rPr lang="en-US" sz="950" i="1" dirty="0">
                <a:solidFill>
                  <a:srgbClr val="64748B"/>
                </a:solidFill>
                <a:latin typeface="Calibri" pitchFamily="34" charset="0"/>
                <a:ea typeface="Calibri" pitchFamily="34" charset="-122"/>
                <a:cs typeface="Calibri" pitchFamily="34" charset="-120"/>
              </a:rPr>
              <a:t>Autonomous Adaptable Robots</a:t>
            </a:r>
            <a:endParaRPr lang="en-US" sz="950" dirty="0"/>
          </a:p>
        </p:txBody>
      </p:sp>
      <p:sp>
        <p:nvSpPr>
          <p:cNvPr id="30" name="Shape 28"/>
          <p:cNvSpPr/>
          <p:nvPr/>
        </p:nvSpPr>
        <p:spPr>
          <a:xfrm>
            <a:off x="4846320" y="3611880"/>
            <a:ext cx="3931920" cy="27432"/>
          </a:xfrm>
          <a:prstGeom prst="rect">
            <a:avLst/>
          </a:prstGeom>
          <a:solidFill>
            <a:srgbClr val="E2E8F0"/>
          </a:solidFill>
          <a:ln w="12700">
            <a:solidFill>
              <a:srgbClr val="E2E8F0"/>
            </a:solidFill>
            <a:prstDash val="solid"/>
          </a:ln>
        </p:spPr>
        <p:txBody>
          <a:bodyPr/>
          <a:lstStyle/>
          <a:p>
            <a:endParaRPr lang="en-US"/>
          </a:p>
        </p:txBody>
      </p:sp>
      <p:sp>
        <p:nvSpPr>
          <p:cNvPr id="31" name="Text 29"/>
          <p:cNvSpPr/>
          <p:nvPr/>
        </p:nvSpPr>
        <p:spPr>
          <a:xfrm>
            <a:off x="4846320" y="3675888"/>
            <a:ext cx="3886200" cy="1097280"/>
          </a:xfrm>
          <a:prstGeom prst="rect">
            <a:avLst/>
          </a:prstGeom>
          <a:noFill/>
          <a:ln/>
        </p:spPr>
        <p:txBody>
          <a:bodyPr wrap="square" rtlCol="0" anchor="t"/>
          <a:lstStyle/>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Autonomous Navigation: Navigate complex environments by processing sensor data in real-time</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Adaptability: Perform object recognition, manipulation &amp; obstacle avoidance in dynamic environments</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4F72"/>
          </a:solidFill>
          <a:ln w="12700">
            <a:solidFill>
              <a:srgbClr val="1B4F72"/>
            </a:solidFill>
            <a:prstDash val="solid"/>
          </a:ln>
        </p:spPr>
        <p:txBody>
          <a:bodyPr/>
          <a:lstStyle/>
          <a:p>
            <a:endParaRPr lang="en-US"/>
          </a:p>
        </p:txBody>
      </p:sp>
      <p:sp>
        <p:nvSpPr>
          <p:cNvPr id="3" name="Text 1"/>
          <p:cNvSpPr/>
          <p:nvPr/>
        </p:nvSpPr>
        <p:spPr>
          <a:xfrm>
            <a:off x="274320" y="91440"/>
            <a:ext cx="8595360" cy="64008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Neural Network Applications (Part 2)</a:t>
            </a:r>
            <a:endParaRPr lang="en-US" sz="2600" dirty="0"/>
          </a:p>
        </p:txBody>
      </p:sp>
      <p:sp>
        <p:nvSpPr>
          <p:cNvPr id="4" name="Shape 2"/>
          <p:cNvSpPr/>
          <p:nvPr/>
        </p:nvSpPr>
        <p:spPr>
          <a:xfrm>
            <a:off x="274320" y="914400"/>
            <a:ext cx="8595360" cy="1298448"/>
          </a:xfrm>
          <a:prstGeom prst="rect">
            <a:avLst/>
          </a:prstGeom>
          <a:solidFill>
            <a:srgbClr val="FFFFFF"/>
          </a:solidFill>
          <a:ln w="19050">
            <a:solidFill>
              <a:srgbClr val="0D9488"/>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274320" y="914400"/>
            <a:ext cx="146304" cy="1298448"/>
          </a:xfrm>
          <a:prstGeom prst="rect">
            <a:avLst/>
          </a:prstGeom>
          <a:solidFill>
            <a:srgbClr val="0D9488"/>
          </a:solidFill>
          <a:ln w="12700">
            <a:solidFill>
              <a:srgbClr val="0D9488"/>
            </a:solidFill>
            <a:prstDash val="solid"/>
          </a:ln>
        </p:spPr>
        <p:txBody>
          <a:bodyPr/>
          <a:lstStyle/>
          <a:p>
            <a:endParaRPr lang="en-US"/>
          </a:p>
        </p:txBody>
      </p:sp>
      <p:sp>
        <p:nvSpPr>
          <p:cNvPr id="6" name="Shape 4"/>
          <p:cNvSpPr/>
          <p:nvPr/>
        </p:nvSpPr>
        <p:spPr>
          <a:xfrm>
            <a:off x="548640" y="1024128"/>
            <a:ext cx="365760" cy="365760"/>
          </a:xfrm>
          <a:prstGeom prst="ellipse">
            <a:avLst/>
          </a:prstGeom>
          <a:solidFill>
            <a:srgbClr val="0D9488"/>
          </a:solidFill>
          <a:ln w="12700">
            <a:solidFill>
              <a:srgbClr val="0D9488"/>
            </a:solidFill>
            <a:prstDash val="solid"/>
          </a:ln>
        </p:spPr>
        <p:txBody>
          <a:bodyPr/>
          <a:lstStyle/>
          <a:p>
            <a:endParaRPr lang="en-US"/>
          </a:p>
        </p:txBody>
      </p:sp>
      <p:sp>
        <p:nvSpPr>
          <p:cNvPr id="7" name="Text 5"/>
          <p:cNvSpPr/>
          <p:nvPr/>
        </p:nvSpPr>
        <p:spPr>
          <a:xfrm>
            <a:off x="548640" y="1033272"/>
            <a:ext cx="36576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8" name="Text 6"/>
          <p:cNvSpPr/>
          <p:nvPr/>
        </p:nvSpPr>
        <p:spPr>
          <a:xfrm>
            <a:off x="1051560" y="987552"/>
            <a:ext cx="7589520" cy="320040"/>
          </a:xfrm>
          <a:prstGeom prst="rect">
            <a:avLst/>
          </a:prstGeom>
          <a:noFill/>
          <a:ln/>
        </p:spPr>
        <p:txBody>
          <a:bodyPr wrap="square" lIns="0" tIns="0" rIns="0" bIns="0" rtlCol="0" anchor="ctr"/>
          <a:lstStyle/>
          <a:p>
            <a:pPr marL="0" indent="0" algn="l">
              <a:buNone/>
            </a:pPr>
            <a:r>
              <a:rPr lang="en-US" sz="1300" b="1" dirty="0">
                <a:solidFill>
                  <a:srgbClr val="0D9488"/>
                </a:solidFill>
                <a:latin typeface="Calibri" pitchFamily="34" charset="0"/>
                <a:ea typeface="Calibri" pitchFamily="34" charset="-122"/>
                <a:cs typeface="Calibri" pitchFamily="34" charset="-120"/>
              </a:rPr>
              <a:t>Pattern Recognition — Speech, Seismic Activity, Sonar Signals</a:t>
            </a:r>
            <a:endParaRPr lang="en-US" sz="1300" dirty="0"/>
          </a:p>
        </p:txBody>
      </p:sp>
      <p:sp>
        <p:nvSpPr>
          <p:cNvPr id="9" name="Text 7"/>
          <p:cNvSpPr/>
          <p:nvPr/>
        </p:nvSpPr>
        <p:spPr>
          <a:xfrm>
            <a:off x="1051560" y="1353312"/>
            <a:ext cx="7589520" cy="822960"/>
          </a:xfrm>
          <a:prstGeom prst="rect">
            <a:avLst/>
          </a:prstGeom>
          <a:noFill/>
          <a:ln/>
        </p:spPr>
        <p:txBody>
          <a:bodyPr wrap="square" rtlCol="0" anchor="t"/>
          <a:lstStyle/>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Speech Recognition: Convert spoken language to text by recognizing patterns in audio (virtual assistants, transcription)</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Seismic Activity: Detect &amp; predict earthquakes from seismic data, enabling early warnings</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Sonar Signal Processing: Detect underwater objects and map the underwater environment</a:t>
            </a:r>
            <a:endParaRPr lang="en-US" sz="1050" dirty="0"/>
          </a:p>
        </p:txBody>
      </p:sp>
      <p:sp>
        <p:nvSpPr>
          <p:cNvPr id="10" name="Shape 8"/>
          <p:cNvSpPr/>
          <p:nvPr/>
        </p:nvSpPr>
        <p:spPr>
          <a:xfrm>
            <a:off x="274320" y="2304288"/>
            <a:ext cx="8595360" cy="1298448"/>
          </a:xfrm>
          <a:prstGeom prst="rect">
            <a:avLst/>
          </a:prstGeom>
          <a:solidFill>
            <a:srgbClr val="FFFFFF"/>
          </a:solidFill>
          <a:ln w="19050">
            <a:solidFill>
              <a:srgbClr val="B45309"/>
            </a:solidFill>
            <a:prstDash val="solid"/>
          </a:ln>
          <a:effectLst>
            <a:outerShdw blurRad="63500" dist="25400" dir="8100000" algn="bl" rotWithShape="0">
              <a:srgbClr val="000000">
                <a:alpha val="8000"/>
              </a:srgbClr>
            </a:outerShdw>
          </a:effectLst>
        </p:spPr>
        <p:txBody>
          <a:bodyPr/>
          <a:lstStyle/>
          <a:p>
            <a:endParaRPr lang="en-US"/>
          </a:p>
        </p:txBody>
      </p:sp>
      <p:sp>
        <p:nvSpPr>
          <p:cNvPr id="11" name="Shape 9"/>
          <p:cNvSpPr/>
          <p:nvPr/>
        </p:nvSpPr>
        <p:spPr>
          <a:xfrm>
            <a:off x="274320" y="2304288"/>
            <a:ext cx="146304" cy="1298448"/>
          </a:xfrm>
          <a:prstGeom prst="rect">
            <a:avLst/>
          </a:prstGeom>
          <a:solidFill>
            <a:srgbClr val="B45309"/>
          </a:solidFill>
          <a:ln w="12700">
            <a:solidFill>
              <a:srgbClr val="B45309"/>
            </a:solidFill>
            <a:prstDash val="solid"/>
          </a:ln>
        </p:spPr>
        <p:txBody>
          <a:bodyPr/>
          <a:lstStyle/>
          <a:p>
            <a:endParaRPr lang="en-US"/>
          </a:p>
        </p:txBody>
      </p:sp>
      <p:sp>
        <p:nvSpPr>
          <p:cNvPr id="12" name="Shape 10"/>
          <p:cNvSpPr/>
          <p:nvPr/>
        </p:nvSpPr>
        <p:spPr>
          <a:xfrm>
            <a:off x="548640" y="2414016"/>
            <a:ext cx="365760" cy="365760"/>
          </a:xfrm>
          <a:prstGeom prst="ellipse">
            <a:avLst/>
          </a:prstGeom>
          <a:solidFill>
            <a:srgbClr val="B45309"/>
          </a:solidFill>
          <a:ln w="12700">
            <a:solidFill>
              <a:srgbClr val="B45309"/>
            </a:solidFill>
            <a:prstDash val="solid"/>
          </a:ln>
        </p:spPr>
        <p:txBody>
          <a:bodyPr/>
          <a:lstStyle/>
          <a:p>
            <a:endParaRPr lang="en-US"/>
          </a:p>
        </p:txBody>
      </p:sp>
      <p:sp>
        <p:nvSpPr>
          <p:cNvPr id="13" name="Text 11"/>
          <p:cNvSpPr/>
          <p:nvPr/>
        </p:nvSpPr>
        <p:spPr>
          <a:xfrm>
            <a:off x="548640" y="2423160"/>
            <a:ext cx="36576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14" name="Text 12"/>
          <p:cNvSpPr/>
          <p:nvPr/>
        </p:nvSpPr>
        <p:spPr>
          <a:xfrm>
            <a:off x="1051560" y="2377440"/>
            <a:ext cx="7589520" cy="320040"/>
          </a:xfrm>
          <a:prstGeom prst="rect">
            <a:avLst/>
          </a:prstGeom>
          <a:noFill/>
          <a:ln/>
        </p:spPr>
        <p:txBody>
          <a:bodyPr wrap="square" lIns="0" tIns="0" rIns="0" bIns="0" rtlCol="0" anchor="ctr"/>
          <a:lstStyle/>
          <a:p>
            <a:pPr marL="0" indent="0" algn="l">
              <a:buNone/>
            </a:pPr>
            <a:r>
              <a:rPr lang="en-US" sz="1300" b="1" dirty="0">
                <a:solidFill>
                  <a:srgbClr val="B45309"/>
                </a:solidFill>
                <a:latin typeface="Calibri" pitchFamily="34" charset="0"/>
                <a:ea typeface="Calibri" pitchFamily="34" charset="-122"/>
                <a:cs typeface="Calibri" pitchFamily="34" charset="-120"/>
              </a:rPr>
              <a:t>Data Analysis — Data Compression &amp; Data Mining</a:t>
            </a:r>
            <a:endParaRPr lang="en-US" sz="1300" dirty="0"/>
          </a:p>
        </p:txBody>
      </p:sp>
      <p:sp>
        <p:nvSpPr>
          <p:cNvPr id="15" name="Text 13"/>
          <p:cNvSpPr/>
          <p:nvPr/>
        </p:nvSpPr>
        <p:spPr>
          <a:xfrm>
            <a:off x="1051560" y="2743200"/>
            <a:ext cx="7589520" cy="822960"/>
          </a:xfrm>
          <a:prstGeom prst="rect">
            <a:avLst/>
          </a:prstGeom>
          <a:noFill/>
          <a:ln/>
        </p:spPr>
        <p:txBody>
          <a:bodyPr wrap="square" rtlCol="0" anchor="t"/>
          <a:lstStyle/>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Data Compression: Autoencoders learn efficient representations to reduce storage and transmission requirements</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Data Mining: Identify patterns and extract insights from large datasets in marketing, healthcare, and finance</a:t>
            </a:r>
            <a:endParaRPr lang="en-US" sz="1050" dirty="0"/>
          </a:p>
        </p:txBody>
      </p:sp>
      <p:sp>
        <p:nvSpPr>
          <p:cNvPr id="16" name="Shape 14"/>
          <p:cNvSpPr/>
          <p:nvPr/>
        </p:nvSpPr>
        <p:spPr>
          <a:xfrm>
            <a:off x="274320" y="3694176"/>
            <a:ext cx="8595360" cy="1298448"/>
          </a:xfrm>
          <a:prstGeom prst="rect">
            <a:avLst/>
          </a:prstGeom>
          <a:solidFill>
            <a:srgbClr val="FFFFFF"/>
          </a:solidFill>
          <a:ln w="19050">
            <a:solidFill>
              <a:srgbClr val="7C3AED"/>
            </a:solidFill>
            <a:prstDash val="solid"/>
          </a:ln>
          <a:effectLst>
            <a:outerShdw blurRad="63500" dist="25400" dir="8100000" algn="bl" rotWithShape="0">
              <a:srgbClr val="000000">
                <a:alpha val="8000"/>
              </a:srgbClr>
            </a:outerShdw>
          </a:effectLst>
        </p:spPr>
        <p:txBody>
          <a:bodyPr/>
          <a:lstStyle/>
          <a:p>
            <a:endParaRPr lang="en-US"/>
          </a:p>
        </p:txBody>
      </p:sp>
      <p:sp>
        <p:nvSpPr>
          <p:cNvPr id="17" name="Shape 15"/>
          <p:cNvSpPr/>
          <p:nvPr/>
        </p:nvSpPr>
        <p:spPr>
          <a:xfrm>
            <a:off x="274320" y="3694176"/>
            <a:ext cx="146304" cy="1298448"/>
          </a:xfrm>
          <a:prstGeom prst="rect">
            <a:avLst/>
          </a:prstGeom>
          <a:solidFill>
            <a:srgbClr val="7C3AED"/>
          </a:solidFill>
          <a:ln w="12700">
            <a:solidFill>
              <a:srgbClr val="7C3AED"/>
            </a:solidFill>
            <a:prstDash val="solid"/>
          </a:ln>
        </p:spPr>
        <p:txBody>
          <a:bodyPr/>
          <a:lstStyle/>
          <a:p>
            <a:endParaRPr lang="en-US"/>
          </a:p>
        </p:txBody>
      </p:sp>
      <p:sp>
        <p:nvSpPr>
          <p:cNvPr id="18" name="Shape 16"/>
          <p:cNvSpPr/>
          <p:nvPr/>
        </p:nvSpPr>
        <p:spPr>
          <a:xfrm>
            <a:off x="548640" y="3803904"/>
            <a:ext cx="365760" cy="365760"/>
          </a:xfrm>
          <a:prstGeom prst="ellipse">
            <a:avLst/>
          </a:prstGeom>
          <a:solidFill>
            <a:srgbClr val="7C3AED"/>
          </a:solidFill>
          <a:ln w="12700">
            <a:solidFill>
              <a:srgbClr val="7C3AED"/>
            </a:solidFill>
            <a:prstDash val="solid"/>
          </a:ln>
        </p:spPr>
        <p:txBody>
          <a:bodyPr/>
          <a:lstStyle/>
          <a:p>
            <a:endParaRPr lang="en-US"/>
          </a:p>
        </p:txBody>
      </p:sp>
      <p:sp>
        <p:nvSpPr>
          <p:cNvPr id="19" name="Text 17"/>
          <p:cNvSpPr/>
          <p:nvPr/>
        </p:nvSpPr>
        <p:spPr>
          <a:xfrm>
            <a:off x="548640" y="3813048"/>
            <a:ext cx="36576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0" name="Text 18"/>
          <p:cNvSpPr/>
          <p:nvPr/>
        </p:nvSpPr>
        <p:spPr>
          <a:xfrm>
            <a:off x="1051560" y="3767328"/>
            <a:ext cx="7589520" cy="320040"/>
          </a:xfrm>
          <a:prstGeom prst="rect">
            <a:avLst/>
          </a:prstGeom>
          <a:noFill/>
          <a:ln/>
        </p:spPr>
        <p:txBody>
          <a:bodyPr wrap="square" lIns="0" tIns="0" rIns="0" bIns="0" rtlCol="0" anchor="ctr"/>
          <a:lstStyle/>
          <a:p>
            <a:pPr marL="0" indent="0" algn="l">
              <a:buNone/>
            </a:pPr>
            <a:r>
              <a:rPr lang="en-US" sz="1300" b="1" dirty="0">
                <a:solidFill>
                  <a:srgbClr val="7C3AED"/>
                </a:solidFill>
                <a:latin typeface="Calibri" pitchFamily="34" charset="0"/>
                <a:ea typeface="Calibri" pitchFamily="34" charset="-122"/>
                <a:cs typeface="Calibri" pitchFamily="34" charset="-120"/>
              </a:rPr>
              <a:t>Bioinformatics — DNA Sequencing &amp; Alignment</a:t>
            </a:r>
            <a:endParaRPr lang="en-US" sz="1300" dirty="0"/>
          </a:p>
        </p:txBody>
      </p:sp>
      <p:sp>
        <p:nvSpPr>
          <p:cNvPr id="21" name="Text 19"/>
          <p:cNvSpPr/>
          <p:nvPr/>
        </p:nvSpPr>
        <p:spPr>
          <a:xfrm>
            <a:off x="1051560" y="4133088"/>
            <a:ext cx="7589520" cy="822960"/>
          </a:xfrm>
          <a:prstGeom prst="rect">
            <a:avLst/>
          </a:prstGeom>
          <a:noFill/>
          <a:ln/>
        </p:spPr>
        <p:txBody>
          <a:bodyPr wrap="square" rtlCol="0" anchor="t"/>
          <a:lstStyle/>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DNA Sequencing: Analyze genetic data to identify sequences, detect mutations, and understand genetic variations</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Sequence Alignment: Identify similarities and differences in DNA for studying evolutionary relationships and gene function</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365760" y="137160"/>
            <a:ext cx="8229600" cy="731520"/>
          </a:xfrm>
          <a:prstGeom prst="rect">
            <a:avLst/>
          </a:prstGeom>
          <a:noFill/>
          <a:ln/>
        </p:spPr>
        <p:txBody>
          <a:bodyPr wrap="square" lIns="0" tIns="0" rIns="0" bIns="0"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Summary</a:t>
            </a:r>
            <a:endParaRPr lang="en-US" sz="3200" dirty="0"/>
          </a:p>
        </p:txBody>
      </p:sp>
      <p:sp>
        <p:nvSpPr>
          <p:cNvPr id="4" name="Shape 2"/>
          <p:cNvSpPr/>
          <p:nvPr/>
        </p:nvSpPr>
        <p:spPr>
          <a:xfrm>
            <a:off x="274320" y="1188720"/>
            <a:ext cx="4206240" cy="1645920"/>
          </a:xfrm>
          <a:prstGeom prst="rect">
            <a:avLst/>
          </a:prstGeom>
          <a:solidFill>
            <a:srgbClr val="0D2233"/>
          </a:solidFill>
          <a:ln w="12700">
            <a:solidFill>
              <a:srgbClr val="0D9488"/>
            </a:solidFill>
            <a:prstDash val="solid"/>
          </a:ln>
        </p:spPr>
        <p:txBody>
          <a:bodyPr/>
          <a:lstStyle/>
          <a:p>
            <a:endParaRPr lang="en-US"/>
          </a:p>
        </p:txBody>
      </p:sp>
      <p:sp>
        <p:nvSpPr>
          <p:cNvPr id="5" name="Text 3"/>
          <p:cNvSpPr/>
          <p:nvPr/>
        </p:nvSpPr>
        <p:spPr>
          <a:xfrm>
            <a:off x="457200" y="1325880"/>
            <a:ext cx="3840480" cy="365760"/>
          </a:xfrm>
          <a:prstGeom prst="rect">
            <a:avLst/>
          </a:prstGeom>
          <a:noFill/>
          <a:ln/>
        </p:spPr>
        <p:txBody>
          <a:bodyPr wrap="square" lIns="0" tIns="0" rIns="0" bIns="0" rtlCol="0" anchor="ctr"/>
          <a:lstStyle/>
          <a:p>
            <a:pPr marL="0" indent="0" algn="l">
              <a:buNone/>
            </a:pPr>
            <a:r>
              <a:rPr lang="en-US" sz="1400" b="1" dirty="0">
                <a:solidFill>
                  <a:srgbClr val="5EEAD4"/>
                </a:solidFill>
                <a:latin typeface="Calibri" pitchFamily="34" charset="0"/>
                <a:ea typeface="Calibri" pitchFamily="34" charset="-122"/>
                <a:cs typeface="Calibri" pitchFamily="34" charset="-120"/>
              </a:rPr>
              <a:t>⚡  Activation Functions</a:t>
            </a:r>
            <a:endParaRPr lang="en-US" sz="1400" dirty="0"/>
          </a:p>
        </p:txBody>
      </p:sp>
      <p:sp>
        <p:nvSpPr>
          <p:cNvPr id="6" name="Text 4"/>
          <p:cNvSpPr/>
          <p:nvPr/>
        </p:nvSpPr>
        <p:spPr>
          <a:xfrm>
            <a:off x="457200" y="1755648"/>
            <a:ext cx="3840480" cy="960120"/>
          </a:xfrm>
          <a:prstGeom prst="rect">
            <a:avLst/>
          </a:prstGeom>
          <a:noFill/>
          <a:ln/>
        </p:spPr>
        <p:txBody>
          <a:bodyPr wrap="square" rtlCol="0" anchor="t"/>
          <a:lstStyle/>
          <a:p>
            <a:pPr marL="0" indent="0" algn="l">
              <a:buNone/>
            </a:pPr>
            <a:r>
              <a:rPr lang="en-US" sz="1100" dirty="0">
                <a:solidFill>
                  <a:srgbClr val="E2E8F0"/>
                </a:solidFill>
                <a:latin typeface="Calibri" pitchFamily="34" charset="0"/>
                <a:ea typeface="Calibri" pitchFamily="34" charset="-122"/>
                <a:cs typeface="Calibri" pitchFamily="34" charset="-120"/>
              </a:rPr>
              <a:t>4 types covered: Step, Sign, Sigmoid, and Linear. Each applies different mathematical transformations to neural signal outputs.</a:t>
            </a:r>
            <a:endParaRPr lang="en-US" sz="1100" dirty="0"/>
          </a:p>
        </p:txBody>
      </p:sp>
      <p:sp>
        <p:nvSpPr>
          <p:cNvPr id="7" name="Shape 5"/>
          <p:cNvSpPr/>
          <p:nvPr/>
        </p:nvSpPr>
        <p:spPr>
          <a:xfrm>
            <a:off x="4709160" y="1188720"/>
            <a:ext cx="4206240" cy="1645920"/>
          </a:xfrm>
          <a:prstGeom prst="rect">
            <a:avLst/>
          </a:prstGeom>
          <a:solidFill>
            <a:srgbClr val="0D2233"/>
          </a:solidFill>
          <a:ln w="12700">
            <a:solidFill>
              <a:srgbClr val="0D9488"/>
            </a:solidFill>
            <a:prstDash val="solid"/>
          </a:ln>
        </p:spPr>
        <p:txBody>
          <a:bodyPr/>
          <a:lstStyle/>
          <a:p>
            <a:endParaRPr lang="en-US"/>
          </a:p>
        </p:txBody>
      </p:sp>
      <p:sp>
        <p:nvSpPr>
          <p:cNvPr id="8" name="Text 6"/>
          <p:cNvSpPr/>
          <p:nvPr/>
        </p:nvSpPr>
        <p:spPr>
          <a:xfrm>
            <a:off x="4892040" y="1325880"/>
            <a:ext cx="3840480" cy="365760"/>
          </a:xfrm>
          <a:prstGeom prst="rect">
            <a:avLst/>
          </a:prstGeom>
          <a:noFill/>
          <a:ln/>
        </p:spPr>
        <p:txBody>
          <a:bodyPr wrap="square" lIns="0" tIns="0" rIns="0" bIns="0" rtlCol="0" anchor="ctr"/>
          <a:lstStyle/>
          <a:p>
            <a:pPr marL="0" indent="0" algn="l">
              <a:buNone/>
            </a:pPr>
            <a:r>
              <a:rPr lang="en-US" sz="1400" b="1" dirty="0">
                <a:solidFill>
                  <a:srgbClr val="5EEAD4"/>
                </a:solidFill>
                <a:latin typeface="Calibri" pitchFamily="34" charset="0"/>
                <a:ea typeface="Calibri" pitchFamily="34" charset="-122"/>
                <a:cs typeface="Calibri" pitchFamily="34" charset="-120"/>
              </a:rPr>
              <a:t>🔄    Types of ANN</a:t>
            </a:r>
            <a:endParaRPr lang="en-US" sz="1400" dirty="0"/>
          </a:p>
        </p:txBody>
      </p:sp>
      <p:sp>
        <p:nvSpPr>
          <p:cNvPr id="9" name="Text 7"/>
          <p:cNvSpPr/>
          <p:nvPr/>
        </p:nvSpPr>
        <p:spPr>
          <a:xfrm>
            <a:off x="4892040" y="1755648"/>
            <a:ext cx="3840480" cy="960120"/>
          </a:xfrm>
          <a:prstGeom prst="rect">
            <a:avLst/>
          </a:prstGeom>
          <a:noFill/>
          <a:ln/>
        </p:spPr>
        <p:txBody>
          <a:bodyPr wrap="square" rtlCol="0" anchor="t"/>
          <a:lstStyle/>
          <a:p>
            <a:pPr marL="0" indent="0" algn="l">
              <a:buNone/>
            </a:pPr>
            <a:r>
              <a:rPr lang="en-US" sz="1100" dirty="0">
                <a:solidFill>
                  <a:srgbClr val="E2E8F0"/>
                </a:solidFill>
                <a:latin typeface="Calibri" pitchFamily="34" charset="0"/>
                <a:ea typeface="Calibri" pitchFamily="34" charset="-122"/>
                <a:cs typeface="Calibri" pitchFamily="34" charset="-120"/>
              </a:rPr>
              <a:t>Feed-forward (linear, no memory) vs Recurrent (cyclical, with memory/feedback). Both types detailed with diagrams.</a:t>
            </a:r>
            <a:endParaRPr lang="en-US" sz="1100" dirty="0"/>
          </a:p>
        </p:txBody>
      </p:sp>
      <p:sp>
        <p:nvSpPr>
          <p:cNvPr id="10" name="Shape 8"/>
          <p:cNvSpPr/>
          <p:nvPr/>
        </p:nvSpPr>
        <p:spPr>
          <a:xfrm>
            <a:off x="274320" y="2971800"/>
            <a:ext cx="4206240" cy="1645920"/>
          </a:xfrm>
          <a:prstGeom prst="rect">
            <a:avLst/>
          </a:prstGeom>
          <a:solidFill>
            <a:srgbClr val="0D2233"/>
          </a:solidFill>
          <a:ln w="12700">
            <a:solidFill>
              <a:srgbClr val="0D9488"/>
            </a:solidFill>
            <a:prstDash val="solid"/>
          </a:ln>
        </p:spPr>
        <p:txBody>
          <a:bodyPr/>
          <a:lstStyle/>
          <a:p>
            <a:endParaRPr lang="en-US"/>
          </a:p>
        </p:txBody>
      </p:sp>
      <p:sp>
        <p:nvSpPr>
          <p:cNvPr id="11" name="Text 9"/>
          <p:cNvSpPr/>
          <p:nvPr/>
        </p:nvSpPr>
        <p:spPr>
          <a:xfrm>
            <a:off x="457200" y="3108960"/>
            <a:ext cx="3840480" cy="365760"/>
          </a:xfrm>
          <a:prstGeom prst="rect">
            <a:avLst/>
          </a:prstGeom>
          <a:noFill/>
          <a:ln/>
        </p:spPr>
        <p:txBody>
          <a:bodyPr wrap="square" lIns="0" tIns="0" rIns="0" bIns="0" rtlCol="0" anchor="ctr"/>
          <a:lstStyle/>
          <a:p>
            <a:pPr marL="0" indent="0" algn="l">
              <a:buNone/>
            </a:pPr>
            <a:r>
              <a:rPr lang="en-US" sz="1400" b="1" dirty="0">
                <a:solidFill>
                  <a:srgbClr val="5EEAD4"/>
                </a:solidFill>
                <a:latin typeface="Calibri" pitchFamily="34" charset="0"/>
                <a:ea typeface="Calibri" pitchFamily="34" charset="-122"/>
                <a:cs typeface="Calibri" pitchFamily="34" charset="-120"/>
              </a:rPr>
              <a:t>🏗    Network Architectures</a:t>
            </a:r>
            <a:endParaRPr lang="en-US" sz="1400" dirty="0"/>
          </a:p>
        </p:txBody>
      </p:sp>
      <p:sp>
        <p:nvSpPr>
          <p:cNvPr id="12" name="Text 10"/>
          <p:cNvSpPr/>
          <p:nvPr/>
        </p:nvSpPr>
        <p:spPr>
          <a:xfrm>
            <a:off x="457200" y="3538728"/>
            <a:ext cx="3840480" cy="960120"/>
          </a:xfrm>
          <a:prstGeom prst="rect">
            <a:avLst/>
          </a:prstGeom>
          <a:noFill/>
          <a:ln/>
        </p:spPr>
        <p:txBody>
          <a:bodyPr wrap="square" rtlCol="0" anchor="t"/>
          <a:lstStyle/>
          <a:p>
            <a:pPr marL="0" indent="0" algn="l">
              <a:buNone/>
            </a:pPr>
            <a:r>
              <a:rPr lang="en-US" sz="1100" dirty="0">
                <a:solidFill>
                  <a:srgbClr val="E2E8F0"/>
                </a:solidFill>
                <a:latin typeface="Calibri" pitchFamily="34" charset="0"/>
                <a:ea typeface="Calibri" pitchFamily="34" charset="-122"/>
                <a:cs typeface="Calibri" pitchFamily="34" charset="-120"/>
              </a:rPr>
              <a:t>Single-layer networks (direct input–output) and multi-layer networks (ℓ–m–n configuration with hidden layers) for complex learning.</a:t>
            </a:r>
            <a:endParaRPr lang="en-US" sz="1100" dirty="0"/>
          </a:p>
        </p:txBody>
      </p:sp>
      <p:sp>
        <p:nvSpPr>
          <p:cNvPr id="13" name="Shape 11"/>
          <p:cNvSpPr/>
          <p:nvPr/>
        </p:nvSpPr>
        <p:spPr>
          <a:xfrm>
            <a:off x="4709160" y="2971800"/>
            <a:ext cx="4206240" cy="1645920"/>
          </a:xfrm>
          <a:prstGeom prst="rect">
            <a:avLst/>
          </a:prstGeom>
          <a:solidFill>
            <a:srgbClr val="0D2233"/>
          </a:solidFill>
          <a:ln w="12700">
            <a:solidFill>
              <a:srgbClr val="0D9488"/>
            </a:solidFill>
            <a:prstDash val="solid"/>
          </a:ln>
        </p:spPr>
        <p:txBody>
          <a:bodyPr/>
          <a:lstStyle/>
          <a:p>
            <a:endParaRPr lang="en-US"/>
          </a:p>
        </p:txBody>
      </p:sp>
      <p:sp>
        <p:nvSpPr>
          <p:cNvPr id="14" name="Text 12"/>
          <p:cNvSpPr/>
          <p:nvPr/>
        </p:nvSpPr>
        <p:spPr>
          <a:xfrm>
            <a:off x="4892040" y="3108960"/>
            <a:ext cx="3840480" cy="365760"/>
          </a:xfrm>
          <a:prstGeom prst="rect">
            <a:avLst/>
          </a:prstGeom>
          <a:noFill/>
          <a:ln/>
        </p:spPr>
        <p:txBody>
          <a:bodyPr wrap="square" lIns="0" tIns="0" rIns="0" bIns="0" rtlCol="0" anchor="ctr"/>
          <a:lstStyle/>
          <a:p>
            <a:pPr marL="0" indent="0" algn="l">
              <a:buNone/>
            </a:pPr>
            <a:r>
              <a:rPr lang="en-US" sz="1400" b="1" dirty="0">
                <a:solidFill>
                  <a:srgbClr val="5EEAD4"/>
                </a:solidFill>
                <a:latin typeface="Calibri" pitchFamily="34" charset="0"/>
                <a:ea typeface="Calibri" pitchFamily="34" charset="-122"/>
                <a:cs typeface="Calibri" pitchFamily="34" charset="-120"/>
              </a:rPr>
              <a:t>🌍    ANN Applications</a:t>
            </a:r>
            <a:endParaRPr lang="en-US" sz="1400" dirty="0"/>
          </a:p>
        </p:txBody>
      </p:sp>
      <p:sp>
        <p:nvSpPr>
          <p:cNvPr id="15" name="Text 13"/>
          <p:cNvSpPr/>
          <p:nvPr/>
        </p:nvSpPr>
        <p:spPr>
          <a:xfrm>
            <a:off x="4892040" y="3538728"/>
            <a:ext cx="3840480" cy="960120"/>
          </a:xfrm>
          <a:prstGeom prst="rect">
            <a:avLst/>
          </a:prstGeom>
          <a:noFill/>
          <a:ln/>
        </p:spPr>
        <p:txBody>
          <a:bodyPr wrap="square" rtlCol="0" anchor="t"/>
          <a:lstStyle/>
          <a:p>
            <a:pPr marL="0" indent="0" algn="l">
              <a:buNone/>
            </a:pPr>
            <a:r>
              <a:rPr lang="en-US" sz="1100" dirty="0">
                <a:solidFill>
                  <a:srgbClr val="E2E8F0"/>
                </a:solidFill>
                <a:latin typeface="Calibri" pitchFamily="34" charset="0"/>
                <a:ea typeface="Calibri" pitchFamily="34" charset="-122"/>
                <a:cs typeface="Calibri" pitchFamily="34" charset="-120"/>
              </a:rPr>
              <a:t>7 domains: Finance, Time Series, Computer Games, Robotics, Pattern Recognition, Data Analysis, Bioinformatics.</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Shape 56"/>
        <p:cNvGrpSpPr/>
        <p:nvPr/>
      </p:nvGrpSpPr>
      <p:grpSpPr>
        <a:xfrm>
          <a:off x="0" y="0"/>
          <a:ext cx="0" cy="0"/>
          <a:chOff x="0" y="0"/>
          <a:chExt cx="0" cy="0"/>
        </a:xfrm>
      </p:grpSpPr>
      <p:sp>
        <p:nvSpPr>
          <p:cNvPr id="57" name="Google Shape;57;p15"/>
          <p:cNvSpPr/>
          <p:nvPr/>
        </p:nvSpPr>
        <p:spPr>
          <a:xfrm>
            <a:off x="0" y="0"/>
            <a:ext cx="109728" cy="5143500"/>
          </a:xfrm>
          <a:prstGeom prst="rect">
            <a:avLst/>
          </a:prstGeom>
          <a:solidFill>
            <a:srgbClr val="00C9A7"/>
          </a:solidFill>
          <a:ln w="12700" cap="flat" cmpd="sng">
            <a:solidFill>
              <a:srgbClr val="00C9A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5"/>
          <p:cNvSpPr/>
          <p:nvPr/>
        </p:nvSpPr>
        <p:spPr>
          <a:xfrm>
            <a:off x="0" y="0"/>
            <a:ext cx="9144000" cy="73152"/>
          </a:xfrm>
          <a:prstGeom prst="rect">
            <a:avLst/>
          </a:prstGeom>
          <a:solidFill>
            <a:srgbClr val="00C9A7"/>
          </a:solidFill>
          <a:ln w="12700" cap="flat" cmpd="sng">
            <a:solidFill>
              <a:srgbClr val="00C9A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9" name="Google Shape;59;p15"/>
          <p:cNvCxnSpPr/>
          <p:nvPr/>
        </p:nvCxnSpPr>
        <p:spPr>
          <a:xfrm>
            <a:off x="6748272" y="1078992"/>
            <a:ext cx="932688" cy="640080"/>
          </a:xfrm>
          <a:prstGeom prst="straightConnector1">
            <a:avLst/>
          </a:prstGeom>
          <a:noFill/>
          <a:ln w="19050" cap="flat" cmpd="sng">
            <a:solidFill>
              <a:srgbClr val="00C9A7">
                <a:alpha val="50196"/>
              </a:srgbClr>
            </a:solidFill>
            <a:prstDash val="solid"/>
            <a:round/>
            <a:headEnd type="none" w="sm" len="sm"/>
            <a:tailEnd type="none" w="sm" len="sm"/>
          </a:ln>
        </p:spPr>
      </p:cxnSp>
      <p:cxnSp>
        <p:nvCxnSpPr>
          <p:cNvPr id="60" name="Google Shape;60;p15"/>
          <p:cNvCxnSpPr/>
          <p:nvPr/>
        </p:nvCxnSpPr>
        <p:spPr>
          <a:xfrm>
            <a:off x="6748272" y="1078992"/>
            <a:ext cx="932688" cy="1920240"/>
          </a:xfrm>
          <a:prstGeom prst="straightConnector1">
            <a:avLst/>
          </a:prstGeom>
          <a:noFill/>
          <a:ln w="19050" cap="flat" cmpd="sng">
            <a:solidFill>
              <a:srgbClr val="00C9A7">
                <a:alpha val="50196"/>
              </a:srgbClr>
            </a:solidFill>
            <a:prstDash val="solid"/>
            <a:round/>
            <a:headEnd type="none" w="sm" len="sm"/>
            <a:tailEnd type="none" w="sm" len="sm"/>
          </a:ln>
        </p:spPr>
      </p:cxnSp>
      <p:cxnSp>
        <p:nvCxnSpPr>
          <p:cNvPr id="61" name="Google Shape;61;p15"/>
          <p:cNvCxnSpPr/>
          <p:nvPr/>
        </p:nvCxnSpPr>
        <p:spPr>
          <a:xfrm rot="10800000" flipH="1">
            <a:off x="6748272" y="1719072"/>
            <a:ext cx="932688" cy="640080"/>
          </a:xfrm>
          <a:prstGeom prst="straightConnector1">
            <a:avLst/>
          </a:prstGeom>
          <a:noFill/>
          <a:ln w="19050" cap="flat" cmpd="sng">
            <a:solidFill>
              <a:srgbClr val="00C9A7">
                <a:alpha val="50196"/>
              </a:srgbClr>
            </a:solidFill>
            <a:prstDash val="solid"/>
            <a:round/>
            <a:headEnd type="none" w="sm" len="sm"/>
            <a:tailEnd type="none" w="sm" len="sm"/>
          </a:ln>
        </p:spPr>
      </p:cxnSp>
      <p:cxnSp>
        <p:nvCxnSpPr>
          <p:cNvPr id="62" name="Google Shape;62;p15"/>
          <p:cNvCxnSpPr/>
          <p:nvPr/>
        </p:nvCxnSpPr>
        <p:spPr>
          <a:xfrm>
            <a:off x="6748272" y="2359152"/>
            <a:ext cx="932688" cy="640080"/>
          </a:xfrm>
          <a:prstGeom prst="straightConnector1">
            <a:avLst/>
          </a:prstGeom>
          <a:noFill/>
          <a:ln w="19050" cap="flat" cmpd="sng">
            <a:solidFill>
              <a:srgbClr val="00C9A7">
                <a:alpha val="50196"/>
              </a:srgbClr>
            </a:solidFill>
            <a:prstDash val="solid"/>
            <a:round/>
            <a:headEnd type="none" w="sm" len="sm"/>
            <a:tailEnd type="none" w="sm" len="sm"/>
          </a:ln>
        </p:spPr>
      </p:cxnSp>
      <p:cxnSp>
        <p:nvCxnSpPr>
          <p:cNvPr id="63" name="Google Shape;63;p15"/>
          <p:cNvCxnSpPr/>
          <p:nvPr/>
        </p:nvCxnSpPr>
        <p:spPr>
          <a:xfrm rot="10800000" flipH="1">
            <a:off x="6748272" y="1719072"/>
            <a:ext cx="932688" cy="1920240"/>
          </a:xfrm>
          <a:prstGeom prst="straightConnector1">
            <a:avLst/>
          </a:prstGeom>
          <a:noFill/>
          <a:ln w="19050" cap="flat" cmpd="sng">
            <a:solidFill>
              <a:srgbClr val="00C9A7">
                <a:alpha val="50196"/>
              </a:srgbClr>
            </a:solidFill>
            <a:prstDash val="solid"/>
            <a:round/>
            <a:headEnd type="none" w="sm" len="sm"/>
            <a:tailEnd type="none" w="sm" len="sm"/>
          </a:ln>
        </p:spPr>
      </p:cxnSp>
      <p:cxnSp>
        <p:nvCxnSpPr>
          <p:cNvPr id="64" name="Google Shape;64;p15"/>
          <p:cNvCxnSpPr/>
          <p:nvPr/>
        </p:nvCxnSpPr>
        <p:spPr>
          <a:xfrm rot="10800000" flipH="1">
            <a:off x="6748272" y="2999232"/>
            <a:ext cx="932688" cy="640080"/>
          </a:xfrm>
          <a:prstGeom prst="straightConnector1">
            <a:avLst/>
          </a:prstGeom>
          <a:noFill/>
          <a:ln w="19050" cap="flat" cmpd="sng">
            <a:solidFill>
              <a:srgbClr val="00C9A7">
                <a:alpha val="50196"/>
              </a:srgbClr>
            </a:solidFill>
            <a:prstDash val="solid"/>
            <a:round/>
            <a:headEnd type="none" w="sm" len="sm"/>
            <a:tailEnd type="none" w="sm" len="sm"/>
          </a:ln>
        </p:spPr>
      </p:cxnSp>
      <p:cxnSp>
        <p:nvCxnSpPr>
          <p:cNvPr id="65" name="Google Shape;65;p15"/>
          <p:cNvCxnSpPr/>
          <p:nvPr/>
        </p:nvCxnSpPr>
        <p:spPr>
          <a:xfrm>
            <a:off x="7845552" y="1719072"/>
            <a:ext cx="749808" cy="640080"/>
          </a:xfrm>
          <a:prstGeom prst="straightConnector1">
            <a:avLst/>
          </a:prstGeom>
          <a:noFill/>
          <a:ln w="19050" cap="flat" cmpd="sng">
            <a:solidFill>
              <a:srgbClr val="00C9A7">
                <a:alpha val="50196"/>
              </a:srgbClr>
            </a:solidFill>
            <a:prstDash val="solid"/>
            <a:round/>
            <a:headEnd type="none" w="sm" len="sm"/>
            <a:tailEnd type="none" w="sm" len="sm"/>
          </a:ln>
        </p:spPr>
      </p:cxnSp>
      <p:cxnSp>
        <p:nvCxnSpPr>
          <p:cNvPr id="66" name="Google Shape;66;p15"/>
          <p:cNvCxnSpPr/>
          <p:nvPr/>
        </p:nvCxnSpPr>
        <p:spPr>
          <a:xfrm rot="10800000" flipH="1">
            <a:off x="7845552" y="2359152"/>
            <a:ext cx="749808" cy="640080"/>
          </a:xfrm>
          <a:prstGeom prst="straightConnector1">
            <a:avLst/>
          </a:prstGeom>
          <a:noFill/>
          <a:ln w="19050" cap="flat" cmpd="sng">
            <a:solidFill>
              <a:srgbClr val="00C9A7">
                <a:alpha val="50196"/>
              </a:srgbClr>
            </a:solidFill>
            <a:prstDash val="solid"/>
            <a:round/>
            <a:headEnd type="none" w="sm" len="sm"/>
            <a:tailEnd type="none" w="sm" len="sm"/>
          </a:ln>
        </p:spPr>
      </p:cxnSp>
      <p:sp>
        <p:nvSpPr>
          <p:cNvPr id="67" name="Google Shape;67;p15"/>
          <p:cNvSpPr/>
          <p:nvPr/>
        </p:nvSpPr>
        <p:spPr>
          <a:xfrm>
            <a:off x="6583680" y="914400"/>
            <a:ext cx="329184" cy="329184"/>
          </a:xfrm>
          <a:prstGeom prst="ellipse">
            <a:avLst/>
          </a:prstGeom>
          <a:solidFill>
            <a:srgbClr val="4FC3F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5"/>
          <p:cNvSpPr/>
          <p:nvPr/>
        </p:nvSpPr>
        <p:spPr>
          <a:xfrm>
            <a:off x="6583680" y="2194560"/>
            <a:ext cx="329184" cy="329184"/>
          </a:xfrm>
          <a:prstGeom prst="ellipse">
            <a:avLst/>
          </a:prstGeom>
          <a:solidFill>
            <a:srgbClr val="4FC3F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5"/>
          <p:cNvSpPr/>
          <p:nvPr/>
        </p:nvSpPr>
        <p:spPr>
          <a:xfrm>
            <a:off x="6583680" y="3474720"/>
            <a:ext cx="329184" cy="329184"/>
          </a:xfrm>
          <a:prstGeom prst="ellipse">
            <a:avLst/>
          </a:prstGeom>
          <a:solidFill>
            <a:srgbClr val="4FC3F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5"/>
          <p:cNvSpPr/>
          <p:nvPr/>
        </p:nvSpPr>
        <p:spPr>
          <a:xfrm>
            <a:off x="7680960" y="1554480"/>
            <a:ext cx="329184" cy="329184"/>
          </a:xfrm>
          <a:prstGeom prst="ellipse">
            <a:avLst/>
          </a:prstGeom>
          <a:solidFill>
            <a:srgbClr val="00C9A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5"/>
          <p:cNvSpPr/>
          <p:nvPr/>
        </p:nvSpPr>
        <p:spPr>
          <a:xfrm>
            <a:off x="7680960" y="2834640"/>
            <a:ext cx="329184" cy="329184"/>
          </a:xfrm>
          <a:prstGeom prst="ellipse">
            <a:avLst/>
          </a:prstGeom>
          <a:solidFill>
            <a:srgbClr val="00C9A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5"/>
          <p:cNvSpPr/>
          <p:nvPr/>
        </p:nvSpPr>
        <p:spPr>
          <a:xfrm>
            <a:off x="8595360" y="2194560"/>
            <a:ext cx="329184" cy="329184"/>
          </a:xfrm>
          <a:prstGeom prst="ellipse">
            <a:avLst/>
          </a:prstGeom>
          <a:solidFill>
            <a:srgbClr val="FFB34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5"/>
          <p:cNvSpPr/>
          <p:nvPr/>
        </p:nvSpPr>
        <p:spPr>
          <a:xfrm>
            <a:off x="274320" y="228600"/>
            <a:ext cx="2011680" cy="502920"/>
          </a:xfrm>
          <a:prstGeom prst="rect">
            <a:avLst/>
          </a:prstGeom>
          <a:solidFill>
            <a:srgbClr val="00C9A7">
              <a:alpha val="14901"/>
            </a:srgbClr>
          </a:solidFill>
          <a:ln w="12700" cap="flat" cmpd="sng">
            <a:solidFill>
              <a:srgbClr val="00C9A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5"/>
          <p:cNvSpPr/>
          <p:nvPr/>
        </p:nvSpPr>
        <p:spPr>
          <a:xfrm>
            <a:off x="274320" y="228600"/>
            <a:ext cx="201168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C9A7"/>
              </a:buClr>
              <a:buSzPts val="800"/>
              <a:buFont typeface="Calibri"/>
              <a:buNone/>
            </a:pPr>
            <a:r>
              <a:rPr lang="en-GB" sz="800" b="1" i="0" u="none" strike="noStrike" cap="none">
                <a:solidFill>
                  <a:srgbClr val="00C9A7"/>
                </a:solidFill>
                <a:latin typeface="Calibri"/>
                <a:ea typeface="Calibri"/>
                <a:cs typeface="Calibri"/>
                <a:sym typeface="Calibri"/>
              </a:rPr>
              <a:t>MACHINE LEARNING — UNIT 5</a:t>
            </a:r>
            <a:endParaRPr sz="800" b="0" i="0" u="none" strike="noStrike" cap="none">
              <a:solidFill>
                <a:schemeClr val="dk1"/>
              </a:solidFill>
              <a:latin typeface="Calibri"/>
              <a:ea typeface="Calibri"/>
              <a:cs typeface="Calibri"/>
              <a:sym typeface="Calibri"/>
            </a:endParaRPr>
          </a:p>
        </p:txBody>
      </p:sp>
      <p:sp>
        <p:nvSpPr>
          <p:cNvPr id="75" name="Google Shape;75;p15"/>
          <p:cNvSpPr/>
          <p:nvPr/>
        </p:nvSpPr>
        <p:spPr>
          <a:xfrm>
            <a:off x="274320" y="1005840"/>
            <a:ext cx="594360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4400"/>
              <a:buFont typeface="Calibri"/>
              <a:buNone/>
            </a:pPr>
            <a:r>
              <a:rPr lang="en-GB" sz="4400" b="1" i="0" u="none" strike="noStrike" cap="none">
                <a:solidFill>
                  <a:srgbClr val="FFFFFF"/>
                </a:solidFill>
                <a:latin typeface="Calibri"/>
                <a:ea typeface="Calibri"/>
                <a:cs typeface="Calibri"/>
                <a:sym typeface="Calibri"/>
              </a:rPr>
              <a:t>Neural Network</a:t>
            </a:r>
            <a:endParaRPr sz="4400" b="0" i="0" u="none" strike="noStrike" cap="none">
              <a:solidFill>
                <a:schemeClr val="dk1"/>
              </a:solidFill>
              <a:latin typeface="Calibri"/>
              <a:ea typeface="Calibri"/>
              <a:cs typeface="Calibri"/>
              <a:sym typeface="Calibri"/>
            </a:endParaRPr>
          </a:p>
        </p:txBody>
      </p:sp>
      <p:sp>
        <p:nvSpPr>
          <p:cNvPr id="76" name="Google Shape;76;p15"/>
          <p:cNvSpPr/>
          <p:nvPr/>
        </p:nvSpPr>
        <p:spPr>
          <a:xfrm>
            <a:off x="274320" y="1737360"/>
            <a:ext cx="594360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9A7"/>
              </a:buClr>
              <a:buSzPts val="4400"/>
              <a:buFont typeface="Calibri"/>
              <a:buNone/>
            </a:pPr>
            <a:r>
              <a:rPr lang="en-GB" sz="4400" b="1" i="0" u="none" strike="noStrike" cap="none">
                <a:solidFill>
                  <a:srgbClr val="00C9A7"/>
                </a:solidFill>
                <a:latin typeface="Calibri"/>
                <a:ea typeface="Calibri"/>
                <a:cs typeface="Calibri"/>
                <a:sym typeface="Calibri"/>
              </a:rPr>
              <a:t>Learning Rules</a:t>
            </a:r>
            <a:endParaRPr sz="4400" b="0" i="0" u="none" strike="noStrike" cap="none">
              <a:solidFill>
                <a:schemeClr val="dk1"/>
              </a:solidFill>
              <a:latin typeface="Calibri"/>
              <a:ea typeface="Calibri"/>
              <a:cs typeface="Calibri"/>
              <a:sym typeface="Calibri"/>
            </a:endParaRPr>
          </a:p>
        </p:txBody>
      </p:sp>
      <p:sp>
        <p:nvSpPr>
          <p:cNvPr id="78" name="Google Shape;78;p15"/>
          <p:cNvSpPr/>
          <p:nvPr/>
        </p:nvSpPr>
        <p:spPr>
          <a:xfrm>
            <a:off x="0" y="4663440"/>
            <a:ext cx="9144000" cy="480060"/>
          </a:xfrm>
          <a:prstGeom prst="rect">
            <a:avLst/>
          </a:prstGeom>
          <a:solidFill>
            <a:srgbClr val="162A4A"/>
          </a:solidFill>
          <a:ln w="12700" cap="flat" cmpd="sng">
            <a:solidFill>
              <a:srgbClr val="16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5"/>
          <p:cNvSpPr/>
          <p:nvPr/>
        </p:nvSpPr>
        <p:spPr>
          <a:xfrm>
            <a:off x="274320" y="4681728"/>
            <a:ext cx="8595360" cy="43891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A9CC0"/>
              </a:buClr>
              <a:buSzPts val="1100"/>
              <a:buFont typeface="Calibri"/>
              <a:buNone/>
            </a:pPr>
            <a:r>
              <a:rPr lang="en-GB" sz="1100" b="0" i="0" u="none" strike="noStrike" cap="none">
                <a:solidFill>
                  <a:srgbClr val="7A9CC0"/>
                </a:solidFill>
                <a:latin typeface="Calibri"/>
                <a:ea typeface="Calibri"/>
                <a:cs typeface="Calibri"/>
                <a:sym typeface="Calibri"/>
              </a:rPr>
              <a:t>Department of Computer Science &amp; AI  |  Academic Lecture Series</a:t>
            </a:r>
            <a:endParaRPr sz="1100" b="0" i="0" u="none" strike="noStrike" cap="none">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59EC2166-82C6-4A69-8B9B-41838E2CC109}"/>
              </a:ext>
            </a:extLst>
          </p:cNvPr>
          <p:cNvPicPr>
            <a:picLocks noChangeAspect="1"/>
          </p:cNvPicPr>
          <p:nvPr/>
        </p:nvPicPr>
        <p:blipFill>
          <a:blip r:embed="rId3"/>
          <a:stretch>
            <a:fillRect/>
          </a:stretch>
        </p:blipFill>
        <p:spPr>
          <a:xfrm>
            <a:off x="3989316" y="2105660"/>
            <a:ext cx="1552792" cy="121937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84"/>
        <p:cNvGrpSpPr/>
        <p:nvPr/>
      </p:nvGrpSpPr>
      <p:grpSpPr>
        <a:xfrm>
          <a:off x="0" y="0"/>
          <a:ext cx="0" cy="0"/>
          <a:chOff x="0" y="0"/>
          <a:chExt cx="0" cy="0"/>
        </a:xfrm>
      </p:grpSpPr>
      <p:sp>
        <p:nvSpPr>
          <p:cNvPr id="85" name="Google Shape;85;p16"/>
          <p:cNvSpPr/>
          <p:nvPr/>
        </p:nvSpPr>
        <p:spPr>
          <a:xfrm>
            <a:off x="0" y="0"/>
            <a:ext cx="9144000" cy="73152"/>
          </a:xfrm>
          <a:prstGeom prst="rect">
            <a:avLst/>
          </a:prstGeom>
          <a:solidFill>
            <a:srgbClr val="00C9A7"/>
          </a:solidFill>
          <a:ln w="12700" cap="flat" cmpd="sng">
            <a:solidFill>
              <a:srgbClr val="00C9A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6"/>
          <p:cNvSpPr/>
          <p:nvPr/>
        </p:nvSpPr>
        <p:spPr>
          <a:xfrm>
            <a:off x="365760" y="228600"/>
            <a:ext cx="8229600" cy="5943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800"/>
              <a:buFont typeface="Calibri"/>
              <a:buNone/>
            </a:pPr>
            <a:r>
              <a:rPr lang="en-GB" sz="2800" b="1" i="0" u="none" strike="noStrike" cap="none">
                <a:solidFill>
                  <a:srgbClr val="FFFFFF"/>
                </a:solidFill>
                <a:latin typeface="Calibri"/>
                <a:ea typeface="Calibri"/>
                <a:cs typeface="Calibri"/>
                <a:sym typeface="Calibri"/>
              </a:rPr>
              <a:t>Topics at a Glance</a:t>
            </a:r>
            <a:endParaRPr sz="2800" b="0" i="0" u="none" strike="noStrike" cap="none">
              <a:solidFill>
                <a:schemeClr val="dk1"/>
              </a:solidFill>
              <a:latin typeface="Calibri"/>
              <a:ea typeface="Calibri"/>
              <a:cs typeface="Calibri"/>
              <a:sym typeface="Calibri"/>
            </a:endParaRPr>
          </a:p>
        </p:txBody>
      </p:sp>
      <p:sp>
        <p:nvSpPr>
          <p:cNvPr id="87" name="Google Shape;87;p16"/>
          <p:cNvSpPr/>
          <p:nvPr/>
        </p:nvSpPr>
        <p:spPr>
          <a:xfrm>
            <a:off x="365760" y="1005840"/>
            <a:ext cx="2651760" cy="3566160"/>
          </a:xfrm>
          <a:prstGeom prst="rect">
            <a:avLst/>
          </a:prstGeom>
          <a:solidFill>
            <a:srgbClr val="162A4A"/>
          </a:solidFill>
          <a:ln w="25400" cap="flat" cmpd="sng">
            <a:solidFill>
              <a:srgbClr val="00C9A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6"/>
          <p:cNvSpPr/>
          <p:nvPr/>
        </p:nvSpPr>
        <p:spPr>
          <a:xfrm>
            <a:off x="365760" y="1005840"/>
            <a:ext cx="2651760" cy="594360"/>
          </a:xfrm>
          <a:prstGeom prst="rect">
            <a:avLst/>
          </a:prstGeom>
          <a:solidFill>
            <a:srgbClr val="00C9A7"/>
          </a:solidFill>
          <a:ln w="12700" cap="flat" cmpd="sng">
            <a:solidFill>
              <a:srgbClr val="00C9A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6"/>
          <p:cNvSpPr/>
          <p:nvPr/>
        </p:nvSpPr>
        <p:spPr>
          <a:xfrm>
            <a:off x="365760" y="1005840"/>
            <a:ext cx="2651760" cy="5943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628"/>
              </a:buClr>
              <a:buSzPts val="2200"/>
              <a:buFont typeface="Calibri"/>
              <a:buNone/>
            </a:pPr>
            <a:r>
              <a:rPr lang="en-GB" sz="2200" b="1" i="0" u="none" strike="noStrike" cap="none">
                <a:solidFill>
                  <a:srgbClr val="0A1628"/>
                </a:solidFill>
                <a:latin typeface="Calibri"/>
                <a:ea typeface="Calibri"/>
                <a:cs typeface="Calibri"/>
                <a:sym typeface="Calibri"/>
              </a:rPr>
              <a:t>01</a:t>
            </a:r>
            <a:endParaRPr sz="2200" b="0" i="0" u="none" strike="noStrike" cap="none">
              <a:solidFill>
                <a:schemeClr val="dk1"/>
              </a:solidFill>
              <a:latin typeface="Calibri"/>
              <a:ea typeface="Calibri"/>
              <a:cs typeface="Calibri"/>
              <a:sym typeface="Calibri"/>
            </a:endParaRPr>
          </a:p>
        </p:txBody>
      </p:sp>
      <p:sp>
        <p:nvSpPr>
          <p:cNvPr id="90" name="Google Shape;90;p16"/>
          <p:cNvSpPr/>
          <p:nvPr/>
        </p:nvSpPr>
        <p:spPr>
          <a:xfrm>
            <a:off x="502920" y="1691640"/>
            <a:ext cx="2377440" cy="5029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500"/>
              <a:buFont typeface="Calibri"/>
              <a:buNone/>
            </a:pPr>
            <a:r>
              <a:rPr lang="en-GB" sz="1500" b="1" i="0" u="none" strike="noStrike" cap="none">
                <a:solidFill>
                  <a:srgbClr val="FFFFFF"/>
                </a:solidFill>
                <a:latin typeface="Calibri"/>
                <a:ea typeface="Calibri"/>
                <a:cs typeface="Calibri"/>
                <a:sym typeface="Calibri"/>
              </a:rPr>
              <a:t>Hebbian Learning</a:t>
            </a:r>
            <a:endParaRPr sz="1500" b="0" i="0" u="none" strike="noStrike" cap="none">
              <a:solidFill>
                <a:schemeClr val="dk1"/>
              </a:solidFill>
              <a:latin typeface="Calibri"/>
              <a:ea typeface="Calibri"/>
              <a:cs typeface="Calibri"/>
              <a:sym typeface="Calibri"/>
            </a:endParaRPr>
          </a:p>
        </p:txBody>
      </p:sp>
      <p:sp>
        <p:nvSpPr>
          <p:cNvPr id="91" name="Google Shape;91;p16"/>
          <p:cNvSpPr/>
          <p:nvPr/>
        </p:nvSpPr>
        <p:spPr>
          <a:xfrm>
            <a:off x="502920" y="2240280"/>
            <a:ext cx="2377440" cy="21031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B8D4F0"/>
              </a:buClr>
              <a:buSzPts val="1150"/>
              <a:buFont typeface="Calibri"/>
              <a:buNone/>
            </a:pPr>
            <a:r>
              <a:rPr lang="en-GB" sz="1150" b="0" i="0" u="none" strike="noStrike" cap="none">
                <a:solidFill>
                  <a:srgbClr val="B8D4F0"/>
                </a:solidFill>
                <a:latin typeface="Calibri"/>
                <a:ea typeface="Calibri"/>
                <a:cs typeface="Calibri"/>
                <a:sym typeface="Calibri"/>
              </a:rPr>
              <a:t>Unsupervised weight update rule inspired by neuroplasticity — neurons that fire together, wire together.</a:t>
            </a:r>
            <a:endParaRPr sz="1150" b="0" i="0" u="none" strike="noStrike" cap="none">
              <a:solidFill>
                <a:schemeClr val="dk1"/>
              </a:solidFill>
              <a:latin typeface="Calibri"/>
              <a:ea typeface="Calibri"/>
              <a:cs typeface="Calibri"/>
              <a:sym typeface="Calibri"/>
            </a:endParaRPr>
          </a:p>
        </p:txBody>
      </p:sp>
      <p:sp>
        <p:nvSpPr>
          <p:cNvPr id="97" name="Google Shape;97;p16"/>
          <p:cNvSpPr/>
          <p:nvPr/>
        </p:nvSpPr>
        <p:spPr>
          <a:xfrm>
            <a:off x="6035040" y="1005840"/>
            <a:ext cx="2651760" cy="3566160"/>
          </a:xfrm>
          <a:prstGeom prst="rect">
            <a:avLst/>
          </a:prstGeom>
          <a:solidFill>
            <a:srgbClr val="162A4A"/>
          </a:solidFill>
          <a:ln w="25400" cap="flat" cmpd="sng">
            <a:solidFill>
              <a:srgbClr val="FF7B5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6"/>
          <p:cNvSpPr/>
          <p:nvPr/>
        </p:nvSpPr>
        <p:spPr>
          <a:xfrm>
            <a:off x="6035040" y="1005840"/>
            <a:ext cx="2651760" cy="594360"/>
          </a:xfrm>
          <a:prstGeom prst="rect">
            <a:avLst/>
          </a:prstGeom>
          <a:solidFill>
            <a:srgbClr val="FF7B54"/>
          </a:solidFill>
          <a:ln w="12700" cap="flat" cmpd="sng">
            <a:solidFill>
              <a:srgbClr val="FF7B5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 name="Google Shape;99;p16"/>
          <p:cNvSpPr/>
          <p:nvPr/>
        </p:nvSpPr>
        <p:spPr>
          <a:xfrm>
            <a:off x="6035040" y="1005840"/>
            <a:ext cx="2651760" cy="5943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628"/>
              </a:buClr>
              <a:buSzPts val="2200"/>
              <a:buFont typeface="Calibri"/>
              <a:buNone/>
            </a:pPr>
            <a:r>
              <a:rPr lang="en-GB" sz="2200" b="1" i="0" u="none" strike="noStrike" cap="none" dirty="0">
                <a:solidFill>
                  <a:srgbClr val="0A1628"/>
                </a:solidFill>
                <a:latin typeface="Calibri"/>
                <a:ea typeface="Calibri"/>
                <a:cs typeface="Calibri"/>
                <a:sym typeface="Calibri"/>
              </a:rPr>
              <a:t>02</a:t>
            </a:r>
            <a:endParaRPr sz="2200" b="0" i="0" u="none" strike="noStrike" cap="none" dirty="0">
              <a:solidFill>
                <a:schemeClr val="dk1"/>
              </a:solidFill>
              <a:latin typeface="Calibri"/>
              <a:ea typeface="Calibri"/>
              <a:cs typeface="Calibri"/>
              <a:sym typeface="Calibri"/>
            </a:endParaRPr>
          </a:p>
        </p:txBody>
      </p:sp>
      <p:sp>
        <p:nvSpPr>
          <p:cNvPr id="100" name="Google Shape;100;p16"/>
          <p:cNvSpPr/>
          <p:nvPr/>
        </p:nvSpPr>
        <p:spPr>
          <a:xfrm>
            <a:off x="6172200" y="1691640"/>
            <a:ext cx="2377440" cy="5029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500"/>
              <a:buFont typeface="Calibri"/>
              <a:buNone/>
            </a:pPr>
            <a:r>
              <a:rPr lang="en-GB" sz="1500" b="1" i="0" u="none" strike="noStrike" cap="none">
                <a:solidFill>
                  <a:srgbClr val="FFFFFF"/>
                </a:solidFill>
                <a:latin typeface="Calibri"/>
                <a:ea typeface="Calibri"/>
                <a:cs typeface="Calibri"/>
                <a:sym typeface="Calibri"/>
              </a:rPr>
              <a:t>Backpropagation</a:t>
            </a:r>
            <a:endParaRPr sz="1500" b="0" i="0" u="none" strike="noStrike" cap="none">
              <a:solidFill>
                <a:schemeClr val="dk1"/>
              </a:solidFill>
              <a:latin typeface="Calibri"/>
              <a:ea typeface="Calibri"/>
              <a:cs typeface="Calibri"/>
              <a:sym typeface="Calibri"/>
            </a:endParaRPr>
          </a:p>
        </p:txBody>
      </p:sp>
      <p:sp>
        <p:nvSpPr>
          <p:cNvPr id="101" name="Google Shape;101;p16"/>
          <p:cNvSpPr/>
          <p:nvPr/>
        </p:nvSpPr>
        <p:spPr>
          <a:xfrm>
            <a:off x="6172200" y="2240280"/>
            <a:ext cx="2377440" cy="21031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B8D4F0"/>
              </a:buClr>
              <a:buSzPts val="1150"/>
              <a:buFont typeface="Calibri"/>
              <a:buNone/>
            </a:pPr>
            <a:r>
              <a:rPr lang="en-GB" sz="1150" b="0" i="0" u="none" strike="noStrike" cap="none">
                <a:solidFill>
                  <a:srgbClr val="B8D4F0"/>
                </a:solidFill>
                <a:latin typeface="Calibri"/>
                <a:ea typeface="Calibri"/>
                <a:cs typeface="Calibri"/>
                <a:sym typeface="Calibri"/>
              </a:rPr>
              <a:t>Supervised multi-layer training algorithm using gradient descent to minimize prediction error.</a:t>
            </a:r>
            <a:endParaRPr sz="1150" b="0" i="0" u="none" strike="noStrike" cap="none">
              <a:solidFill>
                <a:schemeClr val="dk1"/>
              </a:solidFill>
              <a:latin typeface="Calibri"/>
              <a:ea typeface="Calibri"/>
              <a:cs typeface="Calibri"/>
              <a:sym typeface="Calibri"/>
            </a:endParaRPr>
          </a:p>
        </p:txBody>
      </p:sp>
      <p:sp>
        <p:nvSpPr>
          <p:cNvPr id="102" name="Google Shape;102;p16"/>
          <p:cNvSpPr/>
          <p:nvPr/>
        </p:nvSpPr>
        <p:spPr>
          <a:xfrm>
            <a:off x="0" y="4800600"/>
            <a:ext cx="9144000" cy="342900"/>
          </a:xfrm>
          <a:prstGeom prst="rect">
            <a:avLst/>
          </a:prstGeom>
          <a:solidFill>
            <a:srgbClr val="162A4A"/>
          </a:solidFill>
          <a:ln w="12700" cap="flat" cmpd="sng">
            <a:solidFill>
              <a:srgbClr val="16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6"/>
          <p:cNvSpPr/>
          <p:nvPr/>
        </p:nvSpPr>
        <p:spPr>
          <a:xfrm>
            <a:off x="365760" y="4818888"/>
            <a:ext cx="8412480" cy="30175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A9CC0"/>
              </a:buClr>
              <a:buSzPts val="1050"/>
              <a:buFont typeface="Calibri"/>
              <a:buNone/>
            </a:pPr>
            <a:r>
              <a:rPr lang="en-GB" sz="1050" b="0" i="1" u="none" strike="noStrike" cap="none">
                <a:solidFill>
                  <a:srgbClr val="7A9CC0"/>
                </a:solidFill>
                <a:latin typeface="Calibri"/>
                <a:ea typeface="Calibri"/>
                <a:cs typeface="Calibri"/>
                <a:sym typeface="Calibri"/>
              </a:rPr>
              <a:t>All three are foundational learning paradigms for training Artificial Neural Networks (ANNs)</a:t>
            </a:r>
            <a:endParaRPr sz="1050" b="0" i="0" u="none" strike="noStrike" cap="none">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7"/>
          <p:cNvSpPr/>
          <p:nvPr/>
        </p:nvSpPr>
        <p:spPr>
          <a:xfrm>
            <a:off x="0" y="0"/>
            <a:ext cx="9144000" cy="5143500"/>
          </a:xfrm>
          <a:prstGeom prst="rect">
            <a:avLst/>
          </a:prstGeom>
          <a:solidFill>
            <a:srgbClr val="041020"/>
          </a:solidFill>
          <a:ln w="12700" cap="flat" cmpd="sng">
            <a:solidFill>
              <a:srgbClr val="04102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7"/>
          <p:cNvSpPr/>
          <p:nvPr/>
        </p:nvSpPr>
        <p:spPr>
          <a:xfrm>
            <a:off x="0" y="2194560"/>
            <a:ext cx="9144000" cy="1097280"/>
          </a:xfrm>
          <a:prstGeom prst="rect">
            <a:avLst/>
          </a:prstGeom>
          <a:solidFill>
            <a:srgbClr val="00C9A7">
              <a:alpha val="10196"/>
            </a:srgbClr>
          </a:solidFill>
          <a:ln w="12700" cap="flat" cmpd="sng">
            <a:solidFill>
              <a:srgbClr val="00C9A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7"/>
          <p:cNvSpPr/>
          <p:nvPr/>
        </p:nvSpPr>
        <p:spPr>
          <a:xfrm>
            <a:off x="457200" y="457200"/>
            <a:ext cx="8229600" cy="1828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9A7"/>
              </a:buClr>
              <a:buSzPts val="10000"/>
              <a:buFont typeface="Calibri"/>
              <a:buNone/>
            </a:pPr>
            <a:r>
              <a:rPr lang="en-GB" sz="10000" b="1" i="0" u="none" strike="noStrike" cap="none">
                <a:solidFill>
                  <a:srgbClr val="00C9A7"/>
                </a:solidFill>
                <a:latin typeface="Calibri"/>
                <a:ea typeface="Calibri"/>
                <a:cs typeface="Calibri"/>
                <a:sym typeface="Calibri"/>
              </a:rPr>
              <a:t>01</a:t>
            </a:r>
            <a:endParaRPr sz="10000" b="0" i="0" u="none" strike="noStrike" cap="none">
              <a:solidFill>
                <a:schemeClr val="dk1"/>
              </a:solidFill>
              <a:latin typeface="Calibri"/>
              <a:ea typeface="Calibri"/>
              <a:cs typeface="Calibri"/>
              <a:sym typeface="Calibri"/>
            </a:endParaRPr>
          </a:p>
        </p:txBody>
      </p:sp>
      <p:sp>
        <p:nvSpPr>
          <p:cNvPr id="112" name="Google Shape;112;p17"/>
          <p:cNvSpPr/>
          <p:nvPr/>
        </p:nvSpPr>
        <p:spPr>
          <a:xfrm>
            <a:off x="457200" y="2103120"/>
            <a:ext cx="8229600" cy="10058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3800"/>
              <a:buFont typeface="Calibri"/>
              <a:buNone/>
            </a:pPr>
            <a:r>
              <a:rPr lang="en-GB" sz="3800" b="1" i="0" u="none" strike="noStrike" cap="none">
                <a:solidFill>
                  <a:srgbClr val="FFFFFF"/>
                </a:solidFill>
                <a:latin typeface="Calibri"/>
                <a:ea typeface="Calibri"/>
                <a:cs typeface="Calibri"/>
                <a:sym typeface="Calibri"/>
              </a:rPr>
              <a:t>Hebbian Learning</a:t>
            </a:r>
            <a:endParaRPr sz="3800" b="0" i="0" u="none" strike="noStrike" cap="none">
              <a:solidFill>
                <a:schemeClr val="dk1"/>
              </a:solidFill>
              <a:latin typeface="Calibri"/>
              <a:ea typeface="Calibri"/>
              <a:cs typeface="Calibri"/>
              <a:sym typeface="Calibri"/>
            </a:endParaRPr>
          </a:p>
        </p:txBody>
      </p:sp>
      <p:sp>
        <p:nvSpPr>
          <p:cNvPr id="113" name="Google Shape;113;p17"/>
          <p:cNvSpPr/>
          <p:nvPr/>
        </p:nvSpPr>
        <p:spPr>
          <a:xfrm>
            <a:off x="457200" y="324612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9A7"/>
              </a:buClr>
              <a:buSzPts val="1500"/>
              <a:buFont typeface="Calibri"/>
              <a:buNone/>
            </a:pPr>
            <a:r>
              <a:rPr lang="en-GB" sz="1500" b="0" i="1" u="none" strike="noStrike" cap="none">
                <a:solidFill>
                  <a:srgbClr val="00C9A7"/>
                </a:solidFill>
                <a:latin typeface="Calibri"/>
                <a:ea typeface="Calibri"/>
                <a:cs typeface="Calibri"/>
                <a:sym typeface="Calibri"/>
              </a:rPr>
              <a:t>"Neurons that fire together, wire together"  — Donald Hebb, 1949</a:t>
            </a:r>
            <a:endParaRPr sz="1500" b="0" i="0" u="none" strike="noStrike" cap="none">
              <a:solidFill>
                <a:schemeClr val="dk1"/>
              </a:solidFill>
              <a:latin typeface="Calibri"/>
              <a:ea typeface="Calibri"/>
              <a:cs typeface="Calibri"/>
              <a:sym typeface="Calibri"/>
            </a:endParaRPr>
          </a:p>
        </p:txBody>
      </p:sp>
      <p:cxnSp>
        <p:nvCxnSpPr>
          <p:cNvPr id="114" name="Google Shape;114;p17"/>
          <p:cNvCxnSpPr/>
          <p:nvPr/>
        </p:nvCxnSpPr>
        <p:spPr>
          <a:xfrm>
            <a:off x="3200400" y="3931920"/>
            <a:ext cx="2743200" cy="0"/>
          </a:xfrm>
          <a:prstGeom prst="straightConnector1">
            <a:avLst/>
          </a:prstGeom>
          <a:noFill/>
          <a:ln w="25400" cap="flat" cmpd="sng">
            <a:solidFill>
              <a:srgbClr val="00C9A7"/>
            </a:solidFill>
            <a:prstDash val="solid"/>
            <a:round/>
            <a:headEnd type="none" w="sm" len="sm"/>
            <a:tailEnd type="none" w="sm" len="sm"/>
          </a:ln>
        </p:spPr>
      </p:cxnSp>
      <p:sp>
        <p:nvSpPr>
          <p:cNvPr id="115" name="Google Shape;115;p17"/>
          <p:cNvSpPr/>
          <p:nvPr/>
        </p:nvSpPr>
        <p:spPr>
          <a:xfrm>
            <a:off x="457200" y="411480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A9CC0"/>
              </a:buClr>
              <a:buSzPts val="1300"/>
              <a:buFont typeface="Calibri"/>
              <a:buNone/>
            </a:pPr>
            <a:r>
              <a:rPr lang="en-GB" sz="1300" b="0" i="0" u="none" strike="noStrike" cap="none">
                <a:solidFill>
                  <a:srgbClr val="7A9CC0"/>
                </a:solidFill>
                <a:latin typeface="Calibri"/>
                <a:ea typeface="Calibri"/>
                <a:cs typeface="Calibri"/>
                <a:sym typeface="Calibri"/>
              </a:rPr>
              <a:t>Unsupervised Learning Algorithm</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120"/>
        <p:cNvGrpSpPr/>
        <p:nvPr/>
      </p:nvGrpSpPr>
      <p:grpSpPr>
        <a:xfrm>
          <a:off x="0" y="0"/>
          <a:ext cx="0" cy="0"/>
          <a:chOff x="0" y="0"/>
          <a:chExt cx="0" cy="0"/>
        </a:xfrm>
      </p:grpSpPr>
      <p:sp>
        <p:nvSpPr>
          <p:cNvPr id="121" name="Google Shape;121;p18"/>
          <p:cNvSpPr/>
          <p:nvPr/>
        </p:nvSpPr>
        <p:spPr>
          <a:xfrm>
            <a:off x="0" y="0"/>
            <a:ext cx="9144000" cy="73152"/>
          </a:xfrm>
          <a:prstGeom prst="rect">
            <a:avLst/>
          </a:prstGeom>
          <a:solidFill>
            <a:srgbClr val="00C9A7"/>
          </a:solidFill>
          <a:ln w="12700" cap="flat" cmpd="sng">
            <a:solidFill>
              <a:srgbClr val="00C9A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8"/>
          <p:cNvSpPr/>
          <p:nvPr/>
        </p:nvSpPr>
        <p:spPr>
          <a:xfrm>
            <a:off x="365760" y="164592"/>
            <a:ext cx="82296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400"/>
              <a:buFont typeface="Calibri"/>
              <a:buNone/>
            </a:pPr>
            <a:r>
              <a:rPr lang="en-GB" sz="2400" b="1" i="0" u="none" strike="noStrike" cap="none">
                <a:solidFill>
                  <a:srgbClr val="FFFFFF"/>
                </a:solidFill>
                <a:latin typeface="Calibri"/>
                <a:ea typeface="Calibri"/>
                <a:cs typeface="Calibri"/>
                <a:sym typeface="Calibri"/>
              </a:rPr>
              <a:t>Hebbian Learning — Core Concept</a:t>
            </a:r>
            <a:endParaRPr sz="2400" b="0" i="0" u="none" strike="noStrike" cap="none">
              <a:solidFill>
                <a:schemeClr val="dk1"/>
              </a:solidFill>
              <a:latin typeface="Calibri"/>
              <a:ea typeface="Calibri"/>
              <a:cs typeface="Calibri"/>
              <a:sym typeface="Calibri"/>
            </a:endParaRPr>
          </a:p>
        </p:txBody>
      </p:sp>
      <p:sp>
        <p:nvSpPr>
          <p:cNvPr id="123" name="Google Shape;123;p18"/>
          <p:cNvSpPr/>
          <p:nvPr/>
        </p:nvSpPr>
        <p:spPr>
          <a:xfrm>
            <a:off x="274320" y="868680"/>
            <a:ext cx="4663440" cy="3931920"/>
          </a:xfrm>
          <a:prstGeom prst="rect">
            <a:avLst/>
          </a:prstGeom>
          <a:solidFill>
            <a:srgbClr val="162A4A"/>
          </a:solidFill>
          <a:ln w="12700" cap="flat" cmpd="sng">
            <a:solidFill>
              <a:srgbClr val="1E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8"/>
          <p:cNvSpPr/>
          <p:nvPr/>
        </p:nvSpPr>
        <p:spPr>
          <a:xfrm>
            <a:off x="457200" y="960120"/>
            <a:ext cx="4297680" cy="4114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9A7"/>
              </a:buClr>
              <a:buSzPts val="1400"/>
              <a:buFont typeface="Calibri"/>
              <a:buNone/>
            </a:pPr>
            <a:r>
              <a:rPr lang="en-GB" sz="1400" b="1" i="0" u="none" strike="noStrike" cap="none">
                <a:solidFill>
                  <a:srgbClr val="00C9A7"/>
                </a:solidFill>
                <a:latin typeface="Calibri"/>
                <a:ea typeface="Calibri"/>
                <a:cs typeface="Calibri"/>
                <a:sym typeface="Calibri"/>
              </a:rPr>
              <a:t>What is Hebbian Learning?</a:t>
            </a:r>
            <a:endParaRPr sz="1400" b="0" i="0" u="none" strike="noStrike" cap="none">
              <a:solidFill>
                <a:schemeClr val="dk1"/>
              </a:solidFill>
              <a:latin typeface="Calibri"/>
              <a:ea typeface="Calibri"/>
              <a:cs typeface="Calibri"/>
              <a:sym typeface="Calibri"/>
            </a:endParaRPr>
          </a:p>
        </p:txBody>
      </p:sp>
      <p:sp>
        <p:nvSpPr>
          <p:cNvPr id="125" name="Google Shape;125;p18"/>
          <p:cNvSpPr/>
          <p:nvPr/>
        </p:nvSpPr>
        <p:spPr>
          <a:xfrm>
            <a:off x="457200" y="1417320"/>
            <a:ext cx="4297680" cy="192024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B8D4F0"/>
              </a:buClr>
              <a:buSzPts val="1200"/>
              <a:buFont typeface="Calibri"/>
              <a:buChar char="•"/>
            </a:pPr>
            <a:r>
              <a:rPr lang="en-GB" sz="1200" b="0" i="0" u="none" strike="noStrike" cap="none" dirty="0">
                <a:solidFill>
                  <a:srgbClr val="B8D4F0"/>
                </a:solidFill>
                <a:latin typeface="Calibri"/>
                <a:ea typeface="Calibri"/>
                <a:cs typeface="Calibri"/>
                <a:sym typeface="Calibri"/>
              </a:rPr>
              <a:t>Developed by Donald Hebb in 1949</a:t>
            </a:r>
            <a:endParaRPr sz="1200" b="0" i="0" u="none" strike="noStrike" cap="none" dirty="0">
              <a:solidFill>
                <a:schemeClr val="dk1"/>
              </a:solidFill>
              <a:latin typeface="Calibri"/>
              <a:ea typeface="Calibri"/>
              <a:cs typeface="Calibri"/>
              <a:sym typeface="Calibri"/>
            </a:endParaRPr>
          </a:p>
          <a:p>
            <a:pPr marL="342900" marR="0" lvl="0" indent="-342900" algn="l" rtl="0">
              <a:spcBef>
                <a:spcPts val="0"/>
              </a:spcBef>
              <a:spcAft>
                <a:spcPts val="0"/>
              </a:spcAft>
              <a:buClr>
                <a:srgbClr val="B8D4F0"/>
              </a:buClr>
              <a:buSzPts val="1200"/>
              <a:buFont typeface="Calibri"/>
              <a:buChar char="•"/>
            </a:pPr>
            <a:r>
              <a:rPr lang="en-GB" sz="1200" b="0" i="0" u="none" strike="noStrike" cap="none" dirty="0">
                <a:solidFill>
                  <a:srgbClr val="B8D4F0"/>
                </a:solidFill>
                <a:latin typeface="Calibri"/>
                <a:ea typeface="Calibri"/>
                <a:cs typeface="Calibri"/>
                <a:sym typeface="Calibri"/>
              </a:rPr>
              <a:t>An unsupervised weight-update algorithm</a:t>
            </a:r>
            <a:endParaRPr sz="1200" b="0" i="0" u="none" strike="noStrike" cap="none" dirty="0">
              <a:solidFill>
                <a:schemeClr val="dk1"/>
              </a:solidFill>
              <a:latin typeface="Calibri"/>
              <a:ea typeface="Calibri"/>
              <a:cs typeface="Calibri"/>
              <a:sym typeface="Calibri"/>
            </a:endParaRPr>
          </a:p>
          <a:p>
            <a:pPr marL="342900" marR="0" lvl="0" indent="-342900" algn="l" rtl="0">
              <a:spcBef>
                <a:spcPts val="0"/>
              </a:spcBef>
              <a:spcAft>
                <a:spcPts val="0"/>
              </a:spcAft>
              <a:buClr>
                <a:srgbClr val="B8D4F0"/>
              </a:buClr>
              <a:buSzPts val="1200"/>
              <a:buFont typeface="Calibri"/>
              <a:buChar char="•"/>
            </a:pPr>
            <a:r>
              <a:rPr lang="en-GB" sz="1200" b="0" i="0" u="none" strike="noStrike" cap="none" dirty="0">
                <a:solidFill>
                  <a:srgbClr val="B8D4F0"/>
                </a:solidFill>
                <a:latin typeface="Calibri"/>
                <a:ea typeface="Calibri"/>
                <a:cs typeface="Calibri"/>
                <a:sym typeface="Calibri"/>
              </a:rPr>
              <a:t>Inspired by biological synapse strengthening</a:t>
            </a:r>
          </a:p>
          <a:p>
            <a:pPr marR="0" lvl="0" algn="l" rtl="0">
              <a:spcBef>
                <a:spcPts val="0"/>
              </a:spcBef>
              <a:spcAft>
                <a:spcPts val="0"/>
              </a:spcAft>
              <a:buClr>
                <a:srgbClr val="B8D4F0"/>
              </a:buClr>
              <a:buSzPts val="1200"/>
            </a:pPr>
            <a:endParaRPr lang="en-GB" sz="1200" b="0" i="0" u="none" strike="noStrike" cap="none" dirty="0">
              <a:solidFill>
                <a:srgbClr val="B8D4F0"/>
              </a:solidFill>
              <a:latin typeface="Calibri"/>
              <a:ea typeface="Calibri"/>
              <a:cs typeface="Calibri"/>
              <a:sym typeface="Calibri"/>
            </a:endParaRPr>
          </a:p>
          <a:p>
            <a:pPr marL="342900" marR="0" lvl="0" indent="-342900" algn="l" rtl="0">
              <a:spcBef>
                <a:spcPts val="0"/>
              </a:spcBef>
              <a:spcAft>
                <a:spcPts val="0"/>
              </a:spcAft>
              <a:buClr>
                <a:srgbClr val="B8D4F0"/>
              </a:buClr>
              <a:buSzPts val="1200"/>
              <a:buFont typeface="Calibri"/>
              <a:buChar char="•"/>
            </a:pPr>
            <a:r>
              <a:rPr lang="en-GB" sz="1200" b="1" dirty="0">
                <a:solidFill>
                  <a:srgbClr val="B8D4F0"/>
                </a:solidFill>
                <a:latin typeface="Calibri"/>
                <a:ea typeface="Calibri"/>
                <a:cs typeface="Calibri"/>
                <a:sym typeface="Calibri"/>
              </a:rPr>
              <a:t>“States that the synaptic efficacy between two neurons should increase if the neurons are simultaneously active and decrease if not.”</a:t>
            </a:r>
            <a:endParaRPr sz="1200" b="1" i="0" u="none" strike="noStrike" cap="none" dirty="0">
              <a:solidFill>
                <a:schemeClr val="dk1"/>
              </a:solidFill>
              <a:latin typeface="Calibri"/>
              <a:ea typeface="Calibri"/>
              <a:cs typeface="Calibri"/>
              <a:sym typeface="Calibri"/>
            </a:endParaRPr>
          </a:p>
        </p:txBody>
      </p:sp>
      <p:sp>
        <p:nvSpPr>
          <p:cNvPr id="126" name="Google Shape;126;p18"/>
          <p:cNvSpPr/>
          <p:nvPr/>
        </p:nvSpPr>
        <p:spPr>
          <a:xfrm>
            <a:off x="457200" y="3429000"/>
            <a:ext cx="4297680" cy="1234440"/>
          </a:xfrm>
          <a:prstGeom prst="rect">
            <a:avLst/>
          </a:prstGeom>
          <a:solidFill>
            <a:srgbClr val="00C9A7">
              <a:alpha val="14901"/>
            </a:srgbClr>
          </a:solidFill>
          <a:ln w="25400" cap="flat" cmpd="sng">
            <a:solidFill>
              <a:srgbClr val="00C9A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8"/>
          <p:cNvSpPr/>
          <p:nvPr/>
        </p:nvSpPr>
        <p:spPr>
          <a:xfrm>
            <a:off x="457200" y="3474720"/>
            <a:ext cx="429768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9A7"/>
              </a:buClr>
              <a:buSzPts val="1100"/>
              <a:buFont typeface="Calibri"/>
              <a:buNone/>
            </a:pPr>
            <a:r>
              <a:rPr lang="en-GB" sz="1100" b="1" i="0" u="none" strike="noStrike" cap="none">
                <a:solidFill>
                  <a:srgbClr val="00C9A7"/>
                </a:solidFill>
                <a:latin typeface="Calibri"/>
                <a:ea typeface="Calibri"/>
                <a:cs typeface="Calibri"/>
                <a:sym typeface="Calibri"/>
              </a:rPr>
              <a:t>Hebbian Update Rule</a:t>
            </a:r>
            <a:endParaRPr sz="1100" b="0" i="0" u="none" strike="noStrike" cap="none">
              <a:solidFill>
                <a:schemeClr val="dk1"/>
              </a:solidFill>
              <a:latin typeface="Calibri"/>
              <a:ea typeface="Calibri"/>
              <a:cs typeface="Calibri"/>
              <a:sym typeface="Calibri"/>
            </a:endParaRPr>
          </a:p>
        </p:txBody>
      </p:sp>
      <p:sp>
        <p:nvSpPr>
          <p:cNvPr id="128" name="Google Shape;128;p18"/>
          <p:cNvSpPr/>
          <p:nvPr/>
        </p:nvSpPr>
        <p:spPr>
          <a:xfrm>
            <a:off x="457200" y="3794760"/>
            <a:ext cx="429768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ourier New"/>
              <a:buNone/>
            </a:pPr>
            <a:r>
              <a:rPr lang="en-GB" sz="1800" b="1" i="0" u="none" strike="noStrike" cap="none">
                <a:solidFill>
                  <a:srgbClr val="FFFFFF"/>
                </a:solidFill>
                <a:latin typeface="Courier New"/>
                <a:ea typeface="Courier New"/>
                <a:cs typeface="Courier New"/>
                <a:sym typeface="Courier New"/>
              </a:rPr>
              <a:t>wᵢ(new) = wᵢ(old) + xᵢ · y</a:t>
            </a:r>
            <a:endParaRPr sz="1800" b="0" i="0" u="none" strike="noStrike" cap="none">
              <a:solidFill>
                <a:schemeClr val="dk1"/>
              </a:solidFill>
              <a:latin typeface="Calibri"/>
              <a:ea typeface="Calibri"/>
              <a:cs typeface="Calibri"/>
              <a:sym typeface="Calibri"/>
            </a:endParaRPr>
          </a:p>
        </p:txBody>
      </p:sp>
      <p:sp>
        <p:nvSpPr>
          <p:cNvPr id="129" name="Google Shape;129;p18"/>
          <p:cNvSpPr/>
          <p:nvPr/>
        </p:nvSpPr>
        <p:spPr>
          <a:xfrm>
            <a:off x="457200" y="4206240"/>
            <a:ext cx="4297680"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600"/>
              <a:buFont typeface="Courier New"/>
              <a:buNone/>
            </a:pPr>
            <a:r>
              <a:rPr lang="en-GB" sz="1600" b="0" i="0" u="none" strike="noStrike" cap="none">
                <a:solidFill>
                  <a:srgbClr val="FFFFFF"/>
                </a:solidFill>
                <a:latin typeface="Courier New"/>
                <a:ea typeface="Courier New"/>
                <a:cs typeface="Courier New"/>
                <a:sym typeface="Courier New"/>
              </a:rPr>
              <a:t>b(new) = b(old) + y</a:t>
            </a:r>
            <a:endParaRPr sz="1600" b="0" i="0" u="none" strike="noStrike" cap="none">
              <a:solidFill>
                <a:schemeClr val="dk1"/>
              </a:solidFill>
              <a:latin typeface="Calibri"/>
              <a:ea typeface="Calibri"/>
              <a:cs typeface="Calibri"/>
              <a:sym typeface="Calibri"/>
            </a:endParaRPr>
          </a:p>
        </p:txBody>
      </p:sp>
      <p:sp>
        <p:nvSpPr>
          <p:cNvPr id="130" name="Google Shape;130;p18"/>
          <p:cNvSpPr/>
          <p:nvPr/>
        </p:nvSpPr>
        <p:spPr>
          <a:xfrm>
            <a:off x="5120640" y="868680"/>
            <a:ext cx="3749040" cy="3931920"/>
          </a:xfrm>
          <a:prstGeom prst="rect">
            <a:avLst/>
          </a:prstGeom>
          <a:solidFill>
            <a:srgbClr val="162A4A"/>
          </a:solidFill>
          <a:ln w="12700" cap="flat" cmpd="sng">
            <a:solidFill>
              <a:srgbClr val="1E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8"/>
          <p:cNvSpPr/>
          <p:nvPr/>
        </p:nvSpPr>
        <p:spPr>
          <a:xfrm>
            <a:off x="5212080" y="960120"/>
            <a:ext cx="356616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9A7"/>
              </a:buClr>
              <a:buSzPts val="1300"/>
              <a:buFont typeface="Calibri"/>
              <a:buNone/>
            </a:pPr>
            <a:r>
              <a:rPr lang="en-GB" sz="1300" b="1" i="0" u="none" strike="noStrike" cap="none">
                <a:solidFill>
                  <a:srgbClr val="00C9A7"/>
                </a:solidFill>
                <a:latin typeface="Calibri"/>
                <a:ea typeface="Calibri"/>
                <a:cs typeface="Calibri"/>
                <a:sym typeface="Calibri"/>
              </a:rPr>
              <a:t>Hebbian Neuron Model</a:t>
            </a:r>
            <a:endParaRPr sz="1300" b="0" i="0" u="none" strike="noStrike" cap="none">
              <a:solidFill>
                <a:schemeClr val="dk1"/>
              </a:solidFill>
              <a:latin typeface="Calibri"/>
              <a:ea typeface="Calibri"/>
              <a:cs typeface="Calibri"/>
              <a:sym typeface="Calibri"/>
            </a:endParaRPr>
          </a:p>
        </p:txBody>
      </p:sp>
      <p:sp>
        <p:nvSpPr>
          <p:cNvPr id="132" name="Google Shape;132;p18"/>
          <p:cNvSpPr/>
          <p:nvPr/>
        </p:nvSpPr>
        <p:spPr>
          <a:xfrm>
            <a:off x="5257800" y="1554480"/>
            <a:ext cx="457200" cy="347472"/>
          </a:xfrm>
          <a:prstGeom prst="ellipse">
            <a:avLst/>
          </a:prstGeom>
          <a:solidFill>
            <a:srgbClr val="4FC3F7"/>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8"/>
          <p:cNvSpPr/>
          <p:nvPr/>
        </p:nvSpPr>
        <p:spPr>
          <a:xfrm>
            <a:off x="5257800" y="1554480"/>
            <a:ext cx="457200"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628"/>
              </a:buClr>
              <a:buSzPts val="900"/>
              <a:buFont typeface="Calibri"/>
              <a:buNone/>
            </a:pPr>
            <a:r>
              <a:rPr lang="en-GB" sz="900" b="1" i="0" u="none" strike="noStrike" cap="none">
                <a:solidFill>
                  <a:srgbClr val="0A1628"/>
                </a:solidFill>
                <a:latin typeface="Calibri"/>
                <a:ea typeface="Calibri"/>
                <a:cs typeface="Calibri"/>
                <a:sym typeface="Calibri"/>
              </a:rPr>
              <a:t>x₁</a:t>
            </a:r>
            <a:endParaRPr sz="900" b="0" i="0" u="none" strike="noStrike" cap="none">
              <a:solidFill>
                <a:schemeClr val="dk1"/>
              </a:solidFill>
              <a:latin typeface="Calibri"/>
              <a:ea typeface="Calibri"/>
              <a:cs typeface="Calibri"/>
              <a:sym typeface="Calibri"/>
            </a:endParaRPr>
          </a:p>
        </p:txBody>
      </p:sp>
      <p:cxnSp>
        <p:nvCxnSpPr>
          <p:cNvPr id="134" name="Google Shape;134;p18"/>
          <p:cNvCxnSpPr/>
          <p:nvPr/>
        </p:nvCxnSpPr>
        <p:spPr>
          <a:xfrm>
            <a:off x="5715000" y="1728216"/>
            <a:ext cx="731520" cy="0"/>
          </a:xfrm>
          <a:prstGeom prst="straightConnector1">
            <a:avLst/>
          </a:prstGeom>
          <a:noFill/>
          <a:ln w="19050" cap="flat" cmpd="sng">
            <a:solidFill>
              <a:srgbClr val="00C9A7"/>
            </a:solidFill>
            <a:prstDash val="solid"/>
            <a:round/>
            <a:headEnd type="none" w="sm" len="sm"/>
            <a:tailEnd type="none" w="sm" len="sm"/>
          </a:ln>
        </p:spPr>
      </p:cxnSp>
      <p:sp>
        <p:nvSpPr>
          <p:cNvPr id="135" name="Google Shape;135;p18"/>
          <p:cNvSpPr/>
          <p:nvPr/>
        </p:nvSpPr>
        <p:spPr>
          <a:xfrm>
            <a:off x="5806440" y="1508760"/>
            <a:ext cx="32004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9A7"/>
              </a:buClr>
              <a:buSzPts val="900"/>
              <a:buFont typeface="Calibri"/>
              <a:buNone/>
            </a:pPr>
            <a:r>
              <a:rPr lang="en-GB" sz="900" b="0" i="0" u="none" strike="noStrike" cap="none">
                <a:solidFill>
                  <a:srgbClr val="00C9A7"/>
                </a:solidFill>
                <a:latin typeface="Calibri"/>
                <a:ea typeface="Calibri"/>
                <a:cs typeface="Calibri"/>
                <a:sym typeface="Calibri"/>
              </a:rPr>
              <a:t>w1</a:t>
            </a:r>
            <a:endParaRPr sz="900" b="0" i="0" u="none" strike="noStrike" cap="none">
              <a:solidFill>
                <a:schemeClr val="dk1"/>
              </a:solidFill>
              <a:latin typeface="Calibri"/>
              <a:ea typeface="Calibri"/>
              <a:cs typeface="Calibri"/>
              <a:sym typeface="Calibri"/>
            </a:endParaRPr>
          </a:p>
        </p:txBody>
      </p:sp>
      <p:sp>
        <p:nvSpPr>
          <p:cNvPr id="136" name="Google Shape;136;p18"/>
          <p:cNvSpPr/>
          <p:nvPr/>
        </p:nvSpPr>
        <p:spPr>
          <a:xfrm>
            <a:off x="5257800" y="2103120"/>
            <a:ext cx="457200" cy="347472"/>
          </a:xfrm>
          <a:prstGeom prst="ellipse">
            <a:avLst/>
          </a:prstGeom>
          <a:solidFill>
            <a:srgbClr val="4FC3F7"/>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8"/>
          <p:cNvSpPr/>
          <p:nvPr/>
        </p:nvSpPr>
        <p:spPr>
          <a:xfrm>
            <a:off x="5257800" y="2103120"/>
            <a:ext cx="457200"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628"/>
              </a:buClr>
              <a:buSzPts val="900"/>
              <a:buFont typeface="Calibri"/>
              <a:buNone/>
            </a:pPr>
            <a:r>
              <a:rPr lang="en-GB" sz="900" b="1" i="0" u="none" strike="noStrike" cap="none">
                <a:solidFill>
                  <a:srgbClr val="0A1628"/>
                </a:solidFill>
                <a:latin typeface="Calibri"/>
                <a:ea typeface="Calibri"/>
                <a:cs typeface="Calibri"/>
                <a:sym typeface="Calibri"/>
              </a:rPr>
              <a:t>x₂</a:t>
            </a:r>
            <a:endParaRPr sz="900" b="0" i="0" u="none" strike="noStrike" cap="none">
              <a:solidFill>
                <a:schemeClr val="dk1"/>
              </a:solidFill>
              <a:latin typeface="Calibri"/>
              <a:ea typeface="Calibri"/>
              <a:cs typeface="Calibri"/>
              <a:sym typeface="Calibri"/>
            </a:endParaRPr>
          </a:p>
        </p:txBody>
      </p:sp>
      <p:cxnSp>
        <p:nvCxnSpPr>
          <p:cNvPr id="138" name="Google Shape;138;p18"/>
          <p:cNvCxnSpPr/>
          <p:nvPr/>
        </p:nvCxnSpPr>
        <p:spPr>
          <a:xfrm>
            <a:off x="5715000" y="2276856"/>
            <a:ext cx="731520" cy="0"/>
          </a:xfrm>
          <a:prstGeom prst="straightConnector1">
            <a:avLst/>
          </a:prstGeom>
          <a:noFill/>
          <a:ln w="19050" cap="flat" cmpd="sng">
            <a:solidFill>
              <a:srgbClr val="00C9A7"/>
            </a:solidFill>
            <a:prstDash val="solid"/>
            <a:round/>
            <a:headEnd type="none" w="sm" len="sm"/>
            <a:tailEnd type="none" w="sm" len="sm"/>
          </a:ln>
        </p:spPr>
      </p:cxnSp>
      <p:sp>
        <p:nvSpPr>
          <p:cNvPr id="139" name="Google Shape;139;p18"/>
          <p:cNvSpPr/>
          <p:nvPr/>
        </p:nvSpPr>
        <p:spPr>
          <a:xfrm>
            <a:off x="5806440" y="2057400"/>
            <a:ext cx="32004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9A7"/>
              </a:buClr>
              <a:buSzPts val="900"/>
              <a:buFont typeface="Calibri"/>
              <a:buNone/>
            </a:pPr>
            <a:r>
              <a:rPr lang="en-GB" sz="900" b="0" i="0" u="none" strike="noStrike" cap="none">
                <a:solidFill>
                  <a:srgbClr val="00C9A7"/>
                </a:solidFill>
                <a:latin typeface="Calibri"/>
                <a:ea typeface="Calibri"/>
                <a:cs typeface="Calibri"/>
                <a:sym typeface="Calibri"/>
              </a:rPr>
              <a:t>w2</a:t>
            </a:r>
            <a:endParaRPr sz="900" b="0" i="0" u="none" strike="noStrike" cap="none">
              <a:solidFill>
                <a:schemeClr val="dk1"/>
              </a:solidFill>
              <a:latin typeface="Calibri"/>
              <a:ea typeface="Calibri"/>
              <a:cs typeface="Calibri"/>
              <a:sym typeface="Calibri"/>
            </a:endParaRPr>
          </a:p>
        </p:txBody>
      </p:sp>
      <p:sp>
        <p:nvSpPr>
          <p:cNvPr id="140" name="Google Shape;140;p18"/>
          <p:cNvSpPr/>
          <p:nvPr/>
        </p:nvSpPr>
        <p:spPr>
          <a:xfrm>
            <a:off x="5257800" y="2651760"/>
            <a:ext cx="457200" cy="347472"/>
          </a:xfrm>
          <a:prstGeom prst="ellipse">
            <a:avLst/>
          </a:prstGeom>
          <a:solidFill>
            <a:srgbClr val="4FC3F7"/>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8"/>
          <p:cNvSpPr/>
          <p:nvPr/>
        </p:nvSpPr>
        <p:spPr>
          <a:xfrm>
            <a:off x="5257800" y="2651760"/>
            <a:ext cx="457200"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628"/>
              </a:buClr>
              <a:buSzPts val="900"/>
              <a:buFont typeface="Calibri"/>
              <a:buNone/>
            </a:pPr>
            <a:r>
              <a:rPr lang="en-GB" sz="900" b="1" i="0" u="none" strike="noStrike" cap="none">
                <a:solidFill>
                  <a:srgbClr val="0A1628"/>
                </a:solidFill>
                <a:latin typeface="Calibri"/>
                <a:ea typeface="Calibri"/>
                <a:cs typeface="Calibri"/>
                <a:sym typeface="Calibri"/>
              </a:rPr>
              <a:t>x₃</a:t>
            </a:r>
            <a:endParaRPr sz="900" b="0" i="0" u="none" strike="noStrike" cap="none">
              <a:solidFill>
                <a:schemeClr val="dk1"/>
              </a:solidFill>
              <a:latin typeface="Calibri"/>
              <a:ea typeface="Calibri"/>
              <a:cs typeface="Calibri"/>
              <a:sym typeface="Calibri"/>
            </a:endParaRPr>
          </a:p>
        </p:txBody>
      </p:sp>
      <p:cxnSp>
        <p:nvCxnSpPr>
          <p:cNvPr id="142" name="Google Shape;142;p18"/>
          <p:cNvCxnSpPr/>
          <p:nvPr/>
        </p:nvCxnSpPr>
        <p:spPr>
          <a:xfrm>
            <a:off x="5715000" y="2825496"/>
            <a:ext cx="731520" cy="0"/>
          </a:xfrm>
          <a:prstGeom prst="straightConnector1">
            <a:avLst/>
          </a:prstGeom>
          <a:noFill/>
          <a:ln w="19050" cap="flat" cmpd="sng">
            <a:solidFill>
              <a:srgbClr val="00C9A7"/>
            </a:solidFill>
            <a:prstDash val="solid"/>
            <a:round/>
            <a:headEnd type="none" w="sm" len="sm"/>
            <a:tailEnd type="none" w="sm" len="sm"/>
          </a:ln>
        </p:spPr>
      </p:cxnSp>
      <p:sp>
        <p:nvSpPr>
          <p:cNvPr id="143" name="Google Shape;143;p18"/>
          <p:cNvSpPr/>
          <p:nvPr/>
        </p:nvSpPr>
        <p:spPr>
          <a:xfrm>
            <a:off x="5806440" y="2606040"/>
            <a:ext cx="32004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9A7"/>
              </a:buClr>
              <a:buSzPts val="900"/>
              <a:buFont typeface="Calibri"/>
              <a:buNone/>
            </a:pPr>
            <a:r>
              <a:rPr lang="en-GB" sz="900" b="0" i="0" u="none" strike="noStrike" cap="none">
                <a:solidFill>
                  <a:srgbClr val="00C9A7"/>
                </a:solidFill>
                <a:latin typeface="Calibri"/>
                <a:ea typeface="Calibri"/>
                <a:cs typeface="Calibri"/>
                <a:sym typeface="Calibri"/>
              </a:rPr>
              <a:t>w3</a:t>
            </a:r>
            <a:endParaRPr sz="900" b="0" i="0" u="none" strike="noStrike" cap="none">
              <a:solidFill>
                <a:schemeClr val="dk1"/>
              </a:solidFill>
              <a:latin typeface="Calibri"/>
              <a:ea typeface="Calibri"/>
              <a:cs typeface="Calibri"/>
              <a:sym typeface="Calibri"/>
            </a:endParaRPr>
          </a:p>
        </p:txBody>
      </p:sp>
      <p:sp>
        <p:nvSpPr>
          <p:cNvPr id="144" name="Google Shape;144;p18"/>
          <p:cNvSpPr/>
          <p:nvPr/>
        </p:nvSpPr>
        <p:spPr>
          <a:xfrm>
            <a:off x="5257800" y="3291840"/>
            <a:ext cx="457200" cy="347472"/>
          </a:xfrm>
          <a:prstGeom prst="ellipse">
            <a:avLst/>
          </a:prstGeom>
          <a:solidFill>
            <a:srgbClr val="FFB347"/>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8"/>
          <p:cNvSpPr/>
          <p:nvPr/>
        </p:nvSpPr>
        <p:spPr>
          <a:xfrm>
            <a:off x="5257800" y="3291840"/>
            <a:ext cx="457200"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628"/>
              </a:buClr>
              <a:buSzPts val="900"/>
              <a:buFont typeface="Calibri"/>
              <a:buNone/>
            </a:pPr>
            <a:r>
              <a:rPr lang="en-GB" sz="900" b="1" i="0" u="none" strike="noStrike" cap="none">
                <a:solidFill>
                  <a:srgbClr val="0A1628"/>
                </a:solidFill>
                <a:latin typeface="Calibri"/>
                <a:ea typeface="Calibri"/>
                <a:cs typeface="Calibri"/>
                <a:sym typeface="Calibri"/>
              </a:rPr>
              <a:t>bias</a:t>
            </a:r>
            <a:endParaRPr sz="900" b="0" i="0" u="none" strike="noStrike" cap="none">
              <a:solidFill>
                <a:schemeClr val="dk1"/>
              </a:solidFill>
              <a:latin typeface="Calibri"/>
              <a:ea typeface="Calibri"/>
              <a:cs typeface="Calibri"/>
              <a:sym typeface="Calibri"/>
            </a:endParaRPr>
          </a:p>
        </p:txBody>
      </p:sp>
      <p:cxnSp>
        <p:nvCxnSpPr>
          <p:cNvPr id="146" name="Google Shape;146;p18"/>
          <p:cNvCxnSpPr/>
          <p:nvPr/>
        </p:nvCxnSpPr>
        <p:spPr>
          <a:xfrm>
            <a:off x="5715000" y="3465576"/>
            <a:ext cx="731520" cy="0"/>
          </a:xfrm>
          <a:prstGeom prst="straightConnector1">
            <a:avLst/>
          </a:prstGeom>
          <a:noFill/>
          <a:ln w="19050" cap="flat" cmpd="sng">
            <a:solidFill>
              <a:srgbClr val="00C9A7"/>
            </a:solidFill>
            <a:prstDash val="solid"/>
            <a:round/>
            <a:headEnd type="none" w="sm" len="sm"/>
            <a:tailEnd type="none" w="sm" len="sm"/>
          </a:ln>
        </p:spPr>
      </p:cxnSp>
      <p:sp>
        <p:nvSpPr>
          <p:cNvPr id="147" name="Google Shape;147;p18"/>
          <p:cNvSpPr/>
          <p:nvPr/>
        </p:nvSpPr>
        <p:spPr>
          <a:xfrm>
            <a:off x="6537960" y="2286000"/>
            <a:ext cx="548640" cy="548640"/>
          </a:xfrm>
          <a:prstGeom prst="ellipse">
            <a:avLst/>
          </a:prstGeom>
          <a:solidFill>
            <a:srgbClr val="0F2140"/>
          </a:solidFill>
          <a:ln w="25400" cap="flat" cmpd="sng">
            <a:solidFill>
              <a:srgbClr val="00C9A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8"/>
          <p:cNvSpPr/>
          <p:nvPr/>
        </p:nvSpPr>
        <p:spPr>
          <a:xfrm>
            <a:off x="6537960" y="2286000"/>
            <a:ext cx="54864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9A7"/>
              </a:buClr>
              <a:buSzPts val="1800"/>
              <a:buFont typeface="Calibri"/>
              <a:buNone/>
            </a:pPr>
            <a:r>
              <a:rPr lang="en-GB" sz="1800" b="1" i="0" u="none" strike="noStrike" cap="none">
                <a:solidFill>
                  <a:srgbClr val="00C9A7"/>
                </a:solidFill>
                <a:latin typeface="Calibri"/>
                <a:ea typeface="Calibri"/>
                <a:cs typeface="Calibri"/>
                <a:sym typeface="Calibri"/>
              </a:rPr>
              <a:t>Σ</a:t>
            </a:r>
            <a:endParaRPr sz="1800" b="0" i="0" u="none" strike="noStrike" cap="none">
              <a:solidFill>
                <a:schemeClr val="dk1"/>
              </a:solidFill>
              <a:latin typeface="Calibri"/>
              <a:ea typeface="Calibri"/>
              <a:cs typeface="Calibri"/>
              <a:sym typeface="Calibri"/>
            </a:endParaRPr>
          </a:p>
        </p:txBody>
      </p:sp>
      <p:cxnSp>
        <p:nvCxnSpPr>
          <p:cNvPr id="149" name="Google Shape;149;p18"/>
          <p:cNvCxnSpPr/>
          <p:nvPr/>
        </p:nvCxnSpPr>
        <p:spPr>
          <a:xfrm>
            <a:off x="6446520" y="1728216"/>
            <a:ext cx="91440" cy="1005840"/>
          </a:xfrm>
          <a:prstGeom prst="straightConnector1">
            <a:avLst/>
          </a:prstGeom>
          <a:noFill/>
          <a:ln w="12700" cap="flat" cmpd="sng">
            <a:solidFill>
              <a:srgbClr val="00C9A7">
                <a:alpha val="60000"/>
              </a:srgbClr>
            </a:solidFill>
            <a:prstDash val="solid"/>
            <a:round/>
            <a:headEnd type="none" w="sm" len="sm"/>
            <a:tailEnd type="none" w="sm" len="sm"/>
          </a:ln>
        </p:spPr>
      </p:cxnSp>
      <p:cxnSp>
        <p:nvCxnSpPr>
          <p:cNvPr id="150" name="Google Shape;150;p18"/>
          <p:cNvCxnSpPr/>
          <p:nvPr/>
        </p:nvCxnSpPr>
        <p:spPr>
          <a:xfrm>
            <a:off x="6446520" y="2276856"/>
            <a:ext cx="91440" cy="457200"/>
          </a:xfrm>
          <a:prstGeom prst="straightConnector1">
            <a:avLst/>
          </a:prstGeom>
          <a:noFill/>
          <a:ln w="12700" cap="flat" cmpd="sng">
            <a:solidFill>
              <a:srgbClr val="00C9A7">
                <a:alpha val="60000"/>
              </a:srgbClr>
            </a:solidFill>
            <a:prstDash val="solid"/>
            <a:round/>
            <a:headEnd type="none" w="sm" len="sm"/>
            <a:tailEnd type="none" w="sm" len="sm"/>
          </a:ln>
        </p:spPr>
      </p:cxnSp>
      <p:cxnSp>
        <p:nvCxnSpPr>
          <p:cNvPr id="151" name="Google Shape;151;p18"/>
          <p:cNvCxnSpPr/>
          <p:nvPr/>
        </p:nvCxnSpPr>
        <p:spPr>
          <a:xfrm rot="10800000" flipH="1">
            <a:off x="6446520" y="2734056"/>
            <a:ext cx="91440" cy="91440"/>
          </a:xfrm>
          <a:prstGeom prst="straightConnector1">
            <a:avLst/>
          </a:prstGeom>
          <a:noFill/>
          <a:ln w="12700" cap="flat" cmpd="sng">
            <a:solidFill>
              <a:srgbClr val="00C9A7">
                <a:alpha val="60000"/>
              </a:srgbClr>
            </a:solidFill>
            <a:prstDash val="solid"/>
            <a:round/>
            <a:headEnd type="none" w="sm" len="sm"/>
            <a:tailEnd type="none" w="sm" len="sm"/>
          </a:ln>
        </p:spPr>
      </p:cxnSp>
      <p:cxnSp>
        <p:nvCxnSpPr>
          <p:cNvPr id="152" name="Google Shape;152;p18"/>
          <p:cNvCxnSpPr/>
          <p:nvPr/>
        </p:nvCxnSpPr>
        <p:spPr>
          <a:xfrm rot="10800000" flipH="1">
            <a:off x="6446520" y="2734056"/>
            <a:ext cx="91440" cy="731520"/>
          </a:xfrm>
          <a:prstGeom prst="straightConnector1">
            <a:avLst/>
          </a:prstGeom>
          <a:noFill/>
          <a:ln w="12700" cap="flat" cmpd="sng">
            <a:solidFill>
              <a:srgbClr val="00C9A7">
                <a:alpha val="60000"/>
              </a:srgbClr>
            </a:solidFill>
            <a:prstDash val="solid"/>
            <a:round/>
            <a:headEnd type="none" w="sm" len="sm"/>
            <a:tailEnd type="none" w="sm" len="sm"/>
          </a:ln>
        </p:spPr>
      </p:cxnSp>
      <p:cxnSp>
        <p:nvCxnSpPr>
          <p:cNvPr id="153" name="Google Shape;153;p18"/>
          <p:cNvCxnSpPr/>
          <p:nvPr/>
        </p:nvCxnSpPr>
        <p:spPr>
          <a:xfrm>
            <a:off x="7086600" y="2560320"/>
            <a:ext cx="594360" cy="0"/>
          </a:xfrm>
          <a:prstGeom prst="straightConnector1">
            <a:avLst/>
          </a:prstGeom>
          <a:noFill/>
          <a:ln w="25400" cap="flat" cmpd="sng">
            <a:solidFill>
              <a:srgbClr val="00C9A7"/>
            </a:solidFill>
            <a:prstDash val="solid"/>
            <a:round/>
            <a:headEnd type="none" w="sm" len="sm"/>
            <a:tailEnd type="none" w="sm" len="sm"/>
          </a:ln>
        </p:spPr>
      </p:cxnSp>
      <p:sp>
        <p:nvSpPr>
          <p:cNvPr id="154" name="Google Shape;154;p18"/>
          <p:cNvSpPr/>
          <p:nvPr/>
        </p:nvSpPr>
        <p:spPr>
          <a:xfrm>
            <a:off x="7680960" y="2331720"/>
            <a:ext cx="594360" cy="502920"/>
          </a:xfrm>
          <a:prstGeom prst="ellipse">
            <a:avLst/>
          </a:prstGeom>
          <a:solidFill>
            <a:srgbClr val="00C9A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8"/>
          <p:cNvSpPr/>
          <p:nvPr/>
        </p:nvSpPr>
        <p:spPr>
          <a:xfrm>
            <a:off x="7680960" y="2331720"/>
            <a:ext cx="59436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628"/>
              </a:buClr>
              <a:buSzPts val="1400"/>
              <a:buFont typeface="Calibri"/>
              <a:buNone/>
            </a:pPr>
            <a:r>
              <a:rPr lang="en-GB" sz="1400" b="1" i="0" u="none" strike="noStrike" cap="none">
                <a:solidFill>
                  <a:srgbClr val="0A1628"/>
                </a:solidFill>
                <a:latin typeface="Calibri"/>
                <a:ea typeface="Calibri"/>
                <a:cs typeface="Calibri"/>
                <a:sym typeface="Calibri"/>
              </a:rPr>
              <a:t>y</a:t>
            </a:r>
            <a:endParaRPr sz="1400" b="0" i="0" u="none" strike="noStrike" cap="none">
              <a:solidFill>
                <a:schemeClr val="dk1"/>
              </a:solidFill>
              <a:latin typeface="Calibri"/>
              <a:ea typeface="Calibri"/>
              <a:cs typeface="Calibri"/>
              <a:sym typeface="Calibri"/>
            </a:endParaRPr>
          </a:p>
        </p:txBody>
      </p:sp>
      <p:sp>
        <p:nvSpPr>
          <p:cNvPr id="156" name="Google Shape;156;p18"/>
          <p:cNvSpPr/>
          <p:nvPr/>
        </p:nvSpPr>
        <p:spPr>
          <a:xfrm>
            <a:off x="5212080" y="4251960"/>
            <a:ext cx="356616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A9CC0"/>
              </a:buClr>
              <a:buSzPts val="950"/>
              <a:buFont typeface="Calibri"/>
              <a:buNone/>
            </a:pPr>
            <a:r>
              <a:rPr lang="en-GB" sz="950" b="0" i="1" u="none" strike="noStrike" cap="none">
                <a:solidFill>
                  <a:srgbClr val="7A9CC0"/>
                </a:solidFill>
                <a:latin typeface="Calibri"/>
                <a:ea typeface="Calibri"/>
                <a:cs typeface="Calibri"/>
                <a:sym typeface="Calibri"/>
              </a:rPr>
              <a:t>xᵢ = input  |  wᵢ = weight  |  y = output (= target)</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161"/>
        <p:cNvGrpSpPr/>
        <p:nvPr/>
      </p:nvGrpSpPr>
      <p:grpSpPr>
        <a:xfrm>
          <a:off x="0" y="0"/>
          <a:ext cx="0" cy="0"/>
          <a:chOff x="0" y="0"/>
          <a:chExt cx="0" cy="0"/>
        </a:xfrm>
      </p:grpSpPr>
      <p:sp>
        <p:nvSpPr>
          <p:cNvPr id="162" name="Google Shape;162;p19"/>
          <p:cNvSpPr/>
          <p:nvPr/>
        </p:nvSpPr>
        <p:spPr>
          <a:xfrm>
            <a:off x="0" y="0"/>
            <a:ext cx="9144000" cy="73152"/>
          </a:xfrm>
          <a:prstGeom prst="rect">
            <a:avLst/>
          </a:prstGeom>
          <a:solidFill>
            <a:srgbClr val="00C9A7"/>
          </a:solidFill>
          <a:ln w="12700" cap="flat" cmpd="sng">
            <a:solidFill>
              <a:srgbClr val="00C9A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9"/>
          <p:cNvSpPr/>
          <p:nvPr/>
        </p:nvSpPr>
        <p:spPr>
          <a:xfrm>
            <a:off x="365760" y="164592"/>
            <a:ext cx="82296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400"/>
              <a:buFont typeface="Calibri"/>
              <a:buNone/>
            </a:pPr>
            <a:r>
              <a:rPr lang="en-GB" sz="2400" b="1" i="0" u="none" strike="noStrike" cap="none">
                <a:solidFill>
                  <a:srgbClr val="FFFFFF"/>
                </a:solidFill>
                <a:latin typeface="Calibri"/>
                <a:ea typeface="Calibri"/>
                <a:cs typeface="Calibri"/>
                <a:sym typeface="Calibri"/>
              </a:rPr>
              <a:t>Hebbian Learning — Algorithm</a:t>
            </a:r>
            <a:endParaRPr sz="2400" b="0" i="0" u="none" strike="noStrike" cap="none">
              <a:solidFill>
                <a:schemeClr val="dk1"/>
              </a:solidFill>
              <a:latin typeface="Calibri"/>
              <a:ea typeface="Calibri"/>
              <a:cs typeface="Calibri"/>
              <a:sym typeface="Calibri"/>
            </a:endParaRPr>
          </a:p>
        </p:txBody>
      </p:sp>
      <p:sp>
        <p:nvSpPr>
          <p:cNvPr id="164" name="Google Shape;164;p19"/>
          <p:cNvSpPr/>
          <p:nvPr/>
        </p:nvSpPr>
        <p:spPr>
          <a:xfrm>
            <a:off x="274320" y="914400"/>
            <a:ext cx="4114800" cy="1645920"/>
          </a:xfrm>
          <a:prstGeom prst="rect">
            <a:avLst/>
          </a:prstGeom>
          <a:solidFill>
            <a:srgbClr val="162A4A"/>
          </a:solidFill>
          <a:ln w="19050" cap="flat" cmpd="sng">
            <a:solidFill>
              <a:srgbClr val="00C9A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9"/>
          <p:cNvSpPr/>
          <p:nvPr/>
        </p:nvSpPr>
        <p:spPr>
          <a:xfrm>
            <a:off x="274320" y="914400"/>
            <a:ext cx="960120" cy="1645920"/>
          </a:xfrm>
          <a:prstGeom prst="rect">
            <a:avLst/>
          </a:prstGeom>
          <a:solidFill>
            <a:srgbClr val="00C9A7">
              <a:alpha val="85098"/>
            </a:srgbClr>
          </a:solidFill>
          <a:ln w="12700" cap="flat" cmpd="sng">
            <a:solidFill>
              <a:srgbClr val="00C9A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9"/>
          <p:cNvSpPr/>
          <p:nvPr/>
        </p:nvSpPr>
        <p:spPr>
          <a:xfrm>
            <a:off x="274320" y="914400"/>
            <a:ext cx="960120" cy="1645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628"/>
              </a:buClr>
              <a:buSzPts val="1100"/>
              <a:buFont typeface="Calibri"/>
              <a:buNone/>
            </a:pPr>
            <a:r>
              <a:rPr lang="en-GB" sz="1100" b="1" i="0" u="none" strike="noStrike" cap="none">
                <a:solidFill>
                  <a:srgbClr val="0A1628"/>
                </a:solidFill>
                <a:latin typeface="Calibri"/>
                <a:ea typeface="Calibri"/>
                <a:cs typeface="Calibri"/>
                <a:sym typeface="Calibri"/>
              </a:rPr>
              <a:t>STEP 1</a:t>
            </a:r>
            <a:endParaRPr sz="1100" b="0" i="0" u="none" strike="noStrike" cap="none">
              <a:solidFill>
                <a:schemeClr val="dk1"/>
              </a:solidFill>
              <a:latin typeface="Calibri"/>
              <a:ea typeface="Calibri"/>
              <a:cs typeface="Calibri"/>
              <a:sym typeface="Calibri"/>
            </a:endParaRPr>
          </a:p>
        </p:txBody>
      </p:sp>
      <p:sp>
        <p:nvSpPr>
          <p:cNvPr id="167" name="Google Shape;167;p19"/>
          <p:cNvSpPr/>
          <p:nvPr/>
        </p:nvSpPr>
        <p:spPr>
          <a:xfrm>
            <a:off x="1280160" y="1005840"/>
            <a:ext cx="301752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9A7"/>
              </a:buClr>
              <a:buSzPts val="1300"/>
              <a:buFont typeface="Calibri"/>
              <a:buNone/>
            </a:pPr>
            <a:r>
              <a:rPr lang="en-GB" sz="1300" b="1" i="0" u="none" strike="noStrike" cap="none">
                <a:solidFill>
                  <a:srgbClr val="00C9A7"/>
                </a:solidFill>
                <a:latin typeface="Calibri"/>
                <a:ea typeface="Calibri"/>
                <a:cs typeface="Calibri"/>
                <a:sym typeface="Calibri"/>
              </a:rPr>
              <a:t>Initialize</a:t>
            </a:r>
            <a:endParaRPr sz="1300" b="0" i="0" u="none" strike="noStrike" cap="none">
              <a:solidFill>
                <a:schemeClr val="dk1"/>
              </a:solidFill>
              <a:latin typeface="Calibri"/>
              <a:ea typeface="Calibri"/>
              <a:cs typeface="Calibri"/>
              <a:sym typeface="Calibri"/>
            </a:endParaRPr>
          </a:p>
        </p:txBody>
      </p:sp>
      <p:sp>
        <p:nvSpPr>
          <p:cNvPr id="168" name="Google Shape;168;p19"/>
          <p:cNvSpPr/>
          <p:nvPr/>
        </p:nvSpPr>
        <p:spPr>
          <a:xfrm>
            <a:off x="1280160" y="1371600"/>
            <a:ext cx="3017520" cy="10972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B8D4F0"/>
              </a:buClr>
              <a:buSzPts val="1150"/>
              <a:buFont typeface="Calibri"/>
              <a:buNone/>
            </a:pPr>
            <a:r>
              <a:rPr lang="en-GB" sz="1150" b="0" i="0" u="none" strike="noStrike" cap="none">
                <a:solidFill>
                  <a:srgbClr val="B8D4F0"/>
                </a:solidFill>
                <a:latin typeface="Calibri"/>
                <a:ea typeface="Calibri"/>
                <a:cs typeface="Calibri"/>
                <a:sym typeface="Calibri"/>
              </a:rPr>
              <a:t>Set all weights wᵢ = 0 for i = 1 to n</a:t>
            </a:r>
            <a:endParaRPr sz="11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B8D4F0"/>
              </a:buClr>
              <a:buSzPts val="1150"/>
              <a:buFont typeface="Calibri"/>
              <a:buNone/>
            </a:pPr>
            <a:r>
              <a:rPr lang="en-GB" sz="1150" b="0" i="0" u="none" strike="noStrike" cap="none">
                <a:solidFill>
                  <a:srgbClr val="B8D4F0"/>
                </a:solidFill>
                <a:latin typeface="Calibri"/>
                <a:ea typeface="Calibri"/>
                <a:cs typeface="Calibri"/>
                <a:sym typeface="Calibri"/>
              </a:rPr>
              <a:t>Set bias b = 0</a:t>
            </a:r>
            <a:endParaRPr sz="1150" b="0" i="0" u="none" strike="noStrike" cap="none">
              <a:solidFill>
                <a:schemeClr val="dk1"/>
              </a:solidFill>
              <a:latin typeface="Calibri"/>
              <a:ea typeface="Calibri"/>
              <a:cs typeface="Calibri"/>
              <a:sym typeface="Calibri"/>
            </a:endParaRPr>
          </a:p>
        </p:txBody>
      </p:sp>
      <p:sp>
        <p:nvSpPr>
          <p:cNvPr id="169" name="Google Shape;169;p19"/>
          <p:cNvSpPr/>
          <p:nvPr/>
        </p:nvSpPr>
        <p:spPr>
          <a:xfrm>
            <a:off x="4709160" y="914400"/>
            <a:ext cx="4114800" cy="1645920"/>
          </a:xfrm>
          <a:prstGeom prst="rect">
            <a:avLst/>
          </a:prstGeom>
          <a:solidFill>
            <a:srgbClr val="162A4A"/>
          </a:solidFill>
          <a:ln w="19050" cap="flat" cmpd="sng">
            <a:solidFill>
              <a:srgbClr val="00C9A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9"/>
          <p:cNvSpPr/>
          <p:nvPr/>
        </p:nvSpPr>
        <p:spPr>
          <a:xfrm>
            <a:off x="4709160" y="914400"/>
            <a:ext cx="960120" cy="1645920"/>
          </a:xfrm>
          <a:prstGeom prst="rect">
            <a:avLst/>
          </a:prstGeom>
          <a:solidFill>
            <a:srgbClr val="00C9A7">
              <a:alpha val="85098"/>
            </a:srgbClr>
          </a:solidFill>
          <a:ln w="12700" cap="flat" cmpd="sng">
            <a:solidFill>
              <a:srgbClr val="00C9A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9"/>
          <p:cNvSpPr/>
          <p:nvPr/>
        </p:nvSpPr>
        <p:spPr>
          <a:xfrm>
            <a:off x="4709160" y="914400"/>
            <a:ext cx="960120" cy="1645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628"/>
              </a:buClr>
              <a:buSzPts val="1100"/>
              <a:buFont typeface="Calibri"/>
              <a:buNone/>
            </a:pPr>
            <a:r>
              <a:rPr lang="en-GB" sz="1100" b="1" i="0" u="none" strike="noStrike" cap="none">
                <a:solidFill>
                  <a:srgbClr val="0A1628"/>
                </a:solidFill>
                <a:latin typeface="Calibri"/>
                <a:ea typeface="Calibri"/>
                <a:cs typeface="Calibri"/>
                <a:sym typeface="Calibri"/>
              </a:rPr>
              <a:t>STEP 2</a:t>
            </a:r>
            <a:endParaRPr sz="1100" b="0" i="0" u="none" strike="noStrike" cap="none">
              <a:solidFill>
                <a:schemeClr val="dk1"/>
              </a:solidFill>
              <a:latin typeface="Calibri"/>
              <a:ea typeface="Calibri"/>
              <a:cs typeface="Calibri"/>
              <a:sym typeface="Calibri"/>
            </a:endParaRPr>
          </a:p>
        </p:txBody>
      </p:sp>
      <p:sp>
        <p:nvSpPr>
          <p:cNvPr id="172" name="Google Shape;172;p19"/>
          <p:cNvSpPr/>
          <p:nvPr/>
        </p:nvSpPr>
        <p:spPr>
          <a:xfrm>
            <a:off x="5715000" y="1005840"/>
            <a:ext cx="301752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9A7"/>
              </a:buClr>
              <a:buSzPts val="1300"/>
              <a:buFont typeface="Calibri"/>
              <a:buNone/>
            </a:pPr>
            <a:r>
              <a:rPr lang="en-GB" sz="1300" b="1" i="0" u="none" strike="noStrike" cap="none">
                <a:solidFill>
                  <a:srgbClr val="00C9A7"/>
                </a:solidFill>
                <a:latin typeface="Calibri"/>
                <a:ea typeface="Calibri"/>
                <a:cs typeface="Calibri"/>
                <a:sym typeface="Calibri"/>
              </a:rPr>
              <a:t>Set Inputs</a:t>
            </a:r>
            <a:endParaRPr sz="1300" b="0" i="0" u="none" strike="noStrike" cap="none">
              <a:solidFill>
                <a:schemeClr val="dk1"/>
              </a:solidFill>
              <a:latin typeface="Calibri"/>
              <a:ea typeface="Calibri"/>
              <a:cs typeface="Calibri"/>
              <a:sym typeface="Calibri"/>
            </a:endParaRPr>
          </a:p>
        </p:txBody>
      </p:sp>
      <p:sp>
        <p:nvSpPr>
          <p:cNvPr id="173" name="Google Shape;173;p19"/>
          <p:cNvSpPr/>
          <p:nvPr/>
        </p:nvSpPr>
        <p:spPr>
          <a:xfrm>
            <a:off x="5715000" y="1371600"/>
            <a:ext cx="3017520" cy="10972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B8D4F0"/>
              </a:buClr>
              <a:buSzPts val="1150"/>
              <a:buFont typeface="Calibri"/>
              <a:buNone/>
            </a:pPr>
            <a:r>
              <a:rPr lang="en-GB" sz="1150" b="0" i="0" u="none" strike="noStrike" cap="none">
                <a:solidFill>
                  <a:srgbClr val="B8D4F0"/>
                </a:solidFill>
                <a:latin typeface="Calibri"/>
                <a:ea typeface="Calibri"/>
                <a:cs typeface="Calibri"/>
                <a:sym typeface="Calibri"/>
              </a:rPr>
              <a:t>For each training pair (S, t):</a:t>
            </a:r>
            <a:endParaRPr sz="11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B8D4F0"/>
              </a:buClr>
              <a:buSzPts val="1150"/>
              <a:buFont typeface="Calibri"/>
              <a:buNone/>
            </a:pPr>
            <a:r>
              <a:rPr lang="en-GB" sz="1150" b="0" i="0" u="none" strike="noStrike" cap="none">
                <a:solidFill>
                  <a:srgbClr val="B8D4F0"/>
                </a:solidFill>
                <a:latin typeface="Calibri"/>
                <a:ea typeface="Calibri"/>
                <a:cs typeface="Calibri"/>
                <a:sym typeface="Calibri"/>
              </a:rPr>
              <a:t>Activate input units: Xᵢ = Sᵢ for i = 1 to n</a:t>
            </a:r>
            <a:endParaRPr sz="1150" b="0" i="0" u="none" strike="noStrike" cap="none">
              <a:solidFill>
                <a:schemeClr val="dk1"/>
              </a:solidFill>
              <a:latin typeface="Calibri"/>
              <a:ea typeface="Calibri"/>
              <a:cs typeface="Calibri"/>
              <a:sym typeface="Calibri"/>
            </a:endParaRPr>
          </a:p>
        </p:txBody>
      </p:sp>
      <p:sp>
        <p:nvSpPr>
          <p:cNvPr id="174" name="Google Shape;174;p19"/>
          <p:cNvSpPr/>
          <p:nvPr/>
        </p:nvSpPr>
        <p:spPr>
          <a:xfrm>
            <a:off x="274320" y="2743200"/>
            <a:ext cx="4114800" cy="1645920"/>
          </a:xfrm>
          <a:prstGeom prst="rect">
            <a:avLst/>
          </a:prstGeom>
          <a:solidFill>
            <a:srgbClr val="162A4A"/>
          </a:solidFill>
          <a:ln w="19050" cap="flat" cmpd="sng">
            <a:solidFill>
              <a:srgbClr val="00C9A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9"/>
          <p:cNvSpPr/>
          <p:nvPr/>
        </p:nvSpPr>
        <p:spPr>
          <a:xfrm>
            <a:off x="274320" y="2743200"/>
            <a:ext cx="960120" cy="1645920"/>
          </a:xfrm>
          <a:prstGeom prst="rect">
            <a:avLst/>
          </a:prstGeom>
          <a:solidFill>
            <a:srgbClr val="00C9A7">
              <a:alpha val="85098"/>
            </a:srgbClr>
          </a:solidFill>
          <a:ln w="12700" cap="flat" cmpd="sng">
            <a:solidFill>
              <a:srgbClr val="00C9A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9"/>
          <p:cNvSpPr/>
          <p:nvPr/>
        </p:nvSpPr>
        <p:spPr>
          <a:xfrm>
            <a:off x="274320" y="2743200"/>
            <a:ext cx="960120" cy="1645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628"/>
              </a:buClr>
              <a:buSzPts val="1100"/>
              <a:buFont typeface="Calibri"/>
              <a:buNone/>
            </a:pPr>
            <a:r>
              <a:rPr lang="en-GB" sz="1100" b="1" i="0" u="none" strike="noStrike" cap="none">
                <a:solidFill>
                  <a:srgbClr val="0A1628"/>
                </a:solidFill>
                <a:latin typeface="Calibri"/>
                <a:ea typeface="Calibri"/>
                <a:cs typeface="Calibri"/>
                <a:sym typeface="Calibri"/>
              </a:rPr>
              <a:t>STEP 3</a:t>
            </a:r>
            <a:endParaRPr sz="1100" b="0" i="0" u="none" strike="noStrike" cap="none">
              <a:solidFill>
                <a:schemeClr val="dk1"/>
              </a:solidFill>
              <a:latin typeface="Calibri"/>
              <a:ea typeface="Calibri"/>
              <a:cs typeface="Calibri"/>
              <a:sym typeface="Calibri"/>
            </a:endParaRPr>
          </a:p>
        </p:txBody>
      </p:sp>
      <p:sp>
        <p:nvSpPr>
          <p:cNvPr id="177" name="Google Shape;177;p19"/>
          <p:cNvSpPr/>
          <p:nvPr/>
        </p:nvSpPr>
        <p:spPr>
          <a:xfrm>
            <a:off x="1280160" y="2834640"/>
            <a:ext cx="301752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9A7"/>
              </a:buClr>
              <a:buSzPts val="1300"/>
              <a:buFont typeface="Calibri"/>
              <a:buNone/>
            </a:pPr>
            <a:r>
              <a:rPr lang="en-GB" sz="1300" b="1" i="0" u="none" strike="noStrike" cap="none">
                <a:solidFill>
                  <a:srgbClr val="00C9A7"/>
                </a:solidFill>
                <a:latin typeface="Calibri"/>
                <a:ea typeface="Calibri"/>
                <a:cs typeface="Calibri"/>
                <a:sym typeface="Calibri"/>
              </a:rPr>
              <a:t>Set Output</a:t>
            </a:r>
            <a:endParaRPr sz="1300" b="0" i="0" u="none" strike="noStrike" cap="none">
              <a:solidFill>
                <a:schemeClr val="dk1"/>
              </a:solidFill>
              <a:latin typeface="Calibri"/>
              <a:ea typeface="Calibri"/>
              <a:cs typeface="Calibri"/>
              <a:sym typeface="Calibri"/>
            </a:endParaRPr>
          </a:p>
        </p:txBody>
      </p:sp>
      <p:sp>
        <p:nvSpPr>
          <p:cNvPr id="178" name="Google Shape;178;p19"/>
          <p:cNvSpPr/>
          <p:nvPr/>
        </p:nvSpPr>
        <p:spPr>
          <a:xfrm>
            <a:off x="1280160" y="3200400"/>
            <a:ext cx="3017520" cy="10972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B8D4F0"/>
              </a:buClr>
              <a:buSzPts val="1150"/>
              <a:buFont typeface="Calibri"/>
              <a:buNone/>
            </a:pPr>
            <a:r>
              <a:rPr lang="en-GB" sz="1150" b="0" i="0" u="none" strike="noStrike" cap="none">
                <a:solidFill>
                  <a:srgbClr val="B8D4F0"/>
                </a:solidFill>
                <a:latin typeface="Calibri"/>
                <a:ea typeface="Calibri"/>
                <a:cs typeface="Calibri"/>
                <a:sym typeface="Calibri"/>
              </a:rPr>
              <a:t>Set the output neuron's activation to the target value:</a:t>
            </a:r>
            <a:endParaRPr sz="11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B8D4F0"/>
              </a:buClr>
              <a:buSzPts val="1150"/>
              <a:buFont typeface="Calibri"/>
              <a:buNone/>
            </a:pPr>
            <a:r>
              <a:rPr lang="en-GB" sz="1150" b="0" i="0" u="none" strike="noStrike" cap="none">
                <a:solidFill>
                  <a:srgbClr val="B8D4F0"/>
                </a:solidFill>
                <a:latin typeface="Calibri"/>
                <a:ea typeface="Calibri"/>
                <a:cs typeface="Calibri"/>
                <a:sym typeface="Calibri"/>
              </a:rPr>
              <a:t>y = t</a:t>
            </a:r>
            <a:endParaRPr sz="1150" b="0" i="0" u="none" strike="noStrike" cap="none">
              <a:solidFill>
                <a:schemeClr val="dk1"/>
              </a:solidFill>
              <a:latin typeface="Calibri"/>
              <a:ea typeface="Calibri"/>
              <a:cs typeface="Calibri"/>
              <a:sym typeface="Calibri"/>
            </a:endParaRPr>
          </a:p>
        </p:txBody>
      </p:sp>
      <p:sp>
        <p:nvSpPr>
          <p:cNvPr id="179" name="Google Shape;179;p19"/>
          <p:cNvSpPr/>
          <p:nvPr/>
        </p:nvSpPr>
        <p:spPr>
          <a:xfrm>
            <a:off x="4709160" y="2743200"/>
            <a:ext cx="4114800" cy="1645920"/>
          </a:xfrm>
          <a:prstGeom prst="rect">
            <a:avLst/>
          </a:prstGeom>
          <a:solidFill>
            <a:srgbClr val="162A4A"/>
          </a:solidFill>
          <a:ln w="19050" cap="flat" cmpd="sng">
            <a:solidFill>
              <a:srgbClr val="00C9A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9"/>
          <p:cNvSpPr/>
          <p:nvPr/>
        </p:nvSpPr>
        <p:spPr>
          <a:xfrm>
            <a:off x="4709160" y="2743200"/>
            <a:ext cx="960120" cy="1645920"/>
          </a:xfrm>
          <a:prstGeom prst="rect">
            <a:avLst/>
          </a:prstGeom>
          <a:solidFill>
            <a:srgbClr val="00C9A7">
              <a:alpha val="85098"/>
            </a:srgbClr>
          </a:solidFill>
          <a:ln w="12700" cap="flat" cmpd="sng">
            <a:solidFill>
              <a:srgbClr val="00C9A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9"/>
          <p:cNvSpPr/>
          <p:nvPr/>
        </p:nvSpPr>
        <p:spPr>
          <a:xfrm>
            <a:off x="4709160" y="2743200"/>
            <a:ext cx="960120" cy="1645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628"/>
              </a:buClr>
              <a:buSzPts val="1100"/>
              <a:buFont typeface="Calibri"/>
              <a:buNone/>
            </a:pPr>
            <a:r>
              <a:rPr lang="en-GB" sz="1100" b="1" i="0" u="none" strike="noStrike" cap="none">
                <a:solidFill>
                  <a:srgbClr val="0A1628"/>
                </a:solidFill>
                <a:latin typeface="Calibri"/>
                <a:ea typeface="Calibri"/>
                <a:cs typeface="Calibri"/>
                <a:sym typeface="Calibri"/>
              </a:rPr>
              <a:t>STEP 4</a:t>
            </a:r>
            <a:endParaRPr sz="1100" b="0" i="0" u="none" strike="noStrike" cap="none">
              <a:solidFill>
                <a:schemeClr val="dk1"/>
              </a:solidFill>
              <a:latin typeface="Calibri"/>
              <a:ea typeface="Calibri"/>
              <a:cs typeface="Calibri"/>
              <a:sym typeface="Calibri"/>
            </a:endParaRPr>
          </a:p>
        </p:txBody>
      </p:sp>
      <p:sp>
        <p:nvSpPr>
          <p:cNvPr id="182" name="Google Shape;182;p19"/>
          <p:cNvSpPr/>
          <p:nvPr/>
        </p:nvSpPr>
        <p:spPr>
          <a:xfrm>
            <a:off x="5715000" y="2834640"/>
            <a:ext cx="301752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9A7"/>
              </a:buClr>
              <a:buSzPts val="1300"/>
              <a:buFont typeface="Calibri"/>
              <a:buNone/>
            </a:pPr>
            <a:r>
              <a:rPr lang="en-GB" sz="1300" b="1" i="0" u="none" strike="noStrike" cap="none">
                <a:solidFill>
                  <a:srgbClr val="00C9A7"/>
                </a:solidFill>
                <a:latin typeface="Calibri"/>
                <a:ea typeface="Calibri"/>
                <a:cs typeface="Calibri"/>
                <a:sym typeface="Calibri"/>
              </a:rPr>
              <a:t>Update Weights</a:t>
            </a:r>
            <a:endParaRPr sz="1300" b="0" i="0" u="none" strike="noStrike" cap="none">
              <a:solidFill>
                <a:schemeClr val="dk1"/>
              </a:solidFill>
              <a:latin typeface="Calibri"/>
              <a:ea typeface="Calibri"/>
              <a:cs typeface="Calibri"/>
              <a:sym typeface="Calibri"/>
            </a:endParaRPr>
          </a:p>
        </p:txBody>
      </p:sp>
      <p:sp>
        <p:nvSpPr>
          <p:cNvPr id="183" name="Google Shape;183;p19"/>
          <p:cNvSpPr/>
          <p:nvPr/>
        </p:nvSpPr>
        <p:spPr>
          <a:xfrm>
            <a:off x="5715000" y="3200400"/>
            <a:ext cx="3017520" cy="10972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B8D4F0"/>
              </a:buClr>
              <a:buSzPts val="1150"/>
              <a:buFont typeface="Calibri"/>
              <a:buNone/>
            </a:pPr>
            <a:r>
              <a:rPr lang="en-GB" sz="1150" b="0" i="0" u="none" strike="noStrike" cap="none">
                <a:solidFill>
                  <a:srgbClr val="B8D4F0"/>
                </a:solidFill>
                <a:latin typeface="Calibri"/>
                <a:ea typeface="Calibri"/>
                <a:cs typeface="Calibri"/>
                <a:sym typeface="Calibri"/>
              </a:rPr>
              <a:t>Apply Hebb rule for all i = 1 to n:</a:t>
            </a:r>
            <a:endParaRPr sz="11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B8D4F0"/>
              </a:buClr>
              <a:buSzPts val="1150"/>
              <a:buFont typeface="Calibri"/>
              <a:buNone/>
            </a:pPr>
            <a:r>
              <a:rPr lang="en-GB" sz="1150" b="0" i="0" u="none" strike="noStrike" cap="none">
                <a:solidFill>
                  <a:srgbClr val="B8D4F0"/>
                </a:solidFill>
                <a:latin typeface="Calibri"/>
                <a:ea typeface="Calibri"/>
                <a:cs typeface="Calibri"/>
                <a:sym typeface="Calibri"/>
              </a:rPr>
              <a:t>wᵢ(new) = wᵢ(old) + xᵢ · y</a:t>
            </a:r>
            <a:endParaRPr sz="11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B8D4F0"/>
              </a:buClr>
              <a:buSzPts val="1150"/>
              <a:buFont typeface="Calibri"/>
              <a:buNone/>
            </a:pPr>
            <a:r>
              <a:rPr lang="en-GB" sz="1150" b="0" i="0" u="none" strike="noStrike" cap="none">
                <a:solidFill>
                  <a:srgbClr val="B8D4F0"/>
                </a:solidFill>
                <a:latin typeface="Calibri"/>
                <a:ea typeface="Calibri"/>
                <a:cs typeface="Calibri"/>
                <a:sym typeface="Calibri"/>
              </a:rPr>
              <a:t>b(new) = b(old) + y</a:t>
            </a:r>
            <a:endParaRPr sz="1150" b="0" i="0" u="none" strike="noStrike" cap="none">
              <a:solidFill>
                <a:schemeClr val="dk1"/>
              </a:solidFill>
              <a:latin typeface="Calibri"/>
              <a:ea typeface="Calibri"/>
              <a:cs typeface="Calibri"/>
              <a:sym typeface="Calibri"/>
            </a:endParaRPr>
          </a:p>
        </p:txBody>
      </p:sp>
      <p:cxnSp>
        <p:nvCxnSpPr>
          <p:cNvPr id="184" name="Google Shape;184;p19"/>
          <p:cNvCxnSpPr/>
          <p:nvPr/>
        </p:nvCxnSpPr>
        <p:spPr>
          <a:xfrm>
            <a:off x="4480560" y="2103120"/>
            <a:ext cx="182880" cy="0"/>
          </a:xfrm>
          <a:prstGeom prst="straightConnector1">
            <a:avLst/>
          </a:prstGeom>
          <a:noFill/>
          <a:ln w="25400" cap="flat" cmpd="sng">
            <a:solidFill>
              <a:srgbClr val="00C9A7"/>
            </a:solidFill>
            <a:prstDash val="solid"/>
            <a:round/>
            <a:headEnd type="none" w="sm" len="sm"/>
            <a:tailEnd type="none" w="sm" len="sm"/>
          </a:ln>
        </p:spPr>
      </p:cxn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189"/>
        <p:cNvGrpSpPr/>
        <p:nvPr/>
      </p:nvGrpSpPr>
      <p:grpSpPr>
        <a:xfrm>
          <a:off x="0" y="0"/>
          <a:ext cx="0" cy="0"/>
          <a:chOff x="0" y="0"/>
          <a:chExt cx="0" cy="0"/>
        </a:xfrm>
      </p:grpSpPr>
      <p:sp>
        <p:nvSpPr>
          <p:cNvPr id="190" name="Google Shape;190;p20"/>
          <p:cNvSpPr/>
          <p:nvPr/>
        </p:nvSpPr>
        <p:spPr>
          <a:xfrm>
            <a:off x="0" y="0"/>
            <a:ext cx="9144000" cy="73152"/>
          </a:xfrm>
          <a:prstGeom prst="rect">
            <a:avLst/>
          </a:prstGeom>
          <a:solidFill>
            <a:srgbClr val="00C9A7"/>
          </a:solidFill>
          <a:ln w="12700" cap="flat" cmpd="sng">
            <a:solidFill>
              <a:srgbClr val="00C9A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0"/>
          <p:cNvSpPr/>
          <p:nvPr/>
        </p:nvSpPr>
        <p:spPr>
          <a:xfrm>
            <a:off x="365760" y="164592"/>
            <a:ext cx="82296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200"/>
              <a:buFont typeface="Calibri"/>
              <a:buNone/>
            </a:pPr>
            <a:r>
              <a:rPr lang="en-GB" sz="2200" b="1" i="0" u="none" strike="noStrike" cap="none">
                <a:solidFill>
                  <a:srgbClr val="FFFFFF"/>
                </a:solidFill>
                <a:latin typeface="Calibri"/>
                <a:ea typeface="Calibri"/>
                <a:cs typeface="Calibri"/>
                <a:sym typeface="Calibri"/>
              </a:rPr>
              <a:t>Hebbian Learning — Example: AND Function</a:t>
            </a:r>
            <a:endParaRPr sz="2200" b="0" i="0" u="none" strike="noStrike" cap="none">
              <a:solidFill>
                <a:schemeClr val="dk1"/>
              </a:solidFill>
              <a:latin typeface="Calibri"/>
              <a:ea typeface="Calibri"/>
              <a:cs typeface="Calibri"/>
              <a:sym typeface="Calibri"/>
            </a:endParaRPr>
          </a:p>
        </p:txBody>
      </p:sp>
      <p:sp>
        <p:nvSpPr>
          <p:cNvPr id="195" name="Google Shape;195;p20"/>
          <p:cNvSpPr/>
          <p:nvPr/>
        </p:nvSpPr>
        <p:spPr>
          <a:xfrm>
            <a:off x="261310" y="713232"/>
            <a:ext cx="8516930" cy="3977640"/>
          </a:xfrm>
          <a:prstGeom prst="rect">
            <a:avLst/>
          </a:prstGeom>
          <a:solidFill>
            <a:srgbClr val="162A4A"/>
          </a:solidFill>
          <a:ln w="12700" cap="flat" cmpd="sng">
            <a:solidFill>
              <a:srgbClr val="1E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 name="Google Shape;196;p20"/>
          <p:cNvSpPr/>
          <p:nvPr/>
        </p:nvSpPr>
        <p:spPr>
          <a:xfrm>
            <a:off x="365760" y="787734"/>
            <a:ext cx="7975352" cy="474137"/>
          </a:xfrm>
          <a:prstGeom prst="rect">
            <a:avLst/>
          </a:prstGeom>
          <a:noFill/>
          <a:ln>
            <a:noFill/>
          </a:ln>
        </p:spPr>
        <p:txBody>
          <a:bodyPr spcFirstLastPara="1" wrap="square" lIns="91425" tIns="45700" rIns="91425" bIns="45700" anchor="ctr" anchorCtr="0">
            <a:noAutofit/>
          </a:bodyPr>
          <a:lstStyle/>
          <a:p>
            <a:pPr marL="0" marR="0" lvl="0" indent="0" rtl="0">
              <a:spcBef>
                <a:spcPts val="0"/>
              </a:spcBef>
              <a:spcAft>
                <a:spcPts val="0"/>
              </a:spcAft>
              <a:buClr>
                <a:srgbClr val="00C9A7"/>
              </a:buClr>
              <a:buSzPts val="1300"/>
              <a:buFont typeface="Calibri"/>
              <a:buNone/>
            </a:pPr>
            <a:r>
              <a:rPr lang="en-US" sz="1600" dirty="0">
                <a:solidFill>
                  <a:schemeClr val="dk1"/>
                </a:solidFill>
                <a:highlight>
                  <a:srgbClr val="00FF00"/>
                </a:highlight>
                <a:latin typeface="Calibri"/>
                <a:ea typeface="Calibri"/>
                <a:cs typeface="Calibri"/>
                <a:sym typeface="Calibri"/>
              </a:rPr>
              <a:t>Construct a Hebb Net which performs like an AND function. Use bipolar inputs and targets</a:t>
            </a:r>
            <a:endParaRPr sz="1600" b="0" i="0" u="none" strike="noStrike" cap="none" dirty="0">
              <a:solidFill>
                <a:schemeClr val="dk1"/>
              </a:solidFill>
              <a:highlight>
                <a:srgbClr val="00FF00"/>
              </a:highlight>
              <a:latin typeface="Calibri"/>
              <a:ea typeface="Calibri"/>
              <a:cs typeface="Calibri"/>
              <a:sym typeface="Calibri"/>
            </a:endParaRPr>
          </a:p>
        </p:txBody>
      </p:sp>
      <p:grpSp>
        <p:nvGrpSpPr>
          <p:cNvPr id="6" name="Group 5">
            <a:extLst>
              <a:ext uri="{FF2B5EF4-FFF2-40B4-BE49-F238E27FC236}">
                <a16:creationId xmlns:a16="http://schemas.microsoft.com/office/drawing/2014/main" id="{FC576CAF-C830-8903-DD44-552EA8B2AED4}"/>
              </a:ext>
            </a:extLst>
          </p:cNvPr>
          <p:cNvGrpSpPr/>
          <p:nvPr/>
        </p:nvGrpSpPr>
        <p:grpSpPr>
          <a:xfrm>
            <a:off x="1655718" y="3648669"/>
            <a:ext cx="5040063" cy="1027559"/>
            <a:chOff x="1276576" y="2835785"/>
            <a:chExt cx="5040063" cy="785482"/>
          </a:xfrm>
        </p:grpSpPr>
        <p:sp>
          <p:nvSpPr>
            <p:cNvPr id="209" name="Google Shape;209;p20"/>
            <p:cNvSpPr/>
            <p:nvPr/>
          </p:nvSpPr>
          <p:spPr>
            <a:xfrm>
              <a:off x="1333159" y="2916126"/>
              <a:ext cx="4983480" cy="654989"/>
            </a:xfrm>
            <a:prstGeom prst="rect">
              <a:avLst/>
            </a:prstGeom>
            <a:solidFill>
              <a:srgbClr val="00C9A7">
                <a:alpha val="20000"/>
              </a:srgbClr>
            </a:solidFill>
            <a:ln w="25400" cap="flat" cmpd="sng">
              <a:solidFill>
                <a:srgbClr val="00C9A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 name="Google Shape;210;p20"/>
            <p:cNvSpPr/>
            <p:nvPr/>
          </p:nvSpPr>
          <p:spPr>
            <a:xfrm>
              <a:off x="1276576" y="2835785"/>
              <a:ext cx="4892040" cy="78548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9A7"/>
                </a:buClr>
                <a:buSzPts val="1100"/>
                <a:buFont typeface="Calibri"/>
                <a:buNone/>
              </a:pPr>
              <a:r>
                <a:rPr lang="en-GB" sz="1100" b="1" i="0" u="none" strike="noStrike" cap="none" dirty="0">
                  <a:solidFill>
                    <a:srgbClr val="00C9A7"/>
                  </a:solidFill>
                  <a:latin typeface="Calibri"/>
                  <a:ea typeface="Calibri"/>
                  <a:cs typeface="Calibri"/>
                  <a:sym typeface="Calibri"/>
                </a:rPr>
                <a:t>Final Weights:  w₁ = 2,  w₂ = 2,  b = -2    </a:t>
              </a:r>
            </a:p>
            <a:p>
              <a:pPr marL="0" marR="0" lvl="0" indent="0" algn="ctr" rtl="0">
                <a:spcBef>
                  <a:spcPts val="0"/>
                </a:spcBef>
                <a:spcAft>
                  <a:spcPts val="0"/>
                </a:spcAft>
                <a:buClr>
                  <a:srgbClr val="00C9A7"/>
                </a:buClr>
                <a:buSzPts val="1100"/>
                <a:buFont typeface="Calibri"/>
                <a:buNone/>
              </a:pPr>
              <a:r>
                <a:rPr lang="en-GB" sz="1100" b="1" dirty="0">
                  <a:solidFill>
                    <a:srgbClr val="00C9A7"/>
                  </a:solidFill>
                  <a:latin typeface="Calibri"/>
                  <a:ea typeface="Calibri"/>
                  <a:cs typeface="Calibri"/>
                  <a:sym typeface="Calibri"/>
                </a:rPr>
                <a:t>Y= b + x1 * w1 + x2 * w2</a:t>
              </a:r>
            </a:p>
            <a:p>
              <a:pPr marL="0" marR="0" lvl="0" indent="0" algn="ctr" rtl="0">
                <a:spcBef>
                  <a:spcPts val="0"/>
                </a:spcBef>
                <a:spcAft>
                  <a:spcPts val="0"/>
                </a:spcAft>
                <a:buClr>
                  <a:srgbClr val="00C9A7"/>
                </a:buClr>
                <a:buSzPts val="1100"/>
                <a:buFont typeface="Calibri"/>
                <a:buNone/>
              </a:pPr>
              <a:r>
                <a:rPr lang="en-GB" sz="1100" b="1" dirty="0">
                  <a:solidFill>
                    <a:srgbClr val="00C9A7"/>
                  </a:solidFill>
                  <a:latin typeface="Calibri"/>
                  <a:ea typeface="Calibri"/>
                  <a:cs typeface="Calibri"/>
                  <a:sym typeface="Calibri"/>
                </a:rPr>
                <a:t>For </a:t>
              </a:r>
              <a:r>
                <a:rPr lang="en-GB" sz="1100" b="1" dirty="0" err="1">
                  <a:solidFill>
                    <a:srgbClr val="00C9A7"/>
                  </a:solidFill>
                  <a:latin typeface="Calibri"/>
                  <a:ea typeface="Calibri"/>
                  <a:cs typeface="Calibri"/>
                  <a:sym typeface="Calibri"/>
                </a:rPr>
                <a:t>tp</a:t>
              </a:r>
              <a:r>
                <a:rPr lang="en-GB" sz="1100" b="1" dirty="0">
                  <a:solidFill>
                    <a:srgbClr val="00C9A7"/>
                  </a:solidFill>
                  <a:latin typeface="Calibri"/>
                  <a:ea typeface="Calibri"/>
                  <a:cs typeface="Calibri"/>
                  <a:sym typeface="Calibri"/>
                </a:rPr>
                <a:t> (1,1) : </a:t>
              </a:r>
              <a:r>
                <a:rPr lang="en-GB" sz="1100" b="1" i="0" u="none" strike="noStrike" cap="none" dirty="0">
                  <a:solidFill>
                    <a:srgbClr val="00C9A7"/>
                  </a:solidFill>
                  <a:latin typeface="Calibri"/>
                  <a:ea typeface="Calibri"/>
                  <a:cs typeface="Calibri"/>
                  <a:sym typeface="Calibri"/>
                </a:rPr>
                <a:t>Y= -2+(1*2)+(1*2) = 2 &gt; 0 (So AND gate verified)</a:t>
              </a:r>
              <a:endParaRPr sz="1100" b="0" i="0" u="none" strike="noStrike" cap="none" dirty="0">
                <a:solidFill>
                  <a:schemeClr val="dk1"/>
                </a:solidFill>
                <a:latin typeface="Calibri"/>
                <a:ea typeface="Calibri"/>
                <a:cs typeface="Calibri"/>
                <a:sym typeface="Calibri"/>
              </a:endParaRPr>
            </a:p>
          </p:txBody>
        </p:sp>
      </p:grpSp>
      <p:pic>
        <p:nvPicPr>
          <p:cNvPr id="5" name="Picture 4">
            <a:extLst>
              <a:ext uri="{FF2B5EF4-FFF2-40B4-BE49-F238E27FC236}">
                <a16:creationId xmlns:a16="http://schemas.microsoft.com/office/drawing/2014/main" id="{BA6A4F4C-FE9C-CB00-BF89-057F6045643F}"/>
              </a:ext>
            </a:extLst>
          </p:cNvPr>
          <p:cNvPicPr>
            <a:picLocks noChangeAspect="1"/>
          </p:cNvPicPr>
          <p:nvPr/>
        </p:nvPicPr>
        <p:blipFill>
          <a:blip r:embed="rId3"/>
          <a:stretch>
            <a:fillRect/>
          </a:stretch>
        </p:blipFill>
        <p:spPr>
          <a:xfrm>
            <a:off x="317892" y="1323041"/>
            <a:ext cx="8403765" cy="236956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24"/>
          <p:cNvSpPr/>
          <p:nvPr/>
        </p:nvSpPr>
        <p:spPr>
          <a:xfrm>
            <a:off x="0" y="0"/>
            <a:ext cx="9144000" cy="5143500"/>
          </a:xfrm>
          <a:prstGeom prst="rect">
            <a:avLst/>
          </a:prstGeom>
          <a:solidFill>
            <a:srgbClr val="080A0C"/>
          </a:solidFill>
          <a:ln w="12700" cap="flat" cmpd="sng">
            <a:solidFill>
              <a:srgbClr val="080A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4"/>
          <p:cNvSpPr/>
          <p:nvPr/>
        </p:nvSpPr>
        <p:spPr>
          <a:xfrm>
            <a:off x="0" y="2148840"/>
            <a:ext cx="9144000" cy="1097280"/>
          </a:xfrm>
          <a:prstGeom prst="rect">
            <a:avLst/>
          </a:prstGeom>
          <a:solidFill>
            <a:srgbClr val="FF7B54">
              <a:alpha val="10196"/>
            </a:srgbClr>
          </a:solidFill>
          <a:ln w="12700" cap="flat" cmpd="sng">
            <a:solidFill>
              <a:srgbClr val="FF7B5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4"/>
          <p:cNvSpPr/>
          <p:nvPr/>
        </p:nvSpPr>
        <p:spPr>
          <a:xfrm>
            <a:off x="457200" y="365760"/>
            <a:ext cx="8229600" cy="19202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7B54"/>
              </a:buClr>
              <a:buSzPts val="10000"/>
              <a:buFont typeface="Calibri"/>
              <a:buNone/>
            </a:pPr>
            <a:r>
              <a:rPr lang="en-GB" sz="10000" b="1" i="0" u="none" strike="noStrike" cap="none" dirty="0">
                <a:solidFill>
                  <a:srgbClr val="FF7B54"/>
                </a:solidFill>
                <a:latin typeface="Calibri"/>
                <a:ea typeface="Calibri"/>
                <a:cs typeface="Calibri"/>
                <a:sym typeface="Calibri"/>
              </a:rPr>
              <a:t>02</a:t>
            </a:r>
            <a:endParaRPr sz="10000" b="0" i="0" u="none" strike="noStrike" cap="none" dirty="0">
              <a:solidFill>
                <a:schemeClr val="dk1"/>
              </a:solidFill>
              <a:latin typeface="Calibri"/>
              <a:ea typeface="Calibri"/>
              <a:cs typeface="Calibri"/>
              <a:sym typeface="Calibri"/>
            </a:endParaRPr>
          </a:p>
        </p:txBody>
      </p:sp>
      <p:sp>
        <p:nvSpPr>
          <p:cNvPr id="303" name="Google Shape;303;p24"/>
          <p:cNvSpPr/>
          <p:nvPr/>
        </p:nvSpPr>
        <p:spPr>
          <a:xfrm>
            <a:off x="457200" y="2103120"/>
            <a:ext cx="8229600"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3600"/>
              <a:buFont typeface="Calibri"/>
              <a:buNone/>
            </a:pPr>
            <a:r>
              <a:rPr lang="en-GB" sz="3600" b="1" i="0" u="none" strike="noStrike" cap="none" dirty="0">
                <a:solidFill>
                  <a:srgbClr val="FFFFFF"/>
                </a:solidFill>
                <a:latin typeface="Calibri"/>
                <a:ea typeface="Calibri"/>
                <a:cs typeface="Calibri"/>
                <a:sym typeface="Calibri"/>
              </a:rPr>
              <a:t>Backpropagation Learning</a:t>
            </a:r>
            <a:endParaRPr sz="3600" b="0" i="0" u="none" strike="noStrike" cap="none" dirty="0">
              <a:solidFill>
                <a:schemeClr val="dk1"/>
              </a:solidFill>
              <a:latin typeface="Calibri"/>
              <a:ea typeface="Calibri"/>
              <a:cs typeface="Calibri"/>
              <a:sym typeface="Calibri"/>
            </a:endParaRPr>
          </a:p>
        </p:txBody>
      </p:sp>
      <p:sp>
        <p:nvSpPr>
          <p:cNvPr id="304" name="Google Shape;304;p24"/>
          <p:cNvSpPr/>
          <p:nvPr/>
        </p:nvSpPr>
        <p:spPr>
          <a:xfrm>
            <a:off x="457200" y="315468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7B54"/>
              </a:buClr>
              <a:buSzPts val="1400"/>
              <a:buFont typeface="Calibri"/>
              <a:buNone/>
            </a:pPr>
            <a:r>
              <a:rPr lang="en-GB" sz="1400" b="0" i="1" u="none" strike="noStrike" cap="none">
                <a:solidFill>
                  <a:srgbClr val="FF7B54"/>
                </a:solidFill>
                <a:latin typeface="Calibri"/>
                <a:ea typeface="Calibri"/>
                <a:cs typeface="Calibri"/>
                <a:sym typeface="Calibri"/>
              </a:rPr>
              <a:t>"Train multi-layer networks by propagating error backward through layers"</a:t>
            </a:r>
            <a:endParaRPr sz="1400" b="0" i="0" u="none" strike="noStrike" cap="none">
              <a:solidFill>
                <a:schemeClr val="dk1"/>
              </a:solidFill>
              <a:latin typeface="Calibri"/>
              <a:ea typeface="Calibri"/>
              <a:cs typeface="Calibri"/>
              <a:sym typeface="Calibri"/>
            </a:endParaRPr>
          </a:p>
        </p:txBody>
      </p:sp>
      <p:cxnSp>
        <p:nvCxnSpPr>
          <p:cNvPr id="305" name="Google Shape;305;p24"/>
          <p:cNvCxnSpPr/>
          <p:nvPr/>
        </p:nvCxnSpPr>
        <p:spPr>
          <a:xfrm>
            <a:off x="3200400" y="3840480"/>
            <a:ext cx="2743200" cy="0"/>
          </a:xfrm>
          <a:prstGeom prst="straightConnector1">
            <a:avLst/>
          </a:prstGeom>
          <a:noFill/>
          <a:ln w="25400" cap="flat" cmpd="sng">
            <a:solidFill>
              <a:srgbClr val="FF7B54"/>
            </a:solidFill>
            <a:prstDash val="solid"/>
            <a:round/>
            <a:headEnd type="none" w="sm" len="sm"/>
            <a:tailEnd type="none" w="sm" len="sm"/>
          </a:ln>
        </p:spPr>
      </p:cxnSp>
      <p:sp>
        <p:nvSpPr>
          <p:cNvPr id="306" name="Google Shape;306;p24"/>
          <p:cNvSpPr/>
          <p:nvPr/>
        </p:nvSpPr>
        <p:spPr>
          <a:xfrm>
            <a:off x="457200" y="402336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A9CC0"/>
              </a:buClr>
              <a:buSzPts val="1300"/>
              <a:buFont typeface="Calibri"/>
              <a:buNone/>
            </a:pPr>
            <a:r>
              <a:rPr lang="en-GB" sz="1300" b="0" i="0" u="none" strike="noStrike" cap="none">
                <a:solidFill>
                  <a:srgbClr val="7A9CC0"/>
                </a:solidFill>
                <a:latin typeface="Calibri"/>
                <a:ea typeface="Calibri"/>
                <a:cs typeface="Calibri"/>
                <a:sym typeface="Calibri"/>
              </a:rPr>
              <a:t>Supervised Learning with Gradient Descent</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5"/>
          <p:cNvSpPr/>
          <p:nvPr/>
        </p:nvSpPr>
        <p:spPr>
          <a:xfrm>
            <a:off x="0" y="0"/>
            <a:ext cx="9144000" cy="73152"/>
          </a:xfrm>
          <a:prstGeom prst="rect">
            <a:avLst/>
          </a:prstGeom>
          <a:solidFill>
            <a:srgbClr val="FF7B54"/>
          </a:solidFill>
          <a:ln w="12700" cap="flat" cmpd="sng">
            <a:solidFill>
              <a:srgbClr val="FF7B5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5"/>
          <p:cNvSpPr/>
          <p:nvPr/>
        </p:nvSpPr>
        <p:spPr>
          <a:xfrm>
            <a:off x="365760" y="164592"/>
            <a:ext cx="82296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400"/>
              <a:buFont typeface="Calibri"/>
              <a:buNone/>
            </a:pPr>
            <a:r>
              <a:rPr lang="en-GB" sz="2400" b="1" i="0" u="none" strike="noStrike" cap="none">
                <a:solidFill>
                  <a:srgbClr val="FFFFFF"/>
                </a:solidFill>
                <a:latin typeface="Calibri"/>
                <a:ea typeface="Calibri"/>
                <a:cs typeface="Calibri"/>
                <a:sym typeface="Calibri"/>
              </a:rPr>
              <a:t>Backpropagation — Architecture &amp; Concept</a:t>
            </a:r>
            <a:endParaRPr sz="2400" b="0" i="0" u="none" strike="noStrike" cap="none">
              <a:solidFill>
                <a:schemeClr val="dk1"/>
              </a:solidFill>
              <a:latin typeface="Calibri"/>
              <a:ea typeface="Calibri"/>
              <a:cs typeface="Calibri"/>
              <a:sym typeface="Calibri"/>
            </a:endParaRPr>
          </a:p>
        </p:txBody>
      </p:sp>
      <p:sp>
        <p:nvSpPr>
          <p:cNvPr id="314" name="Google Shape;314;p25"/>
          <p:cNvSpPr/>
          <p:nvPr/>
        </p:nvSpPr>
        <p:spPr>
          <a:xfrm>
            <a:off x="274320" y="841248"/>
            <a:ext cx="4114800" cy="3977640"/>
          </a:xfrm>
          <a:prstGeom prst="rect">
            <a:avLst/>
          </a:prstGeom>
          <a:solidFill>
            <a:srgbClr val="162A4A"/>
          </a:solidFill>
          <a:ln w="12700" cap="flat" cmpd="sng">
            <a:solidFill>
              <a:srgbClr val="1E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 name="Google Shape;315;p25"/>
          <p:cNvSpPr/>
          <p:nvPr/>
        </p:nvSpPr>
        <p:spPr>
          <a:xfrm>
            <a:off x="457200" y="932688"/>
            <a:ext cx="3749040" cy="38404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7B54"/>
              </a:buClr>
              <a:buSzPts val="1400"/>
              <a:buFont typeface="Calibri"/>
              <a:buNone/>
            </a:pPr>
            <a:r>
              <a:rPr lang="en-GB" sz="1400" b="1" i="0" u="none" strike="noStrike" cap="none">
                <a:solidFill>
                  <a:srgbClr val="FF7B54"/>
                </a:solidFill>
                <a:latin typeface="Calibri"/>
                <a:ea typeface="Calibri"/>
                <a:cs typeface="Calibri"/>
                <a:sym typeface="Calibri"/>
              </a:rPr>
              <a:t>Key Concepts</a:t>
            </a:r>
            <a:endParaRPr sz="1400" b="0" i="0" u="none" strike="noStrike" cap="none">
              <a:solidFill>
                <a:schemeClr val="dk1"/>
              </a:solidFill>
              <a:latin typeface="Calibri"/>
              <a:ea typeface="Calibri"/>
              <a:cs typeface="Calibri"/>
              <a:sym typeface="Calibri"/>
            </a:endParaRPr>
          </a:p>
        </p:txBody>
      </p:sp>
      <p:sp>
        <p:nvSpPr>
          <p:cNvPr id="316" name="Google Shape;316;p25"/>
          <p:cNvSpPr/>
          <p:nvPr/>
        </p:nvSpPr>
        <p:spPr>
          <a:xfrm>
            <a:off x="457200" y="1389888"/>
            <a:ext cx="3749040" cy="228600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B8D4F0"/>
              </a:buClr>
              <a:buSzPts val="1200"/>
              <a:buFont typeface="Calibri"/>
              <a:buChar char="•"/>
            </a:pPr>
            <a:r>
              <a:rPr lang="en-GB" sz="1200" b="0" i="0" u="none" strike="noStrike" cap="none">
                <a:solidFill>
                  <a:srgbClr val="B8D4F0"/>
                </a:solidFill>
                <a:latin typeface="Calibri"/>
                <a:ea typeface="Calibri"/>
                <a:cs typeface="Calibri"/>
                <a:sym typeface="Calibri"/>
              </a:rPr>
              <a:t>Trains a multilayer feed-forward neural network</a:t>
            </a:r>
            <a:endParaRPr sz="12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B8D4F0"/>
              </a:buClr>
              <a:buSzPts val="1200"/>
              <a:buFont typeface="Calibri"/>
              <a:buChar char="•"/>
            </a:pPr>
            <a:r>
              <a:rPr lang="en-GB" sz="1200" b="0" i="0" u="none" strike="noStrike" cap="none">
                <a:solidFill>
                  <a:srgbClr val="B8D4F0"/>
                </a:solidFill>
                <a:latin typeface="Calibri"/>
                <a:ea typeface="Calibri"/>
                <a:cs typeface="Calibri"/>
                <a:sym typeface="Calibri"/>
              </a:rPr>
              <a:t>Architecture: Input → Hidden → Output layers</a:t>
            </a:r>
            <a:endParaRPr sz="12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B8D4F0"/>
              </a:buClr>
              <a:buSzPts val="1200"/>
              <a:buFont typeface="Calibri"/>
              <a:buChar char="•"/>
            </a:pPr>
            <a:r>
              <a:rPr lang="en-GB" sz="1200" b="0" i="0" u="none" strike="noStrike" cap="none">
                <a:solidFill>
                  <a:srgbClr val="B8D4F0"/>
                </a:solidFill>
                <a:latin typeface="Calibri"/>
                <a:ea typeface="Calibri"/>
                <a:cs typeface="Calibri"/>
                <a:sym typeface="Calibri"/>
              </a:rPr>
              <a:t>Forward pass: computes predictions layer by layer</a:t>
            </a:r>
            <a:endParaRPr sz="12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B8D4F0"/>
              </a:buClr>
              <a:buSzPts val="1200"/>
              <a:buFont typeface="Calibri"/>
              <a:buChar char="•"/>
            </a:pPr>
            <a:r>
              <a:rPr lang="en-GB" sz="1200" b="0" i="0" u="none" strike="noStrike" cap="none">
                <a:solidFill>
                  <a:srgbClr val="B8D4F0"/>
                </a:solidFill>
                <a:latin typeface="Calibri"/>
                <a:ea typeface="Calibri"/>
                <a:cs typeface="Calibri"/>
                <a:sym typeface="Calibri"/>
              </a:rPr>
              <a:t>Backward pass: propagates error to update all weights</a:t>
            </a:r>
            <a:endParaRPr sz="12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B8D4F0"/>
              </a:buClr>
              <a:buSzPts val="1200"/>
              <a:buFont typeface="Calibri"/>
              <a:buChar char="•"/>
            </a:pPr>
            <a:r>
              <a:rPr lang="en-GB" sz="1200" b="0" i="0" u="none" strike="noStrike" cap="none">
                <a:solidFill>
                  <a:srgbClr val="B8D4F0"/>
                </a:solidFill>
                <a:latin typeface="Calibri"/>
                <a:ea typeface="Calibri"/>
                <a:cs typeface="Calibri"/>
                <a:sym typeface="Calibri"/>
              </a:rPr>
              <a:t>Uses gradient descent with a learning rate (l)</a:t>
            </a:r>
            <a:endParaRPr sz="12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B8D4F0"/>
              </a:buClr>
              <a:buSzPts val="1200"/>
              <a:buFont typeface="Calibri"/>
              <a:buChar char="•"/>
            </a:pPr>
            <a:r>
              <a:rPr lang="en-GB" sz="1200" b="0" i="0" u="none" strike="noStrike" cap="none">
                <a:solidFill>
                  <a:srgbClr val="B8D4F0"/>
                </a:solidFill>
                <a:latin typeface="Calibri"/>
                <a:ea typeface="Calibri"/>
                <a:cs typeface="Calibri"/>
                <a:sym typeface="Calibri"/>
              </a:rPr>
              <a:t>Sigmoid activation: O = 1 / (1 + e⁻ᴵ)</a:t>
            </a:r>
            <a:endParaRPr sz="1200" b="0" i="0" u="none" strike="noStrike" cap="none">
              <a:solidFill>
                <a:schemeClr val="dk1"/>
              </a:solidFill>
              <a:latin typeface="Calibri"/>
              <a:ea typeface="Calibri"/>
              <a:cs typeface="Calibri"/>
              <a:sym typeface="Calibri"/>
            </a:endParaRPr>
          </a:p>
        </p:txBody>
      </p:sp>
      <p:sp>
        <p:nvSpPr>
          <p:cNvPr id="317" name="Google Shape;317;p25"/>
          <p:cNvSpPr/>
          <p:nvPr/>
        </p:nvSpPr>
        <p:spPr>
          <a:xfrm>
            <a:off x="457200" y="3730752"/>
            <a:ext cx="1737360" cy="960120"/>
          </a:xfrm>
          <a:prstGeom prst="rect">
            <a:avLst/>
          </a:prstGeom>
          <a:solidFill>
            <a:srgbClr val="1A3050"/>
          </a:solidFill>
          <a:ln w="25400" cap="flat" cmpd="sng">
            <a:solidFill>
              <a:srgbClr val="4FC3F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5"/>
          <p:cNvSpPr/>
          <p:nvPr/>
        </p:nvSpPr>
        <p:spPr>
          <a:xfrm>
            <a:off x="457200" y="3749040"/>
            <a:ext cx="1737360" cy="3840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4FC3F7"/>
              </a:buClr>
              <a:buSzPts val="1100"/>
              <a:buFont typeface="Calibri"/>
              <a:buNone/>
            </a:pPr>
            <a:r>
              <a:rPr lang="en-GB" sz="1100" b="1" i="0" u="none" strike="noStrike" cap="none">
                <a:solidFill>
                  <a:srgbClr val="4FC3F7"/>
                </a:solidFill>
                <a:latin typeface="Calibri"/>
                <a:ea typeface="Calibri"/>
                <a:cs typeface="Calibri"/>
                <a:sym typeface="Calibri"/>
              </a:rPr>
              <a:t>→ FORWARD</a:t>
            </a:r>
            <a:endParaRPr sz="1100" b="0" i="0" u="none" strike="noStrike" cap="none">
              <a:solidFill>
                <a:schemeClr val="dk1"/>
              </a:solidFill>
              <a:latin typeface="Calibri"/>
              <a:ea typeface="Calibri"/>
              <a:cs typeface="Calibri"/>
              <a:sym typeface="Calibri"/>
            </a:endParaRPr>
          </a:p>
        </p:txBody>
      </p:sp>
      <p:sp>
        <p:nvSpPr>
          <p:cNvPr id="319" name="Google Shape;319;p25"/>
          <p:cNvSpPr/>
          <p:nvPr/>
        </p:nvSpPr>
        <p:spPr>
          <a:xfrm>
            <a:off x="457200" y="4133088"/>
            <a:ext cx="1737360" cy="4754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B8D4F0"/>
              </a:buClr>
              <a:buSzPts val="1000"/>
              <a:buFont typeface="Calibri"/>
              <a:buNone/>
            </a:pPr>
            <a:r>
              <a:rPr lang="en-GB" sz="1000" b="0" i="0" u="none" strike="noStrike" cap="none">
                <a:solidFill>
                  <a:srgbClr val="B8D4F0"/>
                </a:solidFill>
                <a:latin typeface="Calibri"/>
                <a:ea typeface="Calibri"/>
                <a:cs typeface="Calibri"/>
                <a:sym typeface="Calibri"/>
              </a:rPr>
              <a:t>Compute outputs</a:t>
            </a:r>
            <a:endParaRPr sz="1000" b="0" i="0" u="none" strike="noStrike" cap="none">
              <a:solidFill>
                <a:schemeClr val="dk1"/>
              </a:solidFill>
              <a:latin typeface="Calibri"/>
              <a:ea typeface="Calibri"/>
              <a:cs typeface="Calibri"/>
              <a:sym typeface="Calibri"/>
            </a:endParaRPr>
          </a:p>
        </p:txBody>
      </p:sp>
      <p:sp>
        <p:nvSpPr>
          <p:cNvPr id="320" name="Google Shape;320;p25"/>
          <p:cNvSpPr/>
          <p:nvPr/>
        </p:nvSpPr>
        <p:spPr>
          <a:xfrm>
            <a:off x="2331720" y="3730752"/>
            <a:ext cx="1920240" cy="960120"/>
          </a:xfrm>
          <a:prstGeom prst="rect">
            <a:avLst/>
          </a:prstGeom>
          <a:solidFill>
            <a:srgbClr val="1A2030"/>
          </a:solidFill>
          <a:ln w="25400" cap="flat" cmpd="sng">
            <a:solidFill>
              <a:srgbClr val="FF7B5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5"/>
          <p:cNvSpPr/>
          <p:nvPr/>
        </p:nvSpPr>
        <p:spPr>
          <a:xfrm>
            <a:off x="2331720" y="3749040"/>
            <a:ext cx="1920240" cy="3840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7B54"/>
              </a:buClr>
              <a:buSzPts val="1100"/>
              <a:buFont typeface="Calibri"/>
              <a:buNone/>
            </a:pPr>
            <a:r>
              <a:rPr lang="en-GB" sz="1100" b="1" i="0" u="none" strike="noStrike" cap="none">
                <a:solidFill>
                  <a:srgbClr val="FF7B54"/>
                </a:solidFill>
                <a:latin typeface="Calibri"/>
                <a:ea typeface="Calibri"/>
                <a:cs typeface="Calibri"/>
                <a:sym typeface="Calibri"/>
              </a:rPr>
              <a:t>← BACKWARD</a:t>
            </a:r>
            <a:endParaRPr sz="1100" b="0" i="0" u="none" strike="noStrike" cap="none">
              <a:solidFill>
                <a:schemeClr val="dk1"/>
              </a:solidFill>
              <a:latin typeface="Calibri"/>
              <a:ea typeface="Calibri"/>
              <a:cs typeface="Calibri"/>
              <a:sym typeface="Calibri"/>
            </a:endParaRPr>
          </a:p>
        </p:txBody>
      </p:sp>
      <p:sp>
        <p:nvSpPr>
          <p:cNvPr id="322" name="Google Shape;322;p25"/>
          <p:cNvSpPr/>
          <p:nvPr/>
        </p:nvSpPr>
        <p:spPr>
          <a:xfrm>
            <a:off x="2331720" y="4133088"/>
            <a:ext cx="1920240" cy="4754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B8D4F0"/>
              </a:buClr>
              <a:buSzPts val="1000"/>
              <a:buFont typeface="Calibri"/>
              <a:buNone/>
            </a:pPr>
            <a:r>
              <a:rPr lang="en-GB" sz="1000" b="0" i="0" u="none" strike="noStrike" cap="none">
                <a:solidFill>
                  <a:srgbClr val="B8D4F0"/>
                </a:solidFill>
                <a:latin typeface="Calibri"/>
                <a:ea typeface="Calibri"/>
                <a:cs typeface="Calibri"/>
                <a:sym typeface="Calibri"/>
              </a:rPr>
              <a:t>Propagate &amp; update weights</a:t>
            </a:r>
            <a:endParaRPr sz="1000" b="0" i="0" u="none" strike="noStrike" cap="none">
              <a:solidFill>
                <a:schemeClr val="dk1"/>
              </a:solidFill>
              <a:latin typeface="Calibri"/>
              <a:ea typeface="Calibri"/>
              <a:cs typeface="Calibri"/>
              <a:sym typeface="Calibri"/>
            </a:endParaRPr>
          </a:p>
        </p:txBody>
      </p:sp>
      <p:sp>
        <p:nvSpPr>
          <p:cNvPr id="323" name="Google Shape;323;p25"/>
          <p:cNvSpPr/>
          <p:nvPr/>
        </p:nvSpPr>
        <p:spPr>
          <a:xfrm>
            <a:off x="4572000" y="841248"/>
            <a:ext cx="4251960" cy="3977640"/>
          </a:xfrm>
          <a:prstGeom prst="rect">
            <a:avLst/>
          </a:prstGeom>
          <a:solidFill>
            <a:srgbClr val="162A4A"/>
          </a:solidFill>
          <a:ln w="12700" cap="flat" cmpd="sng">
            <a:solidFill>
              <a:srgbClr val="1E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5"/>
          <p:cNvSpPr/>
          <p:nvPr/>
        </p:nvSpPr>
        <p:spPr>
          <a:xfrm>
            <a:off x="4572000" y="932688"/>
            <a:ext cx="4251960" cy="3840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7B54"/>
              </a:buClr>
              <a:buSzPts val="1300"/>
              <a:buFont typeface="Calibri"/>
              <a:buNone/>
            </a:pPr>
            <a:r>
              <a:rPr lang="en-GB" sz="1300" b="1" i="0" u="none" strike="noStrike" cap="none">
                <a:solidFill>
                  <a:srgbClr val="FF7B54"/>
                </a:solidFill>
                <a:latin typeface="Calibri"/>
                <a:ea typeface="Calibri"/>
                <a:cs typeface="Calibri"/>
                <a:sym typeface="Calibri"/>
              </a:rPr>
              <a:t>Network Architecture</a:t>
            </a:r>
            <a:endParaRPr sz="1300" b="0" i="0" u="none" strike="noStrike" cap="none">
              <a:solidFill>
                <a:schemeClr val="dk1"/>
              </a:solidFill>
              <a:latin typeface="Calibri"/>
              <a:ea typeface="Calibri"/>
              <a:cs typeface="Calibri"/>
              <a:sym typeface="Calibri"/>
            </a:endParaRPr>
          </a:p>
        </p:txBody>
      </p:sp>
      <p:sp>
        <p:nvSpPr>
          <p:cNvPr id="325" name="Google Shape;325;p25"/>
          <p:cNvSpPr/>
          <p:nvPr/>
        </p:nvSpPr>
        <p:spPr>
          <a:xfrm>
            <a:off x="4892040" y="1600200"/>
            <a:ext cx="457200" cy="384048"/>
          </a:xfrm>
          <a:prstGeom prst="ellipse">
            <a:avLst/>
          </a:prstGeom>
          <a:solidFill>
            <a:srgbClr val="4FC3F7"/>
          </a:solidFill>
          <a:ln w="152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5"/>
          <p:cNvSpPr/>
          <p:nvPr/>
        </p:nvSpPr>
        <p:spPr>
          <a:xfrm>
            <a:off x="4892040" y="2148840"/>
            <a:ext cx="457200" cy="384048"/>
          </a:xfrm>
          <a:prstGeom prst="ellipse">
            <a:avLst/>
          </a:prstGeom>
          <a:solidFill>
            <a:srgbClr val="4FC3F7"/>
          </a:solidFill>
          <a:ln w="152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5"/>
          <p:cNvSpPr/>
          <p:nvPr/>
        </p:nvSpPr>
        <p:spPr>
          <a:xfrm>
            <a:off x="4892040" y="2697480"/>
            <a:ext cx="457200" cy="384048"/>
          </a:xfrm>
          <a:prstGeom prst="ellipse">
            <a:avLst/>
          </a:prstGeom>
          <a:solidFill>
            <a:srgbClr val="4FC3F7"/>
          </a:solidFill>
          <a:ln w="152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5"/>
          <p:cNvSpPr/>
          <p:nvPr/>
        </p:nvSpPr>
        <p:spPr>
          <a:xfrm>
            <a:off x="4892040" y="3246120"/>
            <a:ext cx="457200" cy="384048"/>
          </a:xfrm>
          <a:prstGeom prst="ellipse">
            <a:avLst/>
          </a:prstGeom>
          <a:solidFill>
            <a:srgbClr val="4FC3F7"/>
          </a:solidFill>
          <a:ln w="152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5"/>
          <p:cNvSpPr/>
          <p:nvPr/>
        </p:nvSpPr>
        <p:spPr>
          <a:xfrm>
            <a:off x="4709160" y="4251960"/>
            <a:ext cx="82296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A9CC0"/>
              </a:buClr>
              <a:buSzPts val="800"/>
              <a:buFont typeface="Calibri"/>
              <a:buNone/>
            </a:pPr>
            <a:r>
              <a:rPr lang="en-GB" sz="800" b="0" i="0" u="none" strike="noStrike" cap="none">
                <a:solidFill>
                  <a:srgbClr val="7A9CC0"/>
                </a:solidFill>
                <a:latin typeface="Calibri"/>
                <a:ea typeface="Calibri"/>
                <a:cs typeface="Calibri"/>
                <a:sym typeface="Calibri"/>
              </a:rPr>
              <a:t>Input Layer</a:t>
            </a:r>
            <a:endParaRPr sz="800" b="0" i="0" u="none" strike="noStrike" cap="none">
              <a:solidFill>
                <a:schemeClr val="dk1"/>
              </a:solidFill>
              <a:latin typeface="Calibri"/>
              <a:ea typeface="Calibri"/>
              <a:cs typeface="Calibri"/>
              <a:sym typeface="Calibri"/>
            </a:endParaRPr>
          </a:p>
        </p:txBody>
      </p:sp>
      <p:cxnSp>
        <p:nvCxnSpPr>
          <p:cNvPr id="330" name="Google Shape;330;p25"/>
          <p:cNvCxnSpPr/>
          <p:nvPr/>
        </p:nvCxnSpPr>
        <p:spPr>
          <a:xfrm>
            <a:off x="5349240" y="1792224"/>
            <a:ext cx="731520" cy="182880"/>
          </a:xfrm>
          <a:prstGeom prst="straightConnector1">
            <a:avLst/>
          </a:prstGeom>
          <a:noFill/>
          <a:ln w="12700" cap="flat" cmpd="sng">
            <a:solidFill>
              <a:srgbClr val="4FC3F7">
                <a:alpha val="45098"/>
              </a:srgbClr>
            </a:solidFill>
            <a:prstDash val="solid"/>
            <a:round/>
            <a:headEnd type="none" w="sm" len="sm"/>
            <a:tailEnd type="none" w="sm" len="sm"/>
          </a:ln>
        </p:spPr>
      </p:cxnSp>
      <p:cxnSp>
        <p:nvCxnSpPr>
          <p:cNvPr id="331" name="Google Shape;331;p25"/>
          <p:cNvCxnSpPr/>
          <p:nvPr/>
        </p:nvCxnSpPr>
        <p:spPr>
          <a:xfrm>
            <a:off x="5349240" y="1792224"/>
            <a:ext cx="731520" cy="868680"/>
          </a:xfrm>
          <a:prstGeom prst="straightConnector1">
            <a:avLst/>
          </a:prstGeom>
          <a:noFill/>
          <a:ln w="12700" cap="flat" cmpd="sng">
            <a:solidFill>
              <a:srgbClr val="4FC3F7">
                <a:alpha val="45098"/>
              </a:srgbClr>
            </a:solidFill>
            <a:prstDash val="solid"/>
            <a:round/>
            <a:headEnd type="none" w="sm" len="sm"/>
            <a:tailEnd type="none" w="sm" len="sm"/>
          </a:ln>
        </p:spPr>
      </p:cxnSp>
      <p:cxnSp>
        <p:nvCxnSpPr>
          <p:cNvPr id="332" name="Google Shape;332;p25"/>
          <p:cNvCxnSpPr/>
          <p:nvPr/>
        </p:nvCxnSpPr>
        <p:spPr>
          <a:xfrm>
            <a:off x="5349240" y="1792224"/>
            <a:ext cx="731520" cy="1554480"/>
          </a:xfrm>
          <a:prstGeom prst="straightConnector1">
            <a:avLst/>
          </a:prstGeom>
          <a:noFill/>
          <a:ln w="12700" cap="flat" cmpd="sng">
            <a:solidFill>
              <a:srgbClr val="4FC3F7">
                <a:alpha val="45098"/>
              </a:srgbClr>
            </a:solidFill>
            <a:prstDash val="solid"/>
            <a:round/>
            <a:headEnd type="none" w="sm" len="sm"/>
            <a:tailEnd type="none" w="sm" len="sm"/>
          </a:ln>
        </p:spPr>
      </p:cxnSp>
      <p:cxnSp>
        <p:nvCxnSpPr>
          <p:cNvPr id="333" name="Google Shape;333;p25"/>
          <p:cNvCxnSpPr/>
          <p:nvPr/>
        </p:nvCxnSpPr>
        <p:spPr>
          <a:xfrm rot="10800000" flipH="1">
            <a:off x="5349240" y="1975104"/>
            <a:ext cx="731520" cy="365760"/>
          </a:xfrm>
          <a:prstGeom prst="straightConnector1">
            <a:avLst/>
          </a:prstGeom>
          <a:noFill/>
          <a:ln w="12700" cap="flat" cmpd="sng">
            <a:solidFill>
              <a:srgbClr val="4FC3F7">
                <a:alpha val="45098"/>
              </a:srgbClr>
            </a:solidFill>
            <a:prstDash val="solid"/>
            <a:round/>
            <a:headEnd type="none" w="sm" len="sm"/>
            <a:tailEnd type="none" w="sm" len="sm"/>
          </a:ln>
        </p:spPr>
      </p:cxnSp>
      <p:cxnSp>
        <p:nvCxnSpPr>
          <p:cNvPr id="334" name="Google Shape;334;p25"/>
          <p:cNvCxnSpPr/>
          <p:nvPr/>
        </p:nvCxnSpPr>
        <p:spPr>
          <a:xfrm>
            <a:off x="5349240" y="2340864"/>
            <a:ext cx="731520" cy="320040"/>
          </a:xfrm>
          <a:prstGeom prst="straightConnector1">
            <a:avLst/>
          </a:prstGeom>
          <a:noFill/>
          <a:ln w="12700" cap="flat" cmpd="sng">
            <a:solidFill>
              <a:srgbClr val="4FC3F7">
                <a:alpha val="45098"/>
              </a:srgbClr>
            </a:solidFill>
            <a:prstDash val="solid"/>
            <a:round/>
            <a:headEnd type="none" w="sm" len="sm"/>
            <a:tailEnd type="none" w="sm" len="sm"/>
          </a:ln>
        </p:spPr>
      </p:cxnSp>
      <p:cxnSp>
        <p:nvCxnSpPr>
          <p:cNvPr id="335" name="Google Shape;335;p25"/>
          <p:cNvCxnSpPr/>
          <p:nvPr/>
        </p:nvCxnSpPr>
        <p:spPr>
          <a:xfrm>
            <a:off x="5349240" y="2340864"/>
            <a:ext cx="731520" cy="1005840"/>
          </a:xfrm>
          <a:prstGeom prst="straightConnector1">
            <a:avLst/>
          </a:prstGeom>
          <a:noFill/>
          <a:ln w="12700" cap="flat" cmpd="sng">
            <a:solidFill>
              <a:srgbClr val="4FC3F7">
                <a:alpha val="45098"/>
              </a:srgbClr>
            </a:solidFill>
            <a:prstDash val="solid"/>
            <a:round/>
            <a:headEnd type="none" w="sm" len="sm"/>
            <a:tailEnd type="none" w="sm" len="sm"/>
          </a:ln>
        </p:spPr>
      </p:cxnSp>
      <p:cxnSp>
        <p:nvCxnSpPr>
          <p:cNvPr id="336" name="Google Shape;336;p25"/>
          <p:cNvCxnSpPr/>
          <p:nvPr/>
        </p:nvCxnSpPr>
        <p:spPr>
          <a:xfrm rot="10800000" flipH="1">
            <a:off x="5349240" y="1975104"/>
            <a:ext cx="731520" cy="914400"/>
          </a:xfrm>
          <a:prstGeom prst="straightConnector1">
            <a:avLst/>
          </a:prstGeom>
          <a:noFill/>
          <a:ln w="12700" cap="flat" cmpd="sng">
            <a:solidFill>
              <a:srgbClr val="4FC3F7">
                <a:alpha val="45098"/>
              </a:srgbClr>
            </a:solidFill>
            <a:prstDash val="solid"/>
            <a:round/>
            <a:headEnd type="none" w="sm" len="sm"/>
            <a:tailEnd type="none" w="sm" len="sm"/>
          </a:ln>
        </p:spPr>
      </p:cxnSp>
      <p:cxnSp>
        <p:nvCxnSpPr>
          <p:cNvPr id="337" name="Google Shape;337;p25"/>
          <p:cNvCxnSpPr/>
          <p:nvPr/>
        </p:nvCxnSpPr>
        <p:spPr>
          <a:xfrm rot="10800000" flipH="1">
            <a:off x="5349240" y="2660904"/>
            <a:ext cx="731520" cy="228600"/>
          </a:xfrm>
          <a:prstGeom prst="straightConnector1">
            <a:avLst/>
          </a:prstGeom>
          <a:noFill/>
          <a:ln w="12700" cap="flat" cmpd="sng">
            <a:solidFill>
              <a:srgbClr val="4FC3F7">
                <a:alpha val="45098"/>
              </a:srgbClr>
            </a:solidFill>
            <a:prstDash val="solid"/>
            <a:round/>
            <a:headEnd type="none" w="sm" len="sm"/>
            <a:tailEnd type="none" w="sm" len="sm"/>
          </a:ln>
        </p:spPr>
      </p:cxnSp>
      <p:cxnSp>
        <p:nvCxnSpPr>
          <p:cNvPr id="338" name="Google Shape;338;p25"/>
          <p:cNvCxnSpPr/>
          <p:nvPr/>
        </p:nvCxnSpPr>
        <p:spPr>
          <a:xfrm>
            <a:off x="5349240" y="2889504"/>
            <a:ext cx="731520" cy="457200"/>
          </a:xfrm>
          <a:prstGeom prst="straightConnector1">
            <a:avLst/>
          </a:prstGeom>
          <a:noFill/>
          <a:ln w="12700" cap="flat" cmpd="sng">
            <a:solidFill>
              <a:srgbClr val="4FC3F7">
                <a:alpha val="45098"/>
              </a:srgbClr>
            </a:solidFill>
            <a:prstDash val="solid"/>
            <a:round/>
            <a:headEnd type="none" w="sm" len="sm"/>
            <a:tailEnd type="none" w="sm" len="sm"/>
          </a:ln>
        </p:spPr>
      </p:cxnSp>
      <p:cxnSp>
        <p:nvCxnSpPr>
          <p:cNvPr id="339" name="Google Shape;339;p25"/>
          <p:cNvCxnSpPr/>
          <p:nvPr/>
        </p:nvCxnSpPr>
        <p:spPr>
          <a:xfrm rot="10800000" flipH="1">
            <a:off x="5349240" y="1975104"/>
            <a:ext cx="731520" cy="1463040"/>
          </a:xfrm>
          <a:prstGeom prst="straightConnector1">
            <a:avLst/>
          </a:prstGeom>
          <a:noFill/>
          <a:ln w="12700" cap="flat" cmpd="sng">
            <a:solidFill>
              <a:srgbClr val="4FC3F7">
                <a:alpha val="45098"/>
              </a:srgbClr>
            </a:solidFill>
            <a:prstDash val="solid"/>
            <a:round/>
            <a:headEnd type="none" w="sm" len="sm"/>
            <a:tailEnd type="none" w="sm" len="sm"/>
          </a:ln>
        </p:spPr>
      </p:cxnSp>
      <p:cxnSp>
        <p:nvCxnSpPr>
          <p:cNvPr id="340" name="Google Shape;340;p25"/>
          <p:cNvCxnSpPr/>
          <p:nvPr/>
        </p:nvCxnSpPr>
        <p:spPr>
          <a:xfrm rot="10800000" flipH="1">
            <a:off x="5349240" y="2660904"/>
            <a:ext cx="731520" cy="777240"/>
          </a:xfrm>
          <a:prstGeom prst="straightConnector1">
            <a:avLst/>
          </a:prstGeom>
          <a:noFill/>
          <a:ln w="12700" cap="flat" cmpd="sng">
            <a:solidFill>
              <a:srgbClr val="4FC3F7">
                <a:alpha val="45098"/>
              </a:srgbClr>
            </a:solidFill>
            <a:prstDash val="solid"/>
            <a:round/>
            <a:headEnd type="none" w="sm" len="sm"/>
            <a:tailEnd type="none" w="sm" len="sm"/>
          </a:ln>
        </p:spPr>
      </p:cxnSp>
      <p:cxnSp>
        <p:nvCxnSpPr>
          <p:cNvPr id="341" name="Google Shape;341;p25"/>
          <p:cNvCxnSpPr/>
          <p:nvPr/>
        </p:nvCxnSpPr>
        <p:spPr>
          <a:xfrm rot="10800000" flipH="1">
            <a:off x="5349240" y="3346704"/>
            <a:ext cx="731520" cy="91440"/>
          </a:xfrm>
          <a:prstGeom prst="straightConnector1">
            <a:avLst/>
          </a:prstGeom>
          <a:noFill/>
          <a:ln w="12700" cap="flat" cmpd="sng">
            <a:solidFill>
              <a:srgbClr val="4FC3F7">
                <a:alpha val="45098"/>
              </a:srgbClr>
            </a:solidFill>
            <a:prstDash val="solid"/>
            <a:round/>
            <a:headEnd type="none" w="sm" len="sm"/>
            <a:tailEnd type="none" w="sm" len="sm"/>
          </a:ln>
        </p:spPr>
      </p:cxnSp>
      <p:sp>
        <p:nvSpPr>
          <p:cNvPr id="342" name="Google Shape;342;p25"/>
          <p:cNvSpPr/>
          <p:nvPr/>
        </p:nvSpPr>
        <p:spPr>
          <a:xfrm>
            <a:off x="6080760" y="1783080"/>
            <a:ext cx="457200" cy="384048"/>
          </a:xfrm>
          <a:prstGeom prst="ellipse">
            <a:avLst/>
          </a:prstGeom>
          <a:solidFill>
            <a:srgbClr val="FF7B54"/>
          </a:solidFill>
          <a:ln w="152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5"/>
          <p:cNvSpPr/>
          <p:nvPr/>
        </p:nvSpPr>
        <p:spPr>
          <a:xfrm>
            <a:off x="6080760" y="2468880"/>
            <a:ext cx="457200" cy="384048"/>
          </a:xfrm>
          <a:prstGeom prst="ellipse">
            <a:avLst/>
          </a:prstGeom>
          <a:solidFill>
            <a:srgbClr val="FF7B54"/>
          </a:solidFill>
          <a:ln w="152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5"/>
          <p:cNvSpPr/>
          <p:nvPr/>
        </p:nvSpPr>
        <p:spPr>
          <a:xfrm>
            <a:off x="6080760" y="3154680"/>
            <a:ext cx="457200" cy="384048"/>
          </a:xfrm>
          <a:prstGeom prst="ellipse">
            <a:avLst/>
          </a:prstGeom>
          <a:solidFill>
            <a:srgbClr val="FF7B54"/>
          </a:solidFill>
          <a:ln w="152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5"/>
          <p:cNvSpPr/>
          <p:nvPr/>
        </p:nvSpPr>
        <p:spPr>
          <a:xfrm>
            <a:off x="5897880" y="4251960"/>
            <a:ext cx="82296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A9CC0"/>
              </a:buClr>
              <a:buSzPts val="800"/>
              <a:buFont typeface="Calibri"/>
              <a:buNone/>
            </a:pPr>
            <a:r>
              <a:rPr lang="en-GB" sz="800" b="0" i="0" u="none" strike="noStrike" cap="none">
                <a:solidFill>
                  <a:srgbClr val="7A9CC0"/>
                </a:solidFill>
                <a:latin typeface="Calibri"/>
                <a:ea typeface="Calibri"/>
                <a:cs typeface="Calibri"/>
                <a:sym typeface="Calibri"/>
              </a:rPr>
              <a:t>Hidden Layer</a:t>
            </a:r>
            <a:endParaRPr sz="800" b="0" i="0" u="none" strike="noStrike" cap="none">
              <a:solidFill>
                <a:schemeClr val="dk1"/>
              </a:solidFill>
              <a:latin typeface="Calibri"/>
              <a:ea typeface="Calibri"/>
              <a:cs typeface="Calibri"/>
              <a:sym typeface="Calibri"/>
            </a:endParaRPr>
          </a:p>
        </p:txBody>
      </p:sp>
      <p:cxnSp>
        <p:nvCxnSpPr>
          <p:cNvPr id="346" name="Google Shape;346;p25"/>
          <p:cNvCxnSpPr/>
          <p:nvPr/>
        </p:nvCxnSpPr>
        <p:spPr>
          <a:xfrm>
            <a:off x="6537960" y="1975104"/>
            <a:ext cx="731520" cy="502920"/>
          </a:xfrm>
          <a:prstGeom prst="straightConnector1">
            <a:avLst/>
          </a:prstGeom>
          <a:noFill/>
          <a:ln w="12700" cap="flat" cmpd="sng">
            <a:solidFill>
              <a:srgbClr val="FF7B54">
                <a:alpha val="45098"/>
              </a:srgbClr>
            </a:solidFill>
            <a:prstDash val="solid"/>
            <a:round/>
            <a:headEnd type="none" w="sm" len="sm"/>
            <a:tailEnd type="none" w="sm" len="sm"/>
          </a:ln>
        </p:spPr>
      </p:cxnSp>
      <p:cxnSp>
        <p:nvCxnSpPr>
          <p:cNvPr id="347" name="Google Shape;347;p25"/>
          <p:cNvCxnSpPr/>
          <p:nvPr/>
        </p:nvCxnSpPr>
        <p:spPr>
          <a:xfrm>
            <a:off x="6537960" y="1975104"/>
            <a:ext cx="731520" cy="1143000"/>
          </a:xfrm>
          <a:prstGeom prst="straightConnector1">
            <a:avLst/>
          </a:prstGeom>
          <a:noFill/>
          <a:ln w="12700" cap="flat" cmpd="sng">
            <a:solidFill>
              <a:srgbClr val="FF7B54">
                <a:alpha val="45098"/>
              </a:srgbClr>
            </a:solidFill>
            <a:prstDash val="solid"/>
            <a:round/>
            <a:headEnd type="none" w="sm" len="sm"/>
            <a:tailEnd type="none" w="sm" len="sm"/>
          </a:ln>
        </p:spPr>
      </p:cxnSp>
      <p:cxnSp>
        <p:nvCxnSpPr>
          <p:cNvPr id="348" name="Google Shape;348;p25"/>
          <p:cNvCxnSpPr/>
          <p:nvPr/>
        </p:nvCxnSpPr>
        <p:spPr>
          <a:xfrm rot="10800000" flipH="1">
            <a:off x="6537960" y="2478024"/>
            <a:ext cx="731520" cy="182880"/>
          </a:xfrm>
          <a:prstGeom prst="straightConnector1">
            <a:avLst/>
          </a:prstGeom>
          <a:noFill/>
          <a:ln w="12700" cap="flat" cmpd="sng">
            <a:solidFill>
              <a:srgbClr val="FF7B54">
                <a:alpha val="45098"/>
              </a:srgbClr>
            </a:solidFill>
            <a:prstDash val="solid"/>
            <a:round/>
            <a:headEnd type="none" w="sm" len="sm"/>
            <a:tailEnd type="none" w="sm" len="sm"/>
          </a:ln>
        </p:spPr>
      </p:cxnSp>
      <p:cxnSp>
        <p:nvCxnSpPr>
          <p:cNvPr id="349" name="Google Shape;349;p25"/>
          <p:cNvCxnSpPr/>
          <p:nvPr/>
        </p:nvCxnSpPr>
        <p:spPr>
          <a:xfrm>
            <a:off x="6537960" y="2660904"/>
            <a:ext cx="731520" cy="457200"/>
          </a:xfrm>
          <a:prstGeom prst="straightConnector1">
            <a:avLst/>
          </a:prstGeom>
          <a:noFill/>
          <a:ln w="12700" cap="flat" cmpd="sng">
            <a:solidFill>
              <a:srgbClr val="FF7B54">
                <a:alpha val="45098"/>
              </a:srgbClr>
            </a:solidFill>
            <a:prstDash val="solid"/>
            <a:round/>
            <a:headEnd type="none" w="sm" len="sm"/>
            <a:tailEnd type="none" w="sm" len="sm"/>
          </a:ln>
        </p:spPr>
      </p:cxnSp>
      <p:cxnSp>
        <p:nvCxnSpPr>
          <p:cNvPr id="350" name="Google Shape;350;p25"/>
          <p:cNvCxnSpPr/>
          <p:nvPr/>
        </p:nvCxnSpPr>
        <p:spPr>
          <a:xfrm rot="10800000" flipH="1">
            <a:off x="6537960" y="2478024"/>
            <a:ext cx="731520" cy="868680"/>
          </a:xfrm>
          <a:prstGeom prst="straightConnector1">
            <a:avLst/>
          </a:prstGeom>
          <a:noFill/>
          <a:ln w="12700" cap="flat" cmpd="sng">
            <a:solidFill>
              <a:srgbClr val="FF7B54">
                <a:alpha val="45098"/>
              </a:srgbClr>
            </a:solidFill>
            <a:prstDash val="solid"/>
            <a:round/>
            <a:headEnd type="none" w="sm" len="sm"/>
            <a:tailEnd type="none" w="sm" len="sm"/>
          </a:ln>
        </p:spPr>
      </p:cxnSp>
      <p:cxnSp>
        <p:nvCxnSpPr>
          <p:cNvPr id="351" name="Google Shape;351;p25"/>
          <p:cNvCxnSpPr/>
          <p:nvPr/>
        </p:nvCxnSpPr>
        <p:spPr>
          <a:xfrm rot="10800000" flipH="1">
            <a:off x="6537960" y="3118104"/>
            <a:ext cx="731520" cy="228600"/>
          </a:xfrm>
          <a:prstGeom prst="straightConnector1">
            <a:avLst/>
          </a:prstGeom>
          <a:noFill/>
          <a:ln w="12700" cap="flat" cmpd="sng">
            <a:solidFill>
              <a:srgbClr val="FF7B54">
                <a:alpha val="45098"/>
              </a:srgbClr>
            </a:solidFill>
            <a:prstDash val="solid"/>
            <a:round/>
            <a:headEnd type="none" w="sm" len="sm"/>
            <a:tailEnd type="none" w="sm" len="sm"/>
          </a:ln>
        </p:spPr>
      </p:cxnSp>
      <p:sp>
        <p:nvSpPr>
          <p:cNvPr id="352" name="Google Shape;352;p25"/>
          <p:cNvSpPr/>
          <p:nvPr/>
        </p:nvSpPr>
        <p:spPr>
          <a:xfrm>
            <a:off x="7269480" y="2286000"/>
            <a:ext cx="457200" cy="384048"/>
          </a:xfrm>
          <a:prstGeom prst="ellipse">
            <a:avLst/>
          </a:prstGeom>
          <a:solidFill>
            <a:srgbClr val="00C9A7"/>
          </a:solidFill>
          <a:ln w="152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5"/>
          <p:cNvSpPr/>
          <p:nvPr/>
        </p:nvSpPr>
        <p:spPr>
          <a:xfrm>
            <a:off x="7269480" y="2926080"/>
            <a:ext cx="457200" cy="384048"/>
          </a:xfrm>
          <a:prstGeom prst="ellipse">
            <a:avLst/>
          </a:prstGeom>
          <a:solidFill>
            <a:srgbClr val="00C9A7"/>
          </a:solidFill>
          <a:ln w="152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5"/>
          <p:cNvSpPr/>
          <p:nvPr/>
        </p:nvSpPr>
        <p:spPr>
          <a:xfrm>
            <a:off x="7086600" y="4251960"/>
            <a:ext cx="82296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A9CC0"/>
              </a:buClr>
              <a:buSzPts val="800"/>
              <a:buFont typeface="Calibri"/>
              <a:buNone/>
            </a:pPr>
            <a:r>
              <a:rPr lang="en-GB" sz="800" b="0" i="0" u="none" strike="noStrike" cap="none">
                <a:solidFill>
                  <a:srgbClr val="7A9CC0"/>
                </a:solidFill>
                <a:latin typeface="Calibri"/>
                <a:ea typeface="Calibri"/>
                <a:cs typeface="Calibri"/>
                <a:sym typeface="Calibri"/>
              </a:rPr>
              <a:t>Output Layer</a:t>
            </a:r>
            <a:endParaRPr sz="800" b="0" i="0" u="none" strike="noStrike" cap="none">
              <a:solidFill>
                <a:schemeClr val="dk1"/>
              </a:solidFill>
              <a:latin typeface="Calibri"/>
              <a:ea typeface="Calibri"/>
              <a:cs typeface="Calibri"/>
              <a:sym typeface="Calibri"/>
            </a:endParaRPr>
          </a:p>
        </p:txBody>
      </p:sp>
      <p:cxnSp>
        <p:nvCxnSpPr>
          <p:cNvPr id="355" name="Google Shape;355;p25"/>
          <p:cNvCxnSpPr/>
          <p:nvPr/>
        </p:nvCxnSpPr>
        <p:spPr>
          <a:xfrm>
            <a:off x="4937760" y="4069080"/>
            <a:ext cx="2743200" cy="0"/>
          </a:xfrm>
          <a:prstGeom prst="straightConnector1">
            <a:avLst/>
          </a:prstGeom>
          <a:noFill/>
          <a:ln w="25400" cap="flat" cmpd="sng">
            <a:solidFill>
              <a:srgbClr val="4FC3F7"/>
            </a:solidFill>
            <a:prstDash val="solid"/>
            <a:round/>
            <a:headEnd type="none" w="sm" len="sm"/>
            <a:tailEnd type="none" w="sm" len="sm"/>
          </a:ln>
        </p:spPr>
      </p:cxnSp>
      <p:sp>
        <p:nvSpPr>
          <p:cNvPr id="356" name="Google Shape;356;p25"/>
          <p:cNvSpPr/>
          <p:nvPr/>
        </p:nvSpPr>
        <p:spPr>
          <a:xfrm>
            <a:off x="4937760" y="4005072"/>
            <a:ext cx="2743200" cy="2560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4FC3F7"/>
              </a:buClr>
              <a:buSzPts val="900"/>
              <a:buFont typeface="Calibri"/>
              <a:buNone/>
            </a:pPr>
            <a:r>
              <a:rPr lang="en-GB" sz="900" b="0" i="0" u="none" strike="noStrike" cap="none">
                <a:solidFill>
                  <a:srgbClr val="4FC3F7"/>
                </a:solidFill>
                <a:latin typeface="Calibri"/>
                <a:ea typeface="Calibri"/>
                <a:cs typeface="Calibri"/>
                <a:sym typeface="Calibri"/>
              </a:rPr>
              <a:t>→ Forward Pass</a:t>
            </a:r>
            <a:endParaRPr sz="900" b="0" i="0" u="none" strike="noStrike" cap="none">
              <a:solidFill>
                <a:schemeClr val="dk1"/>
              </a:solidFill>
              <a:latin typeface="Calibri"/>
              <a:ea typeface="Calibri"/>
              <a:cs typeface="Calibri"/>
              <a:sym typeface="Calibri"/>
            </a:endParaRPr>
          </a:p>
        </p:txBody>
      </p:sp>
      <p:cxnSp>
        <p:nvCxnSpPr>
          <p:cNvPr id="357" name="Google Shape;357;p25"/>
          <p:cNvCxnSpPr/>
          <p:nvPr/>
        </p:nvCxnSpPr>
        <p:spPr>
          <a:xfrm>
            <a:off x="4989786" y="4581144"/>
            <a:ext cx="2743200" cy="0"/>
          </a:xfrm>
          <a:prstGeom prst="straightConnector1">
            <a:avLst/>
          </a:prstGeom>
          <a:noFill/>
          <a:ln w="25400" cap="flat" cmpd="sng">
            <a:solidFill>
              <a:srgbClr val="FF7B54"/>
            </a:solidFill>
            <a:prstDash val="dash"/>
            <a:round/>
            <a:headEnd type="none" w="sm" len="sm"/>
            <a:tailEnd type="none" w="sm" len="sm"/>
          </a:ln>
        </p:spPr>
      </p:cxnSp>
      <p:sp>
        <p:nvSpPr>
          <p:cNvPr id="358" name="Google Shape;358;p25"/>
          <p:cNvSpPr/>
          <p:nvPr/>
        </p:nvSpPr>
        <p:spPr>
          <a:xfrm>
            <a:off x="4983480" y="4581144"/>
            <a:ext cx="2743200" cy="2560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7B54"/>
              </a:buClr>
              <a:buSzPts val="900"/>
              <a:buFont typeface="Calibri"/>
              <a:buNone/>
            </a:pPr>
            <a:r>
              <a:rPr lang="en-GB" sz="900" b="0" i="0" u="none" strike="noStrike" cap="none" dirty="0">
                <a:solidFill>
                  <a:srgbClr val="FF7B54"/>
                </a:solidFill>
                <a:latin typeface="Calibri"/>
                <a:ea typeface="Calibri"/>
                <a:cs typeface="Calibri"/>
                <a:sym typeface="Calibri"/>
              </a:rPr>
              <a:t>← Backward Pass</a:t>
            </a:r>
            <a:endParaRPr sz="9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26"/>
          <p:cNvSpPr/>
          <p:nvPr/>
        </p:nvSpPr>
        <p:spPr>
          <a:xfrm>
            <a:off x="0" y="0"/>
            <a:ext cx="9144000" cy="73152"/>
          </a:xfrm>
          <a:prstGeom prst="rect">
            <a:avLst/>
          </a:prstGeom>
          <a:solidFill>
            <a:srgbClr val="FF7B54"/>
          </a:solidFill>
          <a:ln w="12700" cap="flat" cmpd="sng">
            <a:solidFill>
              <a:srgbClr val="FF7B5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6"/>
          <p:cNvSpPr/>
          <p:nvPr/>
        </p:nvSpPr>
        <p:spPr>
          <a:xfrm>
            <a:off x="365760" y="164592"/>
            <a:ext cx="82296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400"/>
              <a:buFont typeface="Calibri"/>
              <a:buNone/>
            </a:pPr>
            <a:r>
              <a:rPr lang="en-GB" sz="2400" b="1" i="0" u="none" strike="noStrike" cap="none">
                <a:solidFill>
                  <a:srgbClr val="FFFFFF"/>
                </a:solidFill>
                <a:latin typeface="Calibri"/>
                <a:ea typeface="Calibri"/>
                <a:cs typeface="Calibri"/>
                <a:sym typeface="Calibri"/>
              </a:rPr>
              <a:t>Backpropagation — Key Formulas</a:t>
            </a:r>
            <a:endParaRPr sz="2400" b="0" i="0" u="none" strike="noStrike" cap="none">
              <a:solidFill>
                <a:schemeClr val="dk1"/>
              </a:solidFill>
              <a:latin typeface="Calibri"/>
              <a:ea typeface="Calibri"/>
              <a:cs typeface="Calibri"/>
              <a:sym typeface="Calibri"/>
            </a:endParaRPr>
          </a:p>
        </p:txBody>
      </p:sp>
      <p:sp>
        <p:nvSpPr>
          <p:cNvPr id="366" name="Google Shape;366;p26"/>
          <p:cNvSpPr/>
          <p:nvPr/>
        </p:nvSpPr>
        <p:spPr>
          <a:xfrm>
            <a:off x="274320" y="841248"/>
            <a:ext cx="4160520" cy="3977640"/>
          </a:xfrm>
          <a:prstGeom prst="rect">
            <a:avLst/>
          </a:prstGeom>
          <a:solidFill>
            <a:srgbClr val="162A4A"/>
          </a:solidFill>
          <a:ln w="25400" cap="flat" cmpd="sng">
            <a:solidFill>
              <a:srgbClr val="4FC3F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6"/>
          <p:cNvSpPr/>
          <p:nvPr/>
        </p:nvSpPr>
        <p:spPr>
          <a:xfrm>
            <a:off x="274320" y="841248"/>
            <a:ext cx="4160520" cy="475488"/>
          </a:xfrm>
          <a:prstGeom prst="rect">
            <a:avLst/>
          </a:prstGeom>
          <a:solidFill>
            <a:srgbClr val="4FC3F7"/>
          </a:solidFill>
          <a:ln w="12700" cap="flat" cmpd="sng">
            <a:solidFill>
              <a:srgbClr val="4FC3F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6"/>
          <p:cNvSpPr/>
          <p:nvPr/>
        </p:nvSpPr>
        <p:spPr>
          <a:xfrm>
            <a:off x="274320" y="841248"/>
            <a:ext cx="4160520" cy="4754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628"/>
              </a:buClr>
              <a:buSzPts val="1300"/>
              <a:buFont typeface="Calibri"/>
              <a:buNone/>
            </a:pPr>
            <a:r>
              <a:rPr lang="en-GB" sz="1300" b="1" i="0" u="none" strike="noStrike" cap="none">
                <a:solidFill>
                  <a:srgbClr val="0A1628"/>
                </a:solidFill>
                <a:latin typeface="Calibri"/>
                <a:ea typeface="Calibri"/>
                <a:cs typeface="Calibri"/>
                <a:sym typeface="Calibri"/>
              </a:rPr>
              <a:t>FORWARD PASS</a:t>
            </a:r>
            <a:endParaRPr sz="1300" b="0" i="0" u="none" strike="noStrike" cap="none">
              <a:solidFill>
                <a:schemeClr val="dk1"/>
              </a:solidFill>
              <a:latin typeface="Calibri"/>
              <a:ea typeface="Calibri"/>
              <a:cs typeface="Calibri"/>
              <a:sym typeface="Calibri"/>
            </a:endParaRPr>
          </a:p>
        </p:txBody>
      </p:sp>
      <p:sp>
        <p:nvSpPr>
          <p:cNvPr id="369" name="Google Shape;369;p26"/>
          <p:cNvSpPr/>
          <p:nvPr/>
        </p:nvSpPr>
        <p:spPr>
          <a:xfrm>
            <a:off x="411480" y="1444752"/>
            <a:ext cx="3886200" cy="685800"/>
          </a:xfrm>
          <a:prstGeom prst="rect">
            <a:avLst/>
          </a:prstGeom>
          <a:solidFill>
            <a:srgbClr val="1A3050"/>
          </a:solidFill>
          <a:ln w="12700" cap="flat" cmpd="sng">
            <a:solidFill>
              <a:srgbClr val="1E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6"/>
          <p:cNvSpPr/>
          <p:nvPr/>
        </p:nvSpPr>
        <p:spPr>
          <a:xfrm>
            <a:off x="502920" y="1481328"/>
            <a:ext cx="3703320"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FC3F7"/>
              </a:buClr>
              <a:buSzPts val="1050"/>
              <a:buFont typeface="Calibri"/>
              <a:buNone/>
            </a:pPr>
            <a:r>
              <a:rPr lang="en-GB" sz="1050" b="1" i="0" u="none" strike="noStrike" cap="none">
                <a:solidFill>
                  <a:srgbClr val="4FC3F7"/>
                </a:solidFill>
                <a:latin typeface="Calibri"/>
                <a:ea typeface="Calibri"/>
                <a:cs typeface="Calibri"/>
                <a:sym typeface="Calibri"/>
              </a:rPr>
              <a:t>Net input (layer j):</a:t>
            </a:r>
            <a:endParaRPr sz="1050" b="0" i="0" u="none" strike="noStrike" cap="none">
              <a:solidFill>
                <a:schemeClr val="dk1"/>
              </a:solidFill>
              <a:latin typeface="Calibri"/>
              <a:ea typeface="Calibri"/>
              <a:cs typeface="Calibri"/>
              <a:sym typeface="Calibri"/>
            </a:endParaRPr>
          </a:p>
        </p:txBody>
      </p:sp>
      <p:sp>
        <p:nvSpPr>
          <p:cNvPr id="371" name="Google Shape;371;p26"/>
          <p:cNvSpPr/>
          <p:nvPr/>
        </p:nvSpPr>
        <p:spPr>
          <a:xfrm>
            <a:off x="502920" y="1755648"/>
            <a:ext cx="37033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300"/>
              <a:buFont typeface="Courier New"/>
              <a:buNone/>
            </a:pPr>
            <a:r>
              <a:rPr lang="en-GB" sz="1300" b="0" i="0" u="none" strike="noStrike" cap="none">
                <a:solidFill>
                  <a:srgbClr val="FFFFFF"/>
                </a:solidFill>
                <a:latin typeface="Courier New"/>
                <a:ea typeface="Courier New"/>
                <a:cs typeface="Courier New"/>
                <a:sym typeface="Courier New"/>
              </a:rPr>
              <a:t>Iⱼ = Σᵢ wᵢⱼ · Oᵢ + θⱼ</a:t>
            </a:r>
            <a:endParaRPr sz="1300" b="0" i="0" u="none" strike="noStrike" cap="none">
              <a:solidFill>
                <a:schemeClr val="dk1"/>
              </a:solidFill>
              <a:latin typeface="Calibri"/>
              <a:ea typeface="Calibri"/>
              <a:cs typeface="Calibri"/>
              <a:sym typeface="Calibri"/>
            </a:endParaRPr>
          </a:p>
        </p:txBody>
      </p:sp>
      <p:sp>
        <p:nvSpPr>
          <p:cNvPr id="372" name="Google Shape;372;p26"/>
          <p:cNvSpPr/>
          <p:nvPr/>
        </p:nvSpPr>
        <p:spPr>
          <a:xfrm>
            <a:off x="411480" y="2249424"/>
            <a:ext cx="3886200" cy="685800"/>
          </a:xfrm>
          <a:prstGeom prst="rect">
            <a:avLst/>
          </a:prstGeom>
          <a:solidFill>
            <a:srgbClr val="1A3050"/>
          </a:solidFill>
          <a:ln w="12700" cap="flat" cmpd="sng">
            <a:solidFill>
              <a:srgbClr val="1E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6"/>
          <p:cNvSpPr/>
          <p:nvPr/>
        </p:nvSpPr>
        <p:spPr>
          <a:xfrm>
            <a:off x="502920" y="2286000"/>
            <a:ext cx="3703320"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FC3F7"/>
              </a:buClr>
              <a:buSzPts val="1050"/>
              <a:buFont typeface="Calibri"/>
              <a:buNone/>
            </a:pPr>
            <a:r>
              <a:rPr lang="en-GB" sz="1050" b="1" i="0" u="none" strike="noStrike" cap="none">
                <a:solidFill>
                  <a:srgbClr val="4FC3F7"/>
                </a:solidFill>
                <a:latin typeface="Calibri"/>
                <a:ea typeface="Calibri"/>
                <a:cs typeface="Calibri"/>
                <a:sym typeface="Calibri"/>
              </a:rPr>
              <a:t>Output (sigmoid):</a:t>
            </a:r>
            <a:endParaRPr sz="1050" b="0" i="0" u="none" strike="noStrike" cap="none">
              <a:solidFill>
                <a:schemeClr val="dk1"/>
              </a:solidFill>
              <a:latin typeface="Calibri"/>
              <a:ea typeface="Calibri"/>
              <a:cs typeface="Calibri"/>
              <a:sym typeface="Calibri"/>
            </a:endParaRPr>
          </a:p>
        </p:txBody>
      </p:sp>
      <p:sp>
        <p:nvSpPr>
          <p:cNvPr id="374" name="Google Shape;374;p26"/>
          <p:cNvSpPr/>
          <p:nvPr/>
        </p:nvSpPr>
        <p:spPr>
          <a:xfrm>
            <a:off x="502920" y="2560320"/>
            <a:ext cx="37033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300"/>
              <a:buFont typeface="Courier New"/>
              <a:buNone/>
            </a:pPr>
            <a:r>
              <a:rPr lang="en-GB" sz="1300" b="0" i="0" u="none" strike="noStrike" cap="none">
                <a:solidFill>
                  <a:srgbClr val="FFFFFF"/>
                </a:solidFill>
                <a:latin typeface="Courier New"/>
                <a:ea typeface="Courier New"/>
                <a:cs typeface="Courier New"/>
                <a:sym typeface="Courier New"/>
              </a:rPr>
              <a:t>Oⱼ = 1 / (1 + e^(-Iⱼ))</a:t>
            </a:r>
            <a:endParaRPr sz="1300" b="0" i="0" u="none" strike="noStrike" cap="none">
              <a:solidFill>
                <a:schemeClr val="dk1"/>
              </a:solidFill>
              <a:latin typeface="Calibri"/>
              <a:ea typeface="Calibri"/>
              <a:cs typeface="Calibri"/>
              <a:sym typeface="Calibri"/>
            </a:endParaRPr>
          </a:p>
        </p:txBody>
      </p:sp>
      <p:sp>
        <p:nvSpPr>
          <p:cNvPr id="375" name="Google Shape;375;p26"/>
          <p:cNvSpPr/>
          <p:nvPr/>
        </p:nvSpPr>
        <p:spPr>
          <a:xfrm>
            <a:off x="4754880" y="841248"/>
            <a:ext cx="4160520" cy="3977640"/>
          </a:xfrm>
          <a:prstGeom prst="rect">
            <a:avLst/>
          </a:prstGeom>
          <a:solidFill>
            <a:srgbClr val="162A4A"/>
          </a:solidFill>
          <a:ln w="25400" cap="flat" cmpd="sng">
            <a:solidFill>
              <a:srgbClr val="FF7B5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6"/>
          <p:cNvSpPr/>
          <p:nvPr/>
        </p:nvSpPr>
        <p:spPr>
          <a:xfrm>
            <a:off x="4754880" y="841248"/>
            <a:ext cx="4160520" cy="475488"/>
          </a:xfrm>
          <a:prstGeom prst="rect">
            <a:avLst/>
          </a:prstGeom>
          <a:solidFill>
            <a:srgbClr val="FF7B54"/>
          </a:solidFill>
          <a:ln w="12700" cap="flat" cmpd="sng">
            <a:solidFill>
              <a:srgbClr val="FF7B5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6"/>
          <p:cNvSpPr/>
          <p:nvPr/>
        </p:nvSpPr>
        <p:spPr>
          <a:xfrm>
            <a:off x="4754880" y="841248"/>
            <a:ext cx="4160520" cy="4754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628"/>
              </a:buClr>
              <a:buSzPts val="1300"/>
              <a:buFont typeface="Calibri"/>
              <a:buNone/>
            </a:pPr>
            <a:r>
              <a:rPr lang="en-GB" sz="1300" b="1" i="0" u="none" strike="noStrike" cap="none">
                <a:solidFill>
                  <a:srgbClr val="0A1628"/>
                </a:solidFill>
                <a:latin typeface="Calibri"/>
                <a:ea typeface="Calibri"/>
                <a:cs typeface="Calibri"/>
                <a:sym typeface="Calibri"/>
              </a:rPr>
              <a:t>BACKWARD PASS</a:t>
            </a:r>
            <a:endParaRPr sz="1300" b="0" i="0" u="none" strike="noStrike" cap="none">
              <a:solidFill>
                <a:schemeClr val="dk1"/>
              </a:solidFill>
              <a:latin typeface="Calibri"/>
              <a:ea typeface="Calibri"/>
              <a:cs typeface="Calibri"/>
              <a:sym typeface="Calibri"/>
            </a:endParaRPr>
          </a:p>
        </p:txBody>
      </p:sp>
      <p:sp>
        <p:nvSpPr>
          <p:cNvPr id="378" name="Google Shape;378;p26"/>
          <p:cNvSpPr/>
          <p:nvPr/>
        </p:nvSpPr>
        <p:spPr>
          <a:xfrm>
            <a:off x="4892040" y="1444752"/>
            <a:ext cx="3886200" cy="685800"/>
          </a:xfrm>
          <a:prstGeom prst="rect">
            <a:avLst/>
          </a:prstGeom>
          <a:solidFill>
            <a:srgbClr val="1A3050"/>
          </a:solidFill>
          <a:ln w="12700" cap="flat" cmpd="sng">
            <a:solidFill>
              <a:srgbClr val="1E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9" name="Google Shape;379;p26"/>
          <p:cNvSpPr/>
          <p:nvPr/>
        </p:nvSpPr>
        <p:spPr>
          <a:xfrm>
            <a:off x="4983480" y="1481328"/>
            <a:ext cx="3703320"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7B54"/>
              </a:buClr>
              <a:buSzPts val="1050"/>
              <a:buFont typeface="Calibri"/>
              <a:buNone/>
            </a:pPr>
            <a:r>
              <a:rPr lang="en-GB" sz="1050" b="1" i="0" u="none" strike="noStrike" cap="none">
                <a:solidFill>
                  <a:srgbClr val="FF7B54"/>
                </a:solidFill>
                <a:latin typeface="Calibri"/>
                <a:ea typeface="Calibri"/>
                <a:cs typeface="Calibri"/>
                <a:sym typeface="Calibri"/>
              </a:rPr>
              <a:t>Error — Output layer:</a:t>
            </a:r>
            <a:endParaRPr sz="1050" b="0" i="0" u="none" strike="noStrike" cap="none">
              <a:solidFill>
                <a:schemeClr val="dk1"/>
              </a:solidFill>
              <a:latin typeface="Calibri"/>
              <a:ea typeface="Calibri"/>
              <a:cs typeface="Calibri"/>
              <a:sym typeface="Calibri"/>
            </a:endParaRPr>
          </a:p>
        </p:txBody>
      </p:sp>
      <p:sp>
        <p:nvSpPr>
          <p:cNvPr id="380" name="Google Shape;380;p26"/>
          <p:cNvSpPr/>
          <p:nvPr/>
        </p:nvSpPr>
        <p:spPr>
          <a:xfrm>
            <a:off x="4983480" y="1755648"/>
            <a:ext cx="37033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300"/>
              <a:buFont typeface="Courier New"/>
              <a:buNone/>
            </a:pPr>
            <a:r>
              <a:rPr lang="en-GB" sz="1300" b="0" i="0" u="none" strike="noStrike" cap="none">
                <a:solidFill>
                  <a:srgbClr val="FFFFFF"/>
                </a:solidFill>
                <a:latin typeface="Courier New"/>
                <a:ea typeface="Courier New"/>
                <a:cs typeface="Courier New"/>
                <a:sym typeface="Courier New"/>
              </a:rPr>
              <a:t>Errⱼ = Oⱼ(1 − Oⱼ)(Tⱼ − Oⱼ)</a:t>
            </a:r>
            <a:endParaRPr sz="1300" b="0" i="0" u="none" strike="noStrike" cap="none">
              <a:solidFill>
                <a:schemeClr val="dk1"/>
              </a:solidFill>
              <a:latin typeface="Calibri"/>
              <a:ea typeface="Calibri"/>
              <a:cs typeface="Calibri"/>
              <a:sym typeface="Calibri"/>
            </a:endParaRPr>
          </a:p>
        </p:txBody>
      </p:sp>
      <p:sp>
        <p:nvSpPr>
          <p:cNvPr id="381" name="Google Shape;381;p26"/>
          <p:cNvSpPr/>
          <p:nvPr/>
        </p:nvSpPr>
        <p:spPr>
          <a:xfrm>
            <a:off x="4892040" y="2249424"/>
            <a:ext cx="3886200" cy="685800"/>
          </a:xfrm>
          <a:prstGeom prst="rect">
            <a:avLst/>
          </a:prstGeom>
          <a:solidFill>
            <a:srgbClr val="1A3050"/>
          </a:solidFill>
          <a:ln w="12700" cap="flat" cmpd="sng">
            <a:solidFill>
              <a:srgbClr val="1E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6"/>
          <p:cNvSpPr/>
          <p:nvPr/>
        </p:nvSpPr>
        <p:spPr>
          <a:xfrm>
            <a:off x="4983480" y="2286000"/>
            <a:ext cx="3703320"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7B54"/>
              </a:buClr>
              <a:buSzPts val="1050"/>
              <a:buFont typeface="Calibri"/>
              <a:buNone/>
            </a:pPr>
            <a:r>
              <a:rPr lang="en-GB" sz="1050" b="1" i="0" u="none" strike="noStrike" cap="none">
                <a:solidFill>
                  <a:srgbClr val="FF7B54"/>
                </a:solidFill>
                <a:latin typeface="Calibri"/>
                <a:ea typeface="Calibri"/>
                <a:cs typeface="Calibri"/>
                <a:sym typeface="Calibri"/>
              </a:rPr>
              <a:t>Error — Hidden layer:</a:t>
            </a:r>
            <a:endParaRPr sz="1050" b="0" i="0" u="none" strike="noStrike" cap="none">
              <a:solidFill>
                <a:schemeClr val="dk1"/>
              </a:solidFill>
              <a:latin typeface="Calibri"/>
              <a:ea typeface="Calibri"/>
              <a:cs typeface="Calibri"/>
              <a:sym typeface="Calibri"/>
            </a:endParaRPr>
          </a:p>
        </p:txBody>
      </p:sp>
      <p:sp>
        <p:nvSpPr>
          <p:cNvPr id="383" name="Google Shape;383;p26"/>
          <p:cNvSpPr/>
          <p:nvPr/>
        </p:nvSpPr>
        <p:spPr>
          <a:xfrm>
            <a:off x="4983480" y="2560320"/>
            <a:ext cx="37033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300"/>
              <a:buFont typeface="Courier New"/>
              <a:buNone/>
            </a:pPr>
            <a:r>
              <a:rPr lang="en-GB" sz="1300" b="0" i="0" u="none" strike="noStrike" cap="none">
                <a:solidFill>
                  <a:srgbClr val="FFFFFF"/>
                </a:solidFill>
                <a:latin typeface="Courier New"/>
                <a:ea typeface="Courier New"/>
                <a:cs typeface="Courier New"/>
                <a:sym typeface="Courier New"/>
              </a:rPr>
              <a:t>Errⱼ = Oⱼ(1 − Oⱼ) Σₖ Errₖ wⱼₖ</a:t>
            </a:r>
            <a:endParaRPr sz="1300" b="0" i="0" u="none" strike="noStrike" cap="none">
              <a:solidFill>
                <a:schemeClr val="dk1"/>
              </a:solidFill>
              <a:latin typeface="Calibri"/>
              <a:ea typeface="Calibri"/>
              <a:cs typeface="Calibri"/>
              <a:sym typeface="Calibri"/>
            </a:endParaRPr>
          </a:p>
        </p:txBody>
      </p:sp>
      <p:sp>
        <p:nvSpPr>
          <p:cNvPr id="384" name="Google Shape;384;p26"/>
          <p:cNvSpPr/>
          <p:nvPr/>
        </p:nvSpPr>
        <p:spPr>
          <a:xfrm>
            <a:off x="4892040" y="3054096"/>
            <a:ext cx="3886200" cy="685800"/>
          </a:xfrm>
          <a:prstGeom prst="rect">
            <a:avLst/>
          </a:prstGeom>
          <a:solidFill>
            <a:srgbClr val="1A3050"/>
          </a:solidFill>
          <a:ln w="12700" cap="flat" cmpd="sng">
            <a:solidFill>
              <a:srgbClr val="1E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6"/>
          <p:cNvSpPr/>
          <p:nvPr/>
        </p:nvSpPr>
        <p:spPr>
          <a:xfrm>
            <a:off x="4983480" y="3090672"/>
            <a:ext cx="3703320"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7B54"/>
              </a:buClr>
              <a:buSzPts val="1050"/>
              <a:buFont typeface="Calibri"/>
              <a:buNone/>
            </a:pPr>
            <a:r>
              <a:rPr lang="en-GB" sz="1050" b="1" i="0" u="none" strike="noStrike" cap="none">
                <a:solidFill>
                  <a:srgbClr val="FF7B54"/>
                </a:solidFill>
                <a:latin typeface="Calibri"/>
                <a:ea typeface="Calibri"/>
                <a:cs typeface="Calibri"/>
                <a:sym typeface="Calibri"/>
              </a:rPr>
              <a:t>Weight update:</a:t>
            </a:r>
            <a:endParaRPr sz="1050" b="0" i="0" u="none" strike="noStrike" cap="none">
              <a:solidFill>
                <a:schemeClr val="dk1"/>
              </a:solidFill>
              <a:latin typeface="Calibri"/>
              <a:ea typeface="Calibri"/>
              <a:cs typeface="Calibri"/>
              <a:sym typeface="Calibri"/>
            </a:endParaRPr>
          </a:p>
        </p:txBody>
      </p:sp>
      <p:sp>
        <p:nvSpPr>
          <p:cNvPr id="386" name="Google Shape;386;p26"/>
          <p:cNvSpPr/>
          <p:nvPr/>
        </p:nvSpPr>
        <p:spPr>
          <a:xfrm>
            <a:off x="4983480" y="3364992"/>
            <a:ext cx="37033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300"/>
              <a:buFont typeface="Courier New"/>
              <a:buNone/>
            </a:pPr>
            <a:r>
              <a:rPr lang="en-GB" sz="1300" b="0" i="0" u="none" strike="noStrike" cap="none">
                <a:solidFill>
                  <a:srgbClr val="FFFFFF"/>
                </a:solidFill>
                <a:latin typeface="Courier New"/>
                <a:ea typeface="Courier New"/>
                <a:cs typeface="Courier New"/>
                <a:sym typeface="Courier New"/>
              </a:rPr>
              <a:t>Δwᵢⱼ = l · Errⱼ · Oᵢ  →  wᵢⱼ += Δwᵢⱼ</a:t>
            </a:r>
            <a:endParaRPr sz="1300" b="0" i="0" u="none" strike="noStrike" cap="none">
              <a:solidFill>
                <a:schemeClr val="dk1"/>
              </a:solidFill>
              <a:latin typeface="Calibri"/>
              <a:ea typeface="Calibri"/>
              <a:cs typeface="Calibri"/>
              <a:sym typeface="Calibri"/>
            </a:endParaRPr>
          </a:p>
        </p:txBody>
      </p:sp>
      <p:sp>
        <p:nvSpPr>
          <p:cNvPr id="387" name="Google Shape;387;p26"/>
          <p:cNvSpPr/>
          <p:nvPr/>
        </p:nvSpPr>
        <p:spPr>
          <a:xfrm>
            <a:off x="4892040" y="3858768"/>
            <a:ext cx="3886200" cy="685800"/>
          </a:xfrm>
          <a:prstGeom prst="rect">
            <a:avLst/>
          </a:prstGeom>
          <a:solidFill>
            <a:srgbClr val="1A3050"/>
          </a:solidFill>
          <a:ln w="12700" cap="flat" cmpd="sng">
            <a:solidFill>
              <a:srgbClr val="1E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6"/>
          <p:cNvSpPr/>
          <p:nvPr/>
        </p:nvSpPr>
        <p:spPr>
          <a:xfrm>
            <a:off x="4983480" y="3895344"/>
            <a:ext cx="3703320"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7B54"/>
              </a:buClr>
              <a:buSzPts val="1050"/>
              <a:buFont typeface="Calibri"/>
              <a:buNone/>
            </a:pPr>
            <a:r>
              <a:rPr lang="en-GB" sz="1050" b="1" i="0" u="none" strike="noStrike" cap="none">
                <a:solidFill>
                  <a:srgbClr val="FF7B54"/>
                </a:solidFill>
                <a:latin typeface="Calibri"/>
                <a:ea typeface="Calibri"/>
                <a:cs typeface="Calibri"/>
                <a:sym typeface="Calibri"/>
              </a:rPr>
              <a:t>Bias update:</a:t>
            </a:r>
            <a:endParaRPr sz="1050" b="0" i="0" u="none" strike="noStrike" cap="none">
              <a:solidFill>
                <a:schemeClr val="dk1"/>
              </a:solidFill>
              <a:latin typeface="Calibri"/>
              <a:ea typeface="Calibri"/>
              <a:cs typeface="Calibri"/>
              <a:sym typeface="Calibri"/>
            </a:endParaRPr>
          </a:p>
        </p:txBody>
      </p:sp>
      <p:sp>
        <p:nvSpPr>
          <p:cNvPr id="389" name="Google Shape;389;p26"/>
          <p:cNvSpPr/>
          <p:nvPr/>
        </p:nvSpPr>
        <p:spPr>
          <a:xfrm>
            <a:off x="4983480" y="4169664"/>
            <a:ext cx="37033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300"/>
              <a:buFont typeface="Courier New"/>
              <a:buNone/>
            </a:pPr>
            <a:r>
              <a:rPr lang="en-GB" sz="1300" b="0" i="0" u="none" strike="noStrike" cap="none">
                <a:solidFill>
                  <a:srgbClr val="FFFFFF"/>
                </a:solidFill>
                <a:latin typeface="Courier New"/>
                <a:ea typeface="Courier New"/>
                <a:cs typeface="Courier New"/>
                <a:sym typeface="Courier New"/>
              </a:rPr>
              <a:t>Δθⱼ = l · Errⱼ  →  θⱼ += Δθⱼ</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63">
          <a:extLst>
            <a:ext uri="{FF2B5EF4-FFF2-40B4-BE49-F238E27FC236}">
              <a16:creationId xmlns:a16="http://schemas.microsoft.com/office/drawing/2014/main" id="{1DC72EFD-0344-253E-3A44-D9380607A3A9}"/>
            </a:ext>
          </a:extLst>
        </p:cNvPr>
        <p:cNvGrpSpPr/>
        <p:nvPr/>
      </p:nvGrpSpPr>
      <p:grpSpPr>
        <a:xfrm>
          <a:off x="0" y="0"/>
          <a:ext cx="0" cy="0"/>
          <a:chOff x="0" y="0"/>
          <a:chExt cx="0" cy="0"/>
        </a:xfrm>
      </p:grpSpPr>
      <p:sp>
        <p:nvSpPr>
          <p:cNvPr id="365" name="Google Shape;365;p26">
            <a:extLst>
              <a:ext uri="{FF2B5EF4-FFF2-40B4-BE49-F238E27FC236}">
                <a16:creationId xmlns:a16="http://schemas.microsoft.com/office/drawing/2014/main" id="{FB21B3E2-E703-806C-A961-0003A909BA09}"/>
              </a:ext>
            </a:extLst>
          </p:cNvPr>
          <p:cNvSpPr/>
          <p:nvPr/>
        </p:nvSpPr>
        <p:spPr>
          <a:xfrm>
            <a:off x="365760" y="164592"/>
            <a:ext cx="82296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400"/>
              <a:buFont typeface="Calibri"/>
              <a:buNone/>
            </a:pPr>
            <a:r>
              <a:rPr lang="en-GB" sz="2400" b="1" i="0" u="none" strike="noStrike" cap="none" dirty="0">
                <a:solidFill>
                  <a:srgbClr val="FFFFFF"/>
                </a:solidFill>
                <a:latin typeface="Calibri"/>
                <a:ea typeface="Calibri"/>
                <a:cs typeface="Calibri"/>
                <a:sym typeface="Calibri"/>
              </a:rPr>
              <a:t>Backpropagation — Example 1</a:t>
            </a:r>
            <a:endParaRPr sz="2400" b="0" i="0" u="none" strike="noStrike" cap="none" dirty="0">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213BE5B6-531A-9C73-DFCC-631F61FFB59C}"/>
              </a:ext>
            </a:extLst>
          </p:cNvPr>
          <p:cNvPicPr>
            <a:picLocks noChangeAspect="1"/>
          </p:cNvPicPr>
          <p:nvPr/>
        </p:nvPicPr>
        <p:blipFill>
          <a:blip r:embed="rId3"/>
          <a:stretch>
            <a:fillRect/>
          </a:stretch>
        </p:blipFill>
        <p:spPr>
          <a:xfrm>
            <a:off x="365760" y="824744"/>
            <a:ext cx="8355745" cy="4096661"/>
          </a:xfrm>
          <a:prstGeom prst="rect">
            <a:avLst/>
          </a:prstGeom>
        </p:spPr>
      </p:pic>
    </p:spTree>
    <p:extLst>
      <p:ext uri="{BB962C8B-B14F-4D97-AF65-F5344CB8AC3E}">
        <p14:creationId xmlns:p14="http://schemas.microsoft.com/office/powerpoint/2010/main" val="30672008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27"/>
          <p:cNvSpPr/>
          <p:nvPr/>
        </p:nvSpPr>
        <p:spPr>
          <a:xfrm>
            <a:off x="0" y="0"/>
            <a:ext cx="9144000" cy="73152"/>
          </a:xfrm>
          <a:prstGeom prst="rect">
            <a:avLst/>
          </a:prstGeom>
          <a:solidFill>
            <a:srgbClr val="FF7B54"/>
          </a:solidFill>
          <a:ln w="12700" cap="flat" cmpd="sng">
            <a:solidFill>
              <a:srgbClr val="FF7B5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7"/>
          <p:cNvSpPr/>
          <p:nvPr/>
        </p:nvSpPr>
        <p:spPr>
          <a:xfrm>
            <a:off x="365760" y="164592"/>
            <a:ext cx="82296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200"/>
              <a:buFont typeface="Calibri"/>
              <a:buNone/>
            </a:pPr>
            <a:r>
              <a:rPr lang="en-GB" sz="2200" b="1" i="0" u="none" strike="noStrike" cap="none" dirty="0">
                <a:solidFill>
                  <a:srgbClr val="FFFFFF"/>
                </a:solidFill>
                <a:latin typeface="Calibri"/>
                <a:ea typeface="Calibri"/>
                <a:cs typeface="Calibri"/>
                <a:sym typeface="Calibri"/>
              </a:rPr>
              <a:t>Backpropagation — Worked Example</a:t>
            </a:r>
            <a:endParaRPr sz="2200" b="0" i="0" u="none" strike="noStrike" cap="none" dirty="0">
              <a:solidFill>
                <a:schemeClr val="dk1"/>
              </a:solidFill>
              <a:latin typeface="Calibri"/>
              <a:ea typeface="Calibri"/>
              <a:cs typeface="Calibri"/>
              <a:sym typeface="Calibri"/>
            </a:endParaRPr>
          </a:p>
        </p:txBody>
      </p:sp>
      <p:pic>
        <p:nvPicPr>
          <p:cNvPr id="7" name="Picture 6">
            <a:extLst>
              <a:ext uri="{FF2B5EF4-FFF2-40B4-BE49-F238E27FC236}">
                <a16:creationId xmlns:a16="http://schemas.microsoft.com/office/drawing/2014/main" id="{4B6D0DF9-8BBD-27D2-A68D-1173B33ADE37}"/>
              </a:ext>
            </a:extLst>
          </p:cNvPr>
          <p:cNvPicPr>
            <a:picLocks noChangeAspect="1"/>
          </p:cNvPicPr>
          <p:nvPr/>
        </p:nvPicPr>
        <p:blipFill>
          <a:blip r:embed="rId3"/>
          <a:stretch>
            <a:fillRect/>
          </a:stretch>
        </p:blipFill>
        <p:spPr>
          <a:xfrm>
            <a:off x="426999" y="804672"/>
            <a:ext cx="7914114" cy="4277135"/>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94">
          <a:extLst>
            <a:ext uri="{FF2B5EF4-FFF2-40B4-BE49-F238E27FC236}">
              <a16:creationId xmlns:a16="http://schemas.microsoft.com/office/drawing/2014/main" id="{94EC0C75-F413-16D2-F415-D5C04E57B4C2}"/>
            </a:ext>
          </a:extLst>
        </p:cNvPr>
        <p:cNvGrpSpPr/>
        <p:nvPr/>
      </p:nvGrpSpPr>
      <p:grpSpPr>
        <a:xfrm>
          <a:off x="0" y="0"/>
          <a:ext cx="0" cy="0"/>
          <a:chOff x="0" y="0"/>
          <a:chExt cx="0" cy="0"/>
        </a:xfrm>
      </p:grpSpPr>
      <p:sp>
        <p:nvSpPr>
          <p:cNvPr id="395" name="Google Shape;395;p27">
            <a:extLst>
              <a:ext uri="{FF2B5EF4-FFF2-40B4-BE49-F238E27FC236}">
                <a16:creationId xmlns:a16="http://schemas.microsoft.com/office/drawing/2014/main" id="{B904381C-1070-3F71-1E6F-98ED5B80C60E}"/>
              </a:ext>
            </a:extLst>
          </p:cNvPr>
          <p:cNvSpPr/>
          <p:nvPr/>
        </p:nvSpPr>
        <p:spPr>
          <a:xfrm>
            <a:off x="0" y="0"/>
            <a:ext cx="9144000" cy="73152"/>
          </a:xfrm>
          <a:prstGeom prst="rect">
            <a:avLst/>
          </a:prstGeom>
          <a:solidFill>
            <a:srgbClr val="FF7B54"/>
          </a:solidFill>
          <a:ln w="12700" cap="flat" cmpd="sng">
            <a:solidFill>
              <a:srgbClr val="FF7B5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7">
            <a:extLst>
              <a:ext uri="{FF2B5EF4-FFF2-40B4-BE49-F238E27FC236}">
                <a16:creationId xmlns:a16="http://schemas.microsoft.com/office/drawing/2014/main" id="{E1B07292-60ED-BA58-583B-1335391BAEBC}"/>
              </a:ext>
            </a:extLst>
          </p:cNvPr>
          <p:cNvSpPr/>
          <p:nvPr/>
        </p:nvSpPr>
        <p:spPr>
          <a:xfrm>
            <a:off x="365760" y="164592"/>
            <a:ext cx="82296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200"/>
              <a:buFont typeface="Calibri"/>
              <a:buNone/>
            </a:pPr>
            <a:r>
              <a:rPr lang="en-GB" sz="2200" b="1" i="0" u="none" strike="noStrike" cap="none" dirty="0">
                <a:solidFill>
                  <a:srgbClr val="FFFFFF"/>
                </a:solidFill>
                <a:latin typeface="Calibri"/>
                <a:ea typeface="Calibri"/>
                <a:cs typeface="Calibri"/>
                <a:sym typeface="Calibri"/>
              </a:rPr>
              <a:t>Backpropagation — Worked Example</a:t>
            </a:r>
            <a:endParaRPr sz="2200" b="0" i="0" u="none" strike="noStrike" cap="none" dirty="0">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97A020E3-9C1C-0F1B-F678-04385F9E281F}"/>
              </a:ext>
            </a:extLst>
          </p:cNvPr>
          <p:cNvPicPr>
            <a:picLocks noChangeAspect="1"/>
          </p:cNvPicPr>
          <p:nvPr/>
        </p:nvPicPr>
        <p:blipFill>
          <a:blip r:embed="rId3"/>
          <a:stretch>
            <a:fillRect/>
          </a:stretch>
        </p:blipFill>
        <p:spPr>
          <a:xfrm>
            <a:off x="163651" y="839442"/>
            <a:ext cx="3916364" cy="3306411"/>
          </a:xfrm>
          <a:prstGeom prst="rect">
            <a:avLst/>
          </a:prstGeom>
        </p:spPr>
      </p:pic>
      <p:pic>
        <p:nvPicPr>
          <p:cNvPr id="5" name="Picture 4">
            <a:extLst>
              <a:ext uri="{FF2B5EF4-FFF2-40B4-BE49-F238E27FC236}">
                <a16:creationId xmlns:a16="http://schemas.microsoft.com/office/drawing/2014/main" id="{B4328116-ECE8-0348-033F-23C9918CBDDC}"/>
              </a:ext>
            </a:extLst>
          </p:cNvPr>
          <p:cNvPicPr>
            <a:picLocks noChangeAspect="1"/>
          </p:cNvPicPr>
          <p:nvPr/>
        </p:nvPicPr>
        <p:blipFill>
          <a:blip r:embed="rId4"/>
          <a:stretch>
            <a:fillRect/>
          </a:stretch>
        </p:blipFill>
        <p:spPr>
          <a:xfrm>
            <a:off x="4080015" y="804672"/>
            <a:ext cx="4968671" cy="3375953"/>
          </a:xfrm>
          <a:prstGeom prst="rect">
            <a:avLst/>
          </a:prstGeom>
        </p:spPr>
      </p:pic>
    </p:spTree>
    <p:extLst>
      <p:ext uri="{BB962C8B-B14F-4D97-AF65-F5344CB8AC3E}">
        <p14:creationId xmlns:p14="http://schemas.microsoft.com/office/powerpoint/2010/main" val="366915928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63">
          <a:extLst>
            <a:ext uri="{FF2B5EF4-FFF2-40B4-BE49-F238E27FC236}">
              <a16:creationId xmlns:a16="http://schemas.microsoft.com/office/drawing/2014/main" id="{33738BBA-4FCE-DECB-E44C-BF24B3EFB45C}"/>
            </a:ext>
          </a:extLst>
        </p:cNvPr>
        <p:cNvGrpSpPr/>
        <p:nvPr/>
      </p:nvGrpSpPr>
      <p:grpSpPr>
        <a:xfrm>
          <a:off x="0" y="0"/>
          <a:ext cx="0" cy="0"/>
          <a:chOff x="0" y="0"/>
          <a:chExt cx="0" cy="0"/>
        </a:xfrm>
      </p:grpSpPr>
      <p:sp>
        <p:nvSpPr>
          <p:cNvPr id="365" name="Google Shape;365;p26">
            <a:extLst>
              <a:ext uri="{FF2B5EF4-FFF2-40B4-BE49-F238E27FC236}">
                <a16:creationId xmlns:a16="http://schemas.microsoft.com/office/drawing/2014/main" id="{8DD40B57-BD96-C443-C2EC-4C031708D26F}"/>
              </a:ext>
            </a:extLst>
          </p:cNvPr>
          <p:cNvSpPr/>
          <p:nvPr/>
        </p:nvSpPr>
        <p:spPr>
          <a:xfrm>
            <a:off x="365760" y="164592"/>
            <a:ext cx="82296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400"/>
              <a:buFont typeface="Calibri"/>
              <a:buNone/>
            </a:pPr>
            <a:r>
              <a:rPr lang="en-GB" sz="2400" b="1" i="0" u="none" strike="noStrike" cap="none" dirty="0">
                <a:solidFill>
                  <a:srgbClr val="FFFFFF"/>
                </a:solidFill>
                <a:latin typeface="Calibri"/>
                <a:ea typeface="Calibri"/>
                <a:cs typeface="Calibri"/>
                <a:sym typeface="Calibri"/>
              </a:rPr>
              <a:t>Backpropagation — Example 2</a:t>
            </a:r>
            <a:endParaRPr sz="2400" b="0" i="0" u="none" strike="noStrike" cap="none" dirty="0">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216AC641-9474-841F-9B31-39D474FDA810}"/>
              </a:ext>
            </a:extLst>
          </p:cNvPr>
          <p:cNvPicPr>
            <a:picLocks noChangeAspect="1"/>
          </p:cNvPicPr>
          <p:nvPr/>
        </p:nvPicPr>
        <p:blipFill>
          <a:blip r:embed="rId3"/>
          <a:stretch>
            <a:fillRect/>
          </a:stretch>
        </p:blipFill>
        <p:spPr>
          <a:xfrm>
            <a:off x="446087" y="884307"/>
            <a:ext cx="7712108" cy="3939881"/>
          </a:xfrm>
          <a:prstGeom prst="rect">
            <a:avLst/>
          </a:prstGeom>
        </p:spPr>
      </p:pic>
    </p:spTree>
    <p:extLst>
      <p:ext uri="{BB962C8B-B14F-4D97-AF65-F5344CB8AC3E}">
        <p14:creationId xmlns:p14="http://schemas.microsoft.com/office/powerpoint/2010/main" val="23023422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394">
          <a:extLst>
            <a:ext uri="{FF2B5EF4-FFF2-40B4-BE49-F238E27FC236}">
              <a16:creationId xmlns:a16="http://schemas.microsoft.com/office/drawing/2014/main" id="{A8A2019D-59BB-1EDE-298D-AF7D88B542AE}"/>
            </a:ext>
          </a:extLst>
        </p:cNvPr>
        <p:cNvGrpSpPr/>
        <p:nvPr/>
      </p:nvGrpSpPr>
      <p:grpSpPr>
        <a:xfrm>
          <a:off x="0" y="0"/>
          <a:ext cx="0" cy="0"/>
          <a:chOff x="0" y="0"/>
          <a:chExt cx="0" cy="0"/>
        </a:xfrm>
      </p:grpSpPr>
      <p:sp>
        <p:nvSpPr>
          <p:cNvPr id="395" name="Google Shape;395;p27">
            <a:extLst>
              <a:ext uri="{FF2B5EF4-FFF2-40B4-BE49-F238E27FC236}">
                <a16:creationId xmlns:a16="http://schemas.microsoft.com/office/drawing/2014/main" id="{6727D07D-C761-C342-FBA8-7112021D4A93}"/>
              </a:ext>
            </a:extLst>
          </p:cNvPr>
          <p:cNvSpPr/>
          <p:nvPr/>
        </p:nvSpPr>
        <p:spPr>
          <a:xfrm>
            <a:off x="0" y="0"/>
            <a:ext cx="9144000" cy="73152"/>
          </a:xfrm>
          <a:prstGeom prst="rect">
            <a:avLst/>
          </a:prstGeom>
          <a:solidFill>
            <a:srgbClr val="FF7B54"/>
          </a:solidFill>
          <a:ln w="12700" cap="flat" cmpd="sng">
            <a:solidFill>
              <a:srgbClr val="FF7B5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7">
            <a:extLst>
              <a:ext uri="{FF2B5EF4-FFF2-40B4-BE49-F238E27FC236}">
                <a16:creationId xmlns:a16="http://schemas.microsoft.com/office/drawing/2014/main" id="{68FD90FC-229D-01E6-0F0A-7F97468776C0}"/>
              </a:ext>
            </a:extLst>
          </p:cNvPr>
          <p:cNvSpPr/>
          <p:nvPr/>
        </p:nvSpPr>
        <p:spPr>
          <a:xfrm>
            <a:off x="365760" y="164592"/>
            <a:ext cx="82296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200"/>
              <a:buFont typeface="Calibri"/>
              <a:buNone/>
            </a:pPr>
            <a:r>
              <a:rPr lang="en-GB" sz="2200" b="1" i="0" u="none" strike="noStrike" cap="none" dirty="0">
                <a:solidFill>
                  <a:srgbClr val="FFFFFF"/>
                </a:solidFill>
                <a:latin typeface="Calibri"/>
                <a:ea typeface="Calibri"/>
                <a:cs typeface="Calibri"/>
                <a:sym typeface="Calibri"/>
              </a:rPr>
              <a:t>Backpropagation — Worked Example (Step 1)</a:t>
            </a:r>
            <a:endParaRPr sz="2200" b="0" i="0" u="none" strike="noStrike" cap="none" dirty="0">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72A8E35A-9846-5CDB-7C25-8988277643B1}"/>
              </a:ext>
            </a:extLst>
          </p:cNvPr>
          <p:cNvPicPr>
            <a:picLocks noChangeAspect="1"/>
          </p:cNvPicPr>
          <p:nvPr/>
        </p:nvPicPr>
        <p:blipFill>
          <a:blip r:embed="rId3"/>
          <a:stretch>
            <a:fillRect/>
          </a:stretch>
        </p:blipFill>
        <p:spPr>
          <a:xfrm>
            <a:off x="496758" y="885238"/>
            <a:ext cx="7094835" cy="3863675"/>
          </a:xfrm>
          <a:prstGeom prst="rect">
            <a:avLst/>
          </a:prstGeom>
        </p:spPr>
      </p:pic>
    </p:spTree>
    <p:extLst>
      <p:ext uri="{BB962C8B-B14F-4D97-AF65-F5344CB8AC3E}">
        <p14:creationId xmlns:p14="http://schemas.microsoft.com/office/powerpoint/2010/main" val="31448877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394">
          <a:extLst>
            <a:ext uri="{FF2B5EF4-FFF2-40B4-BE49-F238E27FC236}">
              <a16:creationId xmlns:a16="http://schemas.microsoft.com/office/drawing/2014/main" id="{6003D511-5DA9-F030-F465-5F24D676EDA2}"/>
            </a:ext>
          </a:extLst>
        </p:cNvPr>
        <p:cNvGrpSpPr/>
        <p:nvPr/>
      </p:nvGrpSpPr>
      <p:grpSpPr>
        <a:xfrm>
          <a:off x="0" y="0"/>
          <a:ext cx="0" cy="0"/>
          <a:chOff x="0" y="0"/>
          <a:chExt cx="0" cy="0"/>
        </a:xfrm>
      </p:grpSpPr>
      <p:sp>
        <p:nvSpPr>
          <p:cNvPr id="395" name="Google Shape;395;p27">
            <a:extLst>
              <a:ext uri="{FF2B5EF4-FFF2-40B4-BE49-F238E27FC236}">
                <a16:creationId xmlns:a16="http://schemas.microsoft.com/office/drawing/2014/main" id="{087CE4AF-F7C8-48B7-8BE8-D8A092710934}"/>
              </a:ext>
            </a:extLst>
          </p:cNvPr>
          <p:cNvSpPr/>
          <p:nvPr/>
        </p:nvSpPr>
        <p:spPr>
          <a:xfrm>
            <a:off x="0" y="0"/>
            <a:ext cx="9144000" cy="73152"/>
          </a:xfrm>
          <a:prstGeom prst="rect">
            <a:avLst/>
          </a:prstGeom>
          <a:solidFill>
            <a:srgbClr val="FF7B54"/>
          </a:solidFill>
          <a:ln w="12700" cap="flat" cmpd="sng">
            <a:solidFill>
              <a:srgbClr val="FF7B5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7">
            <a:extLst>
              <a:ext uri="{FF2B5EF4-FFF2-40B4-BE49-F238E27FC236}">
                <a16:creationId xmlns:a16="http://schemas.microsoft.com/office/drawing/2014/main" id="{B1F797A9-53A7-3587-3568-17AB624DA07B}"/>
              </a:ext>
            </a:extLst>
          </p:cNvPr>
          <p:cNvSpPr/>
          <p:nvPr/>
        </p:nvSpPr>
        <p:spPr>
          <a:xfrm>
            <a:off x="365760" y="164592"/>
            <a:ext cx="82296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200"/>
              <a:buFont typeface="Calibri"/>
              <a:buNone/>
            </a:pPr>
            <a:r>
              <a:rPr lang="en-GB" sz="2200" b="1" i="0" u="none" strike="noStrike" cap="none" dirty="0">
                <a:solidFill>
                  <a:srgbClr val="FFFFFF"/>
                </a:solidFill>
                <a:latin typeface="Calibri"/>
                <a:ea typeface="Calibri"/>
                <a:cs typeface="Calibri"/>
                <a:sym typeface="Calibri"/>
              </a:rPr>
              <a:t>Backpropagation — Worked Example (Step 2)</a:t>
            </a:r>
            <a:endParaRPr sz="2200" b="0" i="0" u="none" strike="noStrike" cap="none" dirty="0">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2F303905-4A61-C45B-264E-C319487A4A66}"/>
              </a:ext>
            </a:extLst>
          </p:cNvPr>
          <p:cNvPicPr>
            <a:picLocks noChangeAspect="1"/>
          </p:cNvPicPr>
          <p:nvPr/>
        </p:nvPicPr>
        <p:blipFill>
          <a:blip r:embed="rId3"/>
          <a:stretch>
            <a:fillRect/>
          </a:stretch>
        </p:blipFill>
        <p:spPr>
          <a:xfrm>
            <a:off x="365760" y="921610"/>
            <a:ext cx="7712108" cy="3017782"/>
          </a:xfrm>
          <a:prstGeom prst="rect">
            <a:avLst/>
          </a:prstGeom>
        </p:spPr>
      </p:pic>
    </p:spTree>
    <p:extLst>
      <p:ext uri="{BB962C8B-B14F-4D97-AF65-F5344CB8AC3E}">
        <p14:creationId xmlns:p14="http://schemas.microsoft.com/office/powerpoint/2010/main" val="281511023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394">
          <a:extLst>
            <a:ext uri="{FF2B5EF4-FFF2-40B4-BE49-F238E27FC236}">
              <a16:creationId xmlns:a16="http://schemas.microsoft.com/office/drawing/2014/main" id="{3EB5545B-A1C2-3A49-EA61-C7477FFC6C93}"/>
            </a:ext>
          </a:extLst>
        </p:cNvPr>
        <p:cNvGrpSpPr/>
        <p:nvPr/>
      </p:nvGrpSpPr>
      <p:grpSpPr>
        <a:xfrm>
          <a:off x="0" y="0"/>
          <a:ext cx="0" cy="0"/>
          <a:chOff x="0" y="0"/>
          <a:chExt cx="0" cy="0"/>
        </a:xfrm>
      </p:grpSpPr>
      <p:sp>
        <p:nvSpPr>
          <p:cNvPr id="395" name="Google Shape;395;p27">
            <a:extLst>
              <a:ext uri="{FF2B5EF4-FFF2-40B4-BE49-F238E27FC236}">
                <a16:creationId xmlns:a16="http://schemas.microsoft.com/office/drawing/2014/main" id="{2A21F7FA-EB35-87D9-8BC8-3B93566073F0}"/>
              </a:ext>
            </a:extLst>
          </p:cNvPr>
          <p:cNvSpPr/>
          <p:nvPr/>
        </p:nvSpPr>
        <p:spPr>
          <a:xfrm>
            <a:off x="0" y="0"/>
            <a:ext cx="9144000" cy="73152"/>
          </a:xfrm>
          <a:prstGeom prst="rect">
            <a:avLst/>
          </a:prstGeom>
          <a:solidFill>
            <a:srgbClr val="FF7B54"/>
          </a:solidFill>
          <a:ln w="12700" cap="flat" cmpd="sng">
            <a:solidFill>
              <a:srgbClr val="FF7B5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7">
            <a:extLst>
              <a:ext uri="{FF2B5EF4-FFF2-40B4-BE49-F238E27FC236}">
                <a16:creationId xmlns:a16="http://schemas.microsoft.com/office/drawing/2014/main" id="{E86C3478-1F83-B997-5E1A-26E0DEC59AD2}"/>
              </a:ext>
            </a:extLst>
          </p:cNvPr>
          <p:cNvSpPr/>
          <p:nvPr/>
        </p:nvSpPr>
        <p:spPr>
          <a:xfrm>
            <a:off x="365760" y="164592"/>
            <a:ext cx="82296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200"/>
              <a:buFont typeface="Calibri"/>
              <a:buNone/>
            </a:pPr>
            <a:r>
              <a:rPr lang="en-GB" sz="2200" b="1" i="0" u="none" strike="noStrike" cap="none" dirty="0">
                <a:solidFill>
                  <a:srgbClr val="FFFFFF"/>
                </a:solidFill>
                <a:latin typeface="Calibri"/>
                <a:ea typeface="Calibri"/>
                <a:cs typeface="Calibri"/>
                <a:sym typeface="Calibri"/>
              </a:rPr>
              <a:t>Backpropagation — Worked Example</a:t>
            </a:r>
            <a:endParaRPr sz="2200" b="0" i="0" u="none" strike="noStrike" cap="none" dirty="0">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C9059F84-872B-3881-5BD0-6D780695878E}"/>
              </a:ext>
            </a:extLst>
          </p:cNvPr>
          <p:cNvPicPr>
            <a:picLocks noChangeAspect="1"/>
          </p:cNvPicPr>
          <p:nvPr/>
        </p:nvPicPr>
        <p:blipFill>
          <a:blip r:embed="rId3"/>
          <a:stretch>
            <a:fillRect/>
          </a:stretch>
        </p:blipFill>
        <p:spPr>
          <a:xfrm>
            <a:off x="551089" y="984601"/>
            <a:ext cx="7098648" cy="3142259"/>
          </a:xfrm>
          <a:prstGeom prst="rect">
            <a:avLst/>
          </a:prstGeom>
        </p:spPr>
      </p:pic>
    </p:spTree>
    <p:extLst>
      <p:ext uri="{BB962C8B-B14F-4D97-AF65-F5344CB8AC3E}">
        <p14:creationId xmlns:p14="http://schemas.microsoft.com/office/powerpoint/2010/main" val="42816000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394">
          <a:extLst>
            <a:ext uri="{FF2B5EF4-FFF2-40B4-BE49-F238E27FC236}">
              <a16:creationId xmlns:a16="http://schemas.microsoft.com/office/drawing/2014/main" id="{9AF58C0C-1930-8C92-F034-1F4FB35FF7FA}"/>
            </a:ext>
          </a:extLst>
        </p:cNvPr>
        <p:cNvGrpSpPr/>
        <p:nvPr/>
      </p:nvGrpSpPr>
      <p:grpSpPr>
        <a:xfrm>
          <a:off x="0" y="0"/>
          <a:ext cx="0" cy="0"/>
          <a:chOff x="0" y="0"/>
          <a:chExt cx="0" cy="0"/>
        </a:xfrm>
      </p:grpSpPr>
      <p:sp>
        <p:nvSpPr>
          <p:cNvPr id="395" name="Google Shape;395;p27">
            <a:extLst>
              <a:ext uri="{FF2B5EF4-FFF2-40B4-BE49-F238E27FC236}">
                <a16:creationId xmlns:a16="http://schemas.microsoft.com/office/drawing/2014/main" id="{4AF4E3C2-D998-ABD7-D860-928AFBE2CFF7}"/>
              </a:ext>
            </a:extLst>
          </p:cNvPr>
          <p:cNvSpPr/>
          <p:nvPr/>
        </p:nvSpPr>
        <p:spPr>
          <a:xfrm>
            <a:off x="0" y="0"/>
            <a:ext cx="9144000" cy="73152"/>
          </a:xfrm>
          <a:prstGeom prst="rect">
            <a:avLst/>
          </a:prstGeom>
          <a:solidFill>
            <a:srgbClr val="FF7B54"/>
          </a:solidFill>
          <a:ln w="12700" cap="flat" cmpd="sng">
            <a:solidFill>
              <a:srgbClr val="FF7B5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7">
            <a:extLst>
              <a:ext uri="{FF2B5EF4-FFF2-40B4-BE49-F238E27FC236}">
                <a16:creationId xmlns:a16="http://schemas.microsoft.com/office/drawing/2014/main" id="{751238FC-7F3C-9C8D-48A8-924B52A31C80}"/>
              </a:ext>
            </a:extLst>
          </p:cNvPr>
          <p:cNvSpPr/>
          <p:nvPr/>
        </p:nvSpPr>
        <p:spPr>
          <a:xfrm>
            <a:off x="365760" y="164592"/>
            <a:ext cx="82296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200"/>
              <a:buFont typeface="Calibri"/>
              <a:buNone/>
            </a:pPr>
            <a:r>
              <a:rPr lang="en-GB" sz="2200" b="1" i="0" u="none" strike="noStrike" cap="none" dirty="0">
                <a:solidFill>
                  <a:srgbClr val="FFFFFF"/>
                </a:solidFill>
                <a:latin typeface="Calibri"/>
                <a:ea typeface="Calibri"/>
                <a:cs typeface="Calibri"/>
                <a:sym typeface="Calibri"/>
              </a:rPr>
              <a:t>Backpropagation — Worked Example</a:t>
            </a:r>
            <a:endParaRPr sz="2200" b="0" i="0" u="none" strike="noStrike" cap="none" dirty="0">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1A9DCD8C-3D78-C3E8-EABD-190399E6AA4F}"/>
              </a:ext>
            </a:extLst>
          </p:cNvPr>
          <p:cNvPicPr>
            <a:picLocks noChangeAspect="1"/>
          </p:cNvPicPr>
          <p:nvPr/>
        </p:nvPicPr>
        <p:blipFill>
          <a:blip r:embed="rId3"/>
          <a:stretch>
            <a:fillRect/>
          </a:stretch>
        </p:blipFill>
        <p:spPr>
          <a:xfrm>
            <a:off x="523964" y="866188"/>
            <a:ext cx="7605419" cy="3901778"/>
          </a:xfrm>
          <a:prstGeom prst="rect">
            <a:avLst/>
          </a:prstGeom>
        </p:spPr>
      </p:pic>
    </p:spTree>
    <p:extLst>
      <p:ext uri="{BB962C8B-B14F-4D97-AF65-F5344CB8AC3E}">
        <p14:creationId xmlns:p14="http://schemas.microsoft.com/office/powerpoint/2010/main" val="299049243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394">
          <a:extLst>
            <a:ext uri="{FF2B5EF4-FFF2-40B4-BE49-F238E27FC236}">
              <a16:creationId xmlns:a16="http://schemas.microsoft.com/office/drawing/2014/main" id="{A8AFDB2E-FA35-5672-1161-70A3003C8485}"/>
            </a:ext>
          </a:extLst>
        </p:cNvPr>
        <p:cNvGrpSpPr/>
        <p:nvPr/>
      </p:nvGrpSpPr>
      <p:grpSpPr>
        <a:xfrm>
          <a:off x="0" y="0"/>
          <a:ext cx="0" cy="0"/>
          <a:chOff x="0" y="0"/>
          <a:chExt cx="0" cy="0"/>
        </a:xfrm>
      </p:grpSpPr>
      <p:sp>
        <p:nvSpPr>
          <p:cNvPr id="395" name="Google Shape;395;p27">
            <a:extLst>
              <a:ext uri="{FF2B5EF4-FFF2-40B4-BE49-F238E27FC236}">
                <a16:creationId xmlns:a16="http://schemas.microsoft.com/office/drawing/2014/main" id="{70CF2C62-1FB7-B141-48B7-2BF5BF957A2D}"/>
              </a:ext>
            </a:extLst>
          </p:cNvPr>
          <p:cNvSpPr/>
          <p:nvPr/>
        </p:nvSpPr>
        <p:spPr>
          <a:xfrm>
            <a:off x="0" y="0"/>
            <a:ext cx="9144000" cy="73152"/>
          </a:xfrm>
          <a:prstGeom prst="rect">
            <a:avLst/>
          </a:prstGeom>
          <a:solidFill>
            <a:srgbClr val="FF7B54"/>
          </a:solidFill>
          <a:ln w="12700" cap="flat" cmpd="sng">
            <a:solidFill>
              <a:srgbClr val="FF7B5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7">
            <a:extLst>
              <a:ext uri="{FF2B5EF4-FFF2-40B4-BE49-F238E27FC236}">
                <a16:creationId xmlns:a16="http://schemas.microsoft.com/office/drawing/2014/main" id="{E5BB7AE4-912F-A354-EDA4-170AEDB09437}"/>
              </a:ext>
            </a:extLst>
          </p:cNvPr>
          <p:cNvSpPr/>
          <p:nvPr/>
        </p:nvSpPr>
        <p:spPr>
          <a:xfrm>
            <a:off x="365760" y="164592"/>
            <a:ext cx="82296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200"/>
              <a:buFont typeface="Calibri"/>
              <a:buNone/>
            </a:pPr>
            <a:r>
              <a:rPr lang="en-GB" sz="2200" b="1" i="0" u="none" strike="noStrike" cap="none" dirty="0">
                <a:solidFill>
                  <a:srgbClr val="FFFFFF"/>
                </a:solidFill>
                <a:latin typeface="Calibri"/>
                <a:ea typeface="Calibri"/>
                <a:cs typeface="Calibri"/>
                <a:sym typeface="Calibri"/>
              </a:rPr>
              <a:t>Backpropagation — Worked Example</a:t>
            </a:r>
            <a:endParaRPr sz="2200" b="0" i="0" u="none" strike="noStrike" cap="none" dirty="0">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B570AC8F-FF6F-F1CC-C717-22C41899BB36}"/>
              </a:ext>
            </a:extLst>
          </p:cNvPr>
          <p:cNvPicPr>
            <a:picLocks noChangeAspect="1"/>
          </p:cNvPicPr>
          <p:nvPr/>
        </p:nvPicPr>
        <p:blipFill>
          <a:blip r:embed="rId3"/>
          <a:stretch>
            <a:fillRect/>
          </a:stretch>
        </p:blipFill>
        <p:spPr>
          <a:xfrm>
            <a:off x="466623" y="914150"/>
            <a:ext cx="7734970" cy="3627434"/>
          </a:xfrm>
          <a:prstGeom prst="rect">
            <a:avLst/>
          </a:prstGeom>
        </p:spPr>
      </p:pic>
    </p:spTree>
    <p:extLst>
      <p:ext uri="{BB962C8B-B14F-4D97-AF65-F5344CB8AC3E}">
        <p14:creationId xmlns:p14="http://schemas.microsoft.com/office/powerpoint/2010/main" val="28938497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9664"/>
            <a:ext cx="9144000" cy="2560320"/>
          </a:xfrm>
          <a:prstGeom prst="rect">
            <a:avLst/>
          </a:prstGeom>
          <a:solidFill>
            <a:srgbClr val="1E3A5F"/>
          </a:solidFill>
          <a:ln w="12700">
            <a:solidFill>
              <a:srgbClr val="1E3A5F"/>
            </a:solidFill>
            <a:prstDash val="solid"/>
          </a:ln>
        </p:spPr>
        <p:txBody>
          <a:bodyPr/>
          <a:lstStyle/>
          <a:p>
            <a:endParaRPr lang="en-US"/>
          </a:p>
        </p:txBody>
      </p:sp>
      <p:sp>
        <p:nvSpPr>
          <p:cNvPr id="3" name="Shape 1"/>
          <p:cNvSpPr/>
          <p:nvPr/>
        </p:nvSpPr>
        <p:spPr>
          <a:xfrm>
            <a:off x="0" y="2432304"/>
            <a:ext cx="3044952" cy="128016"/>
          </a:xfrm>
          <a:prstGeom prst="rect">
            <a:avLst/>
          </a:prstGeom>
          <a:solidFill>
            <a:srgbClr val="0987A0"/>
          </a:solidFill>
          <a:ln w="12700">
            <a:solidFill>
              <a:srgbClr val="0987A0"/>
            </a:solidFill>
            <a:prstDash val="solid"/>
          </a:ln>
        </p:spPr>
        <p:txBody>
          <a:bodyPr/>
          <a:lstStyle/>
          <a:p>
            <a:endParaRPr lang="en-US"/>
          </a:p>
        </p:txBody>
      </p:sp>
      <p:sp>
        <p:nvSpPr>
          <p:cNvPr id="4" name="Shape 2"/>
          <p:cNvSpPr/>
          <p:nvPr/>
        </p:nvSpPr>
        <p:spPr>
          <a:xfrm>
            <a:off x="3044952" y="2432304"/>
            <a:ext cx="3044952" cy="128016"/>
          </a:xfrm>
          <a:prstGeom prst="rect">
            <a:avLst/>
          </a:prstGeom>
          <a:solidFill>
            <a:srgbClr val="276749"/>
          </a:solidFill>
          <a:ln w="12700">
            <a:solidFill>
              <a:srgbClr val="276749"/>
            </a:solidFill>
            <a:prstDash val="solid"/>
          </a:ln>
        </p:spPr>
        <p:txBody>
          <a:bodyPr/>
          <a:lstStyle/>
          <a:p>
            <a:endParaRPr lang="en-US"/>
          </a:p>
        </p:txBody>
      </p:sp>
      <p:sp>
        <p:nvSpPr>
          <p:cNvPr id="5" name="Shape 3"/>
          <p:cNvSpPr/>
          <p:nvPr/>
        </p:nvSpPr>
        <p:spPr>
          <a:xfrm>
            <a:off x="6099048" y="2432304"/>
            <a:ext cx="3044952" cy="128016"/>
          </a:xfrm>
          <a:prstGeom prst="rect">
            <a:avLst/>
          </a:prstGeom>
          <a:solidFill>
            <a:srgbClr val="553C9A"/>
          </a:solidFill>
          <a:ln w="12700">
            <a:solidFill>
              <a:srgbClr val="553C9A"/>
            </a:solidFill>
            <a:prstDash val="solid"/>
          </a:ln>
        </p:spPr>
        <p:txBody>
          <a:bodyPr/>
          <a:lstStyle/>
          <a:p>
            <a:endParaRPr lang="en-US"/>
          </a:p>
        </p:txBody>
      </p:sp>
      <p:sp>
        <p:nvSpPr>
          <p:cNvPr id="6" name="Shape 4"/>
          <p:cNvSpPr/>
          <p:nvPr/>
        </p:nvSpPr>
        <p:spPr>
          <a:xfrm>
            <a:off x="457200" y="329184"/>
            <a:ext cx="2560320" cy="329184"/>
          </a:xfrm>
          <a:prstGeom prst="rect">
            <a:avLst/>
          </a:prstGeom>
          <a:solidFill>
            <a:srgbClr val="0987A0">
              <a:alpha val="20000"/>
            </a:srgbClr>
          </a:solidFill>
          <a:ln w="12700">
            <a:solidFill>
              <a:srgbClr val="0987A0"/>
            </a:solidFill>
            <a:prstDash val="solid"/>
          </a:ln>
        </p:spPr>
        <p:txBody>
          <a:bodyPr/>
          <a:lstStyle/>
          <a:p>
            <a:endParaRPr lang="en-US"/>
          </a:p>
        </p:txBody>
      </p:sp>
      <p:sp>
        <p:nvSpPr>
          <p:cNvPr id="7" name="Text 5"/>
          <p:cNvSpPr/>
          <p:nvPr/>
        </p:nvSpPr>
        <p:spPr>
          <a:xfrm>
            <a:off x="457200" y="329184"/>
            <a:ext cx="2560320" cy="329184"/>
          </a:xfrm>
          <a:prstGeom prst="rect">
            <a:avLst/>
          </a:prstGeom>
          <a:noFill/>
          <a:ln/>
        </p:spPr>
        <p:txBody>
          <a:bodyPr wrap="square" rtlCol="0" anchor="ctr"/>
          <a:lstStyle/>
          <a:p>
            <a:pPr marL="0" indent="0" algn="ctr">
              <a:buNone/>
            </a:pPr>
            <a:r>
              <a:rPr lang="en-US" sz="850" b="1" kern="0" spc="200" dirty="0">
                <a:solidFill>
                  <a:srgbClr val="FFFFFF"/>
                </a:solidFill>
                <a:latin typeface="Trebuchet MS" pitchFamily="34" charset="0"/>
                <a:ea typeface="Trebuchet MS" pitchFamily="34" charset="-122"/>
                <a:cs typeface="Trebuchet MS" pitchFamily="34" charset="-120"/>
              </a:rPr>
              <a:t>ARTIFICIAL INTELLIGENCE</a:t>
            </a:r>
            <a:endParaRPr lang="en-US" sz="850" dirty="0"/>
          </a:p>
        </p:txBody>
      </p:sp>
      <p:sp>
        <p:nvSpPr>
          <p:cNvPr id="8" name="Text 6"/>
          <p:cNvSpPr/>
          <p:nvPr/>
        </p:nvSpPr>
        <p:spPr>
          <a:xfrm>
            <a:off x="457200" y="749808"/>
            <a:ext cx="7772400" cy="1508760"/>
          </a:xfrm>
          <a:prstGeom prst="rect">
            <a:avLst/>
          </a:prstGeom>
          <a:noFill/>
          <a:ln/>
        </p:spPr>
        <p:txBody>
          <a:bodyPr wrap="square" lIns="0" tIns="0" rIns="0" bIns="0" rtlCol="0" anchor="ctr"/>
          <a:lstStyle/>
          <a:p>
            <a:pPr marL="0" indent="0">
              <a:buNone/>
            </a:pPr>
            <a:r>
              <a:rPr lang="en-US" sz="4600" b="1" dirty="0">
                <a:solidFill>
                  <a:srgbClr val="FFFFFF"/>
                </a:solidFill>
                <a:latin typeface="Trebuchet MS" pitchFamily="34" charset="0"/>
                <a:ea typeface="Trebuchet MS" pitchFamily="34" charset="-122"/>
                <a:cs typeface="Trebuchet MS" pitchFamily="34" charset="-120"/>
              </a:rPr>
              <a:t>Overview of Deep</a:t>
            </a:r>
            <a:endParaRPr lang="en-US" sz="4600" dirty="0"/>
          </a:p>
          <a:p>
            <a:pPr marL="0" indent="0">
              <a:buNone/>
            </a:pPr>
            <a:r>
              <a:rPr lang="en-US" sz="4600" b="1" dirty="0">
                <a:solidFill>
                  <a:srgbClr val="FFFFFF"/>
                </a:solidFill>
                <a:latin typeface="Trebuchet MS" pitchFamily="34" charset="0"/>
                <a:ea typeface="Trebuchet MS" pitchFamily="34" charset="-122"/>
                <a:cs typeface="Trebuchet MS" pitchFamily="34" charset="-120"/>
              </a:rPr>
              <a:t>Learning Architectures</a:t>
            </a:r>
            <a:endParaRPr lang="en-US" sz="4600" dirty="0"/>
          </a:p>
        </p:txBody>
      </p:sp>
      <p:sp>
        <p:nvSpPr>
          <p:cNvPr id="10" name="Text 8"/>
          <p:cNvSpPr/>
          <p:nvPr/>
        </p:nvSpPr>
        <p:spPr>
          <a:xfrm>
            <a:off x="452628" y="4542998"/>
            <a:ext cx="8229600" cy="347472"/>
          </a:xfrm>
          <a:prstGeom prst="rect">
            <a:avLst/>
          </a:prstGeom>
          <a:noFill/>
          <a:ln/>
        </p:spPr>
        <p:txBody>
          <a:bodyPr wrap="square" lIns="0" tIns="0" rIns="0" bIns="0" rtlCol="0" anchor="ctr"/>
          <a:lstStyle/>
          <a:p>
            <a:pPr marL="0" indent="0" algn="r">
              <a:buNone/>
            </a:pPr>
            <a:r>
              <a:rPr lang="en-US" sz="1400" i="1" dirty="0">
                <a:solidFill>
                  <a:srgbClr val="718096"/>
                </a:solidFill>
                <a:latin typeface="Calibri" pitchFamily="34" charset="0"/>
                <a:ea typeface="Calibri" pitchFamily="34" charset="-122"/>
                <a:cs typeface="Calibri" pitchFamily="34" charset="-120"/>
              </a:rPr>
              <a:t>Presented By: Richina Pradhan</a:t>
            </a:r>
            <a:endParaRPr lang="en-US" sz="1400" dirty="0"/>
          </a:p>
        </p:txBody>
      </p:sp>
      <p:sp>
        <p:nvSpPr>
          <p:cNvPr id="11" name="Shape 9"/>
          <p:cNvSpPr/>
          <p:nvPr/>
        </p:nvSpPr>
        <p:spPr>
          <a:xfrm>
            <a:off x="457200" y="2852831"/>
            <a:ext cx="2560320" cy="1417320"/>
          </a:xfrm>
          <a:prstGeom prst="rect">
            <a:avLst/>
          </a:prstGeom>
          <a:solidFill>
            <a:srgbClr val="E6F6F9"/>
          </a:solidFill>
          <a:ln w="19050">
            <a:solidFill>
              <a:srgbClr val="0987A0"/>
            </a:solidFill>
            <a:prstDash val="solid"/>
          </a:ln>
          <a:effectLst>
            <a:outerShdw blurRad="63500" dist="25400" dir="8100000" algn="bl" rotWithShape="0">
              <a:srgbClr val="000000">
                <a:alpha val="8000"/>
              </a:srgbClr>
            </a:outerShdw>
          </a:effectLst>
        </p:spPr>
        <p:txBody>
          <a:bodyPr/>
          <a:lstStyle/>
          <a:p>
            <a:endParaRPr lang="en-US"/>
          </a:p>
        </p:txBody>
      </p:sp>
      <p:sp>
        <p:nvSpPr>
          <p:cNvPr id="12" name="Shape 10"/>
          <p:cNvSpPr/>
          <p:nvPr/>
        </p:nvSpPr>
        <p:spPr>
          <a:xfrm>
            <a:off x="457200" y="2852831"/>
            <a:ext cx="2560320" cy="64008"/>
          </a:xfrm>
          <a:prstGeom prst="rect">
            <a:avLst/>
          </a:prstGeom>
          <a:solidFill>
            <a:srgbClr val="0987A0"/>
          </a:solidFill>
          <a:ln w="12700">
            <a:solidFill>
              <a:srgbClr val="0987A0"/>
            </a:solidFill>
            <a:prstDash val="solid"/>
          </a:ln>
        </p:spPr>
        <p:txBody>
          <a:bodyPr/>
          <a:lstStyle/>
          <a:p>
            <a:endParaRPr lang="en-US"/>
          </a:p>
        </p:txBody>
      </p:sp>
      <p:sp>
        <p:nvSpPr>
          <p:cNvPr id="13" name="Text 11"/>
          <p:cNvSpPr/>
          <p:nvPr/>
        </p:nvSpPr>
        <p:spPr>
          <a:xfrm>
            <a:off x="457200" y="2953415"/>
            <a:ext cx="2560320" cy="475488"/>
          </a:xfrm>
          <a:prstGeom prst="rect">
            <a:avLst/>
          </a:prstGeom>
          <a:noFill/>
          <a:ln/>
        </p:spPr>
        <p:txBody>
          <a:bodyPr wrap="square" rtlCol="0" anchor="ctr"/>
          <a:lstStyle/>
          <a:p>
            <a:pPr marL="0" indent="0" algn="ctr">
              <a:buNone/>
            </a:pPr>
            <a:r>
              <a:rPr lang="en-US" sz="2200" b="1" dirty="0">
                <a:solidFill>
                  <a:srgbClr val="0987A0"/>
                </a:solidFill>
                <a:latin typeface="Trebuchet MS" pitchFamily="34" charset="0"/>
                <a:ea typeface="Trebuchet MS" pitchFamily="34" charset="-122"/>
                <a:cs typeface="Trebuchet MS" pitchFamily="34" charset="-120"/>
              </a:rPr>
              <a:t>CNN</a:t>
            </a:r>
            <a:endParaRPr lang="en-US" sz="2200" dirty="0"/>
          </a:p>
        </p:txBody>
      </p:sp>
      <p:sp>
        <p:nvSpPr>
          <p:cNvPr id="14" name="Text 12"/>
          <p:cNvSpPr/>
          <p:nvPr/>
        </p:nvSpPr>
        <p:spPr>
          <a:xfrm>
            <a:off x="457200" y="3447191"/>
            <a:ext cx="2560320" cy="749808"/>
          </a:xfrm>
          <a:prstGeom prst="rect">
            <a:avLst/>
          </a:prstGeom>
          <a:noFill/>
          <a:ln/>
        </p:spPr>
        <p:txBody>
          <a:bodyPr wrap="square" lIns="0" tIns="0" rIns="0" bIns="0" rtlCol="0" anchor="ctr"/>
          <a:lstStyle/>
          <a:p>
            <a:pPr marL="0" indent="0" algn="ctr">
              <a:buNone/>
            </a:pPr>
            <a:r>
              <a:rPr lang="en-US" sz="1050" dirty="0">
                <a:solidFill>
                  <a:srgbClr val="2D3748"/>
                </a:solidFill>
                <a:latin typeface="Calibri" pitchFamily="34" charset="0"/>
                <a:ea typeface="Calibri" pitchFamily="34" charset="-122"/>
                <a:cs typeface="Calibri" pitchFamily="34" charset="-120"/>
              </a:rPr>
              <a:t>Convolutional</a:t>
            </a:r>
            <a:endParaRPr lang="en-US" sz="1050" dirty="0"/>
          </a:p>
          <a:p>
            <a:pPr marL="0" indent="0" algn="ctr">
              <a:buNone/>
            </a:pPr>
            <a:r>
              <a:rPr lang="en-US" sz="1050" dirty="0">
                <a:solidFill>
                  <a:srgbClr val="2D3748"/>
                </a:solidFill>
                <a:latin typeface="Calibri" pitchFamily="34" charset="0"/>
                <a:ea typeface="Calibri" pitchFamily="34" charset="-122"/>
                <a:cs typeface="Calibri" pitchFamily="34" charset="-120"/>
              </a:rPr>
              <a:t>Neural Network</a:t>
            </a:r>
            <a:endParaRPr lang="en-US" sz="1050" dirty="0"/>
          </a:p>
        </p:txBody>
      </p:sp>
      <p:sp>
        <p:nvSpPr>
          <p:cNvPr id="15" name="Shape 13"/>
          <p:cNvSpPr/>
          <p:nvPr/>
        </p:nvSpPr>
        <p:spPr>
          <a:xfrm>
            <a:off x="3291840" y="2852831"/>
            <a:ext cx="2560320" cy="1417320"/>
          </a:xfrm>
          <a:prstGeom prst="rect">
            <a:avLst/>
          </a:prstGeom>
          <a:solidFill>
            <a:srgbClr val="E6F4EC"/>
          </a:solidFill>
          <a:ln w="19050">
            <a:solidFill>
              <a:srgbClr val="276749"/>
            </a:solidFill>
            <a:prstDash val="solid"/>
          </a:ln>
          <a:effectLst>
            <a:outerShdw blurRad="63500" dist="25400" dir="8100000" algn="bl" rotWithShape="0">
              <a:srgbClr val="000000">
                <a:alpha val="8000"/>
              </a:srgbClr>
            </a:outerShdw>
          </a:effectLst>
        </p:spPr>
        <p:txBody>
          <a:bodyPr/>
          <a:lstStyle/>
          <a:p>
            <a:endParaRPr lang="en-US"/>
          </a:p>
        </p:txBody>
      </p:sp>
      <p:sp>
        <p:nvSpPr>
          <p:cNvPr id="16" name="Shape 14"/>
          <p:cNvSpPr/>
          <p:nvPr/>
        </p:nvSpPr>
        <p:spPr>
          <a:xfrm>
            <a:off x="3291840" y="2852831"/>
            <a:ext cx="2560320" cy="64008"/>
          </a:xfrm>
          <a:prstGeom prst="rect">
            <a:avLst/>
          </a:prstGeom>
          <a:solidFill>
            <a:srgbClr val="276749"/>
          </a:solidFill>
          <a:ln w="12700">
            <a:solidFill>
              <a:srgbClr val="276749"/>
            </a:solidFill>
            <a:prstDash val="solid"/>
          </a:ln>
        </p:spPr>
        <p:txBody>
          <a:bodyPr/>
          <a:lstStyle/>
          <a:p>
            <a:endParaRPr lang="en-US"/>
          </a:p>
        </p:txBody>
      </p:sp>
      <p:sp>
        <p:nvSpPr>
          <p:cNvPr id="17" name="Text 15"/>
          <p:cNvSpPr/>
          <p:nvPr/>
        </p:nvSpPr>
        <p:spPr>
          <a:xfrm>
            <a:off x="3291840" y="2953415"/>
            <a:ext cx="2560320" cy="475488"/>
          </a:xfrm>
          <a:prstGeom prst="rect">
            <a:avLst/>
          </a:prstGeom>
          <a:noFill/>
          <a:ln/>
        </p:spPr>
        <p:txBody>
          <a:bodyPr wrap="square" rtlCol="0" anchor="ctr"/>
          <a:lstStyle/>
          <a:p>
            <a:pPr marL="0" indent="0" algn="ctr">
              <a:buNone/>
            </a:pPr>
            <a:r>
              <a:rPr lang="en-US" sz="2200" b="1" dirty="0">
                <a:solidFill>
                  <a:srgbClr val="276749"/>
                </a:solidFill>
                <a:latin typeface="Trebuchet MS" pitchFamily="34" charset="0"/>
                <a:ea typeface="Trebuchet MS" pitchFamily="34" charset="-122"/>
                <a:cs typeface="Trebuchet MS" pitchFamily="34" charset="-120"/>
              </a:rPr>
              <a:t>RNN</a:t>
            </a:r>
            <a:endParaRPr lang="en-US" sz="2200" dirty="0"/>
          </a:p>
        </p:txBody>
      </p:sp>
      <p:sp>
        <p:nvSpPr>
          <p:cNvPr id="18" name="Text 16"/>
          <p:cNvSpPr/>
          <p:nvPr/>
        </p:nvSpPr>
        <p:spPr>
          <a:xfrm>
            <a:off x="3291840" y="3447191"/>
            <a:ext cx="2560320" cy="749808"/>
          </a:xfrm>
          <a:prstGeom prst="rect">
            <a:avLst/>
          </a:prstGeom>
          <a:noFill/>
          <a:ln/>
        </p:spPr>
        <p:txBody>
          <a:bodyPr wrap="square" lIns="0" tIns="0" rIns="0" bIns="0" rtlCol="0" anchor="ctr"/>
          <a:lstStyle/>
          <a:p>
            <a:pPr marL="0" indent="0" algn="ctr">
              <a:buNone/>
            </a:pPr>
            <a:r>
              <a:rPr lang="en-US" sz="1050" dirty="0">
                <a:solidFill>
                  <a:srgbClr val="2D3748"/>
                </a:solidFill>
                <a:latin typeface="Calibri" pitchFamily="34" charset="0"/>
                <a:ea typeface="Calibri" pitchFamily="34" charset="-122"/>
                <a:cs typeface="Calibri" pitchFamily="34" charset="-120"/>
              </a:rPr>
              <a:t>Recurrent</a:t>
            </a:r>
            <a:endParaRPr lang="en-US" sz="1050" dirty="0"/>
          </a:p>
          <a:p>
            <a:pPr marL="0" indent="0" algn="ctr">
              <a:buNone/>
            </a:pPr>
            <a:r>
              <a:rPr lang="en-US" sz="1050" dirty="0">
                <a:solidFill>
                  <a:srgbClr val="2D3748"/>
                </a:solidFill>
                <a:latin typeface="Calibri" pitchFamily="34" charset="0"/>
                <a:ea typeface="Calibri" pitchFamily="34" charset="-122"/>
                <a:cs typeface="Calibri" pitchFamily="34" charset="-120"/>
              </a:rPr>
              <a:t>Neural Network</a:t>
            </a:r>
            <a:endParaRPr lang="en-US" sz="1050" dirty="0"/>
          </a:p>
        </p:txBody>
      </p:sp>
      <p:sp>
        <p:nvSpPr>
          <p:cNvPr id="19" name="Shape 17"/>
          <p:cNvSpPr/>
          <p:nvPr/>
        </p:nvSpPr>
        <p:spPr>
          <a:xfrm>
            <a:off x="6126480" y="2852831"/>
            <a:ext cx="2560320" cy="1417320"/>
          </a:xfrm>
          <a:prstGeom prst="rect">
            <a:avLst/>
          </a:prstGeom>
          <a:solidFill>
            <a:srgbClr val="EDE9F6"/>
          </a:solidFill>
          <a:ln w="19050">
            <a:solidFill>
              <a:srgbClr val="553C9A"/>
            </a:solidFill>
            <a:prstDash val="solid"/>
          </a:ln>
          <a:effectLst>
            <a:outerShdw blurRad="63500" dist="25400" dir="8100000" algn="bl" rotWithShape="0">
              <a:srgbClr val="000000">
                <a:alpha val="8000"/>
              </a:srgbClr>
            </a:outerShdw>
          </a:effectLst>
        </p:spPr>
        <p:txBody>
          <a:bodyPr/>
          <a:lstStyle/>
          <a:p>
            <a:endParaRPr lang="en-US"/>
          </a:p>
        </p:txBody>
      </p:sp>
      <p:sp>
        <p:nvSpPr>
          <p:cNvPr id="20" name="Shape 18"/>
          <p:cNvSpPr/>
          <p:nvPr/>
        </p:nvSpPr>
        <p:spPr>
          <a:xfrm>
            <a:off x="6126480" y="2852831"/>
            <a:ext cx="2560320" cy="64008"/>
          </a:xfrm>
          <a:prstGeom prst="rect">
            <a:avLst/>
          </a:prstGeom>
          <a:solidFill>
            <a:srgbClr val="553C9A"/>
          </a:solidFill>
          <a:ln w="12700">
            <a:solidFill>
              <a:srgbClr val="553C9A"/>
            </a:solidFill>
            <a:prstDash val="solid"/>
          </a:ln>
        </p:spPr>
        <p:txBody>
          <a:bodyPr/>
          <a:lstStyle/>
          <a:p>
            <a:endParaRPr lang="en-US"/>
          </a:p>
        </p:txBody>
      </p:sp>
      <p:sp>
        <p:nvSpPr>
          <p:cNvPr id="21" name="Text 19"/>
          <p:cNvSpPr/>
          <p:nvPr/>
        </p:nvSpPr>
        <p:spPr>
          <a:xfrm>
            <a:off x="6126480" y="2953415"/>
            <a:ext cx="2560320" cy="475488"/>
          </a:xfrm>
          <a:prstGeom prst="rect">
            <a:avLst/>
          </a:prstGeom>
          <a:noFill/>
          <a:ln/>
        </p:spPr>
        <p:txBody>
          <a:bodyPr wrap="square" rtlCol="0" anchor="ctr"/>
          <a:lstStyle/>
          <a:p>
            <a:pPr marL="0" indent="0" algn="ctr">
              <a:buNone/>
            </a:pPr>
            <a:r>
              <a:rPr lang="en-US" sz="2200" b="1" dirty="0">
                <a:solidFill>
                  <a:srgbClr val="553C9A"/>
                </a:solidFill>
                <a:latin typeface="Trebuchet MS" pitchFamily="34" charset="0"/>
                <a:ea typeface="Trebuchet MS" pitchFamily="34" charset="-122"/>
                <a:cs typeface="Trebuchet MS" pitchFamily="34" charset="-120"/>
              </a:rPr>
              <a:t>GAN</a:t>
            </a:r>
            <a:endParaRPr lang="en-US" sz="2200" dirty="0"/>
          </a:p>
        </p:txBody>
      </p:sp>
      <p:sp>
        <p:nvSpPr>
          <p:cNvPr id="22" name="Text 20"/>
          <p:cNvSpPr/>
          <p:nvPr/>
        </p:nvSpPr>
        <p:spPr>
          <a:xfrm>
            <a:off x="6126480" y="3447191"/>
            <a:ext cx="2560320" cy="749808"/>
          </a:xfrm>
          <a:prstGeom prst="rect">
            <a:avLst/>
          </a:prstGeom>
          <a:noFill/>
          <a:ln/>
        </p:spPr>
        <p:txBody>
          <a:bodyPr wrap="square" lIns="0" tIns="0" rIns="0" bIns="0" rtlCol="0" anchor="ctr"/>
          <a:lstStyle/>
          <a:p>
            <a:pPr marL="0" indent="0" algn="ctr">
              <a:buNone/>
            </a:pPr>
            <a:r>
              <a:rPr lang="en-US" sz="1050" dirty="0">
                <a:solidFill>
                  <a:srgbClr val="2D3748"/>
                </a:solidFill>
                <a:latin typeface="Calibri" pitchFamily="34" charset="0"/>
                <a:ea typeface="Calibri" pitchFamily="34" charset="-122"/>
                <a:cs typeface="Calibri" pitchFamily="34" charset="-120"/>
              </a:rPr>
              <a:t>Generative</a:t>
            </a:r>
            <a:endParaRPr lang="en-US" sz="1050" dirty="0"/>
          </a:p>
          <a:p>
            <a:pPr marL="0" indent="0" algn="ctr">
              <a:buNone/>
            </a:pPr>
            <a:r>
              <a:rPr lang="en-US" sz="1050" dirty="0">
                <a:solidFill>
                  <a:srgbClr val="2D3748"/>
                </a:solidFill>
                <a:latin typeface="Calibri" pitchFamily="34" charset="0"/>
                <a:ea typeface="Calibri" pitchFamily="34" charset="-122"/>
                <a:cs typeface="Calibri" pitchFamily="34" charset="-120"/>
              </a:rPr>
              <a:t>Adversarial Network</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CBD5E0"/>
            </a:solidFill>
            <a:prstDash val="solid"/>
          </a:ln>
        </p:spPr>
        <p:txBody>
          <a:bodyPr/>
          <a:lstStyle/>
          <a:p>
            <a:endParaRPr lang="en-US"/>
          </a:p>
        </p:txBody>
      </p:sp>
      <p:sp>
        <p:nvSpPr>
          <p:cNvPr id="3" name="Shape 1"/>
          <p:cNvSpPr/>
          <p:nvPr/>
        </p:nvSpPr>
        <p:spPr>
          <a:xfrm>
            <a:off x="0" y="0"/>
            <a:ext cx="201168" cy="960120"/>
          </a:xfrm>
          <a:prstGeom prst="rect">
            <a:avLst/>
          </a:prstGeom>
          <a:solidFill>
            <a:srgbClr val="1E3A5F"/>
          </a:solidFill>
          <a:ln w="12700">
            <a:solidFill>
              <a:srgbClr val="1E3A5F"/>
            </a:solidFill>
            <a:prstDash val="solid"/>
          </a:ln>
        </p:spPr>
        <p:txBody>
          <a:bodyPr/>
          <a:lstStyle/>
          <a:p>
            <a:endParaRPr lang="en-US"/>
          </a:p>
        </p:txBody>
      </p:sp>
      <p:sp>
        <p:nvSpPr>
          <p:cNvPr id="4" name="Text 2"/>
          <p:cNvSpPr/>
          <p:nvPr/>
        </p:nvSpPr>
        <p:spPr>
          <a:xfrm>
            <a:off x="347472" y="91440"/>
            <a:ext cx="8412480" cy="475488"/>
          </a:xfrm>
          <a:prstGeom prst="rect">
            <a:avLst/>
          </a:prstGeom>
          <a:noFill/>
          <a:ln/>
        </p:spPr>
        <p:txBody>
          <a:bodyPr wrap="square" lIns="0" tIns="0" rIns="0" bIns="0" rtlCol="0" anchor="ctr"/>
          <a:lstStyle/>
          <a:p>
            <a:pPr marL="0" indent="0">
              <a:buNone/>
            </a:pPr>
            <a:r>
              <a:rPr lang="en-US" sz="2200" b="1" dirty="0">
                <a:solidFill>
                  <a:srgbClr val="1E3A5F"/>
                </a:solidFill>
                <a:latin typeface="Trebuchet MS" pitchFamily="34" charset="0"/>
                <a:ea typeface="Trebuchet MS" pitchFamily="34" charset="-122"/>
                <a:cs typeface="Trebuchet MS" pitchFamily="34" charset="-120"/>
              </a:rPr>
              <a:t>What is Deep Learning?</a:t>
            </a:r>
            <a:endParaRPr lang="en-US" sz="2200" dirty="0"/>
          </a:p>
        </p:txBody>
      </p:sp>
      <p:sp>
        <p:nvSpPr>
          <p:cNvPr id="5" name="Text 3"/>
          <p:cNvSpPr/>
          <p:nvPr/>
        </p:nvSpPr>
        <p:spPr>
          <a:xfrm>
            <a:off x="347472" y="585216"/>
            <a:ext cx="8412480" cy="292608"/>
          </a:xfrm>
          <a:prstGeom prst="rect">
            <a:avLst/>
          </a:prstGeom>
          <a:noFill/>
          <a:ln/>
        </p:spPr>
        <p:txBody>
          <a:bodyPr wrap="square" lIns="0" tIns="0" rIns="0" bIns="0" rtlCol="0" anchor="ctr"/>
          <a:lstStyle/>
          <a:p>
            <a:pPr marL="0" indent="0">
              <a:buNone/>
            </a:pPr>
            <a:r>
              <a:rPr lang="en-US" sz="1100" i="1" dirty="0">
                <a:solidFill>
                  <a:srgbClr val="718096"/>
                </a:solidFill>
                <a:latin typeface="Calibri" pitchFamily="34" charset="0"/>
                <a:ea typeface="Calibri" pitchFamily="34" charset="-122"/>
                <a:cs typeface="Calibri" pitchFamily="34" charset="-120"/>
              </a:rPr>
              <a:t>The Foundation — AI → Machine Learning → Deep Learning</a:t>
            </a:r>
            <a:endParaRPr lang="en-US" sz="1100" dirty="0"/>
          </a:p>
        </p:txBody>
      </p:sp>
      <p:sp>
        <p:nvSpPr>
          <p:cNvPr id="6" name="Shape 4"/>
          <p:cNvSpPr/>
          <p:nvPr/>
        </p:nvSpPr>
        <p:spPr>
          <a:xfrm>
            <a:off x="347472" y="932688"/>
            <a:ext cx="8503920" cy="27432"/>
          </a:xfrm>
          <a:prstGeom prst="rect">
            <a:avLst/>
          </a:prstGeom>
          <a:solidFill>
            <a:srgbClr val="1E3A5F">
              <a:alpha val="30000"/>
            </a:srgbClr>
          </a:solidFill>
          <a:ln/>
        </p:spPr>
        <p:txBody>
          <a:bodyPr/>
          <a:lstStyle/>
          <a:p>
            <a:endParaRPr lang="en-US"/>
          </a:p>
        </p:txBody>
      </p:sp>
      <p:sp>
        <p:nvSpPr>
          <p:cNvPr id="7" name="Shape 5"/>
          <p:cNvSpPr/>
          <p:nvPr/>
        </p:nvSpPr>
        <p:spPr>
          <a:xfrm>
            <a:off x="320040" y="1078992"/>
            <a:ext cx="4023360" cy="1005840"/>
          </a:xfrm>
          <a:prstGeom prst="rect">
            <a:avLst/>
          </a:prstGeom>
          <a:solidFill>
            <a:srgbClr val="F0F4F8"/>
          </a:solidFill>
          <a:ln w="12700">
            <a:solidFill>
              <a:srgbClr val="CBD5E0"/>
            </a:solidFill>
            <a:prstDash val="solid"/>
          </a:ln>
          <a:effectLst>
            <a:outerShdw blurRad="63500" dist="25400" dir="8100000" algn="bl" rotWithShape="0">
              <a:srgbClr val="000000">
                <a:alpha val="8000"/>
              </a:srgbClr>
            </a:outerShdw>
          </a:effectLst>
        </p:spPr>
        <p:txBody>
          <a:bodyPr/>
          <a:lstStyle/>
          <a:p>
            <a:endParaRPr lang="en-US"/>
          </a:p>
        </p:txBody>
      </p:sp>
      <p:sp>
        <p:nvSpPr>
          <p:cNvPr id="8" name="Text 6"/>
          <p:cNvSpPr/>
          <p:nvPr/>
        </p:nvSpPr>
        <p:spPr>
          <a:xfrm>
            <a:off x="457200" y="1152144"/>
            <a:ext cx="3749040" cy="310896"/>
          </a:xfrm>
          <a:prstGeom prst="rect">
            <a:avLst/>
          </a:prstGeom>
          <a:noFill/>
          <a:ln/>
        </p:spPr>
        <p:txBody>
          <a:bodyPr wrap="square" lIns="0" tIns="0" rIns="0" bIns="0" rtlCol="0" anchor="ctr"/>
          <a:lstStyle/>
          <a:p>
            <a:pPr marL="0" indent="0">
              <a:buNone/>
            </a:pPr>
            <a:r>
              <a:rPr lang="en-US" sz="1200" b="1" dirty="0">
                <a:solidFill>
                  <a:srgbClr val="718096"/>
                </a:solidFill>
                <a:latin typeface="Trebuchet MS" pitchFamily="34" charset="0"/>
                <a:ea typeface="Trebuchet MS" pitchFamily="34" charset="-122"/>
                <a:cs typeface="Trebuchet MS" pitchFamily="34" charset="-120"/>
              </a:rPr>
              <a:t>Artificial Intelligence</a:t>
            </a:r>
            <a:endParaRPr lang="en-US" sz="1200" dirty="0"/>
          </a:p>
        </p:txBody>
      </p:sp>
      <p:sp>
        <p:nvSpPr>
          <p:cNvPr id="9" name="Text 7"/>
          <p:cNvSpPr/>
          <p:nvPr/>
        </p:nvSpPr>
        <p:spPr>
          <a:xfrm>
            <a:off x="457200" y="1481328"/>
            <a:ext cx="3749040" cy="53035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Broad field — machines simulating human intelligence</a:t>
            </a:r>
            <a:endParaRPr lang="en-US" sz="1000" dirty="0"/>
          </a:p>
        </p:txBody>
      </p:sp>
      <p:sp>
        <p:nvSpPr>
          <p:cNvPr id="10" name="Text 8"/>
          <p:cNvSpPr/>
          <p:nvPr/>
        </p:nvSpPr>
        <p:spPr>
          <a:xfrm>
            <a:off x="1965960" y="2066544"/>
            <a:ext cx="365760" cy="201168"/>
          </a:xfrm>
          <a:prstGeom prst="rect">
            <a:avLst/>
          </a:prstGeom>
          <a:noFill/>
          <a:ln/>
        </p:spPr>
        <p:txBody>
          <a:bodyPr wrap="square" lIns="0" tIns="0" rIns="0" bIns="0" rtlCol="0" anchor="ctr"/>
          <a:lstStyle/>
          <a:p>
            <a:pPr marL="0" indent="0" algn="ctr">
              <a:buNone/>
            </a:pPr>
            <a:r>
              <a:rPr lang="en-US" sz="1100" dirty="0">
                <a:solidFill>
                  <a:srgbClr val="718096"/>
                </a:solidFill>
              </a:rPr>
              <a:t>▼</a:t>
            </a:r>
            <a:endParaRPr lang="en-US" sz="1100" dirty="0"/>
          </a:p>
        </p:txBody>
      </p:sp>
      <p:sp>
        <p:nvSpPr>
          <p:cNvPr id="11" name="Shape 9"/>
          <p:cNvSpPr/>
          <p:nvPr/>
        </p:nvSpPr>
        <p:spPr>
          <a:xfrm>
            <a:off x="685800" y="2221992"/>
            <a:ext cx="3657600" cy="1005840"/>
          </a:xfrm>
          <a:prstGeom prst="rect">
            <a:avLst/>
          </a:prstGeom>
          <a:solidFill>
            <a:srgbClr val="E8EDF5"/>
          </a:solidFill>
          <a:ln w="12700">
            <a:solidFill>
              <a:srgbClr val="CBD5E0"/>
            </a:solidFill>
            <a:prstDash val="solid"/>
          </a:ln>
          <a:effectLst>
            <a:outerShdw blurRad="63500" dist="25400" dir="8100000" algn="bl" rotWithShape="0">
              <a:srgbClr val="000000">
                <a:alpha val="8000"/>
              </a:srgbClr>
            </a:outerShdw>
          </a:effectLst>
        </p:spPr>
        <p:txBody>
          <a:bodyPr/>
          <a:lstStyle/>
          <a:p>
            <a:endParaRPr lang="en-US"/>
          </a:p>
        </p:txBody>
      </p:sp>
      <p:sp>
        <p:nvSpPr>
          <p:cNvPr id="12" name="Text 10"/>
          <p:cNvSpPr/>
          <p:nvPr/>
        </p:nvSpPr>
        <p:spPr>
          <a:xfrm>
            <a:off x="822960" y="2295144"/>
            <a:ext cx="3383280" cy="310896"/>
          </a:xfrm>
          <a:prstGeom prst="rect">
            <a:avLst/>
          </a:prstGeom>
          <a:noFill/>
          <a:ln/>
        </p:spPr>
        <p:txBody>
          <a:bodyPr wrap="square" lIns="0" tIns="0" rIns="0" bIns="0" rtlCol="0" anchor="ctr"/>
          <a:lstStyle/>
          <a:p>
            <a:pPr marL="0" indent="0">
              <a:buNone/>
            </a:pPr>
            <a:r>
              <a:rPr lang="en-US" sz="1200" b="1" dirty="0">
                <a:solidFill>
                  <a:srgbClr val="5A6A8A"/>
                </a:solidFill>
                <a:latin typeface="Trebuchet MS" pitchFamily="34" charset="0"/>
                <a:ea typeface="Trebuchet MS" pitchFamily="34" charset="-122"/>
                <a:cs typeface="Trebuchet MS" pitchFamily="34" charset="-120"/>
              </a:rPr>
              <a:t>Machine Learning</a:t>
            </a:r>
            <a:endParaRPr lang="en-US" sz="1200" dirty="0"/>
          </a:p>
        </p:txBody>
      </p:sp>
      <p:sp>
        <p:nvSpPr>
          <p:cNvPr id="13" name="Text 11"/>
          <p:cNvSpPr/>
          <p:nvPr/>
        </p:nvSpPr>
        <p:spPr>
          <a:xfrm>
            <a:off x="822960" y="2624328"/>
            <a:ext cx="3383280" cy="53035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Systems that learn patterns from data automatically</a:t>
            </a:r>
            <a:endParaRPr lang="en-US" sz="1000" dirty="0"/>
          </a:p>
        </p:txBody>
      </p:sp>
      <p:sp>
        <p:nvSpPr>
          <p:cNvPr id="14" name="Text 12"/>
          <p:cNvSpPr/>
          <p:nvPr/>
        </p:nvSpPr>
        <p:spPr>
          <a:xfrm>
            <a:off x="2331720" y="3209544"/>
            <a:ext cx="365760" cy="201168"/>
          </a:xfrm>
          <a:prstGeom prst="rect">
            <a:avLst/>
          </a:prstGeom>
          <a:noFill/>
          <a:ln/>
        </p:spPr>
        <p:txBody>
          <a:bodyPr wrap="square" lIns="0" tIns="0" rIns="0" bIns="0" rtlCol="0" anchor="ctr"/>
          <a:lstStyle/>
          <a:p>
            <a:pPr marL="0" indent="0" algn="ctr">
              <a:buNone/>
            </a:pPr>
            <a:r>
              <a:rPr lang="en-US" sz="1100" dirty="0">
                <a:solidFill>
                  <a:srgbClr val="5A6A8A"/>
                </a:solidFill>
              </a:rPr>
              <a:t>▼</a:t>
            </a:r>
            <a:endParaRPr lang="en-US" sz="1100" dirty="0"/>
          </a:p>
        </p:txBody>
      </p:sp>
      <p:sp>
        <p:nvSpPr>
          <p:cNvPr id="15" name="Shape 13"/>
          <p:cNvSpPr/>
          <p:nvPr/>
        </p:nvSpPr>
        <p:spPr>
          <a:xfrm>
            <a:off x="1051560" y="3364992"/>
            <a:ext cx="3291840" cy="1005840"/>
          </a:xfrm>
          <a:prstGeom prst="rect">
            <a:avLst/>
          </a:prstGeom>
          <a:solidFill>
            <a:srgbClr val="E6F6F9"/>
          </a:solidFill>
          <a:ln w="12700">
            <a:solidFill>
              <a:srgbClr val="CBD5E0"/>
            </a:solidFill>
            <a:prstDash val="solid"/>
          </a:ln>
          <a:effectLst>
            <a:outerShdw blurRad="63500" dist="25400" dir="8100000" algn="bl" rotWithShape="0">
              <a:srgbClr val="000000">
                <a:alpha val="8000"/>
              </a:srgbClr>
            </a:outerShdw>
          </a:effectLst>
        </p:spPr>
        <p:txBody>
          <a:bodyPr/>
          <a:lstStyle/>
          <a:p>
            <a:endParaRPr lang="en-US"/>
          </a:p>
        </p:txBody>
      </p:sp>
      <p:sp>
        <p:nvSpPr>
          <p:cNvPr id="16" name="Text 14"/>
          <p:cNvSpPr/>
          <p:nvPr/>
        </p:nvSpPr>
        <p:spPr>
          <a:xfrm>
            <a:off x="1188720" y="3438144"/>
            <a:ext cx="3017520" cy="310896"/>
          </a:xfrm>
          <a:prstGeom prst="rect">
            <a:avLst/>
          </a:prstGeom>
          <a:noFill/>
          <a:ln/>
        </p:spPr>
        <p:txBody>
          <a:bodyPr wrap="square" lIns="0" tIns="0" rIns="0" bIns="0" rtlCol="0" anchor="ctr"/>
          <a:lstStyle/>
          <a:p>
            <a:pPr marL="0" indent="0">
              <a:buNone/>
            </a:pPr>
            <a:r>
              <a:rPr lang="en-US" sz="1200" b="1" dirty="0">
                <a:solidFill>
                  <a:srgbClr val="1E3A5F"/>
                </a:solidFill>
                <a:latin typeface="Trebuchet MS" pitchFamily="34" charset="0"/>
                <a:ea typeface="Trebuchet MS" pitchFamily="34" charset="-122"/>
                <a:cs typeface="Trebuchet MS" pitchFamily="34" charset="-120"/>
              </a:rPr>
              <a:t>Deep Learning  ← We are here</a:t>
            </a:r>
            <a:endParaRPr lang="en-US" sz="1200" dirty="0"/>
          </a:p>
        </p:txBody>
      </p:sp>
      <p:sp>
        <p:nvSpPr>
          <p:cNvPr id="17" name="Text 15"/>
          <p:cNvSpPr/>
          <p:nvPr/>
        </p:nvSpPr>
        <p:spPr>
          <a:xfrm>
            <a:off x="1188720" y="3767328"/>
            <a:ext cx="3017520" cy="53035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Multi-layered neural networks — our focus today</a:t>
            </a:r>
            <a:endParaRPr lang="en-US" sz="1000" dirty="0"/>
          </a:p>
        </p:txBody>
      </p:sp>
      <p:sp>
        <p:nvSpPr>
          <p:cNvPr id="18" name="Shape 16"/>
          <p:cNvSpPr/>
          <p:nvPr/>
        </p:nvSpPr>
        <p:spPr>
          <a:xfrm>
            <a:off x="4663440" y="1078992"/>
            <a:ext cx="4160520" cy="3794760"/>
          </a:xfrm>
          <a:prstGeom prst="rect">
            <a:avLst/>
          </a:prstGeom>
          <a:solidFill>
            <a:srgbClr val="FFFFFF"/>
          </a:solidFill>
          <a:ln w="12700">
            <a:solidFill>
              <a:srgbClr val="CBD5E0"/>
            </a:solidFill>
            <a:prstDash val="solid"/>
          </a:ln>
          <a:effectLst>
            <a:outerShdw blurRad="63500" dist="25400" dir="8100000" algn="bl" rotWithShape="0">
              <a:srgbClr val="000000">
                <a:alpha val="8000"/>
              </a:srgbClr>
            </a:outerShdw>
          </a:effectLst>
        </p:spPr>
        <p:txBody>
          <a:bodyPr/>
          <a:lstStyle/>
          <a:p>
            <a:endParaRPr lang="en-US"/>
          </a:p>
        </p:txBody>
      </p:sp>
      <p:sp>
        <p:nvSpPr>
          <p:cNvPr id="19" name="Shape 17"/>
          <p:cNvSpPr/>
          <p:nvPr/>
        </p:nvSpPr>
        <p:spPr>
          <a:xfrm>
            <a:off x="4663440" y="1078992"/>
            <a:ext cx="4160520" cy="64008"/>
          </a:xfrm>
          <a:prstGeom prst="rect">
            <a:avLst/>
          </a:prstGeom>
          <a:solidFill>
            <a:srgbClr val="0987A0"/>
          </a:solidFill>
          <a:ln w="12700">
            <a:solidFill>
              <a:srgbClr val="0987A0"/>
            </a:solidFill>
            <a:prstDash val="solid"/>
          </a:ln>
        </p:spPr>
        <p:txBody>
          <a:bodyPr/>
          <a:lstStyle/>
          <a:p>
            <a:endParaRPr lang="en-US"/>
          </a:p>
        </p:txBody>
      </p:sp>
      <p:sp>
        <p:nvSpPr>
          <p:cNvPr id="20" name="Text 18"/>
          <p:cNvSpPr/>
          <p:nvPr/>
        </p:nvSpPr>
        <p:spPr>
          <a:xfrm>
            <a:off x="4800600" y="1188720"/>
            <a:ext cx="3886200" cy="292608"/>
          </a:xfrm>
          <a:prstGeom prst="rect">
            <a:avLst/>
          </a:prstGeom>
          <a:noFill/>
          <a:ln/>
        </p:spPr>
        <p:txBody>
          <a:bodyPr wrap="square" lIns="0" tIns="0" rIns="0" bIns="0" rtlCol="0" anchor="ctr"/>
          <a:lstStyle/>
          <a:p>
            <a:pPr marL="0" indent="0">
              <a:buNone/>
            </a:pPr>
            <a:r>
              <a:rPr lang="en-US" sz="1300" b="1" dirty="0">
                <a:solidFill>
                  <a:srgbClr val="1E3A5F"/>
                </a:solidFill>
                <a:latin typeface="Trebuchet MS" pitchFamily="34" charset="0"/>
                <a:ea typeface="Trebuchet MS" pitchFamily="34" charset="-122"/>
                <a:cs typeface="Trebuchet MS" pitchFamily="34" charset="-120"/>
              </a:rPr>
              <a:t>Why Deep Learning?</a:t>
            </a:r>
            <a:endParaRPr lang="en-US" sz="1300" dirty="0"/>
          </a:p>
        </p:txBody>
      </p:sp>
      <p:sp>
        <p:nvSpPr>
          <p:cNvPr id="21" name="Shape 19"/>
          <p:cNvSpPr/>
          <p:nvPr/>
        </p:nvSpPr>
        <p:spPr>
          <a:xfrm>
            <a:off x="4800600" y="1572768"/>
            <a:ext cx="3886200" cy="768096"/>
          </a:xfrm>
          <a:prstGeom prst="rect">
            <a:avLst/>
          </a:prstGeom>
          <a:solidFill>
            <a:srgbClr val="E6F6F9"/>
          </a:solidFill>
          <a:ln w="10160">
            <a:solidFill>
              <a:srgbClr val="0987A0">
                <a:alpha val="40000"/>
              </a:srgbClr>
            </a:solidFill>
            <a:prstDash val="solid"/>
          </a:ln>
        </p:spPr>
        <p:txBody>
          <a:bodyPr/>
          <a:lstStyle/>
          <a:p>
            <a:endParaRPr lang="en-US"/>
          </a:p>
        </p:txBody>
      </p:sp>
      <p:sp>
        <p:nvSpPr>
          <p:cNvPr id="22" name="Text 20"/>
          <p:cNvSpPr/>
          <p:nvPr/>
        </p:nvSpPr>
        <p:spPr>
          <a:xfrm>
            <a:off x="4919472" y="1609344"/>
            <a:ext cx="3657600" cy="256032"/>
          </a:xfrm>
          <a:prstGeom prst="rect">
            <a:avLst/>
          </a:prstGeom>
          <a:noFill/>
          <a:ln/>
        </p:spPr>
        <p:txBody>
          <a:bodyPr wrap="square" lIns="0" tIns="0" rIns="0" bIns="0" rtlCol="0" anchor="ctr"/>
          <a:lstStyle/>
          <a:p>
            <a:pPr marL="0" indent="0">
              <a:buNone/>
            </a:pPr>
            <a:r>
              <a:rPr lang="en-US" sz="1050" b="1" dirty="0">
                <a:solidFill>
                  <a:srgbClr val="0987A0"/>
                </a:solidFill>
                <a:latin typeface="Calibri" pitchFamily="34" charset="0"/>
                <a:ea typeface="Calibri" pitchFamily="34" charset="-122"/>
                <a:cs typeface="Calibri" pitchFamily="34" charset="-120"/>
              </a:rPr>
              <a:t>Why 'Deep'?</a:t>
            </a:r>
            <a:endParaRPr lang="en-US" sz="1050" dirty="0"/>
          </a:p>
        </p:txBody>
      </p:sp>
      <p:sp>
        <p:nvSpPr>
          <p:cNvPr id="23" name="Text 21"/>
          <p:cNvSpPr/>
          <p:nvPr/>
        </p:nvSpPr>
        <p:spPr>
          <a:xfrm>
            <a:off x="4919472" y="1883664"/>
            <a:ext cx="3657600" cy="402336"/>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Multiple hidden layers — each learns increasingly complex features. Layer 1: edges. Layer 3: shapes. Layer 5: objects.</a:t>
            </a:r>
            <a:endParaRPr lang="en-US" sz="950" dirty="0"/>
          </a:p>
        </p:txBody>
      </p:sp>
      <p:sp>
        <p:nvSpPr>
          <p:cNvPr id="24" name="Shape 22"/>
          <p:cNvSpPr/>
          <p:nvPr/>
        </p:nvSpPr>
        <p:spPr>
          <a:xfrm>
            <a:off x="4800600" y="2414016"/>
            <a:ext cx="3886200" cy="768096"/>
          </a:xfrm>
          <a:prstGeom prst="rect">
            <a:avLst/>
          </a:prstGeom>
          <a:solidFill>
            <a:srgbClr val="E6F4EC"/>
          </a:solidFill>
          <a:ln w="10160">
            <a:solidFill>
              <a:srgbClr val="276749">
                <a:alpha val="40000"/>
              </a:srgbClr>
            </a:solidFill>
            <a:prstDash val="solid"/>
          </a:ln>
        </p:spPr>
        <p:txBody>
          <a:bodyPr/>
          <a:lstStyle/>
          <a:p>
            <a:endParaRPr lang="en-US"/>
          </a:p>
        </p:txBody>
      </p:sp>
      <p:sp>
        <p:nvSpPr>
          <p:cNvPr id="25" name="Text 23"/>
          <p:cNvSpPr/>
          <p:nvPr/>
        </p:nvSpPr>
        <p:spPr>
          <a:xfrm>
            <a:off x="4919472" y="2450592"/>
            <a:ext cx="3657600" cy="256032"/>
          </a:xfrm>
          <a:prstGeom prst="rect">
            <a:avLst/>
          </a:prstGeom>
          <a:noFill/>
          <a:ln/>
        </p:spPr>
        <p:txBody>
          <a:bodyPr wrap="square" lIns="0" tIns="0" rIns="0" bIns="0" rtlCol="0" anchor="ctr"/>
          <a:lstStyle/>
          <a:p>
            <a:pPr marL="0" indent="0">
              <a:buNone/>
            </a:pPr>
            <a:r>
              <a:rPr lang="en-US" sz="1050" b="1" dirty="0">
                <a:solidFill>
                  <a:srgbClr val="276749"/>
                </a:solidFill>
                <a:latin typeface="Calibri" pitchFamily="34" charset="0"/>
                <a:ea typeface="Calibri" pitchFamily="34" charset="-122"/>
                <a:cs typeface="Calibri" pitchFamily="34" charset="-120"/>
              </a:rPr>
              <a:t>Key Advantage</a:t>
            </a:r>
            <a:endParaRPr lang="en-US" sz="1050" dirty="0"/>
          </a:p>
        </p:txBody>
      </p:sp>
      <p:sp>
        <p:nvSpPr>
          <p:cNvPr id="26" name="Text 24"/>
          <p:cNvSpPr/>
          <p:nvPr/>
        </p:nvSpPr>
        <p:spPr>
          <a:xfrm>
            <a:off x="4919472" y="2724912"/>
            <a:ext cx="3657600" cy="402336"/>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Automatically learns features from raw data — no manual feature engineering needed.</a:t>
            </a:r>
            <a:endParaRPr lang="en-US" sz="950" dirty="0"/>
          </a:p>
        </p:txBody>
      </p:sp>
      <p:sp>
        <p:nvSpPr>
          <p:cNvPr id="27" name="Shape 25"/>
          <p:cNvSpPr/>
          <p:nvPr/>
        </p:nvSpPr>
        <p:spPr>
          <a:xfrm>
            <a:off x="4800600" y="3255264"/>
            <a:ext cx="3886200" cy="768096"/>
          </a:xfrm>
          <a:prstGeom prst="rect">
            <a:avLst/>
          </a:prstGeom>
          <a:solidFill>
            <a:srgbClr val="FFFBEB"/>
          </a:solidFill>
          <a:ln w="10160">
            <a:solidFill>
              <a:srgbClr val="B7791F">
                <a:alpha val="40000"/>
              </a:srgbClr>
            </a:solidFill>
            <a:prstDash val="solid"/>
          </a:ln>
        </p:spPr>
        <p:txBody>
          <a:bodyPr/>
          <a:lstStyle/>
          <a:p>
            <a:endParaRPr lang="en-US"/>
          </a:p>
        </p:txBody>
      </p:sp>
      <p:sp>
        <p:nvSpPr>
          <p:cNvPr id="28" name="Text 26"/>
          <p:cNvSpPr/>
          <p:nvPr/>
        </p:nvSpPr>
        <p:spPr>
          <a:xfrm>
            <a:off x="4919472" y="3291840"/>
            <a:ext cx="3657600" cy="256032"/>
          </a:xfrm>
          <a:prstGeom prst="rect">
            <a:avLst/>
          </a:prstGeom>
          <a:noFill/>
          <a:ln/>
        </p:spPr>
        <p:txBody>
          <a:bodyPr wrap="square" lIns="0" tIns="0" rIns="0" bIns="0" rtlCol="0" anchor="ctr"/>
          <a:lstStyle/>
          <a:p>
            <a:pPr marL="0" indent="0">
              <a:buNone/>
            </a:pPr>
            <a:r>
              <a:rPr lang="en-US" sz="1050" b="1" dirty="0">
                <a:solidFill>
                  <a:srgbClr val="B7791F"/>
                </a:solidFill>
                <a:latin typeface="Calibri" pitchFamily="34" charset="0"/>
                <a:ea typeface="Calibri" pitchFamily="34" charset="-122"/>
                <a:cs typeface="Calibri" pitchFamily="34" charset="-120"/>
              </a:rPr>
              <a:t>Requires</a:t>
            </a:r>
            <a:endParaRPr lang="en-US" sz="1050" dirty="0"/>
          </a:p>
        </p:txBody>
      </p:sp>
      <p:sp>
        <p:nvSpPr>
          <p:cNvPr id="29" name="Text 27"/>
          <p:cNvSpPr/>
          <p:nvPr/>
        </p:nvSpPr>
        <p:spPr>
          <a:xfrm>
            <a:off x="4919472" y="3566160"/>
            <a:ext cx="3657600" cy="402336"/>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Large datasets + powerful GPUs + careful architecture design.</a:t>
            </a:r>
            <a:endParaRPr lang="en-US" sz="950" dirty="0"/>
          </a:p>
        </p:txBody>
      </p:sp>
      <p:sp>
        <p:nvSpPr>
          <p:cNvPr id="30" name="Shape 28"/>
          <p:cNvSpPr/>
          <p:nvPr/>
        </p:nvSpPr>
        <p:spPr>
          <a:xfrm>
            <a:off x="4800600" y="4096512"/>
            <a:ext cx="3886200" cy="768096"/>
          </a:xfrm>
          <a:prstGeom prst="rect">
            <a:avLst/>
          </a:prstGeom>
          <a:solidFill>
            <a:srgbClr val="EDF2F7"/>
          </a:solidFill>
          <a:ln w="10160">
            <a:solidFill>
              <a:srgbClr val="1E3A5F">
                <a:alpha val="40000"/>
              </a:srgbClr>
            </a:solidFill>
            <a:prstDash val="solid"/>
          </a:ln>
        </p:spPr>
        <p:txBody>
          <a:bodyPr/>
          <a:lstStyle/>
          <a:p>
            <a:endParaRPr lang="en-US"/>
          </a:p>
        </p:txBody>
      </p:sp>
      <p:sp>
        <p:nvSpPr>
          <p:cNvPr id="31" name="Text 29"/>
          <p:cNvSpPr/>
          <p:nvPr/>
        </p:nvSpPr>
        <p:spPr>
          <a:xfrm>
            <a:off x="4919472" y="4133088"/>
            <a:ext cx="3657600" cy="256032"/>
          </a:xfrm>
          <a:prstGeom prst="rect">
            <a:avLst/>
          </a:prstGeom>
          <a:noFill/>
          <a:ln/>
        </p:spPr>
        <p:txBody>
          <a:bodyPr wrap="square" lIns="0" tIns="0" rIns="0" bIns="0" rtlCol="0" anchor="ctr"/>
          <a:lstStyle/>
          <a:p>
            <a:pPr marL="0" indent="0">
              <a:buNone/>
            </a:pPr>
            <a:r>
              <a:rPr lang="en-US" sz="1050" b="1" dirty="0">
                <a:solidFill>
                  <a:srgbClr val="1E3A5F"/>
                </a:solidFill>
                <a:latin typeface="Calibri" pitchFamily="34" charset="0"/>
                <a:ea typeface="Calibri" pitchFamily="34" charset="-122"/>
                <a:cs typeface="Calibri" pitchFamily="34" charset="-120"/>
              </a:rPr>
              <a:t>Powers</a:t>
            </a:r>
            <a:endParaRPr lang="en-US" sz="1050" dirty="0"/>
          </a:p>
        </p:txBody>
      </p:sp>
      <p:sp>
        <p:nvSpPr>
          <p:cNvPr id="32" name="Text 30"/>
          <p:cNvSpPr/>
          <p:nvPr/>
        </p:nvSpPr>
        <p:spPr>
          <a:xfrm>
            <a:off x="4919472" y="4407408"/>
            <a:ext cx="3657600" cy="402336"/>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Computer vision, NLP, speech recognition, robotics, drug discovery.</a:t>
            </a:r>
            <a:endParaRPr lang="en-US" sz="9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CBD5E0"/>
            </a:solidFill>
            <a:prstDash val="solid"/>
          </a:ln>
        </p:spPr>
        <p:txBody>
          <a:bodyPr/>
          <a:lstStyle/>
          <a:p>
            <a:endParaRPr lang="en-US"/>
          </a:p>
        </p:txBody>
      </p:sp>
      <p:sp>
        <p:nvSpPr>
          <p:cNvPr id="3" name="Shape 1"/>
          <p:cNvSpPr/>
          <p:nvPr/>
        </p:nvSpPr>
        <p:spPr>
          <a:xfrm>
            <a:off x="0" y="0"/>
            <a:ext cx="201168" cy="960120"/>
          </a:xfrm>
          <a:prstGeom prst="rect">
            <a:avLst/>
          </a:prstGeom>
          <a:solidFill>
            <a:srgbClr val="1E3A5F"/>
          </a:solidFill>
          <a:ln w="12700">
            <a:solidFill>
              <a:srgbClr val="1E3A5F"/>
            </a:solidFill>
            <a:prstDash val="solid"/>
          </a:ln>
        </p:spPr>
        <p:txBody>
          <a:bodyPr/>
          <a:lstStyle/>
          <a:p>
            <a:endParaRPr lang="en-US"/>
          </a:p>
        </p:txBody>
      </p:sp>
      <p:sp>
        <p:nvSpPr>
          <p:cNvPr id="4" name="Text 2"/>
          <p:cNvSpPr/>
          <p:nvPr/>
        </p:nvSpPr>
        <p:spPr>
          <a:xfrm>
            <a:off x="347472" y="91440"/>
            <a:ext cx="8412480" cy="475488"/>
          </a:xfrm>
          <a:prstGeom prst="rect">
            <a:avLst/>
          </a:prstGeom>
          <a:noFill/>
          <a:ln/>
        </p:spPr>
        <p:txBody>
          <a:bodyPr wrap="square" lIns="0" tIns="0" rIns="0" bIns="0" rtlCol="0" anchor="ctr"/>
          <a:lstStyle/>
          <a:p>
            <a:pPr marL="0" indent="0">
              <a:buNone/>
            </a:pPr>
            <a:r>
              <a:rPr lang="en-US" sz="2200" b="1" dirty="0">
                <a:solidFill>
                  <a:srgbClr val="1E3A5F"/>
                </a:solidFill>
                <a:latin typeface="Trebuchet MS" pitchFamily="34" charset="0"/>
                <a:ea typeface="Trebuchet MS" pitchFamily="34" charset="-122"/>
                <a:cs typeface="Trebuchet MS" pitchFamily="34" charset="-120"/>
              </a:rPr>
              <a:t>Three Major Deep Learning Architectures</a:t>
            </a:r>
            <a:endParaRPr lang="en-US" sz="2200" dirty="0"/>
          </a:p>
        </p:txBody>
      </p:sp>
      <p:sp>
        <p:nvSpPr>
          <p:cNvPr id="5" name="Text 3"/>
          <p:cNvSpPr/>
          <p:nvPr/>
        </p:nvSpPr>
        <p:spPr>
          <a:xfrm>
            <a:off x="347472" y="585216"/>
            <a:ext cx="8412480" cy="292608"/>
          </a:xfrm>
          <a:prstGeom prst="rect">
            <a:avLst/>
          </a:prstGeom>
          <a:noFill/>
          <a:ln/>
        </p:spPr>
        <p:txBody>
          <a:bodyPr wrap="square" lIns="0" tIns="0" rIns="0" bIns="0" rtlCol="0" anchor="ctr"/>
          <a:lstStyle/>
          <a:p>
            <a:pPr marL="0" indent="0">
              <a:buNone/>
            </a:pPr>
            <a:r>
              <a:rPr lang="en-US" sz="1100" i="1" dirty="0">
                <a:solidFill>
                  <a:srgbClr val="718096"/>
                </a:solidFill>
                <a:latin typeface="Calibri" pitchFamily="34" charset="0"/>
                <a:ea typeface="Calibri" pitchFamily="34" charset="-122"/>
                <a:cs typeface="Calibri" pitchFamily="34" charset="-120"/>
              </a:rPr>
              <a:t>Each Designed to Solve a Different Type of Problem</a:t>
            </a:r>
            <a:endParaRPr lang="en-US" sz="1100" dirty="0"/>
          </a:p>
        </p:txBody>
      </p:sp>
      <p:sp>
        <p:nvSpPr>
          <p:cNvPr id="6" name="Shape 4"/>
          <p:cNvSpPr/>
          <p:nvPr/>
        </p:nvSpPr>
        <p:spPr>
          <a:xfrm>
            <a:off x="347472" y="932688"/>
            <a:ext cx="8503920" cy="27432"/>
          </a:xfrm>
          <a:prstGeom prst="rect">
            <a:avLst/>
          </a:prstGeom>
          <a:solidFill>
            <a:srgbClr val="1E3A5F">
              <a:alpha val="30000"/>
            </a:srgbClr>
          </a:solidFill>
          <a:ln/>
        </p:spPr>
        <p:txBody>
          <a:bodyPr/>
          <a:lstStyle/>
          <a:p>
            <a:endParaRPr lang="en-US"/>
          </a:p>
        </p:txBody>
      </p:sp>
      <p:sp>
        <p:nvSpPr>
          <p:cNvPr id="7" name="Shape 5"/>
          <p:cNvSpPr/>
          <p:nvPr/>
        </p:nvSpPr>
        <p:spPr>
          <a:xfrm>
            <a:off x="320040" y="1051560"/>
            <a:ext cx="2743200" cy="3931920"/>
          </a:xfrm>
          <a:prstGeom prst="rect">
            <a:avLst/>
          </a:prstGeom>
          <a:solidFill>
            <a:srgbClr val="FFFFFF"/>
          </a:solidFill>
          <a:ln w="19050">
            <a:solidFill>
              <a:srgbClr val="0987A0"/>
            </a:solidFill>
            <a:prstDash val="solid"/>
          </a:ln>
          <a:effectLst>
            <a:outerShdw blurRad="63500" dist="25400" dir="8100000" algn="bl" rotWithShape="0">
              <a:srgbClr val="000000">
                <a:alpha val="8000"/>
              </a:srgbClr>
            </a:outerShdw>
          </a:effectLst>
        </p:spPr>
        <p:txBody>
          <a:bodyPr/>
          <a:lstStyle/>
          <a:p>
            <a:endParaRPr lang="en-US"/>
          </a:p>
        </p:txBody>
      </p:sp>
      <p:sp>
        <p:nvSpPr>
          <p:cNvPr id="8" name="Shape 6"/>
          <p:cNvSpPr/>
          <p:nvPr/>
        </p:nvSpPr>
        <p:spPr>
          <a:xfrm>
            <a:off x="320040" y="1051560"/>
            <a:ext cx="2743200" cy="64008"/>
          </a:xfrm>
          <a:prstGeom prst="rect">
            <a:avLst/>
          </a:prstGeom>
          <a:solidFill>
            <a:srgbClr val="0987A0"/>
          </a:solidFill>
          <a:ln w="12700">
            <a:solidFill>
              <a:srgbClr val="0987A0"/>
            </a:solidFill>
            <a:prstDash val="solid"/>
          </a:ln>
        </p:spPr>
        <p:txBody>
          <a:bodyPr/>
          <a:lstStyle/>
          <a:p>
            <a:endParaRPr lang="en-US"/>
          </a:p>
        </p:txBody>
      </p:sp>
      <p:sp>
        <p:nvSpPr>
          <p:cNvPr id="9" name="Shape 7"/>
          <p:cNvSpPr/>
          <p:nvPr/>
        </p:nvSpPr>
        <p:spPr>
          <a:xfrm>
            <a:off x="1325880" y="1143000"/>
            <a:ext cx="731520" cy="731520"/>
          </a:xfrm>
          <a:prstGeom prst="ellipse">
            <a:avLst/>
          </a:prstGeom>
          <a:solidFill>
            <a:srgbClr val="E6F6F9"/>
          </a:solidFill>
          <a:ln w="25400">
            <a:solidFill>
              <a:srgbClr val="0987A0"/>
            </a:solidFill>
            <a:prstDash val="solid"/>
          </a:ln>
        </p:spPr>
        <p:txBody>
          <a:bodyPr/>
          <a:lstStyle/>
          <a:p>
            <a:endParaRPr lang="en-US"/>
          </a:p>
        </p:txBody>
      </p:sp>
      <p:sp>
        <p:nvSpPr>
          <p:cNvPr id="10" name="Text 8"/>
          <p:cNvSpPr/>
          <p:nvPr/>
        </p:nvSpPr>
        <p:spPr>
          <a:xfrm>
            <a:off x="1325880" y="1143000"/>
            <a:ext cx="731520" cy="731520"/>
          </a:xfrm>
          <a:prstGeom prst="rect">
            <a:avLst/>
          </a:prstGeom>
          <a:noFill/>
          <a:ln/>
        </p:spPr>
        <p:txBody>
          <a:bodyPr wrap="square" rtlCol="0" anchor="ctr"/>
          <a:lstStyle/>
          <a:p>
            <a:pPr marL="0" indent="0" algn="ctr">
              <a:buNone/>
            </a:pPr>
            <a:r>
              <a:rPr lang="en-US" sz="1400" b="1" dirty="0">
                <a:solidFill>
                  <a:srgbClr val="0987A0"/>
                </a:solidFill>
                <a:latin typeface="Trebuchet MS" pitchFamily="34" charset="0"/>
                <a:ea typeface="Trebuchet MS" pitchFamily="34" charset="-122"/>
                <a:cs typeface="Trebuchet MS" pitchFamily="34" charset="-120"/>
              </a:rPr>
              <a:t>CNN</a:t>
            </a:r>
            <a:endParaRPr lang="en-US" sz="1400" dirty="0"/>
          </a:p>
        </p:txBody>
      </p:sp>
      <p:sp>
        <p:nvSpPr>
          <p:cNvPr id="11" name="Text 9"/>
          <p:cNvSpPr/>
          <p:nvPr/>
        </p:nvSpPr>
        <p:spPr>
          <a:xfrm>
            <a:off x="429768" y="1975104"/>
            <a:ext cx="2523744" cy="310896"/>
          </a:xfrm>
          <a:prstGeom prst="rect">
            <a:avLst/>
          </a:prstGeom>
          <a:noFill/>
          <a:ln/>
        </p:spPr>
        <p:txBody>
          <a:bodyPr wrap="square" lIns="0" tIns="0" rIns="0" bIns="0" rtlCol="0" anchor="ctr"/>
          <a:lstStyle/>
          <a:p>
            <a:pPr marL="0" indent="0" algn="ctr">
              <a:buNone/>
            </a:pPr>
            <a:r>
              <a:rPr lang="en-US" sz="1000" b="1" dirty="0">
                <a:solidFill>
                  <a:srgbClr val="1E3A5F"/>
                </a:solidFill>
                <a:latin typeface="Trebuchet MS" pitchFamily="34" charset="0"/>
                <a:ea typeface="Trebuchet MS" pitchFamily="34" charset="-122"/>
                <a:cs typeface="Trebuchet MS" pitchFamily="34" charset="-120"/>
              </a:rPr>
              <a:t>Convolutional Neural Network</a:t>
            </a:r>
            <a:endParaRPr lang="en-US" sz="1000" dirty="0"/>
          </a:p>
        </p:txBody>
      </p:sp>
      <p:sp>
        <p:nvSpPr>
          <p:cNvPr id="12" name="Text 10"/>
          <p:cNvSpPr/>
          <p:nvPr/>
        </p:nvSpPr>
        <p:spPr>
          <a:xfrm>
            <a:off x="429768" y="2286000"/>
            <a:ext cx="2523744" cy="256032"/>
          </a:xfrm>
          <a:prstGeom prst="rect">
            <a:avLst/>
          </a:prstGeom>
          <a:noFill/>
          <a:ln/>
        </p:spPr>
        <p:txBody>
          <a:bodyPr wrap="square" lIns="0" tIns="0" rIns="0" bIns="0" rtlCol="0" anchor="ctr"/>
          <a:lstStyle/>
          <a:p>
            <a:pPr marL="0" indent="0" algn="ctr">
              <a:buNone/>
            </a:pPr>
            <a:r>
              <a:rPr lang="en-US" sz="1000" i="1" dirty="0">
                <a:solidFill>
                  <a:srgbClr val="0987A0"/>
                </a:solidFill>
                <a:latin typeface="Calibri" pitchFamily="34" charset="0"/>
                <a:ea typeface="Calibri" pitchFamily="34" charset="-122"/>
                <a:cs typeface="Calibri" pitchFamily="34" charset="-120"/>
              </a:rPr>
              <a:t>The Eyes of AI</a:t>
            </a:r>
            <a:endParaRPr lang="en-US" sz="1000" dirty="0"/>
          </a:p>
        </p:txBody>
      </p:sp>
      <p:sp>
        <p:nvSpPr>
          <p:cNvPr id="13" name="Shape 11"/>
          <p:cNvSpPr/>
          <p:nvPr/>
        </p:nvSpPr>
        <p:spPr>
          <a:xfrm>
            <a:off x="411480" y="2615184"/>
            <a:ext cx="2560320" cy="347472"/>
          </a:xfrm>
          <a:prstGeom prst="rect">
            <a:avLst/>
          </a:prstGeom>
          <a:solidFill>
            <a:srgbClr val="FFFFFF"/>
          </a:solidFill>
          <a:ln w="6350">
            <a:solidFill>
              <a:srgbClr val="CBD5E0"/>
            </a:solidFill>
            <a:prstDash val="solid"/>
          </a:ln>
        </p:spPr>
        <p:txBody>
          <a:bodyPr/>
          <a:lstStyle/>
          <a:p>
            <a:endParaRPr lang="en-US"/>
          </a:p>
        </p:txBody>
      </p:sp>
      <p:sp>
        <p:nvSpPr>
          <p:cNvPr id="14" name="Text 12"/>
          <p:cNvSpPr/>
          <p:nvPr/>
        </p:nvSpPr>
        <p:spPr>
          <a:xfrm>
            <a:off x="484632" y="2633472"/>
            <a:ext cx="868680" cy="310896"/>
          </a:xfrm>
          <a:prstGeom prst="rect">
            <a:avLst/>
          </a:prstGeom>
          <a:noFill/>
          <a:ln/>
        </p:spPr>
        <p:txBody>
          <a:bodyPr wrap="square" lIns="0" tIns="0" rIns="0" bIns="0" rtlCol="0" anchor="ctr"/>
          <a:lstStyle/>
          <a:p>
            <a:pPr marL="0" indent="0">
              <a:buNone/>
            </a:pPr>
            <a:r>
              <a:rPr lang="en-US" sz="900" b="1" dirty="0">
                <a:solidFill>
                  <a:srgbClr val="0987A0"/>
                </a:solidFill>
                <a:latin typeface="Calibri" pitchFamily="34" charset="0"/>
                <a:ea typeface="Calibri" pitchFamily="34" charset="-122"/>
                <a:cs typeface="Calibri" pitchFamily="34" charset="-120"/>
              </a:rPr>
              <a:t>Best For:</a:t>
            </a:r>
            <a:endParaRPr lang="en-US" sz="900" dirty="0"/>
          </a:p>
        </p:txBody>
      </p:sp>
      <p:sp>
        <p:nvSpPr>
          <p:cNvPr id="15" name="Text 13"/>
          <p:cNvSpPr/>
          <p:nvPr/>
        </p:nvSpPr>
        <p:spPr>
          <a:xfrm>
            <a:off x="1380744" y="2633472"/>
            <a:ext cx="1554480" cy="310896"/>
          </a:xfrm>
          <a:prstGeom prst="rect">
            <a:avLst/>
          </a:prstGeom>
          <a:noFill/>
          <a:ln/>
        </p:spPr>
        <p:txBody>
          <a:bodyPr wrap="square" lIns="0" tIns="0" rIns="0" bIns="0" rtlCol="0" anchor="ctr"/>
          <a:lstStyle/>
          <a:p>
            <a:pPr marL="0" indent="0">
              <a:buNone/>
            </a:pPr>
            <a:r>
              <a:rPr lang="en-US" sz="900" dirty="0">
                <a:solidFill>
                  <a:srgbClr val="2D3748"/>
                </a:solidFill>
                <a:latin typeface="Calibri" pitchFamily="34" charset="0"/>
                <a:ea typeface="Calibri" pitchFamily="34" charset="-122"/>
                <a:cs typeface="Calibri" pitchFamily="34" charset="-120"/>
              </a:rPr>
              <a:t>Images, grids, spatial data</a:t>
            </a:r>
            <a:endParaRPr lang="en-US" sz="900" dirty="0"/>
          </a:p>
        </p:txBody>
      </p:sp>
      <p:sp>
        <p:nvSpPr>
          <p:cNvPr id="16" name="Shape 14"/>
          <p:cNvSpPr/>
          <p:nvPr/>
        </p:nvSpPr>
        <p:spPr>
          <a:xfrm>
            <a:off x="411480" y="2999232"/>
            <a:ext cx="2560320" cy="347472"/>
          </a:xfrm>
          <a:prstGeom prst="rect">
            <a:avLst/>
          </a:prstGeom>
          <a:solidFill>
            <a:srgbClr val="EDF2F7"/>
          </a:solidFill>
          <a:ln w="6350">
            <a:solidFill>
              <a:srgbClr val="CBD5E0"/>
            </a:solidFill>
            <a:prstDash val="solid"/>
          </a:ln>
        </p:spPr>
        <p:txBody>
          <a:bodyPr/>
          <a:lstStyle/>
          <a:p>
            <a:endParaRPr lang="en-US"/>
          </a:p>
        </p:txBody>
      </p:sp>
      <p:sp>
        <p:nvSpPr>
          <p:cNvPr id="17" name="Text 15"/>
          <p:cNvSpPr/>
          <p:nvPr/>
        </p:nvSpPr>
        <p:spPr>
          <a:xfrm>
            <a:off x="484632" y="3017520"/>
            <a:ext cx="868680" cy="310896"/>
          </a:xfrm>
          <a:prstGeom prst="rect">
            <a:avLst/>
          </a:prstGeom>
          <a:noFill/>
          <a:ln/>
        </p:spPr>
        <p:txBody>
          <a:bodyPr wrap="square" lIns="0" tIns="0" rIns="0" bIns="0" rtlCol="0" anchor="ctr"/>
          <a:lstStyle/>
          <a:p>
            <a:pPr marL="0" indent="0">
              <a:buNone/>
            </a:pPr>
            <a:r>
              <a:rPr lang="en-US" sz="900" b="1" dirty="0">
                <a:solidFill>
                  <a:srgbClr val="0987A0"/>
                </a:solidFill>
                <a:latin typeface="Calibri" pitchFamily="34" charset="0"/>
                <a:ea typeface="Calibri" pitchFamily="34" charset="-122"/>
                <a:cs typeface="Calibri" pitchFamily="34" charset="-120"/>
              </a:rPr>
              <a:t>Key Feature:</a:t>
            </a:r>
            <a:endParaRPr lang="en-US" sz="900" dirty="0"/>
          </a:p>
        </p:txBody>
      </p:sp>
      <p:sp>
        <p:nvSpPr>
          <p:cNvPr id="18" name="Text 16"/>
          <p:cNvSpPr/>
          <p:nvPr/>
        </p:nvSpPr>
        <p:spPr>
          <a:xfrm>
            <a:off x="1380744" y="3017520"/>
            <a:ext cx="1554480" cy="310896"/>
          </a:xfrm>
          <a:prstGeom prst="rect">
            <a:avLst/>
          </a:prstGeom>
          <a:noFill/>
          <a:ln/>
        </p:spPr>
        <p:txBody>
          <a:bodyPr wrap="square" lIns="0" tIns="0" rIns="0" bIns="0" rtlCol="0" anchor="ctr"/>
          <a:lstStyle/>
          <a:p>
            <a:pPr marL="0" indent="0">
              <a:buNone/>
            </a:pPr>
            <a:r>
              <a:rPr lang="en-US" sz="900" dirty="0">
                <a:solidFill>
                  <a:srgbClr val="2D3748"/>
                </a:solidFill>
                <a:latin typeface="Calibri" pitchFamily="34" charset="0"/>
                <a:ea typeface="Calibri" pitchFamily="34" charset="-122"/>
                <a:cs typeface="Calibri" pitchFamily="34" charset="-120"/>
              </a:rPr>
              <a:t>Convolution + Pooling filters</a:t>
            </a:r>
            <a:endParaRPr lang="en-US" sz="900" dirty="0"/>
          </a:p>
        </p:txBody>
      </p:sp>
      <p:sp>
        <p:nvSpPr>
          <p:cNvPr id="19" name="Shape 17"/>
          <p:cNvSpPr/>
          <p:nvPr/>
        </p:nvSpPr>
        <p:spPr>
          <a:xfrm>
            <a:off x="411480" y="3383280"/>
            <a:ext cx="2560320" cy="347472"/>
          </a:xfrm>
          <a:prstGeom prst="rect">
            <a:avLst/>
          </a:prstGeom>
          <a:solidFill>
            <a:srgbClr val="FFFFFF"/>
          </a:solidFill>
          <a:ln w="6350">
            <a:solidFill>
              <a:srgbClr val="CBD5E0"/>
            </a:solidFill>
            <a:prstDash val="solid"/>
          </a:ln>
        </p:spPr>
        <p:txBody>
          <a:bodyPr/>
          <a:lstStyle/>
          <a:p>
            <a:endParaRPr lang="en-US"/>
          </a:p>
        </p:txBody>
      </p:sp>
      <p:sp>
        <p:nvSpPr>
          <p:cNvPr id="20" name="Text 18"/>
          <p:cNvSpPr/>
          <p:nvPr/>
        </p:nvSpPr>
        <p:spPr>
          <a:xfrm>
            <a:off x="484632" y="3401568"/>
            <a:ext cx="868680" cy="310896"/>
          </a:xfrm>
          <a:prstGeom prst="rect">
            <a:avLst/>
          </a:prstGeom>
          <a:noFill/>
          <a:ln/>
        </p:spPr>
        <p:txBody>
          <a:bodyPr wrap="square" lIns="0" tIns="0" rIns="0" bIns="0" rtlCol="0" anchor="ctr"/>
          <a:lstStyle/>
          <a:p>
            <a:pPr marL="0" indent="0">
              <a:buNone/>
            </a:pPr>
            <a:r>
              <a:rPr lang="en-US" sz="900" b="1" dirty="0">
                <a:solidFill>
                  <a:srgbClr val="0987A0"/>
                </a:solidFill>
                <a:latin typeface="Calibri" pitchFamily="34" charset="0"/>
                <a:ea typeface="Calibri" pitchFamily="34" charset="-122"/>
                <a:cs typeface="Calibri" pitchFamily="34" charset="-120"/>
              </a:rPr>
              <a:t>Used In:</a:t>
            </a:r>
            <a:endParaRPr lang="en-US" sz="900" dirty="0"/>
          </a:p>
        </p:txBody>
      </p:sp>
      <p:sp>
        <p:nvSpPr>
          <p:cNvPr id="21" name="Text 19"/>
          <p:cNvSpPr/>
          <p:nvPr/>
        </p:nvSpPr>
        <p:spPr>
          <a:xfrm>
            <a:off x="1380744" y="3401568"/>
            <a:ext cx="1554480" cy="310896"/>
          </a:xfrm>
          <a:prstGeom prst="rect">
            <a:avLst/>
          </a:prstGeom>
          <a:noFill/>
          <a:ln/>
        </p:spPr>
        <p:txBody>
          <a:bodyPr wrap="square" lIns="0" tIns="0" rIns="0" bIns="0" rtlCol="0" anchor="ctr"/>
          <a:lstStyle/>
          <a:p>
            <a:pPr marL="0" indent="0">
              <a:buNone/>
            </a:pPr>
            <a:r>
              <a:rPr lang="en-US" sz="900" dirty="0">
                <a:solidFill>
                  <a:srgbClr val="2D3748"/>
                </a:solidFill>
                <a:latin typeface="Calibri" pitchFamily="34" charset="0"/>
                <a:ea typeface="Calibri" pitchFamily="34" charset="-122"/>
                <a:cs typeface="Calibri" pitchFamily="34" charset="-120"/>
              </a:rPr>
              <a:t>Face recognition, Self-driving cars, Medical imaging</a:t>
            </a:r>
            <a:endParaRPr lang="en-US" sz="900" dirty="0"/>
          </a:p>
        </p:txBody>
      </p:sp>
      <p:sp>
        <p:nvSpPr>
          <p:cNvPr id="22" name="Shape 20"/>
          <p:cNvSpPr/>
          <p:nvPr/>
        </p:nvSpPr>
        <p:spPr>
          <a:xfrm>
            <a:off x="411480" y="3767328"/>
            <a:ext cx="2560320" cy="347472"/>
          </a:xfrm>
          <a:prstGeom prst="rect">
            <a:avLst/>
          </a:prstGeom>
          <a:solidFill>
            <a:srgbClr val="EDF2F7"/>
          </a:solidFill>
          <a:ln w="6350">
            <a:solidFill>
              <a:srgbClr val="CBD5E0"/>
            </a:solidFill>
            <a:prstDash val="solid"/>
          </a:ln>
        </p:spPr>
        <p:txBody>
          <a:bodyPr/>
          <a:lstStyle/>
          <a:p>
            <a:endParaRPr lang="en-US"/>
          </a:p>
        </p:txBody>
      </p:sp>
      <p:sp>
        <p:nvSpPr>
          <p:cNvPr id="23" name="Text 21"/>
          <p:cNvSpPr/>
          <p:nvPr/>
        </p:nvSpPr>
        <p:spPr>
          <a:xfrm>
            <a:off x="484632" y="3785616"/>
            <a:ext cx="868680" cy="310896"/>
          </a:xfrm>
          <a:prstGeom prst="rect">
            <a:avLst/>
          </a:prstGeom>
          <a:noFill/>
          <a:ln/>
        </p:spPr>
        <p:txBody>
          <a:bodyPr wrap="square" lIns="0" tIns="0" rIns="0" bIns="0" rtlCol="0" anchor="ctr"/>
          <a:lstStyle/>
          <a:p>
            <a:pPr marL="0" indent="0">
              <a:buNone/>
            </a:pPr>
            <a:r>
              <a:rPr lang="en-US" sz="900" b="1" dirty="0">
                <a:solidFill>
                  <a:srgbClr val="0987A0"/>
                </a:solidFill>
                <a:latin typeface="Calibri" pitchFamily="34" charset="0"/>
                <a:ea typeface="Calibri" pitchFamily="34" charset="-122"/>
                <a:cs typeface="Calibri" pitchFamily="34" charset="-120"/>
              </a:rPr>
              <a:t>Introduced:</a:t>
            </a:r>
            <a:endParaRPr lang="en-US" sz="900" dirty="0"/>
          </a:p>
        </p:txBody>
      </p:sp>
      <p:sp>
        <p:nvSpPr>
          <p:cNvPr id="24" name="Text 22"/>
          <p:cNvSpPr/>
          <p:nvPr/>
        </p:nvSpPr>
        <p:spPr>
          <a:xfrm>
            <a:off x="1380744" y="3785616"/>
            <a:ext cx="1554480" cy="310896"/>
          </a:xfrm>
          <a:prstGeom prst="rect">
            <a:avLst/>
          </a:prstGeom>
          <a:noFill/>
          <a:ln/>
        </p:spPr>
        <p:txBody>
          <a:bodyPr wrap="square" lIns="0" tIns="0" rIns="0" bIns="0" rtlCol="0" anchor="ctr"/>
          <a:lstStyle/>
          <a:p>
            <a:pPr marL="0" indent="0">
              <a:buNone/>
            </a:pPr>
            <a:r>
              <a:rPr lang="en-US" sz="900" dirty="0">
                <a:solidFill>
                  <a:srgbClr val="2D3748"/>
                </a:solidFill>
                <a:latin typeface="Calibri" pitchFamily="34" charset="0"/>
                <a:ea typeface="Calibri" pitchFamily="34" charset="-122"/>
                <a:cs typeface="Calibri" pitchFamily="34" charset="-120"/>
              </a:rPr>
              <a:t>LeNet 1998</a:t>
            </a:r>
            <a:endParaRPr lang="en-US" sz="900" dirty="0"/>
          </a:p>
        </p:txBody>
      </p:sp>
      <p:sp>
        <p:nvSpPr>
          <p:cNvPr id="25" name="Shape 23"/>
          <p:cNvSpPr/>
          <p:nvPr/>
        </p:nvSpPr>
        <p:spPr>
          <a:xfrm>
            <a:off x="3227832" y="1051560"/>
            <a:ext cx="2743200" cy="3931920"/>
          </a:xfrm>
          <a:prstGeom prst="rect">
            <a:avLst/>
          </a:prstGeom>
          <a:solidFill>
            <a:srgbClr val="FFFFFF"/>
          </a:solidFill>
          <a:ln w="19050">
            <a:solidFill>
              <a:srgbClr val="276749"/>
            </a:solidFill>
            <a:prstDash val="solid"/>
          </a:ln>
          <a:effectLst>
            <a:outerShdw blurRad="63500" dist="25400" dir="8100000" algn="bl" rotWithShape="0">
              <a:srgbClr val="000000">
                <a:alpha val="8000"/>
              </a:srgbClr>
            </a:outerShdw>
          </a:effectLst>
        </p:spPr>
        <p:txBody>
          <a:bodyPr/>
          <a:lstStyle/>
          <a:p>
            <a:endParaRPr lang="en-US"/>
          </a:p>
        </p:txBody>
      </p:sp>
      <p:sp>
        <p:nvSpPr>
          <p:cNvPr id="26" name="Shape 24"/>
          <p:cNvSpPr/>
          <p:nvPr/>
        </p:nvSpPr>
        <p:spPr>
          <a:xfrm>
            <a:off x="3227832" y="1051560"/>
            <a:ext cx="2743200" cy="64008"/>
          </a:xfrm>
          <a:prstGeom prst="rect">
            <a:avLst/>
          </a:prstGeom>
          <a:solidFill>
            <a:srgbClr val="276749"/>
          </a:solidFill>
          <a:ln w="12700">
            <a:solidFill>
              <a:srgbClr val="276749"/>
            </a:solidFill>
            <a:prstDash val="solid"/>
          </a:ln>
        </p:spPr>
        <p:txBody>
          <a:bodyPr/>
          <a:lstStyle/>
          <a:p>
            <a:endParaRPr lang="en-US"/>
          </a:p>
        </p:txBody>
      </p:sp>
      <p:sp>
        <p:nvSpPr>
          <p:cNvPr id="27" name="Shape 25"/>
          <p:cNvSpPr/>
          <p:nvPr/>
        </p:nvSpPr>
        <p:spPr>
          <a:xfrm>
            <a:off x="4233672" y="1143000"/>
            <a:ext cx="731520" cy="731520"/>
          </a:xfrm>
          <a:prstGeom prst="ellipse">
            <a:avLst/>
          </a:prstGeom>
          <a:solidFill>
            <a:srgbClr val="E6F4EC"/>
          </a:solidFill>
          <a:ln w="25400">
            <a:solidFill>
              <a:srgbClr val="276749"/>
            </a:solidFill>
            <a:prstDash val="solid"/>
          </a:ln>
        </p:spPr>
        <p:txBody>
          <a:bodyPr/>
          <a:lstStyle/>
          <a:p>
            <a:endParaRPr lang="en-US"/>
          </a:p>
        </p:txBody>
      </p:sp>
      <p:sp>
        <p:nvSpPr>
          <p:cNvPr id="28" name="Text 26"/>
          <p:cNvSpPr/>
          <p:nvPr/>
        </p:nvSpPr>
        <p:spPr>
          <a:xfrm>
            <a:off x="4233672" y="1143000"/>
            <a:ext cx="731520" cy="731520"/>
          </a:xfrm>
          <a:prstGeom prst="rect">
            <a:avLst/>
          </a:prstGeom>
          <a:noFill/>
          <a:ln/>
        </p:spPr>
        <p:txBody>
          <a:bodyPr wrap="square" rtlCol="0" anchor="ctr"/>
          <a:lstStyle/>
          <a:p>
            <a:pPr marL="0" indent="0" algn="ctr">
              <a:buNone/>
            </a:pPr>
            <a:r>
              <a:rPr lang="en-US" sz="1400" b="1" dirty="0">
                <a:solidFill>
                  <a:srgbClr val="276749"/>
                </a:solidFill>
                <a:latin typeface="Trebuchet MS" pitchFamily="34" charset="0"/>
                <a:ea typeface="Trebuchet MS" pitchFamily="34" charset="-122"/>
                <a:cs typeface="Trebuchet MS" pitchFamily="34" charset="-120"/>
              </a:rPr>
              <a:t>RNN</a:t>
            </a:r>
            <a:endParaRPr lang="en-US" sz="1400" dirty="0"/>
          </a:p>
        </p:txBody>
      </p:sp>
      <p:sp>
        <p:nvSpPr>
          <p:cNvPr id="29" name="Text 27"/>
          <p:cNvSpPr/>
          <p:nvPr/>
        </p:nvSpPr>
        <p:spPr>
          <a:xfrm>
            <a:off x="3337560" y="1975104"/>
            <a:ext cx="2523744" cy="310896"/>
          </a:xfrm>
          <a:prstGeom prst="rect">
            <a:avLst/>
          </a:prstGeom>
          <a:noFill/>
          <a:ln/>
        </p:spPr>
        <p:txBody>
          <a:bodyPr wrap="square" lIns="0" tIns="0" rIns="0" bIns="0" rtlCol="0" anchor="ctr"/>
          <a:lstStyle/>
          <a:p>
            <a:pPr marL="0" indent="0" algn="ctr">
              <a:buNone/>
            </a:pPr>
            <a:r>
              <a:rPr lang="en-US" sz="1000" b="1" dirty="0">
                <a:solidFill>
                  <a:srgbClr val="1E3A5F"/>
                </a:solidFill>
                <a:latin typeface="Trebuchet MS" pitchFamily="34" charset="0"/>
                <a:ea typeface="Trebuchet MS" pitchFamily="34" charset="-122"/>
                <a:cs typeface="Trebuchet MS" pitchFamily="34" charset="-120"/>
              </a:rPr>
              <a:t>Recurrent Neural Network</a:t>
            </a:r>
            <a:endParaRPr lang="en-US" sz="1000" dirty="0"/>
          </a:p>
        </p:txBody>
      </p:sp>
      <p:sp>
        <p:nvSpPr>
          <p:cNvPr id="30" name="Text 28"/>
          <p:cNvSpPr/>
          <p:nvPr/>
        </p:nvSpPr>
        <p:spPr>
          <a:xfrm>
            <a:off x="3337560" y="2286000"/>
            <a:ext cx="2523744" cy="256032"/>
          </a:xfrm>
          <a:prstGeom prst="rect">
            <a:avLst/>
          </a:prstGeom>
          <a:noFill/>
          <a:ln/>
        </p:spPr>
        <p:txBody>
          <a:bodyPr wrap="square" lIns="0" tIns="0" rIns="0" bIns="0" rtlCol="0" anchor="ctr"/>
          <a:lstStyle/>
          <a:p>
            <a:pPr marL="0" indent="0" algn="ctr">
              <a:buNone/>
            </a:pPr>
            <a:r>
              <a:rPr lang="en-US" sz="1000" i="1" dirty="0">
                <a:solidFill>
                  <a:srgbClr val="276749"/>
                </a:solidFill>
                <a:latin typeface="Calibri" pitchFamily="34" charset="0"/>
                <a:ea typeface="Calibri" pitchFamily="34" charset="-122"/>
                <a:cs typeface="Calibri" pitchFamily="34" charset="-120"/>
              </a:rPr>
              <a:t>The Memory of AI</a:t>
            </a:r>
            <a:endParaRPr lang="en-US" sz="1000" dirty="0"/>
          </a:p>
        </p:txBody>
      </p:sp>
      <p:sp>
        <p:nvSpPr>
          <p:cNvPr id="31" name="Shape 29"/>
          <p:cNvSpPr/>
          <p:nvPr/>
        </p:nvSpPr>
        <p:spPr>
          <a:xfrm>
            <a:off x="3319272" y="2615184"/>
            <a:ext cx="2560320" cy="347472"/>
          </a:xfrm>
          <a:prstGeom prst="rect">
            <a:avLst/>
          </a:prstGeom>
          <a:solidFill>
            <a:srgbClr val="FFFFFF"/>
          </a:solidFill>
          <a:ln w="6350">
            <a:solidFill>
              <a:srgbClr val="CBD5E0"/>
            </a:solidFill>
            <a:prstDash val="solid"/>
          </a:ln>
        </p:spPr>
        <p:txBody>
          <a:bodyPr/>
          <a:lstStyle/>
          <a:p>
            <a:endParaRPr lang="en-US"/>
          </a:p>
        </p:txBody>
      </p:sp>
      <p:sp>
        <p:nvSpPr>
          <p:cNvPr id="32" name="Text 30"/>
          <p:cNvSpPr/>
          <p:nvPr/>
        </p:nvSpPr>
        <p:spPr>
          <a:xfrm>
            <a:off x="3392424" y="2633472"/>
            <a:ext cx="868680" cy="310896"/>
          </a:xfrm>
          <a:prstGeom prst="rect">
            <a:avLst/>
          </a:prstGeom>
          <a:noFill/>
          <a:ln/>
        </p:spPr>
        <p:txBody>
          <a:bodyPr wrap="square" lIns="0" tIns="0" rIns="0" bIns="0" rtlCol="0" anchor="ctr"/>
          <a:lstStyle/>
          <a:p>
            <a:pPr marL="0" indent="0">
              <a:buNone/>
            </a:pPr>
            <a:r>
              <a:rPr lang="en-US" sz="900" b="1" dirty="0">
                <a:solidFill>
                  <a:srgbClr val="276749"/>
                </a:solidFill>
                <a:latin typeface="Calibri" pitchFamily="34" charset="0"/>
                <a:ea typeface="Calibri" pitchFamily="34" charset="-122"/>
                <a:cs typeface="Calibri" pitchFamily="34" charset="-120"/>
              </a:rPr>
              <a:t>Best For:</a:t>
            </a:r>
            <a:endParaRPr lang="en-US" sz="900" dirty="0"/>
          </a:p>
        </p:txBody>
      </p:sp>
      <p:sp>
        <p:nvSpPr>
          <p:cNvPr id="33" name="Text 31"/>
          <p:cNvSpPr/>
          <p:nvPr/>
        </p:nvSpPr>
        <p:spPr>
          <a:xfrm>
            <a:off x="4288536" y="2633472"/>
            <a:ext cx="1554480" cy="310896"/>
          </a:xfrm>
          <a:prstGeom prst="rect">
            <a:avLst/>
          </a:prstGeom>
          <a:noFill/>
          <a:ln/>
        </p:spPr>
        <p:txBody>
          <a:bodyPr wrap="square" lIns="0" tIns="0" rIns="0" bIns="0" rtlCol="0" anchor="ctr"/>
          <a:lstStyle/>
          <a:p>
            <a:pPr marL="0" indent="0">
              <a:buNone/>
            </a:pPr>
            <a:r>
              <a:rPr lang="en-US" sz="900" dirty="0">
                <a:solidFill>
                  <a:srgbClr val="2D3748"/>
                </a:solidFill>
                <a:latin typeface="Calibri" pitchFamily="34" charset="0"/>
                <a:ea typeface="Calibri" pitchFamily="34" charset="-122"/>
                <a:cs typeface="Calibri" pitchFamily="34" charset="-120"/>
              </a:rPr>
              <a:t>Sequences, time series, language</a:t>
            </a:r>
            <a:endParaRPr lang="en-US" sz="900" dirty="0"/>
          </a:p>
        </p:txBody>
      </p:sp>
      <p:sp>
        <p:nvSpPr>
          <p:cNvPr id="34" name="Shape 32"/>
          <p:cNvSpPr/>
          <p:nvPr/>
        </p:nvSpPr>
        <p:spPr>
          <a:xfrm>
            <a:off x="3319272" y="2999232"/>
            <a:ext cx="2560320" cy="347472"/>
          </a:xfrm>
          <a:prstGeom prst="rect">
            <a:avLst/>
          </a:prstGeom>
          <a:solidFill>
            <a:srgbClr val="EDF2F7"/>
          </a:solidFill>
          <a:ln w="6350">
            <a:solidFill>
              <a:srgbClr val="CBD5E0"/>
            </a:solidFill>
            <a:prstDash val="solid"/>
          </a:ln>
        </p:spPr>
        <p:txBody>
          <a:bodyPr/>
          <a:lstStyle/>
          <a:p>
            <a:endParaRPr lang="en-US"/>
          </a:p>
        </p:txBody>
      </p:sp>
      <p:sp>
        <p:nvSpPr>
          <p:cNvPr id="35" name="Text 33"/>
          <p:cNvSpPr/>
          <p:nvPr/>
        </p:nvSpPr>
        <p:spPr>
          <a:xfrm>
            <a:off x="3392424" y="3017520"/>
            <a:ext cx="868680" cy="310896"/>
          </a:xfrm>
          <a:prstGeom prst="rect">
            <a:avLst/>
          </a:prstGeom>
          <a:noFill/>
          <a:ln/>
        </p:spPr>
        <p:txBody>
          <a:bodyPr wrap="square" lIns="0" tIns="0" rIns="0" bIns="0" rtlCol="0" anchor="ctr"/>
          <a:lstStyle/>
          <a:p>
            <a:pPr marL="0" indent="0">
              <a:buNone/>
            </a:pPr>
            <a:r>
              <a:rPr lang="en-US" sz="900" b="1" dirty="0">
                <a:solidFill>
                  <a:srgbClr val="276749"/>
                </a:solidFill>
                <a:latin typeface="Calibri" pitchFamily="34" charset="0"/>
                <a:ea typeface="Calibri" pitchFamily="34" charset="-122"/>
                <a:cs typeface="Calibri" pitchFamily="34" charset="-120"/>
              </a:rPr>
              <a:t>Key Feature:</a:t>
            </a:r>
            <a:endParaRPr lang="en-US" sz="900" dirty="0"/>
          </a:p>
        </p:txBody>
      </p:sp>
      <p:sp>
        <p:nvSpPr>
          <p:cNvPr id="36" name="Text 34"/>
          <p:cNvSpPr/>
          <p:nvPr/>
        </p:nvSpPr>
        <p:spPr>
          <a:xfrm>
            <a:off x="4288536" y="3017520"/>
            <a:ext cx="1554480" cy="310896"/>
          </a:xfrm>
          <a:prstGeom prst="rect">
            <a:avLst/>
          </a:prstGeom>
          <a:noFill/>
          <a:ln/>
        </p:spPr>
        <p:txBody>
          <a:bodyPr wrap="square" lIns="0" tIns="0" rIns="0" bIns="0" rtlCol="0" anchor="ctr"/>
          <a:lstStyle/>
          <a:p>
            <a:pPr marL="0" indent="0">
              <a:buNone/>
            </a:pPr>
            <a:r>
              <a:rPr lang="en-US" sz="900" dirty="0">
                <a:solidFill>
                  <a:srgbClr val="2D3748"/>
                </a:solidFill>
                <a:latin typeface="Calibri" pitchFamily="34" charset="0"/>
                <a:ea typeface="Calibri" pitchFamily="34" charset="-122"/>
                <a:cs typeface="Calibri" pitchFamily="34" charset="-120"/>
              </a:rPr>
              <a:t>Recurrent connections + Hidden state</a:t>
            </a:r>
            <a:endParaRPr lang="en-US" sz="900" dirty="0"/>
          </a:p>
        </p:txBody>
      </p:sp>
      <p:sp>
        <p:nvSpPr>
          <p:cNvPr id="37" name="Shape 35"/>
          <p:cNvSpPr/>
          <p:nvPr/>
        </p:nvSpPr>
        <p:spPr>
          <a:xfrm>
            <a:off x="3319272" y="3383280"/>
            <a:ext cx="2560320" cy="347472"/>
          </a:xfrm>
          <a:prstGeom prst="rect">
            <a:avLst/>
          </a:prstGeom>
          <a:solidFill>
            <a:srgbClr val="FFFFFF"/>
          </a:solidFill>
          <a:ln w="6350">
            <a:solidFill>
              <a:srgbClr val="CBD5E0"/>
            </a:solidFill>
            <a:prstDash val="solid"/>
          </a:ln>
        </p:spPr>
        <p:txBody>
          <a:bodyPr/>
          <a:lstStyle/>
          <a:p>
            <a:endParaRPr lang="en-US"/>
          </a:p>
        </p:txBody>
      </p:sp>
      <p:sp>
        <p:nvSpPr>
          <p:cNvPr id="38" name="Text 36"/>
          <p:cNvSpPr/>
          <p:nvPr/>
        </p:nvSpPr>
        <p:spPr>
          <a:xfrm>
            <a:off x="3392424" y="3401568"/>
            <a:ext cx="868680" cy="310896"/>
          </a:xfrm>
          <a:prstGeom prst="rect">
            <a:avLst/>
          </a:prstGeom>
          <a:noFill/>
          <a:ln/>
        </p:spPr>
        <p:txBody>
          <a:bodyPr wrap="square" lIns="0" tIns="0" rIns="0" bIns="0" rtlCol="0" anchor="ctr"/>
          <a:lstStyle/>
          <a:p>
            <a:pPr marL="0" indent="0">
              <a:buNone/>
            </a:pPr>
            <a:r>
              <a:rPr lang="en-US" sz="900" b="1" dirty="0">
                <a:solidFill>
                  <a:srgbClr val="276749"/>
                </a:solidFill>
                <a:latin typeface="Calibri" pitchFamily="34" charset="0"/>
                <a:ea typeface="Calibri" pitchFamily="34" charset="-122"/>
                <a:cs typeface="Calibri" pitchFamily="34" charset="-120"/>
              </a:rPr>
              <a:t>Used In:</a:t>
            </a:r>
            <a:endParaRPr lang="en-US" sz="900" dirty="0"/>
          </a:p>
        </p:txBody>
      </p:sp>
      <p:sp>
        <p:nvSpPr>
          <p:cNvPr id="39" name="Text 37"/>
          <p:cNvSpPr/>
          <p:nvPr/>
        </p:nvSpPr>
        <p:spPr>
          <a:xfrm>
            <a:off x="4288536" y="3401568"/>
            <a:ext cx="1554480" cy="310896"/>
          </a:xfrm>
          <a:prstGeom prst="rect">
            <a:avLst/>
          </a:prstGeom>
          <a:noFill/>
          <a:ln/>
        </p:spPr>
        <p:txBody>
          <a:bodyPr wrap="square" lIns="0" tIns="0" rIns="0" bIns="0" rtlCol="0" anchor="ctr"/>
          <a:lstStyle/>
          <a:p>
            <a:pPr marL="0" indent="0">
              <a:buNone/>
            </a:pPr>
            <a:r>
              <a:rPr lang="en-US" sz="900" dirty="0">
                <a:solidFill>
                  <a:srgbClr val="2D3748"/>
                </a:solidFill>
                <a:latin typeface="Calibri" pitchFamily="34" charset="0"/>
                <a:ea typeface="Calibri" pitchFamily="34" charset="-122"/>
                <a:cs typeface="Calibri" pitchFamily="34" charset="-120"/>
              </a:rPr>
              <a:t>Google Translate, Siri, Stock prediction</a:t>
            </a:r>
            <a:endParaRPr lang="en-US" sz="900" dirty="0"/>
          </a:p>
        </p:txBody>
      </p:sp>
      <p:sp>
        <p:nvSpPr>
          <p:cNvPr id="40" name="Shape 38"/>
          <p:cNvSpPr/>
          <p:nvPr/>
        </p:nvSpPr>
        <p:spPr>
          <a:xfrm>
            <a:off x="3319272" y="3767328"/>
            <a:ext cx="2560320" cy="347472"/>
          </a:xfrm>
          <a:prstGeom prst="rect">
            <a:avLst/>
          </a:prstGeom>
          <a:solidFill>
            <a:srgbClr val="EDF2F7"/>
          </a:solidFill>
          <a:ln w="6350">
            <a:solidFill>
              <a:srgbClr val="CBD5E0"/>
            </a:solidFill>
            <a:prstDash val="solid"/>
          </a:ln>
        </p:spPr>
        <p:txBody>
          <a:bodyPr/>
          <a:lstStyle/>
          <a:p>
            <a:endParaRPr lang="en-US"/>
          </a:p>
        </p:txBody>
      </p:sp>
      <p:sp>
        <p:nvSpPr>
          <p:cNvPr id="41" name="Text 39"/>
          <p:cNvSpPr/>
          <p:nvPr/>
        </p:nvSpPr>
        <p:spPr>
          <a:xfrm>
            <a:off x="3392424" y="3785616"/>
            <a:ext cx="868680" cy="310896"/>
          </a:xfrm>
          <a:prstGeom prst="rect">
            <a:avLst/>
          </a:prstGeom>
          <a:noFill/>
          <a:ln/>
        </p:spPr>
        <p:txBody>
          <a:bodyPr wrap="square" lIns="0" tIns="0" rIns="0" bIns="0" rtlCol="0" anchor="ctr"/>
          <a:lstStyle/>
          <a:p>
            <a:pPr marL="0" indent="0">
              <a:buNone/>
            </a:pPr>
            <a:r>
              <a:rPr lang="en-US" sz="900" b="1" dirty="0">
                <a:solidFill>
                  <a:srgbClr val="276749"/>
                </a:solidFill>
                <a:latin typeface="Calibri" pitchFamily="34" charset="0"/>
                <a:ea typeface="Calibri" pitchFamily="34" charset="-122"/>
                <a:cs typeface="Calibri" pitchFamily="34" charset="-120"/>
              </a:rPr>
              <a:t>Introduced:</a:t>
            </a:r>
            <a:endParaRPr lang="en-US" sz="900" dirty="0"/>
          </a:p>
        </p:txBody>
      </p:sp>
      <p:sp>
        <p:nvSpPr>
          <p:cNvPr id="42" name="Text 40"/>
          <p:cNvSpPr/>
          <p:nvPr/>
        </p:nvSpPr>
        <p:spPr>
          <a:xfrm>
            <a:off x="4288536" y="3785616"/>
            <a:ext cx="1554480" cy="310896"/>
          </a:xfrm>
          <a:prstGeom prst="rect">
            <a:avLst/>
          </a:prstGeom>
          <a:noFill/>
          <a:ln/>
        </p:spPr>
        <p:txBody>
          <a:bodyPr wrap="square" lIns="0" tIns="0" rIns="0" bIns="0" rtlCol="0" anchor="ctr"/>
          <a:lstStyle/>
          <a:p>
            <a:pPr marL="0" indent="0">
              <a:buNone/>
            </a:pPr>
            <a:r>
              <a:rPr lang="en-US" sz="900" dirty="0">
                <a:solidFill>
                  <a:srgbClr val="2D3748"/>
                </a:solidFill>
                <a:latin typeface="Calibri" pitchFamily="34" charset="0"/>
                <a:ea typeface="Calibri" pitchFamily="34" charset="-122"/>
                <a:cs typeface="Calibri" pitchFamily="34" charset="-120"/>
              </a:rPr>
              <a:t>1980s / popularized 2014</a:t>
            </a:r>
            <a:endParaRPr lang="en-US" sz="900" dirty="0"/>
          </a:p>
        </p:txBody>
      </p:sp>
      <p:sp>
        <p:nvSpPr>
          <p:cNvPr id="43" name="Shape 41"/>
          <p:cNvSpPr/>
          <p:nvPr/>
        </p:nvSpPr>
        <p:spPr>
          <a:xfrm>
            <a:off x="6135624" y="1051560"/>
            <a:ext cx="2743200" cy="3931920"/>
          </a:xfrm>
          <a:prstGeom prst="rect">
            <a:avLst/>
          </a:prstGeom>
          <a:solidFill>
            <a:srgbClr val="FFFFFF"/>
          </a:solidFill>
          <a:ln w="19050">
            <a:solidFill>
              <a:srgbClr val="553C9A"/>
            </a:solidFill>
            <a:prstDash val="solid"/>
          </a:ln>
          <a:effectLst>
            <a:outerShdw blurRad="63500" dist="25400" dir="8100000" algn="bl" rotWithShape="0">
              <a:srgbClr val="000000">
                <a:alpha val="8000"/>
              </a:srgbClr>
            </a:outerShdw>
          </a:effectLst>
        </p:spPr>
        <p:txBody>
          <a:bodyPr/>
          <a:lstStyle/>
          <a:p>
            <a:endParaRPr lang="en-US"/>
          </a:p>
        </p:txBody>
      </p:sp>
      <p:sp>
        <p:nvSpPr>
          <p:cNvPr id="44" name="Shape 42"/>
          <p:cNvSpPr/>
          <p:nvPr/>
        </p:nvSpPr>
        <p:spPr>
          <a:xfrm>
            <a:off x="6135624" y="1051560"/>
            <a:ext cx="2743200" cy="64008"/>
          </a:xfrm>
          <a:prstGeom prst="rect">
            <a:avLst/>
          </a:prstGeom>
          <a:solidFill>
            <a:srgbClr val="553C9A"/>
          </a:solidFill>
          <a:ln w="12700">
            <a:solidFill>
              <a:srgbClr val="553C9A"/>
            </a:solidFill>
            <a:prstDash val="solid"/>
          </a:ln>
        </p:spPr>
        <p:txBody>
          <a:bodyPr/>
          <a:lstStyle/>
          <a:p>
            <a:endParaRPr lang="en-US"/>
          </a:p>
        </p:txBody>
      </p:sp>
      <p:sp>
        <p:nvSpPr>
          <p:cNvPr id="45" name="Shape 43"/>
          <p:cNvSpPr/>
          <p:nvPr/>
        </p:nvSpPr>
        <p:spPr>
          <a:xfrm>
            <a:off x="7141464" y="1143000"/>
            <a:ext cx="731520" cy="731520"/>
          </a:xfrm>
          <a:prstGeom prst="ellipse">
            <a:avLst/>
          </a:prstGeom>
          <a:solidFill>
            <a:srgbClr val="EDE9F6"/>
          </a:solidFill>
          <a:ln w="25400">
            <a:solidFill>
              <a:srgbClr val="553C9A"/>
            </a:solidFill>
            <a:prstDash val="solid"/>
          </a:ln>
        </p:spPr>
        <p:txBody>
          <a:bodyPr/>
          <a:lstStyle/>
          <a:p>
            <a:endParaRPr lang="en-US"/>
          </a:p>
        </p:txBody>
      </p:sp>
      <p:sp>
        <p:nvSpPr>
          <p:cNvPr id="46" name="Text 44"/>
          <p:cNvSpPr/>
          <p:nvPr/>
        </p:nvSpPr>
        <p:spPr>
          <a:xfrm>
            <a:off x="7141464" y="1143000"/>
            <a:ext cx="731520" cy="731520"/>
          </a:xfrm>
          <a:prstGeom prst="rect">
            <a:avLst/>
          </a:prstGeom>
          <a:noFill/>
          <a:ln/>
        </p:spPr>
        <p:txBody>
          <a:bodyPr wrap="square" rtlCol="0" anchor="ctr"/>
          <a:lstStyle/>
          <a:p>
            <a:pPr marL="0" indent="0" algn="ctr">
              <a:buNone/>
            </a:pPr>
            <a:r>
              <a:rPr lang="en-US" sz="1400" b="1" dirty="0">
                <a:solidFill>
                  <a:srgbClr val="553C9A"/>
                </a:solidFill>
                <a:latin typeface="Trebuchet MS" pitchFamily="34" charset="0"/>
                <a:ea typeface="Trebuchet MS" pitchFamily="34" charset="-122"/>
                <a:cs typeface="Trebuchet MS" pitchFamily="34" charset="-120"/>
              </a:rPr>
              <a:t>GAN</a:t>
            </a:r>
            <a:endParaRPr lang="en-US" sz="1400" dirty="0"/>
          </a:p>
        </p:txBody>
      </p:sp>
      <p:sp>
        <p:nvSpPr>
          <p:cNvPr id="47" name="Text 45"/>
          <p:cNvSpPr/>
          <p:nvPr/>
        </p:nvSpPr>
        <p:spPr>
          <a:xfrm>
            <a:off x="6245352" y="1975104"/>
            <a:ext cx="2523744" cy="310896"/>
          </a:xfrm>
          <a:prstGeom prst="rect">
            <a:avLst/>
          </a:prstGeom>
          <a:noFill/>
          <a:ln/>
        </p:spPr>
        <p:txBody>
          <a:bodyPr wrap="square" lIns="0" tIns="0" rIns="0" bIns="0" rtlCol="0" anchor="ctr"/>
          <a:lstStyle/>
          <a:p>
            <a:pPr marL="0" indent="0" algn="ctr">
              <a:buNone/>
            </a:pPr>
            <a:r>
              <a:rPr lang="en-US" sz="1000" b="1" dirty="0">
                <a:solidFill>
                  <a:srgbClr val="1E3A5F"/>
                </a:solidFill>
                <a:latin typeface="Trebuchet MS" pitchFamily="34" charset="0"/>
                <a:ea typeface="Trebuchet MS" pitchFamily="34" charset="-122"/>
                <a:cs typeface="Trebuchet MS" pitchFamily="34" charset="-120"/>
              </a:rPr>
              <a:t>Generative Adversarial Network</a:t>
            </a:r>
            <a:endParaRPr lang="en-US" sz="1000" dirty="0"/>
          </a:p>
        </p:txBody>
      </p:sp>
      <p:sp>
        <p:nvSpPr>
          <p:cNvPr id="48" name="Text 46"/>
          <p:cNvSpPr/>
          <p:nvPr/>
        </p:nvSpPr>
        <p:spPr>
          <a:xfrm>
            <a:off x="6245352" y="2286000"/>
            <a:ext cx="2523744" cy="256032"/>
          </a:xfrm>
          <a:prstGeom prst="rect">
            <a:avLst/>
          </a:prstGeom>
          <a:noFill/>
          <a:ln/>
        </p:spPr>
        <p:txBody>
          <a:bodyPr wrap="square" lIns="0" tIns="0" rIns="0" bIns="0" rtlCol="0" anchor="ctr"/>
          <a:lstStyle/>
          <a:p>
            <a:pPr marL="0" indent="0" algn="ctr">
              <a:buNone/>
            </a:pPr>
            <a:r>
              <a:rPr lang="en-US" sz="1000" i="1" dirty="0">
                <a:solidFill>
                  <a:srgbClr val="553C9A"/>
                </a:solidFill>
                <a:latin typeface="Calibri" pitchFamily="34" charset="0"/>
                <a:ea typeface="Calibri" pitchFamily="34" charset="-122"/>
                <a:cs typeface="Calibri" pitchFamily="34" charset="-120"/>
              </a:rPr>
              <a:t>The Imagination of AI</a:t>
            </a:r>
            <a:endParaRPr lang="en-US" sz="1000" dirty="0"/>
          </a:p>
        </p:txBody>
      </p:sp>
      <p:sp>
        <p:nvSpPr>
          <p:cNvPr id="49" name="Shape 47"/>
          <p:cNvSpPr/>
          <p:nvPr/>
        </p:nvSpPr>
        <p:spPr>
          <a:xfrm>
            <a:off x="6227064" y="2615184"/>
            <a:ext cx="2560320" cy="347472"/>
          </a:xfrm>
          <a:prstGeom prst="rect">
            <a:avLst/>
          </a:prstGeom>
          <a:solidFill>
            <a:srgbClr val="FFFFFF"/>
          </a:solidFill>
          <a:ln w="6350">
            <a:solidFill>
              <a:srgbClr val="CBD5E0"/>
            </a:solidFill>
            <a:prstDash val="solid"/>
          </a:ln>
        </p:spPr>
        <p:txBody>
          <a:bodyPr/>
          <a:lstStyle/>
          <a:p>
            <a:endParaRPr lang="en-US"/>
          </a:p>
        </p:txBody>
      </p:sp>
      <p:sp>
        <p:nvSpPr>
          <p:cNvPr id="50" name="Text 48"/>
          <p:cNvSpPr/>
          <p:nvPr/>
        </p:nvSpPr>
        <p:spPr>
          <a:xfrm>
            <a:off x="6300216" y="2633472"/>
            <a:ext cx="868680" cy="310896"/>
          </a:xfrm>
          <a:prstGeom prst="rect">
            <a:avLst/>
          </a:prstGeom>
          <a:noFill/>
          <a:ln/>
        </p:spPr>
        <p:txBody>
          <a:bodyPr wrap="square" lIns="0" tIns="0" rIns="0" bIns="0" rtlCol="0" anchor="ctr"/>
          <a:lstStyle/>
          <a:p>
            <a:pPr marL="0" indent="0">
              <a:buNone/>
            </a:pPr>
            <a:r>
              <a:rPr lang="en-US" sz="900" b="1" dirty="0">
                <a:solidFill>
                  <a:srgbClr val="553C9A"/>
                </a:solidFill>
                <a:latin typeface="Calibri" pitchFamily="34" charset="0"/>
                <a:ea typeface="Calibri" pitchFamily="34" charset="-122"/>
                <a:cs typeface="Calibri" pitchFamily="34" charset="-120"/>
              </a:rPr>
              <a:t>Best For:</a:t>
            </a:r>
            <a:endParaRPr lang="en-US" sz="900" dirty="0"/>
          </a:p>
        </p:txBody>
      </p:sp>
      <p:sp>
        <p:nvSpPr>
          <p:cNvPr id="51" name="Text 49"/>
          <p:cNvSpPr/>
          <p:nvPr/>
        </p:nvSpPr>
        <p:spPr>
          <a:xfrm>
            <a:off x="7196328" y="2633472"/>
            <a:ext cx="1554480" cy="310896"/>
          </a:xfrm>
          <a:prstGeom prst="rect">
            <a:avLst/>
          </a:prstGeom>
          <a:noFill/>
          <a:ln/>
        </p:spPr>
        <p:txBody>
          <a:bodyPr wrap="square" lIns="0" tIns="0" rIns="0" bIns="0" rtlCol="0" anchor="ctr"/>
          <a:lstStyle/>
          <a:p>
            <a:pPr marL="0" indent="0">
              <a:buNone/>
            </a:pPr>
            <a:r>
              <a:rPr lang="en-US" sz="900" dirty="0">
                <a:solidFill>
                  <a:srgbClr val="2D3748"/>
                </a:solidFill>
                <a:latin typeface="Calibri" pitchFamily="34" charset="0"/>
                <a:ea typeface="Calibri" pitchFamily="34" charset="-122"/>
                <a:cs typeface="Calibri" pitchFamily="34" charset="-120"/>
              </a:rPr>
              <a:t>Data generation, creative AI</a:t>
            </a:r>
            <a:endParaRPr lang="en-US" sz="900" dirty="0"/>
          </a:p>
        </p:txBody>
      </p:sp>
      <p:sp>
        <p:nvSpPr>
          <p:cNvPr id="52" name="Shape 50"/>
          <p:cNvSpPr/>
          <p:nvPr/>
        </p:nvSpPr>
        <p:spPr>
          <a:xfrm>
            <a:off x="6227064" y="2999232"/>
            <a:ext cx="2560320" cy="347472"/>
          </a:xfrm>
          <a:prstGeom prst="rect">
            <a:avLst/>
          </a:prstGeom>
          <a:solidFill>
            <a:srgbClr val="EDF2F7"/>
          </a:solidFill>
          <a:ln w="6350">
            <a:solidFill>
              <a:srgbClr val="CBD5E0"/>
            </a:solidFill>
            <a:prstDash val="solid"/>
          </a:ln>
        </p:spPr>
        <p:txBody>
          <a:bodyPr/>
          <a:lstStyle/>
          <a:p>
            <a:endParaRPr lang="en-US"/>
          </a:p>
        </p:txBody>
      </p:sp>
      <p:sp>
        <p:nvSpPr>
          <p:cNvPr id="53" name="Text 51"/>
          <p:cNvSpPr/>
          <p:nvPr/>
        </p:nvSpPr>
        <p:spPr>
          <a:xfrm>
            <a:off x="6300216" y="3017520"/>
            <a:ext cx="868680" cy="310896"/>
          </a:xfrm>
          <a:prstGeom prst="rect">
            <a:avLst/>
          </a:prstGeom>
          <a:noFill/>
          <a:ln/>
        </p:spPr>
        <p:txBody>
          <a:bodyPr wrap="square" lIns="0" tIns="0" rIns="0" bIns="0" rtlCol="0" anchor="ctr"/>
          <a:lstStyle/>
          <a:p>
            <a:pPr marL="0" indent="0">
              <a:buNone/>
            </a:pPr>
            <a:r>
              <a:rPr lang="en-US" sz="900" b="1" dirty="0">
                <a:solidFill>
                  <a:srgbClr val="553C9A"/>
                </a:solidFill>
                <a:latin typeface="Calibri" pitchFamily="34" charset="0"/>
                <a:ea typeface="Calibri" pitchFamily="34" charset="-122"/>
                <a:cs typeface="Calibri" pitchFamily="34" charset="-120"/>
              </a:rPr>
              <a:t>Key Feature:</a:t>
            </a:r>
            <a:endParaRPr lang="en-US" sz="900" dirty="0"/>
          </a:p>
        </p:txBody>
      </p:sp>
      <p:sp>
        <p:nvSpPr>
          <p:cNvPr id="54" name="Text 52"/>
          <p:cNvSpPr/>
          <p:nvPr/>
        </p:nvSpPr>
        <p:spPr>
          <a:xfrm>
            <a:off x="7196328" y="3017520"/>
            <a:ext cx="1554480" cy="310896"/>
          </a:xfrm>
          <a:prstGeom prst="rect">
            <a:avLst/>
          </a:prstGeom>
          <a:noFill/>
          <a:ln/>
        </p:spPr>
        <p:txBody>
          <a:bodyPr wrap="square" lIns="0" tIns="0" rIns="0" bIns="0" rtlCol="0" anchor="ctr"/>
          <a:lstStyle/>
          <a:p>
            <a:pPr marL="0" indent="0">
              <a:buNone/>
            </a:pPr>
            <a:r>
              <a:rPr lang="en-US" sz="900" dirty="0">
                <a:solidFill>
                  <a:srgbClr val="2D3748"/>
                </a:solidFill>
                <a:latin typeface="Calibri" pitchFamily="34" charset="0"/>
                <a:ea typeface="Calibri" pitchFamily="34" charset="-122"/>
                <a:cs typeface="Calibri" pitchFamily="34" charset="-120"/>
              </a:rPr>
              <a:t>Generator vs Discriminator</a:t>
            </a:r>
            <a:endParaRPr lang="en-US" sz="900" dirty="0"/>
          </a:p>
        </p:txBody>
      </p:sp>
      <p:sp>
        <p:nvSpPr>
          <p:cNvPr id="55" name="Shape 53"/>
          <p:cNvSpPr/>
          <p:nvPr/>
        </p:nvSpPr>
        <p:spPr>
          <a:xfrm>
            <a:off x="6227064" y="3383280"/>
            <a:ext cx="2560320" cy="347472"/>
          </a:xfrm>
          <a:prstGeom prst="rect">
            <a:avLst/>
          </a:prstGeom>
          <a:solidFill>
            <a:srgbClr val="FFFFFF"/>
          </a:solidFill>
          <a:ln w="6350">
            <a:solidFill>
              <a:srgbClr val="CBD5E0"/>
            </a:solidFill>
            <a:prstDash val="solid"/>
          </a:ln>
        </p:spPr>
        <p:txBody>
          <a:bodyPr/>
          <a:lstStyle/>
          <a:p>
            <a:endParaRPr lang="en-US"/>
          </a:p>
        </p:txBody>
      </p:sp>
      <p:sp>
        <p:nvSpPr>
          <p:cNvPr id="56" name="Text 54"/>
          <p:cNvSpPr/>
          <p:nvPr/>
        </p:nvSpPr>
        <p:spPr>
          <a:xfrm>
            <a:off x="6300216" y="3401568"/>
            <a:ext cx="868680" cy="310896"/>
          </a:xfrm>
          <a:prstGeom prst="rect">
            <a:avLst/>
          </a:prstGeom>
          <a:noFill/>
          <a:ln/>
        </p:spPr>
        <p:txBody>
          <a:bodyPr wrap="square" lIns="0" tIns="0" rIns="0" bIns="0" rtlCol="0" anchor="ctr"/>
          <a:lstStyle/>
          <a:p>
            <a:pPr marL="0" indent="0">
              <a:buNone/>
            </a:pPr>
            <a:r>
              <a:rPr lang="en-US" sz="900" b="1" dirty="0">
                <a:solidFill>
                  <a:srgbClr val="553C9A"/>
                </a:solidFill>
                <a:latin typeface="Calibri" pitchFamily="34" charset="0"/>
                <a:ea typeface="Calibri" pitchFamily="34" charset="-122"/>
                <a:cs typeface="Calibri" pitchFamily="34" charset="-120"/>
              </a:rPr>
              <a:t>Used In:</a:t>
            </a:r>
            <a:endParaRPr lang="en-US" sz="900" dirty="0"/>
          </a:p>
        </p:txBody>
      </p:sp>
      <p:sp>
        <p:nvSpPr>
          <p:cNvPr id="57" name="Text 55"/>
          <p:cNvSpPr/>
          <p:nvPr/>
        </p:nvSpPr>
        <p:spPr>
          <a:xfrm>
            <a:off x="7196328" y="3401568"/>
            <a:ext cx="1554480" cy="310896"/>
          </a:xfrm>
          <a:prstGeom prst="rect">
            <a:avLst/>
          </a:prstGeom>
          <a:noFill/>
          <a:ln/>
        </p:spPr>
        <p:txBody>
          <a:bodyPr wrap="square" lIns="0" tIns="0" rIns="0" bIns="0" rtlCol="0" anchor="ctr"/>
          <a:lstStyle/>
          <a:p>
            <a:pPr marL="0" indent="0">
              <a:buNone/>
            </a:pPr>
            <a:r>
              <a:rPr lang="en-US" sz="900" dirty="0">
                <a:solidFill>
                  <a:srgbClr val="2D3748"/>
                </a:solidFill>
                <a:latin typeface="Calibri" pitchFamily="34" charset="0"/>
                <a:ea typeface="Calibri" pitchFamily="34" charset="-122"/>
                <a:cs typeface="Calibri" pitchFamily="34" charset="-120"/>
              </a:rPr>
              <a:t>Deepfakes, Image synthesis, Drug discovery</a:t>
            </a:r>
            <a:endParaRPr lang="en-US" sz="900" dirty="0"/>
          </a:p>
        </p:txBody>
      </p:sp>
      <p:sp>
        <p:nvSpPr>
          <p:cNvPr id="58" name="Shape 56"/>
          <p:cNvSpPr/>
          <p:nvPr/>
        </p:nvSpPr>
        <p:spPr>
          <a:xfrm>
            <a:off x="6227064" y="3767328"/>
            <a:ext cx="2560320" cy="347472"/>
          </a:xfrm>
          <a:prstGeom prst="rect">
            <a:avLst/>
          </a:prstGeom>
          <a:solidFill>
            <a:srgbClr val="EDF2F7"/>
          </a:solidFill>
          <a:ln w="6350">
            <a:solidFill>
              <a:srgbClr val="CBD5E0"/>
            </a:solidFill>
            <a:prstDash val="solid"/>
          </a:ln>
        </p:spPr>
        <p:txBody>
          <a:bodyPr/>
          <a:lstStyle/>
          <a:p>
            <a:endParaRPr lang="en-US"/>
          </a:p>
        </p:txBody>
      </p:sp>
      <p:sp>
        <p:nvSpPr>
          <p:cNvPr id="59" name="Text 57"/>
          <p:cNvSpPr/>
          <p:nvPr/>
        </p:nvSpPr>
        <p:spPr>
          <a:xfrm>
            <a:off x="6300216" y="3785616"/>
            <a:ext cx="868680" cy="310896"/>
          </a:xfrm>
          <a:prstGeom prst="rect">
            <a:avLst/>
          </a:prstGeom>
          <a:noFill/>
          <a:ln/>
        </p:spPr>
        <p:txBody>
          <a:bodyPr wrap="square" lIns="0" tIns="0" rIns="0" bIns="0" rtlCol="0" anchor="ctr"/>
          <a:lstStyle/>
          <a:p>
            <a:pPr marL="0" indent="0">
              <a:buNone/>
            </a:pPr>
            <a:r>
              <a:rPr lang="en-US" sz="900" b="1" dirty="0">
                <a:solidFill>
                  <a:srgbClr val="553C9A"/>
                </a:solidFill>
                <a:latin typeface="Calibri" pitchFamily="34" charset="0"/>
                <a:ea typeface="Calibri" pitchFamily="34" charset="-122"/>
                <a:cs typeface="Calibri" pitchFamily="34" charset="-120"/>
              </a:rPr>
              <a:t>Introduced:</a:t>
            </a:r>
            <a:endParaRPr lang="en-US" sz="900" dirty="0"/>
          </a:p>
        </p:txBody>
      </p:sp>
      <p:sp>
        <p:nvSpPr>
          <p:cNvPr id="60" name="Text 58"/>
          <p:cNvSpPr/>
          <p:nvPr/>
        </p:nvSpPr>
        <p:spPr>
          <a:xfrm>
            <a:off x="7196328" y="3785616"/>
            <a:ext cx="1554480" cy="310896"/>
          </a:xfrm>
          <a:prstGeom prst="rect">
            <a:avLst/>
          </a:prstGeom>
          <a:noFill/>
          <a:ln/>
        </p:spPr>
        <p:txBody>
          <a:bodyPr wrap="square" lIns="0" tIns="0" rIns="0" bIns="0" rtlCol="0" anchor="ctr"/>
          <a:lstStyle/>
          <a:p>
            <a:pPr marL="0" indent="0">
              <a:buNone/>
            </a:pPr>
            <a:r>
              <a:rPr lang="en-US" sz="900" dirty="0">
                <a:solidFill>
                  <a:srgbClr val="2D3748"/>
                </a:solidFill>
                <a:latin typeface="Calibri" pitchFamily="34" charset="0"/>
                <a:ea typeface="Calibri" pitchFamily="34" charset="-122"/>
                <a:cs typeface="Calibri" pitchFamily="34" charset="-120"/>
              </a:rPr>
              <a:t>Goodfellow 2014</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E6F6F9"/>
          </a:solidFill>
          <a:ln w="12700">
            <a:solidFill>
              <a:srgbClr val="CBD5E0"/>
            </a:solidFill>
            <a:prstDash val="solid"/>
          </a:ln>
        </p:spPr>
        <p:txBody>
          <a:bodyPr/>
          <a:lstStyle/>
          <a:p>
            <a:endParaRPr lang="en-US"/>
          </a:p>
        </p:txBody>
      </p:sp>
      <p:sp>
        <p:nvSpPr>
          <p:cNvPr id="3" name="Shape 1"/>
          <p:cNvSpPr/>
          <p:nvPr/>
        </p:nvSpPr>
        <p:spPr>
          <a:xfrm>
            <a:off x="0" y="0"/>
            <a:ext cx="201168" cy="960120"/>
          </a:xfrm>
          <a:prstGeom prst="rect">
            <a:avLst/>
          </a:prstGeom>
          <a:solidFill>
            <a:srgbClr val="0987A0"/>
          </a:solidFill>
          <a:ln w="12700">
            <a:solidFill>
              <a:srgbClr val="0987A0"/>
            </a:solidFill>
            <a:prstDash val="solid"/>
          </a:ln>
        </p:spPr>
        <p:txBody>
          <a:bodyPr/>
          <a:lstStyle/>
          <a:p>
            <a:endParaRPr lang="en-US"/>
          </a:p>
        </p:txBody>
      </p:sp>
      <p:sp>
        <p:nvSpPr>
          <p:cNvPr id="4" name="Text 2"/>
          <p:cNvSpPr/>
          <p:nvPr/>
        </p:nvSpPr>
        <p:spPr>
          <a:xfrm>
            <a:off x="347472" y="73152"/>
            <a:ext cx="3657600" cy="274320"/>
          </a:xfrm>
          <a:prstGeom prst="rect">
            <a:avLst/>
          </a:prstGeom>
          <a:noFill/>
          <a:ln/>
        </p:spPr>
        <p:txBody>
          <a:bodyPr wrap="square" lIns="0" tIns="0" rIns="0" bIns="0" rtlCol="0" anchor="ctr"/>
          <a:lstStyle/>
          <a:p>
            <a:pPr marL="0" indent="0">
              <a:buNone/>
            </a:pPr>
            <a:r>
              <a:rPr lang="en-US" sz="1000" b="1" kern="0" spc="200" dirty="0">
                <a:solidFill>
                  <a:srgbClr val="0987A0"/>
                </a:solidFill>
                <a:latin typeface="Trebuchet MS" pitchFamily="34" charset="0"/>
                <a:ea typeface="Trebuchet MS" pitchFamily="34" charset="-122"/>
                <a:cs typeface="Trebuchet MS" pitchFamily="34" charset="-120"/>
              </a:rPr>
              <a:t>PART 1  —  CNN</a:t>
            </a:r>
            <a:endParaRPr lang="en-US" sz="1000" dirty="0"/>
          </a:p>
        </p:txBody>
      </p:sp>
      <p:sp>
        <p:nvSpPr>
          <p:cNvPr id="5" name="Text 3"/>
          <p:cNvSpPr/>
          <p:nvPr/>
        </p:nvSpPr>
        <p:spPr>
          <a:xfrm>
            <a:off x="347472" y="347472"/>
            <a:ext cx="8412480" cy="475488"/>
          </a:xfrm>
          <a:prstGeom prst="rect">
            <a:avLst/>
          </a:prstGeom>
          <a:noFill/>
          <a:ln/>
        </p:spPr>
        <p:txBody>
          <a:bodyPr wrap="square" lIns="0" tIns="0" rIns="0" bIns="0" rtlCol="0" anchor="ctr"/>
          <a:lstStyle/>
          <a:p>
            <a:pPr marL="0" indent="0">
              <a:buNone/>
            </a:pPr>
            <a:r>
              <a:rPr lang="en-US" sz="2200" b="1" dirty="0">
                <a:solidFill>
                  <a:srgbClr val="1E3A5F"/>
                </a:solidFill>
                <a:latin typeface="Trebuchet MS" pitchFamily="34" charset="0"/>
                <a:ea typeface="Trebuchet MS" pitchFamily="34" charset="-122"/>
                <a:cs typeface="Trebuchet MS" pitchFamily="34" charset="-120"/>
              </a:rPr>
              <a:t>Convolutional Neural Network</a:t>
            </a:r>
            <a:endParaRPr lang="en-US" sz="2200" dirty="0"/>
          </a:p>
        </p:txBody>
      </p:sp>
      <p:sp>
        <p:nvSpPr>
          <p:cNvPr id="6" name="Shape 4"/>
          <p:cNvSpPr/>
          <p:nvPr/>
        </p:nvSpPr>
        <p:spPr>
          <a:xfrm>
            <a:off x="320040" y="1024128"/>
            <a:ext cx="8503920" cy="685800"/>
          </a:xfrm>
          <a:prstGeom prst="rect">
            <a:avLst/>
          </a:prstGeom>
          <a:solidFill>
            <a:srgbClr val="E6F6F9"/>
          </a:solidFill>
          <a:ln w="12700">
            <a:solidFill>
              <a:srgbClr val="0987A0"/>
            </a:solidFill>
            <a:prstDash val="solid"/>
          </a:ln>
          <a:effectLst>
            <a:outerShdw blurRad="63500" dist="25400" dir="8100000" algn="bl" rotWithShape="0">
              <a:srgbClr val="000000">
                <a:alpha val="8000"/>
              </a:srgbClr>
            </a:outerShdw>
          </a:effectLst>
        </p:spPr>
        <p:txBody>
          <a:bodyPr/>
          <a:lstStyle/>
          <a:p>
            <a:endParaRPr lang="en-US"/>
          </a:p>
        </p:txBody>
      </p:sp>
      <p:sp>
        <p:nvSpPr>
          <p:cNvPr id="7" name="Text 5"/>
          <p:cNvSpPr/>
          <p:nvPr/>
        </p:nvSpPr>
        <p:spPr>
          <a:xfrm>
            <a:off x="457200" y="1069848"/>
            <a:ext cx="8229600" cy="576072"/>
          </a:xfrm>
          <a:prstGeom prst="rect">
            <a:avLst/>
          </a:prstGeom>
          <a:noFill/>
          <a:ln/>
        </p:spPr>
        <p:txBody>
          <a:bodyPr wrap="square" lIns="0" tIns="0" rIns="0" bIns="0" rtlCol="0" anchor="ctr"/>
          <a:lstStyle/>
          <a:p>
            <a:pPr marL="0" indent="0">
              <a:buNone/>
            </a:pPr>
            <a:r>
              <a:rPr lang="en-US" sz="1200" b="1" dirty="0">
                <a:solidFill>
                  <a:srgbClr val="0987A0"/>
                </a:solidFill>
                <a:latin typeface="Calibri" pitchFamily="34" charset="0"/>
                <a:ea typeface="Calibri" pitchFamily="34" charset="-122"/>
                <a:cs typeface="Calibri" pitchFamily="34" charset="-120"/>
              </a:rPr>
              <a:t>CNN  </a:t>
            </a:r>
            <a:r>
              <a:rPr lang="en-US" sz="1100" dirty="0">
                <a:solidFill>
                  <a:srgbClr val="2D3748"/>
                </a:solidFill>
                <a:latin typeface="Calibri" pitchFamily="34" charset="0"/>
                <a:ea typeface="Calibri" pitchFamily="34" charset="-122"/>
                <a:cs typeface="Calibri" pitchFamily="34" charset="-120"/>
              </a:rPr>
              <a:t>is a deep learning architecture designed to process images by automatically detecting and learning spatial features — edges, textures, shapes, and objects — through a hierarchy of filters.</a:t>
            </a:r>
            <a:endParaRPr lang="en-US" sz="1200" dirty="0"/>
          </a:p>
        </p:txBody>
      </p:sp>
      <p:sp>
        <p:nvSpPr>
          <p:cNvPr id="8" name="Shape 6"/>
          <p:cNvSpPr/>
          <p:nvPr/>
        </p:nvSpPr>
        <p:spPr>
          <a:xfrm>
            <a:off x="320040" y="1828800"/>
            <a:ext cx="4160520" cy="1572768"/>
          </a:xfrm>
          <a:prstGeom prst="rect">
            <a:avLst/>
          </a:prstGeom>
          <a:solidFill>
            <a:srgbClr val="FFFFFF"/>
          </a:solidFill>
          <a:ln w="12700">
            <a:solidFill>
              <a:srgbClr val="0987A0"/>
            </a:solidFill>
            <a:prstDash val="solid"/>
          </a:ln>
          <a:effectLst>
            <a:outerShdw blurRad="63500" dist="25400" dir="8100000" algn="bl" rotWithShape="0">
              <a:srgbClr val="000000">
                <a:alpha val="8000"/>
              </a:srgbClr>
            </a:outerShdw>
          </a:effectLst>
        </p:spPr>
        <p:txBody>
          <a:bodyPr/>
          <a:lstStyle/>
          <a:p>
            <a:endParaRPr lang="en-US"/>
          </a:p>
        </p:txBody>
      </p:sp>
      <p:sp>
        <p:nvSpPr>
          <p:cNvPr id="9" name="Shape 7"/>
          <p:cNvSpPr/>
          <p:nvPr/>
        </p:nvSpPr>
        <p:spPr>
          <a:xfrm>
            <a:off x="320040" y="1828800"/>
            <a:ext cx="4160520" cy="64008"/>
          </a:xfrm>
          <a:prstGeom prst="rect">
            <a:avLst/>
          </a:prstGeom>
          <a:solidFill>
            <a:srgbClr val="0987A0"/>
          </a:solidFill>
          <a:ln w="12700">
            <a:solidFill>
              <a:srgbClr val="0987A0"/>
            </a:solidFill>
            <a:prstDash val="solid"/>
          </a:ln>
        </p:spPr>
        <p:txBody>
          <a:bodyPr/>
          <a:lstStyle/>
          <a:p>
            <a:endParaRPr lang="en-US"/>
          </a:p>
        </p:txBody>
      </p:sp>
      <p:sp>
        <p:nvSpPr>
          <p:cNvPr id="10" name="Text 8"/>
          <p:cNvSpPr/>
          <p:nvPr/>
        </p:nvSpPr>
        <p:spPr>
          <a:xfrm>
            <a:off x="457200" y="1920240"/>
            <a:ext cx="3886200" cy="274320"/>
          </a:xfrm>
          <a:prstGeom prst="rect">
            <a:avLst/>
          </a:prstGeom>
          <a:noFill/>
          <a:ln/>
        </p:spPr>
        <p:txBody>
          <a:bodyPr wrap="square" lIns="0" tIns="0" rIns="0" bIns="0" rtlCol="0" anchor="ctr"/>
          <a:lstStyle/>
          <a:p>
            <a:pPr marL="0" indent="0">
              <a:buNone/>
            </a:pPr>
            <a:r>
              <a:rPr lang="en-US" sz="1100" b="1" dirty="0">
                <a:solidFill>
                  <a:srgbClr val="0987A0"/>
                </a:solidFill>
                <a:latin typeface="Trebuchet MS" pitchFamily="34" charset="0"/>
                <a:ea typeface="Trebuchet MS" pitchFamily="34" charset="-122"/>
                <a:cs typeface="Trebuchet MS" pitchFamily="34" charset="-120"/>
              </a:rPr>
              <a:t>How You Recognize a Cat</a:t>
            </a:r>
            <a:endParaRPr lang="en-US" sz="1100" dirty="0"/>
          </a:p>
        </p:txBody>
      </p:sp>
      <p:sp>
        <p:nvSpPr>
          <p:cNvPr id="11" name="Text 9"/>
          <p:cNvSpPr/>
          <p:nvPr/>
        </p:nvSpPr>
        <p:spPr>
          <a:xfrm>
            <a:off x="457200" y="2231136"/>
            <a:ext cx="3886200" cy="1115568"/>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Your brain does not process the entire image at once. It detects edges → combines into shapes → recognizes parts (ears, whiskers) → identifies 'cat.'</a:t>
            </a:r>
            <a:endParaRPr lang="en-US" sz="1000" dirty="0"/>
          </a:p>
          <a:p>
            <a:pPr marL="0" indent="0">
              <a:buNone/>
            </a:pP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A CNN does exactly the same — layer by layer, from simple to complex.</a:t>
            </a:r>
            <a:endParaRPr lang="en-US" sz="1000" dirty="0"/>
          </a:p>
        </p:txBody>
      </p:sp>
      <p:sp>
        <p:nvSpPr>
          <p:cNvPr id="12" name="Shape 10"/>
          <p:cNvSpPr/>
          <p:nvPr/>
        </p:nvSpPr>
        <p:spPr>
          <a:xfrm>
            <a:off x="4663440" y="1828800"/>
            <a:ext cx="4160520" cy="1572768"/>
          </a:xfrm>
          <a:prstGeom prst="rect">
            <a:avLst/>
          </a:prstGeom>
          <a:solidFill>
            <a:srgbClr val="FFFFFF"/>
          </a:solidFill>
          <a:ln w="12700">
            <a:solidFill>
              <a:srgbClr val="0987A0"/>
            </a:solidFill>
            <a:prstDash val="solid"/>
          </a:ln>
          <a:effectLst>
            <a:outerShdw blurRad="63500" dist="25400" dir="8100000" algn="bl" rotWithShape="0">
              <a:srgbClr val="000000">
                <a:alpha val="8000"/>
              </a:srgbClr>
            </a:outerShdw>
          </a:effectLst>
        </p:spPr>
        <p:txBody>
          <a:bodyPr/>
          <a:lstStyle/>
          <a:p>
            <a:endParaRPr lang="en-US"/>
          </a:p>
        </p:txBody>
      </p:sp>
      <p:sp>
        <p:nvSpPr>
          <p:cNvPr id="13" name="Shape 11"/>
          <p:cNvSpPr/>
          <p:nvPr/>
        </p:nvSpPr>
        <p:spPr>
          <a:xfrm>
            <a:off x="4663440" y="1828800"/>
            <a:ext cx="4160520" cy="64008"/>
          </a:xfrm>
          <a:prstGeom prst="rect">
            <a:avLst/>
          </a:prstGeom>
          <a:solidFill>
            <a:srgbClr val="0987A0"/>
          </a:solidFill>
          <a:ln w="12700">
            <a:solidFill>
              <a:srgbClr val="0987A0"/>
            </a:solidFill>
            <a:prstDash val="solid"/>
          </a:ln>
        </p:spPr>
        <p:txBody>
          <a:bodyPr/>
          <a:lstStyle/>
          <a:p>
            <a:endParaRPr lang="en-US"/>
          </a:p>
        </p:txBody>
      </p:sp>
      <p:sp>
        <p:nvSpPr>
          <p:cNvPr id="14" name="Text 12"/>
          <p:cNvSpPr/>
          <p:nvPr/>
        </p:nvSpPr>
        <p:spPr>
          <a:xfrm>
            <a:off x="4800600" y="1920240"/>
            <a:ext cx="3886200" cy="274320"/>
          </a:xfrm>
          <a:prstGeom prst="rect">
            <a:avLst/>
          </a:prstGeom>
          <a:noFill/>
          <a:ln/>
        </p:spPr>
        <p:txBody>
          <a:bodyPr wrap="square" lIns="0" tIns="0" rIns="0" bIns="0" rtlCol="0" anchor="ctr"/>
          <a:lstStyle/>
          <a:p>
            <a:pPr marL="0" indent="0">
              <a:buNone/>
            </a:pPr>
            <a:r>
              <a:rPr lang="en-US" sz="1100" b="1" dirty="0">
                <a:solidFill>
                  <a:srgbClr val="0987A0"/>
                </a:solidFill>
                <a:latin typeface="Trebuchet MS" pitchFamily="34" charset="0"/>
                <a:ea typeface="Trebuchet MS" pitchFamily="34" charset="-122"/>
                <a:cs typeface="Trebuchet MS" pitchFamily="34" charset="-120"/>
              </a:rPr>
              <a:t>Biological Inspiration</a:t>
            </a:r>
            <a:endParaRPr lang="en-US" sz="1100" dirty="0"/>
          </a:p>
        </p:txBody>
      </p:sp>
      <p:sp>
        <p:nvSpPr>
          <p:cNvPr id="15" name="Text 13"/>
          <p:cNvSpPr/>
          <p:nvPr/>
        </p:nvSpPr>
        <p:spPr>
          <a:xfrm>
            <a:off x="4800600" y="2231136"/>
            <a:ext cx="3886200" cy="1115568"/>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Inspired by the visual cortex of the human brain — where different neurons respond to different parts of the visual field. Some detect edges, others detect color, others detect motion.</a:t>
            </a:r>
            <a:endParaRPr lang="en-US" sz="1000" dirty="0"/>
          </a:p>
          <a:p>
            <a:pPr marL="0" indent="0">
              <a:buNone/>
            </a:pP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CNN replicates this with specialized filters.</a:t>
            </a:r>
            <a:endParaRPr lang="en-US" sz="1000" dirty="0"/>
          </a:p>
        </p:txBody>
      </p:sp>
      <p:sp>
        <p:nvSpPr>
          <p:cNvPr id="16" name="Text 14"/>
          <p:cNvSpPr/>
          <p:nvPr/>
        </p:nvSpPr>
        <p:spPr>
          <a:xfrm>
            <a:off x="320040" y="3511296"/>
            <a:ext cx="2743200" cy="228600"/>
          </a:xfrm>
          <a:prstGeom prst="rect">
            <a:avLst/>
          </a:prstGeom>
          <a:noFill/>
          <a:ln/>
        </p:spPr>
        <p:txBody>
          <a:bodyPr wrap="square" lIns="0" tIns="0" rIns="0" bIns="0" rtlCol="0" anchor="ctr"/>
          <a:lstStyle/>
          <a:p>
            <a:pPr marL="0" indent="0">
              <a:buNone/>
            </a:pPr>
            <a:r>
              <a:rPr lang="en-US" sz="850" b="1" kern="0" spc="200" dirty="0">
                <a:solidFill>
                  <a:srgbClr val="718096"/>
                </a:solidFill>
                <a:latin typeface="Trebuchet MS" pitchFamily="34" charset="0"/>
                <a:ea typeface="Trebuchet MS" pitchFamily="34" charset="-122"/>
                <a:cs typeface="Trebuchet MS" pitchFamily="34" charset="-120"/>
              </a:rPr>
              <a:t>KEY PROPERTIES</a:t>
            </a:r>
            <a:endParaRPr lang="en-US" sz="850" dirty="0"/>
          </a:p>
        </p:txBody>
      </p:sp>
      <p:sp>
        <p:nvSpPr>
          <p:cNvPr id="17" name="Shape 15"/>
          <p:cNvSpPr/>
          <p:nvPr/>
        </p:nvSpPr>
        <p:spPr>
          <a:xfrm>
            <a:off x="320040" y="3767328"/>
            <a:ext cx="2743200" cy="1170432"/>
          </a:xfrm>
          <a:prstGeom prst="rect">
            <a:avLst/>
          </a:prstGeom>
          <a:solidFill>
            <a:srgbClr val="E6F6F9"/>
          </a:solidFill>
          <a:ln w="12700">
            <a:solidFill>
              <a:srgbClr val="0987A0">
                <a:alpha val="60000"/>
              </a:srgbClr>
            </a:solidFill>
            <a:prstDash val="solid"/>
          </a:ln>
        </p:spPr>
        <p:txBody>
          <a:bodyPr/>
          <a:lstStyle/>
          <a:p>
            <a:endParaRPr lang="en-US"/>
          </a:p>
        </p:txBody>
      </p:sp>
      <p:sp>
        <p:nvSpPr>
          <p:cNvPr id="18" name="Shape 16"/>
          <p:cNvSpPr/>
          <p:nvPr/>
        </p:nvSpPr>
        <p:spPr>
          <a:xfrm>
            <a:off x="1417320" y="3822192"/>
            <a:ext cx="548640" cy="548640"/>
          </a:xfrm>
          <a:prstGeom prst="ellipse">
            <a:avLst/>
          </a:prstGeom>
          <a:solidFill>
            <a:srgbClr val="0987A0"/>
          </a:solidFill>
          <a:ln w="12700">
            <a:solidFill>
              <a:srgbClr val="0987A0"/>
            </a:solidFill>
            <a:prstDash val="solid"/>
          </a:ln>
        </p:spPr>
        <p:txBody>
          <a:bodyPr/>
          <a:lstStyle/>
          <a:p>
            <a:endParaRPr lang="en-US"/>
          </a:p>
        </p:txBody>
      </p:sp>
      <p:sp>
        <p:nvSpPr>
          <p:cNvPr id="19" name="Text 17"/>
          <p:cNvSpPr/>
          <p:nvPr/>
        </p:nvSpPr>
        <p:spPr>
          <a:xfrm>
            <a:off x="1417320" y="3822192"/>
            <a:ext cx="548640" cy="548640"/>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20" name="Text 18"/>
          <p:cNvSpPr/>
          <p:nvPr/>
        </p:nvSpPr>
        <p:spPr>
          <a:xfrm>
            <a:off x="457200" y="4425696"/>
            <a:ext cx="2468880" cy="237744"/>
          </a:xfrm>
          <a:prstGeom prst="rect">
            <a:avLst/>
          </a:prstGeom>
          <a:noFill/>
          <a:ln/>
        </p:spPr>
        <p:txBody>
          <a:bodyPr wrap="square" lIns="0" tIns="0" rIns="0" bIns="0" rtlCol="0" anchor="ctr"/>
          <a:lstStyle/>
          <a:p>
            <a:pPr marL="0" indent="0" algn="ctr">
              <a:buNone/>
            </a:pPr>
            <a:r>
              <a:rPr lang="en-US" sz="1000" b="1" dirty="0">
                <a:solidFill>
                  <a:srgbClr val="0987A0"/>
                </a:solidFill>
                <a:latin typeface="Calibri" pitchFamily="34" charset="0"/>
                <a:ea typeface="Calibri" pitchFamily="34" charset="-122"/>
                <a:cs typeface="Calibri" pitchFamily="34" charset="-120"/>
              </a:rPr>
              <a:t>Parameter Sharing</a:t>
            </a:r>
            <a:endParaRPr lang="en-US" sz="1000" dirty="0"/>
          </a:p>
        </p:txBody>
      </p:sp>
      <p:sp>
        <p:nvSpPr>
          <p:cNvPr id="21" name="Text 19"/>
          <p:cNvSpPr/>
          <p:nvPr/>
        </p:nvSpPr>
        <p:spPr>
          <a:xfrm>
            <a:off x="457200" y="4681728"/>
            <a:ext cx="2468880" cy="219456"/>
          </a:xfrm>
          <a:prstGeom prst="rect">
            <a:avLst/>
          </a:prstGeom>
          <a:noFill/>
          <a:ln/>
        </p:spPr>
        <p:txBody>
          <a:bodyPr wrap="square" lIns="0" tIns="0" rIns="0" bIns="0" rtlCol="0" anchor="ctr"/>
          <a:lstStyle/>
          <a:p>
            <a:pPr marL="0" indent="0" algn="ctr">
              <a:buNone/>
            </a:pPr>
            <a:r>
              <a:rPr lang="en-US" sz="900" dirty="0">
                <a:solidFill>
                  <a:srgbClr val="718096"/>
                </a:solidFill>
                <a:latin typeface="Calibri" pitchFamily="34" charset="0"/>
                <a:ea typeface="Calibri" pitchFamily="34" charset="-122"/>
                <a:cs typeface="Calibri" pitchFamily="34" charset="-120"/>
              </a:rPr>
              <a:t>Same filter applied across entire image — drastically reduces the number of parameters.</a:t>
            </a:r>
            <a:endParaRPr lang="en-US" sz="900" dirty="0"/>
          </a:p>
        </p:txBody>
      </p:sp>
      <p:sp>
        <p:nvSpPr>
          <p:cNvPr id="22" name="Shape 20"/>
          <p:cNvSpPr/>
          <p:nvPr/>
        </p:nvSpPr>
        <p:spPr>
          <a:xfrm>
            <a:off x="3227832" y="3767328"/>
            <a:ext cx="2743200" cy="1170432"/>
          </a:xfrm>
          <a:prstGeom prst="rect">
            <a:avLst/>
          </a:prstGeom>
          <a:solidFill>
            <a:srgbClr val="E6F6F9"/>
          </a:solidFill>
          <a:ln w="12700">
            <a:solidFill>
              <a:srgbClr val="0987A0">
                <a:alpha val="60000"/>
              </a:srgbClr>
            </a:solidFill>
            <a:prstDash val="solid"/>
          </a:ln>
        </p:spPr>
        <p:txBody>
          <a:bodyPr/>
          <a:lstStyle/>
          <a:p>
            <a:endParaRPr lang="en-US"/>
          </a:p>
        </p:txBody>
      </p:sp>
      <p:sp>
        <p:nvSpPr>
          <p:cNvPr id="23" name="Shape 21"/>
          <p:cNvSpPr/>
          <p:nvPr/>
        </p:nvSpPr>
        <p:spPr>
          <a:xfrm>
            <a:off x="4325112" y="3822192"/>
            <a:ext cx="548640" cy="548640"/>
          </a:xfrm>
          <a:prstGeom prst="ellipse">
            <a:avLst/>
          </a:prstGeom>
          <a:solidFill>
            <a:srgbClr val="0987A0"/>
          </a:solidFill>
          <a:ln w="12700">
            <a:solidFill>
              <a:srgbClr val="0987A0"/>
            </a:solidFill>
            <a:prstDash val="solid"/>
          </a:ln>
        </p:spPr>
        <p:txBody>
          <a:bodyPr/>
          <a:lstStyle/>
          <a:p>
            <a:endParaRPr lang="en-US"/>
          </a:p>
        </p:txBody>
      </p:sp>
      <p:sp>
        <p:nvSpPr>
          <p:cNvPr id="24" name="Text 22"/>
          <p:cNvSpPr/>
          <p:nvPr/>
        </p:nvSpPr>
        <p:spPr>
          <a:xfrm>
            <a:off x="4325112" y="3822192"/>
            <a:ext cx="548640" cy="548640"/>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25" name="Text 23"/>
          <p:cNvSpPr/>
          <p:nvPr/>
        </p:nvSpPr>
        <p:spPr>
          <a:xfrm>
            <a:off x="3364992" y="4425696"/>
            <a:ext cx="2468880" cy="237744"/>
          </a:xfrm>
          <a:prstGeom prst="rect">
            <a:avLst/>
          </a:prstGeom>
          <a:noFill/>
          <a:ln/>
        </p:spPr>
        <p:txBody>
          <a:bodyPr wrap="square" lIns="0" tIns="0" rIns="0" bIns="0" rtlCol="0" anchor="ctr"/>
          <a:lstStyle/>
          <a:p>
            <a:pPr marL="0" indent="0" algn="ctr">
              <a:buNone/>
            </a:pPr>
            <a:r>
              <a:rPr lang="en-US" sz="1000" b="1" dirty="0">
                <a:solidFill>
                  <a:srgbClr val="0987A0"/>
                </a:solidFill>
                <a:latin typeface="Calibri" pitchFamily="34" charset="0"/>
                <a:ea typeface="Calibri" pitchFamily="34" charset="-122"/>
                <a:cs typeface="Calibri" pitchFamily="34" charset="-120"/>
              </a:rPr>
              <a:t>Local Connectivity</a:t>
            </a:r>
            <a:endParaRPr lang="en-US" sz="1000" dirty="0"/>
          </a:p>
        </p:txBody>
      </p:sp>
      <p:sp>
        <p:nvSpPr>
          <p:cNvPr id="26" name="Text 24"/>
          <p:cNvSpPr/>
          <p:nvPr/>
        </p:nvSpPr>
        <p:spPr>
          <a:xfrm>
            <a:off x="3364992" y="4681728"/>
            <a:ext cx="2468880" cy="219456"/>
          </a:xfrm>
          <a:prstGeom prst="rect">
            <a:avLst/>
          </a:prstGeom>
          <a:noFill/>
          <a:ln/>
        </p:spPr>
        <p:txBody>
          <a:bodyPr wrap="square" lIns="0" tIns="0" rIns="0" bIns="0" rtlCol="0" anchor="ctr"/>
          <a:lstStyle/>
          <a:p>
            <a:pPr marL="0" indent="0" algn="ctr">
              <a:buNone/>
            </a:pPr>
            <a:r>
              <a:rPr lang="en-US" sz="900" dirty="0">
                <a:solidFill>
                  <a:srgbClr val="718096"/>
                </a:solidFill>
                <a:latin typeface="Calibri" pitchFamily="34" charset="0"/>
                <a:ea typeface="Calibri" pitchFamily="34" charset="-122"/>
                <a:cs typeface="Calibri" pitchFamily="34" charset="-120"/>
              </a:rPr>
              <a:t>Each neuron connects to a small local region only — not the entire image.</a:t>
            </a:r>
            <a:endParaRPr lang="en-US" sz="900" dirty="0"/>
          </a:p>
        </p:txBody>
      </p:sp>
      <p:sp>
        <p:nvSpPr>
          <p:cNvPr id="27" name="Shape 25"/>
          <p:cNvSpPr/>
          <p:nvPr/>
        </p:nvSpPr>
        <p:spPr>
          <a:xfrm>
            <a:off x="6135624" y="3767328"/>
            <a:ext cx="2743200" cy="1170432"/>
          </a:xfrm>
          <a:prstGeom prst="rect">
            <a:avLst/>
          </a:prstGeom>
          <a:solidFill>
            <a:srgbClr val="E6F6F9"/>
          </a:solidFill>
          <a:ln w="12700">
            <a:solidFill>
              <a:srgbClr val="0987A0">
                <a:alpha val="60000"/>
              </a:srgbClr>
            </a:solidFill>
            <a:prstDash val="solid"/>
          </a:ln>
        </p:spPr>
        <p:txBody>
          <a:bodyPr/>
          <a:lstStyle/>
          <a:p>
            <a:endParaRPr lang="en-US"/>
          </a:p>
        </p:txBody>
      </p:sp>
      <p:sp>
        <p:nvSpPr>
          <p:cNvPr id="28" name="Shape 26"/>
          <p:cNvSpPr/>
          <p:nvPr/>
        </p:nvSpPr>
        <p:spPr>
          <a:xfrm>
            <a:off x="7232904" y="3822192"/>
            <a:ext cx="548640" cy="548640"/>
          </a:xfrm>
          <a:prstGeom prst="ellipse">
            <a:avLst/>
          </a:prstGeom>
          <a:solidFill>
            <a:srgbClr val="0987A0"/>
          </a:solidFill>
          <a:ln w="12700">
            <a:solidFill>
              <a:srgbClr val="0987A0"/>
            </a:solidFill>
            <a:prstDash val="solid"/>
          </a:ln>
        </p:spPr>
        <p:txBody>
          <a:bodyPr/>
          <a:lstStyle/>
          <a:p>
            <a:endParaRPr lang="en-US"/>
          </a:p>
        </p:txBody>
      </p:sp>
      <p:sp>
        <p:nvSpPr>
          <p:cNvPr id="29" name="Text 27"/>
          <p:cNvSpPr/>
          <p:nvPr/>
        </p:nvSpPr>
        <p:spPr>
          <a:xfrm>
            <a:off x="7232904" y="3822192"/>
            <a:ext cx="548640" cy="548640"/>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sp>
        <p:nvSpPr>
          <p:cNvPr id="30" name="Text 28"/>
          <p:cNvSpPr/>
          <p:nvPr/>
        </p:nvSpPr>
        <p:spPr>
          <a:xfrm>
            <a:off x="6272784" y="4425696"/>
            <a:ext cx="2468880" cy="237744"/>
          </a:xfrm>
          <a:prstGeom prst="rect">
            <a:avLst/>
          </a:prstGeom>
          <a:noFill/>
          <a:ln/>
        </p:spPr>
        <p:txBody>
          <a:bodyPr wrap="square" lIns="0" tIns="0" rIns="0" bIns="0" rtlCol="0" anchor="ctr"/>
          <a:lstStyle/>
          <a:p>
            <a:pPr marL="0" indent="0" algn="ctr">
              <a:buNone/>
            </a:pPr>
            <a:r>
              <a:rPr lang="en-US" sz="1000" b="1" dirty="0">
                <a:solidFill>
                  <a:srgbClr val="0987A0"/>
                </a:solidFill>
                <a:latin typeface="Calibri" pitchFamily="34" charset="0"/>
                <a:ea typeface="Calibri" pitchFamily="34" charset="-122"/>
                <a:cs typeface="Calibri" pitchFamily="34" charset="-120"/>
              </a:rPr>
              <a:t>Translation Invariance</a:t>
            </a:r>
            <a:endParaRPr lang="en-US" sz="1000" dirty="0"/>
          </a:p>
        </p:txBody>
      </p:sp>
      <p:sp>
        <p:nvSpPr>
          <p:cNvPr id="31" name="Text 29"/>
          <p:cNvSpPr/>
          <p:nvPr/>
        </p:nvSpPr>
        <p:spPr>
          <a:xfrm>
            <a:off x="6272784" y="4681728"/>
            <a:ext cx="2468880" cy="219456"/>
          </a:xfrm>
          <a:prstGeom prst="rect">
            <a:avLst/>
          </a:prstGeom>
          <a:noFill/>
          <a:ln/>
        </p:spPr>
        <p:txBody>
          <a:bodyPr wrap="square" lIns="0" tIns="0" rIns="0" bIns="0" rtlCol="0" anchor="ctr"/>
          <a:lstStyle/>
          <a:p>
            <a:pPr marL="0" indent="0" algn="ctr">
              <a:buNone/>
            </a:pPr>
            <a:r>
              <a:rPr lang="en-US" sz="900" dirty="0">
                <a:solidFill>
                  <a:srgbClr val="718096"/>
                </a:solidFill>
                <a:latin typeface="Calibri" pitchFamily="34" charset="0"/>
                <a:ea typeface="Calibri" pitchFamily="34" charset="-122"/>
                <a:cs typeface="Calibri" pitchFamily="34" charset="-120"/>
              </a:rPr>
              <a:t>Recognizes features anywhere in the image — position does not matter.</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04088"/>
          </a:xfrm>
          <a:prstGeom prst="rect">
            <a:avLst/>
          </a:prstGeom>
          <a:solidFill>
            <a:srgbClr val="FFFFFF"/>
          </a:solidFill>
          <a:ln w="12700">
            <a:solidFill>
              <a:srgbClr val="CBD5E0"/>
            </a:solidFill>
            <a:prstDash val="solid"/>
          </a:ln>
        </p:spPr>
        <p:txBody>
          <a:bodyPr/>
          <a:lstStyle/>
          <a:p>
            <a:endParaRPr lang="en-US"/>
          </a:p>
        </p:txBody>
      </p:sp>
      <p:sp>
        <p:nvSpPr>
          <p:cNvPr id="3" name="Shape 1"/>
          <p:cNvSpPr/>
          <p:nvPr/>
        </p:nvSpPr>
        <p:spPr>
          <a:xfrm>
            <a:off x="0" y="0"/>
            <a:ext cx="201168" cy="696763"/>
          </a:xfrm>
          <a:prstGeom prst="rect">
            <a:avLst/>
          </a:prstGeom>
          <a:solidFill>
            <a:srgbClr val="0987A0"/>
          </a:solidFill>
          <a:ln w="12700">
            <a:solidFill>
              <a:srgbClr val="0987A0"/>
            </a:solidFill>
            <a:prstDash val="solid"/>
          </a:ln>
        </p:spPr>
        <p:txBody>
          <a:bodyPr/>
          <a:lstStyle/>
          <a:p>
            <a:endParaRPr lang="en-US"/>
          </a:p>
        </p:txBody>
      </p:sp>
      <p:sp>
        <p:nvSpPr>
          <p:cNvPr id="4" name="Text 2"/>
          <p:cNvSpPr/>
          <p:nvPr/>
        </p:nvSpPr>
        <p:spPr>
          <a:xfrm>
            <a:off x="347472" y="73152"/>
            <a:ext cx="8412480" cy="457200"/>
          </a:xfrm>
          <a:prstGeom prst="rect">
            <a:avLst/>
          </a:prstGeom>
          <a:noFill/>
          <a:ln/>
        </p:spPr>
        <p:txBody>
          <a:bodyPr wrap="square" lIns="0" tIns="0" rIns="0" bIns="0" rtlCol="0" anchor="ctr"/>
          <a:lstStyle/>
          <a:p>
            <a:pPr marL="0" indent="0">
              <a:buNone/>
            </a:pPr>
            <a:r>
              <a:rPr lang="en-US" sz="2200" b="1" dirty="0">
                <a:solidFill>
                  <a:srgbClr val="1E3A5F"/>
                </a:solidFill>
                <a:latin typeface="Trebuchet MS" pitchFamily="34" charset="0"/>
                <a:ea typeface="Trebuchet MS" pitchFamily="34" charset="-122"/>
                <a:cs typeface="Trebuchet MS" pitchFamily="34" charset="-120"/>
              </a:rPr>
              <a:t>CNN Architecture — Layer by Layer</a:t>
            </a:r>
            <a:endParaRPr lang="en-US" sz="2200" dirty="0"/>
          </a:p>
        </p:txBody>
      </p:sp>
      <p:sp>
        <p:nvSpPr>
          <p:cNvPr id="5" name="Text 3"/>
          <p:cNvSpPr/>
          <p:nvPr/>
        </p:nvSpPr>
        <p:spPr>
          <a:xfrm>
            <a:off x="347472" y="548640"/>
            <a:ext cx="8412480" cy="274320"/>
          </a:xfrm>
          <a:prstGeom prst="rect">
            <a:avLst/>
          </a:prstGeom>
          <a:noFill/>
          <a:ln/>
        </p:spPr>
        <p:txBody>
          <a:bodyPr wrap="square" lIns="0" tIns="0" rIns="0" bIns="0" rtlCol="0" anchor="ctr"/>
          <a:lstStyle/>
          <a:p>
            <a:pPr marL="0" indent="0">
              <a:buNone/>
            </a:pPr>
            <a:endParaRPr lang="en-US" sz="1100" dirty="0"/>
          </a:p>
        </p:txBody>
      </p:sp>
      <p:sp>
        <p:nvSpPr>
          <p:cNvPr id="6" name="Shape 4"/>
          <p:cNvSpPr/>
          <p:nvPr/>
        </p:nvSpPr>
        <p:spPr>
          <a:xfrm>
            <a:off x="307238" y="696763"/>
            <a:ext cx="8503920" cy="27432"/>
          </a:xfrm>
          <a:prstGeom prst="rect">
            <a:avLst/>
          </a:prstGeom>
          <a:solidFill>
            <a:srgbClr val="0987A0">
              <a:alpha val="30000"/>
            </a:srgbClr>
          </a:solidFill>
          <a:ln/>
        </p:spPr>
        <p:txBody>
          <a:bodyPr/>
          <a:lstStyle/>
          <a:p>
            <a:endParaRPr lang="en-US"/>
          </a:p>
        </p:txBody>
      </p:sp>
      <p:sp>
        <p:nvSpPr>
          <p:cNvPr id="7" name="Shape 5"/>
          <p:cNvSpPr/>
          <p:nvPr/>
        </p:nvSpPr>
        <p:spPr>
          <a:xfrm>
            <a:off x="320040" y="1024128"/>
            <a:ext cx="8503920" cy="1920240"/>
          </a:xfrm>
          <a:prstGeom prst="rect">
            <a:avLst/>
          </a:prstGeom>
          <a:solidFill>
            <a:srgbClr val="FFFFFF"/>
          </a:solidFill>
          <a:ln w="12700">
            <a:solidFill>
              <a:srgbClr val="CBD5E0"/>
            </a:solidFill>
            <a:prstDash val="solid"/>
          </a:ln>
          <a:effectLst>
            <a:outerShdw blurRad="88900" dist="38100" dir="8100000" algn="bl" rotWithShape="0">
              <a:srgbClr val="000000">
                <a:alpha val="13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371246" y="867770"/>
            <a:ext cx="8375904" cy="1865376"/>
          </a:xfrm>
          <a:prstGeom prst="rect">
            <a:avLst/>
          </a:prstGeom>
        </p:spPr>
      </p:pic>
      <p:sp>
        <p:nvSpPr>
          <p:cNvPr id="9" name="Shape 6"/>
          <p:cNvSpPr/>
          <p:nvPr/>
        </p:nvSpPr>
        <p:spPr>
          <a:xfrm>
            <a:off x="320040" y="2980944"/>
            <a:ext cx="5870448" cy="237744"/>
          </a:xfrm>
          <a:prstGeom prst="rect">
            <a:avLst/>
          </a:prstGeom>
          <a:solidFill>
            <a:srgbClr val="E6F4EC"/>
          </a:solidFill>
          <a:ln w="12700">
            <a:solidFill>
              <a:srgbClr val="276749"/>
            </a:solidFill>
            <a:prstDash val="solid"/>
          </a:ln>
        </p:spPr>
        <p:txBody>
          <a:bodyPr/>
          <a:lstStyle/>
          <a:p>
            <a:endParaRPr lang="en-US"/>
          </a:p>
        </p:txBody>
      </p:sp>
      <p:sp>
        <p:nvSpPr>
          <p:cNvPr id="10" name="Text 7"/>
          <p:cNvSpPr/>
          <p:nvPr/>
        </p:nvSpPr>
        <p:spPr>
          <a:xfrm>
            <a:off x="320040" y="2980944"/>
            <a:ext cx="5870448" cy="237744"/>
          </a:xfrm>
          <a:prstGeom prst="rect">
            <a:avLst/>
          </a:prstGeom>
          <a:noFill/>
          <a:ln/>
        </p:spPr>
        <p:txBody>
          <a:bodyPr wrap="square" rtlCol="0" anchor="ctr"/>
          <a:lstStyle/>
          <a:p>
            <a:pPr marL="0" indent="0" algn="ctr">
              <a:buNone/>
            </a:pPr>
            <a:r>
              <a:rPr lang="en-US" sz="850" b="1" kern="0" spc="200" dirty="0">
                <a:solidFill>
                  <a:srgbClr val="276749"/>
                </a:solidFill>
                <a:latin typeface="Trebuchet MS" pitchFamily="34" charset="0"/>
                <a:ea typeface="Trebuchet MS" pitchFamily="34" charset="-122"/>
                <a:cs typeface="Trebuchet MS" pitchFamily="34" charset="-120"/>
              </a:rPr>
              <a:t>FEATURE EXTRACTION</a:t>
            </a:r>
            <a:endParaRPr lang="en-US" sz="850" dirty="0"/>
          </a:p>
        </p:txBody>
      </p:sp>
      <p:sp>
        <p:nvSpPr>
          <p:cNvPr id="11" name="Shape 8"/>
          <p:cNvSpPr/>
          <p:nvPr/>
        </p:nvSpPr>
        <p:spPr>
          <a:xfrm>
            <a:off x="6236208" y="2980944"/>
            <a:ext cx="2587752" cy="237744"/>
          </a:xfrm>
          <a:prstGeom prst="rect">
            <a:avLst/>
          </a:prstGeom>
          <a:solidFill>
            <a:srgbClr val="E6F6F9"/>
          </a:solidFill>
          <a:ln w="12700">
            <a:solidFill>
              <a:srgbClr val="0987A0"/>
            </a:solidFill>
            <a:prstDash val="solid"/>
          </a:ln>
        </p:spPr>
        <p:txBody>
          <a:bodyPr/>
          <a:lstStyle/>
          <a:p>
            <a:endParaRPr lang="en-US"/>
          </a:p>
        </p:txBody>
      </p:sp>
      <p:sp>
        <p:nvSpPr>
          <p:cNvPr id="12" name="Text 9"/>
          <p:cNvSpPr/>
          <p:nvPr/>
        </p:nvSpPr>
        <p:spPr>
          <a:xfrm>
            <a:off x="6236208" y="2980944"/>
            <a:ext cx="2587752" cy="237744"/>
          </a:xfrm>
          <a:prstGeom prst="rect">
            <a:avLst/>
          </a:prstGeom>
          <a:noFill/>
          <a:ln/>
        </p:spPr>
        <p:txBody>
          <a:bodyPr wrap="square" rtlCol="0" anchor="ctr"/>
          <a:lstStyle/>
          <a:p>
            <a:pPr marL="0" indent="0" algn="ctr">
              <a:buNone/>
            </a:pPr>
            <a:r>
              <a:rPr lang="en-US" sz="850" b="1" kern="0" spc="200" dirty="0">
                <a:solidFill>
                  <a:srgbClr val="0987A0"/>
                </a:solidFill>
                <a:latin typeface="Trebuchet MS" pitchFamily="34" charset="0"/>
                <a:ea typeface="Trebuchet MS" pitchFamily="34" charset="-122"/>
                <a:cs typeface="Trebuchet MS" pitchFamily="34" charset="-120"/>
              </a:rPr>
              <a:t>CLASSIFICATION</a:t>
            </a:r>
            <a:endParaRPr lang="en-US" sz="850" dirty="0"/>
          </a:p>
        </p:txBody>
      </p:sp>
      <p:sp>
        <p:nvSpPr>
          <p:cNvPr id="13" name="Shape 10"/>
          <p:cNvSpPr/>
          <p:nvPr/>
        </p:nvSpPr>
        <p:spPr>
          <a:xfrm>
            <a:off x="320040" y="3264408"/>
            <a:ext cx="1371600" cy="1755648"/>
          </a:xfrm>
          <a:prstGeom prst="rect">
            <a:avLst/>
          </a:prstGeom>
          <a:solidFill>
            <a:srgbClr val="EDF2F7"/>
          </a:solidFill>
          <a:ln w="15240">
            <a:solidFill>
              <a:srgbClr val="718096"/>
            </a:solidFill>
            <a:prstDash val="solid"/>
          </a:ln>
          <a:effectLst>
            <a:outerShdw blurRad="50800" dist="25400" dir="8100000" algn="bl" rotWithShape="0">
              <a:srgbClr val="000000">
                <a:alpha val="9000"/>
              </a:srgbClr>
            </a:outerShdw>
          </a:effectLst>
        </p:spPr>
        <p:txBody>
          <a:bodyPr/>
          <a:lstStyle/>
          <a:p>
            <a:endParaRPr lang="en-US"/>
          </a:p>
        </p:txBody>
      </p:sp>
      <p:sp>
        <p:nvSpPr>
          <p:cNvPr id="14" name="Shape 11"/>
          <p:cNvSpPr/>
          <p:nvPr/>
        </p:nvSpPr>
        <p:spPr>
          <a:xfrm>
            <a:off x="320040" y="3264408"/>
            <a:ext cx="1371600" cy="64008"/>
          </a:xfrm>
          <a:prstGeom prst="rect">
            <a:avLst/>
          </a:prstGeom>
          <a:solidFill>
            <a:srgbClr val="718096"/>
          </a:solidFill>
          <a:ln w="12700">
            <a:solidFill>
              <a:srgbClr val="718096"/>
            </a:solidFill>
            <a:prstDash val="solid"/>
          </a:ln>
        </p:spPr>
        <p:txBody>
          <a:bodyPr/>
          <a:lstStyle/>
          <a:p>
            <a:endParaRPr lang="en-US"/>
          </a:p>
        </p:txBody>
      </p:sp>
      <p:sp>
        <p:nvSpPr>
          <p:cNvPr id="15" name="Shape 12"/>
          <p:cNvSpPr/>
          <p:nvPr/>
        </p:nvSpPr>
        <p:spPr>
          <a:xfrm>
            <a:off x="822960" y="3355848"/>
            <a:ext cx="384048" cy="384048"/>
          </a:xfrm>
          <a:prstGeom prst="ellipse">
            <a:avLst/>
          </a:prstGeom>
          <a:solidFill>
            <a:srgbClr val="718096"/>
          </a:solidFill>
          <a:ln w="12700">
            <a:solidFill>
              <a:srgbClr val="718096"/>
            </a:solidFill>
            <a:prstDash val="solid"/>
          </a:ln>
        </p:spPr>
        <p:txBody>
          <a:bodyPr/>
          <a:lstStyle/>
          <a:p>
            <a:endParaRPr lang="en-US"/>
          </a:p>
        </p:txBody>
      </p:sp>
      <p:sp>
        <p:nvSpPr>
          <p:cNvPr id="16" name="Text 13"/>
          <p:cNvSpPr/>
          <p:nvPr/>
        </p:nvSpPr>
        <p:spPr>
          <a:xfrm>
            <a:off x="822960" y="3355848"/>
            <a:ext cx="384048" cy="384048"/>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1</a:t>
            </a:r>
            <a:endParaRPr lang="en-US" sz="1200" dirty="0"/>
          </a:p>
        </p:txBody>
      </p:sp>
      <p:sp>
        <p:nvSpPr>
          <p:cNvPr id="17" name="Text 14"/>
          <p:cNvSpPr/>
          <p:nvPr/>
        </p:nvSpPr>
        <p:spPr>
          <a:xfrm>
            <a:off x="393192" y="3785616"/>
            <a:ext cx="1243584" cy="256032"/>
          </a:xfrm>
          <a:prstGeom prst="rect">
            <a:avLst/>
          </a:prstGeom>
          <a:noFill/>
          <a:ln/>
        </p:spPr>
        <p:txBody>
          <a:bodyPr wrap="square" lIns="0" tIns="0" rIns="0" bIns="0" rtlCol="0" anchor="ctr"/>
          <a:lstStyle/>
          <a:p>
            <a:pPr marL="0" indent="0" algn="ctr">
              <a:buNone/>
            </a:pPr>
            <a:r>
              <a:rPr lang="en-US" sz="1000" b="1" dirty="0">
                <a:solidFill>
                  <a:srgbClr val="718096"/>
                </a:solidFill>
                <a:latin typeface="Trebuchet MS" pitchFamily="34" charset="0"/>
                <a:ea typeface="Trebuchet MS" pitchFamily="34" charset="-122"/>
                <a:cs typeface="Trebuchet MS" pitchFamily="34" charset="-120"/>
              </a:rPr>
              <a:t>Input Image</a:t>
            </a:r>
            <a:endParaRPr lang="en-US" sz="1000" dirty="0"/>
          </a:p>
        </p:txBody>
      </p:sp>
      <p:sp>
        <p:nvSpPr>
          <p:cNvPr id="18" name="Text 15"/>
          <p:cNvSpPr/>
          <p:nvPr/>
        </p:nvSpPr>
        <p:spPr>
          <a:xfrm>
            <a:off x="393192" y="4069080"/>
            <a:ext cx="1243584" cy="896112"/>
          </a:xfrm>
          <a:prstGeom prst="rect">
            <a:avLst/>
          </a:prstGeom>
          <a:noFill/>
          <a:ln/>
        </p:spPr>
        <p:txBody>
          <a:bodyPr wrap="square" lIns="0" tIns="0" rIns="0" bIns="0" rtlCol="0" anchor="ctr"/>
          <a:lstStyle/>
          <a:p>
            <a:pPr marL="0" indent="0" algn="ctr">
              <a:buNone/>
            </a:pPr>
            <a:r>
              <a:rPr lang="en-US" sz="900" dirty="0">
                <a:solidFill>
                  <a:srgbClr val="2D3748"/>
                </a:solidFill>
                <a:latin typeface="Calibri" pitchFamily="34" charset="0"/>
                <a:ea typeface="Calibri" pitchFamily="34" charset="-122"/>
                <a:cs typeface="Calibri" pitchFamily="34" charset="-120"/>
              </a:rPr>
              <a:t>Raw image — pixel values</a:t>
            </a:r>
            <a:endParaRPr lang="en-US" sz="900" dirty="0"/>
          </a:p>
          <a:p>
            <a:pPr marL="0" indent="0" algn="ctr">
              <a:buNone/>
            </a:pPr>
            <a:r>
              <a:rPr lang="en-US" sz="900" dirty="0">
                <a:solidFill>
                  <a:srgbClr val="2D3748"/>
                </a:solidFill>
                <a:latin typeface="Calibri" pitchFamily="34" charset="0"/>
                <a:ea typeface="Calibri" pitchFamily="34" charset="-122"/>
                <a:cs typeface="Calibri" pitchFamily="34" charset="-120"/>
              </a:rPr>
              <a:t>0–255 per channel</a:t>
            </a:r>
            <a:endParaRPr lang="en-US" sz="900" dirty="0"/>
          </a:p>
          <a:p>
            <a:pPr marL="0" indent="0" algn="ctr">
              <a:buNone/>
            </a:pPr>
            <a:r>
              <a:rPr lang="en-US" sz="900" dirty="0">
                <a:solidFill>
                  <a:srgbClr val="2D3748"/>
                </a:solidFill>
                <a:latin typeface="Calibri" pitchFamily="34" charset="0"/>
                <a:ea typeface="Calibri" pitchFamily="34" charset="-122"/>
                <a:cs typeface="Calibri" pitchFamily="34" charset="-120"/>
              </a:rPr>
              <a:t>RGB = 3 channels</a:t>
            </a:r>
            <a:endParaRPr lang="en-US" sz="900" dirty="0"/>
          </a:p>
        </p:txBody>
      </p:sp>
      <p:sp>
        <p:nvSpPr>
          <p:cNvPr id="19" name="Shape 16"/>
          <p:cNvSpPr/>
          <p:nvPr/>
        </p:nvSpPr>
        <p:spPr>
          <a:xfrm>
            <a:off x="1753819" y="3264408"/>
            <a:ext cx="1371600" cy="1755648"/>
          </a:xfrm>
          <a:prstGeom prst="rect">
            <a:avLst/>
          </a:prstGeom>
          <a:solidFill>
            <a:srgbClr val="E6F4EC"/>
          </a:solidFill>
          <a:ln w="15240">
            <a:solidFill>
              <a:srgbClr val="276749"/>
            </a:solidFill>
            <a:prstDash val="solid"/>
          </a:ln>
          <a:effectLst>
            <a:outerShdw blurRad="50800" dist="25400" dir="8100000" algn="bl" rotWithShape="0">
              <a:srgbClr val="000000">
                <a:alpha val="9000"/>
              </a:srgbClr>
            </a:outerShdw>
          </a:effectLst>
        </p:spPr>
        <p:txBody>
          <a:bodyPr/>
          <a:lstStyle/>
          <a:p>
            <a:endParaRPr lang="en-US"/>
          </a:p>
        </p:txBody>
      </p:sp>
      <p:sp>
        <p:nvSpPr>
          <p:cNvPr id="20" name="Shape 17"/>
          <p:cNvSpPr/>
          <p:nvPr/>
        </p:nvSpPr>
        <p:spPr>
          <a:xfrm>
            <a:off x="1753819" y="3264408"/>
            <a:ext cx="1371600" cy="64008"/>
          </a:xfrm>
          <a:prstGeom prst="rect">
            <a:avLst/>
          </a:prstGeom>
          <a:solidFill>
            <a:srgbClr val="276749"/>
          </a:solidFill>
          <a:ln w="12700">
            <a:solidFill>
              <a:srgbClr val="276749"/>
            </a:solidFill>
            <a:prstDash val="solid"/>
          </a:ln>
        </p:spPr>
        <p:txBody>
          <a:bodyPr/>
          <a:lstStyle/>
          <a:p>
            <a:endParaRPr lang="en-US"/>
          </a:p>
        </p:txBody>
      </p:sp>
      <p:sp>
        <p:nvSpPr>
          <p:cNvPr id="21" name="Shape 18"/>
          <p:cNvSpPr/>
          <p:nvPr/>
        </p:nvSpPr>
        <p:spPr>
          <a:xfrm>
            <a:off x="2256739" y="3355848"/>
            <a:ext cx="384048" cy="384048"/>
          </a:xfrm>
          <a:prstGeom prst="ellipse">
            <a:avLst/>
          </a:prstGeom>
          <a:solidFill>
            <a:srgbClr val="276749"/>
          </a:solidFill>
          <a:ln w="12700">
            <a:solidFill>
              <a:srgbClr val="276749"/>
            </a:solidFill>
            <a:prstDash val="solid"/>
          </a:ln>
        </p:spPr>
        <p:txBody>
          <a:bodyPr/>
          <a:lstStyle/>
          <a:p>
            <a:endParaRPr lang="en-US"/>
          </a:p>
        </p:txBody>
      </p:sp>
      <p:sp>
        <p:nvSpPr>
          <p:cNvPr id="22" name="Text 19"/>
          <p:cNvSpPr/>
          <p:nvPr/>
        </p:nvSpPr>
        <p:spPr>
          <a:xfrm>
            <a:off x="2256739" y="3355848"/>
            <a:ext cx="384048" cy="384048"/>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2</a:t>
            </a:r>
            <a:endParaRPr lang="en-US" sz="1200" dirty="0"/>
          </a:p>
        </p:txBody>
      </p:sp>
      <p:sp>
        <p:nvSpPr>
          <p:cNvPr id="23" name="Text 20"/>
          <p:cNvSpPr/>
          <p:nvPr/>
        </p:nvSpPr>
        <p:spPr>
          <a:xfrm>
            <a:off x="1826971" y="3785616"/>
            <a:ext cx="1243584" cy="256032"/>
          </a:xfrm>
          <a:prstGeom prst="rect">
            <a:avLst/>
          </a:prstGeom>
          <a:noFill/>
          <a:ln/>
        </p:spPr>
        <p:txBody>
          <a:bodyPr wrap="square" lIns="0" tIns="0" rIns="0" bIns="0" rtlCol="0" anchor="ctr"/>
          <a:lstStyle/>
          <a:p>
            <a:pPr marL="0" indent="0" algn="ctr">
              <a:buNone/>
            </a:pPr>
            <a:r>
              <a:rPr lang="en-US" sz="1000" b="1" dirty="0">
                <a:solidFill>
                  <a:srgbClr val="276749"/>
                </a:solidFill>
                <a:latin typeface="Trebuchet MS" pitchFamily="34" charset="0"/>
                <a:ea typeface="Trebuchet MS" pitchFamily="34" charset="-122"/>
                <a:cs typeface="Trebuchet MS" pitchFamily="34" charset="-120"/>
              </a:rPr>
              <a:t>Conv + ReLU</a:t>
            </a:r>
            <a:endParaRPr lang="en-US" sz="1000" dirty="0"/>
          </a:p>
        </p:txBody>
      </p:sp>
      <p:sp>
        <p:nvSpPr>
          <p:cNvPr id="24" name="Text 21"/>
          <p:cNvSpPr/>
          <p:nvPr/>
        </p:nvSpPr>
        <p:spPr>
          <a:xfrm>
            <a:off x="1826971" y="4069080"/>
            <a:ext cx="1243584" cy="896112"/>
          </a:xfrm>
          <a:prstGeom prst="rect">
            <a:avLst/>
          </a:prstGeom>
          <a:noFill/>
          <a:ln/>
        </p:spPr>
        <p:txBody>
          <a:bodyPr wrap="square" lIns="0" tIns="0" rIns="0" bIns="0" rtlCol="0" anchor="ctr"/>
          <a:lstStyle/>
          <a:p>
            <a:pPr marL="0" indent="0" algn="ctr">
              <a:buNone/>
            </a:pPr>
            <a:r>
              <a:rPr lang="en-US" sz="900" dirty="0">
                <a:solidFill>
                  <a:srgbClr val="2D3748"/>
                </a:solidFill>
                <a:latin typeface="Calibri" pitchFamily="34" charset="0"/>
                <a:ea typeface="Calibri" pitchFamily="34" charset="-122"/>
                <a:cs typeface="Calibri" pitchFamily="34" charset="-120"/>
              </a:rPr>
              <a:t>Filter slides across image</a:t>
            </a:r>
            <a:endParaRPr lang="en-US" sz="900" dirty="0"/>
          </a:p>
          <a:p>
            <a:pPr marL="0" indent="0" algn="ctr">
              <a:buNone/>
            </a:pPr>
            <a:r>
              <a:rPr lang="en-US" sz="900" dirty="0">
                <a:solidFill>
                  <a:srgbClr val="2D3748"/>
                </a:solidFill>
                <a:latin typeface="Calibri" pitchFamily="34" charset="0"/>
                <a:ea typeface="Calibri" pitchFamily="34" charset="-122"/>
                <a:cs typeface="Calibri" pitchFamily="34" charset="-120"/>
              </a:rPr>
              <a:t>Detects edges &amp; shapes</a:t>
            </a:r>
            <a:endParaRPr lang="en-US" sz="900" dirty="0"/>
          </a:p>
          <a:p>
            <a:pPr marL="0" indent="0" algn="ctr">
              <a:buNone/>
            </a:pPr>
            <a:r>
              <a:rPr lang="en-US" sz="900" dirty="0">
                <a:solidFill>
                  <a:srgbClr val="2D3748"/>
                </a:solidFill>
                <a:latin typeface="Calibri" pitchFamily="34" charset="0"/>
                <a:ea typeface="Calibri" pitchFamily="34" charset="-122"/>
                <a:cs typeface="Calibri" pitchFamily="34" charset="-120"/>
              </a:rPr>
              <a:t>ReLU removes negatives</a:t>
            </a:r>
            <a:endParaRPr lang="en-US" sz="900" dirty="0"/>
          </a:p>
        </p:txBody>
      </p:sp>
      <p:sp>
        <p:nvSpPr>
          <p:cNvPr id="25" name="Shape 22"/>
          <p:cNvSpPr/>
          <p:nvPr/>
        </p:nvSpPr>
        <p:spPr>
          <a:xfrm>
            <a:off x="3187598" y="3264408"/>
            <a:ext cx="1371600" cy="1755648"/>
          </a:xfrm>
          <a:prstGeom prst="rect">
            <a:avLst/>
          </a:prstGeom>
          <a:solidFill>
            <a:srgbClr val="E6F4EC"/>
          </a:solidFill>
          <a:ln w="15240">
            <a:solidFill>
              <a:srgbClr val="276749"/>
            </a:solidFill>
            <a:prstDash val="solid"/>
          </a:ln>
          <a:effectLst>
            <a:outerShdw blurRad="50800" dist="25400" dir="8100000" algn="bl" rotWithShape="0">
              <a:srgbClr val="000000">
                <a:alpha val="9000"/>
              </a:srgbClr>
            </a:outerShdw>
          </a:effectLst>
        </p:spPr>
        <p:txBody>
          <a:bodyPr/>
          <a:lstStyle/>
          <a:p>
            <a:endParaRPr lang="en-US"/>
          </a:p>
        </p:txBody>
      </p:sp>
      <p:sp>
        <p:nvSpPr>
          <p:cNvPr id="26" name="Shape 23"/>
          <p:cNvSpPr/>
          <p:nvPr/>
        </p:nvSpPr>
        <p:spPr>
          <a:xfrm>
            <a:off x="3187598" y="3264408"/>
            <a:ext cx="1371600" cy="64008"/>
          </a:xfrm>
          <a:prstGeom prst="rect">
            <a:avLst/>
          </a:prstGeom>
          <a:solidFill>
            <a:srgbClr val="276749"/>
          </a:solidFill>
          <a:ln w="12700">
            <a:solidFill>
              <a:srgbClr val="276749"/>
            </a:solidFill>
            <a:prstDash val="solid"/>
          </a:ln>
        </p:spPr>
        <p:txBody>
          <a:bodyPr/>
          <a:lstStyle/>
          <a:p>
            <a:endParaRPr lang="en-US"/>
          </a:p>
        </p:txBody>
      </p:sp>
      <p:sp>
        <p:nvSpPr>
          <p:cNvPr id="27" name="Shape 24"/>
          <p:cNvSpPr/>
          <p:nvPr/>
        </p:nvSpPr>
        <p:spPr>
          <a:xfrm>
            <a:off x="3690518" y="3355848"/>
            <a:ext cx="384048" cy="384048"/>
          </a:xfrm>
          <a:prstGeom prst="ellipse">
            <a:avLst/>
          </a:prstGeom>
          <a:solidFill>
            <a:srgbClr val="276749"/>
          </a:solidFill>
          <a:ln w="12700">
            <a:solidFill>
              <a:srgbClr val="276749"/>
            </a:solidFill>
            <a:prstDash val="solid"/>
          </a:ln>
        </p:spPr>
        <p:txBody>
          <a:bodyPr/>
          <a:lstStyle/>
          <a:p>
            <a:endParaRPr lang="en-US"/>
          </a:p>
        </p:txBody>
      </p:sp>
      <p:sp>
        <p:nvSpPr>
          <p:cNvPr id="28" name="Text 25"/>
          <p:cNvSpPr/>
          <p:nvPr/>
        </p:nvSpPr>
        <p:spPr>
          <a:xfrm>
            <a:off x="3690518" y="3355848"/>
            <a:ext cx="384048" cy="384048"/>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3</a:t>
            </a:r>
            <a:endParaRPr lang="en-US" sz="1200" dirty="0"/>
          </a:p>
        </p:txBody>
      </p:sp>
      <p:sp>
        <p:nvSpPr>
          <p:cNvPr id="29" name="Text 26"/>
          <p:cNvSpPr/>
          <p:nvPr/>
        </p:nvSpPr>
        <p:spPr>
          <a:xfrm>
            <a:off x="3260750" y="3785616"/>
            <a:ext cx="1243584" cy="256032"/>
          </a:xfrm>
          <a:prstGeom prst="rect">
            <a:avLst/>
          </a:prstGeom>
          <a:noFill/>
          <a:ln/>
        </p:spPr>
        <p:txBody>
          <a:bodyPr wrap="square" lIns="0" tIns="0" rIns="0" bIns="0" rtlCol="0" anchor="ctr"/>
          <a:lstStyle/>
          <a:p>
            <a:pPr marL="0" indent="0" algn="ctr">
              <a:buNone/>
            </a:pPr>
            <a:r>
              <a:rPr lang="en-US" sz="1000" b="1" dirty="0">
                <a:solidFill>
                  <a:srgbClr val="276749"/>
                </a:solidFill>
                <a:latin typeface="Trebuchet MS" pitchFamily="34" charset="0"/>
                <a:ea typeface="Trebuchet MS" pitchFamily="34" charset="-122"/>
                <a:cs typeface="Trebuchet MS" pitchFamily="34" charset="-120"/>
              </a:rPr>
              <a:t>Pooling</a:t>
            </a:r>
            <a:endParaRPr lang="en-US" sz="1000" dirty="0"/>
          </a:p>
        </p:txBody>
      </p:sp>
      <p:sp>
        <p:nvSpPr>
          <p:cNvPr id="30" name="Text 27"/>
          <p:cNvSpPr/>
          <p:nvPr/>
        </p:nvSpPr>
        <p:spPr>
          <a:xfrm>
            <a:off x="3260750" y="4069080"/>
            <a:ext cx="1243584" cy="896112"/>
          </a:xfrm>
          <a:prstGeom prst="rect">
            <a:avLst/>
          </a:prstGeom>
          <a:noFill/>
          <a:ln/>
        </p:spPr>
        <p:txBody>
          <a:bodyPr wrap="square" lIns="0" tIns="0" rIns="0" bIns="0" rtlCol="0" anchor="ctr"/>
          <a:lstStyle/>
          <a:p>
            <a:pPr marL="0" indent="0" algn="ctr">
              <a:buNone/>
            </a:pPr>
            <a:r>
              <a:rPr lang="en-US" sz="900" dirty="0">
                <a:solidFill>
                  <a:srgbClr val="2D3748"/>
                </a:solidFill>
                <a:latin typeface="Calibri" pitchFamily="34" charset="0"/>
                <a:ea typeface="Calibri" pitchFamily="34" charset="-122"/>
                <a:cs typeface="Calibri" pitchFamily="34" charset="-120"/>
              </a:rPr>
              <a:t>Max Pooling shrinks size</a:t>
            </a:r>
            <a:endParaRPr lang="en-US" sz="900" dirty="0"/>
          </a:p>
          <a:p>
            <a:pPr marL="0" indent="0" algn="ctr">
              <a:buNone/>
            </a:pPr>
            <a:r>
              <a:rPr lang="en-US" sz="900" dirty="0">
                <a:solidFill>
                  <a:srgbClr val="2D3748"/>
                </a:solidFill>
                <a:latin typeface="Calibri" pitchFamily="34" charset="0"/>
                <a:ea typeface="Calibri" pitchFamily="34" charset="-122"/>
                <a:cs typeface="Calibri" pitchFamily="34" charset="-120"/>
              </a:rPr>
              <a:t>Keeps strongest features</a:t>
            </a:r>
            <a:endParaRPr lang="en-US" sz="900" dirty="0"/>
          </a:p>
          <a:p>
            <a:pPr marL="0" indent="0" algn="ctr">
              <a:buNone/>
            </a:pPr>
            <a:r>
              <a:rPr lang="en-US" sz="900" dirty="0">
                <a:solidFill>
                  <a:srgbClr val="2D3748"/>
                </a:solidFill>
                <a:latin typeface="Calibri" pitchFamily="34" charset="0"/>
                <a:ea typeface="Calibri" pitchFamily="34" charset="-122"/>
                <a:cs typeface="Calibri" pitchFamily="34" charset="-120"/>
              </a:rPr>
              <a:t>Reduces computation</a:t>
            </a:r>
            <a:endParaRPr lang="en-US" sz="900" dirty="0"/>
          </a:p>
        </p:txBody>
      </p:sp>
      <p:sp>
        <p:nvSpPr>
          <p:cNvPr id="31" name="Shape 28"/>
          <p:cNvSpPr/>
          <p:nvPr/>
        </p:nvSpPr>
        <p:spPr>
          <a:xfrm>
            <a:off x="4621378" y="3264408"/>
            <a:ext cx="1371600" cy="1755648"/>
          </a:xfrm>
          <a:prstGeom prst="rect">
            <a:avLst/>
          </a:prstGeom>
          <a:solidFill>
            <a:srgbClr val="D4EDDA"/>
          </a:solidFill>
          <a:ln w="15240">
            <a:solidFill>
              <a:srgbClr val="276749"/>
            </a:solidFill>
            <a:prstDash val="solid"/>
          </a:ln>
          <a:effectLst>
            <a:outerShdw blurRad="50800" dist="25400" dir="8100000" algn="bl" rotWithShape="0">
              <a:srgbClr val="000000">
                <a:alpha val="9000"/>
              </a:srgbClr>
            </a:outerShdw>
          </a:effectLst>
        </p:spPr>
        <p:txBody>
          <a:bodyPr/>
          <a:lstStyle/>
          <a:p>
            <a:endParaRPr lang="en-US"/>
          </a:p>
        </p:txBody>
      </p:sp>
      <p:sp>
        <p:nvSpPr>
          <p:cNvPr id="32" name="Shape 29"/>
          <p:cNvSpPr/>
          <p:nvPr/>
        </p:nvSpPr>
        <p:spPr>
          <a:xfrm>
            <a:off x="4621378" y="3264408"/>
            <a:ext cx="1371600" cy="64008"/>
          </a:xfrm>
          <a:prstGeom prst="rect">
            <a:avLst/>
          </a:prstGeom>
          <a:solidFill>
            <a:srgbClr val="276749"/>
          </a:solidFill>
          <a:ln w="12700">
            <a:solidFill>
              <a:srgbClr val="276749"/>
            </a:solidFill>
            <a:prstDash val="solid"/>
          </a:ln>
        </p:spPr>
        <p:txBody>
          <a:bodyPr/>
          <a:lstStyle/>
          <a:p>
            <a:endParaRPr lang="en-US"/>
          </a:p>
        </p:txBody>
      </p:sp>
      <p:sp>
        <p:nvSpPr>
          <p:cNvPr id="33" name="Shape 30"/>
          <p:cNvSpPr/>
          <p:nvPr/>
        </p:nvSpPr>
        <p:spPr>
          <a:xfrm>
            <a:off x="5124298" y="3355848"/>
            <a:ext cx="384048" cy="384048"/>
          </a:xfrm>
          <a:prstGeom prst="ellipse">
            <a:avLst/>
          </a:prstGeom>
          <a:solidFill>
            <a:srgbClr val="276749"/>
          </a:solidFill>
          <a:ln w="12700">
            <a:solidFill>
              <a:srgbClr val="276749"/>
            </a:solidFill>
            <a:prstDash val="solid"/>
          </a:ln>
        </p:spPr>
        <p:txBody>
          <a:bodyPr/>
          <a:lstStyle/>
          <a:p>
            <a:endParaRPr lang="en-US"/>
          </a:p>
        </p:txBody>
      </p:sp>
      <p:sp>
        <p:nvSpPr>
          <p:cNvPr id="34" name="Text 31"/>
          <p:cNvSpPr/>
          <p:nvPr/>
        </p:nvSpPr>
        <p:spPr>
          <a:xfrm>
            <a:off x="5124298" y="3355848"/>
            <a:ext cx="384048" cy="384048"/>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4</a:t>
            </a:r>
            <a:endParaRPr lang="en-US" sz="1200" dirty="0"/>
          </a:p>
        </p:txBody>
      </p:sp>
      <p:sp>
        <p:nvSpPr>
          <p:cNvPr id="35" name="Text 32"/>
          <p:cNvSpPr/>
          <p:nvPr/>
        </p:nvSpPr>
        <p:spPr>
          <a:xfrm>
            <a:off x="4694530" y="3785616"/>
            <a:ext cx="1243584" cy="256032"/>
          </a:xfrm>
          <a:prstGeom prst="rect">
            <a:avLst/>
          </a:prstGeom>
          <a:noFill/>
          <a:ln/>
        </p:spPr>
        <p:txBody>
          <a:bodyPr wrap="square" lIns="0" tIns="0" rIns="0" bIns="0" rtlCol="0" anchor="ctr"/>
          <a:lstStyle/>
          <a:p>
            <a:pPr marL="0" indent="0" algn="ctr">
              <a:buNone/>
            </a:pPr>
            <a:r>
              <a:rPr lang="en-US" sz="1000" b="1" dirty="0">
                <a:solidFill>
                  <a:srgbClr val="276749"/>
                </a:solidFill>
                <a:latin typeface="Trebuchet MS" pitchFamily="34" charset="0"/>
                <a:ea typeface="Trebuchet MS" pitchFamily="34" charset="-122"/>
                <a:cs typeface="Trebuchet MS" pitchFamily="34" charset="-120"/>
              </a:rPr>
              <a:t>Feature Maps</a:t>
            </a:r>
            <a:endParaRPr lang="en-US" sz="1000" dirty="0"/>
          </a:p>
        </p:txBody>
      </p:sp>
      <p:sp>
        <p:nvSpPr>
          <p:cNvPr id="36" name="Text 33"/>
          <p:cNvSpPr/>
          <p:nvPr/>
        </p:nvSpPr>
        <p:spPr>
          <a:xfrm>
            <a:off x="4694530" y="4069080"/>
            <a:ext cx="1243584" cy="896112"/>
          </a:xfrm>
          <a:prstGeom prst="rect">
            <a:avLst/>
          </a:prstGeom>
          <a:noFill/>
          <a:ln/>
        </p:spPr>
        <p:txBody>
          <a:bodyPr wrap="square" lIns="0" tIns="0" rIns="0" bIns="0" rtlCol="0" anchor="ctr"/>
          <a:lstStyle/>
          <a:p>
            <a:pPr marL="0" indent="0" algn="ctr">
              <a:buNone/>
            </a:pPr>
            <a:r>
              <a:rPr lang="en-US" sz="900" dirty="0">
                <a:solidFill>
                  <a:srgbClr val="2D3748"/>
                </a:solidFill>
                <a:latin typeface="Calibri" pitchFamily="34" charset="0"/>
                <a:ea typeface="Calibri" pitchFamily="34" charset="-122"/>
                <a:cs typeface="Calibri" pitchFamily="34" charset="-120"/>
              </a:rPr>
              <a:t>Multiple Conv+Pool rounds</a:t>
            </a:r>
            <a:endParaRPr lang="en-US" sz="900" dirty="0"/>
          </a:p>
          <a:p>
            <a:pPr marL="0" indent="0" algn="ctr">
              <a:buNone/>
            </a:pPr>
            <a:r>
              <a:rPr lang="en-US" sz="900" dirty="0">
                <a:solidFill>
                  <a:srgbClr val="2D3748"/>
                </a:solidFill>
                <a:latin typeface="Calibri" pitchFamily="34" charset="0"/>
                <a:ea typeface="Calibri" pitchFamily="34" charset="-122"/>
                <a:cs typeface="Calibri" pitchFamily="34" charset="-120"/>
              </a:rPr>
              <a:t>Each learns more</a:t>
            </a:r>
            <a:endParaRPr lang="en-US" sz="900" dirty="0"/>
          </a:p>
          <a:p>
            <a:pPr marL="0" indent="0" algn="ctr">
              <a:buNone/>
            </a:pPr>
            <a:r>
              <a:rPr lang="en-US" sz="900" dirty="0">
                <a:solidFill>
                  <a:srgbClr val="2D3748"/>
                </a:solidFill>
                <a:latin typeface="Calibri" pitchFamily="34" charset="0"/>
                <a:ea typeface="Calibri" pitchFamily="34" charset="-122"/>
                <a:cs typeface="Calibri" pitchFamily="34" charset="-120"/>
              </a:rPr>
              <a:t>complex features</a:t>
            </a:r>
            <a:endParaRPr lang="en-US" sz="900" dirty="0"/>
          </a:p>
        </p:txBody>
      </p:sp>
      <p:sp>
        <p:nvSpPr>
          <p:cNvPr id="37" name="Shape 34"/>
          <p:cNvSpPr/>
          <p:nvPr/>
        </p:nvSpPr>
        <p:spPr>
          <a:xfrm>
            <a:off x="6055157" y="3264408"/>
            <a:ext cx="1371600" cy="1755648"/>
          </a:xfrm>
          <a:prstGeom prst="rect">
            <a:avLst/>
          </a:prstGeom>
          <a:solidFill>
            <a:srgbClr val="FFFBEB"/>
          </a:solidFill>
          <a:ln w="15240">
            <a:solidFill>
              <a:srgbClr val="B7791F"/>
            </a:solidFill>
            <a:prstDash val="solid"/>
          </a:ln>
          <a:effectLst>
            <a:outerShdw blurRad="50800" dist="25400" dir="8100000" algn="bl" rotWithShape="0">
              <a:srgbClr val="000000">
                <a:alpha val="9000"/>
              </a:srgbClr>
            </a:outerShdw>
          </a:effectLst>
        </p:spPr>
        <p:txBody>
          <a:bodyPr/>
          <a:lstStyle/>
          <a:p>
            <a:endParaRPr lang="en-US"/>
          </a:p>
        </p:txBody>
      </p:sp>
      <p:sp>
        <p:nvSpPr>
          <p:cNvPr id="38" name="Shape 35"/>
          <p:cNvSpPr/>
          <p:nvPr/>
        </p:nvSpPr>
        <p:spPr>
          <a:xfrm>
            <a:off x="6055157" y="3264408"/>
            <a:ext cx="1371600" cy="64008"/>
          </a:xfrm>
          <a:prstGeom prst="rect">
            <a:avLst/>
          </a:prstGeom>
          <a:solidFill>
            <a:srgbClr val="B7791F"/>
          </a:solidFill>
          <a:ln w="12700">
            <a:solidFill>
              <a:srgbClr val="B7791F"/>
            </a:solidFill>
            <a:prstDash val="solid"/>
          </a:ln>
        </p:spPr>
        <p:txBody>
          <a:bodyPr/>
          <a:lstStyle/>
          <a:p>
            <a:endParaRPr lang="en-US"/>
          </a:p>
        </p:txBody>
      </p:sp>
      <p:sp>
        <p:nvSpPr>
          <p:cNvPr id="39" name="Shape 36"/>
          <p:cNvSpPr/>
          <p:nvPr/>
        </p:nvSpPr>
        <p:spPr>
          <a:xfrm>
            <a:off x="6558077" y="3355848"/>
            <a:ext cx="384048" cy="384048"/>
          </a:xfrm>
          <a:prstGeom prst="ellipse">
            <a:avLst/>
          </a:prstGeom>
          <a:solidFill>
            <a:srgbClr val="B7791F"/>
          </a:solidFill>
          <a:ln w="12700">
            <a:solidFill>
              <a:srgbClr val="B7791F"/>
            </a:solidFill>
            <a:prstDash val="solid"/>
          </a:ln>
        </p:spPr>
        <p:txBody>
          <a:bodyPr/>
          <a:lstStyle/>
          <a:p>
            <a:endParaRPr lang="en-US"/>
          </a:p>
        </p:txBody>
      </p:sp>
      <p:sp>
        <p:nvSpPr>
          <p:cNvPr id="40" name="Text 37"/>
          <p:cNvSpPr/>
          <p:nvPr/>
        </p:nvSpPr>
        <p:spPr>
          <a:xfrm>
            <a:off x="6558077" y="3355848"/>
            <a:ext cx="384048" cy="384048"/>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5</a:t>
            </a:r>
            <a:endParaRPr lang="en-US" sz="1200" dirty="0"/>
          </a:p>
        </p:txBody>
      </p:sp>
      <p:sp>
        <p:nvSpPr>
          <p:cNvPr id="41" name="Text 38"/>
          <p:cNvSpPr/>
          <p:nvPr/>
        </p:nvSpPr>
        <p:spPr>
          <a:xfrm>
            <a:off x="6128309" y="3785616"/>
            <a:ext cx="1243584" cy="256032"/>
          </a:xfrm>
          <a:prstGeom prst="rect">
            <a:avLst/>
          </a:prstGeom>
          <a:noFill/>
          <a:ln/>
        </p:spPr>
        <p:txBody>
          <a:bodyPr wrap="square" lIns="0" tIns="0" rIns="0" bIns="0" rtlCol="0" anchor="ctr"/>
          <a:lstStyle/>
          <a:p>
            <a:pPr marL="0" indent="0" algn="ctr">
              <a:buNone/>
            </a:pPr>
            <a:r>
              <a:rPr lang="en-US" sz="1000" b="1" dirty="0">
                <a:solidFill>
                  <a:srgbClr val="B7791F"/>
                </a:solidFill>
                <a:latin typeface="Trebuchet MS" pitchFamily="34" charset="0"/>
                <a:ea typeface="Trebuchet MS" pitchFamily="34" charset="-122"/>
                <a:cs typeface="Trebuchet MS" pitchFamily="34" charset="-120"/>
              </a:rPr>
              <a:t>Flattened</a:t>
            </a:r>
            <a:endParaRPr lang="en-US" sz="1000" dirty="0"/>
          </a:p>
        </p:txBody>
      </p:sp>
      <p:sp>
        <p:nvSpPr>
          <p:cNvPr id="42" name="Text 39"/>
          <p:cNvSpPr/>
          <p:nvPr/>
        </p:nvSpPr>
        <p:spPr>
          <a:xfrm>
            <a:off x="6128309" y="4069080"/>
            <a:ext cx="1243584" cy="896112"/>
          </a:xfrm>
          <a:prstGeom prst="rect">
            <a:avLst/>
          </a:prstGeom>
          <a:noFill/>
          <a:ln/>
        </p:spPr>
        <p:txBody>
          <a:bodyPr wrap="square" lIns="0" tIns="0" rIns="0" bIns="0" rtlCol="0" anchor="ctr"/>
          <a:lstStyle/>
          <a:p>
            <a:pPr marL="0" indent="0" algn="ctr">
              <a:buNone/>
            </a:pPr>
            <a:r>
              <a:rPr lang="en-US" sz="900" dirty="0">
                <a:solidFill>
                  <a:srgbClr val="2D3748"/>
                </a:solidFill>
                <a:latin typeface="Calibri" pitchFamily="34" charset="0"/>
                <a:ea typeface="Calibri" pitchFamily="34" charset="-122"/>
                <a:cs typeface="Calibri" pitchFamily="34" charset="-120"/>
              </a:rPr>
              <a:t>2D maps → 1D vector</a:t>
            </a:r>
            <a:endParaRPr lang="en-US" sz="900" dirty="0"/>
          </a:p>
          <a:p>
            <a:pPr marL="0" indent="0" algn="ctr">
              <a:buNone/>
            </a:pPr>
            <a:r>
              <a:rPr lang="en-US" sz="900" dirty="0">
                <a:solidFill>
                  <a:srgbClr val="2D3748"/>
                </a:solidFill>
                <a:latin typeface="Calibri" pitchFamily="34" charset="0"/>
                <a:ea typeface="Calibri" pitchFamily="34" charset="-122"/>
                <a:cs typeface="Calibri" pitchFamily="34" charset="-120"/>
              </a:rPr>
              <a:t>Bridge to FC layer</a:t>
            </a:r>
            <a:endParaRPr lang="en-US" sz="900" dirty="0"/>
          </a:p>
          <a:p>
            <a:pPr marL="0" indent="0" algn="ctr">
              <a:buNone/>
            </a:pPr>
            <a:r>
              <a:rPr lang="en-US" sz="900" dirty="0">
                <a:solidFill>
                  <a:srgbClr val="2D3748"/>
                </a:solidFill>
                <a:latin typeface="Calibri" pitchFamily="34" charset="0"/>
                <a:ea typeface="Calibri" pitchFamily="34" charset="-122"/>
                <a:cs typeface="Calibri" pitchFamily="34" charset="-120"/>
              </a:rPr>
              <a:t>for classification</a:t>
            </a:r>
            <a:endParaRPr lang="en-US" sz="900" dirty="0"/>
          </a:p>
        </p:txBody>
      </p:sp>
      <p:sp>
        <p:nvSpPr>
          <p:cNvPr id="43" name="Shape 40"/>
          <p:cNvSpPr/>
          <p:nvPr/>
        </p:nvSpPr>
        <p:spPr>
          <a:xfrm>
            <a:off x="7488936" y="3264408"/>
            <a:ext cx="1371600" cy="1755648"/>
          </a:xfrm>
          <a:prstGeom prst="rect">
            <a:avLst/>
          </a:prstGeom>
          <a:solidFill>
            <a:srgbClr val="E6F6F9"/>
          </a:solidFill>
          <a:ln w="15240">
            <a:solidFill>
              <a:srgbClr val="0987A0"/>
            </a:solidFill>
            <a:prstDash val="solid"/>
          </a:ln>
          <a:effectLst>
            <a:outerShdw blurRad="50800" dist="25400" dir="8100000" algn="bl" rotWithShape="0">
              <a:srgbClr val="000000">
                <a:alpha val="9000"/>
              </a:srgbClr>
            </a:outerShdw>
          </a:effectLst>
        </p:spPr>
        <p:txBody>
          <a:bodyPr/>
          <a:lstStyle/>
          <a:p>
            <a:endParaRPr lang="en-US"/>
          </a:p>
        </p:txBody>
      </p:sp>
      <p:sp>
        <p:nvSpPr>
          <p:cNvPr id="44" name="Shape 41"/>
          <p:cNvSpPr/>
          <p:nvPr/>
        </p:nvSpPr>
        <p:spPr>
          <a:xfrm>
            <a:off x="7488936" y="3264408"/>
            <a:ext cx="1371600" cy="64008"/>
          </a:xfrm>
          <a:prstGeom prst="rect">
            <a:avLst/>
          </a:prstGeom>
          <a:solidFill>
            <a:srgbClr val="0987A0"/>
          </a:solidFill>
          <a:ln w="12700">
            <a:solidFill>
              <a:srgbClr val="0987A0"/>
            </a:solidFill>
            <a:prstDash val="solid"/>
          </a:ln>
        </p:spPr>
        <p:txBody>
          <a:bodyPr/>
          <a:lstStyle/>
          <a:p>
            <a:endParaRPr lang="en-US"/>
          </a:p>
        </p:txBody>
      </p:sp>
      <p:sp>
        <p:nvSpPr>
          <p:cNvPr id="45" name="Shape 42"/>
          <p:cNvSpPr/>
          <p:nvPr/>
        </p:nvSpPr>
        <p:spPr>
          <a:xfrm>
            <a:off x="7991856" y="3355848"/>
            <a:ext cx="384048" cy="384048"/>
          </a:xfrm>
          <a:prstGeom prst="ellipse">
            <a:avLst/>
          </a:prstGeom>
          <a:solidFill>
            <a:srgbClr val="0987A0"/>
          </a:solidFill>
          <a:ln w="12700">
            <a:solidFill>
              <a:srgbClr val="0987A0"/>
            </a:solidFill>
            <a:prstDash val="solid"/>
          </a:ln>
        </p:spPr>
        <p:txBody>
          <a:bodyPr/>
          <a:lstStyle/>
          <a:p>
            <a:endParaRPr lang="en-US"/>
          </a:p>
        </p:txBody>
      </p:sp>
      <p:sp>
        <p:nvSpPr>
          <p:cNvPr id="46" name="Text 43"/>
          <p:cNvSpPr/>
          <p:nvPr/>
        </p:nvSpPr>
        <p:spPr>
          <a:xfrm>
            <a:off x="7991856" y="3355848"/>
            <a:ext cx="384048" cy="384048"/>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6</a:t>
            </a:r>
            <a:endParaRPr lang="en-US" sz="1200" dirty="0"/>
          </a:p>
        </p:txBody>
      </p:sp>
      <p:sp>
        <p:nvSpPr>
          <p:cNvPr id="47" name="Text 44"/>
          <p:cNvSpPr/>
          <p:nvPr/>
        </p:nvSpPr>
        <p:spPr>
          <a:xfrm>
            <a:off x="7562088" y="3785616"/>
            <a:ext cx="1243584" cy="256032"/>
          </a:xfrm>
          <a:prstGeom prst="rect">
            <a:avLst/>
          </a:prstGeom>
          <a:noFill/>
          <a:ln/>
        </p:spPr>
        <p:txBody>
          <a:bodyPr wrap="square" lIns="0" tIns="0" rIns="0" bIns="0" rtlCol="0" anchor="ctr"/>
          <a:lstStyle/>
          <a:p>
            <a:pPr marL="0" indent="0" algn="ctr">
              <a:buNone/>
            </a:pPr>
            <a:r>
              <a:rPr lang="en-US" sz="1000" b="1" dirty="0">
                <a:solidFill>
                  <a:srgbClr val="0987A0"/>
                </a:solidFill>
                <a:latin typeface="Trebuchet MS" pitchFamily="34" charset="0"/>
                <a:ea typeface="Trebuchet MS" pitchFamily="34" charset="-122"/>
                <a:cs typeface="Trebuchet MS" pitchFamily="34" charset="-120"/>
              </a:rPr>
              <a:t>FC + Output</a:t>
            </a:r>
            <a:endParaRPr lang="en-US" sz="1000" dirty="0"/>
          </a:p>
        </p:txBody>
      </p:sp>
      <p:sp>
        <p:nvSpPr>
          <p:cNvPr id="48" name="Text 45"/>
          <p:cNvSpPr/>
          <p:nvPr/>
        </p:nvSpPr>
        <p:spPr>
          <a:xfrm>
            <a:off x="7562088" y="4069080"/>
            <a:ext cx="1243584" cy="896112"/>
          </a:xfrm>
          <a:prstGeom prst="rect">
            <a:avLst/>
          </a:prstGeom>
          <a:noFill/>
          <a:ln/>
        </p:spPr>
        <p:txBody>
          <a:bodyPr wrap="square" lIns="0" tIns="0" rIns="0" bIns="0" rtlCol="0" anchor="ctr"/>
          <a:lstStyle/>
          <a:p>
            <a:pPr marL="0" indent="0" algn="ctr">
              <a:buNone/>
            </a:pPr>
            <a:r>
              <a:rPr lang="en-US" sz="900" dirty="0">
                <a:solidFill>
                  <a:srgbClr val="2D3748"/>
                </a:solidFill>
                <a:latin typeface="Calibri" pitchFamily="34" charset="0"/>
                <a:ea typeface="Calibri" pitchFamily="34" charset="-122"/>
                <a:cs typeface="Calibri" pitchFamily="34" charset="-120"/>
              </a:rPr>
              <a:t>Fully connected neurons</a:t>
            </a:r>
            <a:endParaRPr lang="en-US" sz="900" dirty="0"/>
          </a:p>
          <a:p>
            <a:pPr marL="0" indent="0" algn="ctr">
              <a:buNone/>
            </a:pPr>
            <a:r>
              <a:rPr lang="en-US" sz="900" dirty="0">
                <a:solidFill>
                  <a:srgbClr val="2D3748"/>
                </a:solidFill>
                <a:latin typeface="Calibri" pitchFamily="34" charset="0"/>
                <a:ea typeface="Calibri" pitchFamily="34" charset="-122"/>
                <a:cs typeface="Calibri" pitchFamily="34" charset="-120"/>
              </a:rPr>
              <a:t>Final class scores</a:t>
            </a:r>
            <a:endParaRPr lang="en-US" sz="900" dirty="0"/>
          </a:p>
          <a:p>
            <a:pPr marL="0" indent="0" algn="ctr">
              <a:buNone/>
            </a:pPr>
            <a:r>
              <a:rPr lang="en-US" sz="900" dirty="0">
                <a:solidFill>
                  <a:srgbClr val="2D3748"/>
                </a:solidFill>
                <a:latin typeface="Calibri" pitchFamily="34" charset="0"/>
                <a:ea typeface="Calibri" pitchFamily="34" charset="-122"/>
                <a:cs typeface="Calibri" pitchFamily="34" charset="-120"/>
              </a:rPr>
              <a:t>0.3, 0.1, 0.2 … 0.9</a:t>
            </a:r>
            <a:endParaRPr lang="en-US" sz="900" dirty="0"/>
          </a:p>
        </p:txBody>
      </p:sp>
    </p:spTree>
    <p:extLst>
      <p:ext uri="{BB962C8B-B14F-4D97-AF65-F5344CB8AC3E}">
        <p14:creationId xmlns:p14="http://schemas.microsoft.com/office/powerpoint/2010/main" val="138040363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8288" y="0"/>
            <a:ext cx="9144000" cy="960120"/>
          </a:xfrm>
          <a:prstGeom prst="rect">
            <a:avLst/>
          </a:prstGeom>
          <a:solidFill>
            <a:srgbClr val="FFFFFF"/>
          </a:solidFill>
          <a:ln w="12700">
            <a:solidFill>
              <a:srgbClr val="CBD5E0"/>
            </a:solidFill>
            <a:prstDash val="solid"/>
          </a:ln>
        </p:spPr>
        <p:txBody>
          <a:bodyPr/>
          <a:lstStyle/>
          <a:p>
            <a:endParaRPr lang="en-US"/>
          </a:p>
        </p:txBody>
      </p:sp>
      <p:sp>
        <p:nvSpPr>
          <p:cNvPr id="3" name="Shape 1"/>
          <p:cNvSpPr/>
          <p:nvPr/>
        </p:nvSpPr>
        <p:spPr>
          <a:xfrm>
            <a:off x="0" y="0"/>
            <a:ext cx="201168" cy="960120"/>
          </a:xfrm>
          <a:prstGeom prst="rect">
            <a:avLst/>
          </a:prstGeom>
          <a:solidFill>
            <a:srgbClr val="0987A0"/>
          </a:solidFill>
          <a:ln w="12700">
            <a:solidFill>
              <a:srgbClr val="0987A0"/>
            </a:solidFill>
            <a:prstDash val="solid"/>
          </a:ln>
        </p:spPr>
        <p:txBody>
          <a:bodyPr/>
          <a:lstStyle/>
          <a:p>
            <a:endParaRPr lang="en-US"/>
          </a:p>
        </p:txBody>
      </p:sp>
      <p:sp>
        <p:nvSpPr>
          <p:cNvPr id="4" name="Text 2"/>
          <p:cNvSpPr/>
          <p:nvPr/>
        </p:nvSpPr>
        <p:spPr>
          <a:xfrm>
            <a:off x="347472" y="91440"/>
            <a:ext cx="8412480" cy="475488"/>
          </a:xfrm>
          <a:prstGeom prst="rect">
            <a:avLst/>
          </a:prstGeom>
          <a:noFill/>
          <a:ln/>
        </p:spPr>
        <p:txBody>
          <a:bodyPr wrap="square" lIns="0" tIns="0" rIns="0" bIns="0" rtlCol="0" anchor="ctr"/>
          <a:lstStyle/>
          <a:p>
            <a:pPr marL="0" indent="0">
              <a:buNone/>
            </a:pPr>
            <a:r>
              <a:rPr lang="en-US" sz="2200" b="1" dirty="0">
                <a:solidFill>
                  <a:srgbClr val="1E3A5F"/>
                </a:solidFill>
                <a:latin typeface="Trebuchet MS" pitchFamily="34" charset="0"/>
                <a:ea typeface="Trebuchet MS" pitchFamily="34" charset="-122"/>
                <a:cs typeface="Trebuchet MS" pitchFamily="34" charset="-120"/>
              </a:rPr>
              <a:t>CNN — Applications </a:t>
            </a:r>
            <a:endParaRPr lang="en-US" sz="2200" dirty="0"/>
          </a:p>
        </p:txBody>
      </p:sp>
      <p:sp>
        <p:nvSpPr>
          <p:cNvPr id="5" name="Text 3"/>
          <p:cNvSpPr/>
          <p:nvPr/>
        </p:nvSpPr>
        <p:spPr>
          <a:xfrm>
            <a:off x="347472" y="585216"/>
            <a:ext cx="8412480" cy="292608"/>
          </a:xfrm>
          <a:prstGeom prst="rect">
            <a:avLst/>
          </a:prstGeom>
          <a:noFill/>
          <a:ln/>
        </p:spPr>
        <p:txBody>
          <a:bodyPr wrap="square" lIns="0" tIns="0" rIns="0" bIns="0" rtlCol="0" anchor="ctr"/>
          <a:lstStyle/>
          <a:p>
            <a:pPr marL="0" indent="0">
              <a:buNone/>
            </a:pPr>
            <a:r>
              <a:rPr lang="en-US" sz="1100" i="1" dirty="0">
                <a:solidFill>
                  <a:srgbClr val="718096"/>
                </a:solidFill>
                <a:latin typeface="Calibri" pitchFamily="34" charset="0"/>
                <a:ea typeface="Calibri" pitchFamily="34" charset="-122"/>
                <a:cs typeface="Calibri" pitchFamily="34" charset="-120"/>
              </a:rPr>
              <a:t>Where Convolutional Networks Are Used Today</a:t>
            </a:r>
            <a:endParaRPr lang="en-US" sz="1100" dirty="0"/>
          </a:p>
        </p:txBody>
      </p:sp>
      <p:sp>
        <p:nvSpPr>
          <p:cNvPr id="6" name="Shape 4"/>
          <p:cNvSpPr/>
          <p:nvPr/>
        </p:nvSpPr>
        <p:spPr>
          <a:xfrm>
            <a:off x="347472" y="932688"/>
            <a:ext cx="8503920" cy="27432"/>
          </a:xfrm>
          <a:prstGeom prst="rect">
            <a:avLst/>
          </a:prstGeom>
          <a:solidFill>
            <a:srgbClr val="0987A0">
              <a:alpha val="30000"/>
            </a:srgbClr>
          </a:solidFill>
          <a:ln/>
        </p:spPr>
        <p:txBody>
          <a:bodyPr/>
          <a:lstStyle/>
          <a:p>
            <a:endParaRPr lang="en-US"/>
          </a:p>
        </p:txBody>
      </p:sp>
      <p:sp>
        <p:nvSpPr>
          <p:cNvPr id="7" name="Shape 5"/>
          <p:cNvSpPr/>
          <p:nvPr/>
        </p:nvSpPr>
        <p:spPr>
          <a:xfrm>
            <a:off x="320040" y="1051560"/>
            <a:ext cx="2743200" cy="1188720"/>
          </a:xfrm>
          <a:prstGeom prst="rect">
            <a:avLst/>
          </a:prstGeom>
          <a:solidFill>
            <a:srgbClr val="E6F6F9"/>
          </a:solidFill>
          <a:ln w="15240">
            <a:solidFill>
              <a:srgbClr val="0987A0"/>
            </a:solidFill>
            <a:prstDash val="solid"/>
          </a:ln>
          <a:effectLst>
            <a:outerShdw blurRad="63500" dist="25400" dir="8100000" algn="bl" rotWithShape="0">
              <a:srgbClr val="000000">
                <a:alpha val="8000"/>
              </a:srgbClr>
            </a:outerShdw>
          </a:effectLst>
        </p:spPr>
        <p:txBody>
          <a:bodyPr/>
          <a:lstStyle/>
          <a:p>
            <a:endParaRPr lang="en-US"/>
          </a:p>
        </p:txBody>
      </p:sp>
      <p:sp>
        <p:nvSpPr>
          <p:cNvPr id="8" name="Shape 6"/>
          <p:cNvSpPr/>
          <p:nvPr/>
        </p:nvSpPr>
        <p:spPr>
          <a:xfrm>
            <a:off x="320040" y="1051560"/>
            <a:ext cx="2743200" cy="64008"/>
          </a:xfrm>
          <a:prstGeom prst="rect">
            <a:avLst/>
          </a:prstGeom>
          <a:solidFill>
            <a:srgbClr val="0987A0"/>
          </a:solidFill>
          <a:ln w="12700">
            <a:solidFill>
              <a:srgbClr val="0987A0"/>
            </a:solidFill>
            <a:prstDash val="solid"/>
          </a:ln>
        </p:spPr>
        <p:txBody>
          <a:bodyPr/>
          <a:lstStyle/>
          <a:p>
            <a:endParaRPr lang="en-US"/>
          </a:p>
        </p:txBody>
      </p:sp>
      <p:sp>
        <p:nvSpPr>
          <p:cNvPr id="9" name="Text 7"/>
          <p:cNvSpPr/>
          <p:nvPr/>
        </p:nvSpPr>
        <p:spPr>
          <a:xfrm>
            <a:off x="448056" y="1161288"/>
            <a:ext cx="2487168" cy="274320"/>
          </a:xfrm>
          <a:prstGeom prst="rect">
            <a:avLst/>
          </a:prstGeom>
          <a:noFill/>
          <a:ln/>
        </p:spPr>
        <p:txBody>
          <a:bodyPr wrap="square" lIns="0" tIns="0" rIns="0" bIns="0" rtlCol="0" anchor="ctr"/>
          <a:lstStyle/>
          <a:p>
            <a:pPr marL="0" indent="0">
              <a:buNone/>
            </a:pPr>
            <a:r>
              <a:rPr lang="en-US" sz="1050" b="1" dirty="0">
                <a:solidFill>
                  <a:srgbClr val="0987A0"/>
                </a:solidFill>
                <a:latin typeface="Trebuchet MS" pitchFamily="34" charset="0"/>
                <a:ea typeface="Trebuchet MS" pitchFamily="34" charset="-122"/>
                <a:cs typeface="Trebuchet MS" pitchFamily="34" charset="-120"/>
              </a:rPr>
              <a:t>Image Classification</a:t>
            </a:r>
            <a:endParaRPr lang="en-US" sz="1050" dirty="0"/>
          </a:p>
        </p:txBody>
      </p:sp>
      <p:sp>
        <p:nvSpPr>
          <p:cNvPr id="10" name="Text 8"/>
          <p:cNvSpPr/>
          <p:nvPr/>
        </p:nvSpPr>
        <p:spPr>
          <a:xfrm>
            <a:off x="448056" y="1472184"/>
            <a:ext cx="2487168" cy="71323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Identifying what is in an image — Google Photos, ImageNet benchmark.</a:t>
            </a:r>
            <a:endParaRPr lang="en-US" sz="1000" dirty="0"/>
          </a:p>
        </p:txBody>
      </p:sp>
      <p:sp>
        <p:nvSpPr>
          <p:cNvPr id="11" name="Shape 9"/>
          <p:cNvSpPr/>
          <p:nvPr/>
        </p:nvSpPr>
        <p:spPr>
          <a:xfrm>
            <a:off x="3246120" y="1051560"/>
            <a:ext cx="2743200" cy="1188720"/>
          </a:xfrm>
          <a:prstGeom prst="rect">
            <a:avLst/>
          </a:prstGeom>
          <a:solidFill>
            <a:srgbClr val="EDF2F7"/>
          </a:solidFill>
          <a:ln w="15240">
            <a:solidFill>
              <a:srgbClr val="1E3A5F"/>
            </a:solidFill>
            <a:prstDash val="solid"/>
          </a:ln>
          <a:effectLst>
            <a:outerShdw blurRad="63500" dist="25400" dir="8100000" algn="bl" rotWithShape="0">
              <a:srgbClr val="000000">
                <a:alpha val="8000"/>
              </a:srgbClr>
            </a:outerShdw>
          </a:effectLst>
        </p:spPr>
        <p:txBody>
          <a:bodyPr/>
          <a:lstStyle/>
          <a:p>
            <a:endParaRPr lang="en-US"/>
          </a:p>
        </p:txBody>
      </p:sp>
      <p:sp>
        <p:nvSpPr>
          <p:cNvPr id="12" name="Shape 10"/>
          <p:cNvSpPr/>
          <p:nvPr/>
        </p:nvSpPr>
        <p:spPr>
          <a:xfrm>
            <a:off x="3246120" y="1051560"/>
            <a:ext cx="2743200" cy="64008"/>
          </a:xfrm>
          <a:prstGeom prst="rect">
            <a:avLst/>
          </a:prstGeom>
          <a:solidFill>
            <a:srgbClr val="1E3A5F"/>
          </a:solidFill>
          <a:ln w="12700">
            <a:solidFill>
              <a:srgbClr val="1E3A5F"/>
            </a:solidFill>
            <a:prstDash val="solid"/>
          </a:ln>
        </p:spPr>
        <p:txBody>
          <a:bodyPr/>
          <a:lstStyle/>
          <a:p>
            <a:endParaRPr lang="en-US"/>
          </a:p>
        </p:txBody>
      </p:sp>
      <p:sp>
        <p:nvSpPr>
          <p:cNvPr id="13" name="Text 11"/>
          <p:cNvSpPr/>
          <p:nvPr/>
        </p:nvSpPr>
        <p:spPr>
          <a:xfrm>
            <a:off x="3374136" y="1161288"/>
            <a:ext cx="2487168" cy="274320"/>
          </a:xfrm>
          <a:prstGeom prst="rect">
            <a:avLst/>
          </a:prstGeom>
          <a:noFill/>
          <a:ln/>
        </p:spPr>
        <p:txBody>
          <a:bodyPr wrap="square" lIns="0" tIns="0" rIns="0" bIns="0" rtlCol="0" anchor="ctr"/>
          <a:lstStyle/>
          <a:p>
            <a:pPr marL="0" indent="0">
              <a:buNone/>
            </a:pPr>
            <a:r>
              <a:rPr lang="en-US" sz="1050" b="1" dirty="0">
                <a:solidFill>
                  <a:srgbClr val="1E3A5F"/>
                </a:solidFill>
                <a:latin typeface="Trebuchet MS" pitchFamily="34" charset="0"/>
                <a:ea typeface="Trebuchet MS" pitchFamily="34" charset="-122"/>
                <a:cs typeface="Trebuchet MS" pitchFamily="34" charset="-120"/>
              </a:rPr>
              <a:t>Object Detection</a:t>
            </a:r>
            <a:endParaRPr lang="en-US" sz="1050" dirty="0"/>
          </a:p>
        </p:txBody>
      </p:sp>
      <p:sp>
        <p:nvSpPr>
          <p:cNvPr id="14" name="Text 12"/>
          <p:cNvSpPr/>
          <p:nvPr/>
        </p:nvSpPr>
        <p:spPr>
          <a:xfrm>
            <a:off x="3374136" y="1472184"/>
            <a:ext cx="2487168" cy="71323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Locating objects in real time — YOLO algorithm, self-driving cars.</a:t>
            </a:r>
            <a:endParaRPr lang="en-US" sz="1000" dirty="0"/>
          </a:p>
        </p:txBody>
      </p:sp>
      <p:sp>
        <p:nvSpPr>
          <p:cNvPr id="15" name="Shape 13"/>
          <p:cNvSpPr/>
          <p:nvPr/>
        </p:nvSpPr>
        <p:spPr>
          <a:xfrm>
            <a:off x="6172200" y="1051560"/>
            <a:ext cx="2743200" cy="1188720"/>
          </a:xfrm>
          <a:prstGeom prst="rect">
            <a:avLst/>
          </a:prstGeom>
          <a:solidFill>
            <a:srgbClr val="E6F2FF"/>
          </a:solidFill>
          <a:ln w="15240">
            <a:solidFill>
              <a:srgbClr val="0071BC"/>
            </a:solidFill>
            <a:prstDash val="solid"/>
          </a:ln>
          <a:effectLst>
            <a:outerShdw blurRad="63500" dist="25400" dir="8100000" algn="bl" rotWithShape="0">
              <a:srgbClr val="000000">
                <a:alpha val="8000"/>
              </a:srgbClr>
            </a:outerShdw>
          </a:effectLst>
        </p:spPr>
        <p:txBody>
          <a:bodyPr/>
          <a:lstStyle/>
          <a:p>
            <a:endParaRPr lang="en-US"/>
          </a:p>
        </p:txBody>
      </p:sp>
      <p:sp>
        <p:nvSpPr>
          <p:cNvPr id="16" name="Shape 14"/>
          <p:cNvSpPr/>
          <p:nvPr/>
        </p:nvSpPr>
        <p:spPr>
          <a:xfrm>
            <a:off x="6172200" y="1051560"/>
            <a:ext cx="2743200" cy="64008"/>
          </a:xfrm>
          <a:prstGeom prst="rect">
            <a:avLst/>
          </a:prstGeom>
          <a:solidFill>
            <a:srgbClr val="0071BC"/>
          </a:solidFill>
          <a:ln w="12700">
            <a:solidFill>
              <a:srgbClr val="0071BC"/>
            </a:solidFill>
            <a:prstDash val="solid"/>
          </a:ln>
        </p:spPr>
        <p:txBody>
          <a:bodyPr/>
          <a:lstStyle/>
          <a:p>
            <a:endParaRPr lang="en-US"/>
          </a:p>
        </p:txBody>
      </p:sp>
      <p:sp>
        <p:nvSpPr>
          <p:cNvPr id="17" name="Text 15"/>
          <p:cNvSpPr/>
          <p:nvPr/>
        </p:nvSpPr>
        <p:spPr>
          <a:xfrm>
            <a:off x="6300216" y="1161288"/>
            <a:ext cx="2487168" cy="274320"/>
          </a:xfrm>
          <a:prstGeom prst="rect">
            <a:avLst/>
          </a:prstGeom>
          <a:noFill/>
          <a:ln/>
        </p:spPr>
        <p:txBody>
          <a:bodyPr wrap="square" lIns="0" tIns="0" rIns="0" bIns="0" rtlCol="0" anchor="ctr"/>
          <a:lstStyle/>
          <a:p>
            <a:pPr marL="0" indent="0">
              <a:buNone/>
            </a:pPr>
            <a:r>
              <a:rPr lang="en-US" sz="1050" b="1" dirty="0">
                <a:solidFill>
                  <a:srgbClr val="0071BC"/>
                </a:solidFill>
                <a:latin typeface="Trebuchet MS" pitchFamily="34" charset="0"/>
                <a:ea typeface="Trebuchet MS" pitchFamily="34" charset="-122"/>
                <a:cs typeface="Trebuchet MS" pitchFamily="34" charset="-120"/>
              </a:rPr>
              <a:t>Face Recognition</a:t>
            </a:r>
            <a:endParaRPr lang="en-US" sz="1050" dirty="0"/>
          </a:p>
        </p:txBody>
      </p:sp>
      <p:sp>
        <p:nvSpPr>
          <p:cNvPr id="18" name="Text 16"/>
          <p:cNvSpPr/>
          <p:nvPr/>
        </p:nvSpPr>
        <p:spPr>
          <a:xfrm>
            <a:off x="6300216" y="1472184"/>
            <a:ext cx="2487168" cy="71323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iPhone Face ID, Facebook auto-tagging, security systems.</a:t>
            </a:r>
            <a:endParaRPr lang="en-US" sz="1000" dirty="0"/>
          </a:p>
        </p:txBody>
      </p:sp>
      <p:sp>
        <p:nvSpPr>
          <p:cNvPr id="19" name="Shape 17"/>
          <p:cNvSpPr/>
          <p:nvPr/>
        </p:nvSpPr>
        <p:spPr>
          <a:xfrm>
            <a:off x="320040" y="2331720"/>
            <a:ext cx="2743200" cy="1188720"/>
          </a:xfrm>
          <a:prstGeom prst="rect">
            <a:avLst/>
          </a:prstGeom>
          <a:solidFill>
            <a:srgbClr val="E6F4EC"/>
          </a:solidFill>
          <a:ln w="15240">
            <a:solidFill>
              <a:srgbClr val="276749"/>
            </a:solidFill>
            <a:prstDash val="solid"/>
          </a:ln>
          <a:effectLst>
            <a:outerShdw blurRad="63500" dist="25400" dir="8100000" algn="bl" rotWithShape="0">
              <a:srgbClr val="000000">
                <a:alpha val="8000"/>
              </a:srgbClr>
            </a:outerShdw>
          </a:effectLst>
        </p:spPr>
        <p:txBody>
          <a:bodyPr/>
          <a:lstStyle/>
          <a:p>
            <a:endParaRPr lang="en-US"/>
          </a:p>
        </p:txBody>
      </p:sp>
      <p:sp>
        <p:nvSpPr>
          <p:cNvPr id="20" name="Shape 18"/>
          <p:cNvSpPr/>
          <p:nvPr/>
        </p:nvSpPr>
        <p:spPr>
          <a:xfrm>
            <a:off x="320040" y="2331720"/>
            <a:ext cx="2743200" cy="64008"/>
          </a:xfrm>
          <a:prstGeom prst="rect">
            <a:avLst/>
          </a:prstGeom>
          <a:solidFill>
            <a:srgbClr val="276749"/>
          </a:solidFill>
          <a:ln w="12700">
            <a:solidFill>
              <a:srgbClr val="276749"/>
            </a:solidFill>
            <a:prstDash val="solid"/>
          </a:ln>
        </p:spPr>
        <p:txBody>
          <a:bodyPr/>
          <a:lstStyle/>
          <a:p>
            <a:endParaRPr lang="en-US"/>
          </a:p>
        </p:txBody>
      </p:sp>
      <p:sp>
        <p:nvSpPr>
          <p:cNvPr id="21" name="Text 19"/>
          <p:cNvSpPr/>
          <p:nvPr/>
        </p:nvSpPr>
        <p:spPr>
          <a:xfrm>
            <a:off x="448056" y="2441448"/>
            <a:ext cx="2487168" cy="274320"/>
          </a:xfrm>
          <a:prstGeom prst="rect">
            <a:avLst/>
          </a:prstGeom>
          <a:noFill/>
          <a:ln/>
        </p:spPr>
        <p:txBody>
          <a:bodyPr wrap="square" lIns="0" tIns="0" rIns="0" bIns="0" rtlCol="0" anchor="ctr"/>
          <a:lstStyle/>
          <a:p>
            <a:pPr marL="0" indent="0">
              <a:buNone/>
            </a:pPr>
            <a:r>
              <a:rPr lang="en-US" sz="1050" b="1" dirty="0">
                <a:solidFill>
                  <a:srgbClr val="276749"/>
                </a:solidFill>
                <a:latin typeface="Trebuchet MS" pitchFamily="34" charset="0"/>
                <a:ea typeface="Trebuchet MS" pitchFamily="34" charset="-122"/>
                <a:cs typeface="Trebuchet MS" pitchFamily="34" charset="-120"/>
              </a:rPr>
              <a:t>Medical Imaging</a:t>
            </a:r>
            <a:endParaRPr lang="en-US" sz="1050" dirty="0"/>
          </a:p>
        </p:txBody>
      </p:sp>
      <p:sp>
        <p:nvSpPr>
          <p:cNvPr id="22" name="Text 20"/>
          <p:cNvSpPr/>
          <p:nvPr/>
        </p:nvSpPr>
        <p:spPr>
          <a:xfrm>
            <a:off x="448056" y="2752344"/>
            <a:ext cx="2487168" cy="71323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Detecting cancer in X-rays and MRI scans — matching radiologist accuracy.</a:t>
            </a:r>
            <a:endParaRPr lang="en-US" sz="1000" dirty="0"/>
          </a:p>
        </p:txBody>
      </p:sp>
      <p:sp>
        <p:nvSpPr>
          <p:cNvPr id="23" name="Shape 21"/>
          <p:cNvSpPr/>
          <p:nvPr/>
        </p:nvSpPr>
        <p:spPr>
          <a:xfrm>
            <a:off x="3246120" y="2331720"/>
            <a:ext cx="2743200" cy="1188720"/>
          </a:xfrm>
          <a:prstGeom prst="rect">
            <a:avLst/>
          </a:prstGeom>
          <a:solidFill>
            <a:srgbClr val="FFF5EB"/>
          </a:solidFill>
          <a:ln w="15240">
            <a:solidFill>
              <a:srgbClr val="C05621"/>
            </a:solidFill>
            <a:prstDash val="solid"/>
          </a:ln>
          <a:effectLst>
            <a:outerShdw blurRad="63500" dist="25400" dir="8100000" algn="bl" rotWithShape="0">
              <a:srgbClr val="000000">
                <a:alpha val="8000"/>
              </a:srgbClr>
            </a:outerShdw>
          </a:effectLst>
        </p:spPr>
        <p:txBody>
          <a:bodyPr/>
          <a:lstStyle/>
          <a:p>
            <a:endParaRPr lang="en-US"/>
          </a:p>
        </p:txBody>
      </p:sp>
      <p:sp>
        <p:nvSpPr>
          <p:cNvPr id="24" name="Shape 22"/>
          <p:cNvSpPr/>
          <p:nvPr/>
        </p:nvSpPr>
        <p:spPr>
          <a:xfrm>
            <a:off x="3246120" y="2331720"/>
            <a:ext cx="2743200" cy="64008"/>
          </a:xfrm>
          <a:prstGeom prst="rect">
            <a:avLst/>
          </a:prstGeom>
          <a:solidFill>
            <a:srgbClr val="C05621"/>
          </a:solidFill>
          <a:ln w="12700">
            <a:solidFill>
              <a:srgbClr val="C05621"/>
            </a:solidFill>
            <a:prstDash val="solid"/>
          </a:ln>
        </p:spPr>
        <p:txBody>
          <a:bodyPr/>
          <a:lstStyle/>
          <a:p>
            <a:endParaRPr lang="en-US"/>
          </a:p>
        </p:txBody>
      </p:sp>
      <p:sp>
        <p:nvSpPr>
          <p:cNvPr id="25" name="Text 23"/>
          <p:cNvSpPr/>
          <p:nvPr/>
        </p:nvSpPr>
        <p:spPr>
          <a:xfrm>
            <a:off x="3374136" y="2441448"/>
            <a:ext cx="2487168" cy="274320"/>
          </a:xfrm>
          <a:prstGeom prst="rect">
            <a:avLst/>
          </a:prstGeom>
          <a:noFill/>
          <a:ln/>
        </p:spPr>
        <p:txBody>
          <a:bodyPr wrap="square" lIns="0" tIns="0" rIns="0" bIns="0" rtlCol="0" anchor="ctr"/>
          <a:lstStyle/>
          <a:p>
            <a:pPr marL="0" indent="0">
              <a:buNone/>
            </a:pPr>
            <a:r>
              <a:rPr lang="en-US" sz="1050" b="1" dirty="0">
                <a:solidFill>
                  <a:srgbClr val="C05621"/>
                </a:solidFill>
                <a:latin typeface="Trebuchet MS" pitchFamily="34" charset="0"/>
                <a:ea typeface="Trebuchet MS" pitchFamily="34" charset="-122"/>
                <a:cs typeface="Trebuchet MS" pitchFamily="34" charset="-120"/>
              </a:rPr>
              <a:t>Autonomous Vehicles</a:t>
            </a:r>
            <a:endParaRPr lang="en-US" sz="1050" dirty="0"/>
          </a:p>
        </p:txBody>
      </p:sp>
      <p:sp>
        <p:nvSpPr>
          <p:cNvPr id="26" name="Text 24"/>
          <p:cNvSpPr/>
          <p:nvPr/>
        </p:nvSpPr>
        <p:spPr>
          <a:xfrm>
            <a:off x="3374136" y="2752344"/>
            <a:ext cx="2487168" cy="71323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Tesla Autopilot — identifying roads, pedestrians, signs in real time.</a:t>
            </a:r>
            <a:endParaRPr lang="en-US" sz="1000" dirty="0"/>
          </a:p>
        </p:txBody>
      </p:sp>
      <p:sp>
        <p:nvSpPr>
          <p:cNvPr id="27" name="Shape 25"/>
          <p:cNvSpPr/>
          <p:nvPr/>
        </p:nvSpPr>
        <p:spPr>
          <a:xfrm>
            <a:off x="6172200" y="2331720"/>
            <a:ext cx="2743200" cy="1188720"/>
          </a:xfrm>
          <a:prstGeom prst="rect">
            <a:avLst/>
          </a:prstGeom>
          <a:solidFill>
            <a:srgbClr val="FFFBEB"/>
          </a:solidFill>
          <a:ln w="15240">
            <a:solidFill>
              <a:srgbClr val="B7791F"/>
            </a:solidFill>
            <a:prstDash val="solid"/>
          </a:ln>
          <a:effectLst>
            <a:outerShdw blurRad="63500" dist="25400" dir="8100000" algn="bl" rotWithShape="0">
              <a:srgbClr val="000000">
                <a:alpha val="8000"/>
              </a:srgbClr>
            </a:outerShdw>
          </a:effectLst>
        </p:spPr>
        <p:txBody>
          <a:bodyPr/>
          <a:lstStyle/>
          <a:p>
            <a:endParaRPr lang="en-US"/>
          </a:p>
        </p:txBody>
      </p:sp>
      <p:sp>
        <p:nvSpPr>
          <p:cNvPr id="28" name="Shape 26"/>
          <p:cNvSpPr/>
          <p:nvPr/>
        </p:nvSpPr>
        <p:spPr>
          <a:xfrm>
            <a:off x="6172200" y="2331720"/>
            <a:ext cx="2743200" cy="64008"/>
          </a:xfrm>
          <a:prstGeom prst="rect">
            <a:avLst/>
          </a:prstGeom>
          <a:solidFill>
            <a:srgbClr val="B7791F"/>
          </a:solidFill>
          <a:ln w="12700">
            <a:solidFill>
              <a:srgbClr val="B7791F"/>
            </a:solidFill>
            <a:prstDash val="solid"/>
          </a:ln>
        </p:spPr>
        <p:txBody>
          <a:bodyPr/>
          <a:lstStyle/>
          <a:p>
            <a:endParaRPr lang="en-US"/>
          </a:p>
        </p:txBody>
      </p:sp>
      <p:sp>
        <p:nvSpPr>
          <p:cNvPr id="29" name="Text 27"/>
          <p:cNvSpPr/>
          <p:nvPr/>
        </p:nvSpPr>
        <p:spPr>
          <a:xfrm>
            <a:off x="6300216" y="2441448"/>
            <a:ext cx="2487168" cy="274320"/>
          </a:xfrm>
          <a:prstGeom prst="rect">
            <a:avLst/>
          </a:prstGeom>
          <a:noFill/>
          <a:ln/>
        </p:spPr>
        <p:txBody>
          <a:bodyPr wrap="square" lIns="0" tIns="0" rIns="0" bIns="0" rtlCol="0" anchor="ctr"/>
          <a:lstStyle/>
          <a:p>
            <a:pPr marL="0" indent="0">
              <a:buNone/>
            </a:pPr>
            <a:r>
              <a:rPr lang="en-US" sz="1050" b="1" dirty="0">
                <a:solidFill>
                  <a:srgbClr val="B7791F"/>
                </a:solidFill>
                <a:latin typeface="Trebuchet MS" pitchFamily="34" charset="0"/>
                <a:ea typeface="Trebuchet MS" pitchFamily="34" charset="-122"/>
                <a:cs typeface="Trebuchet MS" pitchFamily="34" charset="-120"/>
              </a:rPr>
              <a:t>Document Analysis</a:t>
            </a:r>
            <a:endParaRPr lang="en-US" sz="1050" dirty="0"/>
          </a:p>
        </p:txBody>
      </p:sp>
      <p:sp>
        <p:nvSpPr>
          <p:cNvPr id="30" name="Text 28"/>
          <p:cNvSpPr/>
          <p:nvPr/>
        </p:nvSpPr>
        <p:spPr>
          <a:xfrm>
            <a:off x="6300216" y="2752344"/>
            <a:ext cx="2487168" cy="71323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OCR — reading handwritten text, license plates, and printed forms.</a:t>
            </a:r>
            <a:endParaRPr lang="en-US" sz="1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E6F4EC"/>
          </a:solidFill>
          <a:ln w="12700">
            <a:solidFill>
              <a:srgbClr val="CBD5E0"/>
            </a:solidFill>
            <a:prstDash val="solid"/>
          </a:ln>
        </p:spPr>
        <p:txBody>
          <a:bodyPr/>
          <a:lstStyle/>
          <a:p>
            <a:endParaRPr lang="en-US"/>
          </a:p>
        </p:txBody>
      </p:sp>
      <p:sp>
        <p:nvSpPr>
          <p:cNvPr id="3" name="Shape 1"/>
          <p:cNvSpPr/>
          <p:nvPr/>
        </p:nvSpPr>
        <p:spPr>
          <a:xfrm>
            <a:off x="0" y="0"/>
            <a:ext cx="201168" cy="960120"/>
          </a:xfrm>
          <a:prstGeom prst="rect">
            <a:avLst/>
          </a:prstGeom>
          <a:solidFill>
            <a:srgbClr val="276749"/>
          </a:solidFill>
          <a:ln w="12700">
            <a:solidFill>
              <a:srgbClr val="276749"/>
            </a:solidFill>
            <a:prstDash val="solid"/>
          </a:ln>
        </p:spPr>
        <p:txBody>
          <a:bodyPr/>
          <a:lstStyle/>
          <a:p>
            <a:endParaRPr lang="en-US"/>
          </a:p>
        </p:txBody>
      </p:sp>
      <p:sp>
        <p:nvSpPr>
          <p:cNvPr id="4" name="Text 2"/>
          <p:cNvSpPr/>
          <p:nvPr/>
        </p:nvSpPr>
        <p:spPr>
          <a:xfrm>
            <a:off x="347472" y="73152"/>
            <a:ext cx="3657600" cy="274320"/>
          </a:xfrm>
          <a:prstGeom prst="rect">
            <a:avLst/>
          </a:prstGeom>
          <a:noFill/>
          <a:ln/>
        </p:spPr>
        <p:txBody>
          <a:bodyPr wrap="square" lIns="0" tIns="0" rIns="0" bIns="0" rtlCol="0" anchor="ctr"/>
          <a:lstStyle/>
          <a:p>
            <a:pPr marL="0" indent="0">
              <a:buNone/>
            </a:pPr>
            <a:r>
              <a:rPr lang="en-US" sz="1000" b="1" kern="0" spc="200" dirty="0">
                <a:solidFill>
                  <a:srgbClr val="276749"/>
                </a:solidFill>
                <a:latin typeface="Trebuchet MS" pitchFamily="34" charset="0"/>
                <a:ea typeface="Trebuchet MS" pitchFamily="34" charset="-122"/>
                <a:cs typeface="Trebuchet MS" pitchFamily="34" charset="-120"/>
              </a:rPr>
              <a:t>PART 2  —  RNN</a:t>
            </a:r>
            <a:endParaRPr lang="en-US" sz="1000" dirty="0"/>
          </a:p>
        </p:txBody>
      </p:sp>
      <p:sp>
        <p:nvSpPr>
          <p:cNvPr id="5" name="Text 3"/>
          <p:cNvSpPr/>
          <p:nvPr/>
        </p:nvSpPr>
        <p:spPr>
          <a:xfrm>
            <a:off x="347472" y="347472"/>
            <a:ext cx="8412480" cy="475488"/>
          </a:xfrm>
          <a:prstGeom prst="rect">
            <a:avLst/>
          </a:prstGeom>
          <a:noFill/>
          <a:ln/>
        </p:spPr>
        <p:txBody>
          <a:bodyPr wrap="square" lIns="0" tIns="0" rIns="0" bIns="0" rtlCol="0" anchor="ctr"/>
          <a:lstStyle/>
          <a:p>
            <a:pPr marL="0" indent="0">
              <a:buNone/>
            </a:pPr>
            <a:r>
              <a:rPr lang="en-US" sz="2200" b="1" dirty="0">
                <a:solidFill>
                  <a:srgbClr val="1E3A5F"/>
                </a:solidFill>
                <a:latin typeface="Trebuchet MS" pitchFamily="34" charset="0"/>
                <a:ea typeface="Trebuchet MS" pitchFamily="34" charset="-122"/>
                <a:cs typeface="Trebuchet MS" pitchFamily="34" charset="-120"/>
              </a:rPr>
              <a:t>Recurrent Neural Network</a:t>
            </a:r>
            <a:endParaRPr lang="en-US" sz="2200" dirty="0"/>
          </a:p>
        </p:txBody>
      </p:sp>
      <p:sp>
        <p:nvSpPr>
          <p:cNvPr id="6" name="Shape 4"/>
          <p:cNvSpPr/>
          <p:nvPr/>
        </p:nvSpPr>
        <p:spPr>
          <a:xfrm>
            <a:off x="329872" y="1378090"/>
            <a:ext cx="8503920" cy="658368"/>
          </a:xfrm>
          <a:prstGeom prst="rect">
            <a:avLst/>
          </a:prstGeom>
          <a:solidFill>
            <a:srgbClr val="E6F4EC"/>
          </a:solidFill>
          <a:ln w="12700">
            <a:solidFill>
              <a:srgbClr val="276749"/>
            </a:solidFill>
            <a:prstDash val="solid"/>
          </a:ln>
          <a:effectLst>
            <a:outerShdw blurRad="63500" dist="25400" dir="8100000" algn="bl" rotWithShape="0">
              <a:srgbClr val="000000">
                <a:alpha val="8000"/>
              </a:srgbClr>
            </a:outerShdw>
          </a:effectLst>
        </p:spPr>
        <p:txBody>
          <a:bodyPr/>
          <a:lstStyle/>
          <a:p>
            <a:endParaRPr lang="en-US"/>
          </a:p>
        </p:txBody>
      </p:sp>
      <p:sp>
        <p:nvSpPr>
          <p:cNvPr id="7" name="Text 5"/>
          <p:cNvSpPr/>
          <p:nvPr/>
        </p:nvSpPr>
        <p:spPr>
          <a:xfrm>
            <a:off x="467032" y="1423810"/>
            <a:ext cx="8229600" cy="548640"/>
          </a:xfrm>
          <a:prstGeom prst="rect">
            <a:avLst/>
          </a:prstGeom>
          <a:noFill/>
          <a:ln/>
        </p:spPr>
        <p:txBody>
          <a:bodyPr wrap="square" lIns="0" tIns="0" rIns="0" bIns="0" rtlCol="0" anchor="ctr"/>
          <a:lstStyle/>
          <a:p>
            <a:pPr marL="0" indent="0">
              <a:buNone/>
            </a:pPr>
            <a:r>
              <a:rPr lang="en-US" sz="1400" b="1" dirty="0">
                <a:solidFill>
                  <a:srgbClr val="276749"/>
                </a:solidFill>
                <a:latin typeface="Calibri" pitchFamily="34" charset="0"/>
                <a:ea typeface="Calibri" pitchFamily="34" charset="-122"/>
                <a:cs typeface="Calibri" pitchFamily="34" charset="-120"/>
              </a:rPr>
              <a:t>RNN  </a:t>
            </a:r>
            <a:r>
              <a:rPr lang="en-US" sz="1200" dirty="0">
                <a:solidFill>
                  <a:srgbClr val="2D3748"/>
                </a:solidFill>
                <a:latin typeface="Calibri" pitchFamily="34" charset="0"/>
                <a:ea typeface="Calibri" pitchFamily="34" charset="-122"/>
                <a:cs typeface="Calibri" pitchFamily="34" charset="-120"/>
              </a:rPr>
              <a:t>is designed to process sequential data — where order and context matter — by maintaining a </a:t>
            </a:r>
            <a:r>
              <a:rPr lang="en-US" sz="1200" b="1" dirty="0">
                <a:solidFill>
                  <a:srgbClr val="276749"/>
                </a:solidFill>
                <a:latin typeface="Calibri" pitchFamily="34" charset="0"/>
                <a:ea typeface="Calibri" pitchFamily="34" charset="-122"/>
                <a:cs typeface="Calibri" pitchFamily="34" charset="-120"/>
              </a:rPr>
              <a:t>hidden state</a:t>
            </a:r>
            <a:r>
              <a:rPr lang="en-US" sz="1200" dirty="0">
                <a:solidFill>
                  <a:srgbClr val="2D3748"/>
                </a:solidFill>
                <a:latin typeface="Calibri" pitchFamily="34" charset="0"/>
                <a:ea typeface="Calibri" pitchFamily="34" charset="-122"/>
                <a:cs typeface="Calibri" pitchFamily="34" charset="-120"/>
              </a:rPr>
              <a:t> that acts as memory across time steps.</a:t>
            </a:r>
            <a:endParaRPr lang="en-US" sz="1400" dirty="0"/>
          </a:p>
        </p:txBody>
      </p:sp>
      <p:sp>
        <p:nvSpPr>
          <p:cNvPr id="8" name="Shape 6"/>
          <p:cNvSpPr/>
          <p:nvPr/>
        </p:nvSpPr>
        <p:spPr>
          <a:xfrm>
            <a:off x="329872" y="2196034"/>
            <a:ext cx="4694412" cy="1913850"/>
          </a:xfrm>
          <a:prstGeom prst="rect">
            <a:avLst/>
          </a:prstGeom>
          <a:solidFill>
            <a:srgbClr val="FFFFFF"/>
          </a:solidFill>
          <a:ln w="19050">
            <a:solidFill>
              <a:srgbClr val="C53030"/>
            </a:solidFill>
            <a:prstDash val="solid"/>
          </a:ln>
          <a:effectLst>
            <a:outerShdw blurRad="63500" dist="25400" dir="8100000" algn="bl" rotWithShape="0">
              <a:srgbClr val="000000">
                <a:alpha val="8000"/>
              </a:srgbClr>
            </a:outerShdw>
          </a:effectLst>
        </p:spPr>
        <p:txBody>
          <a:bodyPr/>
          <a:lstStyle/>
          <a:p>
            <a:endParaRPr lang="en-US"/>
          </a:p>
        </p:txBody>
      </p:sp>
      <p:sp>
        <p:nvSpPr>
          <p:cNvPr id="9" name="Shape 7"/>
          <p:cNvSpPr/>
          <p:nvPr/>
        </p:nvSpPr>
        <p:spPr>
          <a:xfrm>
            <a:off x="329872" y="2196034"/>
            <a:ext cx="4694412" cy="45719"/>
          </a:xfrm>
          <a:prstGeom prst="rect">
            <a:avLst/>
          </a:prstGeom>
          <a:solidFill>
            <a:srgbClr val="C53030"/>
          </a:solidFill>
          <a:ln w="12700">
            <a:solidFill>
              <a:srgbClr val="C53030"/>
            </a:solidFill>
            <a:prstDash val="solid"/>
          </a:ln>
        </p:spPr>
        <p:txBody>
          <a:bodyPr/>
          <a:lstStyle/>
          <a:p>
            <a:endParaRPr lang="en-US"/>
          </a:p>
        </p:txBody>
      </p:sp>
      <p:sp>
        <p:nvSpPr>
          <p:cNvPr id="10" name="Text 8"/>
          <p:cNvSpPr/>
          <p:nvPr/>
        </p:nvSpPr>
        <p:spPr>
          <a:xfrm>
            <a:off x="467032" y="2296618"/>
            <a:ext cx="3886200" cy="274320"/>
          </a:xfrm>
          <a:prstGeom prst="rect">
            <a:avLst/>
          </a:prstGeom>
          <a:noFill/>
          <a:ln/>
        </p:spPr>
        <p:txBody>
          <a:bodyPr wrap="square" lIns="0" tIns="0" rIns="0" bIns="0" rtlCol="0" anchor="ctr"/>
          <a:lstStyle/>
          <a:p>
            <a:pPr marL="0" indent="0">
              <a:buNone/>
            </a:pPr>
            <a:r>
              <a:rPr lang="en-US" sz="1400" b="1" dirty="0">
                <a:solidFill>
                  <a:srgbClr val="C53030"/>
                </a:solidFill>
                <a:latin typeface="Trebuchet MS" pitchFamily="34" charset="0"/>
                <a:ea typeface="Trebuchet MS" pitchFamily="34" charset="-122"/>
                <a:cs typeface="Trebuchet MS" pitchFamily="34" charset="-120"/>
              </a:rPr>
              <a:t>The Problem CNN Cannot Solve</a:t>
            </a:r>
            <a:endParaRPr lang="en-US" sz="1400" dirty="0"/>
          </a:p>
        </p:txBody>
      </p:sp>
      <p:sp>
        <p:nvSpPr>
          <p:cNvPr id="11" name="Text 9"/>
          <p:cNvSpPr/>
          <p:nvPr/>
        </p:nvSpPr>
        <p:spPr>
          <a:xfrm>
            <a:off x="467032" y="2607513"/>
            <a:ext cx="4557252" cy="1158241"/>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'The bank of the river was steep.'</a:t>
            </a:r>
            <a:endParaRPr lang="en-US" sz="1050" dirty="0"/>
          </a:p>
          <a:p>
            <a:pPr marL="0" indent="0">
              <a:buNone/>
            </a:pPr>
            <a:endParaRPr lang="en-US" sz="1050" dirty="0"/>
          </a:p>
          <a:p>
            <a:pPr marL="0" indent="0">
              <a:buNone/>
            </a:pPr>
            <a:r>
              <a:rPr lang="en-US" sz="1050" dirty="0">
                <a:solidFill>
                  <a:srgbClr val="2D3748"/>
                </a:solidFill>
                <a:latin typeface="Calibri" pitchFamily="34" charset="0"/>
                <a:ea typeface="Calibri" pitchFamily="34" charset="-122"/>
                <a:cs typeface="Calibri" pitchFamily="34" charset="-120"/>
              </a:rPr>
              <a:t>What does 'bank' mean? You need CONTEXT from previous words.</a:t>
            </a:r>
            <a:endParaRPr lang="en-US" sz="1050" dirty="0"/>
          </a:p>
          <a:p>
            <a:pPr marL="0" indent="0">
              <a:buNone/>
            </a:pPr>
            <a:endParaRPr lang="en-US" sz="1050" dirty="0"/>
          </a:p>
          <a:p>
            <a:pPr marL="0" indent="0">
              <a:buNone/>
            </a:pPr>
            <a:r>
              <a:rPr lang="en-US" sz="1050" dirty="0">
                <a:solidFill>
                  <a:srgbClr val="2D3748"/>
                </a:solidFill>
                <a:latin typeface="Calibri" pitchFamily="34" charset="0"/>
                <a:ea typeface="Calibri" pitchFamily="34" charset="-122"/>
                <a:cs typeface="Calibri" pitchFamily="34" charset="-120"/>
              </a:rPr>
              <a:t>CNN processes each input independently — no memory. RNN solves this by remembering previous context through its hidden state.</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59536"/>
          </a:xfrm>
          <a:prstGeom prst="rect">
            <a:avLst/>
          </a:prstGeom>
          <a:solidFill>
            <a:srgbClr val="FFFFFF"/>
          </a:solidFill>
          <a:ln w="12700">
            <a:solidFill>
              <a:srgbClr val="CBD5E0"/>
            </a:solidFill>
            <a:prstDash val="solid"/>
          </a:ln>
        </p:spPr>
        <p:txBody>
          <a:bodyPr/>
          <a:lstStyle/>
          <a:p>
            <a:endParaRPr lang="en-US"/>
          </a:p>
        </p:txBody>
      </p:sp>
      <p:sp>
        <p:nvSpPr>
          <p:cNvPr id="3" name="Shape 1"/>
          <p:cNvSpPr/>
          <p:nvPr/>
        </p:nvSpPr>
        <p:spPr>
          <a:xfrm>
            <a:off x="0" y="0"/>
            <a:ext cx="201168" cy="859536"/>
          </a:xfrm>
          <a:prstGeom prst="rect">
            <a:avLst/>
          </a:prstGeom>
          <a:solidFill>
            <a:srgbClr val="276749"/>
          </a:solidFill>
          <a:ln w="12700">
            <a:solidFill>
              <a:srgbClr val="276749"/>
            </a:solidFill>
            <a:prstDash val="solid"/>
          </a:ln>
        </p:spPr>
        <p:txBody>
          <a:bodyPr/>
          <a:lstStyle/>
          <a:p>
            <a:endParaRPr lang="en-US"/>
          </a:p>
        </p:txBody>
      </p:sp>
      <p:sp>
        <p:nvSpPr>
          <p:cNvPr id="4" name="Text 2"/>
          <p:cNvSpPr/>
          <p:nvPr/>
        </p:nvSpPr>
        <p:spPr>
          <a:xfrm>
            <a:off x="347472" y="91440"/>
            <a:ext cx="8412480" cy="475488"/>
          </a:xfrm>
          <a:prstGeom prst="rect">
            <a:avLst/>
          </a:prstGeom>
          <a:noFill/>
          <a:ln/>
        </p:spPr>
        <p:txBody>
          <a:bodyPr wrap="square" lIns="0" tIns="0" rIns="0" bIns="0" rtlCol="0" anchor="ctr"/>
          <a:lstStyle/>
          <a:p>
            <a:pPr marL="0" indent="0">
              <a:buNone/>
            </a:pPr>
            <a:r>
              <a:rPr lang="en-US" sz="2200" b="1" dirty="0">
                <a:solidFill>
                  <a:srgbClr val="1E3A5F"/>
                </a:solidFill>
                <a:latin typeface="Trebuchet MS" pitchFamily="34" charset="0"/>
                <a:ea typeface="Trebuchet MS" pitchFamily="34" charset="-122"/>
                <a:cs typeface="Trebuchet MS" pitchFamily="34" charset="-120"/>
              </a:rPr>
              <a:t>RNN Architecture — Unfolding Through Time</a:t>
            </a:r>
            <a:endParaRPr lang="en-US" sz="2200" dirty="0"/>
          </a:p>
        </p:txBody>
      </p:sp>
      <p:sp>
        <p:nvSpPr>
          <p:cNvPr id="5" name="Text 3"/>
          <p:cNvSpPr/>
          <p:nvPr/>
        </p:nvSpPr>
        <p:spPr>
          <a:xfrm>
            <a:off x="347472" y="585216"/>
            <a:ext cx="8412480" cy="292608"/>
          </a:xfrm>
          <a:prstGeom prst="rect">
            <a:avLst/>
          </a:prstGeom>
          <a:noFill/>
          <a:ln/>
        </p:spPr>
        <p:txBody>
          <a:bodyPr wrap="square" lIns="0" tIns="0" rIns="0" bIns="0" rtlCol="0" anchor="ctr"/>
          <a:lstStyle/>
          <a:p>
            <a:pPr marL="0" indent="0">
              <a:buNone/>
            </a:pPr>
            <a:r>
              <a:rPr lang="en-US" sz="1100" i="1" dirty="0">
                <a:solidFill>
                  <a:srgbClr val="718096"/>
                </a:solidFill>
                <a:latin typeface="Calibri" pitchFamily="34" charset="0"/>
                <a:ea typeface="Calibri" pitchFamily="34" charset="-122"/>
                <a:cs typeface="Calibri" pitchFamily="34" charset="-120"/>
              </a:rPr>
              <a:t>The Recurrent Connection and Hidden State Memory</a:t>
            </a:r>
            <a:endParaRPr lang="en-US" sz="1100" dirty="0"/>
          </a:p>
        </p:txBody>
      </p:sp>
      <p:sp>
        <p:nvSpPr>
          <p:cNvPr id="6" name="Shape 4"/>
          <p:cNvSpPr/>
          <p:nvPr/>
        </p:nvSpPr>
        <p:spPr>
          <a:xfrm>
            <a:off x="347472" y="842624"/>
            <a:ext cx="8503920" cy="27432"/>
          </a:xfrm>
          <a:prstGeom prst="rect">
            <a:avLst/>
          </a:prstGeom>
          <a:solidFill>
            <a:srgbClr val="276749">
              <a:alpha val="30000"/>
            </a:srgbClr>
          </a:solidFill>
          <a:ln/>
        </p:spPr>
        <p:txBody>
          <a:bodyPr/>
          <a:lstStyle/>
          <a:p>
            <a:endParaRPr lang="en-US"/>
          </a:p>
        </p:txBody>
      </p:sp>
      <p:sp>
        <p:nvSpPr>
          <p:cNvPr id="8" name="Shape 6"/>
          <p:cNvSpPr/>
          <p:nvPr/>
        </p:nvSpPr>
        <p:spPr>
          <a:xfrm>
            <a:off x="685800" y="1691640"/>
            <a:ext cx="1371600" cy="914400"/>
          </a:xfrm>
          <a:prstGeom prst="rect">
            <a:avLst/>
          </a:prstGeom>
          <a:solidFill>
            <a:srgbClr val="E6F4EC"/>
          </a:solidFill>
          <a:ln w="19050">
            <a:solidFill>
              <a:srgbClr val="276749"/>
            </a:solidFill>
            <a:prstDash val="solid"/>
          </a:ln>
          <a:effectLst>
            <a:outerShdw blurRad="63500" dist="25400" dir="8100000" algn="bl" rotWithShape="0">
              <a:srgbClr val="000000">
                <a:alpha val="8000"/>
              </a:srgbClr>
            </a:outerShdw>
          </a:effectLst>
        </p:spPr>
        <p:txBody>
          <a:bodyPr/>
          <a:lstStyle/>
          <a:p>
            <a:endParaRPr lang="en-US"/>
          </a:p>
        </p:txBody>
      </p:sp>
      <p:sp>
        <p:nvSpPr>
          <p:cNvPr id="9" name="Text 7"/>
          <p:cNvSpPr/>
          <p:nvPr/>
        </p:nvSpPr>
        <p:spPr>
          <a:xfrm>
            <a:off x="685800" y="1691640"/>
            <a:ext cx="1371600" cy="914400"/>
          </a:xfrm>
          <a:prstGeom prst="rect">
            <a:avLst/>
          </a:prstGeom>
          <a:noFill/>
          <a:ln/>
        </p:spPr>
        <p:txBody>
          <a:bodyPr wrap="square" rtlCol="0" anchor="ctr"/>
          <a:lstStyle/>
          <a:p>
            <a:pPr marL="0" indent="0" algn="ctr">
              <a:buNone/>
            </a:pPr>
            <a:r>
              <a:rPr lang="en-US" sz="1400" b="1" dirty="0">
                <a:solidFill>
                  <a:srgbClr val="276749"/>
                </a:solidFill>
                <a:latin typeface="Trebuchet MS" pitchFamily="34" charset="0"/>
                <a:ea typeface="Trebuchet MS" pitchFamily="34" charset="-122"/>
                <a:cs typeface="Trebuchet MS" pitchFamily="34" charset="-120"/>
              </a:rPr>
              <a:t>RNN</a:t>
            </a:r>
            <a:endParaRPr lang="en-US" sz="1400" dirty="0"/>
          </a:p>
        </p:txBody>
      </p:sp>
      <p:sp>
        <p:nvSpPr>
          <p:cNvPr id="10" name="Shape 8"/>
          <p:cNvSpPr/>
          <p:nvPr/>
        </p:nvSpPr>
        <p:spPr>
          <a:xfrm>
            <a:off x="1344168" y="2788920"/>
            <a:ext cx="0" cy="292608"/>
          </a:xfrm>
          <a:prstGeom prst="line">
            <a:avLst/>
          </a:prstGeom>
          <a:noFill/>
          <a:ln w="19050">
            <a:solidFill>
              <a:srgbClr val="0071BC"/>
            </a:solidFill>
            <a:prstDash val="solid"/>
          </a:ln>
        </p:spPr>
        <p:txBody>
          <a:bodyPr/>
          <a:lstStyle/>
          <a:p>
            <a:endParaRPr lang="en-US"/>
          </a:p>
        </p:txBody>
      </p:sp>
      <p:sp>
        <p:nvSpPr>
          <p:cNvPr id="11" name="Shape 9"/>
          <p:cNvSpPr/>
          <p:nvPr/>
        </p:nvSpPr>
        <p:spPr>
          <a:xfrm>
            <a:off x="1097280" y="3090672"/>
            <a:ext cx="548640" cy="411480"/>
          </a:xfrm>
          <a:prstGeom prst="ellipse">
            <a:avLst/>
          </a:prstGeom>
          <a:solidFill>
            <a:srgbClr val="E6F2FF"/>
          </a:solidFill>
          <a:ln w="12700">
            <a:solidFill>
              <a:srgbClr val="0071BC"/>
            </a:solidFill>
            <a:prstDash val="solid"/>
          </a:ln>
        </p:spPr>
        <p:txBody>
          <a:bodyPr/>
          <a:lstStyle/>
          <a:p>
            <a:endParaRPr lang="en-US"/>
          </a:p>
        </p:txBody>
      </p:sp>
      <p:sp>
        <p:nvSpPr>
          <p:cNvPr id="12" name="Text 10"/>
          <p:cNvSpPr/>
          <p:nvPr/>
        </p:nvSpPr>
        <p:spPr>
          <a:xfrm>
            <a:off x="1097280" y="3090672"/>
            <a:ext cx="548640" cy="411480"/>
          </a:xfrm>
          <a:prstGeom prst="rect">
            <a:avLst/>
          </a:prstGeom>
          <a:noFill/>
          <a:ln/>
        </p:spPr>
        <p:txBody>
          <a:bodyPr wrap="square" rtlCol="0" anchor="ctr"/>
          <a:lstStyle/>
          <a:p>
            <a:pPr marL="0" indent="0" algn="ctr">
              <a:buNone/>
            </a:pPr>
            <a:r>
              <a:rPr lang="en-US" sz="900" b="1" dirty="0">
                <a:solidFill>
                  <a:srgbClr val="0071BC"/>
                </a:solidFill>
                <a:latin typeface="Calibri" pitchFamily="34" charset="0"/>
                <a:ea typeface="Calibri" pitchFamily="34" charset="-122"/>
                <a:cs typeface="Calibri" pitchFamily="34" charset="-120"/>
              </a:rPr>
              <a:t>x(t−1)</a:t>
            </a:r>
            <a:endParaRPr lang="en-US" sz="900" dirty="0"/>
          </a:p>
        </p:txBody>
      </p:sp>
      <p:sp>
        <p:nvSpPr>
          <p:cNvPr id="13" name="Shape 11"/>
          <p:cNvSpPr/>
          <p:nvPr/>
        </p:nvSpPr>
        <p:spPr>
          <a:xfrm>
            <a:off x="1344168" y="1298448"/>
            <a:ext cx="0" cy="393192"/>
          </a:xfrm>
          <a:prstGeom prst="line">
            <a:avLst/>
          </a:prstGeom>
          <a:noFill/>
          <a:ln w="19050">
            <a:solidFill>
              <a:srgbClr val="C05621"/>
            </a:solidFill>
            <a:prstDash val="solid"/>
          </a:ln>
        </p:spPr>
        <p:txBody>
          <a:bodyPr/>
          <a:lstStyle/>
          <a:p>
            <a:endParaRPr lang="en-US"/>
          </a:p>
        </p:txBody>
      </p:sp>
      <p:sp>
        <p:nvSpPr>
          <p:cNvPr id="14" name="Shape 12"/>
          <p:cNvSpPr/>
          <p:nvPr/>
        </p:nvSpPr>
        <p:spPr>
          <a:xfrm>
            <a:off x="1097280" y="914400"/>
            <a:ext cx="548640" cy="411480"/>
          </a:xfrm>
          <a:prstGeom prst="ellipse">
            <a:avLst/>
          </a:prstGeom>
          <a:solidFill>
            <a:srgbClr val="FFF5EB"/>
          </a:solidFill>
          <a:ln w="12700">
            <a:solidFill>
              <a:srgbClr val="C05621"/>
            </a:solidFill>
            <a:prstDash val="solid"/>
          </a:ln>
        </p:spPr>
        <p:txBody>
          <a:bodyPr/>
          <a:lstStyle/>
          <a:p>
            <a:endParaRPr lang="en-US"/>
          </a:p>
        </p:txBody>
      </p:sp>
      <p:sp>
        <p:nvSpPr>
          <p:cNvPr id="15" name="Text 13"/>
          <p:cNvSpPr/>
          <p:nvPr/>
        </p:nvSpPr>
        <p:spPr>
          <a:xfrm>
            <a:off x="1097280" y="914400"/>
            <a:ext cx="548640" cy="411480"/>
          </a:xfrm>
          <a:prstGeom prst="rect">
            <a:avLst/>
          </a:prstGeom>
          <a:noFill/>
          <a:ln/>
        </p:spPr>
        <p:txBody>
          <a:bodyPr wrap="square" rtlCol="0" anchor="ctr"/>
          <a:lstStyle/>
          <a:p>
            <a:pPr marL="0" indent="0" algn="ctr">
              <a:buNone/>
            </a:pPr>
            <a:r>
              <a:rPr lang="en-US" sz="900" b="1" dirty="0">
                <a:solidFill>
                  <a:srgbClr val="C05621"/>
                </a:solidFill>
                <a:latin typeface="Calibri" pitchFamily="34" charset="0"/>
                <a:ea typeface="Calibri" pitchFamily="34" charset="-122"/>
                <a:cs typeface="Calibri" pitchFamily="34" charset="-120"/>
              </a:rPr>
              <a:t>y(t−1)</a:t>
            </a:r>
            <a:endParaRPr lang="en-US" sz="900" dirty="0"/>
          </a:p>
        </p:txBody>
      </p:sp>
      <p:sp>
        <p:nvSpPr>
          <p:cNvPr id="16" name="Shape 14"/>
          <p:cNvSpPr/>
          <p:nvPr/>
        </p:nvSpPr>
        <p:spPr>
          <a:xfrm>
            <a:off x="2057400" y="2157984"/>
            <a:ext cx="1143000" cy="0"/>
          </a:xfrm>
          <a:prstGeom prst="line">
            <a:avLst/>
          </a:prstGeom>
          <a:noFill/>
          <a:ln w="25400">
            <a:solidFill>
              <a:srgbClr val="276749"/>
            </a:solidFill>
            <a:prstDash val="solid"/>
          </a:ln>
        </p:spPr>
        <p:txBody>
          <a:bodyPr/>
          <a:lstStyle/>
          <a:p>
            <a:endParaRPr lang="en-US"/>
          </a:p>
        </p:txBody>
      </p:sp>
      <p:sp>
        <p:nvSpPr>
          <p:cNvPr id="17" name="Text 15"/>
          <p:cNvSpPr/>
          <p:nvPr/>
        </p:nvSpPr>
        <p:spPr>
          <a:xfrm>
            <a:off x="2807208" y="2029968"/>
            <a:ext cx="256032" cy="256032"/>
          </a:xfrm>
          <a:prstGeom prst="rect">
            <a:avLst/>
          </a:prstGeom>
          <a:noFill/>
          <a:ln/>
        </p:spPr>
        <p:txBody>
          <a:bodyPr wrap="square" lIns="0" tIns="0" rIns="0" bIns="0" rtlCol="0" anchor="ctr"/>
          <a:lstStyle/>
          <a:p>
            <a:pPr marL="0" indent="0" algn="ctr">
              <a:buNone/>
            </a:pPr>
            <a:r>
              <a:rPr lang="en-US" sz="1200" dirty="0">
                <a:solidFill>
                  <a:srgbClr val="276749"/>
                </a:solidFill>
              </a:rPr>
              <a:t>→</a:t>
            </a:r>
            <a:endParaRPr lang="en-US" sz="1200" dirty="0"/>
          </a:p>
        </p:txBody>
      </p:sp>
      <p:sp>
        <p:nvSpPr>
          <p:cNvPr id="18" name="Text 16"/>
          <p:cNvSpPr/>
          <p:nvPr/>
        </p:nvSpPr>
        <p:spPr>
          <a:xfrm>
            <a:off x="2148840" y="1901952"/>
            <a:ext cx="777240" cy="228600"/>
          </a:xfrm>
          <a:prstGeom prst="rect">
            <a:avLst/>
          </a:prstGeom>
          <a:noFill/>
          <a:ln/>
        </p:spPr>
        <p:txBody>
          <a:bodyPr wrap="square" lIns="0" tIns="0" rIns="0" bIns="0" rtlCol="0" anchor="ctr"/>
          <a:lstStyle/>
          <a:p>
            <a:pPr marL="0" indent="0" algn="ctr">
              <a:buNone/>
            </a:pPr>
            <a:r>
              <a:rPr lang="en-US" sz="850" dirty="0">
                <a:solidFill>
                  <a:srgbClr val="276749"/>
                </a:solidFill>
                <a:latin typeface="Calibri" pitchFamily="34" charset="0"/>
                <a:ea typeface="Calibri" pitchFamily="34" charset="-122"/>
                <a:cs typeface="Calibri" pitchFamily="34" charset="-120"/>
              </a:rPr>
              <a:t>h(t−1)</a:t>
            </a:r>
            <a:endParaRPr lang="en-US" sz="850" dirty="0"/>
          </a:p>
        </p:txBody>
      </p:sp>
      <p:sp>
        <p:nvSpPr>
          <p:cNvPr id="19" name="Shape 17"/>
          <p:cNvSpPr/>
          <p:nvPr/>
        </p:nvSpPr>
        <p:spPr>
          <a:xfrm>
            <a:off x="3200400" y="1691640"/>
            <a:ext cx="1371600" cy="914400"/>
          </a:xfrm>
          <a:prstGeom prst="rect">
            <a:avLst/>
          </a:prstGeom>
          <a:solidFill>
            <a:srgbClr val="E6F4EC"/>
          </a:solidFill>
          <a:ln w="19050">
            <a:solidFill>
              <a:srgbClr val="276749"/>
            </a:solidFill>
            <a:prstDash val="solid"/>
          </a:ln>
          <a:effectLst>
            <a:outerShdw blurRad="63500" dist="25400" dir="8100000" algn="bl" rotWithShape="0">
              <a:srgbClr val="000000">
                <a:alpha val="8000"/>
              </a:srgbClr>
            </a:outerShdw>
          </a:effectLst>
        </p:spPr>
        <p:txBody>
          <a:bodyPr/>
          <a:lstStyle/>
          <a:p>
            <a:endParaRPr lang="en-US"/>
          </a:p>
        </p:txBody>
      </p:sp>
      <p:sp>
        <p:nvSpPr>
          <p:cNvPr id="20" name="Text 18"/>
          <p:cNvSpPr/>
          <p:nvPr/>
        </p:nvSpPr>
        <p:spPr>
          <a:xfrm>
            <a:off x="3200400" y="1691640"/>
            <a:ext cx="1371600" cy="914400"/>
          </a:xfrm>
          <a:prstGeom prst="rect">
            <a:avLst/>
          </a:prstGeom>
          <a:noFill/>
          <a:ln/>
        </p:spPr>
        <p:txBody>
          <a:bodyPr wrap="square" rtlCol="0" anchor="ctr"/>
          <a:lstStyle/>
          <a:p>
            <a:pPr marL="0" indent="0" algn="ctr">
              <a:buNone/>
            </a:pPr>
            <a:r>
              <a:rPr lang="en-US" sz="1400" b="1" dirty="0">
                <a:solidFill>
                  <a:srgbClr val="276749"/>
                </a:solidFill>
                <a:latin typeface="Trebuchet MS" pitchFamily="34" charset="0"/>
                <a:ea typeface="Trebuchet MS" pitchFamily="34" charset="-122"/>
                <a:cs typeface="Trebuchet MS" pitchFamily="34" charset="-120"/>
              </a:rPr>
              <a:t>RNN</a:t>
            </a:r>
            <a:endParaRPr lang="en-US" sz="1400" dirty="0"/>
          </a:p>
        </p:txBody>
      </p:sp>
      <p:sp>
        <p:nvSpPr>
          <p:cNvPr id="21" name="Shape 19"/>
          <p:cNvSpPr/>
          <p:nvPr/>
        </p:nvSpPr>
        <p:spPr>
          <a:xfrm>
            <a:off x="3858768" y="2788920"/>
            <a:ext cx="0" cy="292608"/>
          </a:xfrm>
          <a:prstGeom prst="line">
            <a:avLst/>
          </a:prstGeom>
          <a:noFill/>
          <a:ln w="19050">
            <a:solidFill>
              <a:srgbClr val="0071BC"/>
            </a:solidFill>
            <a:prstDash val="solid"/>
          </a:ln>
        </p:spPr>
        <p:txBody>
          <a:bodyPr/>
          <a:lstStyle/>
          <a:p>
            <a:endParaRPr lang="en-US"/>
          </a:p>
        </p:txBody>
      </p:sp>
      <p:sp>
        <p:nvSpPr>
          <p:cNvPr id="22" name="Shape 20"/>
          <p:cNvSpPr/>
          <p:nvPr/>
        </p:nvSpPr>
        <p:spPr>
          <a:xfrm>
            <a:off x="3611880" y="3090672"/>
            <a:ext cx="548640" cy="411480"/>
          </a:xfrm>
          <a:prstGeom prst="ellipse">
            <a:avLst/>
          </a:prstGeom>
          <a:solidFill>
            <a:srgbClr val="E6F2FF"/>
          </a:solidFill>
          <a:ln w="12700">
            <a:solidFill>
              <a:srgbClr val="0071BC"/>
            </a:solidFill>
            <a:prstDash val="solid"/>
          </a:ln>
        </p:spPr>
        <p:txBody>
          <a:bodyPr/>
          <a:lstStyle/>
          <a:p>
            <a:endParaRPr lang="en-US"/>
          </a:p>
        </p:txBody>
      </p:sp>
      <p:sp>
        <p:nvSpPr>
          <p:cNvPr id="23" name="Text 21"/>
          <p:cNvSpPr/>
          <p:nvPr/>
        </p:nvSpPr>
        <p:spPr>
          <a:xfrm>
            <a:off x="3611880" y="3090672"/>
            <a:ext cx="548640" cy="411480"/>
          </a:xfrm>
          <a:prstGeom prst="rect">
            <a:avLst/>
          </a:prstGeom>
          <a:noFill/>
          <a:ln/>
        </p:spPr>
        <p:txBody>
          <a:bodyPr wrap="square" rtlCol="0" anchor="ctr"/>
          <a:lstStyle/>
          <a:p>
            <a:pPr marL="0" indent="0" algn="ctr">
              <a:buNone/>
            </a:pPr>
            <a:r>
              <a:rPr lang="en-US" sz="900" b="1" dirty="0">
                <a:solidFill>
                  <a:srgbClr val="0071BC"/>
                </a:solidFill>
                <a:latin typeface="Calibri" pitchFamily="34" charset="0"/>
                <a:ea typeface="Calibri" pitchFamily="34" charset="-122"/>
                <a:cs typeface="Calibri" pitchFamily="34" charset="-120"/>
              </a:rPr>
              <a:t>x(t)</a:t>
            </a:r>
            <a:endParaRPr lang="en-US" sz="900" dirty="0"/>
          </a:p>
        </p:txBody>
      </p:sp>
      <p:sp>
        <p:nvSpPr>
          <p:cNvPr id="24" name="Shape 22"/>
          <p:cNvSpPr/>
          <p:nvPr/>
        </p:nvSpPr>
        <p:spPr>
          <a:xfrm>
            <a:off x="3858768" y="1298448"/>
            <a:ext cx="0" cy="393192"/>
          </a:xfrm>
          <a:prstGeom prst="line">
            <a:avLst/>
          </a:prstGeom>
          <a:noFill/>
          <a:ln w="19050">
            <a:solidFill>
              <a:srgbClr val="C05621"/>
            </a:solidFill>
            <a:prstDash val="solid"/>
          </a:ln>
        </p:spPr>
        <p:txBody>
          <a:bodyPr/>
          <a:lstStyle/>
          <a:p>
            <a:endParaRPr lang="en-US"/>
          </a:p>
        </p:txBody>
      </p:sp>
      <p:sp>
        <p:nvSpPr>
          <p:cNvPr id="25" name="Shape 23"/>
          <p:cNvSpPr/>
          <p:nvPr/>
        </p:nvSpPr>
        <p:spPr>
          <a:xfrm>
            <a:off x="3611880" y="914400"/>
            <a:ext cx="548640" cy="411480"/>
          </a:xfrm>
          <a:prstGeom prst="ellipse">
            <a:avLst/>
          </a:prstGeom>
          <a:solidFill>
            <a:srgbClr val="FFF5EB"/>
          </a:solidFill>
          <a:ln w="12700">
            <a:solidFill>
              <a:srgbClr val="C05621"/>
            </a:solidFill>
            <a:prstDash val="solid"/>
          </a:ln>
        </p:spPr>
        <p:txBody>
          <a:bodyPr/>
          <a:lstStyle/>
          <a:p>
            <a:endParaRPr lang="en-US"/>
          </a:p>
        </p:txBody>
      </p:sp>
      <p:sp>
        <p:nvSpPr>
          <p:cNvPr id="26" name="Text 24"/>
          <p:cNvSpPr/>
          <p:nvPr/>
        </p:nvSpPr>
        <p:spPr>
          <a:xfrm>
            <a:off x="3611880" y="914400"/>
            <a:ext cx="548640" cy="411480"/>
          </a:xfrm>
          <a:prstGeom prst="rect">
            <a:avLst/>
          </a:prstGeom>
          <a:noFill/>
          <a:ln/>
        </p:spPr>
        <p:txBody>
          <a:bodyPr wrap="square" rtlCol="0" anchor="ctr"/>
          <a:lstStyle/>
          <a:p>
            <a:pPr marL="0" indent="0" algn="ctr">
              <a:buNone/>
            </a:pPr>
            <a:r>
              <a:rPr lang="en-US" sz="900" b="1" dirty="0">
                <a:solidFill>
                  <a:srgbClr val="C05621"/>
                </a:solidFill>
                <a:latin typeface="Calibri" pitchFamily="34" charset="0"/>
                <a:ea typeface="Calibri" pitchFamily="34" charset="-122"/>
                <a:cs typeface="Calibri" pitchFamily="34" charset="-120"/>
              </a:rPr>
              <a:t>y(t)</a:t>
            </a:r>
            <a:endParaRPr lang="en-US" sz="900" dirty="0"/>
          </a:p>
        </p:txBody>
      </p:sp>
      <p:sp>
        <p:nvSpPr>
          <p:cNvPr id="27" name="Shape 25"/>
          <p:cNvSpPr/>
          <p:nvPr/>
        </p:nvSpPr>
        <p:spPr>
          <a:xfrm>
            <a:off x="4572000" y="2157984"/>
            <a:ext cx="1143000" cy="0"/>
          </a:xfrm>
          <a:prstGeom prst="line">
            <a:avLst/>
          </a:prstGeom>
          <a:noFill/>
          <a:ln w="25400">
            <a:solidFill>
              <a:srgbClr val="276749"/>
            </a:solidFill>
            <a:prstDash val="solid"/>
          </a:ln>
        </p:spPr>
        <p:txBody>
          <a:bodyPr/>
          <a:lstStyle/>
          <a:p>
            <a:endParaRPr lang="en-US"/>
          </a:p>
        </p:txBody>
      </p:sp>
      <p:sp>
        <p:nvSpPr>
          <p:cNvPr id="28" name="Text 26"/>
          <p:cNvSpPr/>
          <p:nvPr/>
        </p:nvSpPr>
        <p:spPr>
          <a:xfrm>
            <a:off x="5321808" y="2029968"/>
            <a:ext cx="256032" cy="256032"/>
          </a:xfrm>
          <a:prstGeom prst="rect">
            <a:avLst/>
          </a:prstGeom>
          <a:noFill/>
          <a:ln/>
        </p:spPr>
        <p:txBody>
          <a:bodyPr wrap="square" lIns="0" tIns="0" rIns="0" bIns="0" rtlCol="0" anchor="ctr"/>
          <a:lstStyle/>
          <a:p>
            <a:pPr marL="0" indent="0" algn="ctr">
              <a:buNone/>
            </a:pPr>
            <a:r>
              <a:rPr lang="en-US" sz="1200" dirty="0">
                <a:solidFill>
                  <a:srgbClr val="276749"/>
                </a:solidFill>
              </a:rPr>
              <a:t>→</a:t>
            </a:r>
            <a:endParaRPr lang="en-US" sz="1200" dirty="0"/>
          </a:p>
        </p:txBody>
      </p:sp>
      <p:sp>
        <p:nvSpPr>
          <p:cNvPr id="29" name="Text 27"/>
          <p:cNvSpPr/>
          <p:nvPr/>
        </p:nvSpPr>
        <p:spPr>
          <a:xfrm>
            <a:off x="4663440" y="1901952"/>
            <a:ext cx="777240" cy="228600"/>
          </a:xfrm>
          <a:prstGeom prst="rect">
            <a:avLst/>
          </a:prstGeom>
          <a:noFill/>
          <a:ln/>
        </p:spPr>
        <p:txBody>
          <a:bodyPr wrap="square" lIns="0" tIns="0" rIns="0" bIns="0" rtlCol="0" anchor="ctr"/>
          <a:lstStyle/>
          <a:p>
            <a:pPr marL="0" indent="0" algn="ctr">
              <a:buNone/>
            </a:pPr>
            <a:r>
              <a:rPr lang="en-US" sz="850" dirty="0">
                <a:solidFill>
                  <a:srgbClr val="276749"/>
                </a:solidFill>
                <a:latin typeface="Calibri" pitchFamily="34" charset="0"/>
                <a:ea typeface="Calibri" pitchFamily="34" charset="-122"/>
                <a:cs typeface="Calibri" pitchFamily="34" charset="-120"/>
              </a:rPr>
              <a:t>h(t)</a:t>
            </a:r>
            <a:endParaRPr lang="en-US" sz="850" dirty="0"/>
          </a:p>
        </p:txBody>
      </p:sp>
      <p:sp>
        <p:nvSpPr>
          <p:cNvPr id="30" name="Shape 28"/>
          <p:cNvSpPr/>
          <p:nvPr/>
        </p:nvSpPr>
        <p:spPr>
          <a:xfrm>
            <a:off x="5715000" y="1691640"/>
            <a:ext cx="1371600" cy="914400"/>
          </a:xfrm>
          <a:prstGeom prst="rect">
            <a:avLst/>
          </a:prstGeom>
          <a:solidFill>
            <a:srgbClr val="E6F4EC"/>
          </a:solidFill>
          <a:ln w="19050">
            <a:solidFill>
              <a:srgbClr val="276749"/>
            </a:solidFill>
            <a:prstDash val="solid"/>
          </a:ln>
          <a:effectLst>
            <a:outerShdw blurRad="63500" dist="25400" dir="8100000" algn="bl" rotWithShape="0">
              <a:srgbClr val="000000">
                <a:alpha val="8000"/>
              </a:srgbClr>
            </a:outerShdw>
          </a:effectLst>
        </p:spPr>
        <p:txBody>
          <a:bodyPr/>
          <a:lstStyle/>
          <a:p>
            <a:endParaRPr lang="en-US"/>
          </a:p>
        </p:txBody>
      </p:sp>
      <p:sp>
        <p:nvSpPr>
          <p:cNvPr id="31" name="Text 29"/>
          <p:cNvSpPr/>
          <p:nvPr/>
        </p:nvSpPr>
        <p:spPr>
          <a:xfrm>
            <a:off x="5715000" y="1691640"/>
            <a:ext cx="1371600" cy="914400"/>
          </a:xfrm>
          <a:prstGeom prst="rect">
            <a:avLst/>
          </a:prstGeom>
          <a:noFill/>
          <a:ln/>
        </p:spPr>
        <p:txBody>
          <a:bodyPr wrap="square" rtlCol="0" anchor="ctr"/>
          <a:lstStyle/>
          <a:p>
            <a:pPr marL="0" indent="0" algn="ctr">
              <a:buNone/>
            </a:pPr>
            <a:r>
              <a:rPr lang="en-US" sz="1400" b="1" dirty="0">
                <a:solidFill>
                  <a:srgbClr val="276749"/>
                </a:solidFill>
                <a:latin typeface="Trebuchet MS" pitchFamily="34" charset="0"/>
                <a:ea typeface="Trebuchet MS" pitchFamily="34" charset="-122"/>
                <a:cs typeface="Trebuchet MS" pitchFamily="34" charset="-120"/>
              </a:rPr>
              <a:t>RNN</a:t>
            </a:r>
            <a:endParaRPr lang="en-US" sz="1400" dirty="0"/>
          </a:p>
        </p:txBody>
      </p:sp>
      <p:sp>
        <p:nvSpPr>
          <p:cNvPr id="32" name="Shape 30"/>
          <p:cNvSpPr/>
          <p:nvPr/>
        </p:nvSpPr>
        <p:spPr>
          <a:xfrm>
            <a:off x="6373368" y="2788920"/>
            <a:ext cx="0" cy="292608"/>
          </a:xfrm>
          <a:prstGeom prst="line">
            <a:avLst/>
          </a:prstGeom>
          <a:noFill/>
          <a:ln w="19050">
            <a:solidFill>
              <a:srgbClr val="0071BC"/>
            </a:solidFill>
            <a:prstDash val="solid"/>
          </a:ln>
        </p:spPr>
        <p:txBody>
          <a:bodyPr/>
          <a:lstStyle/>
          <a:p>
            <a:endParaRPr lang="en-US"/>
          </a:p>
        </p:txBody>
      </p:sp>
      <p:sp>
        <p:nvSpPr>
          <p:cNvPr id="33" name="Shape 31"/>
          <p:cNvSpPr/>
          <p:nvPr/>
        </p:nvSpPr>
        <p:spPr>
          <a:xfrm>
            <a:off x="6126480" y="3090672"/>
            <a:ext cx="548640" cy="411480"/>
          </a:xfrm>
          <a:prstGeom prst="ellipse">
            <a:avLst/>
          </a:prstGeom>
          <a:solidFill>
            <a:srgbClr val="E6F2FF"/>
          </a:solidFill>
          <a:ln w="12700">
            <a:solidFill>
              <a:srgbClr val="0071BC"/>
            </a:solidFill>
            <a:prstDash val="solid"/>
          </a:ln>
        </p:spPr>
        <p:txBody>
          <a:bodyPr/>
          <a:lstStyle/>
          <a:p>
            <a:endParaRPr lang="en-US"/>
          </a:p>
        </p:txBody>
      </p:sp>
      <p:sp>
        <p:nvSpPr>
          <p:cNvPr id="34" name="Text 32"/>
          <p:cNvSpPr/>
          <p:nvPr/>
        </p:nvSpPr>
        <p:spPr>
          <a:xfrm>
            <a:off x="6126480" y="3090672"/>
            <a:ext cx="548640" cy="411480"/>
          </a:xfrm>
          <a:prstGeom prst="rect">
            <a:avLst/>
          </a:prstGeom>
          <a:noFill/>
          <a:ln/>
        </p:spPr>
        <p:txBody>
          <a:bodyPr wrap="square" rtlCol="0" anchor="ctr"/>
          <a:lstStyle/>
          <a:p>
            <a:pPr marL="0" indent="0" algn="ctr">
              <a:buNone/>
            </a:pPr>
            <a:r>
              <a:rPr lang="en-US" sz="900" b="1" dirty="0">
                <a:solidFill>
                  <a:srgbClr val="0071BC"/>
                </a:solidFill>
                <a:latin typeface="Calibri" pitchFamily="34" charset="0"/>
                <a:ea typeface="Calibri" pitchFamily="34" charset="-122"/>
                <a:cs typeface="Calibri" pitchFamily="34" charset="-120"/>
              </a:rPr>
              <a:t>x(t+1)</a:t>
            </a:r>
            <a:endParaRPr lang="en-US" sz="900" dirty="0"/>
          </a:p>
        </p:txBody>
      </p:sp>
      <p:sp>
        <p:nvSpPr>
          <p:cNvPr id="35" name="Shape 33"/>
          <p:cNvSpPr/>
          <p:nvPr/>
        </p:nvSpPr>
        <p:spPr>
          <a:xfrm>
            <a:off x="6373368" y="1298448"/>
            <a:ext cx="0" cy="393192"/>
          </a:xfrm>
          <a:prstGeom prst="line">
            <a:avLst/>
          </a:prstGeom>
          <a:noFill/>
          <a:ln w="19050">
            <a:solidFill>
              <a:srgbClr val="C05621"/>
            </a:solidFill>
            <a:prstDash val="solid"/>
          </a:ln>
        </p:spPr>
        <p:txBody>
          <a:bodyPr/>
          <a:lstStyle/>
          <a:p>
            <a:endParaRPr lang="en-US"/>
          </a:p>
        </p:txBody>
      </p:sp>
      <p:sp>
        <p:nvSpPr>
          <p:cNvPr id="36" name="Shape 34"/>
          <p:cNvSpPr/>
          <p:nvPr/>
        </p:nvSpPr>
        <p:spPr>
          <a:xfrm>
            <a:off x="6126480" y="914400"/>
            <a:ext cx="548640" cy="411480"/>
          </a:xfrm>
          <a:prstGeom prst="ellipse">
            <a:avLst/>
          </a:prstGeom>
          <a:solidFill>
            <a:srgbClr val="FFF5EB"/>
          </a:solidFill>
          <a:ln w="12700">
            <a:solidFill>
              <a:srgbClr val="C05621"/>
            </a:solidFill>
            <a:prstDash val="solid"/>
          </a:ln>
        </p:spPr>
        <p:txBody>
          <a:bodyPr/>
          <a:lstStyle/>
          <a:p>
            <a:endParaRPr lang="en-US"/>
          </a:p>
        </p:txBody>
      </p:sp>
      <p:sp>
        <p:nvSpPr>
          <p:cNvPr id="37" name="Text 35"/>
          <p:cNvSpPr/>
          <p:nvPr/>
        </p:nvSpPr>
        <p:spPr>
          <a:xfrm>
            <a:off x="6126480" y="914400"/>
            <a:ext cx="548640" cy="411480"/>
          </a:xfrm>
          <a:prstGeom prst="rect">
            <a:avLst/>
          </a:prstGeom>
          <a:noFill/>
          <a:ln/>
        </p:spPr>
        <p:txBody>
          <a:bodyPr wrap="square" rtlCol="0" anchor="ctr"/>
          <a:lstStyle/>
          <a:p>
            <a:pPr marL="0" indent="0" algn="ctr">
              <a:buNone/>
            </a:pPr>
            <a:r>
              <a:rPr lang="en-US" sz="900" b="1" dirty="0">
                <a:solidFill>
                  <a:srgbClr val="C05621"/>
                </a:solidFill>
                <a:latin typeface="Calibri" pitchFamily="34" charset="0"/>
                <a:ea typeface="Calibri" pitchFamily="34" charset="-122"/>
                <a:cs typeface="Calibri" pitchFamily="34" charset="-120"/>
              </a:rPr>
              <a:t>y(t+1)</a:t>
            </a:r>
            <a:endParaRPr lang="en-US" sz="900" dirty="0"/>
          </a:p>
        </p:txBody>
      </p:sp>
      <p:sp>
        <p:nvSpPr>
          <p:cNvPr id="38" name="Shape 36"/>
          <p:cNvSpPr/>
          <p:nvPr/>
        </p:nvSpPr>
        <p:spPr>
          <a:xfrm>
            <a:off x="7452360" y="914400"/>
            <a:ext cx="1371600" cy="1417320"/>
          </a:xfrm>
          <a:prstGeom prst="rect">
            <a:avLst/>
          </a:prstGeom>
          <a:solidFill>
            <a:srgbClr val="FFFFFF"/>
          </a:solidFill>
          <a:ln w="12700">
            <a:solidFill>
              <a:srgbClr val="CBD5E0"/>
            </a:solidFill>
            <a:prstDash val="solid"/>
          </a:ln>
        </p:spPr>
        <p:txBody>
          <a:bodyPr/>
          <a:lstStyle/>
          <a:p>
            <a:endParaRPr lang="en-US"/>
          </a:p>
        </p:txBody>
      </p:sp>
      <p:sp>
        <p:nvSpPr>
          <p:cNvPr id="39" name="Text 37"/>
          <p:cNvSpPr/>
          <p:nvPr/>
        </p:nvSpPr>
        <p:spPr>
          <a:xfrm>
            <a:off x="7516368" y="969264"/>
            <a:ext cx="1243584" cy="237744"/>
          </a:xfrm>
          <a:prstGeom prst="rect">
            <a:avLst/>
          </a:prstGeom>
          <a:noFill/>
          <a:ln/>
        </p:spPr>
        <p:txBody>
          <a:bodyPr wrap="square" lIns="0" tIns="0" rIns="0" bIns="0" rtlCol="0" anchor="ctr"/>
          <a:lstStyle/>
          <a:p>
            <a:pPr marL="0" indent="0">
              <a:buNone/>
            </a:pPr>
            <a:r>
              <a:rPr lang="en-US" sz="950" b="1" dirty="0">
                <a:solidFill>
                  <a:srgbClr val="1E3A5F"/>
                </a:solidFill>
                <a:latin typeface="Calibri" pitchFamily="34" charset="0"/>
                <a:ea typeface="Calibri" pitchFamily="34" charset="-122"/>
                <a:cs typeface="Calibri" pitchFamily="34" charset="-120"/>
              </a:rPr>
              <a:t>Legend</a:t>
            </a:r>
            <a:endParaRPr lang="en-US" sz="950" dirty="0"/>
          </a:p>
        </p:txBody>
      </p:sp>
      <p:sp>
        <p:nvSpPr>
          <p:cNvPr id="40" name="Text 38"/>
          <p:cNvSpPr/>
          <p:nvPr/>
        </p:nvSpPr>
        <p:spPr>
          <a:xfrm>
            <a:off x="7516368" y="1243584"/>
            <a:ext cx="1243584" cy="274320"/>
          </a:xfrm>
          <a:prstGeom prst="rect">
            <a:avLst/>
          </a:prstGeom>
          <a:noFill/>
          <a:ln/>
        </p:spPr>
        <p:txBody>
          <a:bodyPr wrap="square" lIns="0" tIns="0" rIns="0" bIns="0" rtlCol="0" anchor="ctr"/>
          <a:lstStyle/>
          <a:p>
            <a:pPr marL="0" indent="0">
              <a:buNone/>
            </a:pPr>
            <a:r>
              <a:rPr lang="en-US" sz="900" dirty="0">
                <a:solidFill>
                  <a:srgbClr val="0071BC"/>
                </a:solidFill>
                <a:latin typeface="Calibri" pitchFamily="34" charset="0"/>
                <a:ea typeface="Calibri" pitchFamily="34" charset="-122"/>
                <a:cs typeface="Calibri" pitchFamily="34" charset="-120"/>
              </a:rPr>
              <a:t>x(t) = Input</a:t>
            </a:r>
            <a:endParaRPr lang="en-US" sz="900" dirty="0"/>
          </a:p>
        </p:txBody>
      </p:sp>
      <p:sp>
        <p:nvSpPr>
          <p:cNvPr id="41" name="Text 39"/>
          <p:cNvSpPr/>
          <p:nvPr/>
        </p:nvSpPr>
        <p:spPr>
          <a:xfrm>
            <a:off x="7516368" y="1554480"/>
            <a:ext cx="1243584" cy="274320"/>
          </a:xfrm>
          <a:prstGeom prst="rect">
            <a:avLst/>
          </a:prstGeom>
          <a:noFill/>
          <a:ln/>
        </p:spPr>
        <p:txBody>
          <a:bodyPr wrap="square" lIns="0" tIns="0" rIns="0" bIns="0" rtlCol="0" anchor="ctr"/>
          <a:lstStyle/>
          <a:p>
            <a:pPr marL="0" indent="0">
              <a:buNone/>
            </a:pPr>
            <a:r>
              <a:rPr lang="en-US" sz="900" dirty="0">
                <a:solidFill>
                  <a:srgbClr val="C05621"/>
                </a:solidFill>
                <a:latin typeface="Calibri" pitchFamily="34" charset="0"/>
                <a:ea typeface="Calibri" pitchFamily="34" charset="-122"/>
                <a:cs typeface="Calibri" pitchFamily="34" charset="-120"/>
              </a:rPr>
              <a:t>y(t) = Output</a:t>
            </a:r>
            <a:endParaRPr lang="en-US" sz="900" dirty="0"/>
          </a:p>
        </p:txBody>
      </p:sp>
      <p:sp>
        <p:nvSpPr>
          <p:cNvPr id="42" name="Text 40"/>
          <p:cNvSpPr/>
          <p:nvPr/>
        </p:nvSpPr>
        <p:spPr>
          <a:xfrm>
            <a:off x="7516368" y="1865376"/>
            <a:ext cx="1243584" cy="274320"/>
          </a:xfrm>
          <a:prstGeom prst="rect">
            <a:avLst/>
          </a:prstGeom>
          <a:noFill/>
          <a:ln/>
        </p:spPr>
        <p:txBody>
          <a:bodyPr wrap="square" lIns="0" tIns="0" rIns="0" bIns="0" rtlCol="0" anchor="ctr"/>
          <a:lstStyle/>
          <a:p>
            <a:pPr marL="0" indent="0">
              <a:buNone/>
            </a:pPr>
            <a:r>
              <a:rPr lang="en-US" sz="900" dirty="0">
                <a:solidFill>
                  <a:srgbClr val="276749"/>
                </a:solidFill>
                <a:latin typeface="Calibri" pitchFamily="34" charset="0"/>
                <a:ea typeface="Calibri" pitchFamily="34" charset="-122"/>
                <a:cs typeface="Calibri" pitchFamily="34" charset="-120"/>
              </a:rPr>
              <a:t>h(t) = Hidden state</a:t>
            </a:r>
            <a:endParaRPr lang="en-US" sz="900" dirty="0"/>
          </a:p>
        </p:txBody>
      </p:sp>
      <p:sp>
        <p:nvSpPr>
          <p:cNvPr id="43" name="Text 41"/>
          <p:cNvSpPr/>
          <p:nvPr/>
        </p:nvSpPr>
        <p:spPr>
          <a:xfrm>
            <a:off x="320040" y="3639312"/>
            <a:ext cx="3657600" cy="228600"/>
          </a:xfrm>
          <a:prstGeom prst="rect">
            <a:avLst/>
          </a:prstGeom>
          <a:noFill/>
          <a:ln/>
        </p:spPr>
        <p:txBody>
          <a:bodyPr wrap="square" lIns="0" tIns="0" rIns="0" bIns="0" rtlCol="0" anchor="ctr"/>
          <a:lstStyle/>
          <a:p>
            <a:pPr marL="0" indent="0">
              <a:buNone/>
            </a:pPr>
            <a:r>
              <a:rPr lang="en-US" sz="850" b="1" kern="0" spc="200" dirty="0">
                <a:solidFill>
                  <a:srgbClr val="718096"/>
                </a:solidFill>
                <a:latin typeface="Trebuchet MS" pitchFamily="34" charset="0"/>
                <a:ea typeface="Trebuchet MS" pitchFamily="34" charset="-122"/>
                <a:cs typeface="Trebuchet MS" pitchFamily="34" charset="-120"/>
              </a:rPr>
              <a:t>RNN CONFIGURATIONS</a:t>
            </a:r>
            <a:endParaRPr lang="en-US" sz="850" dirty="0"/>
          </a:p>
        </p:txBody>
      </p:sp>
      <p:sp>
        <p:nvSpPr>
          <p:cNvPr id="44" name="Shape 42"/>
          <p:cNvSpPr/>
          <p:nvPr/>
        </p:nvSpPr>
        <p:spPr>
          <a:xfrm>
            <a:off x="320040" y="3895344"/>
            <a:ext cx="2057400" cy="1078992"/>
          </a:xfrm>
          <a:prstGeom prst="rect">
            <a:avLst/>
          </a:prstGeom>
          <a:solidFill>
            <a:srgbClr val="E6F4EC"/>
          </a:solidFill>
          <a:ln w="15240">
            <a:solidFill>
              <a:srgbClr val="276749"/>
            </a:solidFill>
            <a:prstDash val="solid"/>
          </a:ln>
        </p:spPr>
        <p:txBody>
          <a:bodyPr/>
          <a:lstStyle/>
          <a:p>
            <a:endParaRPr lang="en-US"/>
          </a:p>
        </p:txBody>
      </p:sp>
      <p:sp>
        <p:nvSpPr>
          <p:cNvPr id="45" name="Shape 43"/>
          <p:cNvSpPr/>
          <p:nvPr/>
        </p:nvSpPr>
        <p:spPr>
          <a:xfrm>
            <a:off x="320040" y="3895344"/>
            <a:ext cx="2057400" cy="64008"/>
          </a:xfrm>
          <a:prstGeom prst="rect">
            <a:avLst/>
          </a:prstGeom>
          <a:solidFill>
            <a:srgbClr val="276749"/>
          </a:solidFill>
          <a:ln w="12700">
            <a:solidFill>
              <a:srgbClr val="276749"/>
            </a:solidFill>
            <a:prstDash val="solid"/>
          </a:ln>
        </p:spPr>
        <p:txBody>
          <a:bodyPr/>
          <a:lstStyle/>
          <a:p>
            <a:endParaRPr lang="en-US"/>
          </a:p>
        </p:txBody>
      </p:sp>
      <p:sp>
        <p:nvSpPr>
          <p:cNvPr id="46" name="Text 44"/>
          <p:cNvSpPr/>
          <p:nvPr/>
        </p:nvSpPr>
        <p:spPr>
          <a:xfrm>
            <a:off x="457200" y="3986784"/>
            <a:ext cx="1783080" cy="256032"/>
          </a:xfrm>
          <a:prstGeom prst="rect">
            <a:avLst/>
          </a:prstGeom>
          <a:noFill/>
          <a:ln/>
        </p:spPr>
        <p:txBody>
          <a:bodyPr wrap="square" lIns="0" tIns="0" rIns="0" bIns="0" rtlCol="0" anchor="ctr"/>
          <a:lstStyle/>
          <a:p>
            <a:pPr marL="0" indent="0">
              <a:buNone/>
            </a:pPr>
            <a:r>
              <a:rPr lang="en-US" sz="1000" b="1" dirty="0">
                <a:solidFill>
                  <a:srgbClr val="276749"/>
                </a:solidFill>
                <a:latin typeface="Trebuchet MS" pitchFamily="34" charset="0"/>
                <a:ea typeface="Trebuchet MS" pitchFamily="34" charset="-122"/>
                <a:cs typeface="Trebuchet MS" pitchFamily="34" charset="-120"/>
              </a:rPr>
              <a:t>One-to-Many</a:t>
            </a:r>
            <a:endParaRPr lang="en-US" sz="1000" dirty="0"/>
          </a:p>
        </p:txBody>
      </p:sp>
      <p:sp>
        <p:nvSpPr>
          <p:cNvPr id="47" name="Text 45"/>
          <p:cNvSpPr/>
          <p:nvPr/>
        </p:nvSpPr>
        <p:spPr>
          <a:xfrm>
            <a:off x="457200" y="4279392"/>
            <a:ext cx="1783080" cy="64008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One input → sequence</a:t>
            </a:r>
            <a:endParaRPr lang="en-US" sz="950" dirty="0"/>
          </a:p>
          <a:p>
            <a:pPr marL="0" indent="0">
              <a:buNone/>
            </a:pPr>
            <a:r>
              <a:rPr lang="en-US" sz="950" dirty="0">
                <a:solidFill>
                  <a:srgbClr val="2D3748"/>
                </a:solidFill>
                <a:latin typeface="Calibri" pitchFamily="34" charset="0"/>
                <a:ea typeface="Calibri" pitchFamily="34" charset="-122"/>
                <a:cs typeface="Calibri" pitchFamily="34" charset="-120"/>
              </a:rPr>
              <a:t>Image Captioning</a:t>
            </a:r>
            <a:endParaRPr lang="en-US" sz="950" dirty="0"/>
          </a:p>
        </p:txBody>
      </p:sp>
      <p:sp>
        <p:nvSpPr>
          <p:cNvPr id="48" name="Shape 46"/>
          <p:cNvSpPr/>
          <p:nvPr/>
        </p:nvSpPr>
        <p:spPr>
          <a:xfrm>
            <a:off x="2514600" y="3895344"/>
            <a:ext cx="2057400" cy="1078992"/>
          </a:xfrm>
          <a:prstGeom prst="rect">
            <a:avLst/>
          </a:prstGeom>
          <a:solidFill>
            <a:srgbClr val="E6F6F9"/>
          </a:solidFill>
          <a:ln w="15240">
            <a:solidFill>
              <a:srgbClr val="0987A0"/>
            </a:solidFill>
            <a:prstDash val="solid"/>
          </a:ln>
        </p:spPr>
        <p:txBody>
          <a:bodyPr/>
          <a:lstStyle/>
          <a:p>
            <a:endParaRPr lang="en-US"/>
          </a:p>
        </p:txBody>
      </p:sp>
      <p:sp>
        <p:nvSpPr>
          <p:cNvPr id="49" name="Shape 47"/>
          <p:cNvSpPr/>
          <p:nvPr/>
        </p:nvSpPr>
        <p:spPr>
          <a:xfrm>
            <a:off x="2514600" y="3895344"/>
            <a:ext cx="2057400" cy="64008"/>
          </a:xfrm>
          <a:prstGeom prst="rect">
            <a:avLst/>
          </a:prstGeom>
          <a:solidFill>
            <a:srgbClr val="0987A0"/>
          </a:solidFill>
          <a:ln w="12700">
            <a:solidFill>
              <a:srgbClr val="0987A0"/>
            </a:solidFill>
            <a:prstDash val="solid"/>
          </a:ln>
        </p:spPr>
        <p:txBody>
          <a:bodyPr/>
          <a:lstStyle/>
          <a:p>
            <a:endParaRPr lang="en-US"/>
          </a:p>
        </p:txBody>
      </p:sp>
      <p:sp>
        <p:nvSpPr>
          <p:cNvPr id="50" name="Text 48"/>
          <p:cNvSpPr/>
          <p:nvPr/>
        </p:nvSpPr>
        <p:spPr>
          <a:xfrm>
            <a:off x="2651760" y="3986784"/>
            <a:ext cx="1783080" cy="256032"/>
          </a:xfrm>
          <a:prstGeom prst="rect">
            <a:avLst/>
          </a:prstGeom>
          <a:noFill/>
          <a:ln/>
        </p:spPr>
        <p:txBody>
          <a:bodyPr wrap="square" lIns="0" tIns="0" rIns="0" bIns="0" rtlCol="0" anchor="ctr"/>
          <a:lstStyle/>
          <a:p>
            <a:pPr marL="0" indent="0">
              <a:buNone/>
            </a:pPr>
            <a:r>
              <a:rPr lang="en-US" sz="1000" b="1" dirty="0">
                <a:solidFill>
                  <a:srgbClr val="0987A0"/>
                </a:solidFill>
                <a:latin typeface="Trebuchet MS" pitchFamily="34" charset="0"/>
                <a:ea typeface="Trebuchet MS" pitchFamily="34" charset="-122"/>
                <a:cs typeface="Trebuchet MS" pitchFamily="34" charset="-120"/>
              </a:rPr>
              <a:t>Many-to-One</a:t>
            </a:r>
            <a:endParaRPr lang="en-US" sz="1000" dirty="0"/>
          </a:p>
        </p:txBody>
      </p:sp>
      <p:sp>
        <p:nvSpPr>
          <p:cNvPr id="51" name="Text 49"/>
          <p:cNvSpPr/>
          <p:nvPr/>
        </p:nvSpPr>
        <p:spPr>
          <a:xfrm>
            <a:off x="2651760" y="4279392"/>
            <a:ext cx="1783080" cy="64008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Sequence → single output</a:t>
            </a:r>
            <a:endParaRPr lang="en-US" sz="950" dirty="0"/>
          </a:p>
          <a:p>
            <a:pPr marL="0" indent="0">
              <a:buNone/>
            </a:pPr>
            <a:r>
              <a:rPr lang="en-US" sz="950" dirty="0">
                <a:solidFill>
                  <a:srgbClr val="2D3748"/>
                </a:solidFill>
                <a:latin typeface="Calibri" pitchFamily="34" charset="0"/>
                <a:ea typeface="Calibri" pitchFamily="34" charset="-122"/>
                <a:cs typeface="Calibri" pitchFamily="34" charset="-120"/>
              </a:rPr>
              <a:t>Sentiment Analysis</a:t>
            </a:r>
            <a:endParaRPr lang="en-US" sz="950" dirty="0"/>
          </a:p>
        </p:txBody>
      </p:sp>
      <p:sp>
        <p:nvSpPr>
          <p:cNvPr id="52" name="Shape 50"/>
          <p:cNvSpPr/>
          <p:nvPr/>
        </p:nvSpPr>
        <p:spPr>
          <a:xfrm>
            <a:off x="4709160" y="3895344"/>
            <a:ext cx="2057400" cy="1078992"/>
          </a:xfrm>
          <a:prstGeom prst="rect">
            <a:avLst/>
          </a:prstGeom>
          <a:solidFill>
            <a:srgbClr val="FFF5EB"/>
          </a:solidFill>
          <a:ln w="15240">
            <a:solidFill>
              <a:srgbClr val="C05621"/>
            </a:solidFill>
            <a:prstDash val="solid"/>
          </a:ln>
        </p:spPr>
        <p:txBody>
          <a:bodyPr/>
          <a:lstStyle/>
          <a:p>
            <a:endParaRPr lang="en-US"/>
          </a:p>
        </p:txBody>
      </p:sp>
      <p:sp>
        <p:nvSpPr>
          <p:cNvPr id="53" name="Shape 51"/>
          <p:cNvSpPr/>
          <p:nvPr/>
        </p:nvSpPr>
        <p:spPr>
          <a:xfrm>
            <a:off x="4709160" y="3895344"/>
            <a:ext cx="2057400" cy="64008"/>
          </a:xfrm>
          <a:prstGeom prst="rect">
            <a:avLst/>
          </a:prstGeom>
          <a:solidFill>
            <a:srgbClr val="C05621"/>
          </a:solidFill>
          <a:ln w="12700">
            <a:solidFill>
              <a:srgbClr val="C05621"/>
            </a:solidFill>
            <a:prstDash val="solid"/>
          </a:ln>
        </p:spPr>
        <p:txBody>
          <a:bodyPr/>
          <a:lstStyle/>
          <a:p>
            <a:endParaRPr lang="en-US"/>
          </a:p>
        </p:txBody>
      </p:sp>
      <p:sp>
        <p:nvSpPr>
          <p:cNvPr id="54" name="Text 52"/>
          <p:cNvSpPr/>
          <p:nvPr/>
        </p:nvSpPr>
        <p:spPr>
          <a:xfrm>
            <a:off x="4846320" y="3986784"/>
            <a:ext cx="1783080" cy="256032"/>
          </a:xfrm>
          <a:prstGeom prst="rect">
            <a:avLst/>
          </a:prstGeom>
          <a:noFill/>
          <a:ln/>
        </p:spPr>
        <p:txBody>
          <a:bodyPr wrap="square" lIns="0" tIns="0" rIns="0" bIns="0" rtlCol="0" anchor="ctr"/>
          <a:lstStyle/>
          <a:p>
            <a:pPr marL="0" indent="0">
              <a:buNone/>
            </a:pPr>
            <a:r>
              <a:rPr lang="en-US" sz="1000" b="1" dirty="0">
                <a:solidFill>
                  <a:srgbClr val="C05621"/>
                </a:solidFill>
                <a:latin typeface="Trebuchet MS" pitchFamily="34" charset="0"/>
                <a:ea typeface="Trebuchet MS" pitchFamily="34" charset="-122"/>
                <a:cs typeface="Trebuchet MS" pitchFamily="34" charset="-120"/>
              </a:rPr>
              <a:t>Many-to-Many</a:t>
            </a:r>
            <a:endParaRPr lang="en-US" sz="1000" dirty="0"/>
          </a:p>
        </p:txBody>
      </p:sp>
      <p:sp>
        <p:nvSpPr>
          <p:cNvPr id="55" name="Text 53"/>
          <p:cNvSpPr/>
          <p:nvPr/>
        </p:nvSpPr>
        <p:spPr>
          <a:xfrm>
            <a:off x="4846320" y="4279392"/>
            <a:ext cx="1783080" cy="64008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Sequence → sequence</a:t>
            </a:r>
            <a:endParaRPr lang="en-US" sz="950" dirty="0"/>
          </a:p>
          <a:p>
            <a:pPr marL="0" indent="0">
              <a:buNone/>
            </a:pPr>
            <a:r>
              <a:rPr lang="en-US" sz="950" dirty="0">
                <a:solidFill>
                  <a:srgbClr val="2D3748"/>
                </a:solidFill>
                <a:latin typeface="Calibri" pitchFamily="34" charset="0"/>
                <a:ea typeface="Calibri" pitchFamily="34" charset="-122"/>
                <a:cs typeface="Calibri" pitchFamily="34" charset="-120"/>
              </a:rPr>
              <a:t>Machine Translation</a:t>
            </a:r>
            <a:endParaRPr lang="en-US" sz="950" dirty="0"/>
          </a:p>
        </p:txBody>
      </p:sp>
      <p:sp>
        <p:nvSpPr>
          <p:cNvPr id="56" name="Shape 54"/>
          <p:cNvSpPr/>
          <p:nvPr/>
        </p:nvSpPr>
        <p:spPr>
          <a:xfrm>
            <a:off x="6903720" y="3895344"/>
            <a:ext cx="2057400" cy="1078992"/>
          </a:xfrm>
          <a:prstGeom prst="rect">
            <a:avLst/>
          </a:prstGeom>
          <a:solidFill>
            <a:srgbClr val="EDE9F6"/>
          </a:solidFill>
          <a:ln w="15240">
            <a:solidFill>
              <a:srgbClr val="553C9A"/>
            </a:solidFill>
            <a:prstDash val="solid"/>
          </a:ln>
        </p:spPr>
        <p:txBody>
          <a:bodyPr/>
          <a:lstStyle/>
          <a:p>
            <a:endParaRPr lang="en-US"/>
          </a:p>
        </p:txBody>
      </p:sp>
      <p:sp>
        <p:nvSpPr>
          <p:cNvPr id="57" name="Shape 55"/>
          <p:cNvSpPr/>
          <p:nvPr/>
        </p:nvSpPr>
        <p:spPr>
          <a:xfrm>
            <a:off x="6903720" y="3895344"/>
            <a:ext cx="2057400" cy="64008"/>
          </a:xfrm>
          <a:prstGeom prst="rect">
            <a:avLst/>
          </a:prstGeom>
          <a:solidFill>
            <a:srgbClr val="553C9A"/>
          </a:solidFill>
          <a:ln w="12700">
            <a:solidFill>
              <a:srgbClr val="553C9A"/>
            </a:solidFill>
            <a:prstDash val="solid"/>
          </a:ln>
        </p:spPr>
        <p:txBody>
          <a:bodyPr/>
          <a:lstStyle/>
          <a:p>
            <a:endParaRPr lang="en-US"/>
          </a:p>
        </p:txBody>
      </p:sp>
      <p:sp>
        <p:nvSpPr>
          <p:cNvPr id="58" name="Text 56"/>
          <p:cNvSpPr/>
          <p:nvPr/>
        </p:nvSpPr>
        <p:spPr>
          <a:xfrm>
            <a:off x="7040880" y="3986784"/>
            <a:ext cx="1783080" cy="256032"/>
          </a:xfrm>
          <a:prstGeom prst="rect">
            <a:avLst/>
          </a:prstGeom>
          <a:noFill/>
          <a:ln/>
        </p:spPr>
        <p:txBody>
          <a:bodyPr wrap="square" lIns="0" tIns="0" rIns="0" bIns="0" rtlCol="0" anchor="ctr"/>
          <a:lstStyle/>
          <a:p>
            <a:pPr marL="0" indent="0">
              <a:buNone/>
            </a:pPr>
            <a:r>
              <a:rPr lang="en-US" sz="1000" b="1" dirty="0">
                <a:solidFill>
                  <a:srgbClr val="553C9A"/>
                </a:solidFill>
                <a:latin typeface="Trebuchet MS" pitchFamily="34" charset="0"/>
                <a:ea typeface="Trebuchet MS" pitchFamily="34" charset="-122"/>
                <a:cs typeface="Trebuchet MS" pitchFamily="34" charset="-120"/>
              </a:rPr>
              <a:t>Bidirectional</a:t>
            </a:r>
            <a:endParaRPr lang="en-US" sz="1000" dirty="0"/>
          </a:p>
        </p:txBody>
      </p:sp>
      <p:sp>
        <p:nvSpPr>
          <p:cNvPr id="59" name="Text 57"/>
          <p:cNvSpPr/>
          <p:nvPr/>
        </p:nvSpPr>
        <p:spPr>
          <a:xfrm>
            <a:off x="7040880" y="4279392"/>
            <a:ext cx="1783080" cy="64008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Forward + Backward</a:t>
            </a:r>
            <a:endParaRPr lang="en-US" sz="950" dirty="0"/>
          </a:p>
          <a:p>
            <a:pPr marL="0" indent="0">
              <a:buNone/>
            </a:pPr>
            <a:r>
              <a:rPr lang="en-US" sz="950" dirty="0">
                <a:solidFill>
                  <a:srgbClr val="2D3748"/>
                </a:solidFill>
                <a:latin typeface="Calibri" pitchFamily="34" charset="0"/>
                <a:ea typeface="Calibri" pitchFamily="34" charset="-122"/>
                <a:cs typeface="Calibri" pitchFamily="34" charset="-120"/>
              </a:rPr>
              <a:t>Context both ways</a:t>
            </a:r>
            <a:endParaRPr lang="en-US" sz="9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CBD5E0"/>
            </a:solidFill>
            <a:prstDash val="solid"/>
          </a:ln>
        </p:spPr>
        <p:txBody>
          <a:bodyPr/>
          <a:lstStyle/>
          <a:p>
            <a:endParaRPr lang="en-US"/>
          </a:p>
        </p:txBody>
      </p:sp>
      <p:sp>
        <p:nvSpPr>
          <p:cNvPr id="3" name="Shape 1"/>
          <p:cNvSpPr/>
          <p:nvPr/>
        </p:nvSpPr>
        <p:spPr>
          <a:xfrm>
            <a:off x="0" y="0"/>
            <a:ext cx="201168" cy="960120"/>
          </a:xfrm>
          <a:prstGeom prst="rect">
            <a:avLst/>
          </a:prstGeom>
          <a:solidFill>
            <a:srgbClr val="276749"/>
          </a:solidFill>
          <a:ln w="12700">
            <a:solidFill>
              <a:srgbClr val="276749"/>
            </a:solidFill>
            <a:prstDash val="solid"/>
          </a:ln>
        </p:spPr>
        <p:txBody>
          <a:bodyPr/>
          <a:lstStyle/>
          <a:p>
            <a:endParaRPr lang="en-US"/>
          </a:p>
        </p:txBody>
      </p:sp>
      <p:sp>
        <p:nvSpPr>
          <p:cNvPr id="4" name="Text 2"/>
          <p:cNvSpPr/>
          <p:nvPr/>
        </p:nvSpPr>
        <p:spPr>
          <a:xfrm>
            <a:off x="347472" y="91440"/>
            <a:ext cx="8412480" cy="475488"/>
          </a:xfrm>
          <a:prstGeom prst="rect">
            <a:avLst/>
          </a:prstGeom>
          <a:noFill/>
          <a:ln/>
        </p:spPr>
        <p:txBody>
          <a:bodyPr wrap="square" lIns="0" tIns="0" rIns="0" bIns="0" rtlCol="0" anchor="ctr"/>
          <a:lstStyle/>
          <a:p>
            <a:pPr marL="0" indent="0">
              <a:buNone/>
            </a:pPr>
            <a:r>
              <a:rPr lang="en-US" sz="2200" b="1" dirty="0">
                <a:solidFill>
                  <a:srgbClr val="1E3A5F"/>
                </a:solidFill>
                <a:latin typeface="Trebuchet MS" pitchFamily="34" charset="0"/>
                <a:ea typeface="Trebuchet MS" pitchFamily="34" charset="-122"/>
                <a:cs typeface="Trebuchet MS" pitchFamily="34" charset="-120"/>
              </a:rPr>
              <a:t>RNN — Applications</a:t>
            </a:r>
            <a:endParaRPr lang="en-US" sz="2200" dirty="0"/>
          </a:p>
        </p:txBody>
      </p:sp>
      <p:sp>
        <p:nvSpPr>
          <p:cNvPr id="5" name="Text 3"/>
          <p:cNvSpPr/>
          <p:nvPr/>
        </p:nvSpPr>
        <p:spPr>
          <a:xfrm>
            <a:off x="347472" y="585216"/>
            <a:ext cx="8412480" cy="292608"/>
          </a:xfrm>
          <a:prstGeom prst="rect">
            <a:avLst/>
          </a:prstGeom>
          <a:noFill/>
          <a:ln/>
        </p:spPr>
        <p:txBody>
          <a:bodyPr wrap="square" lIns="0" tIns="0" rIns="0" bIns="0" rtlCol="0" anchor="ctr"/>
          <a:lstStyle/>
          <a:p>
            <a:pPr marL="0" indent="0">
              <a:buNone/>
            </a:pPr>
            <a:r>
              <a:rPr lang="en-US" sz="1100" i="1" dirty="0">
                <a:solidFill>
                  <a:srgbClr val="718096"/>
                </a:solidFill>
                <a:latin typeface="Calibri" pitchFamily="34" charset="0"/>
                <a:ea typeface="Calibri" pitchFamily="34" charset="-122"/>
                <a:cs typeface="Calibri" pitchFamily="34" charset="-120"/>
              </a:rPr>
              <a:t>Powering the Language-Based AI You Use Every Day</a:t>
            </a:r>
            <a:endParaRPr lang="en-US" sz="1100" dirty="0"/>
          </a:p>
        </p:txBody>
      </p:sp>
      <p:sp>
        <p:nvSpPr>
          <p:cNvPr id="6" name="Shape 4"/>
          <p:cNvSpPr/>
          <p:nvPr/>
        </p:nvSpPr>
        <p:spPr>
          <a:xfrm>
            <a:off x="320040" y="942964"/>
            <a:ext cx="8503920" cy="27432"/>
          </a:xfrm>
          <a:prstGeom prst="rect">
            <a:avLst/>
          </a:prstGeom>
          <a:solidFill>
            <a:srgbClr val="276749">
              <a:alpha val="30000"/>
            </a:srgbClr>
          </a:solidFill>
          <a:ln/>
        </p:spPr>
        <p:txBody>
          <a:bodyPr/>
          <a:lstStyle/>
          <a:p>
            <a:endParaRPr lang="en-US"/>
          </a:p>
        </p:txBody>
      </p:sp>
      <p:sp>
        <p:nvSpPr>
          <p:cNvPr id="7" name="Shape 5"/>
          <p:cNvSpPr/>
          <p:nvPr/>
        </p:nvSpPr>
        <p:spPr>
          <a:xfrm>
            <a:off x="320040" y="1356361"/>
            <a:ext cx="2743200" cy="1207008"/>
          </a:xfrm>
          <a:prstGeom prst="rect">
            <a:avLst/>
          </a:prstGeom>
          <a:solidFill>
            <a:srgbClr val="E6F4EC"/>
          </a:solidFill>
          <a:ln w="15240">
            <a:solidFill>
              <a:srgbClr val="276749"/>
            </a:solidFill>
            <a:prstDash val="solid"/>
          </a:ln>
          <a:effectLst>
            <a:outerShdw blurRad="63500" dist="25400" dir="8100000" algn="bl" rotWithShape="0">
              <a:srgbClr val="000000">
                <a:alpha val="8000"/>
              </a:srgbClr>
            </a:outerShdw>
          </a:effectLst>
        </p:spPr>
        <p:txBody>
          <a:bodyPr/>
          <a:lstStyle/>
          <a:p>
            <a:endParaRPr lang="en-US"/>
          </a:p>
        </p:txBody>
      </p:sp>
      <p:sp>
        <p:nvSpPr>
          <p:cNvPr id="8" name="Shape 6"/>
          <p:cNvSpPr/>
          <p:nvPr/>
        </p:nvSpPr>
        <p:spPr>
          <a:xfrm>
            <a:off x="320040" y="1356361"/>
            <a:ext cx="2743200" cy="64008"/>
          </a:xfrm>
          <a:prstGeom prst="rect">
            <a:avLst/>
          </a:prstGeom>
          <a:solidFill>
            <a:srgbClr val="276749"/>
          </a:solidFill>
          <a:ln w="12700">
            <a:solidFill>
              <a:srgbClr val="276749"/>
            </a:solidFill>
            <a:prstDash val="solid"/>
          </a:ln>
        </p:spPr>
        <p:txBody>
          <a:bodyPr/>
          <a:lstStyle/>
          <a:p>
            <a:endParaRPr lang="en-US"/>
          </a:p>
        </p:txBody>
      </p:sp>
      <p:sp>
        <p:nvSpPr>
          <p:cNvPr id="9" name="Text 7"/>
          <p:cNvSpPr/>
          <p:nvPr/>
        </p:nvSpPr>
        <p:spPr>
          <a:xfrm>
            <a:off x="438224" y="1466089"/>
            <a:ext cx="2487168" cy="256032"/>
          </a:xfrm>
          <a:prstGeom prst="rect">
            <a:avLst/>
          </a:prstGeom>
          <a:noFill/>
          <a:ln/>
        </p:spPr>
        <p:txBody>
          <a:bodyPr wrap="square" lIns="0" tIns="0" rIns="0" bIns="0" rtlCol="0" anchor="ctr"/>
          <a:lstStyle/>
          <a:p>
            <a:pPr marL="0" indent="0">
              <a:buNone/>
            </a:pPr>
            <a:r>
              <a:rPr lang="en-US" sz="1050" b="1" dirty="0">
                <a:solidFill>
                  <a:srgbClr val="276749"/>
                </a:solidFill>
                <a:latin typeface="Trebuchet MS" pitchFamily="34" charset="0"/>
                <a:ea typeface="Trebuchet MS" pitchFamily="34" charset="-122"/>
                <a:cs typeface="Trebuchet MS" pitchFamily="34" charset="-120"/>
              </a:rPr>
              <a:t>Machine Translation</a:t>
            </a:r>
            <a:endParaRPr lang="en-US" sz="1050" dirty="0"/>
          </a:p>
        </p:txBody>
      </p:sp>
      <p:sp>
        <p:nvSpPr>
          <p:cNvPr id="10" name="Text 8"/>
          <p:cNvSpPr/>
          <p:nvPr/>
        </p:nvSpPr>
        <p:spPr>
          <a:xfrm>
            <a:off x="438224" y="1758697"/>
            <a:ext cx="2487168" cy="749808"/>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Google Translate — converting full sentences between languages by understanding complete context.</a:t>
            </a:r>
            <a:endParaRPr lang="en-US" sz="1000" dirty="0"/>
          </a:p>
        </p:txBody>
      </p:sp>
      <p:sp>
        <p:nvSpPr>
          <p:cNvPr id="11" name="Shape 9"/>
          <p:cNvSpPr/>
          <p:nvPr/>
        </p:nvSpPr>
        <p:spPr>
          <a:xfrm>
            <a:off x="3246120" y="1356361"/>
            <a:ext cx="2743200" cy="1207008"/>
          </a:xfrm>
          <a:prstGeom prst="rect">
            <a:avLst/>
          </a:prstGeom>
          <a:solidFill>
            <a:srgbClr val="E6F6F9"/>
          </a:solidFill>
          <a:ln w="15240">
            <a:solidFill>
              <a:srgbClr val="0987A0"/>
            </a:solidFill>
            <a:prstDash val="solid"/>
          </a:ln>
          <a:effectLst>
            <a:outerShdw blurRad="63500" dist="25400" dir="8100000" algn="bl" rotWithShape="0">
              <a:srgbClr val="000000">
                <a:alpha val="8000"/>
              </a:srgbClr>
            </a:outerShdw>
          </a:effectLst>
        </p:spPr>
        <p:txBody>
          <a:bodyPr/>
          <a:lstStyle/>
          <a:p>
            <a:endParaRPr lang="en-US"/>
          </a:p>
        </p:txBody>
      </p:sp>
      <p:sp>
        <p:nvSpPr>
          <p:cNvPr id="12" name="Shape 10"/>
          <p:cNvSpPr/>
          <p:nvPr/>
        </p:nvSpPr>
        <p:spPr>
          <a:xfrm>
            <a:off x="3246120" y="1356361"/>
            <a:ext cx="2743200" cy="64008"/>
          </a:xfrm>
          <a:prstGeom prst="rect">
            <a:avLst/>
          </a:prstGeom>
          <a:solidFill>
            <a:srgbClr val="0987A0"/>
          </a:solidFill>
          <a:ln w="12700">
            <a:solidFill>
              <a:srgbClr val="0987A0"/>
            </a:solidFill>
            <a:prstDash val="solid"/>
          </a:ln>
        </p:spPr>
        <p:txBody>
          <a:bodyPr/>
          <a:lstStyle/>
          <a:p>
            <a:endParaRPr lang="en-US"/>
          </a:p>
        </p:txBody>
      </p:sp>
      <p:sp>
        <p:nvSpPr>
          <p:cNvPr id="13" name="Text 11"/>
          <p:cNvSpPr/>
          <p:nvPr/>
        </p:nvSpPr>
        <p:spPr>
          <a:xfrm>
            <a:off x="3364304" y="1466089"/>
            <a:ext cx="2487168" cy="256032"/>
          </a:xfrm>
          <a:prstGeom prst="rect">
            <a:avLst/>
          </a:prstGeom>
          <a:noFill/>
          <a:ln/>
        </p:spPr>
        <p:txBody>
          <a:bodyPr wrap="square" lIns="0" tIns="0" rIns="0" bIns="0" rtlCol="0" anchor="ctr"/>
          <a:lstStyle/>
          <a:p>
            <a:pPr marL="0" indent="0">
              <a:buNone/>
            </a:pPr>
            <a:r>
              <a:rPr lang="en-US" sz="1050" b="1" dirty="0">
                <a:solidFill>
                  <a:srgbClr val="0987A0"/>
                </a:solidFill>
                <a:latin typeface="Trebuchet MS" pitchFamily="34" charset="0"/>
                <a:ea typeface="Trebuchet MS" pitchFamily="34" charset="-122"/>
                <a:cs typeface="Trebuchet MS" pitchFamily="34" charset="-120"/>
              </a:rPr>
              <a:t>Speech Recognition</a:t>
            </a:r>
            <a:endParaRPr lang="en-US" sz="1050" dirty="0"/>
          </a:p>
        </p:txBody>
      </p:sp>
      <p:sp>
        <p:nvSpPr>
          <p:cNvPr id="14" name="Text 12"/>
          <p:cNvSpPr/>
          <p:nvPr/>
        </p:nvSpPr>
        <p:spPr>
          <a:xfrm>
            <a:off x="3364304" y="1758697"/>
            <a:ext cx="2487168" cy="749808"/>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Siri, Alexa, Google Assistant — converting spoken audio sequences into text.</a:t>
            </a:r>
            <a:endParaRPr lang="en-US" sz="1000" dirty="0"/>
          </a:p>
        </p:txBody>
      </p:sp>
      <p:sp>
        <p:nvSpPr>
          <p:cNvPr id="15" name="Shape 13"/>
          <p:cNvSpPr/>
          <p:nvPr/>
        </p:nvSpPr>
        <p:spPr>
          <a:xfrm>
            <a:off x="6172200" y="1356361"/>
            <a:ext cx="2743200" cy="1207008"/>
          </a:xfrm>
          <a:prstGeom prst="rect">
            <a:avLst/>
          </a:prstGeom>
          <a:solidFill>
            <a:srgbClr val="E6F2FF"/>
          </a:solidFill>
          <a:ln w="15240">
            <a:solidFill>
              <a:srgbClr val="0071BC"/>
            </a:solidFill>
            <a:prstDash val="solid"/>
          </a:ln>
          <a:effectLst>
            <a:outerShdw blurRad="63500" dist="25400" dir="8100000" algn="bl" rotWithShape="0">
              <a:srgbClr val="000000">
                <a:alpha val="8000"/>
              </a:srgbClr>
            </a:outerShdw>
          </a:effectLst>
        </p:spPr>
        <p:txBody>
          <a:bodyPr/>
          <a:lstStyle/>
          <a:p>
            <a:endParaRPr lang="en-US"/>
          </a:p>
        </p:txBody>
      </p:sp>
      <p:sp>
        <p:nvSpPr>
          <p:cNvPr id="16" name="Shape 14"/>
          <p:cNvSpPr/>
          <p:nvPr/>
        </p:nvSpPr>
        <p:spPr>
          <a:xfrm>
            <a:off x="6172200" y="1356361"/>
            <a:ext cx="2743200" cy="64008"/>
          </a:xfrm>
          <a:prstGeom prst="rect">
            <a:avLst/>
          </a:prstGeom>
          <a:solidFill>
            <a:srgbClr val="0071BC"/>
          </a:solidFill>
          <a:ln w="12700">
            <a:solidFill>
              <a:srgbClr val="0071BC"/>
            </a:solidFill>
            <a:prstDash val="solid"/>
          </a:ln>
        </p:spPr>
        <p:txBody>
          <a:bodyPr/>
          <a:lstStyle/>
          <a:p>
            <a:endParaRPr lang="en-US"/>
          </a:p>
        </p:txBody>
      </p:sp>
      <p:sp>
        <p:nvSpPr>
          <p:cNvPr id="17" name="Text 15"/>
          <p:cNvSpPr/>
          <p:nvPr/>
        </p:nvSpPr>
        <p:spPr>
          <a:xfrm>
            <a:off x="6290384" y="1466089"/>
            <a:ext cx="2487168" cy="256032"/>
          </a:xfrm>
          <a:prstGeom prst="rect">
            <a:avLst/>
          </a:prstGeom>
          <a:noFill/>
          <a:ln/>
        </p:spPr>
        <p:txBody>
          <a:bodyPr wrap="square" lIns="0" tIns="0" rIns="0" bIns="0" rtlCol="0" anchor="ctr"/>
          <a:lstStyle/>
          <a:p>
            <a:pPr marL="0" indent="0">
              <a:buNone/>
            </a:pPr>
            <a:r>
              <a:rPr lang="en-US" sz="1050" b="1" dirty="0">
                <a:solidFill>
                  <a:srgbClr val="0071BC"/>
                </a:solidFill>
                <a:latin typeface="Trebuchet MS" pitchFamily="34" charset="0"/>
                <a:ea typeface="Trebuchet MS" pitchFamily="34" charset="-122"/>
                <a:cs typeface="Trebuchet MS" pitchFamily="34" charset="-120"/>
              </a:rPr>
              <a:t>Sentiment Analysis</a:t>
            </a:r>
            <a:endParaRPr lang="en-US" sz="1050" dirty="0"/>
          </a:p>
        </p:txBody>
      </p:sp>
      <p:sp>
        <p:nvSpPr>
          <p:cNvPr id="18" name="Text 16"/>
          <p:cNvSpPr/>
          <p:nvPr/>
        </p:nvSpPr>
        <p:spPr>
          <a:xfrm>
            <a:off x="6290384" y="1758697"/>
            <a:ext cx="2487168" cy="749808"/>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Classifying text as positive/negative/neutral — product reviews, social media monitoring.</a:t>
            </a:r>
            <a:endParaRPr lang="en-US" sz="1000" dirty="0"/>
          </a:p>
        </p:txBody>
      </p:sp>
      <p:sp>
        <p:nvSpPr>
          <p:cNvPr id="19" name="Shape 17"/>
          <p:cNvSpPr/>
          <p:nvPr/>
        </p:nvSpPr>
        <p:spPr>
          <a:xfrm>
            <a:off x="310208" y="2654809"/>
            <a:ext cx="2743200" cy="1207008"/>
          </a:xfrm>
          <a:prstGeom prst="rect">
            <a:avLst/>
          </a:prstGeom>
          <a:solidFill>
            <a:srgbClr val="EDF2F7"/>
          </a:solidFill>
          <a:ln w="15240">
            <a:solidFill>
              <a:srgbClr val="1E3A5F"/>
            </a:solidFill>
            <a:prstDash val="solid"/>
          </a:ln>
          <a:effectLst>
            <a:outerShdw blurRad="63500" dist="25400" dir="8100000" algn="bl" rotWithShape="0">
              <a:srgbClr val="000000">
                <a:alpha val="8000"/>
              </a:srgbClr>
            </a:outerShdw>
          </a:effectLst>
        </p:spPr>
        <p:txBody>
          <a:bodyPr/>
          <a:lstStyle/>
          <a:p>
            <a:endParaRPr lang="en-US"/>
          </a:p>
        </p:txBody>
      </p:sp>
      <p:sp>
        <p:nvSpPr>
          <p:cNvPr id="20" name="Shape 18"/>
          <p:cNvSpPr/>
          <p:nvPr/>
        </p:nvSpPr>
        <p:spPr>
          <a:xfrm>
            <a:off x="310208" y="2654809"/>
            <a:ext cx="2743200" cy="64008"/>
          </a:xfrm>
          <a:prstGeom prst="rect">
            <a:avLst/>
          </a:prstGeom>
          <a:solidFill>
            <a:srgbClr val="1E3A5F"/>
          </a:solidFill>
          <a:ln w="12700">
            <a:solidFill>
              <a:srgbClr val="1E3A5F"/>
            </a:solidFill>
            <a:prstDash val="solid"/>
          </a:ln>
        </p:spPr>
        <p:txBody>
          <a:bodyPr/>
          <a:lstStyle/>
          <a:p>
            <a:endParaRPr lang="en-US"/>
          </a:p>
        </p:txBody>
      </p:sp>
      <p:sp>
        <p:nvSpPr>
          <p:cNvPr id="21" name="Text 19"/>
          <p:cNvSpPr/>
          <p:nvPr/>
        </p:nvSpPr>
        <p:spPr>
          <a:xfrm>
            <a:off x="438224" y="2764537"/>
            <a:ext cx="2487168" cy="256032"/>
          </a:xfrm>
          <a:prstGeom prst="rect">
            <a:avLst/>
          </a:prstGeom>
          <a:noFill/>
          <a:ln/>
        </p:spPr>
        <p:txBody>
          <a:bodyPr wrap="square" lIns="0" tIns="0" rIns="0" bIns="0" rtlCol="0" anchor="ctr"/>
          <a:lstStyle/>
          <a:p>
            <a:pPr marL="0" indent="0">
              <a:buNone/>
            </a:pPr>
            <a:r>
              <a:rPr lang="en-US" sz="1050" b="1" dirty="0">
                <a:solidFill>
                  <a:srgbClr val="1E3A5F"/>
                </a:solidFill>
                <a:latin typeface="Trebuchet MS" pitchFamily="34" charset="0"/>
                <a:ea typeface="Trebuchet MS" pitchFamily="34" charset="-122"/>
                <a:cs typeface="Trebuchet MS" pitchFamily="34" charset="-120"/>
              </a:rPr>
              <a:t>Text Generation</a:t>
            </a:r>
            <a:endParaRPr lang="en-US" sz="1050" dirty="0"/>
          </a:p>
        </p:txBody>
      </p:sp>
      <p:sp>
        <p:nvSpPr>
          <p:cNvPr id="22" name="Text 20"/>
          <p:cNvSpPr/>
          <p:nvPr/>
        </p:nvSpPr>
        <p:spPr>
          <a:xfrm>
            <a:off x="438224" y="3057145"/>
            <a:ext cx="2487168" cy="749808"/>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Auto-completing sentences, chatbots — processing and generating language word by word.</a:t>
            </a:r>
            <a:endParaRPr lang="en-US" sz="1000" dirty="0"/>
          </a:p>
        </p:txBody>
      </p:sp>
      <p:sp>
        <p:nvSpPr>
          <p:cNvPr id="23" name="Shape 21"/>
          <p:cNvSpPr/>
          <p:nvPr/>
        </p:nvSpPr>
        <p:spPr>
          <a:xfrm>
            <a:off x="3236288" y="2654809"/>
            <a:ext cx="2743200" cy="1207008"/>
          </a:xfrm>
          <a:prstGeom prst="rect">
            <a:avLst/>
          </a:prstGeom>
          <a:solidFill>
            <a:srgbClr val="FFFBEB"/>
          </a:solidFill>
          <a:ln w="15240">
            <a:solidFill>
              <a:srgbClr val="B7791F"/>
            </a:solidFill>
            <a:prstDash val="solid"/>
          </a:ln>
          <a:effectLst>
            <a:outerShdw blurRad="63500" dist="25400" dir="8100000" algn="bl" rotWithShape="0">
              <a:srgbClr val="000000">
                <a:alpha val="8000"/>
              </a:srgbClr>
            </a:outerShdw>
          </a:effectLst>
        </p:spPr>
        <p:txBody>
          <a:bodyPr/>
          <a:lstStyle/>
          <a:p>
            <a:endParaRPr lang="en-US"/>
          </a:p>
        </p:txBody>
      </p:sp>
      <p:sp>
        <p:nvSpPr>
          <p:cNvPr id="24" name="Shape 22"/>
          <p:cNvSpPr/>
          <p:nvPr/>
        </p:nvSpPr>
        <p:spPr>
          <a:xfrm>
            <a:off x="3236288" y="2654809"/>
            <a:ext cx="2743200" cy="64008"/>
          </a:xfrm>
          <a:prstGeom prst="rect">
            <a:avLst/>
          </a:prstGeom>
          <a:solidFill>
            <a:srgbClr val="B7791F"/>
          </a:solidFill>
          <a:ln w="12700">
            <a:solidFill>
              <a:srgbClr val="B7791F"/>
            </a:solidFill>
            <a:prstDash val="solid"/>
          </a:ln>
        </p:spPr>
        <p:txBody>
          <a:bodyPr/>
          <a:lstStyle/>
          <a:p>
            <a:endParaRPr lang="en-US"/>
          </a:p>
        </p:txBody>
      </p:sp>
      <p:sp>
        <p:nvSpPr>
          <p:cNvPr id="25" name="Text 23"/>
          <p:cNvSpPr/>
          <p:nvPr/>
        </p:nvSpPr>
        <p:spPr>
          <a:xfrm>
            <a:off x="3364304" y="2764537"/>
            <a:ext cx="2487168" cy="256032"/>
          </a:xfrm>
          <a:prstGeom prst="rect">
            <a:avLst/>
          </a:prstGeom>
          <a:noFill/>
          <a:ln/>
        </p:spPr>
        <p:txBody>
          <a:bodyPr wrap="square" lIns="0" tIns="0" rIns="0" bIns="0" rtlCol="0" anchor="ctr"/>
          <a:lstStyle/>
          <a:p>
            <a:pPr marL="0" indent="0">
              <a:buNone/>
            </a:pPr>
            <a:r>
              <a:rPr lang="en-US" sz="1050" b="1" dirty="0">
                <a:solidFill>
                  <a:srgbClr val="B7791F"/>
                </a:solidFill>
                <a:latin typeface="Trebuchet MS" pitchFamily="34" charset="0"/>
                <a:ea typeface="Trebuchet MS" pitchFamily="34" charset="-122"/>
                <a:cs typeface="Trebuchet MS" pitchFamily="34" charset="-120"/>
              </a:rPr>
              <a:t>Time Series Prediction</a:t>
            </a:r>
            <a:endParaRPr lang="en-US" sz="1050" dirty="0"/>
          </a:p>
        </p:txBody>
      </p:sp>
      <p:sp>
        <p:nvSpPr>
          <p:cNvPr id="26" name="Text 24"/>
          <p:cNvSpPr/>
          <p:nvPr/>
        </p:nvSpPr>
        <p:spPr>
          <a:xfrm>
            <a:off x="3364304" y="3057145"/>
            <a:ext cx="2487168" cy="749808"/>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Stock price forecasting, weather prediction — learning patterns in numerical sequences over time.</a:t>
            </a:r>
            <a:endParaRPr lang="en-US" sz="1000" dirty="0"/>
          </a:p>
        </p:txBody>
      </p:sp>
      <p:sp>
        <p:nvSpPr>
          <p:cNvPr id="27" name="Shape 25"/>
          <p:cNvSpPr/>
          <p:nvPr/>
        </p:nvSpPr>
        <p:spPr>
          <a:xfrm>
            <a:off x="6162368" y="2654809"/>
            <a:ext cx="2743200" cy="1207008"/>
          </a:xfrm>
          <a:prstGeom prst="rect">
            <a:avLst/>
          </a:prstGeom>
          <a:solidFill>
            <a:srgbClr val="EDE9F6"/>
          </a:solidFill>
          <a:ln w="15240">
            <a:solidFill>
              <a:srgbClr val="553C9A"/>
            </a:solidFill>
            <a:prstDash val="solid"/>
          </a:ln>
          <a:effectLst>
            <a:outerShdw blurRad="63500" dist="25400" dir="8100000" algn="bl" rotWithShape="0">
              <a:srgbClr val="000000">
                <a:alpha val="8000"/>
              </a:srgbClr>
            </a:outerShdw>
          </a:effectLst>
        </p:spPr>
        <p:txBody>
          <a:bodyPr/>
          <a:lstStyle/>
          <a:p>
            <a:endParaRPr lang="en-US"/>
          </a:p>
        </p:txBody>
      </p:sp>
      <p:sp>
        <p:nvSpPr>
          <p:cNvPr id="28" name="Shape 26"/>
          <p:cNvSpPr/>
          <p:nvPr/>
        </p:nvSpPr>
        <p:spPr>
          <a:xfrm>
            <a:off x="6162368" y="2654809"/>
            <a:ext cx="2743200" cy="64008"/>
          </a:xfrm>
          <a:prstGeom prst="rect">
            <a:avLst/>
          </a:prstGeom>
          <a:solidFill>
            <a:srgbClr val="553C9A"/>
          </a:solidFill>
          <a:ln w="12700">
            <a:solidFill>
              <a:srgbClr val="553C9A"/>
            </a:solidFill>
            <a:prstDash val="solid"/>
          </a:ln>
        </p:spPr>
        <p:txBody>
          <a:bodyPr/>
          <a:lstStyle/>
          <a:p>
            <a:endParaRPr lang="en-US"/>
          </a:p>
        </p:txBody>
      </p:sp>
      <p:sp>
        <p:nvSpPr>
          <p:cNvPr id="29" name="Text 27"/>
          <p:cNvSpPr/>
          <p:nvPr/>
        </p:nvSpPr>
        <p:spPr>
          <a:xfrm>
            <a:off x="6290384" y="2764537"/>
            <a:ext cx="2487168" cy="256032"/>
          </a:xfrm>
          <a:prstGeom prst="rect">
            <a:avLst/>
          </a:prstGeom>
          <a:noFill/>
          <a:ln/>
        </p:spPr>
        <p:txBody>
          <a:bodyPr wrap="square" lIns="0" tIns="0" rIns="0" bIns="0" rtlCol="0" anchor="ctr"/>
          <a:lstStyle/>
          <a:p>
            <a:pPr marL="0" indent="0">
              <a:buNone/>
            </a:pPr>
            <a:r>
              <a:rPr lang="en-US" sz="1050" b="1" dirty="0">
                <a:solidFill>
                  <a:srgbClr val="553C9A"/>
                </a:solidFill>
                <a:latin typeface="Trebuchet MS" pitchFamily="34" charset="0"/>
                <a:ea typeface="Trebuchet MS" pitchFamily="34" charset="-122"/>
                <a:cs typeface="Trebuchet MS" pitchFamily="34" charset="-120"/>
              </a:rPr>
              <a:t>Music Generation</a:t>
            </a:r>
            <a:endParaRPr lang="en-US" sz="1050" dirty="0"/>
          </a:p>
        </p:txBody>
      </p:sp>
      <p:sp>
        <p:nvSpPr>
          <p:cNvPr id="30" name="Text 28"/>
          <p:cNvSpPr/>
          <p:nvPr/>
        </p:nvSpPr>
        <p:spPr>
          <a:xfrm>
            <a:off x="6290384" y="3057145"/>
            <a:ext cx="2487168" cy="749808"/>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Composing music note by note — understanding and continuing musical sequences.</a:t>
            </a:r>
            <a:endParaRPr lang="en-US" sz="1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EDE9F6"/>
          </a:solidFill>
          <a:ln w="12700">
            <a:solidFill>
              <a:srgbClr val="CBD5E0"/>
            </a:solidFill>
            <a:prstDash val="solid"/>
          </a:ln>
        </p:spPr>
        <p:txBody>
          <a:bodyPr/>
          <a:lstStyle/>
          <a:p>
            <a:endParaRPr lang="en-US"/>
          </a:p>
        </p:txBody>
      </p:sp>
      <p:sp>
        <p:nvSpPr>
          <p:cNvPr id="3" name="Shape 1"/>
          <p:cNvSpPr/>
          <p:nvPr/>
        </p:nvSpPr>
        <p:spPr>
          <a:xfrm>
            <a:off x="0" y="0"/>
            <a:ext cx="201168" cy="960120"/>
          </a:xfrm>
          <a:prstGeom prst="rect">
            <a:avLst/>
          </a:prstGeom>
          <a:solidFill>
            <a:srgbClr val="553C9A"/>
          </a:solidFill>
          <a:ln w="12700">
            <a:solidFill>
              <a:srgbClr val="553C9A"/>
            </a:solidFill>
            <a:prstDash val="solid"/>
          </a:ln>
        </p:spPr>
        <p:txBody>
          <a:bodyPr/>
          <a:lstStyle/>
          <a:p>
            <a:endParaRPr lang="en-US"/>
          </a:p>
        </p:txBody>
      </p:sp>
      <p:sp>
        <p:nvSpPr>
          <p:cNvPr id="4" name="Text 2"/>
          <p:cNvSpPr/>
          <p:nvPr/>
        </p:nvSpPr>
        <p:spPr>
          <a:xfrm>
            <a:off x="347472" y="73152"/>
            <a:ext cx="3657600" cy="274320"/>
          </a:xfrm>
          <a:prstGeom prst="rect">
            <a:avLst/>
          </a:prstGeom>
          <a:noFill/>
          <a:ln/>
        </p:spPr>
        <p:txBody>
          <a:bodyPr wrap="square" lIns="0" tIns="0" rIns="0" bIns="0" rtlCol="0" anchor="ctr"/>
          <a:lstStyle/>
          <a:p>
            <a:pPr marL="0" indent="0">
              <a:buNone/>
            </a:pPr>
            <a:r>
              <a:rPr lang="en-US" sz="1000" b="1" kern="0" spc="200" dirty="0">
                <a:solidFill>
                  <a:srgbClr val="553C9A"/>
                </a:solidFill>
                <a:latin typeface="Trebuchet MS" pitchFamily="34" charset="0"/>
                <a:ea typeface="Trebuchet MS" pitchFamily="34" charset="-122"/>
                <a:cs typeface="Trebuchet MS" pitchFamily="34" charset="-120"/>
              </a:rPr>
              <a:t>PART 3  —  GAN</a:t>
            </a:r>
            <a:endParaRPr lang="en-US" sz="1000" dirty="0"/>
          </a:p>
        </p:txBody>
      </p:sp>
      <p:sp>
        <p:nvSpPr>
          <p:cNvPr id="5" name="Text 3"/>
          <p:cNvSpPr/>
          <p:nvPr/>
        </p:nvSpPr>
        <p:spPr>
          <a:xfrm>
            <a:off x="347472" y="347472"/>
            <a:ext cx="8412480" cy="475488"/>
          </a:xfrm>
          <a:prstGeom prst="rect">
            <a:avLst/>
          </a:prstGeom>
          <a:noFill/>
          <a:ln/>
        </p:spPr>
        <p:txBody>
          <a:bodyPr wrap="square" lIns="0" tIns="0" rIns="0" bIns="0" rtlCol="0" anchor="ctr"/>
          <a:lstStyle/>
          <a:p>
            <a:pPr marL="0" indent="0">
              <a:buNone/>
            </a:pPr>
            <a:r>
              <a:rPr lang="en-US" sz="2200" b="1" dirty="0">
                <a:solidFill>
                  <a:srgbClr val="1E3A5F"/>
                </a:solidFill>
                <a:latin typeface="Trebuchet MS" pitchFamily="34" charset="0"/>
                <a:ea typeface="Trebuchet MS" pitchFamily="34" charset="-122"/>
                <a:cs typeface="Trebuchet MS" pitchFamily="34" charset="-120"/>
              </a:rPr>
              <a:t>Generative Adversarial Network</a:t>
            </a:r>
            <a:endParaRPr lang="en-US" sz="2200" dirty="0"/>
          </a:p>
        </p:txBody>
      </p:sp>
      <p:sp>
        <p:nvSpPr>
          <p:cNvPr id="6" name="Shape 4"/>
          <p:cNvSpPr/>
          <p:nvPr/>
        </p:nvSpPr>
        <p:spPr>
          <a:xfrm>
            <a:off x="320040" y="1024128"/>
            <a:ext cx="8503920" cy="658368"/>
          </a:xfrm>
          <a:prstGeom prst="rect">
            <a:avLst/>
          </a:prstGeom>
          <a:solidFill>
            <a:srgbClr val="EDE9F6"/>
          </a:solidFill>
          <a:ln w="12700">
            <a:solidFill>
              <a:srgbClr val="553C9A"/>
            </a:solidFill>
            <a:prstDash val="solid"/>
          </a:ln>
          <a:effectLst>
            <a:outerShdw blurRad="63500" dist="25400" dir="8100000" algn="bl" rotWithShape="0">
              <a:srgbClr val="000000">
                <a:alpha val="8000"/>
              </a:srgbClr>
            </a:outerShdw>
          </a:effectLst>
        </p:spPr>
        <p:txBody>
          <a:bodyPr/>
          <a:lstStyle/>
          <a:p>
            <a:endParaRPr lang="en-US"/>
          </a:p>
        </p:txBody>
      </p:sp>
      <p:sp>
        <p:nvSpPr>
          <p:cNvPr id="7" name="Text 5"/>
          <p:cNvSpPr/>
          <p:nvPr/>
        </p:nvSpPr>
        <p:spPr>
          <a:xfrm>
            <a:off x="457200" y="1069848"/>
            <a:ext cx="8229600" cy="548640"/>
          </a:xfrm>
          <a:prstGeom prst="rect">
            <a:avLst/>
          </a:prstGeom>
          <a:noFill/>
          <a:ln/>
        </p:spPr>
        <p:txBody>
          <a:bodyPr wrap="square" lIns="0" tIns="0" rIns="0" bIns="0" rtlCol="0" anchor="ctr"/>
          <a:lstStyle/>
          <a:p>
            <a:pPr marL="0" indent="0">
              <a:buNone/>
            </a:pPr>
            <a:r>
              <a:rPr lang="en-US" sz="1200" b="1" dirty="0">
                <a:solidFill>
                  <a:srgbClr val="553C9A"/>
                </a:solidFill>
                <a:latin typeface="Calibri" pitchFamily="34" charset="0"/>
                <a:ea typeface="Calibri" pitchFamily="34" charset="-122"/>
                <a:cs typeface="Calibri" pitchFamily="34" charset="-120"/>
              </a:rPr>
              <a:t>GAN  </a:t>
            </a:r>
            <a:r>
              <a:rPr lang="en-US" sz="1100" dirty="0">
                <a:solidFill>
                  <a:srgbClr val="2D3748"/>
                </a:solidFill>
                <a:latin typeface="Calibri" pitchFamily="34" charset="0"/>
                <a:ea typeface="Calibri" pitchFamily="34" charset="-122"/>
                <a:cs typeface="Calibri" pitchFamily="34" charset="-120"/>
              </a:rPr>
              <a:t>consists of two neural networks — a Generator and a Discriminator — trained simultaneously through </a:t>
            </a:r>
            <a:r>
              <a:rPr lang="en-US" sz="1100" b="1" dirty="0">
                <a:solidFill>
                  <a:srgbClr val="553C9A"/>
                </a:solidFill>
                <a:latin typeface="Calibri" pitchFamily="34" charset="0"/>
                <a:ea typeface="Calibri" pitchFamily="34" charset="-122"/>
                <a:cs typeface="Calibri" pitchFamily="34" charset="-120"/>
              </a:rPr>
              <a:t>adversarial competition</a:t>
            </a:r>
            <a:r>
              <a:rPr lang="en-US" sz="1100" dirty="0">
                <a:solidFill>
                  <a:srgbClr val="2D3748"/>
                </a:solidFill>
                <a:latin typeface="Calibri" pitchFamily="34" charset="0"/>
                <a:ea typeface="Calibri" pitchFamily="34" charset="-122"/>
                <a:cs typeface="Calibri" pitchFamily="34" charset="-120"/>
              </a:rPr>
              <a:t> to generate new, realistic data. Introduced by Ian Goodfellow in 2014.</a:t>
            </a:r>
            <a:endParaRPr lang="en-US" sz="1200" dirty="0"/>
          </a:p>
        </p:txBody>
      </p:sp>
      <p:sp>
        <p:nvSpPr>
          <p:cNvPr id="8" name="Shape 6"/>
          <p:cNvSpPr/>
          <p:nvPr/>
        </p:nvSpPr>
        <p:spPr>
          <a:xfrm>
            <a:off x="320040" y="1783080"/>
            <a:ext cx="8503920" cy="1024128"/>
          </a:xfrm>
          <a:prstGeom prst="rect">
            <a:avLst/>
          </a:prstGeom>
          <a:solidFill>
            <a:srgbClr val="FFFFFF"/>
          </a:solidFill>
          <a:ln w="12700">
            <a:solidFill>
              <a:srgbClr val="553C9A"/>
            </a:solidFill>
            <a:prstDash val="solid"/>
          </a:ln>
          <a:effectLst>
            <a:outerShdw blurRad="63500" dist="25400" dir="8100000" algn="bl" rotWithShape="0">
              <a:srgbClr val="000000">
                <a:alpha val="8000"/>
              </a:srgbClr>
            </a:outerShdw>
          </a:effectLst>
        </p:spPr>
        <p:txBody>
          <a:bodyPr/>
          <a:lstStyle/>
          <a:p>
            <a:endParaRPr lang="en-US"/>
          </a:p>
        </p:txBody>
      </p:sp>
      <p:sp>
        <p:nvSpPr>
          <p:cNvPr id="9" name="Text 7"/>
          <p:cNvSpPr/>
          <p:nvPr/>
        </p:nvSpPr>
        <p:spPr>
          <a:xfrm>
            <a:off x="457200" y="1865376"/>
            <a:ext cx="2743200" cy="274320"/>
          </a:xfrm>
          <a:prstGeom prst="rect">
            <a:avLst/>
          </a:prstGeom>
          <a:noFill/>
          <a:ln/>
        </p:spPr>
        <p:txBody>
          <a:bodyPr wrap="square" lIns="0" tIns="0" rIns="0" bIns="0" rtlCol="0" anchor="ctr"/>
          <a:lstStyle/>
          <a:p>
            <a:pPr marL="0" indent="0">
              <a:buNone/>
            </a:pPr>
            <a:r>
              <a:rPr lang="en-US" sz="1100" b="1" dirty="0">
                <a:solidFill>
                  <a:srgbClr val="553C9A"/>
                </a:solidFill>
                <a:latin typeface="Trebuchet MS" pitchFamily="34" charset="0"/>
                <a:ea typeface="Trebuchet MS" pitchFamily="34" charset="-122"/>
                <a:cs typeface="Trebuchet MS" pitchFamily="34" charset="-120"/>
              </a:rPr>
              <a:t>The Art Forger Analogy</a:t>
            </a:r>
            <a:endParaRPr lang="en-US" sz="1100" dirty="0"/>
          </a:p>
        </p:txBody>
      </p:sp>
      <p:sp>
        <p:nvSpPr>
          <p:cNvPr id="10" name="Text 8"/>
          <p:cNvSpPr/>
          <p:nvPr/>
        </p:nvSpPr>
        <p:spPr>
          <a:xfrm>
            <a:off x="457200" y="2176272"/>
            <a:ext cx="8046720" cy="566928"/>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A forger creates fake paintings. A detective identifies fakes. The forger improves to fool the detective. The detective improves to catch better fakes. This competition continues until the forger's work is indistinguishable from real masterpieces.</a:t>
            </a:r>
            <a:endParaRPr lang="en-US" sz="1000" dirty="0"/>
          </a:p>
          <a:p>
            <a:pPr marL="0" indent="0">
              <a:buNone/>
            </a:pP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Generator = Forger.   Discriminator = Detective.   This competition is how GAN learns.</a:t>
            </a:r>
            <a:endParaRPr lang="en-US" sz="1000" dirty="0"/>
          </a:p>
        </p:txBody>
      </p:sp>
      <p:sp>
        <p:nvSpPr>
          <p:cNvPr id="11" name="Shape 9"/>
          <p:cNvSpPr/>
          <p:nvPr/>
        </p:nvSpPr>
        <p:spPr>
          <a:xfrm>
            <a:off x="320040" y="2907792"/>
            <a:ext cx="4206240" cy="2029968"/>
          </a:xfrm>
          <a:prstGeom prst="rect">
            <a:avLst/>
          </a:prstGeom>
          <a:solidFill>
            <a:srgbClr val="EDE9F6"/>
          </a:solidFill>
          <a:ln w="19050">
            <a:solidFill>
              <a:srgbClr val="553C9A"/>
            </a:solidFill>
            <a:prstDash val="solid"/>
          </a:ln>
          <a:effectLst>
            <a:outerShdw blurRad="63500" dist="25400" dir="8100000" algn="bl" rotWithShape="0">
              <a:srgbClr val="000000">
                <a:alpha val="8000"/>
              </a:srgbClr>
            </a:outerShdw>
          </a:effectLst>
        </p:spPr>
        <p:txBody>
          <a:bodyPr/>
          <a:lstStyle/>
          <a:p>
            <a:endParaRPr lang="en-US"/>
          </a:p>
        </p:txBody>
      </p:sp>
      <p:sp>
        <p:nvSpPr>
          <p:cNvPr id="12" name="Shape 10"/>
          <p:cNvSpPr/>
          <p:nvPr/>
        </p:nvSpPr>
        <p:spPr>
          <a:xfrm>
            <a:off x="320040" y="2907792"/>
            <a:ext cx="4206240" cy="64008"/>
          </a:xfrm>
          <a:prstGeom prst="rect">
            <a:avLst/>
          </a:prstGeom>
          <a:solidFill>
            <a:srgbClr val="553C9A"/>
          </a:solidFill>
          <a:ln w="12700">
            <a:solidFill>
              <a:srgbClr val="553C9A"/>
            </a:solidFill>
            <a:prstDash val="solid"/>
          </a:ln>
        </p:spPr>
        <p:txBody>
          <a:bodyPr/>
          <a:lstStyle/>
          <a:p>
            <a:endParaRPr lang="en-US"/>
          </a:p>
        </p:txBody>
      </p:sp>
      <p:sp>
        <p:nvSpPr>
          <p:cNvPr id="13" name="Text 11"/>
          <p:cNvSpPr/>
          <p:nvPr/>
        </p:nvSpPr>
        <p:spPr>
          <a:xfrm>
            <a:off x="448056" y="3017520"/>
            <a:ext cx="3950208" cy="274320"/>
          </a:xfrm>
          <a:prstGeom prst="rect">
            <a:avLst/>
          </a:prstGeom>
          <a:noFill/>
          <a:ln/>
        </p:spPr>
        <p:txBody>
          <a:bodyPr wrap="square" lIns="0" tIns="0" rIns="0" bIns="0" rtlCol="0" anchor="ctr"/>
          <a:lstStyle/>
          <a:p>
            <a:pPr marL="0" indent="0">
              <a:buNone/>
            </a:pPr>
            <a:r>
              <a:rPr lang="en-US" sz="1100" b="1" dirty="0">
                <a:solidFill>
                  <a:srgbClr val="553C9A"/>
                </a:solidFill>
                <a:latin typeface="Trebuchet MS" pitchFamily="34" charset="0"/>
                <a:ea typeface="Trebuchet MS" pitchFamily="34" charset="-122"/>
                <a:cs typeface="Trebuchet MS" pitchFamily="34" charset="-120"/>
              </a:rPr>
              <a:t>GENERATOR — The Forger</a:t>
            </a:r>
            <a:endParaRPr lang="en-US" sz="1100" dirty="0"/>
          </a:p>
        </p:txBody>
      </p:sp>
      <p:sp>
        <p:nvSpPr>
          <p:cNvPr id="14" name="Text 12"/>
          <p:cNvSpPr/>
          <p:nvPr/>
        </p:nvSpPr>
        <p:spPr>
          <a:xfrm>
            <a:off x="448056" y="3328416"/>
            <a:ext cx="3950208" cy="155448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Input: Random noise (z vector)</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Goal: Generate fake data realistic enough to fool the Discriminator</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Learning: Improves every time Discriminator detects its fakes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Output: Fake images / data</a:t>
            </a:r>
            <a:endParaRPr lang="en-US" sz="1000" dirty="0"/>
          </a:p>
        </p:txBody>
      </p:sp>
      <p:sp>
        <p:nvSpPr>
          <p:cNvPr id="15" name="Shape 13"/>
          <p:cNvSpPr/>
          <p:nvPr/>
        </p:nvSpPr>
        <p:spPr>
          <a:xfrm>
            <a:off x="4754880" y="2907792"/>
            <a:ext cx="4206240" cy="2029968"/>
          </a:xfrm>
          <a:prstGeom prst="rect">
            <a:avLst/>
          </a:prstGeom>
          <a:solidFill>
            <a:srgbClr val="FFF5EB"/>
          </a:solidFill>
          <a:ln w="19050">
            <a:solidFill>
              <a:srgbClr val="C05621"/>
            </a:solidFill>
            <a:prstDash val="solid"/>
          </a:ln>
          <a:effectLst>
            <a:outerShdw blurRad="63500" dist="25400" dir="8100000" algn="bl" rotWithShape="0">
              <a:srgbClr val="000000">
                <a:alpha val="8000"/>
              </a:srgbClr>
            </a:outerShdw>
          </a:effectLst>
        </p:spPr>
        <p:txBody>
          <a:bodyPr/>
          <a:lstStyle/>
          <a:p>
            <a:endParaRPr lang="en-US"/>
          </a:p>
        </p:txBody>
      </p:sp>
      <p:sp>
        <p:nvSpPr>
          <p:cNvPr id="16" name="Shape 14"/>
          <p:cNvSpPr/>
          <p:nvPr/>
        </p:nvSpPr>
        <p:spPr>
          <a:xfrm>
            <a:off x="4754880" y="2907792"/>
            <a:ext cx="4206240" cy="64008"/>
          </a:xfrm>
          <a:prstGeom prst="rect">
            <a:avLst/>
          </a:prstGeom>
          <a:solidFill>
            <a:srgbClr val="C05621"/>
          </a:solidFill>
          <a:ln w="12700">
            <a:solidFill>
              <a:srgbClr val="C05621"/>
            </a:solidFill>
            <a:prstDash val="solid"/>
          </a:ln>
        </p:spPr>
        <p:txBody>
          <a:bodyPr/>
          <a:lstStyle/>
          <a:p>
            <a:endParaRPr lang="en-US"/>
          </a:p>
        </p:txBody>
      </p:sp>
      <p:sp>
        <p:nvSpPr>
          <p:cNvPr id="17" name="Text 15"/>
          <p:cNvSpPr/>
          <p:nvPr/>
        </p:nvSpPr>
        <p:spPr>
          <a:xfrm>
            <a:off x="4882896" y="3017520"/>
            <a:ext cx="3950208" cy="274320"/>
          </a:xfrm>
          <a:prstGeom prst="rect">
            <a:avLst/>
          </a:prstGeom>
          <a:noFill/>
          <a:ln/>
        </p:spPr>
        <p:txBody>
          <a:bodyPr wrap="square" lIns="0" tIns="0" rIns="0" bIns="0" rtlCol="0" anchor="ctr"/>
          <a:lstStyle/>
          <a:p>
            <a:pPr marL="0" indent="0">
              <a:buNone/>
            </a:pPr>
            <a:r>
              <a:rPr lang="en-US" sz="1100" b="1" dirty="0">
                <a:solidFill>
                  <a:srgbClr val="C05621"/>
                </a:solidFill>
                <a:latin typeface="Trebuchet MS" pitchFamily="34" charset="0"/>
                <a:ea typeface="Trebuchet MS" pitchFamily="34" charset="-122"/>
                <a:cs typeface="Trebuchet MS" pitchFamily="34" charset="-120"/>
              </a:rPr>
              <a:t>DISCRIMINATOR — The Detective</a:t>
            </a:r>
            <a:endParaRPr lang="en-US" sz="1100" dirty="0"/>
          </a:p>
        </p:txBody>
      </p:sp>
      <p:sp>
        <p:nvSpPr>
          <p:cNvPr id="18" name="Text 16"/>
          <p:cNvSpPr/>
          <p:nvPr/>
        </p:nvSpPr>
        <p:spPr>
          <a:xfrm>
            <a:off x="4882896" y="3328416"/>
            <a:ext cx="3950208" cy="155448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Input: Real images (from dataset) + Fake images (from Generator)</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Goal: Correctly classify — Real (1) or Fake (0)</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Learning: Improves every time Generator fools it</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Output: Probability 0 (fake) to 1 (real)</a:t>
            </a:r>
            <a:endParaRPr lang="en-US" sz="1000" dirty="0"/>
          </a:p>
        </p:txBody>
      </p:sp>
      <p:sp>
        <p:nvSpPr>
          <p:cNvPr id="19" name="Shape 17"/>
          <p:cNvSpPr/>
          <p:nvPr/>
        </p:nvSpPr>
        <p:spPr>
          <a:xfrm>
            <a:off x="4315968" y="3529584"/>
            <a:ext cx="512064" cy="512064"/>
          </a:xfrm>
          <a:prstGeom prst="ellipse">
            <a:avLst/>
          </a:prstGeom>
          <a:solidFill>
            <a:srgbClr val="FFFFFF"/>
          </a:solidFill>
          <a:ln w="19050">
            <a:solidFill>
              <a:srgbClr val="1E3A5F"/>
            </a:solidFill>
            <a:prstDash val="solid"/>
          </a:ln>
        </p:spPr>
        <p:txBody>
          <a:bodyPr/>
          <a:lstStyle/>
          <a:p>
            <a:endParaRPr lang="en-US"/>
          </a:p>
        </p:txBody>
      </p:sp>
      <p:sp>
        <p:nvSpPr>
          <p:cNvPr id="20" name="Text 18"/>
          <p:cNvSpPr/>
          <p:nvPr/>
        </p:nvSpPr>
        <p:spPr>
          <a:xfrm>
            <a:off x="4315968" y="3529584"/>
            <a:ext cx="512064" cy="512064"/>
          </a:xfrm>
          <a:prstGeom prst="rect">
            <a:avLst/>
          </a:prstGeom>
          <a:noFill/>
          <a:ln/>
        </p:spPr>
        <p:txBody>
          <a:bodyPr wrap="square" rtlCol="0" anchor="ctr"/>
          <a:lstStyle/>
          <a:p>
            <a:pPr marL="0" indent="0" algn="ctr">
              <a:buNone/>
            </a:pPr>
            <a:r>
              <a:rPr lang="en-US" sz="1000" b="1" dirty="0">
                <a:solidFill>
                  <a:srgbClr val="1E3A5F"/>
                </a:solidFill>
                <a:latin typeface="Trebuchet MS" pitchFamily="34" charset="0"/>
                <a:ea typeface="Trebuchet MS" pitchFamily="34" charset="-122"/>
                <a:cs typeface="Trebuchet MS" pitchFamily="34" charset="-120"/>
              </a:rPr>
              <a:t>VS</a:t>
            </a:r>
            <a:endParaRPr lang="en-US" sz="1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CBD5E0"/>
            </a:solidFill>
            <a:prstDash val="solid"/>
          </a:ln>
        </p:spPr>
        <p:txBody>
          <a:bodyPr/>
          <a:lstStyle/>
          <a:p>
            <a:endParaRPr lang="en-US"/>
          </a:p>
        </p:txBody>
      </p:sp>
      <p:sp>
        <p:nvSpPr>
          <p:cNvPr id="3" name="Shape 1"/>
          <p:cNvSpPr/>
          <p:nvPr/>
        </p:nvSpPr>
        <p:spPr>
          <a:xfrm>
            <a:off x="0" y="0"/>
            <a:ext cx="201168" cy="960120"/>
          </a:xfrm>
          <a:prstGeom prst="rect">
            <a:avLst/>
          </a:prstGeom>
          <a:solidFill>
            <a:srgbClr val="553C9A"/>
          </a:solidFill>
          <a:ln w="12700">
            <a:solidFill>
              <a:srgbClr val="553C9A"/>
            </a:solidFill>
            <a:prstDash val="solid"/>
          </a:ln>
        </p:spPr>
        <p:txBody>
          <a:bodyPr/>
          <a:lstStyle/>
          <a:p>
            <a:endParaRPr lang="en-US"/>
          </a:p>
        </p:txBody>
      </p:sp>
      <p:sp>
        <p:nvSpPr>
          <p:cNvPr id="4" name="Text 2"/>
          <p:cNvSpPr/>
          <p:nvPr/>
        </p:nvSpPr>
        <p:spPr>
          <a:xfrm>
            <a:off x="347472" y="91440"/>
            <a:ext cx="8412480" cy="475488"/>
          </a:xfrm>
          <a:prstGeom prst="rect">
            <a:avLst/>
          </a:prstGeom>
          <a:noFill/>
          <a:ln/>
        </p:spPr>
        <p:txBody>
          <a:bodyPr wrap="square" lIns="0" tIns="0" rIns="0" bIns="0" rtlCol="0" anchor="ctr"/>
          <a:lstStyle/>
          <a:p>
            <a:pPr marL="0" indent="0">
              <a:buNone/>
            </a:pPr>
            <a:r>
              <a:rPr lang="en-US" sz="2200" b="1" dirty="0">
                <a:solidFill>
                  <a:srgbClr val="1E3A5F"/>
                </a:solidFill>
                <a:latin typeface="Trebuchet MS" pitchFamily="34" charset="0"/>
                <a:ea typeface="Trebuchet MS" pitchFamily="34" charset="-122"/>
                <a:cs typeface="Trebuchet MS" pitchFamily="34" charset="-120"/>
              </a:rPr>
              <a:t>GAN Training Process</a:t>
            </a:r>
            <a:endParaRPr lang="en-US" sz="2200" dirty="0"/>
          </a:p>
        </p:txBody>
      </p:sp>
      <p:sp>
        <p:nvSpPr>
          <p:cNvPr id="5" name="Text 3"/>
          <p:cNvSpPr/>
          <p:nvPr/>
        </p:nvSpPr>
        <p:spPr>
          <a:xfrm>
            <a:off x="347472" y="585216"/>
            <a:ext cx="8412480" cy="292608"/>
          </a:xfrm>
          <a:prstGeom prst="rect">
            <a:avLst/>
          </a:prstGeom>
          <a:noFill/>
          <a:ln/>
        </p:spPr>
        <p:txBody>
          <a:bodyPr wrap="square" lIns="0" tIns="0" rIns="0" bIns="0" rtlCol="0" anchor="ctr"/>
          <a:lstStyle/>
          <a:p>
            <a:pPr marL="0" indent="0">
              <a:buNone/>
            </a:pPr>
            <a:r>
              <a:rPr lang="en-US" sz="1100" i="1" dirty="0">
                <a:solidFill>
                  <a:srgbClr val="718096"/>
                </a:solidFill>
                <a:latin typeface="Calibri" pitchFamily="34" charset="0"/>
                <a:ea typeface="Calibri" pitchFamily="34" charset="-122"/>
                <a:cs typeface="Calibri" pitchFamily="34" charset="-120"/>
              </a:rPr>
              <a:t>How Generator and Discriminator Learn Through Competition</a:t>
            </a:r>
            <a:endParaRPr lang="en-US" sz="1100" dirty="0"/>
          </a:p>
        </p:txBody>
      </p:sp>
      <p:sp>
        <p:nvSpPr>
          <p:cNvPr id="6" name="Shape 4"/>
          <p:cNvSpPr/>
          <p:nvPr/>
        </p:nvSpPr>
        <p:spPr>
          <a:xfrm>
            <a:off x="347472" y="932688"/>
            <a:ext cx="8503920" cy="27432"/>
          </a:xfrm>
          <a:prstGeom prst="rect">
            <a:avLst/>
          </a:prstGeom>
          <a:solidFill>
            <a:srgbClr val="553C9A">
              <a:alpha val="30000"/>
            </a:srgbClr>
          </a:solidFill>
          <a:ln/>
        </p:spPr>
        <p:txBody>
          <a:bodyPr/>
          <a:lstStyle/>
          <a:p>
            <a:endParaRPr lang="en-US"/>
          </a:p>
        </p:txBody>
      </p:sp>
      <p:sp>
        <p:nvSpPr>
          <p:cNvPr id="7" name="Shape 5"/>
          <p:cNvSpPr/>
          <p:nvPr/>
        </p:nvSpPr>
        <p:spPr>
          <a:xfrm>
            <a:off x="320040" y="1690658"/>
            <a:ext cx="2743200" cy="1901952"/>
          </a:xfrm>
          <a:prstGeom prst="rect">
            <a:avLst/>
          </a:prstGeom>
          <a:solidFill>
            <a:srgbClr val="FFF5EB"/>
          </a:solidFill>
          <a:ln w="19050">
            <a:solidFill>
              <a:srgbClr val="C05621"/>
            </a:solidFill>
            <a:prstDash val="solid"/>
          </a:ln>
          <a:effectLst>
            <a:outerShdw blurRad="63500" dist="25400" dir="8100000" algn="bl" rotWithShape="0">
              <a:srgbClr val="000000">
                <a:alpha val="8000"/>
              </a:srgbClr>
            </a:outerShdw>
          </a:effectLst>
        </p:spPr>
        <p:txBody>
          <a:bodyPr/>
          <a:lstStyle/>
          <a:p>
            <a:endParaRPr lang="en-US"/>
          </a:p>
        </p:txBody>
      </p:sp>
      <p:sp>
        <p:nvSpPr>
          <p:cNvPr id="8" name="Shape 6"/>
          <p:cNvSpPr/>
          <p:nvPr/>
        </p:nvSpPr>
        <p:spPr>
          <a:xfrm>
            <a:off x="320040" y="1690658"/>
            <a:ext cx="2743200" cy="64008"/>
          </a:xfrm>
          <a:prstGeom prst="rect">
            <a:avLst/>
          </a:prstGeom>
          <a:solidFill>
            <a:srgbClr val="C05621"/>
          </a:solidFill>
          <a:ln w="12700">
            <a:solidFill>
              <a:srgbClr val="C05621"/>
            </a:solidFill>
            <a:prstDash val="solid"/>
          </a:ln>
        </p:spPr>
        <p:txBody>
          <a:bodyPr/>
          <a:lstStyle/>
          <a:p>
            <a:endParaRPr lang="en-US"/>
          </a:p>
        </p:txBody>
      </p:sp>
      <p:sp>
        <p:nvSpPr>
          <p:cNvPr id="9" name="Shape 7"/>
          <p:cNvSpPr/>
          <p:nvPr/>
        </p:nvSpPr>
        <p:spPr>
          <a:xfrm>
            <a:off x="1417320" y="1782098"/>
            <a:ext cx="548640" cy="548640"/>
          </a:xfrm>
          <a:prstGeom prst="ellipse">
            <a:avLst/>
          </a:prstGeom>
          <a:solidFill>
            <a:srgbClr val="C05621"/>
          </a:solidFill>
          <a:ln w="12700">
            <a:solidFill>
              <a:srgbClr val="C05621"/>
            </a:solidFill>
            <a:prstDash val="solid"/>
          </a:ln>
        </p:spPr>
        <p:txBody>
          <a:bodyPr/>
          <a:lstStyle/>
          <a:p>
            <a:endParaRPr lang="en-US"/>
          </a:p>
        </p:txBody>
      </p:sp>
      <p:sp>
        <p:nvSpPr>
          <p:cNvPr id="10" name="Text 8"/>
          <p:cNvSpPr/>
          <p:nvPr/>
        </p:nvSpPr>
        <p:spPr>
          <a:xfrm>
            <a:off x="1417320" y="1782098"/>
            <a:ext cx="548640" cy="548640"/>
          </a:xfrm>
          <a:prstGeom prst="rect">
            <a:avLst/>
          </a:prstGeom>
          <a:noFill/>
          <a:ln/>
        </p:spPr>
        <p:txBody>
          <a:bodyPr wrap="square"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1</a:t>
            </a:r>
            <a:endParaRPr lang="en-US" sz="1600" dirty="0"/>
          </a:p>
        </p:txBody>
      </p:sp>
      <p:sp>
        <p:nvSpPr>
          <p:cNvPr id="11" name="Text 9"/>
          <p:cNvSpPr/>
          <p:nvPr/>
        </p:nvSpPr>
        <p:spPr>
          <a:xfrm>
            <a:off x="457200" y="2422178"/>
            <a:ext cx="2468880" cy="274320"/>
          </a:xfrm>
          <a:prstGeom prst="rect">
            <a:avLst/>
          </a:prstGeom>
          <a:noFill/>
          <a:ln/>
        </p:spPr>
        <p:txBody>
          <a:bodyPr wrap="square" lIns="0" tIns="0" rIns="0" bIns="0" rtlCol="0" anchor="ctr"/>
          <a:lstStyle/>
          <a:p>
            <a:pPr marL="0" indent="0" algn="ctr">
              <a:buNone/>
            </a:pPr>
            <a:r>
              <a:rPr lang="en-US" sz="1100" b="1" dirty="0">
                <a:solidFill>
                  <a:srgbClr val="C05621"/>
                </a:solidFill>
                <a:latin typeface="Trebuchet MS" pitchFamily="34" charset="0"/>
                <a:ea typeface="Trebuchet MS" pitchFamily="34" charset="-122"/>
                <a:cs typeface="Trebuchet MS" pitchFamily="34" charset="-120"/>
              </a:rPr>
              <a:t>Train Discriminator</a:t>
            </a:r>
            <a:endParaRPr lang="en-US" sz="1100" dirty="0"/>
          </a:p>
        </p:txBody>
      </p:sp>
      <p:sp>
        <p:nvSpPr>
          <p:cNvPr id="12" name="Text 10"/>
          <p:cNvSpPr/>
          <p:nvPr/>
        </p:nvSpPr>
        <p:spPr>
          <a:xfrm>
            <a:off x="457200" y="2742218"/>
            <a:ext cx="2468880" cy="786384"/>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Show real images → output 1 (Real)</a:t>
            </a:r>
            <a:endParaRPr lang="en-US" sz="950" dirty="0"/>
          </a:p>
          <a:p>
            <a:pPr marL="0" indent="0">
              <a:buNone/>
            </a:pPr>
            <a:r>
              <a:rPr lang="en-US" sz="950" dirty="0">
                <a:solidFill>
                  <a:srgbClr val="2D3748"/>
                </a:solidFill>
                <a:latin typeface="Calibri" pitchFamily="34" charset="0"/>
                <a:ea typeface="Calibri" pitchFamily="34" charset="-122"/>
                <a:cs typeface="Calibri" pitchFamily="34" charset="-120"/>
              </a:rPr>
              <a:t>Show Generator's fakes → output 0 (Fake)</a:t>
            </a:r>
            <a:endParaRPr lang="en-US" sz="950" dirty="0"/>
          </a:p>
          <a:p>
            <a:pPr marL="0" indent="0">
              <a:buNone/>
            </a:pPr>
            <a:r>
              <a:rPr lang="en-US" sz="950" dirty="0">
                <a:solidFill>
                  <a:srgbClr val="2D3748"/>
                </a:solidFill>
                <a:latin typeface="Calibri" pitchFamily="34" charset="0"/>
                <a:ea typeface="Calibri" pitchFamily="34" charset="-122"/>
                <a:cs typeface="Calibri" pitchFamily="34" charset="-120"/>
              </a:rPr>
              <a:t>Update Discriminator to improve detection.</a:t>
            </a:r>
            <a:endParaRPr lang="en-US" sz="950" dirty="0"/>
          </a:p>
        </p:txBody>
      </p:sp>
      <p:sp>
        <p:nvSpPr>
          <p:cNvPr id="13" name="Text 11"/>
          <p:cNvSpPr/>
          <p:nvPr/>
        </p:nvSpPr>
        <p:spPr>
          <a:xfrm>
            <a:off x="2990088" y="2303306"/>
            <a:ext cx="310896" cy="347472"/>
          </a:xfrm>
          <a:prstGeom prst="rect">
            <a:avLst/>
          </a:prstGeom>
          <a:noFill/>
          <a:ln/>
        </p:spPr>
        <p:txBody>
          <a:bodyPr wrap="square" lIns="0" tIns="0" rIns="0" bIns="0" rtlCol="0" anchor="ctr"/>
          <a:lstStyle/>
          <a:p>
            <a:pPr marL="0" indent="0" algn="ctr">
              <a:buNone/>
            </a:pPr>
            <a:r>
              <a:rPr lang="en-US" sz="1600" dirty="0">
                <a:solidFill>
                  <a:srgbClr val="718096"/>
                </a:solidFill>
              </a:rPr>
              <a:t>→</a:t>
            </a:r>
            <a:endParaRPr lang="en-US" sz="1600" dirty="0"/>
          </a:p>
        </p:txBody>
      </p:sp>
      <p:sp>
        <p:nvSpPr>
          <p:cNvPr id="14" name="Shape 12"/>
          <p:cNvSpPr/>
          <p:nvPr/>
        </p:nvSpPr>
        <p:spPr>
          <a:xfrm>
            <a:off x="3246120" y="1690658"/>
            <a:ext cx="2743200" cy="1901952"/>
          </a:xfrm>
          <a:prstGeom prst="rect">
            <a:avLst/>
          </a:prstGeom>
          <a:solidFill>
            <a:srgbClr val="EDE9F6"/>
          </a:solidFill>
          <a:ln w="19050">
            <a:solidFill>
              <a:srgbClr val="553C9A"/>
            </a:solidFill>
            <a:prstDash val="solid"/>
          </a:ln>
          <a:effectLst>
            <a:outerShdw blurRad="63500" dist="25400" dir="8100000" algn="bl" rotWithShape="0">
              <a:srgbClr val="000000">
                <a:alpha val="8000"/>
              </a:srgbClr>
            </a:outerShdw>
          </a:effectLst>
        </p:spPr>
        <p:txBody>
          <a:bodyPr/>
          <a:lstStyle/>
          <a:p>
            <a:endParaRPr lang="en-US"/>
          </a:p>
        </p:txBody>
      </p:sp>
      <p:sp>
        <p:nvSpPr>
          <p:cNvPr id="15" name="Shape 13"/>
          <p:cNvSpPr/>
          <p:nvPr/>
        </p:nvSpPr>
        <p:spPr>
          <a:xfrm>
            <a:off x="3246120" y="1690658"/>
            <a:ext cx="2743200" cy="64008"/>
          </a:xfrm>
          <a:prstGeom prst="rect">
            <a:avLst/>
          </a:prstGeom>
          <a:solidFill>
            <a:srgbClr val="553C9A"/>
          </a:solidFill>
          <a:ln w="12700">
            <a:solidFill>
              <a:srgbClr val="553C9A"/>
            </a:solidFill>
            <a:prstDash val="solid"/>
          </a:ln>
        </p:spPr>
        <p:txBody>
          <a:bodyPr/>
          <a:lstStyle/>
          <a:p>
            <a:endParaRPr lang="en-US"/>
          </a:p>
        </p:txBody>
      </p:sp>
      <p:sp>
        <p:nvSpPr>
          <p:cNvPr id="16" name="Shape 14"/>
          <p:cNvSpPr/>
          <p:nvPr/>
        </p:nvSpPr>
        <p:spPr>
          <a:xfrm>
            <a:off x="4343400" y="1782098"/>
            <a:ext cx="548640" cy="548640"/>
          </a:xfrm>
          <a:prstGeom prst="ellipse">
            <a:avLst/>
          </a:prstGeom>
          <a:solidFill>
            <a:srgbClr val="553C9A"/>
          </a:solidFill>
          <a:ln w="12700">
            <a:solidFill>
              <a:srgbClr val="553C9A"/>
            </a:solidFill>
            <a:prstDash val="solid"/>
          </a:ln>
        </p:spPr>
        <p:txBody>
          <a:bodyPr/>
          <a:lstStyle/>
          <a:p>
            <a:endParaRPr lang="en-US"/>
          </a:p>
        </p:txBody>
      </p:sp>
      <p:sp>
        <p:nvSpPr>
          <p:cNvPr id="17" name="Text 15"/>
          <p:cNvSpPr/>
          <p:nvPr/>
        </p:nvSpPr>
        <p:spPr>
          <a:xfrm>
            <a:off x="4343400" y="1782098"/>
            <a:ext cx="548640" cy="548640"/>
          </a:xfrm>
          <a:prstGeom prst="rect">
            <a:avLst/>
          </a:prstGeom>
          <a:noFill/>
          <a:ln/>
        </p:spPr>
        <p:txBody>
          <a:bodyPr wrap="square"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2</a:t>
            </a:r>
            <a:endParaRPr lang="en-US" sz="1600" dirty="0"/>
          </a:p>
        </p:txBody>
      </p:sp>
      <p:sp>
        <p:nvSpPr>
          <p:cNvPr id="18" name="Text 16"/>
          <p:cNvSpPr/>
          <p:nvPr/>
        </p:nvSpPr>
        <p:spPr>
          <a:xfrm>
            <a:off x="3383280" y="2422178"/>
            <a:ext cx="2468880" cy="274320"/>
          </a:xfrm>
          <a:prstGeom prst="rect">
            <a:avLst/>
          </a:prstGeom>
          <a:noFill/>
          <a:ln/>
        </p:spPr>
        <p:txBody>
          <a:bodyPr wrap="square" lIns="0" tIns="0" rIns="0" bIns="0" rtlCol="0" anchor="ctr"/>
          <a:lstStyle/>
          <a:p>
            <a:pPr marL="0" indent="0" algn="ctr">
              <a:buNone/>
            </a:pPr>
            <a:r>
              <a:rPr lang="en-US" sz="1100" b="1" dirty="0">
                <a:solidFill>
                  <a:srgbClr val="553C9A"/>
                </a:solidFill>
                <a:latin typeface="Trebuchet MS" pitchFamily="34" charset="0"/>
                <a:ea typeface="Trebuchet MS" pitchFamily="34" charset="-122"/>
                <a:cs typeface="Trebuchet MS" pitchFamily="34" charset="-120"/>
              </a:rPr>
              <a:t>Train Generator</a:t>
            </a:r>
            <a:endParaRPr lang="en-US" sz="1100" dirty="0"/>
          </a:p>
        </p:txBody>
      </p:sp>
      <p:sp>
        <p:nvSpPr>
          <p:cNvPr id="19" name="Text 17"/>
          <p:cNvSpPr/>
          <p:nvPr/>
        </p:nvSpPr>
        <p:spPr>
          <a:xfrm>
            <a:off x="3383280" y="2742218"/>
            <a:ext cx="2468880" cy="786384"/>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Generate fake images — pass through Discriminator</a:t>
            </a:r>
            <a:endParaRPr lang="en-US" sz="950" dirty="0"/>
          </a:p>
          <a:p>
            <a:pPr marL="0" indent="0">
              <a:buNone/>
            </a:pPr>
            <a:r>
              <a:rPr lang="en-US" sz="950" dirty="0">
                <a:solidFill>
                  <a:srgbClr val="2D3748"/>
                </a:solidFill>
                <a:latin typeface="Calibri" pitchFamily="34" charset="0"/>
                <a:ea typeface="Calibri" pitchFamily="34" charset="-122"/>
                <a:cs typeface="Calibri" pitchFamily="34" charset="-120"/>
              </a:rPr>
              <a:t>If caught (output=0) → Generator failed</a:t>
            </a:r>
            <a:endParaRPr lang="en-US" sz="950" dirty="0"/>
          </a:p>
          <a:p>
            <a:pPr marL="0" indent="0">
              <a:buNone/>
            </a:pPr>
            <a:r>
              <a:rPr lang="en-US" sz="950" dirty="0">
                <a:solidFill>
                  <a:srgbClr val="2D3748"/>
                </a:solidFill>
                <a:latin typeface="Calibri" pitchFamily="34" charset="0"/>
                <a:ea typeface="Calibri" pitchFamily="34" charset="-122"/>
                <a:cs typeface="Calibri" pitchFamily="34" charset="-120"/>
              </a:rPr>
              <a:t>Update Generator to fool Discriminator into outputting 1.</a:t>
            </a:r>
            <a:endParaRPr lang="en-US" sz="950" dirty="0"/>
          </a:p>
        </p:txBody>
      </p:sp>
      <p:sp>
        <p:nvSpPr>
          <p:cNvPr id="20" name="Text 18"/>
          <p:cNvSpPr/>
          <p:nvPr/>
        </p:nvSpPr>
        <p:spPr>
          <a:xfrm>
            <a:off x="5916168" y="2303306"/>
            <a:ext cx="310896" cy="347472"/>
          </a:xfrm>
          <a:prstGeom prst="rect">
            <a:avLst/>
          </a:prstGeom>
          <a:noFill/>
          <a:ln/>
        </p:spPr>
        <p:txBody>
          <a:bodyPr wrap="square" lIns="0" tIns="0" rIns="0" bIns="0" rtlCol="0" anchor="ctr"/>
          <a:lstStyle/>
          <a:p>
            <a:pPr marL="0" indent="0" algn="ctr">
              <a:buNone/>
            </a:pPr>
            <a:r>
              <a:rPr lang="en-US" sz="1600" dirty="0">
                <a:solidFill>
                  <a:srgbClr val="718096"/>
                </a:solidFill>
              </a:rPr>
              <a:t>→</a:t>
            </a:r>
            <a:endParaRPr lang="en-US" sz="1600" dirty="0"/>
          </a:p>
        </p:txBody>
      </p:sp>
      <p:sp>
        <p:nvSpPr>
          <p:cNvPr id="21" name="Shape 19"/>
          <p:cNvSpPr/>
          <p:nvPr/>
        </p:nvSpPr>
        <p:spPr>
          <a:xfrm>
            <a:off x="6172200" y="1690658"/>
            <a:ext cx="2743200" cy="1901952"/>
          </a:xfrm>
          <a:prstGeom prst="rect">
            <a:avLst/>
          </a:prstGeom>
          <a:solidFill>
            <a:srgbClr val="E6F4EC"/>
          </a:solidFill>
          <a:ln w="19050">
            <a:solidFill>
              <a:srgbClr val="276749"/>
            </a:solidFill>
            <a:prstDash val="solid"/>
          </a:ln>
          <a:effectLst>
            <a:outerShdw blurRad="63500" dist="25400" dir="8100000" algn="bl" rotWithShape="0">
              <a:srgbClr val="000000">
                <a:alpha val="8000"/>
              </a:srgbClr>
            </a:outerShdw>
          </a:effectLst>
        </p:spPr>
        <p:txBody>
          <a:bodyPr/>
          <a:lstStyle/>
          <a:p>
            <a:endParaRPr lang="en-US"/>
          </a:p>
        </p:txBody>
      </p:sp>
      <p:sp>
        <p:nvSpPr>
          <p:cNvPr id="22" name="Shape 20"/>
          <p:cNvSpPr/>
          <p:nvPr/>
        </p:nvSpPr>
        <p:spPr>
          <a:xfrm>
            <a:off x="6172200" y="1690658"/>
            <a:ext cx="2743200" cy="64008"/>
          </a:xfrm>
          <a:prstGeom prst="rect">
            <a:avLst/>
          </a:prstGeom>
          <a:solidFill>
            <a:srgbClr val="276749"/>
          </a:solidFill>
          <a:ln w="12700">
            <a:solidFill>
              <a:srgbClr val="276749"/>
            </a:solidFill>
            <a:prstDash val="solid"/>
          </a:ln>
        </p:spPr>
        <p:txBody>
          <a:bodyPr/>
          <a:lstStyle/>
          <a:p>
            <a:endParaRPr lang="en-US"/>
          </a:p>
        </p:txBody>
      </p:sp>
      <p:sp>
        <p:nvSpPr>
          <p:cNvPr id="23" name="Shape 21"/>
          <p:cNvSpPr/>
          <p:nvPr/>
        </p:nvSpPr>
        <p:spPr>
          <a:xfrm>
            <a:off x="7269480" y="1782098"/>
            <a:ext cx="548640" cy="548640"/>
          </a:xfrm>
          <a:prstGeom prst="ellipse">
            <a:avLst/>
          </a:prstGeom>
          <a:solidFill>
            <a:srgbClr val="276749"/>
          </a:solidFill>
          <a:ln w="12700">
            <a:solidFill>
              <a:srgbClr val="276749"/>
            </a:solidFill>
            <a:prstDash val="solid"/>
          </a:ln>
        </p:spPr>
        <p:txBody>
          <a:bodyPr/>
          <a:lstStyle/>
          <a:p>
            <a:endParaRPr lang="en-US"/>
          </a:p>
        </p:txBody>
      </p:sp>
      <p:sp>
        <p:nvSpPr>
          <p:cNvPr id="24" name="Text 22"/>
          <p:cNvSpPr/>
          <p:nvPr/>
        </p:nvSpPr>
        <p:spPr>
          <a:xfrm>
            <a:off x="7269480" y="1782098"/>
            <a:ext cx="548640" cy="548640"/>
          </a:xfrm>
          <a:prstGeom prst="rect">
            <a:avLst/>
          </a:prstGeom>
          <a:noFill/>
          <a:ln/>
        </p:spPr>
        <p:txBody>
          <a:bodyPr wrap="square"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3</a:t>
            </a:r>
            <a:endParaRPr lang="en-US" sz="1600" dirty="0"/>
          </a:p>
        </p:txBody>
      </p:sp>
      <p:sp>
        <p:nvSpPr>
          <p:cNvPr id="25" name="Text 23"/>
          <p:cNvSpPr/>
          <p:nvPr/>
        </p:nvSpPr>
        <p:spPr>
          <a:xfrm>
            <a:off x="6309360" y="2422178"/>
            <a:ext cx="2468880" cy="274320"/>
          </a:xfrm>
          <a:prstGeom prst="rect">
            <a:avLst/>
          </a:prstGeom>
          <a:noFill/>
          <a:ln/>
        </p:spPr>
        <p:txBody>
          <a:bodyPr wrap="square" lIns="0" tIns="0" rIns="0" bIns="0" rtlCol="0" anchor="ctr"/>
          <a:lstStyle/>
          <a:p>
            <a:pPr marL="0" indent="0" algn="ctr">
              <a:buNone/>
            </a:pPr>
            <a:r>
              <a:rPr lang="en-US" sz="1100" b="1" dirty="0">
                <a:solidFill>
                  <a:srgbClr val="276749"/>
                </a:solidFill>
                <a:latin typeface="Trebuchet MS" pitchFamily="34" charset="0"/>
                <a:ea typeface="Trebuchet MS" pitchFamily="34" charset="-122"/>
                <a:cs typeface="Trebuchet MS" pitchFamily="34" charset="-120"/>
              </a:rPr>
              <a:t>Repeat Adversarially</a:t>
            </a:r>
            <a:endParaRPr lang="en-US" sz="1100" dirty="0"/>
          </a:p>
        </p:txBody>
      </p:sp>
      <p:sp>
        <p:nvSpPr>
          <p:cNvPr id="26" name="Text 24"/>
          <p:cNvSpPr/>
          <p:nvPr/>
        </p:nvSpPr>
        <p:spPr>
          <a:xfrm>
            <a:off x="6309360" y="2742218"/>
            <a:ext cx="2468880" cy="786384"/>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This cycle continues thousands of iterations.</a:t>
            </a:r>
            <a:endParaRPr lang="en-US" sz="950" dirty="0"/>
          </a:p>
          <a:p>
            <a:pPr marL="0" indent="0">
              <a:buNone/>
            </a:pPr>
            <a:r>
              <a:rPr lang="en-US" sz="950" dirty="0">
                <a:solidFill>
                  <a:srgbClr val="2D3748"/>
                </a:solidFill>
                <a:latin typeface="Calibri" pitchFamily="34" charset="0"/>
                <a:ea typeface="Calibri" pitchFamily="34" charset="-122"/>
                <a:cs typeface="Calibri" pitchFamily="34" charset="-120"/>
              </a:rPr>
              <a:t>Generator improves → Discriminator improves → Generator improves again.</a:t>
            </a:r>
            <a:endParaRPr lang="en-US" sz="950" dirty="0"/>
          </a:p>
          <a:p>
            <a:pPr marL="0" indent="0">
              <a:buNone/>
            </a:pPr>
            <a:r>
              <a:rPr lang="en-US" sz="950" dirty="0">
                <a:solidFill>
                  <a:srgbClr val="2D3748"/>
                </a:solidFill>
                <a:latin typeface="Calibri" pitchFamily="34" charset="0"/>
                <a:ea typeface="Calibri" pitchFamily="34" charset="-122"/>
                <a:cs typeface="Calibri" pitchFamily="34" charset="-120"/>
              </a:rPr>
              <a:t>Eventually reaches Nash Equilibrium.</a:t>
            </a:r>
            <a:endParaRPr lang="en-US" sz="9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CBD5E0"/>
            </a:solidFill>
            <a:prstDash val="solid"/>
          </a:ln>
        </p:spPr>
        <p:txBody>
          <a:bodyPr/>
          <a:lstStyle/>
          <a:p>
            <a:endParaRPr lang="en-US"/>
          </a:p>
        </p:txBody>
      </p:sp>
      <p:sp>
        <p:nvSpPr>
          <p:cNvPr id="3" name="Shape 1"/>
          <p:cNvSpPr/>
          <p:nvPr/>
        </p:nvSpPr>
        <p:spPr>
          <a:xfrm>
            <a:off x="0" y="0"/>
            <a:ext cx="201168" cy="960120"/>
          </a:xfrm>
          <a:prstGeom prst="rect">
            <a:avLst/>
          </a:prstGeom>
          <a:solidFill>
            <a:srgbClr val="553C9A"/>
          </a:solidFill>
          <a:ln w="12700">
            <a:solidFill>
              <a:srgbClr val="553C9A"/>
            </a:solidFill>
            <a:prstDash val="solid"/>
          </a:ln>
        </p:spPr>
        <p:txBody>
          <a:bodyPr/>
          <a:lstStyle/>
          <a:p>
            <a:endParaRPr lang="en-US"/>
          </a:p>
        </p:txBody>
      </p:sp>
      <p:sp>
        <p:nvSpPr>
          <p:cNvPr id="4" name="Text 2"/>
          <p:cNvSpPr/>
          <p:nvPr/>
        </p:nvSpPr>
        <p:spPr>
          <a:xfrm>
            <a:off x="347472" y="246888"/>
            <a:ext cx="8412480" cy="475488"/>
          </a:xfrm>
          <a:prstGeom prst="rect">
            <a:avLst/>
          </a:prstGeom>
          <a:noFill/>
          <a:ln/>
        </p:spPr>
        <p:txBody>
          <a:bodyPr wrap="square" lIns="0" tIns="0" rIns="0" bIns="0" rtlCol="0" anchor="ctr"/>
          <a:lstStyle/>
          <a:p>
            <a:pPr marL="0" indent="0">
              <a:buNone/>
            </a:pPr>
            <a:r>
              <a:rPr lang="en-US" sz="2200" b="1" dirty="0">
                <a:solidFill>
                  <a:srgbClr val="1E3A5F"/>
                </a:solidFill>
                <a:latin typeface="Trebuchet MS" pitchFamily="34" charset="0"/>
                <a:ea typeface="Trebuchet MS" pitchFamily="34" charset="-122"/>
                <a:cs typeface="Trebuchet MS" pitchFamily="34" charset="-120"/>
              </a:rPr>
              <a:t>GAN Applications</a:t>
            </a:r>
            <a:endParaRPr lang="en-US" sz="2200" dirty="0"/>
          </a:p>
        </p:txBody>
      </p:sp>
      <p:sp>
        <p:nvSpPr>
          <p:cNvPr id="5" name="Text 3"/>
          <p:cNvSpPr/>
          <p:nvPr/>
        </p:nvSpPr>
        <p:spPr>
          <a:xfrm>
            <a:off x="347472" y="585216"/>
            <a:ext cx="8412480" cy="292608"/>
          </a:xfrm>
          <a:prstGeom prst="rect">
            <a:avLst/>
          </a:prstGeom>
          <a:noFill/>
          <a:ln/>
        </p:spPr>
        <p:txBody>
          <a:bodyPr wrap="square" lIns="0" tIns="0" rIns="0" bIns="0" rtlCol="0" anchor="ctr"/>
          <a:lstStyle/>
          <a:p>
            <a:pPr marL="0" indent="0">
              <a:buNone/>
            </a:pPr>
            <a:endParaRPr lang="en-US" sz="1100" dirty="0"/>
          </a:p>
        </p:txBody>
      </p:sp>
      <p:sp>
        <p:nvSpPr>
          <p:cNvPr id="6" name="Shape 4"/>
          <p:cNvSpPr/>
          <p:nvPr/>
        </p:nvSpPr>
        <p:spPr>
          <a:xfrm>
            <a:off x="347472" y="932688"/>
            <a:ext cx="8503920" cy="27432"/>
          </a:xfrm>
          <a:prstGeom prst="rect">
            <a:avLst/>
          </a:prstGeom>
          <a:solidFill>
            <a:srgbClr val="553C9A">
              <a:alpha val="30000"/>
            </a:srgbClr>
          </a:solidFill>
          <a:ln/>
        </p:spPr>
        <p:txBody>
          <a:bodyPr/>
          <a:lstStyle/>
          <a:p>
            <a:endParaRPr lang="en-US"/>
          </a:p>
        </p:txBody>
      </p:sp>
      <p:sp>
        <p:nvSpPr>
          <p:cNvPr id="24" name="Text 22"/>
          <p:cNvSpPr/>
          <p:nvPr/>
        </p:nvSpPr>
        <p:spPr>
          <a:xfrm>
            <a:off x="320040" y="1258134"/>
            <a:ext cx="4572000" cy="228600"/>
          </a:xfrm>
          <a:prstGeom prst="rect">
            <a:avLst/>
          </a:prstGeom>
          <a:noFill/>
          <a:ln/>
        </p:spPr>
        <p:txBody>
          <a:bodyPr wrap="square" lIns="0" tIns="0" rIns="0" bIns="0" rtlCol="0" anchor="ctr"/>
          <a:lstStyle/>
          <a:p>
            <a:pPr marL="0" indent="0">
              <a:buNone/>
            </a:pPr>
            <a:r>
              <a:rPr lang="en-US" sz="850" b="1" kern="0" spc="200" dirty="0">
                <a:solidFill>
                  <a:srgbClr val="718096"/>
                </a:solidFill>
                <a:latin typeface="Trebuchet MS" pitchFamily="34" charset="0"/>
                <a:ea typeface="Trebuchet MS" pitchFamily="34" charset="-122"/>
                <a:cs typeface="Trebuchet MS" pitchFamily="34" charset="-120"/>
              </a:rPr>
              <a:t>REAL-WORLD APPLICATIONS</a:t>
            </a:r>
            <a:endParaRPr lang="en-US" sz="850" dirty="0"/>
          </a:p>
        </p:txBody>
      </p:sp>
      <p:sp>
        <p:nvSpPr>
          <p:cNvPr id="25" name="Shape 23"/>
          <p:cNvSpPr/>
          <p:nvPr/>
        </p:nvSpPr>
        <p:spPr>
          <a:xfrm>
            <a:off x="320040" y="1514166"/>
            <a:ext cx="2743200" cy="1005840"/>
          </a:xfrm>
          <a:prstGeom prst="rect">
            <a:avLst/>
          </a:prstGeom>
          <a:solidFill>
            <a:srgbClr val="EDE9F6"/>
          </a:solidFill>
          <a:ln w="12700">
            <a:solidFill>
              <a:srgbClr val="553C9A"/>
            </a:solidFill>
            <a:prstDash val="solid"/>
          </a:ln>
          <a:effectLst>
            <a:outerShdw blurRad="63500" dist="25400" dir="8100000" algn="bl" rotWithShape="0">
              <a:srgbClr val="000000">
                <a:alpha val="8000"/>
              </a:srgbClr>
            </a:outerShdw>
          </a:effectLst>
        </p:spPr>
        <p:txBody>
          <a:bodyPr/>
          <a:lstStyle/>
          <a:p>
            <a:endParaRPr lang="en-US"/>
          </a:p>
        </p:txBody>
      </p:sp>
      <p:sp>
        <p:nvSpPr>
          <p:cNvPr id="26" name="Shape 24"/>
          <p:cNvSpPr/>
          <p:nvPr/>
        </p:nvSpPr>
        <p:spPr>
          <a:xfrm>
            <a:off x="320040" y="1514166"/>
            <a:ext cx="2743200" cy="64008"/>
          </a:xfrm>
          <a:prstGeom prst="rect">
            <a:avLst/>
          </a:prstGeom>
          <a:solidFill>
            <a:srgbClr val="553C9A"/>
          </a:solidFill>
          <a:ln w="12700">
            <a:solidFill>
              <a:srgbClr val="553C9A"/>
            </a:solidFill>
            <a:prstDash val="solid"/>
          </a:ln>
        </p:spPr>
        <p:txBody>
          <a:bodyPr/>
          <a:lstStyle/>
          <a:p>
            <a:endParaRPr lang="en-US"/>
          </a:p>
        </p:txBody>
      </p:sp>
      <p:sp>
        <p:nvSpPr>
          <p:cNvPr id="27" name="Text 25"/>
          <p:cNvSpPr/>
          <p:nvPr/>
        </p:nvSpPr>
        <p:spPr>
          <a:xfrm>
            <a:off x="448056" y="1623894"/>
            <a:ext cx="2487168" cy="256032"/>
          </a:xfrm>
          <a:prstGeom prst="rect">
            <a:avLst/>
          </a:prstGeom>
          <a:noFill/>
          <a:ln/>
        </p:spPr>
        <p:txBody>
          <a:bodyPr wrap="square" lIns="0" tIns="0" rIns="0" bIns="0" rtlCol="0" anchor="ctr"/>
          <a:lstStyle/>
          <a:p>
            <a:pPr marL="0" indent="0">
              <a:buNone/>
            </a:pPr>
            <a:r>
              <a:rPr lang="en-US" sz="1000" b="1" dirty="0">
                <a:solidFill>
                  <a:srgbClr val="553C9A"/>
                </a:solidFill>
                <a:latin typeface="Trebuchet MS" pitchFamily="34" charset="0"/>
                <a:ea typeface="Trebuchet MS" pitchFamily="34" charset="-122"/>
                <a:cs typeface="Trebuchet MS" pitchFamily="34" charset="-120"/>
              </a:rPr>
              <a:t>Image Generation</a:t>
            </a:r>
            <a:endParaRPr lang="en-US" sz="1000" dirty="0"/>
          </a:p>
        </p:txBody>
      </p:sp>
      <p:sp>
        <p:nvSpPr>
          <p:cNvPr id="28" name="Text 26"/>
          <p:cNvSpPr/>
          <p:nvPr/>
        </p:nvSpPr>
        <p:spPr>
          <a:xfrm>
            <a:off x="448056" y="1916502"/>
            <a:ext cx="2487168" cy="54864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Creating photorealistic images of people, places, and objects that do not exist.</a:t>
            </a:r>
            <a:endParaRPr lang="en-US" sz="950" dirty="0"/>
          </a:p>
        </p:txBody>
      </p:sp>
      <p:sp>
        <p:nvSpPr>
          <p:cNvPr id="29" name="Shape 27"/>
          <p:cNvSpPr/>
          <p:nvPr/>
        </p:nvSpPr>
        <p:spPr>
          <a:xfrm>
            <a:off x="3246120" y="1514166"/>
            <a:ext cx="2743200" cy="1005840"/>
          </a:xfrm>
          <a:prstGeom prst="rect">
            <a:avLst/>
          </a:prstGeom>
          <a:solidFill>
            <a:srgbClr val="E6F6F9"/>
          </a:solidFill>
          <a:ln w="12700">
            <a:solidFill>
              <a:srgbClr val="0987A0"/>
            </a:solidFill>
            <a:prstDash val="solid"/>
          </a:ln>
          <a:effectLst>
            <a:outerShdw blurRad="63500" dist="25400" dir="8100000" algn="bl" rotWithShape="0">
              <a:srgbClr val="000000">
                <a:alpha val="8000"/>
              </a:srgbClr>
            </a:outerShdw>
          </a:effectLst>
        </p:spPr>
        <p:txBody>
          <a:bodyPr/>
          <a:lstStyle/>
          <a:p>
            <a:endParaRPr lang="en-US"/>
          </a:p>
        </p:txBody>
      </p:sp>
      <p:sp>
        <p:nvSpPr>
          <p:cNvPr id="30" name="Shape 28"/>
          <p:cNvSpPr/>
          <p:nvPr/>
        </p:nvSpPr>
        <p:spPr>
          <a:xfrm>
            <a:off x="3246120" y="1514166"/>
            <a:ext cx="2743200" cy="64008"/>
          </a:xfrm>
          <a:prstGeom prst="rect">
            <a:avLst/>
          </a:prstGeom>
          <a:solidFill>
            <a:srgbClr val="0987A0"/>
          </a:solidFill>
          <a:ln w="12700">
            <a:solidFill>
              <a:srgbClr val="0987A0"/>
            </a:solidFill>
            <a:prstDash val="solid"/>
          </a:ln>
        </p:spPr>
        <p:txBody>
          <a:bodyPr/>
          <a:lstStyle/>
          <a:p>
            <a:endParaRPr lang="en-US"/>
          </a:p>
        </p:txBody>
      </p:sp>
      <p:sp>
        <p:nvSpPr>
          <p:cNvPr id="31" name="Text 29"/>
          <p:cNvSpPr/>
          <p:nvPr/>
        </p:nvSpPr>
        <p:spPr>
          <a:xfrm>
            <a:off x="3374136" y="1623894"/>
            <a:ext cx="2487168" cy="256032"/>
          </a:xfrm>
          <a:prstGeom prst="rect">
            <a:avLst/>
          </a:prstGeom>
          <a:noFill/>
          <a:ln/>
        </p:spPr>
        <p:txBody>
          <a:bodyPr wrap="square" lIns="0" tIns="0" rIns="0" bIns="0" rtlCol="0" anchor="ctr"/>
          <a:lstStyle/>
          <a:p>
            <a:pPr marL="0" indent="0">
              <a:buNone/>
            </a:pPr>
            <a:r>
              <a:rPr lang="en-US" sz="1000" b="1" dirty="0">
                <a:solidFill>
                  <a:srgbClr val="0987A0"/>
                </a:solidFill>
                <a:latin typeface="Trebuchet MS" pitchFamily="34" charset="0"/>
                <a:ea typeface="Trebuchet MS" pitchFamily="34" charset="-122"/>
                <a:cs typeface="Trebuchet MS" pitchFamily="34" charset="-120"/>
              </a:rPr>
              <a:t>Data Augmentation</a:t>
            </a:r>
            <a:endParaRPr lang="en-US" sz="1000" dirty="0"/>
          </a:p>
        </p:txBody>
      </p:sp>
      <p:sp>
        <p:nvSpPr>
          <p:cNvPr id="32" name="Text 30"/>
          <p:cNvSpPr/>
          <p:nvPr/>
        </p:nvSpPr>
        <p:spPr>
          <a:xfrm>
            <a:off x="3374136" y="1916502"/>
            <a:ext cx="2487168" cy="54864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Generating synthetic training data when real data is limited or privacy-sensitive.</a:t>
            </a:r>
            <a:endParaRPr lang="en-US" sz="950" dirty="0"/>
          </a:p>
        </p:txBody>
      </p:sp>
      <p:sp>
        <p:nvSpPr>
          <p:cNvPr id="33" name="Shape 31"/>
          <p:cNvSpPr/>
          <p:nvPr/>
        </p:nvSpPr>
        <p:spPr>
          <a:xfrm>
            <a:off x="6172200" y="1514166"/>
            <a:ext cx="2743200" cy="1005840"/>
          </a:xfrm>
          <a:prstGeom prst="rect">
            <a:avLst/>
          </a:prstGeom>
          <a:solidFill>
            <a:srgbClr val="E6F4EC"/>
          </a:solidFill>
          <a:ln w="12700">
            <a:solidFill>
              <a:srgbClr val="276749"/>
            </a:solidFill>
            <a:prstDash val="solid"/>
          </a:ln>
          <a:effectLst>
            <a:outerShdw blurRad="63500" dist="25400" dir="8100000" algn="bl" rotWithShape="0">
              <a:srgbClr val="000000">
                <a:alpha val="8000"/>
              </a:srgbClr>
            </a:outerShdw>
          </a:effectLst>
        </p:spPr>
        <p:txBody>
          <a:bodyPr/>
          <a:lstStyle/>
          <a:p>
            <a:endParaRPr lang="en-US"/>
          </a:p>
        </p:txBody>
      </p:sp>
      <p:sp>
        <p:nvSpPr>
          <p:cNvPr id="34" name="Shape 32"/>
          <p:cNvSpPr/>
          <p:nvPr/>
        </p:nvSpPr>
        <p:spPr>
          <a:xfrm>
            <a:off x="6172200" y="1514166"/>
            <a:ext cx="2743200" cy="64008"/>
          </a:xfrm>
          <a:prstGeom prst="rect">
            <a:avLst/>
          </a:prstGeom>
          <a:solidFill>
            <a:srgbClr val="276749"/>
          </a:solidFill>
          <a:ln w="12700">
            <a:solidFill>
              <a:srgbClr val="276749"/>
            </a:solidFill>
            <a:prstDash val="solid"/>
          </a:ln>
        </p:spPr>
        <p:txBody>
          <a:bodyPr/>
          <a:lstStyle/>
          <a:p>
            <a:endParaRPr lang="en-US"/>
          </a:p>
        </p:txBody>
      </p:sp>
      <p:sp>
        <p:nvSpPr>
          <p:cNvPr id="35" name="Text 33"/>
          <p:cNvSpPr/>
          <p:nvPr/>
        </p:nvSpPr>
        <p:spPr>
          <a:xfrm>
            <a:off x="6300216" y="1623894"/>
            <a:ext cx="2487168" cy="256032"/>
          </a:xfrm>
          <a:prstGeom prst="rect">
            <a:avLst/>
          </a:prstGeom>
          <a:noFill/>
          <a:ln/>
        </p:spPr>
        <p:txBody>
          <a:bodyPr wrap="square" lIns="0" tIns="0" rIns="0" bIns="0" rtlCol="0" anchor="ctr"/>
          <a:lstStyle/>
          <a:p>
            <a:pPr marL="0" indent="0">
              <a:buNone/>
            </a:pPr>
            <a:r>
              <a:rPr lang="en-US" sz="1000" b="1" dirty="0">
                <a:solidFill>
                  <a:srgbClr val="276749"/>
                </a:solidFill>
                <a:latin typeface="Trebuchet MS" pitchFamily="34" charset="0"/>
                <a:ea typeface="Trebuchet MS" pitchFamily="34" charset="-122"/>
                <a:cs typeface="Trebuchet MS" pitchFamily="34" charset="-120"/>
              </a:rPr>
              <a:t>Medical Imaging</a:t>
            </a:r>
            <a:endParaRPr lang="en-US" sz="1000" dirty="0"/>
          </a:p>
        </p:txBody>
      </p:sp>
      <p:sp>
        <p:nvSpPr>
          <p:cNvPr id="36" name="Text 34"/>
          <p:cNvSpPr/>
          <p:nvPr/>
        </p:nvSpPr>
        <p:spPr>
          <a:xfrm>
            <a:off x="6300216" y="1916502"/>
            <a:ext cx="2487168" cy="54864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Synthetic medical scans for training AI diagnostics without real patient data.</a:t>
            </a:r>
            <a:endParaRPr lang="en-US" sz="950" dirty="0"/>
          </a:p>
        </p:txBody>
      </p:sp>
      <p:sp>
        <p:nvSpPr>
          <p:cNvPr id="37" name="Shape 35"/>
          <p:cNvSpPr/>
          <p:nvPr/>
        </p:nvSpPr>
        <p:spPr>
          <a:xfrm>
            <a:off x="320040" y="2593158"/>
            <a:ext cx="2743200" cy="1005840"/>
          </a:xfrm>
          <a:prstGeom prst="rect">
            <a:avLst/>
          </a:prstGeom>
          <a:solidFill>
            <a:srgbClr val="FFF5EB"/>
          </a:solidFill>
          <a:ln w="12700">
            <a:solidFill>
              <a:srgbClr val="C05621"/>
            </a:solidFill>
            <a:prstDash val="solid"/>
          </a:ln>
          <a:effectLst>
            <a:outerShdw blurRad="63500" dist="25400" dir="8100000" algn="bl" rotWithShape="0">
              <a:srgbClr val="000000">
                <a:alpha val="8000"/>
              </a:srgbClr>
            </a:outerShdw>
          </a:effectLst>
        </p:spPr>
        <p:txBody>
          <a:bodyPr/>
          <a:lstStyle/>
          <a:p>
            <a:endParaRPr lang="en-US"/>
          </a:p>
        </p:txBody>
      </p:sp>
      <p:sp>
        <p:nvSpPr>
          <p:cNvPr id="38" name="Shape 36"/>
          <p:cNvSpPr/>
          <p:nvPr/>
        </p:nvSpPr>
        <p:spPr>
          <a:xfrm>
            <a:off x="320040" y="2593158"/>
            <a:ext cx="2743200" cy="64008"/>
          </a:xfrm>
          <a:prstGeom prst="rect">
            <a:avLst/>
          </a:prstGeom>
          <a:solidFill>
            <a:srgbClr val="C05621"/>
          </a:solidFill>
          <a:ln w="12700">
            <a:solidFill>
              <a:srgbClr val="C05621"/>
            </a:solidFill>
            <a:prstDash val="solid"/>
          </a:ln>
        </p:spPr>
        <p:txBody>
          <a:bodyPr/>
          <a:lstStyle/>
          <a:p>
            <a:endParaRPr lang="en-US"/>
          </a:p>
        </p:txBody>
      </p:sp>
      <p:sp>
        <p:nvSpPr>
          <p:cNvPr id="39" name="Text 37"/>
          <p:cNvSpPr/>
          <p:nvPr/>
        </p:nvSpPr>
        <p:spPr>
          <a:xfrm>
            <a:off x="448056" y="2702886"/>
            <a:ext cx="2487168" cy="256032"/>
          </a:xfrm>
          <a:prstGeom prst="rect">
            <a:avLst/>
          </a:prstGeom>
          <a:noFill/>
          <a:ln/>
        </p:spPr>
        <p:txBody>
          <a:bodyPr wrap="square" lIns="0" tIns="0" rIns="0" bIns="0" rtlCol="0" anchor="ctr"/>
          <a:lstStyle/>
          <a:p>
            <a:pPr marL="0" indent="0">
              <a:buNone/>
            </a:pPr>
            <a:r>
              <a:rPr lang="en-US" sz="1000" b="1" dirty="0">
                <a:solidFill>
                  <a:srgbClr val="C05621"/>
                </a:solidFill>
                <a:latin typeface="Trebuchet MS" pitchFamily="34" charset="0"/>
                <a:ea typeface="Trebuchet MS" pitchFamily="34" charset="-122"/>
                <a:cs typeface="Trebuchet MS" pitchFamily="34" charset="-120"/>
              </a:rPr>
              <a:t>Drug Discovery</a:t>
            </a:r>
            <a:endParaRPr lang="en-US" sz="1000" dirty="0"/>
          </a:p>
        </p:txBody>
      </p:sp>
      <p:sp>
        <p:nvSpPr>
          <p:cNvPr id="40" name="Text 38"/>
          <p:cNvSpPr/>
          <p:nvPr/>
        </p:nvSpPr>
        <p:spPr>
          <a:xfrm>
            <a:off x="448056" y="2995494"/>
            <a:ext cx="2487168" cy="54864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Generating novel molecular structures — accelerating pharmaceutical research.</a:t>
            </a:r>
            <a:endParaRPr lang="en-US" sz="950" dirty="0"/>
          </a:p>
        </p:txBody>
      </p:sp>
      <p:sp>
        <p:nvSpPr>
          <p:cNvPr id="41" name="Shape 39"/>
          <p:cNvSpPr/>
          <p:nvPr/>
        </p:nvSpPr>
        <p:spPr>
          <a:xfrm>
            <a:off x="3246120" y="2593158"/>
            <a:ext cx="2743200" cy="1005840"/>
          </a:xfrm>
          <a:prstGeom prst="rect">
            <a:avLst/>
          </a:prstGeom>
          <a:solidFill>
            <a:srgbClr val="EDF2F7"/>
          </a:solidFill>
          <a:ln w="12700">
            <a:solidFill>
              <a:srgbClr val="1E3A5F"/>
            </a:solidFill>
            <a:prstDash val="solid"/>
          </a:ln>
          <a:effectLst>
            <a:outerShdw blurRad="63500" dist="25400" dir="8100000" algn="bl" rotWithShape="0">
              <a:srgbClr val="000000">
                <a:alpha val="8000"/>
              </a:srgbClr>
            </a:outerShdw>
          </a:effectLst>
        </p:spPr>
        <p:txBody>
          <a:bodyPr/>
          <a:lstStyle/>
          <a:p>
            <a:endParaRPr lang="en-US"/>
          </a:p>
        </p:txBody>
      </p:sp>
      <p:sp>
        <p:nvSpPr>
          <p:cNvPr id="42" name="Shape 40"/>
          <p:cNvSpPr/>
          <p:nvPr/>
        </p:nvSpPr>
        <p:spPr>
          <a:xfrm>
            <a:off x="3246120" y="2593158"/>
            <a:ext cx="2743200" cy="64008"/>
          </a:xfrm>
          <a:prstGeom prst="rect">
            <a:avLst/>
          </a:prstGeom>
          <a:solidFill>
            <a:srgbClr val="1E3A5F"/>
          </a:solidFill>
          <a:ln w="12700">
            <a:solidFill>
              <a:srgbClr val="1E3A5F"/>
            </a:solidFill>
            <a:prstDash val="solid"/>
          </a:ln>
        </p:spPr>
        <p:txBody>
          <a:bodyPr/>
          <a:lstStyle/>
          <a:p>
            <a:endParaRPr lang="en-US"/>
          </a:p>
        </p:txBody>
      </p:sp>
      <p:sp>
        <p:nvSpPr>
          <p:cNvPr id="43" name="Text 41"/>
          <p:cNvSpPr/>
          <p:nvPr/>
        </p:nvSpPr>
        <p:spPr>
          <a:xfrm>
            <a:off x="3374136" y="2702886"/>
            <a:ext cx="2487168" cy="256032"/>
          </a:xfrm>
          <a:prstGeom prst="rect">
            <a:avLst/>
          </a:prstGeom>
          <a:noFill/>
          <a:ln/>
        </p:spPr>
        <p:txBody>
          <a:bodyPr wrap="square" lIns="0" tIns="0" rIns="0" bIns="0" rtlCol="0" anchor="ctr"/>
          <a:lstStyle/>
          <a:p>
            <a:pPr marL="0" indent="0">
              <a:buNone/>
            </a:pPr>
            <a:r>
              <a:rPr lang="en-US" sz="1000" b="1" dirty="0">
                <a:solidFill>
                  <a:srgbClr val="1E3A5F"/>
                </a:solidFill>
                <a:latin typeface="Trebuchet MS" pitchFamily="34" charset="0"/>
                <a:ea typeface="Trebuchet MS" pitchFamily="34" charset="-122"/>
                <a:cs typeface="Trebuchet MS" pitchFamily="34" charset="-120"/>
              </a:rPr>
              <a:t>Image Enhancement</a:t>
            </a:r>
            <a:endParaRPr lang="en-US" sz="1000" dirty="0"/>
          </a:p>
        </p:txBody>
      </p:sp>
      <p:sp>
        <p:nvSpPr>
          <p:cNvPr id="44" name="Text 42"/>
          <p:cNvSpPr/>
          <p:nvPr/>
        </p:nvSpPr>
        <p:spPr>
          <a:xfrm>
            <a:off x="3374136" y="2995494"/>
            <a:ext cx="2487168" cy="54864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Super-resolution — enhancing low-quality images to high resolution.</a:t>
            </a:r>
            <a:endParaRPr lang="en-US" sz="950" dirty="0"/>
          </a:p>
        </p:txBody>
      </p:sp>
      <p:sp>
        <p:nvSpPr>
          <p:cNvPr id="45" name="Shape 43"/>
          <p:cNvSpPr/>
          <p:nvPr/>
        </p:nvSpPr>
        <p:spPr>
          <a:xfrm>
            <a:off x="6172200" y="2593158"/>
            <a:ext cx="2743200" cy="1005840"/>
          </a:xfrm>
          <a:prstGeom prst="rect">
            <a:avLst/>
          </a:prstGeom>
          <a:solidFill>
            <a:srgbClr val="FFFBEB"/>
          </a:solidFill>
          <a:ln w="12700">
            <a:solidFill>
              <a:srgbClr val="B7791F"/>
            </a:solidFill>
            <a:prstDash val="solid"/>
          </a:ln>
          <a:effectLst>
            <a:outerShdw blurRad="63500" dist="25400" dir="8100000" algn="bl" rotWithShape="0">
              <a:srgbClr val="000000">
                <a:alpha val="8000"/>
              </a:srgbClr>
            </a:outerShdw>
          </a:effectLst>
        </p:spPr>
        <p:txBody>
          <a:bodyPr/>
          <a:lstStyle/>
          <a:p>
            <a:endParaRPr lang="en-US"/>
          </a:p>
        </p:txBody>
      </p:sp>
      <p:sp>
        <p:nvSpPr>
          <p:cNvPr id="46" name="Shape 44"/>
          <p:cNvSpPr/>
          <p:nvPr/>
        </p:nvSpPr>
        <p:spPr>
          <a:xfrm>
            <a:off x="6172200" y="2593158"/>
            <a:ext cx="2743200" cy="64008"/>
          </a:xfrm>
          <a:prstGeom prst="rect">
            <a:avLst/>
          </a:prstGeom>
          <a:solidFill>
            <a:srgbClr val="B7791F"/>
          </a:solidFill>
          <a:ln w="12700">
            <a:solidFill>
              <a:srgbClr val="B7791F"/>
            </a:solidFill>
            <a:prstDash val="solid"/>
          </a:ln>
        </p:spPr>
        <p:txBody>
          <a:bodyPr/>
          <a:lstStyle/>
          <a:p>
            <a:endParaRPr lang="en-US"/>
          </a:p>
        </p:txBody>
      </p:sp>
      <p:sp>
        <p:nvSpPr>
          <p:cNvPr id="47" name="Text 45"/>
          <p:cNvSpPr/>
          <p:nvPr/>
        </p:nvSpPr>
        <p:spPr>
          <a:xfrm>
            <a:off x="6300216" y="2702886"/>
            <a:ext cx="2487168" cy="256032"/>
          </a:xfrm>
          <a:prstGeom prst="rect">
            <a:avLst/>
          </a:prstGeom>
          <a:noFill/>
          <a:ln/>
        </p:spPr>
        <p:txBody>
          <a:bodyPr wrap="square" lIns="0" tIns="0" rIns="0" bIns="0" rtlCol="0" anchor="ctr"/>
          <a:lstStyle/>
          <a:p>
            <a:pPr marL="0" indent="0">
              <a:buNone/>
            </a:pPr>
            <a:r>
              <a:rPr lang="en-US" sz="1000" b="1" dirty="0">
                <a:solidFill>
                  <a:srgbClr val="B7791F"/>
                </a:solidFill>
                <a:latin typeface="Trebuchet MS" pitchFamily="34" charset="0"/>
                <a:ea typeface="Trebuchet MS" pitchFamily="34" charset="-122"/>
                <a:cs typeface="Trebuchet MS" pitchFamily="34" charset="-120"/>
              </a:rPr>
              <a:t>Fashion &amp; Design</a:t>
            </a:r>
            <a:endParaRPr lang="en-US" sz="1000" dirty="0"/>
          </a:p>
        </p:txBody>
      </p:sp>
      <p:sp>
        <p:nvSpPr>
          <p:cNvPr id="48" name="Text 46"/>
          <p:cNvSpPr/>
          <p:nvPr/>
        </p:nvSpPr>
        <p:spPr>
          <a:xfrm>
            <a:off x="6300216" y="2995494"/>
            <a:ext cx="2487168" cy="54864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Generating new clothing designs, interior concepts, and product visuals.</a:t>
            </a:r>
            <a:endParaRPr lang="en-US" sz="9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CBD5E0"/>
            </a:solidFill>
            <a:prstDash val="solid"/>
          </a:ln>
        </p:spPr>
        <p:txBody>
          <a:bodyPr/>
          <a:lstStyle/>
          <a:p>
            <a:endParaRPr lang="en-US"/>
          </a:p>
        </p:txBody>
      </p:sp>
      <p:sp>
        <p:nvSpPr>
          <p:cNvPr id="3" name="Shape 1"/>
          <p:cNvSpPr/>
          <p:nvPr/>
        </p:nvSpPr>
        <p:spPr>
          <a:xfrm>
            <a:off x="0" y="0"/>
            <a:ext cx="201168" cy="960120"/>
          </a:xfrm>
          <a:prstGeom prst="rect">
            <a:avLst/>
          </a:prstGeom>
          <a:solidFill>
            <a:srgbClr val="1E3A5F"/>
          </a:solidFill>
          <a:ln w="12700">
            <a:solidFill>
              <a:srgbClr val="1E3A5F"/>
            </a:solidFill>
            <a:prstDash val="solid"/>
          </a:ln>
        </p:spPr>
        <p:txBody>
          <a:bodyPr/>
          <a:lstStyle/>
          <a:p>
            <a:endParaRPr lang="en-US"/>
          </a:p>
        </p:txBody>
      </p:sp>
      <p:sp>
        <p:nvSpPr>
          <p:cNvPr id="4" name="Text 2"/>
          <p:cNvSpPr/>
          <p:nvPr/>
        </p:nvSpPr>
        <p:spPr>
          <a:xfrm>
            <a:off x="347472" y="91440"/>
            <a:ext cx="8412480" cy="475488"/>
          </a:xfrm>
          <a:prstGeom prst="rect">
            <a:avLst/>
          </a:prstGeom>
          <a:noFill/>
          <a:ln/>
        </p:spPr>
        <p:txBody>
          <a:bodyPr wrap="square" lIns="0" tIns="0" rIns="0" bIns="0" rtlCol="0" anchor="ctr"/>
          <a:lstStyle/>
          <a:p>
            <a:pPr marL="0" indent="0">
              <a:buNone/>
            </a:pPr>
            <a:r>
              <a:rPr lang="en-US" sz="2200" b="1" dirty="0">
                <a:solidFill>
                  <a:srgbClr val="1E3A5F"/>
                </a:solidFill>
                <a:latin typeface="Trebuchet MS" pitchFamily="34" charset="0"/>
                <a:ea typeface="Trebuchet MS" pitchFamily="34" charset="-122"/>
                <a:cs typeface="Trebuchet MS" pitchFamily="34" charset="-120"/>
              </a:rPr>
              <a:t>CNN vs RNN vs GAN — Full Comparison</a:t>
            </a:r>
            <a:endParaRPr lang="en-US" sz="2200" dirty="0"/>
          </a:p>
        </p:txBody>
      </p:sp>
      <p:sp>
        <p:nvSpPr>
          <p:cNvPr id="5" name="Text 3"/>
          <p:cNvSpPr/>
          <p:nvPr/>
        </p:nvSpPr>
        <p:spPr>
          <a:xfrm>
            <a:off x="347472" y="585216"/>
            <a:ext cx="8412480" cy="292608"/>
          </a:xfrm>
          <a:prstGeom prst="rect">
            <a:avLst/>
          </a:prstGeom>
          <a:noFill/>
          <a:ln/>
        </p:spPr>
        <p:txBody>
          <a:bodyPr wrap="square" lIns="0" tIns="0" rIns="0" bIns="0" rtlCol="0" anchor="ctr"/>
          <a:lstStyle/>
          <a:p>
            <a:pPr marL="0" indent="0">
              <a:buNone/>
            </a:pPr>
            <a:r>
              <a:rPr lang="en-US" sz="1100" i="1" dirty="0">
                <a:solidFill>
                  <a:srgbClr val="718096"/>
                </a:solidFill>
                <a:latin typeface="Calibri" pitchFamily="34" charset="0"/>
                <a:ea typeface="Calibri" pitchFamily="34" charset="-122"/>
                <a:cs typeface="Calibri" pitchFamily="34" charset="-120"/>
              </a:rPr>
              <a:t>Side-by-Side Reference of All Three Architectures</a:t>
            </a:r>
            <a:endParaRPr lang="en-US" sz="1100" dirty="0"/>
          </a:p>
        </p:txBody>
      </p:sp>
      <p:sp>
        <p:nvSpPr>
          <p:cNvPr id="6" name="Shape 4"/>
          <p:cNvSpPr/>
          <p:nvPr/>
        </p:nvSpPr>
        <p:spPr>
          <a:xfrm>
            <a:off x="347472" y="932688"/>
            <a:ext cx="8503920" cy="27432"/>
          </a:xfrm>
          <a:prstGeom prst="rect">
            <a:avLst/>
          </a:prstGeom>
          <a:solidFill>
            <a:srgbClr val="1E3A5F">
              <a:alpha val="30000"/>
            </a:srgbClr>
          </a:solidFill>
          <a:ln/>
        </p:spPr>
        <p:txBody>
          <a:bodyPr/>
          <a:lstStyle/>
          <a:p>
            <a:endParaRPr lang="en-US"/>
          </a:p>
        </p:txBody>
      </p:sp>
      <p:sp>
        <p:nvSpPr>
          <p:cNvPr id="7" name="Shape 5"/>
          <p:cNvSpPr/>
          <p:nvPr/>
        </p:nvSpPr>
        <p:spPr>
          <a:xfrm>
            <a:off x="320040" y="1024128"/>
            <a:ext cx="8503920" cy="384048"/>
          </a:xfrm>
          <a:prstGeom prst="rect">
            <a:avLst/>
          </a:prstGeom>
          <a:solidFill>
            <a:srgbClr val="1E3A5F"/>
          </a:solidFill>
          <a:ln w="12700">
            <a:solidFill>
              <a:srgbClr val="1E3A5F"/>
            </a:solidFill>
            <a:prstDash val="solid"/>
          </a:ln>
        </p:spPr>
        <p:txBody>
          <a:bodyPr/>
          <a:lstStyle/>
          <a:p>
            <a:endParaRPr lang="en-US"/>
          </a:p>
        </p:txBody>
      </p:sp>
      <p:sp>
        <p:nvSpPr>
          <p:cNvPr id="8" name="Text 6"/>
          <p:cNvSpPr/>
          <p:nvPr/>
        </p:nvSpPr>
        <p:spPr>
          <a:xfrm>
            <a:off x="438912" y="1024128"/>
            <a:ext cx="2286000" cy="384048"/>
          </a:xfrm>
          <a:prstGeom prst="rect">
            <a:avLst/>
          </a:prstGeom>
          <a:noFill/>
          <a:ln/>
        </p:spPr>
        <p:txBody>
          <a:bodyPr wrap="square" lIns="0" tIns="0" rIns="0" bIns="0" rtlCol="0" anchor="ctr"/>
          <a:lstStyle/>
          <a:p>
            <a:pPr marL="0" indent="0">
              <a:buNone/>
            </a:pPr>
            <a:r>
              <a:rPr lang="en-US" sz="1150" b="1" dirty="0">
                <a:solidFill>
                  <a:srgbClr val="FFFFFF"/>
                </a:solidFill>
                <a:latin typeface="Trebuchet MS" pitchFamily="34" charset="0"/>
                <a:ea typeface="Trebuchet MS" pitchFamily="34" charset="-122"/>
                <a:cs typeface="Trebuchet MS" pitchFamily="34" charset="-120"/>
              </a:rPr>
              <a:t>Feature</a:t>
            </a:r>
            <a:endParaRPr lang="en-US" sz="1150" dirty="0"/>
          </a:p>
        </p:txBody>
      </p:sp>
      <p:sp>
        <p:nvSpPr>
          <p:cNvPr id="9" name="Text 7"/>
          <p:cNvSpPr/>
          <p:nvPr/>
        </p:nvSpPr>
        <p:spPr>
          <a:xfrm>
            <a:off x="2816352" y="1024128"/>
            <a:ext cx="1920240" cy="384048"/>
          </a:xfrm>
          <a:prstGeom prst="rect">
            <a:avLst/>
          </a:prstGeom>
          <a:noFill/>
          <a:ln/>
        </p:spPr>
        <p:txBody>
          <a:bodyPr wrap="square" lIns="0" tIns="0" rIns="0" bIns="0" rtlCol="0" anchor="ctr"/>
          <a:lstStyle/>
          <a:p>
            <a:pPr marL="0" indent="0">
              <a:buNone/>
            </a:pPr>
            <a:r>
              <a:rPr lang="en-US" sz="1150" b="1" dirty="0">
                <a:solidFill>
                  <a:srgbClr val="0987A0"/>
                </a:solidFill>
                <a:latin typeface="Trebuchet MS" pitchFamily="34" charset="0"/>
                <a:ea typeface="Trebuchet MS" pitchFamily="34" charset="-122"/>
                <a:cs typeface="Trebuchet MS" pitchFamily="34" charset="-120"/>
              </a:rPr>
              <a:t> CNN</a:t>
            </a:r>
            <a:endParaRPr lang="en-US" sz="1150" dirty="0"/>
          </a:p>
        </p:txBody>
      </p:sp>
      <p:sp>
        <p:nvSpPr>
          <p:cNvPr id="10" name="Text 8"/>
          <p:cNvSpPr/>
          <p:nvPr/>
        </p:nvSpPr>
        <p:spPr>
          <a:xfrm>
            <a:off x="4809744" y="1024128"/>
            <a:ext cx="1920240" cy="384048"/>
          </a:xfrm>
          <a:prstGeom prst="rect">
            <a:avLst/>
          </a:prstGeom>
          <a:noFill/>
          <a:ln/>
        </p:spPr>
        <p:txBody>
          <a:bodyPr wrap="square" lIns="0" tIns="0" rIns="0" bIns="0" rtlCol="0" anchor="ctr"/>
          <a:lstStyle/>
          <a:p>
            <a:pPr marL="0" indent="0">
              <a:buNone/>
            </a:pPr>
            <a:r>
              <a:rPr lang="en-US" sz="1150" b="1" dirty="0">
                <a:solidFill>
                  <a:srgbClr val="276749"/>
                </a:solidFill>
                <a:latin typeface="Trebuchet MS" pitchFamily="34" charset="0"/>
                <a:ea typeface="Trebuchet MS" pitchFamily="34" charset="-122"/>
                <a:cs typeface="Trebuchet MS" pitchFamily="34" charset="-120"/>
              </a:rPr>
              <a:t>  RNN</a:t>
            </a:r>
            <a:endParaRPr lang="en-US" sz="1150" dirty="0"/>
          </a:p>
        </p:txBody>
      </p:sp>
      <p:sp>
        <p:nvSpPr>
          <p:cNvPr id="11" name="Text 9"/>
          <p:cNvSpPr/>
          <p:nvPr/>
        </p:nvSpPr>
        <p:spPr>
          <a:xfrm>
            <a:off x="6803136" y="1024128"/>
            <a:ext cx="2103120" cy="384048"/>
          </a:xfrm>
          <a:prstGeom prst="rect">
            <a:avLst/>
          </a:prstGeom>
          <a:noFill/>
          <a:ln/>
        </p:spPr>
        <p:txBody>
          <a:bodyPr wrap="square" lIns="0" tIns="0" rIns="0" bIns="0" rtlCol="0" anchor="ctr"/>
          <a:lstStyle/>
          <a:p>
            <a:pPr marL="0" indent="0">
              <a:buNone/>
            </a:pPr>
            <a:r>
              <a:rPr lang="en-US" sz="1150" b="1" dirty="0">
                <a:solidFill>
                  <a:srgbClr val="553C9A"/>
                </a:solidFill>
                <a:latin typeface="Trebuchet MS" pitchFamily="34" charset="0"/>
                <a:ea typeface="Trebuchet MS" pitchFamily="34" charset="-122"/>
                <a:cs typeface="Trebuchet MS" pitchFamily="34" charset="-120"/>
              </a:rPr>
              <a:t>  GAN</a:t>
            </a:r>
            <a:endParaRPr lang="en-US" sz="1150" dirty="0"/>
          </a:p>
        </p:txBody>
      </p:sp>
      <p:sp>
        <p:nvSpPr>
          <p:cNvPr id="12" name="Shape 10"/>
          <p:cNvSpPr/>
          <p:nvPr/>
        </p:nvSpPr>
        <p:spPr>
          <a:xfrm>
            <a:off x="320040" y="1426464"/>
            <a:ext cx="8503920" cy="402336"/>
          </a:xfrm>
          <a:prstGeom prst="rect">
            <a:avLst/>
          </a:prstGeom>
          <a:solidFill>
            <a:srgbClr val="FFFFFF"/>
          </a:solidFill>
          <a:ln w="5080">
            <a:solidFill>
              <a:srgbClr val="CBD5E0"/>
            </a:solidFill>
            <a:prstDash val="solid"/>
          </a:ln>
        </p:spPr>
        <p:txBody>
          <a:bodyPr/>
          <a:lstStyle/>
          <a:p>
            <a:endParaRPr lang="en-US"/>
          </a:p>
        </p:txBody>
      </p:sp>
      <p:sp>
        <p:nvSpPr>
          <p:cNvPr id="13" name="Text 11"/>
          <p:cNvSpPr/>
          <p:nvPr/>
        </p:nvSpPr>
        <p:spPr>
          <a:xfrm>
            <a:off x="438912" y="1444752"/>
            <a:ext cx="2249424" cy="365760"/>
          </a:xfrm>
          <a:prstGeom prst="rect">
            <a:avLst/>
          </a:prstGeom>
          <a:noFill/>
          <a:ln/>
        </p:spPr>
        <p:txBody>
          <a:bodyPr wrap="square" lIns="0" tIns="0" rIns="0" bIns="0" rtlCol="0" anchor="ctr"/>
          <a:lstStyle/>
          <a:p>
            <a:pPr marL="0" indent="0">
              <a:buNone/>
            </a:pPr>
            <a:r>
              <a:rPr lang="en-US" sz="1000" b="1" dirty="0">
                <a:solidFill>
                  <a:srgbClr val="718096"/>
                </a:solidFill>
                <a:latin typeface="Calibri" pitchFamily="34" charset="0"/>
                <a:ea typeface="Calibri" pitchFamily="34" charset="-122"/>
                <a:cs typeface="Calibri" pitchFamily="34" charset="-120"/>
              </a:rPr>
              <a:t>Primary Input</a:t>
            </a:r>
            <a:endParaRPr lang="en-US" sz="1000" dirty="0"/>
          </a:p>
        </p:txBody>
      </p:sp>
      <p:sp>
        <p:nvSpPr>
          <p:cNvPr id="14" name="Text 12"/>
          <p:cNvSpPr/>
          <p:nvPr/>
        </p:nvSpPr>
        <p:spPr>
          <a:xfrm>
            <a:off x="2816352" y="1444752"/>
            <a:ext cx="1847088" cy="365760"/>
          </a:xfrm>
          <a:prstGeom prst="rect">
            <a:avLst/>
          </a:prstGeom>
          <a:noFill/>
          <a:ln/>
        </p:spPr>
        <p:txBody>
          <a:bodyPr wrap="square" lIns="0" tIns="0" rIns="0" bIns="0" rtlCol="0" anchor="ctr"/>
          <a:lstStyle/>
          <a:p>
            <a:pPr marL="0" indent="0">
              <a:buNone/>
            </a:pPr>
            <a:r>
              <a:rPr lang="en-US" sz="1000" dirty="0">
                <a:solidFill>
                  <a:srgbClr val="0987A0"/>
                </a:solidFill>
                <a:latin typeface="Calibri" pitchFamily="34" charset="0"/>
                <a:ea typeface="Calibri" pitchFamily="34" charset="-122"/>
                <a:cs typeface="Calibri" pitchFamily="34" charset="-120"/>
              </a:rPr>
              <a:t>Images / Grids</a:t>
            </a:r>
            <a:endParaRPr lang="en-US" sz="1000" dirty="0"/>
          </a:p>
        </p:txBody>
      </p:sp>
      <p:sp>
        <p:nvSpPr>
          <p:cNvPr id="15" name="Text 13"/>
          <p:cNvSpPr/>
          <p:nvPr/>
        </p:nvSpPr>
        <p:spPr>
          <a:xfrm>
            <a:off x="4700016" y="1444752"/>
            <a:ext cx="1847088" cy="365760"/>
          </a:xfrm>
          <a:prstGeom prst="rect">
            <a:avLst/>
          </a:prstGeom>
          <a:noFill/>
          <a:ln/>
        </p:spPr>
        <p:txBody>
          <a:bodyPr wrap="square" lIns="0" tIns="0" rIns="0" bIns="0" rtlCol="0" anchor="ctr"/>
          <a:lstStyle/>
          <a:p>
            <a:pPr marL="0" indent="0">
              <a:buNone/>
            </a:pPr>
            <a:r>
              <a:rPr lang="en-US" sz="1000" dirty="0">
                <a:solidFill>
                  <a:srgbClr val="276749"/>
                </a:solidFill>
                <a:latin typeface="Calibri" pitchFamily="34" charset="0"/>
                <a:ea typeface="Calibri" pitchFamily="34" charset="-122"/>
                <a:cs typeface="Calibri" pitchFamily="34" charset="-120"/>
              </a:rPr>
              <a:t>Sequences / Time Series</a:t>
            </a:r>
            <a:endParaRPr lang="en-US" sz="1000" dirty="0"/>
          </a:p>
        </p:txBody>
      </p:sp>
      <p:sp>
        <p:nvSpPr>
          <p:cNvPr id="16" name="Text 14"/>
          <p:cNvSpPr/>
          <p:nvPr/>
        </p:nvSpPr>
        <p:spPr>
          <a:xfrm>
            <a:off x="6583680" y="1444752"/>
            <a:ext cx="2103120" cy="365760"/>
          </a:xfrm>
          <a:prstGeom prst="rect">
            <a:avLst/>
          </a:prstGeom>
          <a:noFill/>
          <a:ln/>
        </p:spPr>
        <p:txBody>
          <a:bodyPr wrap="square" lIns="0" tIns="0" rIns="0" bIns="0" rtlCol="0" anchor="ctr"/>
          <a:lstStyle/>
          <a:p>
            <a:pPr marL="0" indent="0">
              <a:buNone/>
            </a:pPr>
            <a:r>
              <a:rPr lang="en-US" sz="1000" dirty="0">
                <a:solidFill>
                  <a:srgbClr val="553C9A"/>
                </a:solidFill>
                <a:latin typeface="Calibri" pitchFamily="34" charset="0"/>
                <a:ea typeface="Calibri" pitchFamily="34" charset="-122"/>
                <a:cs typeface="Calibri" pitchFamily="34" charset="-120"/>
              </a:rPr>
              <a:t>Random Noise</a:t>
            </a:r>
            <a:endParaRPr lang="en-US" sz="1000" dirty="0"/>
          </a:p>
        </p:txBody>
      </p:sp>
      <p:sp>
        <p:nvSpPr>
          <p:cNvPr id="17" name="Shape 15"/>
          <p:cNvSpPr/>
          <p:nvPr/>
        </p:nvSpPr>
        <p:spPr>
          <a:xfrm>
            <a:off x="2724912" y="1426464"/>
            <a:ext cx="0" cy="402336"/>
          </a:xfrm>
          <a:prstGeom prst="line">
            <a:avLst/>
          </a:prstGeom>
          <a:noFill/>
          <a:ln w="6350">
            <a:solidFill>
              <a:srgbClr val="CBD5E0"/>
            </a:solidFill>
            <a:prstDash val="solid"/>
          </a:ln>
        </p:spPr>
        <p:txBody>
          <a:bodyPr/>
          <a:lstStyle/>
          <a:p>
            <a:endParaRPr lang="en-US"/>
          </a:p>
        </p:txBody>
      </p:sp>
      <p:sp>
        <p:nvSpPr>
          <p:cNvPr id="18" name="Shape 16"/>
          <p:cNvSpPr/>
          <p:nvPr/>
        </p:nvSpPr>
        <p:spPr>
          <a:xfrm>
            <a:off x="4608576" y="1426464"/>
            <a:ext cx="0" cy="402336"/>
          </a:xfrm>
          <a:prstGeom prst="line">
            <a:avLst/>
          </a:prstGeom>
          <a:noFill/>
          <a:ln w="6350">
            <a:solidFill>
              <a:srgbClr val="CBD5E0"/>
            </a:solidFill>
            <a:prstDash val="solid"/>
          </a:ln>
        </p:spPr>
        <p:txBody>
          <a:bodyPr/>
          <a:lstStyle/>
          <a:p>
            <a:endParaRPr lang="en-US"/>
          </a:p>
        </p:txBody>
      </p:sp>
      <p:sp>
        <p:nvSpPr>
          <p:cNvPr id="19" name="Shape 17"/>
          <p:cNvSpPr/>
          <p:nvPr/>
        </p:nvSpPr>
        <p:spPr>
          <a:xfrm>
            <a:off x="6492240" y="1426464"/>
            <a:ext cx="0" cy="402336"/>
          </a:xfrm>
          <a:prstGeom prst="line">
            <a:avLst/>
          </a:prstGeom>
          <a:noFill/>
          <a:ln w="6350">
            <a:solidFill>
              <a:srgbClr val="CBD5E0"/>
            </a:solidFill>
            <a:prstDash val="solid"/>
          </a:ln>
        </p:spPr>
        <p:txBody>
          <a:bodyPr/>
          <a:lstStyle/>
          <a:p>
            <a:endParaRPr lang="en-US"/>
          </a:p>
        </p:txBody>
      </p:sp>
      <p:sp>
        <p:nvSpPr>
          <p:cNvPr id="20" name="Shape 18"/>
          <p:cNvSpPr/>
          <p:nvPr/>
        </p:nvSpPr>
        <p:spPr>
          <a:xfrm>
            <a:off x="320040" y="1847088"/>
            <a:ext cx="8503920" cy="402336"/>
          </a:xfrm>
          <a:prstGeom prst="rect">
            <a:avLst/>
          </a:prstGeom>
          <a:solidFill>
            <a:srgbClr val="EDF2F7"/>
          </a:solidFill>
          <a:ln w="5080">
            <a:solidFill>
              <a:srgbClr val="CBD5E0"/>
            </a:solidFill>
            <a:prstDash val="solid"/>
          </a:ln>
        </p:spPr>
        <p:txBody>
          <a:bodyPr/>
          <a:lstStyle/>
          <a:p>
            <a:endParaRPr lang="en-US"/>
          </a:p>
        </p:txBody>
      </p:sp>
      <p:sp>
        <p:nvSpPr>
          <p:cNvPr id="21" name="Text 19"/>
          <p:cNvSpPr/>
          <p:nvPr/>
        </p:nvSpPr>
        <p:spPr>
          <a:xfrm>
            <a:off x="438912" y="1865376"/>
            <a:ext cx="2249424" cy="365760"/>
          </a:xfrm>
          <a:prstGeom prst="rect">
            <a:avLst/>
          </a:prstGeom>
          <a:noFill/>
          <a:ln/>
        </p:spPr>
        <p:txBody>
          <a:bodyPr wrap="square" lIns="0" tIns="0" rIns="0" bIns="0" rtlCol="0" anchor="ctr"/>
          <a:lstStyle/>
          <a:p>
            <a:pPr marL="0" indent="0">
              <a:buNone/>
            </a:pPr>
            <a:r>
              <a:rPr lang="en-US" sz="1000" b="1" dirty="0">
                <a:solidFill>
                  <a:srgbClr val="718096"/>
                </a:solidFill>
                <a:latin typeface="Calibri" pitchFamily="34" charset="0"/>
                <a:ea typeface="Calibri" pitchFamily="34" charset="-122"/>
                <a:cs typeface="Calibri" pitchFamily="34" charset="-120"/>
              </a:rPr>
              <a:t>Primary Output</a:t>
            </a:r>
            <a:endParaRPr lang="en-US" sz="1000" dirty="0"/>
          </a:p>
        </p:txBody>
      </p:sp>
      <p:sp>
        <p:nvSpPr>
          <p:cNvPr id="22" name="Text 20"/>
          <p:cNvSpPr/>
          <p:nvPr/>
        </p:nvSpPr>
        <p:spPr>
          <a:xfrm>
            <a:off x="2816352" y="1865376"/>
            <a:ext cx="1847088" cy="365760"/>
          </a:xfrm>
          <a:prstGeom prst="rect">
            <a:avLst/>
          </a:prstGeom>
          <a:noFill/>
          <a:ln/>
        </p:spPr>
        <p:txBody>
          <a:bodyPr wrap="square" lIns="0" tIns="0" rIns="0" bIns="0" rtlCol="0" anchor="ctr"/>
          <a:lstStyle/>
          <a:p>
            <a:pPr marL="0" indent="0">
              <a:buNone/>
            </a:pPr>
            <a:r>
              <a:rPr lang="en-US" sz="1000" dirty="0">
                <a:solidFill>
                  <a:srgbClr val="0987A0"/>
                </a:solidFill>
                <a:latin typeface="Calibri" pitchFamily="34" charset="0"/>
                <a:ea typeface="Calibri" pitchFamily="34" charset="-122"/>
                <a:cs typeface="Calibri" pitchFamily="34" charset="-120"/>
              </a:rPr>
              <a:t>Classification / Detection</a:t>
            </a:r>
            <a:endParaRPr lang="en-US" sz="1000" dirty="0"/>
          </a:p>
        </p:txBody>
      </p:sp>
      <p:sp>
        <p:nvSpPr>
          <p:cNvPr id="23" name="Text 21"/>
          <p:cNvSpPr/>
          <p:nvPr/>
        </p:nvSpPr>
        <p:spPr>
          <a:xfrm>
            <a:off x="4700016" y="1865376"/>
            <a:ext cx="1847088" cy="365760"/>
          </a:xfrm>
          <a:prstGeom prst="rect">
            <a:avLst/>
          </a:prstGeom>
          <a:noFill/>
          <a:ln/>
        </p:spPr>
        <p:txBody>
          <a:bodyPr wrap="square" lIns="0" tIns="0" rIns="0" bIns="0" rtlCol="0" anchor="ctr"/>
          <a:lstStyle/>
          <a:p>
            <a:pPr marL="0" indent="0">
              <a:buNone/>
            </a:pPr>
            <a:r>
              <a:rPr lang="en-US" sz="1000" dirty="0">
                <a:solidFill>
                  <a:srgbClr val="276749"/>
                </a:solidFill>
                <a:latin typeface="Calibri" pitchFamily="34" charset="0"/>
                <a:ea typeface="Calibri" pitchFamily="34" charset="-122"/>
                <a:cs typeface="Calibri" pitchFamily="34" charset="-120"/>
              </a:rPr>
              <a:t>Sequence Prediction</a:t>
            </a:r>
            <a:endParaRPr lang="en-US" sz="1000" dirty="0"/>
          </a:p>
        </p:txBody>
      </p:sp>
      <p:sp>
        <p:nvSpPr>
          <p:cNvPr id="24" name="Text 22"/>
          <p:cNvSpPr/>
          <p:nvPr/>
        </p:nvSpPr>
        <p:spPr>
          <a:xfrm>
            <a:off x="6583680" y="1865376"/>
            <a:ext cx="2103120" cy="365760"/>
          </a:xfrm>
          <a:prstGeom prst="rect">
            <a:avLst/>
          </a:prstGeom>
          <a:noFill/>
          <a:ln/>
        </p:spPr>
        <p:txBody>
          <a:bodyPr wrap="square" lIns="0" tIns="0" rIns="0" bIns="0" rtlCol="0" anchor="ctr"/>
          <a:lstStyle/>
          <a:p>
            <a:pPr marL="0" indent="0">
              <a:buNone/>
            </a:pPr>
            <a:r>
              <a:rPr lang="en-US" sz="1000" dirty="0">
                <a:solidFill>
                  <a:srgbClr val="553C9A"/>
                </a:solidFill>
                <a:latin typeface="Calibri" pitchFamily="34" charset="0"/>
                <a:ea typeface="Calibri" pitchFamily="34" charset="-122"/>
                <a:cs typeface="Calibri" pitchFamily="34" charset="-120"/>
              </a:rPr>
              <a:t>Generated Data</a:t>
            </a:r>
            <a:endParaRPr lang="en-US" sz="1000" dirty="0"/>
          </a:p>
        </p:txBody>
      </p:sp>
      <p:sp>
        <p:nvSpPr>
          <p:cNvPr id="25" name="Shape 23"/>
          <p:cNvSpPr/>
          <p:nvPr/>
        </p:nvSpPr>
        <p:spPr>
          <a:xfrm>
            <a:off x="2724912" y="1847088"/>
            <a:ext cx="0" cy="402336"/>
          </a:xfrm>
          <a:prstGeom prst="line">
            <a:avLst/>
          </a:prstGeom>
          <a:noFill/>
          <a:ln w="6350">
            <a:solidFill>
              <a:srgbClr val="CBD5E0"/>
            </a:solidFill>
            <a:prstDash val="solid"/>
          </a:ln>
        </p:spPr>
        <p:txBody>
          <a:bodyPr/>
          <a:lstStyle/>
          <a:p>
            <a:endParaRPr lang="en-US"/>
          </a:p>
        </p:txBody>
      </p:sp>
      <p:sp>
        <p:nvSpPr>
          <p:cNvPr id="26" name="Shape 24"/>
          <p:cNvSpPr/>
          <p:nvPr/>
        </p:nvSpPr>
        <p:spPr>
          <a:xfrm>
            <a:off x="4608576" y="1847088"/>
            <a:ext cx="0" cy="402336"/>
          </a:xfrm>
          <a:prstGeom prst="line">
            <a:avLst/>
          </a:prstGeom>
          <a:noFill/>
          <a:ln w="6350">
            <a:solidFill>
              <a:srgbClr val="CBD5E0"/>
            </a:solidFill>
            <a:prstDash val="solid"/>
          </a:ln>
        </p:spPr>
        <p:txBody>
          <a:bodyPr/>
          <a:lstStyle/>
          <a:p>
            <a:endParaRPr lang="en-US"/>
          </a:p>
        </p:txBody>
      </p:sp>
      <p:sp>
        <p:nvSpPr>
          <p:cNvPr id="27" name="Shape 25"/>
          <p:cNvSpPr/>
          <p:nvPr/>
        </p:nvSpPr>
        <p:spPr>
          <a:xfrm>
            <a:off x="6492240" y="1847088"/>
            <a:ext cx="0" cy="402336"/>
          </a:xfrm>
          <a:prstGeom prst="line">
            <a:avLst/>
          </a:prstGeom>
          <a:noFill/>
          <a:ln w="6350">
            <a:solidFill>
              <a:srgbClr val="CBD5E0"/>
            </a:solidFill>
            <a:prstDash val="solid"/>
          </a:ln>
        </p:spPr>
        <p:txBody>
          <a:bodyPr/>
          <a:lstStyle/>
          <a:p>
            <a:endParaRPr lang="en-US"/>
          </a:p>
        </p:txBody>
      </p:sp>
      <p:sp>
        <p:nvSpPr>
          <p:cNvPr id="28" name="Shape 26"/>
          <p:cNvSpPr/>
          <p:nvPr/>
        </p:nvSpPr>
        <p:spPr>
          <a:xfrm>
            <a:off x="320040" y="2267712"/>
            <a:ext cx="8503920" cy="402336"/>
          </a:xfrm>
          <a:prstGeom prst="rect">
            <a:avLst/>
          </a:prstGeom>
          <a:solidFill>
            <a:srgbClr val="FFFFFF"/>
          </a:solidFill>
          <a:ln w="5080">
            <a:solidFill>
              <a:srgbClr val="CBD5E0"/>
            </a:solidFill>
            <a:prstDash val="solid"/>
          </a:ln>
        </p:spPr>
        <p:txBody>
          <a:bodyPr/>
          <a:lstStyle/>
          <a:p>
            <a:endParaRPr lang="en-US"/>
          </a:p>
        </p:txBody>
      </p:sp>
      <p:sp>
        <p:nvSpPr>
          <p:cNvPr id="29" name="Text 27"/>
          <p:cNvSpPr/>
          <p:nvPr/>
        </p:nvSpPr>
        <p:spPr>
          <a:xfrm>
            <a:off x="438912" y="2286000"/>
            <a:ext cx="2249424" cy="365760"/>
          </a:xfrm>
          <a:prstGeom prst="rect">
            <a:avLst/>
          </a:prstGeom>
          <a:noFill/>
          <a:ln/>
        </p:spPr>
        <p:txBody>
          <a:bodyPr wrap="square" lIns="0" tIns="0" rIns="0" bIns="0" rtlCol="0" anchor="ctr"/>
          <a:lstStyle/>
          <a:p>
            <a:pPr marL="0" indent="0">
              <a:buNone/>
            </a:pPr>
            <a:r>
              <a:rPr lang="en-US" sz="1000" b="1" dirty="0">
                <a:solidFill>
                  <a:srgbClr val="718096"/>
                </a:solidFill>
                <a:latin typeface="Calibri" pitchFamily="34" charset="0"/>
                <a:ea typeface="Calibri" pitchFamily="34" charset="-122"/>
                <a:cs typeface="Calibri" pitchFamily="34" charset="-120"/>
              </a:rPr>
              <a:t>Key Mechanism</a:t>
            </a:r>
            <a:endParaRPr lang="en-US" sz="1000" dirty="0"/>
          </a:p>
        </p:txBody>
      </p:sp>
      <p:sp>
        <p:nvSpPr>
          <p:cNvPr id="30" name="Text 28"/>
          <p:cNvSpPr/>
          <p:nvPr/>
        </p:nvSpPr>
        <p:spPr>
          <a:xfrm>
            <a:off x="2816352" y="2286000"/>
            <a:ext cx="1847088" cy="365760"/>
          </a:xfrm>
          <a:prstGeom prst="rect">
            <a:avLst/>
          </a:prstGeom>
          <a:noFill/>
          <a:ln/>
        </p:spPr>
        <p:txBody>
          <a:bodyPr wrap="square" lIns="0" tIns="0" rIns="0" bIns="0" rtlCol="0" anchor="ctr"/>
          <a:lstStyle/>
          <a:p>
            <a:pPr marL="0" indent="0">
              <a:buNone/>
            </a:pPr>
            <a:r>
              <a:rPr lang="en-US" sz="1000" dirty="0">
                <a:solidFill>
                  <a:srgbClr val="0987A0"/>
                </a:solidFill>
                <a:latin typeface="Calibri" pitchFamily="34" charset="0"/>
                <a:ea typeface="Calibri" pitchFamily="34" charset="-122"/>
                <a:cs typeface="Calibri" pitchFamily="34" charset="-120"/>
              </a:rPr>
              <a:t>Convolution + Pooling</a:t>
            </a:r>
            <a:endParaRPr lang="en-US" sz="1000" dirty="0"/>
          </a:p>
        </p:txBody>
      </p:sp>
      <p:sp>
        <p:nvSpPr>
          <p:cNvPr id="31" name="Text 29"/>
          <p:cNvSpPr/>
          <p:nvPr/>
        </p:nvSpPr>
        <p:spPr>
          <a:xfrm>
            <a:off x="4700016" y="2286000"/>
            <a:ext cx="1847088" cy="365760"/>
          </a:xfrm>
          <a:prstGeom prst="rect">
            <a:avLst/>
          </a:prstGeom>
          <a:noFill/>
          <a:ln/>
        </p:spPr>
        <p:txBody>
          <a:bodyPr wrap="square" lIns="0" tIns="0" rIns="0" bIns="0" rtlCol="0" anchor="ctr"/>
          <a:lstStyle/>
          <a:p>
            <a:pPr marL="0" indent="0">
              <a:buNone/>
            </a:pPr>
            <a:r>
              <a:rPr lang="en-US" sz="1000" dirty="0">
                <a:solidFill>
                  <a:srgbClr val="276749"/>
                </a:solidFill>
                <a:latin typeface="Calibri" pitchFamily="34" charset="0"/>
                <a:ea typeface="Calibri" pitchFamily="34" charset="-122"/>
                <a:cs typeface="Calibri" pitchFamily="34" charset="-120"/>
              </a:rPr>
              <a:t>Recurrent state + Gates</a:t>
            </a:r>
            <a:endParaRPr lang="en-US" sz="1000" dirty="0"/>
          </a:p>
        </p:txBody>
      </p:sp>
      <p:sp>
        <p:nvSpPr>
          <p:cNvPr id="32" name="Text 30"/>
          <p:cNvSpPr/>
          <p:nvPr/>
        </p:nvSpPr>
        <p:spPr>
          <a:xfrm>
            <a:off x="6583680" y="2286000"/>
            <a:ext cx="2103120" cy="365760"/>
          </a:xfrm>
          <a:prstGeom prst="rect">
            <a:avLst/>
          </a:prstGeom>
          <a:noFill/>
          <a:ln/>
        </p:spPr>
        <p:txBody>
          <a:bodyPr wrap="square" lIns="0" tIns="0" rIns="0" bIns="0" rtlCol="0" anchor="ctr"/>
          <a:lstStyle/>
          <a:p>
            <a:pPr marL="0" indent="0">
              <a:buNone/>
            </a:pPr>
            <a:r>
              <a:rPr lang="en-US" sz="1000" dirty="0">
                <a:solidFill>
                  <a:srgbClr val="553C9A"/>
                </a:solidFill>
                <a:latin typeface="Calibri" pitchFamily="34" charset="0"/>
                <a:ea typeface="Calibri" pitchFamily="34" charset="-122"/>
                <a:cs typeface="Calibri" pitchFamily="34" charset="-120"/>
              </a:rPr>
              <a:t>Adversarial Competition</a:t>
            </a:r>
            <a:endParaRPr lang="en-US" sz="1000" dirty="0"/>
          </a:p>
        </p:txBody>
      </p:sp>
      <p:sp>
        <p:nvSpPr>
          <p:cNvPr id="33" name="Shape 31"/>
          <p:cNvSpPr/>
          <p:nvPr/>
        </p:nvSpPr>
        <p:spPr>
          <a:xfrm>
            <a:off x="2724912" y="2267712"/>
            <a:ext cx="0" cy="402336"/>
          </a:xfrm>
          <a:prstGeom prst="line">
            <a:avLst/>
          </a:prstGeom>
          <a:noFill/>
          <a:ln w="6350">
            <a:solidFill>
              <a:srgbClr val="CBD5E0"/>
            </a:solidFill>
            <a:prstDash val="solid"/>
          </a:ln>
        </p:spPr>
        <p:txBody>
          <a:bodyPr/>
          <a:lstStyle/>
          <a:p>
            <a:endParaRPr lang="en-US"/>
          </a:p>
        </p:txBody>
      </p:sp>
      <p:sp>
        <p:nvSpPr>
          <p:cNvPr id="34" name="Shape 32"/>
          <p:cNvSpPr/>
          <p:nvPr/>
        </p:nvSpPr>
        <p:spPr>
          <a:xfrm>
            <a:off x="4608576" y="2267712"/>
            <a:ext cx="0" cy="402336"/>
          </a:xfrm>
          <a:prstGeom prst="line">
            <a:avLst/>
          </a:prstGeom>
          <a:noFill/>
          <a:ln w="6350">
            <a:solidFill>
              <a:srgbClr val="CBD5E0"/>
            </a:solidFill>
            <a:prstDash val="solid"/>
          </a:ln>
        </p:spPr>
        <p:txBody>
          <a:bodyPr/>
          <a:lstStyle/>
          <a:p>
            <a:endParaRPr lang="en-US"/>
          </a:p>
        </p:txBody>
      </p:sp>
      <p:sp>
        <p:nvSpPr>
          <p:cNvPr id="35" name="Shape 33"/>
          <p:cNvSpPr/>
          <p:nvPr/>
        </p:nvSpPr>
        <p:spPr>
          <a:xfrm>
            <a:off x="6492240" y="2267712"/>
            <a:ext cx="0" cy="402336"/>
          </a:xfrm>
          <a:prstGeom prst="line">
            <a:avLst/>
          </a:prstGeom>
          <a:noFill/>
          <a:ln w="6350">
            <a:solidFill>
              <a:srgbClr val="CBD5E0"/>
            </a:solidFill>
            <a:prstDash val="solid"/>
          </a:ln>
        </p:spPr>
        <p:txBody>
          <a:bodyPr/>
          <a:lstStyle/>
          <a:p>
            <a:endParaRPr lang="en-US"/>
          </a:p>
        </p:txBody>
      </p:sp>
      <p:sp>
        <p:nvSpPr>
          <p:cNvPr id="36" name="Shape 34"/>
          <p:cNvSpPr/>
          <p:nvPr/>
        </p:nvSpPr>
        <p:spPr>
          <a:xfrm>
            <a:off x="320040" y="2688336"/>
            <a:ext cx="8503920" cy="402336"/>
          </a:xfrm>
          <a:prstGeom prst="rect">
            <a:avLst/>
          </a:prstGeom>
          <a:solidFill>
            <a:srgbClr val="EDF2F7"/>
          </a:solidFill>
          <a:ln w="5080">
            <a:solidFill>
              <a:srgbClr val="CBD5E0"/>
            </a:solidFill>
            <a:prstDash val="solid"/>
          </a:ln>
        </p:spPr>
        <p:txBody>
          <a:bodyPr/>
          <a:lstStyle/>
          <a:p>
            <a:endParaRPr lang="en-US"/>
          </a:p>
        </p:txBody>
      </p:sp>
      <p:sp>
        <p:nvSpPr>
          <p:cNvPr id="37" name="Text 35"/>
          <p:cNvSpPr/>
          <p:nvPr/>
        </p:nvSpPr>
        <p:spPr>
          <a:xfrm>
            <a:off x="438912" y="2706624"/>
            <a:ext cx="2249424" cy="365760"/>
          </a:xfrm>
          <a:prstGeom prst="rect">
            <a:avLst/>
          </a:prstGeom>
          <a:noFill/>
          <a:ln/>
        </p:spPr>
        <p:txBody>
          <a:bodyPr wrap="square" lIns="0" tIns="0" rIns="0" bIns="0" rtlCol="0" anchor="ctr"/>
          <a:lstStyle/>
          <a:p>
            <a:pPr marL="0" indent="0">
              <a:buNone/>
            </a:pPr>
            <a:r>
              <a:rPr lang="en-US" sz="1000" b="1" dirty="0">
                <a:solidFill>
                  <a:srgbClr val="718096"/>
                </a:solidFill>
                <a:latin typeface="Calibri" pitchFamily="34" charset="0"/>
                <a:ea typeface="Calibri" pitchFamily="34" charset="-122"/>
                <a:cs typeface="Calibri" pitchFamily="34" charset="-120"/>
              </a:rPr>
              <a:t>Has Memory?</a:t>
            </a:r>
            <a:endParaRPr lang="en-US" sz="1000" dirty="0"/>
          </a:p>
        </p:txBody>
      </p:sp>
      <p:sp>
        <p:nvSpPr>
          <p:cNvPr id="38" name="Text 36"/>
          <p:cNvSpPr/>
          <p:nvPr/>
        </p:nvSpPr>
        <p:spPr>
          <a:xfrm>
            <a:off x="2816352" y="2706624"/>
            <a:ext cx="1847088" cy="365760"/>
          </a:xfrm>
          <a:prstGeom prst="rect">
            <a:avLst/>
          </a:prstGeom>
          <a:noFill/>
          <a:ln/>
        </p:spPr>
        <p:txBody>
          <a:bodyPr wrap="square" lIns="0" tIns="0" rIns="0" bIns="0" rtlCol="0" anchor="ctr"/>
          <a:lstStyle/>
          <a:p>
            <a:pPr marL="0" indent="0">
              <a:buNone/>
            </a:pPr>
            <a:r>
              <a:rPr lang="en-US" sz="1000" dirty="0">
                <a:solidFill>
                  <a:srgbClr val="0987A0"/>
                </a:solidFill>
                <a:latin typeface="Calibri" pitchFamily="34" charset="0"/>
                <a:ea typeface="Calibri" pitchFamily="34" charset="-122"/>
                <a:cs typeface="Calibri" pitchFamily="34" charset="-120"/>
              </a:rPr>
              <a:t>No — spatial only</a:t>
            </a:r>
            <a:endParaRPr lang="en-US" sz="1000" dirty="0"/>
          </a:p>
        </p:txBody>
      </p:sp>
      <p:sp>
        <p:nvSpPr>
          <p:cNvPr id="39" name="Text 37"/>
          <p:cNvSpPr/>
          <p:nvPr/>
        </p:nvSpPr>
        <p:spPr>
          <a:xfrm>
            <a:off x="4700016" y="2706624"/>
            <a:ext cx="1847088" cy="365760"/>
          </a:xfrm>
          <a:prstGeom prst="rect">
            <a:avLst/>
          </a:prstGeom>
          <a:noFill/>
          <a:ln/>
        </p:spPr>
        <p:txBody>
          <a:bodyPr wrap="square" lIns="0" tIns="0" rIns="0" bIns="0" rtlCol="0" anchor="ctr"/>
          <a:lstStyle/>
          <a:p>
            <a:pPr marL="0" indent="0">
              <a:buNone/>
            </a:pPr>
            <a:r>
              <a:rPr lang="en-US" sz="1000" dirty="0">
                <a:solidFill>
                  <a:srgbClr val="276749"/>
                </a:solidFill>
                <a:latin typeface="Calibri" pitchFamily="34" charset="0"/>
                <a:ea typeface="Calibri" pitchFamily="34" charset="-122"/>
                <a:cs typeface="Calibri" pitchFamily="34" charset="-120"/>
              </a:rPr>
              <a:t>Yes — hidden state</a:t>
            </a:r>
            <a:endParaRPr lang="en-US" sz="1000" dirty="0"/>
          </a:p>
        </p:txBody>
      </p:sp>
      <p:sp>
        <p:nvSpPr>
          <p:cNvPr id="40" name="Text 38"/>
          <p:cNvSpPr/>
          <p:nvPr/>
        </p:nvSpPr>
        <p:spPr>
          <a:xfrm>
            <a:off x="6583680" y="2706624"/>
            <a:ext cx="2103120" cy="365760"/>
          </a:xfrm>
          <a:prstGeom prst="rect">
            <a:avLst/>
          </a:prstGeom>
          <a:noFill/>
          <a:ln/>
        </p:spPr>
        <p:txBody>
          <a:bodyPr wrap="square" lIns="0" tIns="0" rIns="0" bIns="0" rtlCol="0" anchor="ctr"/>
          <a:lstStyle/>
          <a:p>
            <a:pPr marL="0" indent="0">
              <a:buNone/>
            </a:pPr>
            <a:r>
              <a:rPr lang="en-US" sz="1000" dirty="0">
                <a:solidFill>
                  <a:srgbClr val="553C9A"/>
                </a:solidFill>
                <a:latin typeface="Calibri" pitchFamily="34" charset="0"/>
                <a:ea typeface="Calibri" pitchFamily="34" charset="-122"/>
                <a:cs typeface="Calibri" pitchFamily="34" charset="-120"/>
              </a:rPr>
              <a:t>No sequential memory</a:t>
            </a:r>
            <a:endParaRPr lang="en-US" sz="1000" dirty="0"/>
          </a:p>
        </p:txBody>
      </p:sp>
      <p:sp>
        <p:nvSpPr>
          <p:cNvPr id="41" name="Shape 39"/>
          <p:cNvSpPr/>
          <p:nvPr/>
        </p:nvSpPr>
        <p:spPr>
          <a:xfrm>
            <a:off x="2724912" y="2688336"/>
            <a:ext cx="0" cy="402336"/>
          </a:xfrm>
          <a:prstGeom prst="line">
            <a:avLst/>
          </a:prstGeom>
          <a:noFill/>
          <a:ln w="6350">
            <a:solidFill>
              <a:srgbClr val="CBD5E0"/>
            </a:solidFill>
            <a:prstDash val="solid"/>
          </a:ln>
        </p:spPr>
        <p:txBody>
          <a:bodyPr/>
          <a:lstStyle/>
          <a:p>
            <a:endParaRPr lang="en-US"/>
          </a:p>
        </p:txBody>
      </p:sp>
      <p:sp>
        <p:nvSpPr>
          <p:cNvPr id="42" name="Shape 40"/>
          <p:cNvSpPr/>
          <p:nvPr/>
        </p:nvSpPr>
        <p:spPr>
          <a:xfrm>
            <a:off x="4608576" y="2688336"/>
            <a:ext cx="0" cy="402336"/>
          </a:xfrm>
          <a:prstGeom prst="line">
            <a:avLst/>
          </a:prstGeom>
          <a:noFill/>
          <a:ln w="6350">
            <a:solidFill>
              <a:srgbClr val="CBD5E0"/>
            </a:solidFill>
            <a:prstDash val="solid"/>
          </a:ln>
        </p:spPr>
        <p:txBody>
          <a:bodyPr/>
          <a:lstStyle/>
          <a:p>
            <a:endParaRPr lang="en-US"/>
          </a:p>
        </p:txBody>
      </p:sp>
      <p:sp>
        <p:nvSpPr>
          <p:cNvPr id="43" name="Shape 41"/>
          <p:cNvSpPr/>
          <p:nvPr/>
        </p:nvSpPr>
        <p:spPr>
          <a:xfrm>
            <a:off x="6492240" y="2688336"/>
            <a:ext cx="0" cy="402336"/>
          </a:xfrm>
          <a:prstGeom prst="line">
            <a:avLst/>
          </a:prstGeom>
          <a:noFill/>
          <a:ln w="6350">
            <a:solidFill>
              <a:srgbClr val="CBD5E0"/>
            </a:solidFill>
            <a:prstDash val="solid"/>
          </a:ln>
        </p:spPr>
        <p:txBody>
          <a:bodyPr/>
          <a:lstStyle/>
          <a:p>
            <a:endParaRPr lang="en-US"/>
          </a:p>
        </p:txBody>
      </p:sp>
      <p:sp>
        <p:nvSpPr>
          <p:cNvPr id="44" name="Shape 42"/>
          <p:cNvSpPr/>
          <p:nvPr/>
        </p:nvSpPr>
        <p:spPr>
          <a:xfrm>
            <a:off x="320040" y="3108960"/>
            <a:ext cx="8503920" cy="402336"/>
          </a:xfrm>
          <a:prstGeom prst="rect">
            <a:avLst/>
          </a:prstGeom>
          <a:solidFill>
            <a:srgbClr val="FFFFFF"/>
          </a:solidFill>
          <a:ln w="5080">
            <a:solidFill>
              <a:srgbClr val="CBD5E0"/>
            </a:solidFill>
            <a:prstDash val="solid"/>
          </a:ln>
        </p:spPr>
        <p:txBody>
          <a:bodyPr/>
          <a:lstStyle/>
          <a:p>
            <a:endParaRPr lang="en-US"/>
          </a:p>
        </p:txBody>
      </p:sp>
      <p:sp>
        <p:nvSpPr>
          <p:cNvPr id="45" name="Text 43"/>
          <p:cNvSpPr/>
          <p:nvPr/>
        </p:nvSpPr>
        <p:spPr>
          <a:xfrm>
            <a:off x="438912" y="3127248"/>
            <a:ext cx="2249424" cy="365760"/>
          </a:xfrm>
          <a:prstGeom prst="rect">
            <a:avLst/>
          </a:prstGeom>
          <a:noFill/>
          <a:ln/>
        </p:spPr>
        <p:txBody>
          <a:bodyPr wrap="square" lIns="0" tIns="0" rIns="0" bIns="0" rtlCol="0" anchor="ctr"/>
          <a:lstStyle/>
          <a:p>
            <a:pPr marL="0" indent="0">
              <a:buNone/>
            </a:pPr>
            <a:r>
              <a:rPr lang="en-US" sz="1000" b="1" dirty="0">
                <a:solidFill>
                  <a:srgbClr val="718096"/>
                </a:solidFill>
                <a:latin typeface="Calibri" pitchFamily="34" charset="0"/>
                <a:ea typeface="Calibri" pitchFamily="34" charset="-122"/>
                <a:cs typeface="Calibri" pitchFamily="34" charset="-120"/>
              </a:rPr>
              <a:t>Best Problem Type</a:t>
            </a:r>
            <a:endParaRPr lang="en-US" sz="1000" dirty="0"/>
          </a:p>
        </p:txBody>
      </p:sp>
      <p:sp>
        <p:nvSpPr>
          <p:cNvPr id="46" name="Text 44"/>
          <p:cNvSpPr/>
          <p:nvPr/>
        </p:nvSpPr>
        <p:spPr>
          <a:xfrm>
            <a:off x="2816352" y="3127248"/>
            <a:ext cx="1847088" cy="365760"/>
          </a:xfrm>
          <a:prstGeom prst="rect">
            <a:avLst/>
          </a:prstGeom>
          <a:noFill/>
          <a:ln/>
        </p:spPr>
        <p:txBody>
          <a:bodyPr wrap="square" lIns="0" tIns="0" rIns="0" bIns="0" rtlCol="0" anchor="ctr"/>
          <a:lstStyle/>
          <a:p>
            <a:pPr marL="0" indent="0">
              <a:buNone/>
            </a:pPr>
            <a:r>
              <a:rPr lang="en-US" sz="1000" dirty="0">
                <a:solidFill>
                  <a:srgbClr val="0987A0"/>
                </a:solidFill>
                <a:latin typeface="Calibri" pitchFamily="34" charset="0"/>
                <a:ea typeface="Calibri" pitchFamily="34" charset="-122"/>
                <a:cs typeface="Calibri" pitchFamily="34" charset="-120"/>
              </a:rPr>
              <a:t>Spatial / Visual data</a:t>
            </a:r>
            <a:endParaRPr lang="en-US" sz="1000" dirty="0"/>
          </a:p>
        </p:txBody>
      </p:sp>
      <p:sp>
        <p:nvSpPr>
          <p:cNvPr id="47" name="Text 45"/>
          <p:cNvSpPr/>
          <p:nvPr/>
        </p:nvSpPr>
        <p:spPr>
          <a:xfrm>
            <a:off x="4700016" y="3127248"/>
            <a:ext cx="1847088" cy="365760"/>
          </a:xfrm>
          <a:prstGeom prst="rect">
            <a:avLst/>
          </a:prstGeom>
          <a:noFill/>
          <a:ln/>
        </p:spPr>
        <p:txBody>
          <a:bodyPr wrap="square" lIns="0" tIns="0" rIns="0" bIns="0" rtlCol="0" anchor="ctr"/>
          <a:lstStyle/>
          <a:p>
            <a:pPr marL="0" indent="0">
              <a:buNone/>
            </a:pPr>
            <a:r>
              <a:rPr lang="en-US" sz="1000" dirty="0">
                <a:solidFill>
                  <a:srgbClr val="276749"/>
                </a:solidFill>
                <a:latin typeface="Calibri" pitchFamily="34" charset="0"/>
                <a:ea typeface="Calibri" pitchFamily="34" charset="-122"/>
                <a:cs typeface="Calibri" pitchFamily="34" charset="-120"/>
              </a:rPr>
              <a:t>Temporal / Sequential data</a:t>
            </a:r>
            <a:endParaRPr lang="en-US" sz="1000" dirty="0"/>
          </a:p>
        </p:txBody>
      </p:sp>
      <p:sp>
        <p:nvSpPr>
          <p:cNvPr id="48" name="Text 46"/>
          <p:cNvSpPr/>
          <p:nvPr/>
        </p:nvSpPr>
        <p:spPr>
          <a:xfrm>
            <a:off x="6583680" y="3127248"/>
            <a:ext cx="2103120" cy="365760"/>
          </a:xfrm>
          <a:prstGeom prst="rect">
            <a:avLst/>
          </a:prstGeom>
          <a:noFill/>
          <a:ln/>
        </p:spPr>
        <p:txBody>
          <a:bodyPr wrap="square" lIns="0" tIns="0" rIns="0" bIns="0" rtlCol="0" anchor="ctr"/>
          <a:lstStyle/>
          <a:p>
            <a:pPr marL="0" indent="0">
              <a:buNone/>
            </a:pPr>
            <a:r>
              <a:rPr lang="en-US" sz="1000" dirty="0">
                <a:solidFill>
                  <a:srgbClr val="553C9A"/>
                </a:solidFill>
                <a:latin typeface="Calibri" pitchFamily="34" charset="0"/>
                <a:ea typeface="Calibri" pitchFamily="34" charset="-122"/>
                <a:cs typeface="Calibri" pitchFamily="34" charset="-120"/>
              </a:rPr>
              <a:t>Data Generation</a:t>
            </a:r>
            <a:endParaRPr lang="en-US" sz="1000" dirty="0"/>
          </a:p>
        </p:txBody>
      </p:sp>
      <p:sp>
        <p:nvSpPr>
          <p:cNvPr id="49" name="Shape 47"/>
          <p:cNvSpPr/>
          <p:nvPr/>
        </p:nvSpPr>
        <p:spPr>
          <a:xfrm>
            <a:off x="2724912" y="3108960"/>
            <a:ext cx="0" cy="402336"/>
          </a:xfrm>
          <a:prstGeom prst="line">
            <a:avLst/>
          </a:prstGeom>
          <a:noFill/>
          <a:ln w="6350">
            <a:solidFill>
              <a:srgbClr val="CBD5E0"/>
            </a:solidFill>
            <a:prstDash val="solid"/>
          </a:ln>
        </p:spPr>
        <p:txBody>
          <a:bodyPr/>
          <a:lstStyle/>
          <a:p>
            <a:endParaRPr lang="en-US"/>
          </a:p>
        </p:txBody>
      </p:sp>
      <p:sp>
        <p:nvSpPr>
          <p:cNvPr id="50" name="Shape 48"/>
          <p:cNvSpPr/>
          <p:nvPr/>
        </p:nvSpPr>
        <p:spPr>
          <a:xfrm>
            <a:off x="4608576" y="3108960"/>
            <a:ext cx="0" cy="402336"/>
          </a:xfrm>
          <a:prstGeom prst="line">
            <a:avLst/>
          </a:prstGeom>
          <a:noFill/>
          <a:ln w="6350">
            <a:solidFill>
              <a:srgbClr val="CBD5E0"/>
            </a:solidFill>
            <a:prstDash val="solid"/>
          </a:ln>
        </p:spPr>
        <p:txBody>
          <a:bodyPr/>
          <a:lstStyle/>
          <a:p>
            <a:endParaRPr lang="en-US"/>
          </a:p>
        </p:txBody>
      </p:sp>
      <p:sp>
        <p:nvSpPr>
          <p:cNvPr id="51" name="Shape 49"/>
          <p:cNvSpPr/>
          <p:nvPr/>
        </p:nvSpPr>
        <p:spPr>
          <a:xfrm>
            <a:off x="6492240" y="3108960"/>
            <a:ext cx="0" cy="402336"/>
          </a:xfrm>
          <a:prstGeom prst="line">
            <a:avLst/>
          </a:prstGeom>
          <a:noFill/>
          <a:ln w="6350">
            <a:solidFill>
              <a:srgbClr val="CBD5E0"/>
            </a:solidFill>
            <a:prstDash val="solid"/>
          </a:ln>
        </p:spPr>
        <p:txBody>
          <a:bodyPr/>
          <a:lstStyle/>
          <a:p>
            <a:endParaRPr lang="en-US"/>
          </a:p>
        </p:txBody>
      </p:sp>
      <p:sp>
        <p:nvSpPr>
          <p:cNvPr id="52" name="Shape 50"/>
          <p:cNvSpPr/>
          <p:nvPr/>
        </p:nvSpPr>
        <p:spPr>
          <a:xfrm>
            <a:off x="320040" y="3529584"/>
            <a:ext cx="8503920" cy="402336"/>
          </a:xfrm>
          <a:prstGeom prst="rect">
            <a:avLst/>
          </a:prstGeom>
          <a:solidFill>
            <a:srgbClr val="EDF2F7"/>
          </a:solidFill>
          <a:ln w="5080">
            <a:solidFill>
              <a:srgbClr val="CBD5E0"/>
            </a:solidFill>
            <a:prstDash val="solid"/>
          </a:ln>
        </p:spPr>
        <p:txBody>
          <a:bodyPr/>
          <a:lstStyle/>
          <a:p>
            <a:endParaRPr lang="en-US"/>
          </a:p>
        </p:txBody>
      </p:sp>
      <p:sp>
        <p:nvSpPr>
          <p:cNvPr id="53" name="Text 51"/>
          <p:cNvSpPr/>
          <p:nvPr/>
        </p:nvSpPr>
        <p:spPr>
          <a:xfrm>
            <a:off x="438912" y="3547872"/>
            <a:ext cx="2249424" cy="365760"/>
          </a:xfrm>
          <a:prstGeom prst="rect">
            <a:avLst/>
          </a:prstGeom>
          <a:noFill/>
          <a:ln/>
        </p:spPr>
        <p:txBody>
          <a:bodyPr wrap="square" lIns="0" tIns="0" rIns="0" bIns="0" rtlCol="0" anchor="ctr"/>
          <a:lstStyle/>
          <a:p>
            <a:pPr marL="0" indent="0">
              <a:buNone/>
            </a:pPr>
            <a:r>
              <a:rPr lang="en-US" sz="1000" b="1" dirty="0">
                <a:solidFill>
                  <a:srgbClr val="718096"/>
                </a:solidFill>
                <a:latin typeface="Calibri" pitchFamily="34" charset="0"/>
                <a:ea typeface="Calibri" pitchFamily="34" charset="-122"/>
                <a:cs typeface="Calibri" pitchFamily="34" charset="-120"/>
              </a:rPr>
              <a:t>Training Stability</a:t>
            </a:r>
            <a:endParaRPr lang="en-US" sz="1000" dirty="0"/>
          </a:p>
        </p:txBody>
      </p:sp>
      <p:sp>
        <p:nvSpPr>
          <p:cNvPr id="54" name="Text 52"/>
          <p:cNvSpPr/>
          <p:nvPr/>
        </p:nvSpPr>
        <p:spPr>
          <a:xfrm>
            <a:off x="2816352" y="3547872"/>
            <a:ext cx="1847088" cy="365760"/>
          </a:xfrm>
          <a:prstGeom prst="rect">
            <a:avLst/>
          </a:prstGeom>
          <a:noFill/>
          <a:ln/>
        </p:spPr>
        <p:txBody>
          <a:bodyPr wrap="square" lIns="0" tIns="0" rIns="0" bIns="0" rtlCol="0" anchor="ctr"/>
          <a:lstStyle/>
          <a:p>
            <a:pPr marL="0" indent="0">
              <a:buNone/>
            </a:pPr>
            <a:r>
              <a:rPr lang="en-US" sz="1000" dirty="0">
                <a:solidFill>
                  <a:srgbClr val="0987A0"/>
                </a:solidFill>
                <a:latin typeface="Calibri" pitchFamily="34" charset="0"/>
                <a:ea typeface="Calibri" pitchFamily="34" charset="-122"/>
                <a:cs typeface="Calibri" pitchFamily="34" charset="-120"/>
              </a:rPr>
              <a:t>Relatively stable</a:t>
            </a:r>
            <a:endParaRPr lang="en-US" sz="1000" dirty="0"/>
          </a:p>
        </p:txBody>
      </p:sp>
      <p:sp>
        <p:nvSpPr>
          <p:cNvPr id="55" name="Text 53"/>
          <p:cNvSpPr/>
          <p:nvPr/>
        </p:nvSpPr>
        <p:spPr>
          <a:xfrm>
            <a:off x="4700016" y="3547872"/>
            <a:ext cx="1847088" cy="365760"/>
          </a:xfrm>
          <a:prstGeom prst="rect">
            <a:avLst/>
          </a:prstGeom>
          <a:noFill/>
          <a:ln/>
        </p:spPr>
        <p:txBody>
          <a:bodyPr wrap="square" lIns="0" tIns="0" rIns="0" bIns="0" rtlCol="0" anchor="ctr"/>
          <a:lstStyle/>
          <a:p>
            <a:pPr marL="0" indent="0">
              <a:buNone/>
            </a:pPr>
            <a:r>
              <a:rPr lang="en-US" sz="1000" dirty="0">
                <a:solidFill>
                  <a:srgbClr val="276749"/>
                </a:solidFill>
                <a:latin typeface="Calibri" pitchFamily="34" charset="0"/>
                <a:ea typeface="Calibri" pitchFamily="34" charset="-122"/>
                <a:cs typeface="Calibri" pitchFamily="34" charset="-120"/>
              </a:rPr>
              <a:t>Vanishing gradient issue</a:t>
            </a:r>
            <a:endParaRPr lang="en-US" sz="1000" dirty="0"/>
          </a:p>
        </p:txBody>
      </p:sp>
      <p:sp>
        <p:nvSpPr>
          <p:cNvPr id="56" name="Text 54"/>
          <p:cNvSpPr/>
          <p:nvPr/>
        </p:nvSpPr>
        <p:spPr>
          <a:xfrm>
            <a:off x="6583680" y="3547872"/>
            <a:ext cx="2103120" cy="365760"/>
          </a:xfrm>
          <a:prstGeom prst="rect">
            <a:avLst/>
          </a:prstGeom>
          <a:noFill/>
          <a:ln/>
        </p:spPr>
        <p:txBody>
          <a:bodyPr wrap="square" lIns="0" tIns="0" rIns="0" bIns="0" rtlCol="0" anchor="ctr"/>
          <a:lstStyle/>
          <a:p>
            <a:pPr marL="0" indent="0">
              <a:buNone/>
            </a:pPr>
            <a:r>
              <a:rPr lang="en-US" sz="1000" dirty="0">
                <a:solidFill>
                  <a:srgbClr val="553C9A"/>
                </a:solidFill>
                <a:latin typeface="Calibri" pitchFamily="34" charset="0"/>
                <a:ea typeface="Calibri" pitchFamily="34" charset="-122"/>
                <a:cs typeface="Calibri" pitchFamily="34" charset="-120"/>
              </a:rPr>
              <a:t>Notoriously unstable</a:t>
            </a:r>
            <a:endParaRPr lang="en-US" sz="1000" dirty="0"/>
          </a:p>
        </p:txBody>
      </p:sp>
      <p:sp>
        <p:nvSpPr>
          <p:cNvPr id="57" name="Shape 55"/>
          <p:cNvSpPr/>
          <p:nvPr/>
        </p:nvSpPr>
        <p:spPr>
          <a:xfrm>
            <a:off x="2724912" y="3529584"/>
            <a:ext cx="0" cy="402336"/>
          </a:xfrm>
          <a:prstGeom prst="line">
            <a:avLst/>
          </a:prstGeom>
          <a:noFill/>
          <a:ln w="6350">
            <a:solidFill>
              <a:srgbClr val="CBD5E0"/>
            </a:solidFill>
            <a:prstDash val="solid"/>
          </a:ln>
        </p:spPr>
        <p:txBody>
          <a:bodyPr/>
          <a:lstStyle/>
          <a:p>
            <a:endParaRPr lang="en-US"/>
          </a:p>
        </p:txBody>
      </p:sp>
      <p:sp>
        <p:nvSpPr>
          <p:cNvPr id="58" name="Shape 56"/>
          <p:cNvSpPr/>
          <p:nvPr/>
        </p:nvSpPr>
        <p:spPr>
          <a:xfrm>
            <a:off x="4608576" y="3529584"/>
            <a:ext cx="0" cy="402336"/>
          </a:xfrm>
          <a:prstGeom prst="line">
            <a:avLst/>
          </a:prstGeom>
          <a:noFill/>
          <a:ln w="6350">
            <a:solidFill>
              <a:srgbClr val="CBD5E0"/>
            </a:solidFill>
            <a:prstDash val="solid"/>
          </a:ln>
        </p:spPr>
        <p:txBody>
          <a:bodyPr/>
          <a:lstStyle/>
          <a:p>
            <a:endParaRPr lang="en-US"/>
          </a:p>
        </p:txBody>
      </p:sp>
      <p:sp>
        <p:nvSpPr>
          <p:cNvPr id="59" name="Shape 57"/>
          <p:cNvSpPr/>
          <p:nvPr/>
        </p:nvSpPr>
        <p:spPr>
          <a:xfrm>
            <a:off x="6492240" y="3529584"/>
            <a:ext cx="0" cy="402336"/>
          </a:xfrm>
          <a:prstGeom prst="line">
            <a:avLst/>
          </a:prstGeom>
          <a:noFill/>
          <a:ln w="6350">
            <a:solidFill>
              <a:srgbClr val="CBD5E0"/>
            </a:solidFill>
            <a:prstDash val="solid"/>
          </a:ln>
        </p:spPr>
        <p:txBody>
          <a:bodyPr/>
          <a:lstStyle/>
          <a:p>
            <a:endParaRPr lang="en-US"/>
          </a:p>
        </p:txBody>
      </p:sp>
      <p:sp>
        <p:nvSpPr>
          <p:cNvPr id="60" name="Shape 58"/>
          <p:cNvSpPr/>
          <p:nvPr/>
        </p:nvSpPr>
        <p:spPr>
          <a:xfrm>
            <a:off x="320040" y="3950208"/>
            <a:ext cx="8503920" cy="402336"/>
          </a:xfrm>
          <a:prstGeom prst="rect">
            <a:avLst/>
          </a:prstGeom>
          <a:solidFill>
            <a:srgbClr val="FFFFFF"/>
          </a:solidFill>
          <a:ln w="5080">
            <a:solidFill>
              <a:srgbClr val="CBD5E0"/>
            </a:solidFill>
            <a:prstDash val="solid"/>
          </a:ln>
        </p:spPr>
        <p:txBody>
          <a:bodyPr/>
          <a:lstStyle/>
          <a:p>
            <a:endParaRPr lang="en-US"/>
          </a:p>
        </p:txBody>
      </p:sp>
      <p:sp>
        <p:nvSpPr>
          <p:cNvPr id="61" name="Text 59"/>
          <p:cNvSpPr/>
          <p:nvPr/>
        </p:nvSpPr>
        <p:spPr>
          <a:xfrm>
            <a:off x="438912" y="3968496"/>
            <a:ext cx="2249424" cy="365760"/>
          </a:xfrm>
          <a:prstGeom prst="rect">
            <a:avLst/>
          </a:prstGeom>
          <a:noFill/>
          <a:ln/>
        </p:spPr>
        <p:txBody>
          <a:bodyPr wrap="square" lIns="0" tIns="0" rIns="0" bIns="0" rtlCol="0" anchor="ctr"/>
          <a:lstStyle/>
          <a:p>
            <a:pPr marL="0" indent="0">
              <a:buNone/>
            </a:pPr>
            <a:r>
              <a:rPr lang="en-US" sz="1000" b="1" dirty="0">
                <a:solidFill>
                  <a:srgbClr val="718096"/>
                </a:solidFill>
                <a:latin typeface="Calibri" pitchFamily="34" charset="0"/>
                <a:ea typeface="Calibri" pitchFamily="34" charset="-122"/>
                <a:cs typeface="Calibri" pitchFamily="34" charset="-120"/>
              </a:rPr>
              <a:t>Key Challenge</a:t>
            </a:r>
            <a:endParaRPr lang="en-US" sz="1000" dirty="0"/>
          </a:p>
        </p:txBody>
      </p:sp>
      <p:sp>
        <p:nvSpPr>
          <p:cNvPr id="62" name="Text 60"/>
          <p:cNvSpPr/>
          <p:nvPr/>
        </p:nvSpPr>
        <p:spPr>
          <a:xfrm>
            <a:off x="2816352" y="3968496"/>
            <a:ext cx="1847088" cy="365760"/>
          </a:xfrm>
          <a:prstGeom prst="rect">
            <a:avLst/>
          </a:prstGeom>
          <a:noFill/>
          <a:ln/>
        </p:spPr>
        <p:txBody>
          <a:bodyPr wrap="square" lIns="0" tIns="0" rIns="0" bIns="0" rtlCol="0" anchor="ctr"/>
          <a:lstStyle/>
          <a:p>
            <a:pPr marL="0" indent="0">
              <a:buNone/>
            </a:pPr>
            <a:r>
              <a:rPr lang="en-US" sz="1000" dirty="0">
                <a:solidFill>
                  <a:srgbClr val="0987A0"/>
                </a:solidFill>
                <a:latin typeface="Calibri" pitchFamily="34" charset="0"/>
                <a:ea typeface="Calibri" pitchFamily="34" charset="-122"/>
                <a:cs typeface="Calibri" pitchFamily="34" charset="-120"/>
              </a:rPr>
              <a:t>Computational cost</a:t>
            </a:r>
            <a:endParaRPr lang="en-US" sz="1000" dirty="0"/>
          </a:p>
        </p:txBody>
      </p:sp>
      <p:sp>
        <p:nvSpPr>
          <p:cNvPr id="63" name="Text 61"/>
          <p:cNvSpPr/>
          <p:nvPr/>
        </p:nvSpPr>
        <p:spPr>
          <a:xfrm>
            <a:off x="4700016" y="3968496"/>
            <a:ext cx="1847088" cy="365760"/>
          </a:xfrm>
          <a:prstGeom prst="rect">
            <a:avLst/>
          </a:prstGeom>
          <a:noFill/>
          <a:ln/>
        </p:spPr>
        <p:txBody>
          <a:bodyPr wrap="square" lIns="0" tIns="0" rIns="0" bIns="0" rtlCol="0" anchor="ctr"/>
          <a:lstStyle/>
          <a:p>
            <a:pPr marL="0" indent="0">
              <a:buNone/>
            </a:pPr>
            <a:r>
              <a:rPr lang="en-US" sz="1000" dirty="0">
                <a:solidFill>
                  <a:srgbClr val="276749"/>
                </a:solidFill>
                <a:latin typeface="Calibri" pitchFamily="34" charset="0"/>
                <a:ea typeface="Calibri" pitchFamily="34" charset="-122"/>
                <a:cs typeface="Calibri" pitchFamily="34" charset="-120"/>
              </a:rPr>
              <a:t>Long-term dependencies</a:t>
            </a:r>
            <a:endParaRPr lang="en-US" sz="1000" dirty="0"/>
          </a:p>
        </p:txBody>
      </p:sp>
      <p:sp>
        <p:nvSpPr>
          <p:cNvPr id="64" name="Text 62"/>
          <p:cNvSpPr/>
          <p:nvPr/>
        </p:nvSpPr>
        <p:spPr>
          <a:xfrm>
            <a:off x="6583680" y="3968496"/>
            <a:ext cx="2103120" cy="365760"/>
          </a:xfrm>
          <a:prstGeom prst="rect">
            <a:avLst/>
          </a:prstGeom>
          <a:noFill/>
          <a:ln/>
        </p:spPr>
        <p:txBody>
          <a:bodyPr wrap="square" lIns="0" tIns="0" rIns="0" bIns="0" rtlCol="0" anchor="ctr"/>
          <a:lstStyle/>
          <a:p>
            <a:pPr marL="0" indent="0">
              <a:buNone/>
            </a:pPr>
            <a:r>
              <a:rPr lang="en-US" sz="1000" dirty="0">
                <a:solidFill>
                  <a:srgbClr val="553C9A"/>
                </a:solidFill>
                <a:latin typeface="Calibri" pitchFamily="34" charset="0"/>
                <a:ea typeface="Calibri" pitchFamily="34" charset="-122"/>
                <a:cs typeface="Calibri" pitchFamily="34" charset="-120"/>
              </a:rPr>
              <a:t>Mode collapse</a:t>
            </a:r>
            <a:endParaRPr lang="en-US" sz="1000" dirty="0"/>
          </a:p>
        </p:txBody>
      </p:sp>
      <p:sp>
        <p:nvSpPr>
          <p:cNvPr id="65" name="Shape 63"/>
          <p:cNvSpPr/>
          <p:nvPr/>
        </p:nvSpPr>
        <p:spPr>
          <a:xfrm>
            <a:off x="2724912" y="3950208"/>
            <a:ext cx="0" cy="402336"/>
          </a:xfrm>
          <a:prstGeom prst="line">
            <a:avLst/>
          </a:prstGeom>
          <a:noFill/>
          <a:ln w="6350">
            <a:solidFill>
              <a:srgbClr val="CBD5E0"/>
            </a:solidFill>
            <a:prstDash val="solid"/>
          </a:ln>
        </p:spPr>
        <p:txBody>
          <a:bodyPr/>
          <a:lstStyle/>
          <a:p>
            <a:endParaRPr lang="en-US"/>
          </a:p>
        </p:txBody>
      </p:sp>
      <p:sp>
        <p:nvSpPr>
          <p:cNvPr id="66" name="Shape 64"/>
          <p:cNvSpPr/>
          <p:nvPr/>
        </p:nvSpPr>
        <p:spPr>
          <a:xfrm>
            <a:off x="4608576" y="3950208"/>
            <a:ext cx="0" cy="402336"/>
          </a:xfrm>
          <a:prstGeom prst="line">
            <a:avLst/>
          </a:prstGeom>
          <a:noFill/>
          <a:ln w="6350">
            <a:solidFill>
              <a:srgbClr val="CBD5E0"/>
            </a:solidFill>
            <a:prstDash val="solid"/>
          </a:ln>
        </p:spPr>
        <p:txBody>
          <a:bodyPr/>
          <a:lstStyle/>
          <a:p>
            <a:endParaRPr lang="en-US"/>
          </a:p>
        </p:txBody>
      </p:sp>
      <p:sp>
        <p:nvSpPr>
          <p:cNvPr id="67" name="Shape 65"/>
          <p:cNvSpPr/>
          <p:nvPr/>
        </p:nvSpPr>
        <p:spPr>
          <a:xfrm>
            <a:off x="6492240" y="3950208"/>
            <a:ext cx="0" cy="402336"/>
          </a:xfrm>
          <a:prstGeom prst="line">
            <a:avLst/>
          </a:prstGeom>
          <a:noFill/>
          <a:ln w="6350">
            <a:solidFill>
              <a:srgbClr val="CBD5E0"/>
            </a:solidFill>
            <a:prstDash val="solid"/>
          </a:ln>
        </p:spPr>
        <p:txBody>
          <a:bodyPr/>
          <a:lstStyle/>
          <a:p>
            <a:endParaRPr lang="en-US"/>
          </a:p>
        </p:txBody>
      </p:sp>
      <p:sp>
        <p:nvSpPr>
          <p:cNvPr id="68" name="Shape 66"/>
          <p:cNvSpPr/>
          <p:nvPr/>
        </p:nvSpPr>
        <p:spPr>
          <a:xfrm>
            <a:off x="320040" y="4370832"/>
            <a:ext cx="8503920" cy="402336"/>
          </a:xfrm>
          <a:prstGeom prst="rect">
            <a:avLst/>
          </a:prstGeom>
          <a:solidFill>
            <a:srgbClr val="EDF2F7"/>
          </a:solidFill>
          <a:ln w="5080">
            <a:solidFill>
              <a:srgbClr val="CBD5E0"/>
            </a:solidFill>
            <a:prstDash val="solid"/>
          </a:ln>
        </p:spPr>
        <p:txBody>
          <a:bodyPr/>
          <a:lstStyle/>
          <a:p>
            <a:endParaRPr lang="en-US"/>
          </a:p>
        </p:txBody>
      </p:sp>
      <p:sp>
        <p:nvSpPr>
          <p:cNvPr id="69" name="Text 67"/>
          <p:cNvSpPr/>
          <p:nvPr/>
        </p:nvSpPr>
        <p:spPr>
          <a:xfrm>
            <a:off x="438912" y="4389120"/>
            <a:ext cx="2249424" cy="365760"/>
          </a:xfrm>
          <a:prstGeom prst="rect">
            <a:avLst/>
          </a:prstGeom>
          <a:noFill/>
          <a:ln/>
        </p:spPr>
        <p:txBody>
          <a:bodyPr wrap="square" lIns="0" tIns="0" rIns="0" bIns="0" rtlCol="0" anchor="ctr"/>
          <a:lstStyle/>
          <a:p>
            <a:pPr marL="0" indent="0">
              <a:buNone/>
            </a:pPr>
            <a:r>
              <a:rPr lang="en-US" sz="1000" b="1" dirty="0">
                <a:solidFill>
                  <a:srgbClr val="718096"/>
                </a:solidFill>
                <a:latin typeface="Calibri" pitchFamily="34" charset="0"/>
                <a:ea typeface="Calibri" pitchFamily="34" charset="-122"/>
                <a:cs typeface="Calibri" pitchFamily="34" charset="-120"/>
              </a:rPr>
              <a:t>Famous Use</a:t>
            </a:r>
            <a:endParaRPr lang="en-US" sz="1000" dirty="0"/>
          </a:p>
        </p:txBody>
      </p:sp>
      <p:sp>
        <p:nvSpPr>
          <p:cNvPr id="70" name="Text 68"/>
          <p:cNvSpPr/>
          <p:nvPr/>
        </p:nvSpPr>
        <p:spPr>
          <a:xfrm>
            <a:off x="2816352" y="4389120"/>
            <a:ext cx="1847088" cy="365760"/>
          </a:xfrm>
          <a:prstGeom prst="rect">
            <a:avLst/>
          </a:prstGeom>
          <a:noFill/>
          <a:ln/>
        </p:spPr>
        <p:txBody>
          <a:bodyPr wrap="square" lIns="0" tIns="0" rIns="0" bIns="0" rtlCol="0" anchor="ctr"/>
          <a:lstStyle/>
          <a:p>
            <a:pPr marL="0" indent="0">
              <a:buNone/>
            </a:pPr>
            <a:r>
              <a:rPr lang="en-US" sz="1000" dirty="0">
                <a:solidFill>
                  <a:srgbClr val="0987A0"/>
                </a:solidFill>
                <a:latin typeface="Calibri" pitchFamily="34" charset="0"/>
                <a:ea typeface="Calibri" pitchFamily="34" charset="-122"/>
                <a:cs typeface="Calibri" pitchFamily="34" charset="-120"/>
              </a:rPr>
              <a:t>Face ID, Tesla Autopilot</a:t>
            </a:r>
            <a:endParaRPr lang="en-US" sz="1000" dirty="0"/>
          </a:p>
        </p:txBody>
      </p:sp>
      <p:sp>
        <p:nvSpPr>
          <p:cNvPr id="71" name="Text 69"/>
          <p:cNvSpPr/>
          <p:nvPr/>
        </p:nvSpPr>
        <p:spPr>
          <a:xfrm>
            <a:off x="4700016" y="4389120"/>
            <a:ext cx="1847088" cy="365760"/>
          </a:xfrm>
          <a:prstGeom prst="rect">
            <a:avLst/>
          </a:prstGeom>
          <a:noFill/>
          <a:ln/>
        </p:spPr>
        <p:txBody>
          <a:bodyPr wrap="square" lIns="0" tIns="0" rIns="0" bIns="0" rtlCol="0" anchor="ctr"/>
          <a:lstStyle/>
          <a:p>
            <a:pPr marL="0" indent="0">
              <a:buNone/>
            </a:pPr>
            <a:r>
              <a:rPr lang="en-US" sz="1000" dirty="0">
                <a:solidFill>
                  <a:srgbClr val="276749"/>
                </a:solidFill>
                <a:latin typeface="Calibri" pitchFamily="34" charset="0"/>
                <a:ea typeface="Calibri" pitchFamily="34" charset="-122"/>
                <a:cs typeface="Calibri" pitchFamily="34" charset="-120"/>
              </a:rPr>
              <a:t>Google Translate, Siri</a:t>
            </a:r>
            <a:endParaRPr lang="en-US" sz="1000" dirty="0"/>
          </a:p>
        </p:txBody>
      </p:sp>
      <p:sp>
        <p:nvSpPr>
          <p:cNvPr id="72" name="Text 70"/>
          <p:cNvSpPr/>
          <p:nvPr/>
        </p:nvSpPr>
        <p:spPr>
          <a:xfrm>
            <a:off x="6583680" y="4389120"/>
            <a:ext cx="2103120" cy="365760"/>
          </a:xfrm>
          <a:prstGeom prst="rect">
            <a:avLst/>
          </a:prstGeom>
          <a:noFill/>
          <a:ln/>
        </p:spPr>
        <p:txBody>
          <a:bodyPr wrap="square" lIns="0" tIns="0" rIns="0" bIns="0" rtlCol="0" anchor="ctr"/>
          <a:lstStyle/>
          <a:p>
            <a:pPr marL="0" indent="0">
              <a:buNone/>
            </a:pPr>
            <a:r>
              <a:rPr lang="en-US" sz="1000" dirty="0">
                <a:solidFill>
                  <a:srgbClr val="553C9A"/>
                </a:solidFill>
                <a:latin typeface="Calibri" pitchFamily="34" charset="0"/>
                <a:ea typeface="Calibri" pitchFamily="34" charset="-122"/>
                <a:cs typeface="Calibri" pitchFamily="34" charset="-120"/>
              </a:rPr>
              <a:t>Deepfakes, StyleGAN</a:t>
            </a:r>
            <a:endParaRPr lang="en-US" sz="1000" dirty="0"/>
          </a:p>
        </p:txBody>
      </p:sp>
      <p:sp>
        <p:nvSpPr>
          <p:cNvPr id="73" name="Shape 71"/>
          <p:cNvSpPr/>
          <p:nvPr/>
        </p:nvSpPr>
        <p:spPr>
          <a:xfrm>
            <a:off x="2724912" y="4370832"/>
            <a:ext cx="0" cy="402336"/>
          </a:xfrm>
          <a:prstGeom prst="line">
            <a:avLst/>
          </a:prstGeom>
          <a:noFill/>
          <a:ln w="6350">
            <a:solidFill>
              <a:srgbClr val="CBD5E0"/>
            </a:solidFill>
            <a:prstDash val="solid"/>
          </a:ln>
        </p:spPr>
        <p:txBody>
          <a:bodyPr/>
          <a:lstStyle/>
          <a:p>
            <a:endParaRPr lang="en-US"/>
          </a:p>
        </p:txBody>
      </p:sp>
      <p:sp>
        <p:nvSpPr>
          <p:cNvPr id="74" name="Shape 72"/>
          <p:cNvSpPr/>
          <p:nvPr/>
        </p:nvSpPr>
        <p:spPr>
          <a:xfrm>
            <a:off x="4608576" y="4370832"/>
            <a:ext cx="0" cy="402336"/>
          </a:xfrm>
          <a:prstGeom prst="line">
            <a:avLst/>
          </a:prstGeom>
          <a:noFill/>
          <a:ln w="6350">
            <a:solidFill>
              <a:srgbClr val="CBD5E0"/>
            </a:solidFill>
            <a:prstDash val="solid"/>
          </a:ln>
        </p:spPr>
        <p:txBody>
          <a:bodyPr/>
          <a:lstStyle/>
          <a:p>
            <a:endParaRPr lang="en-US"/>
          </a:p>
        </p:txBody>
      </p:sp>
      <p:sp>
        <p:nvSpPr>
          <p:cNvPr id="75" name="Shape 73"/>
          <p:cNvSpPr/>
          <p:nvPr/>
        </p:nvSpPr>
        <p:spPr>
          <a:xfrm>
            <a:off x="6492240" y="4370832"/>
            <a:ext cx="0" cy="402336"/>
          </a:xfrm>
          <a:prstGeom prst="line">
            <a:avLst/>
          </a:prstGeom>
          <a:noFill/>
          <a:ln w="6350">
            <a:solidFill>
              <a:srgbClr val="CBD5E0"/>
            </a:solidFill>
            <a:prstDash val="solid"/>
          </a:ln>
        </p:spPr>
        <p:txBody>
          <a:bodyPr/>
          <a:lstStyle/>
          <a:p>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CBD5E0"/>
            </a:solidFill>
            <a:prstDash val="solid"/>
          </a:ln>
        </p:spPr>
        <p:txBody>
          <a:bodyPr/>
          <a:lstStyle/>
          <a:p>
            <a:endParaRPr lang="en-US"/>
          </a:p>
        </p:txBody>
      </p:sp>
      <p:sp>
        <p:nvSpPr>
          <p:cNvPr id="3" name="Shape 1"/>
          <p:cNvSpPr/>
          <p:nvPr/>
        </p:nvSpPr>
        <p:spPr>
          <a:xfrm>
            <a:off x="0" y="0"/>
            <a:ext cx="201168" cy="960120"/>
          </a:xfrm>
          <a:prstGeom prst="rect">
            <a:avLst/>
          </a:prstGeom>
          <a:solidFill>
            <a:srgbClr val="1E3A5F"/>
          </a:solidFill>
          <a:ln w="12700">
            <a:solidFill>
              <a:srgbClr val="1E3A5F"/>
            </a:solidFill>
            <a:prstDash val="solid"/>
          </a:ln>
        </p:spPr>
        <p:txBody>
          <a:bodyPr/>
          <a:lstStyle/>
          <a:p>
            <a:endParaRPr lang="en-US"/>
          </a:p>
        </p:txBody>
      </p:sp>
      <p:sp>
        <p:nvSpPr>
          <p:cNvPr id="4" name="Text 2"/>
          <p:cNvSpPr/>
          <p:nvPr/>
        </p:nvSpPr>
        <p:spPr>
          <a:xfrm>
            <a:off x="347472" y="91440"/>
            <a:ext cx="8412480" cy="475488"/>
          </a:xfrm>
          <a:prstGeom prst="rect">
            <a:avLst/>
          </a:prstGeom>
          <a:noFill/>
          <a:ln/>
        </p:spPr>
        <p:txBody>
          <a:bodyPr wrap="square" lIns="0" tIns="0" rIns="0" bIns="0" rtlCol="0" anchor="ctr"/>
          <a:lstStyle/>
          <a:p>
            <a:pPr marL="0" indent="0">
              <a:buNone/>
            </a:pPr>
            <a:r>
              <a:rPr lang="en-US" sz="2200" b="1" dirty="0">
                <a:solidFill>
                  <a:srgbClr val="1E3A5F"/>
                </a:solidFill>
                <a:latin typeface="Trebuchet MS" pitchFamily="34" charset="0"/>
                <a:ea typeface="Trebuchet MS" pitchFamily="34" charset="-122"/>
                <a:cs typeface="Trebuchet MS" pitchFamily="34" charset="-120"/>
              </a:rPr>
              <a:t>How They Work Together</a:t>
            </a:r>
            <a:endParaRPr lang="en-US" sz="2200" dirty="0"/>
          </a:p>
        </p:txBody>
      </p:sp>
      <p:sp>
        <p:nvSpPr>
          <p:cNvPr id="5" name="Text 3"/>
          <p:cNvSpPr/>
          <p:nvPr/>
        </p:nvSpPr>
        <p:spPr>
          <a:xfrm>
            <a:off x="347472" y="585216"/>
            <a:ext cx="8412480" cy="292608"/>
          </a:xfrm>
          <a:prstGeom prst="rect">
            <a:avLst/>
          </a:prstGeom>
          <a:noFill/>
          <a:ln/>
        </p:spPr>
        <p:txBody>
          <a:bodyPr wrap="square" lIns="0" tIns="0" rIns="0" bIns="0" rtlCol="0" anchor="ctr"/>
          <a:lstStyle/>
          <a:p>
            <a:pPr marL="0" indent="0">
              <a:buNone/>
            </a:pPr>
            <a:r>
              <a:rPr lang="en-US" sz="1100" i="1" dirty="0">
                <a:solidFill>
                  <a:srgbClr val="718096"/>
                </a:solidFill>
                <a:latin typeface="Calibri" pitchFamily="34" charset="0"/>
                <a:ea typeface="Calibri" pitchFamily="34" charset="-122"/>
                <a:cs typeface="Calibri" pitchFamily="34" charset="-120"/>
              </a:rPr>
              <a:t>Combining Architectures for More Powerful AI Systems</a:t>
            </a:r>
            <a:endParaRPr lang="en-US" sz="1100" dirty="0"/>
          </a:p>
        </p:txBody>
      </p:sp>
      <p:sp>
        <p:nvSpPr>
          <p:cNvPr id="6" name="Shape 4"/>
          <p:cNvSpPr/>
          <p:nvPr/>
        </p:nvSpPr>
        <p:spPr>
          <a:xfrm>
            <a:off x="347472" y="932688"/>
            <a:ext cx="8503920" cy="27432"/>
          </a:xfrm>
          <a:prstGeom prst="rect">
            <a:avLst/>
          </a:prstGeom>
          <a:solidFill>
            <a:srgbClr val="1E3A5F">
              <a:alpha val="30000"/>
            </a:srgbClr>
          </a:solidFill>
          <a:ln/>
        </p:spPr>
        <p:txBody>
          <a:bodyPr/>
          <a:lstStyle/>
          <a:p>
            <a:endParaRPr lang="en-US"/>
          </a:p>
        </p:txBody>
      </p:sp>
      <p:sp>
        <p:nvSpPr>
          <p:cNvPr id="7" name="Shape 5"/>
          <p:cNvSpPr/>
          <p:nvPr/>
        </p:nvSpPr>
        <p:spPr>
          <a:xfrm>
            <a:off x="320040" y="1051560"/>
            <a:ext cx="8503920" cy="2057400"/>
          </a:xfrm>
          <a:prstGeom prst="rect">
            <a:avLst/>
          </a:prstGeom>
          <a:solidFill>
            <a:srgbClr val="FFFFFF"/>
          </a:solidFill>
          <a:ln w="19050">
            <a:solidFill>
              <a:srgbClr val="0987A0"/>
            </a:solidFill>
            <a:prstDash val="solid"/>
          </a:ln>
          <a:effectLst>
            <a:outerShdw blurRad="63500" dist="25400" dir="8100000" algn="bl" rotWithShape="0">
              <a:srgbClr val="000000">
                <a:alpha val="8000"/>
              </a:srgbClr>
            </a:outerShdw>
          </a:effectLst>
        </p:spPr>
        <p:txBody>
          <a:bodyPr/>
          <a:lstStyle/>
          <a:p>
            <a:endParaRPr lang="en-US"/>
          </a:p>
        </p:txBody>
      </p:sp>
      <p:sp>
        <p:nvSpPr>
          <p:cNvPr id="8" name="Shape 6"/>
          <p:cNvSpPr/>
          <p:nvPr/>
        </p:nvSpPr>
        <p:spPr>
          <a:xfrm>
            <a:off x="320040" y="1051560"/>
            <a:ext cx="8503920" cy="64008"/>
          </a:xfrm>
          <a:prstGeom prst="rect">
            <a:avLst/>
          </a:prstGeom>
          <a:solidFill>
            <a:srgbClr val="0987A0"/>
          </a:solidFill>
          <a:ln w="12700">
            <a:solidFill>
              <a:srgbClr val="0987A0"/>
            </a:solidFill>
            <a:prstDash val="solid"/>
          </a:ln>
        </p:spPr>
        <p:txBody>
          <a:bodyPr/>
          <a:lstStyle/>
          <a:p>
            <a:endParaRPr lang="en-US"/>
          </a:p>
        </p:txBody>
      </p:sp>
      <p:sp>
        <p:nvSpPr>
          <p:cNvPr id="9" name="Text 7"/>
          <p:cNvSpPr/>
          <p:nvPr/>
        </p:nvSpPr>
        <p:spPr>
          <a:xfrm>
            <a:off x="457200" y="1143000"/>
            <a:ext cx="5486400" cy="274320"/>
          </a:xfrm>
          <a:prstGeom prst="rect">
            <a:avLst/>
          </a:prstGeom>
          <a:noFill/>
          <a:ln/>
        </p:spPr>
        <p:txBody>
          <a:bodyPr wrap="square" lIns="0" tIns="0" rIns="0" bIns="0" rtlCol="0" anchor="ctr"/>
          <a:lstStyle/>
          <a:p>
            <a:pPr marL="0" indent="0">
              <a:buNone/>
            </a:pPr>
            <a:r>
              <a:rPr lang="en-US" sz="1200" b="1" dirty="0">
                <a:solidFill>
                  <a:srgbClr val="0987A0"/>
                </a:solidFill>
                <a:latin typeface="Trebuchet MS" pitchFamily="34" charset="0"/>
                <a:ea typeface="Trebuchet MS" pitchFamily="34" charset="-122"/>
                <a:cs typeface="Trebuchet MS" pitchFamily="34" charset="-120"/>
              </a:rPr>
              <a:t>CNN + RNN — Image Captioning</a:t>
            </a:r>
            <a:endParaRPr lang="en-US" sz="1200" dirty="0"/>
          </a:p>
        </p:txBody>
      </p:sp>
      <p:sp>
        <p:nvSpPr>
          <p:cNvPr id="10" name="Shape 8"/>
          <p:cNvSpPr/>
          <p:nvPr/>
        </p:nvSpPr>
        <p:spPr>
          <a:xfrm>
            <a:off x="475488" y="1508760"/>
            <a:ext cx="1325880" cy="841248"/>
          </a:xfrm>
          <a:prstGeom prst="rect">
            <a:avLst/>
          </a:prstGeom>
          <a:solidFill>
            <a:srgbClr val="E6F6F9"/>
          </a:solidFill>
          <a:ln w="10160">
            <a:solidFill>
              <a:srgbClr val="0987A0">
                <a:alpha val="60000"/>
              </a:srgbClr>
            </a:solidFill>
            <a:prstDash val="solid"/>
          </a:ln>
        </p:spPr>
        <p:txBody>
          <a:bodyPr/>
          <a:lstStyle/>
          <a:p>
            <a:endParaRPr lang="en-US"/>
          </a:p>
        </p:txBody>
      </p:sp>
      <p:sp>
        <p:nvSpPr>
          <p:cNvPr id="11" name="Text 9"/>
          <p:cNvSpPr/>
          <p:nvPr/>
        </p:nvSpPr>
        <p:spPr>
          <a:xfrm>
            <a:off x="475488" y="1508760"/>
            <a:ext cx="1325880" cy="841248"/>
          </a:xfrm>
          <a:prstGeom prst="rect">
            <a:avLst/>
          </a:prstGeom>
          <a:noFill/>
          <a:ln/>
        </p:spPr>
        <p:txBody>
          <a:bodyPr wrap="square" rtlCol="0" anchor="ctr"/>
          <a:lstStyle/>
          <a:p>
            <a:pPr marL="0" indent="0" algn="ctr">
              <a:buNone/>
            </a:pPr>
            <a:r>
              <a:rPr lang="en-US" sz="850" dirty="0">
                <a:solidFill>
                  <a:srgbClr val="0987A0"/>
                </a:solidFill>
                <a:latin typeface="Calibri" pitchFamily="34" charset="0"/>
                <a:ea typeface="Calibri" pitchFamily="34" charset="-122"/>
                <a:cs typeface="Calibri" pitchFamily="34" charset="-120"/>
              </a:rPr>
              <a:t>Image</a:t>
            </a:r>
            <a:endParaRPr lang="en-US" sz="850" dirty="0"/>
          </a:p>
        </p:txBody>
      </p:sp>
      <p:sp>
        <p:nvSpPr>
          <p:cNvPr id="12" name="Text 10"/>
          <p:cNvSpPr/>
          <p:nvPr/>
        </p:nvSpPr>
        <p:spPr>
          <a:xfrm>
            <a:off x="1737360" y="1801368"/>
            <a:ext cx="274320" cy="237744"/>
          </a:xfrm>
          <a:prstGeom prst="rect">
            <a:avLst/>
          </a:prstGeom>
          <a:noFill/>
          <a:ln/>
        </p:spPr>
        <p:txBody>
          <a:bodyPr wrap="square" lIns="0" tIns="0" rIns="0" bIns="0" rtlCol="0" anchor="ctr"/>
          <a:lstStyle/>
          <a:p>
            <a:pPr marL="0" indent="0" algn="ctr">
              <a:buNone/>
            </a:pPr>
            <a:r>
              <a:rPr lang="en-US" sz="1100" dirty="0">
                <a:solidFill>
                  <a:srgbClr val="718096"/>
                </a:solidFill>
              </a:rPr>
              <a:t>→</a:t>
            </a:r>
            <a:endParaRPr lang="en-US" sz="1100" dirty="0"/>
          </a:p>
        </p:txBody>
      </p:sp>
      <p:sp>
        <p:nvSpPr>
          <p:cNvPr id="13" name="Shape 11"/>
          <p:cNvSpPr/>
          <p:nvPr/>
        </p:nvSpPr>
        <p:spPr>
          <a:xfrm>
            <a:off x="2048256" y="1508760"/>
            <a:ext cx="1325880" cy="841248"/>
          </a:xfrm>
          <a:prstGeom prst="rect">
            <a:avLst/>
          </a:prstGeom>
          <a:solidFill>
            <a:srgbClr val="E6F6F9"/>
          </a:solidFill>
          <a:ln w="10160">
            <a:solidFill>
              <a:srgbClr val="0987A0">
                <a:alpha val="60000"/>
              </a:srgbClr>
            </a:solidFill>
            <a:prstDash val="solid"/>
          </a:ln>
        </p:spPr>
        <p:txBody>
          <a:bodyPr/>
          <a:lstStyle/>
          <a:p>
            <a:endParaRPr lang="en-US"/>
          </a:p>
        </p:txBody>
      </p:sp>
      <p:sp>
        <p:nvSpPr>
          <p:cNvPr id="14" name="Text 12"/>
          <p:cNvSpPr/>
          <p:nvPr/>
        </p:nvSpPr>
        <p:spPr>
          <a:xfrm>
            <a:off x="2048256" y="1508760"/>
            <a:ext cx="1325880" cy="841248"/>
          </a:xfrm>
          <a:prstGeom prst="rect">
            <a:avLst/>
          </a:prstGeom>
          <a:noFill/>
          <a:ln/>
        </p:spPr>
        <p:txBody>
          <a:bodyPr wrap="square" rtlCol="0" anchor="ctr"/>
          <a:lstStyle/>
          <a:p>
            <a:pPr marL="0" indent="0" algn="ctr">
              <a:buNone/>
            </a:pPr>
            <a:r>
              <a:rPr lang="en-US" sz="850" dirty="0">
                <a:solidFill>
                  <a:srgbClr val="0987A0"/>
                </a:solidFill>
                <a:latin typeface="Calibri" pitchFamily="34" charset="0"/>
                <a:ea typeface="Calibri" pitchFamily="34" charset="-122"/>
                <a:cs typeface="Calibri" pitchFamily="34" charset="-120"/>
              </a:rPr>
              <a:t>CNN</a:t>
            </a:r>
            <a:endParaRPr lang="en-US" sz="850" dirty="0"/>
          </a:p>
          <a:p>
            <a:pPr marL="0" indent="0" algn="ctr">
              <a:buNone/>
            </a:pPr>
            <a:r>
              <a:rPr lang="en-US" sz="850" dirty="0">
                <a:solidFill>
                  <a:srgbClr val="0987A0"/>
                </a:solidFill>
                <a:latin typeface="Calibri" pitchFamily="34" charset="0"/>
                <a:ea typeface="Calibri" pitchFamily="34" charset="-122"/>
                <a:cs typeface="Calibri" pitchFamily="34" charset="-120"/>
              </a:rPr>
              <a:t>Extract visual</a:t>
            </a:r>
            <a:endParaRPr lang="en-US" sz="850" dirty="0"/>
          </a:p>
          <a:p>
            <a:pPr marL="0" indent="0" algn="ctr">
              <a:buNone/>
            </a:pPr>
            <a:r>
              <a:rPr lang="en-US" sz="850" dirty="0">
                <a:solidFill>
                  <a:srgbClr val="0987A0"/>
                </a:solidFill>
                <a:latin typeface="Calibri" pitchFamily="34" charset="0"/>
                <a:ea typeface="Calibri" pitchFamily="34" charset="-122"/>
                <a:cs typeface="Calibri" pitchFamily="34" charset="-120"/>
              </a:rPr>
              <a:t>features</a:t>
            </a:r>
            <a:endParaRPr lang="en-US" sz="850" dirty="0"/>
          </a:p>
        </p:txBody>
      </p:sp>
      <p:sp>
        <p:nvSpPr>
          <p:cNvPr id="15" name="Text 13"/>
          <p:cNvSpPr/>
          <p:nvPr/>
        </p:nvSpPr>
        <p:spPr>
          <a:xfrm>
            <a:off x="3310128" y="1801368"/>
            <a:ext cx="274320" cy="237744"/>
          </a:xfrm>
          <a:prstGeom prst="rect">
            <a:avLst/>
          </a:prstGeom>
          <a:noFill/>
          <a:ln/>
        </p:spPr>
        <p:txBody>
          <a:bodyPr wrap="square" lIns="0" tIns="0" rIns="0" bIns="0" rtlCol="0" anchor="ctr"/>
          <a:lstStyle/>
          <a:p>
            <a:pPr marL="0" indent="0" algn="ctr">
              <a:buNone/>
            </a:pPr>
            <a:r>
              <a:rPr lang="en-US" sz="1100" dirty="0">
                <a:solidFill>
                  <a:srgbClr val="718096"/>
                </a:solidFill>
              </a:rPr>
              <a:t>→</a:t>
            </a:r>
            <a:endParaRPr lang="en-US" sz="1100" dirty="0"/>
          </a:p>
        </p:txBody>
      </p:sp>
      <p:sp>
        <p:nvSpPr>
          <p:cNvPr id="16" name="Shape 14"/>
          <p:cNvSpPr/>
          <p:nvPr/>
        </p:nvSpPr>
        <p:spPr>
          <a:xfrm>
            <a:off x="3621024" y="1508760"/>
            <a:ext cx="1325880" cy="841248"/>
          </a:xfrm>
          <a:prstGeom prst="rect">
            <a:avLst/>
          </a:prstGeom>
          <a:solidFill>
            <a:srgbClr val="E6F6F9"/>
          </a:solidFill>
          <a:ln w="10160">
            <a:solidFill>
              <a:srgbClr val="0987A0">
                <a:alpha val="60000"/>
              </a:srgbClr>
            </a:solidFill>
            <a:prstDash val="solid"/>
          </a:ln>
        </p:spPr>
        <p:txBody>
          <a:bodyPr/>
          <a:lstStyle/>
          <a:p>
            <a:endParaRPr lang="en-US"/>
          </a:p>
        </p:txBody>
      </p:sp>
      <p:sp>
        <p:nvSpPr>
          <p:cNvPr id="17" name="Text 15"/>
          <p:cNvSpPr/>
          <p:nvPr/>
        </p:nvSpPr>
        <p:spPr>
          <a:xfrm>
            <a:off x="3621024" y="1508760"/>
            <a:ext cx="1325880" cy="841248"/>
          </a:xfrm>
          <a:prstGeom prst="rect">
            <a:avLst/>
          </a:prstGeom>
          <a:noFill/>
          <a:ln/>
        </p:spPr>
        <p:txBody>
          <a:bodyPr wrap="square" rtlCol="0" anchor="ctr"/>
          <a:lstStyle/>
          <a:p>
            <a:pPr marL="0" indent="0" algn="ctr">
              <a:buNone/>
            </a:pPr>
            <a:r>
              <a:rPr lang="en-US" sz="850" dirty="0">
                <a:solidFill>
                  <a:srgbClr val="0987A0"/>
                </a:solidFill>
                <a:latin typeface="Calibri" pitchFamily="34" charset="0"/>
                <a:ea typeface="Calibri" pitchFamily="34" charset="-122"/>
                <a:cs typeface="Calibri" pitchFamily="34" charset="-120"/>
              </a:rPr>
              <a:t>Feature</a:t>
            </a:r>
            <a:endParaRPr lang="en-US" sz="850" dirty="0"/>
          </a:p>
          <a:p>
            <a:pPr marL="0" indent="0" algn="ctr">
              <a:buNone/>
            </a:pPr>
            <a:r>
              <a:rPr lang="en-US" sz="850" dirty="0">
                <a:solidFill>
                  <a:srgbClr val="0987A0"/>
                </a:solidFill>
                <a:latin typeface="Calibri" pitchFamily="34" charset="0"/>
                <a:ea typeface="Calibri" pitchFamily="34" charset="-122"/>
                <a:cs typeface="Calibri" pitchFamily="34" charset="-120"/>
              </a:rPr>
              <a:t>Vector</a:t>
            </a:r>
            <a:endParaRPr lang="en-US" sz="850" dirty="0"/>
          </a:p>
        </p:txBody>
      </p:sp>
      <p:sp>
        <p:nvSpPr>
          <p:cNvPr id="18" name="Text 16"/>
          <p:cNvSpPr/>
          <p:nvPr/>
        </p:nvSpPr>
        <p:spPr>
          <a:xfrm>
            <a:off x="4882896" y="1801368"/>
            <a:ext cx="274320" cy="237744"/>
          </a:xfrm>
          <a:prstGeom prst="rect">
            <a:avLst/>
          </a:prstGeom>
          <a:noFill/>
          <a:ln/>
        </p:spPr>
        <p:txBody>
          <a:bodyPr wrap="square" lIns="0" tIns="0" rIns="0" bIns="0" rtlCol="0" anchor="ctr"/>
          <a:lstStyle/>
          <a:p>
            <a:pPr marL="0" indent="0" algn="ctr">
              <a:buNone/>
            </a:pPr>
            <a:r>
              <a:rPr lang="en-US" sz="1100" dirty="0">
                <a:solidFill>
                  <a:srgbClr val="718096"/>
                </a:solidFill>
              </a:rPr>
              <a:t>→</a:t>
            </a:r>
            <a:endParaRPr lang="en-US" sz="1100" dirty="0"/>
          </a:p>
        </p:txBody>
      </p:sp>
      <p:sp>
        <p:nvSpPr>
          <p:cNvPr id="19" name="Shape 17"/>
          <p:cNvSpPr/>
          <p:nvPr/>
        </p:nvSpPr>
        <p:spPr>
          <a:xfrm>
            <a:off x="5193792" y="1508760"/>
            <a:ext cx="1325880" cy="841248"/>
          </a:xfrm>
          <a:prstGeom prst="rect">
            <a:avLst/>
          </a:prstGeom>
          <a:solidFill>
            <a:srgbClr val="E6F6F9"/>
          </a:solidFill>
          <a:ln w="10160">
            <a:solidFill>
              <a:srgbClr val="0987A0">
                <a:alpha val="60000"/>
              </a:srgbClr>
            </a:solidFill>
            <a:prstDash val="solid"/>
          </a:ln>
        </p:spPr>
        <p:txBody>
          <a:bodyPr/>
          <a:lstStyle/>
          <a:p>
            <a:endParaRPr lang="en-US"/>
          </a:p>
        </p:txBody>
      </p:sp>
      <p:sp>
        <p:nvSpPr>
          <p:cNvPr id="20" name="Text 18"/>
          <p:cNvSpPr/>
          <p:nvPr/>
        </p:nvSpPr>
        <p:spPr>
          <a:xfrm>
            <a:off x="5193792" y="1508760"/>
            <a:ext cx="1325880" cy="841248"/>
          </a:xfrm>
          <a:prstGeom prst="rect">
            <a:avLst/>
          </a:prstGeom>
          <a:noFill/>
          <a:ln/>
        </p:spPr>
        <p:txBody>
          <a:bodyPr wrap="square" rtlCol="0" anchor="ctr"/>
          <a:lstStyle/>
          <a:p>
            <a:pPr marL="0" indent="0" algn="ctr">
              <a:buNone/>
            </a:pPr>
            <a:r>
              <a:rPr lang="en-US" sz="850" dirty="0">
                <a:solidFill>
                  <a:srgbClr val="0987A0"/>
                </a:solidFill>
                <a:latin typeface="Calibri" pitchFamily="34" charset="0"/>
                <a:ea typeface="Calibri" pitchFamily="34" charset="-122"/>
                <a:cs typeface="Calibri" pitchFamily="34" charset="-120"/>
              </a:rPr>
              <a:t>RNN</a:t>
            </a:r>
            <a:endParaRPr lang="en-US" sz="850" dirty="0"/>
          </a:p>
          <a:p>
            <a:pPr marL="0" indent="0" algn="ctr">
              <a:buNone/>
            </a:pPr>
            <a:r>
              <a:rPr lang="en-US" sz="850" dirty="0">
                <a:solidFill>
                  <a:srgbClr val="0987A0"/>
                </a:solidFill>
                <a:latin typeface="Calibri" pitchFamily="34" charset="0"/>
                <a:ea typeface="Calibri" pitchFamily="34" charset="-122"/>
                <a:cs typeface="Calibri" pitchFamily="34" charset="-120"/>
              </a:rPr>
              <a:t>Generate</a:t>
            </a:r>
            <a:endParaRPr lang="en-US" sz="850" dirty="0"/>
          </a:p>
          <a:p>
            <a:pPr marL="0" indent="0" algn="ctr">
              <a:buNone/>
            </a:pPr>
            <a:r>
              <a:rPr lang="en-US" sz="850" dirty="0">
                <a:solidFill>
                  <a:srgbClr val="0987A0"/>
                </a:solidFill>
                <a:latin typeface="Calibri" pitchFamily="34" charset="0"/>
                <a:ea typeface="Calibri" pitchFamily="34" charset="-122"/>
                <a:cs typeface="Calibri" pitchFamily="34" charset="-120"/>
              </a:rPr>
              <a:t>sentence</a:t>
            </a:r>
            <a:endParaRPr lang="en-US" sz="850" dirty="0"/>
          </a:p>
        </p:txBody>
      </p:sp>
      <p:sp>
        <p:nvSpPr>
          <p:cNvPr id="21" name="Text 19"/>
          <p:cNvSpPr/>
          <p:nvPr/>
        </p:nvSpPr>
        <p:spPr>
          <a:xfrm>
            <a:off x="6455664" y="1801368"/>
            <a:ext cx="274320" cy="237744"/>
          </a:xfrm>
          <a:prstGeom prst="rect">
            <a:avLst/>
          </a:prstGeom>
          <a:noFill/>
          <a:ln/>
        </p:spPr>
        <p:txBody>
          <a:bodyPr wrap="square" lIns="0" tIns="0" rIns="0" bIns="0" rtlCol="0" anchor="ctr"/>
          <a:lstStyle/>
          <a:p>
            <a:pPr marL="0" indent="0" algn="ctr">
              <a:buNone/>
            </a:pPr>
            <a:r>
              <a:rPr lang="en-US" sz="1100" dirty="0">
                <a:solidFill>
                  <a:srgbClr val="718096"/>
                </a:solidFill>
              </a:rPr>
              <a:t>→</a:t>
            </a:r>
            <a:endParaRPr lang="en-US" sz="1100" dirty="0"/>
          </a:p>
        </p:txBody>
      </p:sp>
      <p:sp>
        <p:nvSpPr>
          <p:cNvPr id="22" name="Shape 20"/>
          <p:cNvSpPr/>
          <p:nvPr/>
        </p:nvSpPr>
        <p:spPr>
          <a:xfrm>
            <a:off x="6766560" y="1508760"/>
            <a:ext cx="1325880" cy="841248"/>
          </a:xfrm>
          <a:prstGeom prst="rect">
            <a:avLst/>
          </a:prstGeom>
          <a:solidFill>
            <a:srgbClr val="E6F6F9"/>
          </a:solidFill>
          <a:ln w="10160">
            <a:solidFill>
              <a:srgbClr val="0987A0">
                <a:alpha val="60000"/>
              </a:srgbClr>
            </a:solidFill>
            <a:prstDash val="solid"/>
          </a:ln>
        </p:spPr>
        <p:txBody>
          <a:bodyPr/>
          <a:lstStyle/>
          <a:p>
            <a:endParaRPr lang="en-US"/>
          </a:p>
        </p:txBody>
      </p:sp>
      <p:sp>
        <p:nvSpPr>
          <p:cNvPr id="23" name="Text 21"/>
          <p:cNvSpPr/>
          <p:nvPr/>
        </p:nvSpPr>
        <p:spPr>
          <a:xfrm>
            <a:off x="6766560" y="1508760"/>
            <a:ext cx="1325880" cy="841248"/>
          </a:xfrm>
          <a:prstGeom prst="rect">
            <a:avLst/>
          </a:prstGeom>
          <a:noFill/>
          <a:ln/>
        </p:spPr>
        <p:txBody>
          <a:bodyPr wrap="square" rtlCol="0" anchor="ctr"/>
          <a:lstStyle/>
          <a:p>
            <a:pPr marL="0" indent="0" algn="ctr">
              <a:buNone/>
            </a:pPr>
            <a:r>
              <a:rPr lang="en-US" sz="850" dirty="0">
                <a:solidFill>
                  <a:srgbClr val="0987A0"/>
                </a:solidFill>
                <a:latin typeface="Calibri" pitchFamily="34" charset="0"/>
                <a:ea typeface="Calibri" pitchFamily="34" charset="-122"/>
                <a:cs typeface="Calibri" pitchFamily="34" charset="-120"/>
              </a:rPr>
              <a:t>Caption:</a:t>
            </a:r>
            <a:endParaRPr lang="en-US" sz="850" dirty="0"/>
          </a:p>
          <a:p>
            <a:pPr marL="0" indent="0" algn="ctr">
              <a:buNone/>
            </a:pPr>
            <a:r>
              <a:rPr lang="en-US" sz="850" dirty="0">
                <a:solidFill>
                  <a:srgbClr val="0987A0"/>
                </a:solidFill>
                <a:latin typeface="Calibri" pitchFamily="34" charset="0"/>
                <a:ea typeface="Calibri" pitchFamily="34" charset="-122"/>
                <a:cs typeface="Calibri" pitchFamily="34" charset="-120"/>
              </a:rPr>
              <a:t>'A dog running</a:t>
            </a:r>
            <a:endParaRPr lang="en-US" sz="850" dirty="0"/>
          </a:p>
          <a:p>
            <a:pPr marL="0" indent="0" algn="ctr">
              <a:buNone/>
            </a:pPr>
            <a:r>
              <a:rPr lang="en-US" sz="850" dirty="0">
                <a:solidFill>
                  <a:srgbClr val="0987A0"/>
                </a:solidFill>
                <a:latin typeface="Calibri" pitchFamily="34" charset="0"/>
                <a:ea typeface="Calibri" pitchFamily="34" charset="-122"/>
                <a:cs typeface="Calibri" pitchFamily="34" charset="-120"/>
              </a:rPr>
              <a:t>in a park'</a:t>
            </a:r>
            <a:endParaRPr lang="en-US" sz="850" dirty="0"/>
          </a:p>
        </p:txBody>
      </p:sp>
      <p:sp>
        <p:nvSpPr>
          <p:cNvPr id="24" name="Text 22"/>
          <p:cNvSpPr/>
          <p:nvPr/>
        </p:nvSpPr>
        <p:spPr>
          <a:xfrm>
            <a:off x="457200" y="2423160"/>
            <a:ext cx="8046720" cy="621792"/>
          </a:xfrm>
          <a:prstGeom prst="rect">
            <a:avLst/>
          </a:prstGeom>
          <a:noFill/>
          <a:ln/>
        </p:spPr>
        <p:txBody>
          <a:bodyPr wrap="square" lIns="0" tIns="0" rIns="0" bIns="0" rtlCol="0" anchor="ctr"/>
          <a:lstStyle/>
          <a:p>
            <a:pPr marL="0" indent="0">
              <a:buNone/>
            </a:pPr>
            <a:r>
              <a:rPr lang="en-US" sz="1000" dirty="0">
                <a:solidFill>
                  <a:srgbClr val="718096"/>
                </a:solidFill>
                <a:latin typeface="Calibri" pitchFamily="34" charset="0"/>
                <a:ea typeface="Calibri" pitchFamily="34" charset="-122"/>
                <a:cs typeface="Calibri" pitchFamily="34" charset="-120"/>
              </a:rPr>
              <a:t>CNN processes the image → extracts a rich feature vector. RNN takes that vector and generates a descriptive sentence word by word. Used in Google Photos alt-text, accessibility tools, and social media auto-captioning.</a:t>
            </a:r>
            <a:endParaRPr lang="en-US" sz="1000" dirty="0"/>
          </a:p>
        </p:txBody>
      </p:sp>
      <p:sp>
        <p:nvSpPr>
          <p:cNvPr id="25" name="Shape 23"/>
          <p:cNvSpPr/>
          <p:nvPr/>
        </p:nvSpPr>
        <p:spPr>
          <a:xfrm>
            <a:off x="320040" y="3200400"/>
            <a:ext cx="8503920" cy="2057400"/>
          </a:xfrm>
          <a:prstGeom prst="rect">
            <a:avLst/>
          </a:prstGeom>
          <a:solidFill>
            <a:srgbClr val="FFFFFF"/>
          </a:solidFill>
          <a:ln w="19050">
            <a:solidFill>
              <a:srgbClr val="553C9A"/>
            </a:solidFill>
            <a:prstDash val="solid"/>
          </a:ln>
          <a:effectLst>
            <a:outerShdw blurRad="63500" dist="25400" dir="8100000" algn="bl" rotWithShape="0">
              <a:srgbClr val="000000">
                <a:alpha val="8000"/>
              </a:srgbClr>
            </a:outerShdw>
          </a:effectLst>
        </p:spPr>
        <p:txBody>
          <a:bodyPr/>
          <a:lstStyle/>
          <a:p>
            <a:endParaRPr lang="en-US"/>
          </a:p>
        </p:txBody>
      </p:sp>
      <p:sp>
        <p:nvSpPr>
          <p:cNvPr id="26" name="Shape 24"/>
          <p:cNvSpPr/>
          <p:nvPr/>
        </p:nvSpPr>
        <p:spPr>
          <a:xfrm>
            <a:off x="320040" y="3200400"/>
            <a:ext cx="8503920" cy="64008"/>
          </a:xfrm>
          <a:prstGeom prst="rect">
            <a:avLst/>
          </a:prstGeom>
          <a:solidFill>
            <a:srgbClr val="553C9A"/>
          </a:solidFill>
          <a:ln w="12700">
            <a:solidFill>
              <a:srgbClr val="553C9A"/>
            </a:solidFill>
            <a:prstDash val="solid"/>
          </a:ln>
        </p:spPr>
        <p:txBody>
          <a:bodyPr/>
          <a:lstStyle/>
          <a:p>
            <a:endParaRPr lang="en-US"/>
          </a:p>
        </p:txBody>
      </p:sp>
      <p:sp>
        <p:nvSpPr>
          <p:cNvPr id="27" name="Text 25"/>
          <p:cNvSpPr/>
          <p:nvPr/>
        </p:nvSpPr>
        <p:spPr>
          <a:xfrm>
            <a:off x="457200" y="3291840"/>
            <a:ext cx="5486400" cy="274320"/>
          </a:xfrm>
          <a:prstGeom prst="rect">
            <a:avLst/>
          </a:prstGeom>
          <a:noFill/>
          <a:ln/>
        </p:spPr>
        <p:txBody>
          <a:bodyPr wrap="square" lIns="0" tIns="0" rIns="0" bIns="0" rtlCol="0" anchor="ctr"/>
          <a:lstStyle/>
          <a:p>
            <a:pPr marL="0" indent="0">
              <a:buNone/>
            </a:pPr>
            <a:r>
              <a:rPr lang="en-US" sz="1200" b="1" dirty="0">
                <a:solidFill>
                  <a:srgbClr val="553C9A"/>
                </a:solidFill>
                <a:latin typeface="Trebuchet MS" pitchFamily="34" charset="0"/>
                <a:ea typeface="Trebuchet MS" pitchFamily="34" charset="-122"/>
                <a:cs typeface="Trebuchet MS" pitchFamily="34" charset="-120"/>
              </a:rPr>
              <a:t>CNN + GAN — High Quality Image Generation</a:t>
            </a:r>
            <a:endParaRPr lang="en-US" sz="1200" dirty="0"/>
          </a:p>
        </p:txBody>
      </p:sp>
      <p:sp>
        <p:nvSpPr>
          <p:cNvPr id="28" name="Shape 26"/>
          <p:cNvSpPr/>
          <p:nvPr/>
        </p:nvSpPr>
        <p:spPr>
          <a:xfrm>
            <a:off x="475488" y="3657600"/>
            <a:ext cx="1325880" cy="841248"/>
          </a:xfrm>
          <a:prstGeom prst="rect">
            <a:avLst/>
          </a:prstGeom>
          <a:solidFill>
            <a:srgbClr val="EDE9F6"/>
          </a:solidFill>
          <a:ln w="10160">
            <a:solidFill>
              <a:srgbClr val="553C9A">
                <a:alpha val="60000"/>
              </a:srgbClr>
            </a:solidFill>
            <a:prstDash val="solid"/>
          </a:ln>
        </p:spPr>
        <p:txBody>
          <a:bodyPr/>
          <a:lstStyle/>
          <a:p>
            <a:endParaRPr lang="en-US"/>
          </a:p>
        </p:txBody>
      </p:sp>
      <p:sp>
        <p:nvSpPr>
          <p:cNvPr id="29" name="Text 27"/>
          <p:cNvSpPr/>
          <p:nvPr/>
        </p:nvSpPr>
        <p:spPr>
          <a:xfrm>
            <a:off x="475488" y="3657600"/>
            <a:ext cx="1325880" cy="841248"/>
          </a:xfrm>
          <a:prstGeom prst="rect">
            <a:avLst/>
          </a:prstGeom>
          <a:noFill/>
          <a:ln/>
        </p:spPr>
        <p:txBody>
          <a:bodyPr wrap="square" rtlCol="0" anchor="ctr"/>
          <a:lstStyle/>
          <a:p>
            <a:pPr marL="0" indent="0" algn="ctr">
              <a:buNone/>
            </a:pPr>
            <a:r>
              <a:rPr lang="en-US" sz="850" dirty="0">
                <a:solidFill>
                  <a:srgbClr val="553C9A"/>
                </a:solidFill>
                <a:latin typeface="Calibri" pitchFamily="34" charset="0"/>
                <a:ea typeface="Calibri" pitchFamily="34" charset="-122"/>
                <a:cs typeface="Calibri" pitchFamily="34" charset="-120"/>
              </a:rPr>
              <a:t>Random</a:t>
            </a:r>
            <a:endParaRPr lang="en-US" sz="850" dirty="0"/>
          </a:p>
          <a:p>
            <a:pPr marL="0" indent="0" algn="ctr">
              <a:buNone/>
            </a:pPr>
            <a:r>
              <a:rPr lang="en-US" sz="850" dirty="0">
                <a:solidFill>
                  <a:srgbClr val="553C9A"/>
                </a:solidFill>
                <a:latin typeface="Calibri" pitchFamily="34" charset="0"/>
                <a:ea typeface="Calibri" pitchFamily="34" charset="-122"/>
                <a:cs typeface="Calibri" pitchFamily="34" charset="-120"/>
              </a:rPr>
              <a:t>Noise</a:t>
            </a:r>
            <a:endParaRPr lang="en-US" sz="850" dirty="0"/>
          </a:p>
        </p:txBody>
      </p:sp>
      <p:sp>
        <p:nvSpPr>
          <p:cNvPr id="30" name="Text 28"/>
          <p:cNvSpPr/>
          <p:nvPr/>
        </p:nvSpPr>
        <p:spPr>
          <a:xfrm>
            <a:off x="1737360" y="3950208"/>
            <a:ext cx="274320" cy="237744"/>
          </a:xfrm>
          <a:prstGeom prst="rect">
            <a:avLst/>
          </a:prstGeom>
          <a:noFill/>
          <a:ln/>
        </p:spPr>
        <p:txBody>
          <a:bodyPr wrap="square" lIns="0" tIns="0" rIns="0" bIns="0" rtlCol="0" anchor="ctr"/>
          <a:lstStyle/>
          <a:p>
            <a:pPr marL="0" indent="0" algn="ctr">
              <a:buNone/>
            </a:pPr>
            <a:r>
              <a:rPr lang="en-US" sz="1100" dirty="0">
                <a:solidFill>
                  <a:srgbClr val="718096"/>
                </a:solidFill>
              </a:rPr>
              <a:t>→</a:t>
            </a:r>
            <a:endParaRPr lang="en-US" sz="1100" dirty="0"/>
          </a:p>
        </p:txBody>
      </p:sp>
      <p:sp>
        <p:nvSpPr>
          <p:cNvPr id="31" name="Shape 29"/>
          <p:cNvSpPr/>
          <p:nvPr/>
        </p:nvSpPr>
        <p:spPr>
          <a:xfrm>
            <a:off x="2048256" y="3657600"/>
            <a:ext cx="1325880" cy="841248"/>
          </a:xfrm>
          <a:prstGeom prst="rect">
            <a:avLst/>
          </a:prstGeom>
          <a:solidFill>
            <a:srgbClr val="EDE9F6"/>
          </a:solidFill>
          <a:ln w="10160">
            <a:solidFill>
              <a:srgbClr val="553C9A">
                <a:alpha val="60000"/>
              </a:srgbClr>
            </a:solidFill>
            <a:prstDash val="solid"/>
          </a:ln>
        </p:spPr>
        <p:txBody>
          <a:bodyPr/>
          <a:lstStyle/>
          <a:p>
            <a:endParaRPr lang="en-US"/>
          </a:p>
        </p:txBody>
      </p:sp>
      <p:sp>
        <p:nvSpPr>
          <p:cNvPr id="32" name="Text 30"/>
          <p:cNvSpPr/>
          <p:nvPr/>
        </p:nvSpPr>
        <p:spPr>
          <a:xfrm>
            <a:off x="2048256" y="3657600"/>
            <a:ext cx="1325880" cy="841248"/>
          </a:xfrm>
          <a:prstGeom prst="rect">
            <a:avLst/>
          </a:prstGeom>
          <a:noFill/>
          <a:ln/>
        </p:spPr>
        <p:txBody>
          <a:bodyPr wrap="square" rtlCol="0" anchor="ctr"/>
          <a:lstStyle/>
          <a:p>
            <a:pPr marL="0" indent="0" algn="ctr">
              <a:buNone/>
            </a:pPr>
            <a:r>
              <a:rPr lang="en-US" sz="850" dirty="0">
                <a:solidFill>
                  <a:srgbClr val="553C9A"/>
                </a:solidFill>
                <a:latin typeface="Calibri" pitchFamily="34" charset="0"/>
                <a:ea typeface="Calibri" pitchFamily="34" charset="-122"/>
                <a:cs typeface="Calibri" pitchFamily="34" charset="-120"/>
              </a:rPr>
              <a:t>Generator</a:t>
            </a:r>
            <a:endParaRPr lang="en-US" sz="850" dirty="0"/>
          </a:p>
          <a:p>
            <a:pPr marL="0" indent="0" algn="ctr">
              <a:buNone/>
            </a:pPr>
            <a:r>
              <a:rPr lang="en-US" sz="850" dirty="0">
                <a:solidFill>
                  <a:srgbClr val="553C9A"/>
                </a:solidFill>
                <a:latin typeface="Calibri" pitchFamily="34" charset="0"/>
                <a:ea typeface="Calibri" pitchFamily="34" charset="-122"/>
                <a:cs typeface="Calibri" pitchFamily="34" charset="-120"/>
              </a:rPr>
              <a:t>(CNN-based)</a:t>
            </a:r>
            <a:endParaRPr lang="en-US" sz="850" dirty="0"/>
          </a:p>
          <a:p>
            <a:pPr marL="0" indent="0" algn="ctr">
              <a:buNone/>
            </a:pPr>
            <a:r>
              <a:rPr lang="en-US" sz="850" dirty="0">
                <a:solidFill>
                  <a:srgbClr val="553C9A"/>
                </a:solidFill>
                <a:latin typeface="Calibri" pitchFamily="34" charset="0"/>
                <a:ea typeface="Calibri" pitchFamily="34" charset="-122"/>
                <a:cs typeface="Calibri" pitchFamily="34" charset="-120"/>
              </a:rPr>
              <a:t>Upsample</a:t>
            </a:r>
            <a:endParaRPr lang="en-US" sz="850" dirty="0"/>
          </a:p>
        </p:txBody>
      </p:sp>
      <p:sp>
        <p:nvSpPr>
          <p:cNvPr id="33" name="Text 31"/>
          <p:cNvSpPr/>
          <p:nvPr/>
        </p:nvSpPr>
        <p:spPr>
          <a:xfrm>
            <a:off x="3310128" y="3950208"/>
            <a:ext cx="274320" cy="237744"/>
          </a:xfrm>
          <a:prstGeom prst="rect">
            <a:avLst/>
          </a:prstGeom>
          <a:noFill/>
          <a:ln/>
        </p:spPr>
        <p:txBody>
          <a:bodyPr wrap="square" lIns="0" tIns="0" rIns="0" bIns="0" rtlCol="0" anchor="ctr"/>
          <a:lstStyle/>
          <a:p>
            <a:pPr marL="0" indent="0" algn="ctr">
              <a:buNone/>
            </a:pPr>
            <a:r>
              <a:rPr lang="en-US" sz="1100" dirty="0">
                <a:solidFill>
                  <a:srgbClr val="718096"/>
                </a:solidFill>
              </a:rPr>
              <a:t>→</a:t>
            </a:r>
            <a:endParaRPr lang="en-US" sz="1100" dirty="0"/>
          </a:p>
        </p:txBody>
      </p:sp>
      <p:sp>
        <p:nvSpPr>
          <p:cNvPr id="34" name="Shape 32"/>
          <p:cNvSpPr/>
          <p:nvPr/>
        </p:nvSpPr>
        <p:spPr>
          <a:xfrm>
            <a:off x="3621024" y="3657600"/>
            <a:ext cx="1325880" cy="841248"/>
          </a:xfrm>
          <a:prstGeom prst="rect">
            <a:avLst/>
          </a:prstGeom>
          <a:solidFill>
            <a:srgbClr val="EDE9F6"/>
          </a:solidFill>
          <a:ln w="10160">
            <a:solidFill>
              <a:srgbClr val="553C9A">
                <a:alpha val="60000"/>
              </a:srgbClr>
            </a:solidFill>
            <a:prstDash val="solid"/>
          </a:ln>
        </p:spPr>
        <p:txBody>
          <a:bodyPr/>
          <a:lstStyle/>
          <a:p>
            <a:endParaRPr lang="en-US"/>
          </a:p>
        </p:txBody>
      </p:sp>
      <p:sp>
        <p:nvSpPr>
          <p:cNvPr id="35" name="Text 33"/>
          <p:cNvSpPr/>
          <p:nvPr/>
        </p:nvSpPr>
        <p:spPr>
          <a:xfrm>
            <a:off x="3621024" y="3657600"/>
            <a:ext cx="1325880" cy="841248"/>
          </a:xfrm>
          <a:prstGeom prst="rect">
            <a:avLst/>
          </a:prstGeom>
          <a:noFill/>
          <a:ln/>
        </p:spPr>
        <p:txBody>
          <a:bodyPr wrap="square" rtlCol="0" anchor="ctr"/>
          <a:lstStyle/>
          <a:p>
            <a:pPr marL="0" indent="0" algn="ctr">
              <a:buNone/>
            </a:pPr>
            <a:r>
              <a:rPr lang="en-US" sz="850" dirty="0">
                <a:solidFill>
                  <a:srgbClr val="553C9A"/>
                </a:solidFill>
                <a:latin typeface="Calibri" pitchFamily="34" charset="0"/>
                <a:ea typeface="Calibri" pitchFamily="34" charset="-122"/>
                <a:cs typeface="Calibri" pitchFamily="34" charset="-120"/>
              </a:rPr>
              <a:t>Fake</a:t>
            </a:r>
            <a:endParaRPr lang="en-US" sz="850" dirty="0"/>
          </a:p>
          <a:p>
            <a:pPr marL="0" indent="0" algn="ctr">
              <a:buNone/>
            </a:pPr>
            <a:r>
              <a:rPr lang="en-US" sz="850" dirty="0">
                <a:solidFill>
                  <a:srgbClr val="553C9A"/>
                </a:solidFill>
                <a:latin typeface="Calibri" pitchFamily="34" charset="0"/>
                <a:ea typeface="Calibri" pitchFamily="34" charset="-122"/>
                <a:cs typeface="Calibri" pitchFamily="34" charset="-120"/>
              </a:rPr>
              <a:t>Image</a:t>
            </a:r>
            <a:endParaRPr lang="en-US" sz="850" dirty="0"/>
          </a:p>
        </p:txBody>
      </p:sp>
      <p:sp>
        <p:nvSpPr>
          <p:cNvPr id="36" name="Text 34"/>
          <p:cNvSpPr/>
          <p:nvPr/>
        </p:nvSpPr>
        <p:spPr>
          <a:xfrm>
            <a:off x="4882896" y="3950208"/>
            <a:ext cx="274320" cy="237744"/>
          </a:xfrm>
          <a:prstGeom prst="rect">
            <a:avLst/>
          </a:prstGeom>
          <a:noFill/>
          <a:ln/>
        </p:spPr>
        <p:txBody>
          <a:bodyPr wrap="square" lIns="0" tIns="0" rIns="0" bIns="0" rtlCol="0" anchor="ctr"/>
          <a:lstStyle/>
          <a:p>
            <a:pPr marL="0" indent="0" algn="ctr">
              <a:buNone/>
            </a:pPr>
            <a:r>
              <a:rPr lang="en-US" sz="1100" dirty="0">
                <a:solidFill>
                  <a:srgbClr val="718096"/>
                </a:solidFill>
              </a:rPr>
              <a:t>→</a:t>
            </a:r>
            <a:endParaRPr lang="en-US" sz="1100" dirty="0"/>
          </a:p>
        </p:txBody>
      </p:sp>
      <p:sp>
        <p:nvSpPr>
          <p:cNvPr id="37" name="Shape 35"/>
          <p:cNvSpPr/>
          <p:nvPr/>
        </p:nvSpPr>
        <p:spPr>
          <a:xfrm>
            <a:off x="5193792" y="3657600"/>
            <a:ext cx="1325880" cy="841248"/>
          </a:xfrm>
          <a:prstGeom prst="rect">
            <a:avLst/>
          </a:prstGeom>
          <a:solidFill>
            <a:srgbClr val="EDE9F6"/>
          </a:solidFill>
          <a:ln w="10160">
            <a:solidFill>
              <a:srgbClr val="553C9A">
                <a:alpha val="60000"/>
              </a:srgbClr>
            </a:solidFill>
            <a:prstDash val="solid"/>
          </a:ln>
        </p:spPr>
        <p:txBody>
          <a:bodyPr/>
          <a:lstStyle/>
          <a:p>
            <a:endParaRPr lang="en-US"/>
          </a:p>
        </p:txBody>
      </p:sp>
      <p:sp>
        <p:nvSpPr>
          <p:cNvPr id="38" name="Text 36"/>
          <p:cNvSpPr/>
          <p:nvPr/>
        </p:nvSpPr>
        <p:spPr>
          <a:xfrm>
            <a:off x="5193792" y="3657600"/>
            <a:ext cx="1325880" cy="841248"/>
          </a:xfrm>
          <a:prstGeom prst="rect">
            <a:avLst/>
          </a:prstGeom>
          <a:noFill/>
          <a:ln/>
        </p:spPr>
        <p:txBody>
          <a:bodyPr wrap="square" rtlCol="0" anchor="ctr"/>
          <a:lstStyle/>
          <a:p>
            <a:pPr marL="0" indent="0" algn="ctr">
              <a:buNone/>
            </a:pPr>
            <a:r>
              <a:rPr lang="en-US" sz="850" dirty="0">
                <a:solidFill>
                  <a:srgbClr val="553C9A"/>
                </a:solidFill>
                <a:latin typeface="Calibri" pitchFamily="34" charset="0"/>
                <a:ea typeface="Calibri" pitchFamily="34" charset="-122"/>
                <a:cs typeface="Calibri" pitchFamily="34" charset="-120"/>
              </a:rPr>
              <a:t>Discriminator</a:t>
            </a:r>
            <a:endParaRPr lang="en-US" sz="850" dirty="0"/>
          </a:p>
          <a:p>
            <a:pPr marL="0" indent="0" algn="ctr">
              <a:buNone/>
            </a:pPr>
            <a:r>
              <a:rPr lang="en-US" sz="850" dirty="0">
                <a:solidFill>
                  <a:srgbClr val="553C9A"/>
                </a:solidFill>
                <a:latin typeface="Calibri" pitchFamily="34" charset="0"/>
                <a:ea typeface="Calibri" pitchFamily="34" charset="-122"/>
                <a:cs typeface="Calibri" pitchFamily="34" charset="-120"/>
              </a:rPr>
              <a:t>(CNN-based)</a:t>
            </a:r>
            <a:endParaRPr lang="en-US" sz="850" dirty="0"/>
          </a:p>
          <a:p>
            <a:pPr marL="0" indent="0" algn="ctr">
              <a:buNone/>
            </a:pPr>
            <a:r>
              <a:rPr lang="en-US" sz="850" dirty="0">
                <a:solidFill>
                  <a:srgbClr val="553C9A"/>
                </a:solidFill>
                <a:latin typeface="Calibri" pitchFamily="34" charset="0"/>
                <a:ea typeface="Calibri" pitchFamily="34" charset="-122"/>
                <a:cs typeface="Calibri" pitchFamily="34" charset="-120"/>
              </a:rPr>
              <a:t>Classify</a:t>
            </a:r>
            <a:endParaRPr lang="en-US" sz="850" dirty="0"/>
          </a:p>
        </p:txBody>
      </p:sp>
      <p:sp>
        <p:nvSpPr>
          <p:cNvPr id="39" name="Text 37"/>
          <p:cNvSpPr/>
          <p:nvPr/>
        </p:nvSpPr>
        <p:spPr>
          <a:xfrm>
            <a:off x="6455664" y="3950208"/>
            <a:ext cx="274320" cy="237744"/>
          </a:xfrm>
          <a:prstGeom prst="rect">
            <a:avLst/>
          </a:prstGeom>
          <a:noFill/>
          <a:ln/>
        </p:spPr>
        <p:txBody>
          <a:bodyPr wrap="square" lIns="0" tIns="0" rIns="0" bIns="0" rtlCol="0" anchor="ctr"/>
          <a:lstStyle/>
          <a:p>
            <a:pPr marL="0" indent="0" algn="ctr">
              <a:buNone/>
            </a:pPr>
            <a:r>
              <a:rPr lang="en-US" sz="1100" dirty="0">
                <a:solidFill>
                  <a:srgbClr val="718096"/>
                </a:solidFill>
              </a:rPr>
              <a:t>→</a:t>
            </a:r>
            <a:endParaRPr lang="en-US" sz="1100" dirty="0"/>
          </a:p>
        </p:txBody>
      </p:sp>
      <p:sp>
        <p:nvSpPr>
          <p:cNvPr id="40" name="Shape 38"/>
          <p:cNvSpPr/>
          <p:nvPr/>
        </p:nvSpPr>
        <p:spPr>
          <a:xfrm>
            <a:off x="6766560" y="3657600"/>
            <a:ext cx="1325880" cy="841248"/>
          </a:xfrm>
          <a:prstGeom prst="rect">
            <a:avLst/>
          </a:prstGeom>
          <a:solidFill>
            <a:srgbClr val="EDE9F6"/>
          </a:solidFill>
          <a:ln w="10160">
            <a:solidFill>
              <a:srgbClr val="553C9A">
                <a:alpha val="60000"/>
              </a:srgbClr>
            </a:solidFill>
            <a:prstDash val="solid"/>
          </a:ln>
        </p:spPr>
        <p:txBody>
          <a:bodyPr/>
          <a:lstStyle/>
          <a:p>
            <a:endParaRPr lang="en-US"/>
          </a:p>
        </p:txBody>
      </p:sp>
      <p:sp>
        <p:nvSpPr>
          <p:cNvPr id="41" name="Text 39"/>
          <p:cNvSpPr/>
          <p:nvPr/>
        </p:nvSpPr>
        <p:spPr>
          <a:xfrm>
            <a:off x="6766560" y="3657600"/>
            <a:ext cx="1325880" cy="841248"/>
          </a:xfrm>
          <a:prstGeom prst="rect">
            <a:avLst/>
          </a:prstGeom>
          <a:noFill/>
          <a:ln/>
        </p:spPr>
        <p:txBody>
          <a:bodyPr wrap="square" rtlCol="0" anchor="ctr"/>
          <a:lstStyle/>
          <a:p>
            <a:pPr marL="0" indent="0" algn="ctr">
              <a:buNone/>
            </a:pPr>
            <a:r>
              <a:rPr lang="en-US" sz="850" dirty="0">
                <a:solidFill>
                  <a:srgbClr val="553C9A"/>
                </a:solidFill>
                <a:latin typeface="Calibri" pitchFamily="34" charset="0"/>
                <a:ea typeface="Calibri" pitchFamily="34" charset="-122"/>
                <a:cs typeface="Calibri" pitchFamily="34" charset="-120"/>
              </a:rPr>
              <a:t>Real or</a:t>
            </a:r>
            <a:endParaRPr lang="en-US" sz="850" dirty="0"/>
          </a:p>
          <a:p>
            <a:pPr marL="0" indent="0" algn="ctr">
              <a:buNone/>
            </a:pPr>
            <a:r>
              <a:rPr lang="en-US" sz="850" dirty="0">
                <a:solidFill>
                  <a:srgbClr val="553C9A"/>
                </a:solidFill>
                <a:latin typeface="Calibri" pitchFamily="34" charset="0"/>
                <a:ea typeface="Calibri" pitchFamily="34" charset="-122"/>
                <a:cs typeface="Calibri" pitchFamily="34" charset="-120"/>
              </a:rPr>
              <a:t>Fake?</a:t>
            </a:r>
            <a:endParaRPr lang="en-US" sz="850" dirty="0"/>
          </a:p>
        </p:txBody>
      </p:sp>
      <p:sp>
        <p:nvSpPr>
          <p:cNvPr id="42" name="Text 40"/>
          <p:cNvSpPr/>
          <p:nvPr/>
        </p:nvSpPr>
        <p:spPr>
          <a:xfrm>
            <a:off x="457200" y="4572000"/>
            <a:ext cx="8046720" cy="621792"/>
          </a:xfrm>
          <a:prstGeom prst="rect">
            <a:avLst/>
          </a:prstGeom>
          <a:noFill/>
          <a:ln/>
        </p:spPr>
        <p:txBody>
          <a:bodyPr wrap="square" lIns="0" tIns="0" rIns="0" bIns="0" rtlCol="0" anchor="ctr"/>
          <a:lstStyle/>
          <a:p>
            <a:pPr marL="0" indent="0">
              <a:buNone/>
            </a:pPr>
            <a:r>
              <a:rPr lang="en-US" sz="1000" dirty="0">
                <a:solidFill>
                  <a:srgbClr val="718096"/>
                </a:solidFill>
                <a:latin typeface="Calibri" pitchFamily="34" charset="0"/>
                <a:ea typeface="Calibri" pitchFamily="34" charset="-122"/>
                <a:cs typeface="Calibri" pitchFamily="34" charset="-120"/>
              </a:rPr>
              <a:t>DCGAN uses convolutional layers in both networks. Transposed convolutions in Generator upsample noise into images. Standard CNN in Discriminator classifies real vs fake. Using CNNs made GAN training dramatically more stable and higher quality.</a:t>
            </a:r>
            <a:endParaRPr lang="en-US" sz="10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3044952" cy="109728"/>
          </a:xfrm>
          <a:prstGeom prst="rect">
            <a:avLst/>
          </a:prstGeom>
          <a:solidFill>
            <a:srgbClr val="0987A0"/>
          </a:solidFill>
          <a:ln w="12700">
            <a:solidFill>
              <a:srgbClr val="0987A0"/>
            </a:solidFill>
            <a:prstDash val="solid"/>
          </a:ln>
        </p:spPr>
        <p:txBody>
          <a:bodyPr/>
          <a:lstStyle/>
          <a:p>
            <a:endParaRPr lang="en-US"/>
          </a:p>
        </p:txBody>
      </p:sp>
      <p:sp>
        <p:nvSpPr>
          <p:cNvPr id="3" name="Shape 1"/>
          <p:cNvSpPr/>
          <p:nvPr/>
        </p:nvSpPr>
        <p:spPr>
          <a:xfrm>
            <a:off x="3044952" y="0"/>
            <a:ext cx="3044952" cy="109728"/>
          </a:xfrm>
          <a:prstGeom prst="rect">
            <a:avLst/>
          </a:prstGeom>
          <a:solidFill>
            <a:srgbClr val="276749"/>
          </a:solidFill>
          <a:ln w="12700">
            <a:solidFill>
              <a:srgbClr val="276749"/>
            </a:solidFill>
            <a:prstDash val="solid"/>
          </a:ln>
        </p:spPr>
        <p:txBody>
          <a:bodyPr/>
          <a:lstStyle/>
          <a:p>
            <a:endParaRPr lang="en-US"/>
          </a:p>
        </p:txBody>
      </p:sp>
      <p:sp>
        <p:nvSpPr>
          <p:cNvPr id="4" name="Shape 2"/>
          <p:cNvSpPr/>
          <p:nvPr/>
        </p:nvSpPr>
        <p:spPr>
          <a:xfrm>
            <a:off x="6099048" y="0"/>
            <a:ext cx="3044952" cy="109728"/>
          </a:xfrm>
          <a:prstGeom prst="rect">
            <a:avLst/>
          </a:prstGeom>
          <a:solidFill>
            <a:srgbClr val="553C9A"/>
          </a:solidFill>
          <a:ln w="12700">
            <a:solidFill>
              <a:srgbClr val="553C9A"/>
            </a:solidFill>
            <a:prstDash val="solid"/>
          </a:ln>
        </p:spPr>
        <p:txBody>
          <a:bodyPr/>
          <a:lstStyle/>
          <a:p>
            <a:endParaRPr lang="en-US"/>
          </a:p>
        </p:txBody>
      </p:sp>
      <p:sp>
        <p:nvSpPr>
          <p:cNvPr id="5" name="Text 3"/>
          <p:cNvSpPr/>
          <p:nvPr/>
        </p:nvSpPr>
        <p:spPr>
          <a:xfrm>
            <a:off x="457200" y="201168"/>
            <a:ext cx="8229600" cy="47548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Summary</a:t>
            </a:r>
            <a:endParaRPr lang="en-US" sz="2200" dirty="0"/>
          </a:p>
        </p:txBody>
      </p:sp>
      <p:sp>
        <p:nvSpPr>
          <p:cNvPr id="6" name="Shape 4"/>
          <p:cNvSpPr/>
          <p:nvPr/>
        </p:nvSpPr>
        <p:spPr>
          <a:xfrm>
            <a:off x="320040" y="868680"/>
            <a:ext cx="2743200" cy="2852928"/>
          </a:xfrm>
          <a:prstGeom prst="rect">
            <a:avLst/>
          </a:prstGeom>
          <a:solidFill>
            <a:srgbClr val="FFFFFF"/>
          </a:solidFill>
          <a:ln w="19050">
            <a:solidFill>
              <a:srgbClr val="0987A0"/>
            </a:solidFill>
            <a:prstDash val="solid"/>
          </a:ln>
          <a:effectLst>
            <a:outerShdw blurRad="63500" dist="25400" dir="8100000" algn="bl" rotWithShape="0">
              <a:srgbClr val="000000">
                <a:alpha val="8000"/>
              </a:srgbClr>
            </a:outerShdw>
          </a:effectLst>
        </p:spPr>
        <p:txBody>
          <a:bodyPr/>
          <a:lstStyle/>
          <a:p>
            <a:endParaRPr lang="en-US"/>
          </a:p>
        </p:txBody>
      </p:sp>
      <p:sp>
        <p:nvSpPr>
          <p:cNvPr id="7" name="Shape 5"/>
          <p:cNvSpPr/>
          <p:nvPr/>
        </p:nvSpPr>
        <p:spPr>
          <a:xfrm>
            <a:off x="320040" y="868680"/>
            <a:ext cx="2743200" cy="64008"/>
          </a:xfrm>
          <a:prstGeom prst="rect">
            <a:avLst/>
          </a:prstGeom>
          <a:solidFill>
            <a:srgbClr val="0987A0"/>
          </a:solidFill>
          <a:ln w="12700">
            <a:solidFill>
              <a:srgbClr val="0987A0"/>
            </a:solidFill>
            <a:prstDash val="solid"/>
          </a:ln>
        </p:spPr>
        <p:txBody>
          <a:bodyPr/>
          <a:lstStyle/>
          <a:p>
            <a:endParaRPr lang="en-US"/>
          </a:p>
        </p:txBody>
      </p:sp>
      <p:sp>
        <p:nvSpPr>
          <p:cNvPr id="8" name="Shape 6"/>
          <p:cNvSpPr/>
          <p:nvPr/>
        </p:nvSpPr>
        <p:spPr>
          <a:xfrm>
            <a:off x="1325880" y="969264"/>
            <a:ext cx="731520" cy="731520"/>
          </a:xfrm>
          <a:prstGeom prst="ellipse">
            <a:avLst/>
          </a:prstGeom>
          <a:solidFill>
            <a:srgbClr val="E6F6F9"/>
          </a:solidFill>
          <a:ln w="25400">
            <a:solidFill>
              <a:srgbClr val="0987A0"/>
            </a:solidFill>
            <a:prstDash val="solid"/>
          </a:ln>
        </p:spPr>
        <p:txBody>
          <a:bodyPr/>
          <a:lstStyle/>
          <a:p>
            <a:endParaRPr lang="en-US"/>
          </a:p>
        </p:txBody>
      </p:sp>
      <p:sp>
        <p:nvSpPr>
          <p:cNvPr id="9" name="Text 7"/>
          <p:cNvSpPr/>
          <p:nvPr/>
        </p:nvSpPr>
        <p:spPr>
          <a:xfrm>
            <a:off x="1325880" y="969264"/>
            <a:ext cx="731520" cy="731520"/>
          </a:xfrm>
          <a:prstGeom prst="rect">
            <a:avLst/>
          </a:prstGeom>
          <a:noFill/>
          <a:ln/>
        </p:spPr>
        <p:txBody>
          <a:bodyPr wrap="square" rtlCol="0" anchor="ctr"/>
          <a:lstStyle/>
          <a:p>
            <a:pPr marL="0" indent="0" algn="ctr">
              <a:buNone/>
            </a:pPr>
            <a:r>
              <a:rPr lang="en-US" sz="1400" b="1" dirty="0">
                <a:solidFill>
                  <a:srgbClr val="0987A0"/>
                </a:solidFill>
                <a:latin typeface="Trebuchet MS" pitchFamily="34" charset="0"/>
                <a:ea typeface="Trebuchet MS" pitchFamily="34" charset="-122"/>
                <a:cs typeface="Trebuchet MS" pitchFamily="34" charset="-120"/>
              </a:rPr>
              <a:t>CNN</a:t>
            </a:r>
            <a:endParaRPr lang="en-US" sz="1400" dirty="0"/>
          </a:p>
        </p:txBody>
      </p:sp>
      <p:sp>
        <p:nvSpPr>
          <p:cNvPr id="10" name="Text 8"/>
          <p:cNvSpPr/>
          <p:nvPr/>
        </p:nvSpPr>
        <p:spPr>
          <a:xfrm>
            <a:off x="429768" y="1783080"/>
            <a:ext cx="2523744" cy="274320"/>
          </a:xfrm>
          <a:prstGeom prst="rect">
            <a:avLst/>
          </a:prstGeom>
          <a:noFill/>
          <a:ln/>
        </p:spPr>
        <p:txBody>
          <a:bodyPr wrap="square" lIns="0" tIns="0" rIns="0" bIns="0" rtlCol="0" anchor="ctr"/>
          <a:lstStyle/>
          <a:p>
            <a:pPr marL="0" indent="0" algn="ctr">
              <a:buNone/>
            </a:pPr>
            <a:r>
              <a:rPr lang="en-US" sz="1100" b="1" dirty="0">
                <a:solidFill>
                  <a:srgbClr val="1E3A5F"/>
                </a:solidFill>
                <a:latin typeface="Trebuchet MS" pitchFamily="34" charset="0"/>
                <a:ea typeface="Trebuchet MS" pitchFamily="34" charset="-122"/>
                <a:cs typeface="Trebuchet MS" pitchFamily="34" charset="-120"/>
              </a:rPr>
              <a:t>The Eyes of AI</a:t>
            </a:r>
            <a:endParaRPr lang="en-US" sz="1100" dirty="0"/>
          </a:p>
        </p:txBody>
      </p:sp>
      <p:sp>
        <p:nvSpPr>
          <p:cNvPr id="11" name="Text 9"/>
          <p:cNvSpPr/>
          <p:nvPr/>
        </p:nvSpPr>
        <p:spPr>
          <a:xfrm>
            <a:off x="484632" y="2121408"/>
            <a:ext cx="2423160" cy="1536192"/>
          </a:xfrm>
          <a:prstGeom prst="rect">
            <a:avLst/>
          </a:prstGeom>
          <a:noFill/>
          <a:ln/>
        </p:spPr>
        <p:txBody>
          <a:bodyPr wrap="square" rtlCol="0" anchor="ctr"/>
          <a:lstStyle/>
          <a:p>
            <a:pPr marL="342900" indent="-342900">
              <a:spcAft>
                <a:spcPts val="400"/>
              </a:spcAft>
              <a:buSzPct val="100000"/>
              <a:buChar char="•"/>
            </a:pPr>
            <a:r>
              <a:rPr lang="en-US" sz="1000" dirty="0">
                <a:solidFill>
                  <a:srgbClr val="2D3748"/>
                </a:solidFill>
                <a:latin typeface="Calibri" pitchFamily="34" charset="0"/>
                <a:ea typeface="Calibri" pitchFamily="34" charset="-122"/>
                <a:cs typeface="Calibri" pitchFamily="34" charset="-120"/>
              </a:rPr>
              <a:t>Designed for spatial data — images and grids</a:t>
            </a:r>
            <a:endParaRPr lang="en-US" sz="1000" dirty="0"/>
          </a:p>
          <a:p>
            <a:pPr marL="342900" indent="-342900">
              <a:spcAft>
                <a:spcPts val="400"/>
              </a:spcAft>
              <a:buSzPct val="100000"/>
              <a:buChar char="•"/>
            </a:pPr>
            <a:r>
              <a:rPr lang="en-US" sz="1000" dirty="0">
                <a:solidFill>
                  <a:srgbClr val="2D3748"/>
                </a:solidFill>
                <a:latin typeface="Calibri" pitchFamily="34" charset="0"/>
                <a:ea typeface="Calibri" pitchFamily="34" charset="-122"/>
                <a:cs typeface="Calibri" pitchFamily="34" charset="-120"/>
              </a:rPr>
              <a:t>Convolution detects features — edges → shapes → objects</a:t>
            </a:r>
            <a:endParaRPr lang="en-US" sz="1000" dirty="0"/>
          </a:p>
          <a:p>
            <a:pPr marL="342900" indent="-342900">
              <a:spcAft>
                <a:spcPts val="400"/>
              </a:spcAft>
              <a:buSzPct val="100000"/>
              <a:buChar char="•"/>
            </a:pPr>
            <a:r>
              <a:rPr lang="en-US" sz="1000" dirty="0">
                <a:solidFill>
                  <a:srgbClr val="2D3748"/>
                </a:solidFill>
                <a:latin typeface="Calibri" pitchFamily="34" charset="0"/>
                <a:ea typeface="Calibri" pitchFamily="34" charset="-122"/>
                <a:cs typeface="Calibri" pitchFamily="34" charset="-120"/>
              </a:rPr>
              <a:t>Powers computer vision applications worldwide</a:t>
            </a:r>
            <a:endParaRPr lang="en-US" sz="1000" dirty="0"/>
          </a:p>
        </p:txBody>
      </p:sp>
      <p:sp>
        <p:nvSpPr>
          <p:cNvPr id="12" name="Shape 10"/>
          <p:cNvSpPr/>
          <p:nvPr/>
        </p:nvSpPr>
        <p:spPr>
          <a:xfrm>
            <a:off x="3227832" y="868680"/>
            <a:ext cx="2743200" cy="2852928"/>
          </a:xfrm>
          <a:prstGeom prst="rect">
            <a:avLst/>
          </a:prstGeom>
          <a:solidFill>
            <a:srgbClr val="FFFFFF"/>
          </a:solidFill>
          <a:ln w="19050">
            <a:solidFill>
              <a:srgbClr val="276749"/>
            </a:solidFill>
            <a:prstDash val="solid"/>
          </a:ln>
          <a:effectLst>
            <a:outerShdw blurRad="63500" dist="25400" dir="8100000" algn="bl" rotWithShape="0">
              <a:srgbClr val="000000">
                <a:alpha val="8000"/>
              </a:srgbClr>
            </a:outerShdw>
          </a:effectLst>
        </p:spPr>
        <p:txBody>
          <a:bodyPr/>
          <a:lstStyle/>
          <a:p>
            <a:endParaRPr lang="en-US"/>
          </a:p>
        </p:txBody>
      </p:sp>
      <p:sp>
        <p:nvSpPr>
          <p:cNvPr id="13" name="Shape 11"/>
          <p:cNvSpPr/>
          <p:nvPr/>
        </p:nvSpPr>
        <p:spPr>
          <a:xfrm>
            <a:off x="3227832" y="868680"/>
            <a:ext cx="2743200" cy="64008"/>
          </a:xfrm>
          <a:prstGeom prst="rect">
            <a:avLst/>
          </a:prstGeom>
          <a:solidFill>
            <a:srgbClr val="276749"/>
          </a:solidFill>
          <a:ln w="12700">
            <a:solidFill>
              <a:srgbClr val="276749"/>
            </a:solidFill>
            <a:prstDash val="solid"/>
          </a:ln>
        </p:spPr>
        <p:txBody>
          <a:bodyPr/>
          <a:lstStyle/>
          <a:p>
            <a:endParaRPr lang="en-US"/>
          </a:p>
        </p:txBody>
      </p:sp>
      <p:sp>
        <p:nvSpPr>
          <p:cNvPr id="14" name="Shape 12"/>
          <p:cNvSpPr/>
          <p:nvPr/>
        </p:nvSpPr>
        <p:spPr>
          <a:xfrm>
            <a:off x="4233672" y="969264"/>
            <a:ext cx="731520" cy="731520"/>
          </a:xfrm>
          <a:prstGeom prst="ellipse">
            <a:avLst/>
          </a:prstGeom>
          <a:solidFill>
            <a:srgbClr val="E6F4EC"/>
          </a:solidFill>
          <a:ln w="25400">
            <a:solidFill>
              <a:srgbClr val="276749"/>
            </a:solidFill>
            <a:prstDash val="solid"/>
          </a:ln>
        </p:spPr>
        <p:txBody>
          <a:bodyPr/>
          <a:lstStyle/>
          <a:p>
            <a:endParaRPr lang="en-US"/>
          </a:p>
        </p:txBody>
      </p:sp>
      <p:sp>
        <p:nvSpPr>
          <p:cNvPr id="15" name="Text 13"/>
          <p:cNvSpPr/>
          <p:nvPr/>
        </p:nvSpPr>
        <p:spPr>
          <a:xfrm>
            <a:off x="4233672" y="969264"/>
            <a:ext cx="731520" cy="731520"/>
          </a:xfrm>
          <a:prstGeom prst="rect">
            <a:avLst/>
          </a:prstGeom>
          <a:noFill/>
          <a:ln/>
        </p:spPr>
        <p:txBody>
          <a:bodyPr wrap="square" rtlCol="0" anchor="ctr"/>
          <a:lstStyle/>
          <a:p>
            <a:pPr marL="0" indent="0" algn="ctr">
              <a:buNone/>
            </a:pPr>
            <a:r>
              <a:rPr lang="en-US" sz="1400" b="1" dirty="0">
                <a:solidFill>
                  <a:srgbClr val="276749"/>
                </a:solidFill>
                <a:latin typeface="Trebuchet MS" pitchFamily="34" charset="0"/>
                <a:ea typeface="Trebuchet MS" pitchFamily="34" charset="-122"/>
                <a:cs typeface="Trebuchet MS" pitchFamily="34" charset="-120"/>
              </a:rPr>
              <a:t>RNN</a:t>
            </a:r>
            <a:endParaRPr lang="en-US" sz="1400" dirty="0"/>
          </a:p>
        </p:txBody>
      </p:sp>
      <p:sp>
        <p:nvSpPr>
          <p:cNvPr id="16" name="Text 14"/>
          <p:cNvSpPr/>
          <p:nvPr/>
        </p:nvSpPr>
        <p:spPr>
          <a:xfrm>
            <a:off x="3337560" y="1783080"/>
            <a:ext cx="2523744" cy="274320"/>
          </a:xfrm>
          <a:prstGeom prst="rect">
            <a:avLst/>
          </a:prstGeom>
          <a:noFill/>
          <a:ln/>
        </p:spPr>
        <p:txBody>
          <a:bodyPr wrap="square" lIns="0" tIns="0" rIns="0" bIns="0" rtlCol="0" anchor="ctr"/>
          <a:lstStyle/>
          <a:p>
            <a:pPr marL="0" indent="0" algn="ctr">
              <a:buNone/>
            </a:pPr>
            <a:r>
              <a:rPr lang="en-US" sz="1100" b="1" dirty="0">
                <a:solidFill>
                  <a:srgbClr val="1E3A5F"/>
                </a:solidFill>
                <a:latin typeface="Trebuchet MS" pitchFamily="34" charset="0"/>
                <a:ea typeface="Trebuchet MS" pitchFamily="34" charset="-122"/>
                <a:cs typeface="Trebuchet MS" pitchFamily="34" charset="-120"/>
              </a:rPr>
              <a:t>The Memory of AI</a:t>
            </a:r>
            <a:endParaRPr lang="en-US" sz="1100" dirty="0"/>
          </a:p>
        </p:txBody>
      </p:sp>
      <p:sp>
        <p:nvSpPr>
          <p:cNvPr id="17" name="Text 15"/>
          <p:cNvSpPr/>
          <p:nvPr/>
        </p:nvSpPr>
        <p:spPr>
          <a:xfrm>
            <a:off x="3392424" y="2121408"/>
            <a:ext cx="2423160" cy="1536192"/>
          </a:xfrm>
          <a:prstGeom prst="rect">
            <a:avLst/>
          </a:prstGeom>
          <a:noFill/>
          <a:ln/>
        </p:spPr>
        <p:txBody>
          <a:bodyPr wrap="square" rtlCol="0" anchor="ctr"/>
          <a:lstStyle/>
          <a:p>
            <a:pPr marL="342900" indent="-342900">
              <a:spcAft>
                <a:spcPts val="400"/>
              </a:spcAft>
              <a:buSzPct val="100000"/>
              <a:buChar char="•"/>
            </a:pPr>
            <a:r>
              <a:rPr lang="en-US" sz="1000" dirty="0">
                <a:solidFill>
                  <a:srgbClr val="2D3748"/>
                </a:solidFill>
                <a:latin typeface="Calibri" pitchFamily="34" charset="0"/>
                <a:ea typeface="Calibri" pitchFamily="34" charset="-122"/>
                <a:cs typeface="Calibri" pitchFamily="34" charset="-120"/>
              </a:rPr>
              <a:t>Designed for sequential data — text, speech, time</a:t>
            </a:r>
            <a:endParaRPr lang="en-US" sz="1000" dirty="0"/>
          </a:p>
          <a:p>
            <a:pPr marL="342900" indent="-342900">
              <a:spcAft>
                <a:spcPts val="400"/>
              </a:spcAft>
              <a:buSzPct val="100000"/>
              <a:buChar char="•"/>
            </a:pPr>
            <a:r>
              <a:rPr lang="en-US" sz="1000" dirty="0">
                <a:solidFill>
                  <a:srgbClr val="2D3748"/>
                </a:solidFill>
                <a:latin typeface="Calibri" pitchFamily="34" charset="0"/>
                <a:ea typeface="Calibri" pitchFamily="34" charset="-122"/>
                <a:cs typeface="Calibri" pitchFamily="34" charset="-120"/>
              </a:rPr>
              <a:t>Hidden state carries context across time steps</a:t>
            </a:r>
            <a:endParaRPr lang="en-US" sz="1000" dirty="0"/>
          </a:p>
          <a:p>
            <a:pPr marL="342900" indent="-342900">
              <a:spcAft>
                <a:spcPts val="400"/>
              </a:spcAft>
              <a:buSzPct val="100000"/>
              <a:buChar char="•"/>
            </a:pPr>
            <a:r>
              <a:rPr lang="en-US" sz="1000" dirty="0">
                <a:solidFill>
                  <a:srgbClr val="2D3748"/>
                </a:solidFill>
                <a:latin typeface="Calibri" pitchFamily="34" charset="0"/>
                <a:ea typeface="Calibri" pitchFamily="34" charset="-122"/>
                <a:cs typeface="Calibri" pitchFamily="34" charset="-120"/>
              </a:rPr>
              <a:t>LSTM and GRU solve vanishing gradient problem</a:t>
            </a:r>
            <a:endParaRPr lang="en-US" sz="1000" dirty="0"/>
          </a:p>
        </p:txBody>
      </p:sp>
      <p:sp>
        <p:nvSpPr>
          <p:cNvPr id="18" name="Shape 16"/>
          <p:cNvSpPr/>
          <p:nvPr/>
        </p:nvSpPr>
        <p:spPr>
          <a:xfrm>
            <a:off x="6135624" y="868680"/>
            <a:ext cx="2743200" cy="2852928"/>
          </a:xfrm>
          <a:prstGeom prst="rect">
            <a:avLst/>
          </a:prstGeom>
          <a:solidFill>
            <a:srgbClr val="FFFFFF"/>
          </a:solidFill>
          <a:ln w="19050">
            <a:solidFill>
              <a:srgbClr val="553C9A"/>
            </a:solidFill>
            <a:prstDash val="solid"/>
          </a:ln>
          <a:effectLst>
            <a:outerShdw blurRad="63500" dist="25400" dir="8100000" algn="bl" rotWithShape="0">
              <a:srgbClr val="000000">
                <a:alpha val="8000"/>
              </a:srgbClr>
            </a:outerShdw>
          </a:effectLst>
        </p:spPr>
        <p:txBody>
          <a:bodyPr/>
          <a:lstStyle/>
          <a:p>
            <a:endParaRPr lang="en-US"/>
          </a:p>
        </p:txBody>
      </p:sp>
      <p:sp>
        <p:nvSpPr>
          <p:cNvPr id="19" name="Shape 17"/>
          <p:cNvSpPr/>
          <p:nvPr/>
        </p:nvSpPr>
        <p:spPr>
          <a:xfrm>
            <a:off x="6135624" y="868680"/>
            <a:ext cx="2743200" cy="64008"/>
          </a:xfrm>
          <a:prstGeom prst="rect">
            <a:avLst/>
          </a:prstGeom>
          <a:solidFill>
            <a:srgbClr val="553C9A"/>
          </a:solidFill>
          <a:ln w="12700">
            <a:solidFill>
              <a:srgbClr val="553C9A"/>
            </a:solidFill>
            <a:prstDash val="solid"/>
          </a:ln>
        </p:spPr>
        <p:txBody>
          <a:bodyPr/>
          <a:lstStyle/>
          <a:p>
            <a:endParaRPr lang="en-US"/>
          </a:p>
        </p:txBody>
      </p:sp>
      <p:sp>
        <p:nvSpPr>
          <p:cNvPr id="20" name="Shape 18"/>
          <p:cNvSpPr/>
          <p:nvPr/>
        </p:nvSpPr>
        <p:spPr>
          <a:xfrm>
            <a:off x="7141464" y="969264"/>
            <a:ext cx="731520" cy="731520"/>
          </a:xfrm>
          <a:prstGeom prst="ellipse">
            <a:avLst/>
          </a:prstGeom>
          <a:solidFill>
            <a:srgbClr val="EDE9F6"/>
          </a:solidFill>
          <a:ln w="25400">
            <a:solidFill>
              <a:srgbClr val="553C9A"/>
            </a:solidFill>
            <a:prstDash val="solid"/>
          </a:ln>
        </p:spPr>
        <p:txBody>
          <a:bodyPr/>
          <a:lstStyle/>
          <a:p>
            <a:endParaRPr lang="en-US"/>
          </a:p>
        </p:txBody>
      </p:sp>
      <p:sp>
        <p:nvSpPr>
          <p:cNvPr id="21" name="Text 19"/>
          <p:cNvSpPr/>
          <p:nvPr/>
        </p:nvSpPr>
        <p:spPr>
          <a:xfrm>
            <a:off x="7141464" y="969264"/>
            <a:ext cx="731520" cy="731520"/>
          </a:xfrm>
          <a:prstGeom prst="rect">
            <a:avLst/>
          </a:prstGeom>
          <a:noFill/>
          <a:ln/>
        </p:spPr>
        <p:txBody>
          <a:bodyPr wrap="square" rtlCol="0" anchor="ctr"/>
          <a:lstStyle/>
          <a:p>
            <a:pPr marL="0" indent="0" algn="ctr">
              <a:buNone/>
            </a:pPr>
            <a:r>
              <a:rPr lang="en-US" sz="1400" b="1" dirty="0">
                <a:solidFill>
                  <a:srgbClr val="553C9A"/>
                </a:solidFill>
                <a:latin typeface="Trebuchet MS" pitchFamily="34" charset="0"/>
                <a:ea typeface="Trebuchet MS" pitchFamily="34" charset="-122"/>
                <a:cs typeface="Trebuchet MS" pitchFamily="34" charset="-120"/>
              </a:rPr>
              <a:t>GAN</a:t>
            </a:r>
            <a:endParaRPr lang="en-US" sz="1400" dirty="0"/>
          </a:p>
        </p:txBody>
      </p:sp>
      <p:sp>
        <p:nvSpPr>
          <p:cNvPr id="22" name="Text 20"/>
          <p:cNvSpPr/>
          <p:nvPr/>
        </p:nvSpPr>
        <p:spPr>
          <a:xfrm>
            <a:off x="6245352" y="1783080"/>
            <a:ext cx="2523744" cy="274320"/>
          </a:xfrm>
          <a:prstGeom prst="rect">
            <a:avLst/>
          </a:prstGeom>
          <a:noFill/>
          <a:ln/>
        </p:spPr>
        <p:txBody>
          <a:bodyPr wrap="square" lIns="0" tIns="0" rIns="0" bIns="0" rtlCol="0" anchor="ctr"/>
          <a:lstStyle/>
          <a:p>
            <a:pPr marL="0" indent="0" algn="ctr">
              <a:buNone/>
            </a:pPr>
            <a:r>
              <a:rPr lang="en-US" sz="1100" b="1" dirty="0">
                <a:solidFill>
                  <a:srgbClr val="1E3A5F"/>
                </a:solidFill>
                <a:latin typeface="Trebuchet MS" pitchFamily="34" charset="0"/>
                <a:ea typeface="Trebuchet MS" pitchFamily="34" charset="-122"/>
                <a:cs typeface="Trebuchet MS" pitchFamily="34" charset="-120"/>
              </a:rPr>
              <a:t>The Imagination of AI</a:t>
            </a:r>
            <a:endParaRPr lang="en-US" sz="1100" dirty="0"/>
          </a:p>
        </p:txBody>
      </p:sp>
      <p:sp>
        <p:nvSpPr>
          <p:cNvPr id="23" name="Text 21"/>
          <p:cNvSpPr/>
          <p:nvPr/>
        </p:nvSpPr>
        <p:spPr>
          <a:xfrm>
            <a:off x="6300216" y="2121408"/>
            <a:ext cx="2423160" cy="1536192"/>
          </a:xfrm>
          <a:prstGeom prst="rect">
            <a:avLst/>
          </a:prstGeom>
          <a:noFill/>
          <a:ln/>
        </p:spPr>
        <p:txBody>
          <a:bodyPr wrap="square" rtlCol="0" anchor="ctr"/>
          <a:lstStyle/>
          <a:p>
            <a:pPr marL="342900" indent="-342900">
              <a:spcAft>
                <a:spcPts val="400"/>
              </a:spcAft>
              <a:buSzPct val="100000"/>
              <a:buChar char="•"/>
            </a:pPr>
            <a:r>
              <a:rPr lang="en-US" sz="1000" dirty="0">
                <a:solidFill>
                  <a:srgbClr val="2D3748"/>
                </a:solidFill>
                <a:latin typeface="Calibri" pitchFamily="34" charset="0"/>
                <a:ea typeface="Calibri" pitchFamily="34" charset="-122"/>
                <a:cs typeface="Calibri" pitchFamily="34" charset="-120"/>
              </a:rPr>
              <a:t>Two competing networks — Generator vs Discriminator</a:t>
            </a:r>
            <a:endParaRPr lang="en-US" sz="1000" dirty="0"/>
          </a:p>
          <a:p>
            <a:pPr marL="342900" indent="-342900">
              <a:spcAft>
                <a:spcPts val="400"/>
              </a:spcAft>
              <a:buSzPct val="100000"/>
              <a:buChar char="•"/>
            </a:pPr>
            <a:r>
              <a:rPr lang="en-US" sz="1000" dirty="0">
                <a:solidFill>
                  <a:srgbClr val="2D3748"/>
                </a:solidFill>
                <a:latin typeface="Calibri" pitchFamily="34" charset="0"/>
                <a:ea typeface="Calibri" pitchFamily="34" charset="-122"/>
                <a:cs typeface="Calibri" pitchFamily="34" charset="-120"/>
              </a:rPr>
              <a:t>Adversarial training produces realistic synthetic data</a:t>
            </a:r>
            <a:endParaRPr lang="en-US" sz="1000" dirty="0"/>
          </a:p>
          <a:p>
            <a:pPr marL="342900" indent="-342900">
              <a:spcAft>
                <a:spcPts val="400"/>
              </a:spcAft>
              <a:buSzPct val="100000"/>
              <a:buChar char="•"/>
            </a:pPr>
            <a:r>
              <a:rPr lang="en-US" sz="1000" dirty="0">
                <a:solidFill>
                  <a:srgbClr val="2D3748"/>
                </a:solidFill>
                <a:latin typeface="Calibri" pitchFamily="34" charset="0"/>
                <a:ea typeface="Calibri" pitchFamily="34" charset="-122"/>
                <a:cs typeface="Calibri" pitchFamily="34" charset="-120"/>
              </a:rPr>
              <a:t>Powers generative AI — art, deepfakes, drug discovery</a:t>
            </a:r>
            <a:endParaRPr lang="en-US" sz="1000" dirty="0"/>
          </a:p>
        </p:txBody>
      </p:sp>
      <p:sp>
        <p:nvSpPr>
          <p:cNvPr id="24" name="Shape 22"/>
          <p:cNvSpPr/>
          <p:nvPr/>
        </p:nvSpPr>
        <p:spPr>
          <a:xfrm>
            <a:off x="320040" y="3858768"/>
            <a:ext cx="8503920" cy="804672"/>
          </a:xfrm>
          <a:prstGeom prst="rect">
            <a:avLst/>
          </a:prstGeom>
          <a:solidFill>
            <a:srgbClr val="B7791F">
              <a:alpha val="15000"/>
            </a:srgbClr>
          </a:solidFill>
          <a:ln w="19050">
            <a:solidFill>
              <a:srgbClr val="B7791F"/>
            </a:solidFill>
            <a:prstDash val="solid"/>
          </a:ln>
        </p:spPr>
        <p:txBody>
          <a:bodyPr/>
          <a:lstStyle/>
          <a:p>
            <a:endParaRPr lang="en-US"/>
          </a:p>
        </p:txBody>
      </p:sp>
      <p:sp>
        <p:nvSpPr>
          <p:cNvPr id="25" name="Shape 23"/>
          <p:cNvSpPr/>
          <p:nvPr/>
        </p:nvSpPr>
        <p:spPr>
          <a:xfrm>
            <a:off x="320040" y="3858768"/>
            <a:ext cx="201168" cy="804672"/>
          </a:xfrm>
          <a:prstGeom prst="rect">
            <a:avLst/>
          </a:prstGeom>
          <a:solidFill>
            <a:srgbClr val="B7791F"/>
          </a:solidFill>
          <a:ln w="12700">
            <a:solidFill>
              <a:srgbClr val="B7791F"/>
            </a:solidFill>
            <a:prstDash val="solid"/>
          </a:ln>
        </p:spPr>
        <p:txBody>
          <a:bodyPr/>
          <a:lstStyle/>
          <a:p>
            <a:endParaRPr lang="en-US"/>
          </a:p>
        </p:txBody>
      </p:sp>
      <p:sp>
        <p:nvSpPr>
          <p:cNvPr id="26" name="Text 24"/>
          <p:cNvSpPr/>
          <p:nvPr/>
        </p:nvSpPr>
        <p:spPr>
          <a:xfrm>
            <a:off x="640080" y="3931920"/>
            <a:ext cx="8046720" cy="658368"/>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"CNN gave machines the ability to see.  RNN gave them the ability to understand language.  GAN gave them the ability to create.  These three architectures are the foundation on which the future of AI is being built."</a:t>
            </a:r>
            <a:endParaRPr lang="en-US" sz="1100" dirty="0"/>
          </a:p>
        </p:txBody>
      </p:sp>
      <p:sp>
        <p:nvSpPr>
          <p:cNvPr id="27" name="Shape 25"/>
          <p:cNvSpPr/>
          <p:nvPr/>
        </p:nvSpPr>
        <p:spPr>
          <a:xfrm>
            <a:off x="0" y="4828032"/>
            <a:ext cx="9144000" cy="315468"/>
          </a:xfrm>
          <a:prstGeom prst="rect">
            <a:avLst/>
          </a:prstGeom>
          <a:solidFill>
            <a:srgbClr val="FFFFFF">
              <a:alpha val="95000"/>
            </a:srgbClr>
          </a:solidFill>
          <a:ln/>
        </p:spPr>
        <p:txBody>
          <a:bodyPr/>
          <a:lstStyle/>
          <a:p>
            <a:endParaRPr lang="en-US"/>
          </a:p>
        </p:txBody>
      </p:sp>
      <p:sp>
        <p:nvSpPr>
          <p:cNvPr id="28" name="Text 26"/>
          <p:cNvSpPr/>
          <p:nvPr/>
        </p:nvSpPr>
        <p:spPr>
          <a:xfrm>
            <a:off x="0" y="4828032"/>
            <a:ext cx="9144000" cy="315468"/>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CNN  ·  Convolutional Neural Network          RNN  ·  Recurrent Neural Network          GAN  ·  Generative Adversarial Network</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TotalTime>
  <Words>7782</Words>
  <Application>Microsoft Office PowerPoint</Application>
  <PresentationFormat>On-screen Show (16:9)</PresentationFormat>
  <Paragraphs>1676</Paragraphs>
  <Slides>91</Slides>
  <Notes>88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91</vt:i4>
      </vt:variant>
    </vt:vector>
  </HeadingPairs>
  <TitlesOfParts>
    <vt:vector size="97" baseType="lpstr">
      <vt:lpstr>Arial</vt:lpstr>
      <vt:lpstr>Calibri</vt:lpstr>
      <vt:lpstr>Consolas</vt:lpstr>
      <vt:lpstr>Courier New</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Machine Learning</dc:title>
  <dc:subject>PptxGenJS Presentation</dc:subject>
  <dc:creator>PptxGenJS</dc:creator>
  <cp:lastModifiedBy>Sinmbf Lost</cp:lastModifiedBy>
  <cp:revision>56</cp:revision>
  <dcterms:created xsi:type="dcterms:W3CDTF">2026-04-08T17:45:49Z</dcterms:created>
  <dcterms:modified xsi:type="dcterms:W3CDTF">2026-04-13T04:44:11Z</dcterms:modified>
</cp:coreProperties>
</file>