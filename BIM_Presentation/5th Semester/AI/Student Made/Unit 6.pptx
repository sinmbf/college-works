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8" r:id="rId40"/>
    <p:sldId id="299" r:id="rId41"/>
    <p:sldId id="300" r:id="rId42"/>
    <p:sldId id="295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CB0"/>
    <a:srgbClr val="0D1B2A"/>
    <a:srgbClr val="F0F7FF"/>
    <a:srgbClr val="1B4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08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29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112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356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870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74320"/>
            <a:ext cx="3840480" cy="3840480"/>
          </a:xfrm>
          <a:prstGeom prst="ellipse">
            <a:avLst/>
          </a:prstGeom>
          <a:solidFill>
            <a:srgbClr val="1B4F72">
              <a:alpha val="22000"/>
            </a:srgbClr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822960"/>
            <a:ext cx="2743200" cy="2743200"/>
          </a:xfrm>
          <a:prstGeom prst="ellipse">
            <a:avLst/>
          </a:prstGeom>
          <a:solidFill>
            <a:srgbClr val="1A9CB0">
              <a:alpha val="15000"/>
            </a:srgbClr>
          </a:solidFill>
          <a:ln w="6350">
            <a:solidFill>
              <a:srgbClr val="1A9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Architecture &amp; Development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4114800" cy="27432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28416"/>
            <a:ext cx="640080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Poudel</a:t>
            </a:r>
            <a:endParaRPr lang="en-US" sz="1200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Subina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Maharjan</a:t>
            </a:r>
            <a:endParaRPr lang="en-US" sz="1200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Lumana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Manandhar</a:t>
            </a:r>
            <a:endParaRPr lang="en-US" sz="1200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Regisha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Maharjan</a:t>
            </a:r>
            <a:endParaRPr lang="en-US" sz="1200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Chaudhary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Preshna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81171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Unit 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Unit 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8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-82446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097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29000" y="1121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System(ES)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29000" y="1715704"/>
            <a:ext cx="5394960" cy="182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System is a branch of AI that focuses on mimicking human experts in specific domains such as healthcare and medicine.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System is an “Intelligent” program that solve problem in narrow Area with high level of speciality.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rules and knowledge to solve problems.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-24063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Expert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868680"/>
            <a:ext cx="2788920" cy="119834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68680"/>
            <a:ext cx="27889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215190"/>
            <a:ext cx="2606040" cy="16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system's conclusions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45536" y="868680"/>
            <a:ext cx="2788920" cy="119834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868680"/>
            <a:ext cx="27889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36976" y="1215190"/>
            <a:ext cx="2606040" cy="16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 &amp; result display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868680"/>
            <a:ext cx="2788920" cy="119834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868680"/>
            <a:ext cx="27889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1215190"/>
            <a:ext cx="2606040" cy="16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logic — forward &amp; backward chaining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0688" y="2880360"/>
            <a:ext cx="2788920" cy="119834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880360"/>
            <a:ext cx="27889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535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" y="3226870"/>
            <a:ext cx="2606040" cy="16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domain facts &amp; IF-THEN rules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45536" y="2880360"/>
            <a:ext cx="2788920" cy="119834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2880360"/>
            <a:ext cx="27889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6976" y="29535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36976" y="3226870"/>
            <a:ext cx="2606040" cy="16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current problem session data</a:t>
            </a:r>
            <a:endParaRPr lang="en-US" sz="12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456" y="2953512"/>
            <a:ext cx="3209544" cy="1200301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4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stores all the domain-specific knowledge required to solve a problem. It includes facts and rules, usually in IF–THEN form, which are collected from human experts.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19" y="1508760"/>
            <a:ext cx="827937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Domain specific Knowledge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extracted &amp; structured into rules/facts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formal representation (logic, frames, scripts)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knowledge: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337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337560"/>
            <a:ext cx="41605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58637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(static truths)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(IF-THEN statements)</a:t>
            </a:r>
            <a:endParaRPr lang="en-US" sz="12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core part of Expert System that is responsible foe reasoning and applying logic to the knowledge base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conclusions and makes decisions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overall execution of the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965960"/>
            <a:ext cx="425196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2423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27432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 hypothesis/goal and works backward to verify if the known facts support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29000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Goal/Hypothesis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31336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Rules that Prove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233672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Verify with Known Facts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0872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1965960"/>
            <a:ext cx="425196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82312" y="2423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27432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known facts and applies rules to derive new conclusions until goal is reached.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429000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831336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Matching Rule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4233672"/>
            <a:ext cx="4023360" cy="34747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Repeat until Goal</a:t>
            </a:r>
            <a:endParaRPr lang="en-US" sz="11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3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4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164645"/>
            <a:ext cx="8595360" cy="1573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between user and expert system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results and explanations clearly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system usable by non-experts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31912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02736"/>
            <a:ext cx="23774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9CB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6027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3602736"/>
            <a:ext cx="237744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A9CB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6027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3602736"/>
            <a:ext cx="237744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1A9CB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6027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3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Global Database or Blackboard — stores temporary facts for the current session.</a:t>
            </a:r>
            <a:endParaRPr lang="en-US" sz="1200" dirty="0"/>
          </a:p>
        </p:txBody>
      </p:sp>
      <p:sp>
        <p:nvSpPr>
          <p:cNvPr id="26" name="Shape 10"/>
          <p:cNvSpPr/>
          <p:nvPr/>
        </p:nvSpPr>
        <p:spPr>
          <a:xfrm>
            <a:off x="411480" y="1627632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1"/>
          <p:cNvSpPr/>
          <p:nvPr/>
        </p:nvSpPr>
        <p:spPr>
          <a:xfrm>
            <a:off x="411480" y="1627632"/>
            <a:ext cx="82296" cy="2606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12"/>
          <p:cNvSpPr/>
          <p:nvPr/>
        </p:nvSpPr>
        <p:spPr>
          <a:xfrm>
            <a:off x="566928" y="17190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66928" y="2029968"/>
            <a:ext cx="3685032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facts specific to the current problem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dynamically as reasoning progresses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facts added by the inference engine stored here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or reset after each session ends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the permanent Knowledge Base</a:t>
            </a:r>
            <a:endParaRPr lang="en-US" sz="14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4526280" y="1627632"/>
            <a:ext cx="4297680" cy="2606040"/>
            <a:chOff x="4480560" y="2148840"/>
            <a:chExt cx="4297680" cy="2606040"/>
          </a:xfrm>
        </p:grpSpPr>
        <p:sp>
          <p:nvSpPr>
            <p:cNvPr id="31" name="Shape 14"/>
            <p:cNvSpPr/>
            <p:nvPr/>
          </p:nvSpPr>
          <p:spPr>
            <a:xfrm>
              <a:off x="4480560" y="2148840"/>
              <a:ext cx="4297680" cy="2606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2" name="Shape 15"/>
            <p:cNvSpPr/>
            <p:nvPr/>
          </p:nvSpPr>
          <p:spPr>
            <a:xfrm>
              <a:off x="4480560" y="2148840"/>
              <a:ext cx="4297680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33" name="Text 16"/>
            <p:cNvSpPr/>
            <p:nvPr/>
          </p:nvSpPr>
          <p:spPr>
            <a:xfrm>
              <a:off x="4526280" y="2167128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Medical Diagnosis Session</a:t>
              </a:r>
              <a:endParaRPr lang="en-US" sz="1150" dirty="0"/>
            </a:p>
          </p:txBody>
        </p:sp>
        <p:sp>
          <p:nvSpPr>
            <p:cNvPr id="34" name="Shape 17"/>
            <p:cNvSpPr/>
            <p:nvPr/>
          </p:nvSpPr>
          <p:spPr>
            <a:xfrm>
              <a:off x="4617720" y="2606040"/>
              <a:ext cx="594360" cy="34747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35" name="Text 18"/>
            <p:cNvSpPr/>
            <p:nvPr/>
          </p:nvSpPr>
          <p:spPr>
            <a:xfrm>
              <a:off x="4617720" y="2606040"/>
              <a:ext cx="594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</a:t>
              </a:r>
              <a:endParaRPr lang="en-US" sz="900" dirty="0"/>
            </a:p>
          </p:txBody>
        </p:sp>
        <p:sp>
          <p:nvSpPr>
            <p:cNvPr id="36" name="Text 19"/>
            <p:cNvSpPr/>
            <p:nvPr/>
          </p:nvSpPr>
          <p:spPr>
            <a:xfrm>
              <a:off x="5257800" y="2624328"/>
              <a:ext cx="34290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Patient: fever 39°C, cough, fatigue</a:t>
              </a:r>
              <a:endParaRPr lang="en-US" sz="1000" dirty="0"/>
            </a:p>
          </p:txBody>
        </p:sp>
        <p:sp>
          <p:nvSpPr>
            <p:cNvPr id="37" name="Shape 20"/>
            <p:cNvSpPr/>
            <p:nvPr/>
          </p:nvSpPr>
          <p:spPr>
            <a:xfrm>
              <a:off x="4617720" y="3008376"/>
              <a:ext cx="594360" cy="347472"/>
            </a:xfrm>
            <a:prstGeom prst="rect">
              <a:avLst/>
            </a:prstGeom>
            <a:solidFill>
              <a:srgbClr val="1A7FA8"/>
            </a:solidFill>
            <a:ln w="12700">
              <a:solidFill>
                <a:srgbClr val="1A7FA8"/>
              </a:solidFill>
              <a:prstDash val="solid"/>
            </a:ln>
          </p:spPr>
        </p:sp>
        <p:sp>
          <p:nvSpPr>
            <p:cNvPr id="38" name="Text 21"/>
            <p:cNvSpPr/>
            <p:nvPr/>
          </p:nvSpPr>
          <p:spPr>
            <a:xfrm>
              <a:off x="4617720" y="3008376"/>
              <a:ext cx="594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Derived</a:t>
              </a:r>
              <a:endParaRPr lang="en-US" sz="900" dirty="0"/>
            </a:p>
          </p:txBody>
        </p:sp>
        <p:sp>
          <p:nvSpPr>
            <p:cNvPr id="39" name="Text 22"/>
            <p:cNvSpPr/>
            <p:nvPr/>
          </p:nvSpPr>
          <p:spPr>
            <a:xfrm>
              <a:off x="5257800" y="3026664"/>
              <a:ext cx="34290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Symptom match → suspect respiratory infection</a:t>
              </a:r>
              <a:endParaRPr lang="en-US" sz="1000" dirty="0"/>
            </a:p>
          </p:txBody>
        </p:sp>
        <p:sp>
          <p:nvSpPr>
            <p:cNvPr id="40" name="Shape 23"/>
            <p:cNvSpPr/>
            <p:nvPr/>
          </p:nvSpPr>
          <p:spPr>
            <a:xfrm>
              <a:off x="4617720" y="3410712"/>
              <a:ext cx="594360" cy="347472"/>
            </a:xfrm>
            <a:prstGeom prst="rect">
              <a:avLst/>
            </a:prstGeom>
            <a:solidFill>
              <a:srgbClr val="1460A0"/>
            </a:solidFill>
            <a:ln w="12700">
              <a:solidFill>
                <a:srgbClr val="1460A0"/>
              </a:solidFill>
              <a:prstDash val="solid"/>
            </a:ln>
          </p:spPr>
        </p:sp>
        <p:sp>
          <p:nvSpPr>
            <p:cNvPr id="41" name="Text 24"/>
            <p:cNvSpPr/>
            <p:nvPr/>
          </p:nvSpPr>
          <p:spPr>
            <a:xfrm>
              <a:off x="4617720" y="3410712"/>
              <a:ext cx="594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Derived</a:t>
              </a:r>
              <a:endParaRPr lang="en-US" sz="900" dirty="0"/>
            </a:p>
          </p:txBody>
        </p:sp>
        <p:sp>
          <p:nvSpPr>
            <p:cNvPr id="42" name="Text 25"/>
            <p:cNvSpPr/>
            <p:nvPr/>
          </p:nvSpPr>
          <p:spPr>
            <a:xfrm>
              <a:off x="5257800" y="3429000"/>
              <a:ext cx="34290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WBC count normal → likely viral, not bacterial</a:t>
              </a:r>
              <a:endParaRPr lang="en-US" sz="1000" dirty="0"/>
            </a:p>
          </p:txBody>
        </p:sp>
        <p:sp>
          <p:nvSpPr>
            <p:cNvPr id="43" name="Shape 26"/>
            <p:cNvSpPr/>
            <p:nvPr/>
          </p:nvSpPr>
          <p:spPr>
            <a:xfrm>
              <a:off x="4617720" y="3813048"/>
              <a:ext cx="594360" cy="347472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44" name="Text 27"/>
            <p:cNvSpPr/>
            <p:nvPr/>
          </p:nvSpPr>
          <p:spPr>
            <a:xfrm>
              <a:off x="4617720" y="3813048"/>
              <a:ext cx="594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 sz="900" dirty="0"/>
            </a:p>
          </p:txBody>
        </p:sp>
        <p:sp>
          <p:nvSpPr>
            <p:cNvPr id="45" name="Text 28"/>
            <p:cNvSpPr/>
            <p:nvPr/>
          </p:nvSpPr>
          <p:spPr>
            <a:xfrm>
              <a:off x="5257800" y="3831336"/>
              <a:ext cx="34290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Conclusion: Viral flu — recommend rest + fluids</a:t>
              </a:r>
              <a:endParaRPr lang="en-US" sz="1000" dirty="0"/>
            </a:p>
          </p:txBody>
        </p:sp>
        <p:sp>
          <p:nvSpPr>
            <p:cNvPr id="46" name="Shape 29"/>
            <p:cNvSpPr/>
            <p:nvPr/>
          </p:nvSpPr>
          <p:spPr>
            <a:xfrm>
              <a:off x="4617720" y="4215384"/>
              <a:ext cx="594360" cy="347472"/>
            </a:xfrm>
            <a:prstGeom prst="rect">
              <a:avLst/>
            </a:prstGeom>
            <a:solidFill>
              <a:srgbClr val="7A8B99"/>
            </a:solidFill>
            <a:ln w="12700">
              <a:solidFill>
                <a:srgbClr val="7A8B99"/>
              </a:solidFill>
              <a:prstDash val="solid"/>
            </a:ln>
          </p:spPr>
        </p:sp>
        <p:sp>
          <p:nvSpPr>
            <p:cNvPr id="47" name="Text 30"/>
            <p:cNvSpPr/>
            <p:nvPr/>
          </p:nvSpPr>
          <p:spPr>
            <a:xfrm>
              <a:off x="4617720" y="4215384"/>
              <a:ext cx="594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48" name="Text 31"/>
            <p:cNvSpPr/>
            <p:nvPr/>
          </p:nvSpPr>
          <p:spPr>
            <a:xfrm>
              <a:off x="5257800" y="4233672"/>
              <a:ext cx="34290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Session ends → Working Memory cleared</a:t>
              </a:r>
              <a:endParaRPr lang="en-US" sz="10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5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5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Expert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8686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68680"/>
            <a:ext cx="27889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68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4721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:Determining the characteristics of 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8686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45536" y="868680"/>
            <a:ext cx="2788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868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5264" y="14721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Conceptualization: Finding Concept to Represent the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86868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868680"/>
            <a:ext cx="278892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868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147218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 : Designing structure to organize the knowledge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88036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880360"/>
            <a:ext cx="2788920" cy="5486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8803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" y="348386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:Formulating rules that embody the Knowledge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45536" y="288036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2880360"/>
            <a:ext cx="27889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28803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55264" y="3483864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:Validating the rules</a:t>
            </a:r>
            <a:endParaRPr lang="en-US" sz="11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Ishan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Poudel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00752" y="2753427"/>
            <a:ext cx="3840480" cy="3840480"/>
          </a:xfrm>
          <a:prstGeom prst="ellipse">
            <a:avLst/>
          </a:prstGeom>
          <a:solidFill>
            <a:srgbClr val="1B4F72">
              <a:alpha val="22000"/>
            </a:srgbClr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52112" y="3302067"/>
            <a:ext cx="2743200" cy="2743200"/>
          </a:xfrm>
          <a:prstGeom prst="ellipse">
            <a:avLst/>
          </a:prstGeom>
          <a:solidFill>
            <a:srgbClr val="1A9CB0">
              <a:alpha val="15000"/>
            </a:srgbClr>
          </a:solidFill>
          <a:ln w="6350">
            <a:solidFill>
              <a:srgbClr val="1A9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030" y="276726"/>
            <a:ext cx="8053939" cy="1275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r>
              <a:rPr lang="en-US" sz="5200" dirty="0"/>
              <a:t> </a:t>
            </a: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r>
              <a:rPr lang="en-US" sz="5200" dirty="0" smtClean="0"/>
              <a:t> </a:t>
            </a: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39" y="1455821"/>
            <a:ext cx="7717055" cy="28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is a technology that involves converting spoken or written human language into a form that can be processed by computers and vice versa.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attempt to extract the fuller meaning representation from the free text.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4942828"/>
            <a:ext cx="9144000" cy="200672"/>
            <a:chOff x="0" y="4942828"/>
            <a:chExt cx="9144000" cy="200672"/>
          </a:xfrm>
        </p:grpSpPr>
        <p:sp>
          <p:nvSpPr>
            <p:cNvPr id="3" name="Shape 1"/>
            <p:cNvSpPr/>
            <p:nvPr/>
          </p:nvSpPr>
          <p:spPr>
            <a:xfrm>
              <a:off x="0" y="4954249"/>
              <a:ext cx="9144000" cy="189251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1" name="Text 6"/>
            <p:cNvSpPr/>
            <p:nvPr/>
          </p:nvSpPr>
          <p:spPr>
            <a:xfrm>
              <a:off x="250978" y="4942828"/>
              <a:ext cx="8617979" cy="1717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Subina</a:t>
              </a:r>
              <a:r>
                <a:rPr lang="en-US" sz="9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Natural Language 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17596"/>
            <a:ext cx="4206240" cy="117428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17596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00476"/>
            <a:ext cx="411480" cy="411480"/>
          </a:xfrm>
          <a:prstGeom prst="ellipse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04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547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Software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17596"/>
            <a:ext cx="4206240" cy="117428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17596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00476"/>
            <a:ext cx="411480" cy="411480"/>
          </a:xfrm>
          <a:prstGeom prst="ellipse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004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3547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synthesizers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229276"/>
            <a:ext cx="4206240" cy="117428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29276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12156"/>
            <a:ext cx="411480" cy="411480"/>
          </a:xfrm>
          <a:prstGeom prst="ellipse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21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664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and style checkers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229276"/>
            <a:ext cx="4206240" cy="117428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29276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412156"/>
            <a:ext cx="411480" cy="411480"/>
          </a:xfrm>
          <a:prstGeom prst="ellipse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4121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3664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system</a:t>
            </a:r>
            <a:endParaRPr lang="en-US" sz="14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Subina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Generation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Generation is the natural language processing task of generating natural language from machine representation system such as knowledge base or logical form.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 types of generation techniques is classified in four types: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148840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text Systems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011680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148840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29000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66160"/>
            <a:ext cx="347472" cy="3474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Phrase-based Systems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4290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429000"/>
            <a:ext cx="420624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566160"/>
            <a:ext cx="347472" cy="347472"/>
          </a:xfrm>
          <a:prstGeom prst="ellipse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Systems</a:t>
            </a:r>
            <a:endParaRPr lang="en-US" sz="13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1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2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Subina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language is not only the transmission of words.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/>
              <a:t>Understanding user what actually mean. It is the process by which a computer understands and interprets human language in a meaningful way.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Subina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of Natural Language 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060707"/>
            <a:ext cx="1920240" cy="10556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6347"/>
            <a:ext cx="19202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6347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32607"/>
            <a:ext cx="1737360" cy="80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249727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32888" y="2060707"/>
            <a:ext cx="1920240" cy="10556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466347"/>
            <a:ext cx="19202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466347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24328" y="2432607"/>
            <a:ext cx="1737360" cy="80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3128" y="2249727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0016" y="2060707"/>
            <a:ext cx="1920240" cy="10556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466347"/>
            <a:ext cx="192024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466347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91456" y="2432607"/>
            <a:ext cx="1737360" cy="80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0256" y="2249727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67144" y="2060707"/>
            <a:ext cx="1920240" cy="105565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67144" y="1466347"/>
            <a:ext cx="1920240" cy="59436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466347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58584" y="2432607"/>
            <a:ext cx="1737360" cy="80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Analysis</a:t>
            </a:r>
            <a:endParaRPr lang="en-US" sz="13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5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6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process of recognizing the suffixes and prefixes that have been attached to a word.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involves dividing a text into paragraphs, words and sentences.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lexicon of a language is its vocabulary that includes its words and expressions.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known as Morphological Analysis.</a:t>
            </a:r>
            <a:endParaRPr lang="en-US"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28600" y="3535720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228600" y="4389481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3992920"/>
            <a:ext cx="8686800" cy="396561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24586"/>
            <a:ext cx="8686800" cy="51719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Information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841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25296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25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part of speech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225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greenness(adjective, noun)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82496"/>
            <a:ext cx="8686800" cy="69711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82496"/>
            <a:ext cx="3566160" cy="69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feature of nouns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1682496"/>
            <a:ext cx="4846320" cy="71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Boat, boats(singular, plural</a:t>
            </a:r>
            <a:r>
              <a:rPr lang="en-US" sz="11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2375476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5556"/>
            <a:ext cx="3566160" cy="4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n-US" sz="1100" b="1" dirty="0" smtClean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297396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Aspect, Tense, Number and person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957701"/>
            <a:ext cx="3566160" cy="4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3957701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walked. I will walk. I had been walking.(past, future, past progressive)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424701"/>
            <a:ext cx="3566160" cy="391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and person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4455612"/>
            <a:ext cx="4846320" cy="36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walk. They walk.(first person singular, third person plural)</a:t>
            </a:r>
            <a:endParaRPr lang="en-US" sz="1100" dirty="0"/>
          </a:p>
        </p:txBody>
      </p:sp>
      <p:sp>
        <p:nvSpPr>
          <p:cNvPr id="24" name="Text 10"/>
          <p:cNvSpPr/>
          <p:nvPr/>
        </p:nvSpPr>
        <p:spPr>
          <a:xfrm>
            <a:off x="342900" y="2396811"/>
            <a:ext cx="3566160" cy="6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b="1" dirty="0" smtClean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 slept, Bill’s bed</a:t>
            </a:r>
            <a:endParaRPr lang="en-US" sz="1100" dirty="0"/>
          </a:p>
        </p:txBody>
      </p:sp>
      <p:sp>
        <p:nvSpPr>
          <p:cNvPr id="25" name="Text 11"/>
          <p:cNvSpPr/>
          <p:nvPr/>
        </p:nvSpPr>
        <p:spPr>
          <a:xfrm>
            <a:off x="3977640" y="2375476"/>
            <a:ext cx="4846320" cy="64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case, possessive case)</a:t>
            </a: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320040" y="3531021"/>
            <a:ext cx="3505200" cy="4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3977640" y="3516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I walk, I am walking(present, </a:t>
            </a:r>
            <a:r>
              <a:rPr lang="en-US" sz="1100" dirty="0" smtClean="0"/>
              <a:t>progressive)</a:t>
            </a:r>
            <a:endParaRPr lang="en-US" sz="11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an input sentences and represents its grammatical structure.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concerns the proper ordering of words and its affect on meaning.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are transformed into the structure that shows how the words are related to each other.</a:t>
            </a:r>
            <a:endParaRPr lang="en-US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7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Analysis —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want a grammar that recognizes sentences like the following: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 Sentences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ate the biscuit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 ate the zebra.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614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reject incorrect sentences such 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416052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Invalid Sentences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John biscuit the.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 the lion the ate.</a:t>
            </a:r>
            <a:endParaRPr lang="en-US" sz="13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280" y="1523238"/>
            <a:ext cx="4191000" cy="24765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3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4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 concerns the (literal) meanings of words, phrases and sentences.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process of converting syntactic representations into meaningful representations.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which are created by the syntactic analyzer are assigned meanings.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“Colorless blue idea”. This would be rejected by the analyzer as colorless blue don’t make any sense together</a:t>
            </a:r>
            <a:endParaRPr lang="en-US" sz="2000" dirty="0"/>
          </a:p>
        </p:txBody>
      </p:sp>
      <p:grpSp>
        <p:nvGrpSpPr>
          <p:cNvPr id="6" name="Group 5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7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— Tasks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involves the following tasks: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605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Sense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28216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Bat=’a baseball thing’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Bat=’a flying mammal’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60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98448"/>
            <a:ext cx="41605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level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728216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saw an astronaut with a telescope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8595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859536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374136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predicate logic for sentences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“John likes Marry”	likes(John, Marry)</a:t>
            </a:r>
            <a:endParaRPr lang="en-US" sz="12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Pragmatics concerns the overall communicative and social context and its effect on interpretation.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abstracting or deriving the purposeful use of the language in situations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focus is on what was said is reinterpreted on what it actually means.</a:t>
            </a:r>
            <a:endParaRPr lang="en-US" sz="20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“close the window?” should have been interpreted as a request rather than an order.</a:t>
            </a:r>
            <a:endParaRPr lang="en-US" sz="2000" dirty="0"/>
          </a:p>
        </p:txBody>
      </p:sp>
      <p:grpSp>
        <p:nvGrpSpPr>
          <p:cNvPr id="6" name="Group 5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7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in Natural Language Processing</a:t>
            </a:r>
            <a:endParaRPr lang="en-US" sz="22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590509" y="1053846"/>
            <a:ext cx="8000038" cy="548640"/>
            <a:chOff x="3269220" y="1143000"/>
            <a:chExt cx="2788920" cy="548640"/>
          </a:xfrm>
        </p:grpSpPr>
        <p:sp>
          <p:nvSpPr>
            <p:cNvPr id="6" name="Shape 4"/>
            <p:cNvSpPr/>
            <p:nvPr/>
          </p:nvSpPr>
          <p:spPr>
            <a:xfrm>
              <a:off x="3269220" y="1143000"/>
              <a:ext cx="2788920" cy="54864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269220" y="11430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863580" y="114300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Auditory Inputs</a:t>
              </a:r>
              <a:endParaRPr lang="en-US" sz="13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0509" y="1671307"/>
            <a:ext cx="8000038" cy="548640"/>
            <a:chOff x="3269220" y="1810512"/>
            <a:chExt cx="2788920" cy="548640"/>
          </a:xfrm>
        </p:grpSpPr>
        <p:sp>
          <p:nvSpPr>
            <p:cNvPr id="10" name="Shape 8"/>
            <p:cNvSpPr/>
            <p:nvPr/>
          </p:nvSpPr>
          <p:spPr>
            <a:xfrm>
              <a:off x="3269220" y="1810512"/>
              <a:ext cx="2788920" cy="548640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269220" y="1810512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863580" y="1810512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Segmentation</a:t>
              </a:r>
              <a:endParaRPr lang="en-US" sz="13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90509" y="2388870"/>
            <a:ext cx="8000038" cy="548640"/>
            <a:chOff x="3269220" y="2478024"/>
            <a:chExt cx="2788920" cy="548640"/>
          </a:xfrm>
        </p:grpSpPr>
        <p:sp>
          <p:nvSpPr>
            <p:cNvPr id="14" name="Shape 12"/>
            <p:cNvSpPr/>
            <p:nvPr/>
          </p:nvSpPr>
          <p:spPr>
            <a:xfrm>
              <a:off x="3269220" y="2478024"/>
              <a:ext cx="2788920" cy="5486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269220" y="2478024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863580" y="2478024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Syntax Structure</a:t>
              </a:r>
              <a:endParaRPr lang="en-US" sz="13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90509" y="3065526"/>
            <a:ext cx="8000038" cy="548640"/>
            <a:chOff x="3269220" y="3154680"/>
            <a:chExt cx="2788920" cy="548640"/>
          </a:xfrm>
        </p:grpSpPr>
        <p:sp>
          <p:nvSpPr>
            <p:cNvPr id="18" name="Shape 16"/>
            <p:cNvSpPr/>
            <p:nvPr/>
          </p:nvSpPr>
          <p:spPr>
            <a:xfrm>
              <a:off x="3269220" y="3154680"/>
              <a:ext cx="2788920" cy="548640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269220" y="3154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863580" y="315468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Semantic Structure</a:t>
              </a:r>
              <a:endParaRPr lang="en-US" sz="13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90509" y="3742182"/>
            <a:ext cx="8000038" cy="548640"/>
            <a:chOff x="3269220" y="3831336"/>
            <a:chExt cx="2788920" cy="548640"/>
          </a:xfrm>
        </p:grpSpPr>
        <p:sp>
          <p:nvSpPr>
            <p:cNvPr id="22" name="Shape 20"/>
            <p:cNvSpPr/>
            <p:nvPr/>
          </p:nvSpPr>
          <p:spPr>
            <a:xfrm>
              <a:off x="3269220" y="3831336"/>
              <a:ext cx="2788920" cy="54864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269220" y="3831336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863580" y="3831336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Pragmatic Analysis</a:t>
              </a:r>
              <a:endParaRPr lang="en-US" sz="13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1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2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Lumana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Manandhar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796" y="0"/>
            <a:ext cx="864520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876379"/>
            <a:ext cx="8421475" cy="195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a technology that allows computers to automatically translate text or speech from one language to another.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a subfield of Artificial Intelligence and Natural Language Processing</a:t>
            </a:r>
            <a:r>
              <a:rPr lang="en-US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397288" y="2667953"/>
            <a:ext cx="4520285" cy="1185186"/>
            <a:chOff x="842209" y="4205908"/>
            <a:chExt cx="4658628" cy="1185186"/>
          </a:xfrm>
        </p:grpSpPr>
        <p:sp>
          <p:nvSpPr>
            <p:cNvPr id="8" name="Shape 14"/>
            <p:cNvSpPr/>
            <p:nvPr/>
          </p:nvSpPr>
          <p:spPr>
            <a:xfrm>
              <a:off x="842209" y="4528113"/>
              <a:ext cx="4658628" cy="8629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A9CB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15"/>
            <p:cNvSpPr/>
            <p:nvPr/>
          </p:nvSpPr>
          <p:spPr>
            <a:xfrm>
              <a:off x="842209" y="4205908"/>
              <a:ext cx="4658628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0" name="Text 16"/>
            <p:cNvSpPr/>
            <p:nvPr/>
          </p:nvSpPr>
          <p:spPr>
            <a:xfrm>
              <a:off x="941329" y="4237190"/>
              <a:ext cx="45595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</a:t>
              </a:r>
              <a:r>
                <a:rPr lang="en-US" sz="11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English → </a:t>
              </a:r>
              <a:r>
                <a:rPr lang="en-US" sz="12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Nepali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2209" y="4661664"/>
              <a:ext cx="4658627" cy="72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“Good Morning?” → “</a:t>
              </a:r>
              <a:r>
                <a:rPr lang="en-US" sz="14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शुभ</a:t>
              </a: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बिहानी</a:t>
              </a: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”.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in apps like: Google Translate.</a:t>
              </a:r>
              <a:endParaRPr lang="en-US" sz="14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xmlns:lc="http://schemas.openxmlformats.org/drawingml/2006/lockedCanvas" id="{A14877B8-5CC7-B4D3-D737-D00A35359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94" y="2667953"/>
            <a:ext cx="2996393" cy="180299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1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2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Translation</a:t>
            </a:r>
            <a:endParaRPr lang="en-US" sz="22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274320" y="1210497"/>
            <a:ext cx="4206240" cy="1369194"/>
            <a:chOff x="274320" y="868680"/>
            <a:chExt cx="4206240" cy="548640"/>
          </a:xfrm>
        </p:grpSpPr>
        <p:sp>
          <p:nvSpPr>
            <p:cNvPr id="6" name="Shape 4"/>
            <p:cNvSpPr/>
            <p:nvPr/>
          </p:nvSpPr>
          <p:spPr>
            <a:xfrm>
              <a:off x="274320" y="868680"/>
              <a:ext cx="4206240" cy="54864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74320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8686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Rule-Based Machine Translation (RBMT)</a:t>
              </a:r>
              <a:endParaRPr lang="en-US" sz="13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709160" y="1210497"/>
            <a:ext cx="4206240" cy="1369194"/>
            <a:chOff x="4709160" y="868680"/>
            <a:chExt cx="4206240" cy="548640"/>
          </a:xfrm>
        </p:grpSpPr>
        <p:sp>
          <p:nvSpPr>
            <p:cNvPr id="10" name="Shape 8"/>
            <p:cNvSpPr/>
            <p:nvPr/>
          </p:nvSpPr>
          <p:spPr>
            <a:xfrm>
              <a:off x="4709160" y="868680"/>
              <a:ext cx="4206240" cy="548640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709160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49240" y="8686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Statistical Machine Translation(SMT)</a:t>
              </a:r>
              <a:endParaRPr lang="en-US" sz="13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74320" y="2808291"/>
            <a:ext cx="4206240" cy="1369194"/>
            <a:chOff x="274320" y="2971800"/>
            <a:chExt cx="4206240" cy="548640"/>
          </a:xfrm>
        </p:grpSpPr>
        <p:sp>
          <p:nvSpPr>
            <p:cNvPr id="14" name="Shape 12"/>
            <p:cNvSpPr/>
            <p:nvPr/>
          </p:nvSpPr>
          <p:spPr>
            <a:xfrm>
              <a:off x="274320" y="2971800"/>
              <a:ext cx="4206240" cy="5486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74320" y="29718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14400" y="297180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Neural Machine Translation (NMT)</a:t>
              </a:r>
              <a:endParaRPr lang="en-US" sz="13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709160" y="2808291"/>
            <a:ext cx="4206240" cy="1369194"/>
            <a:chOff x="4709160" y="2971800"/>
            <a:chExt cx="4206240" cy="548640"/>
          </a:xfrm>
        </p:grpSpPr>
        <p:sp>
          <p:nvSpPr>
            <p:cNvPr id="18" name="Shape 16"/>
            <p:cNvSpPr/>
            <p:nvPr/>
          </p:nvSpPr>
          <p:spPr>
            <a:xfrm>
              <a:off x="4709160" y="2971800"/>
              <a:ext cx="4206240" cy="548640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709160" y="29718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49240" y="297180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Hybrid Machine Translation (HMT)</a:t>
              </a:r>
              <a:endParaRPr lang="en-US" sz="13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Machine Translation (RBMT)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1914" y="12344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follows predefined grammar rules and a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dictionary.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 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example, if we translate the sentence ‘I eat rice’ from English to Nepali, the system first looks at each word and then rearranges the sentence based on grammar rules.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581977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RBMT = Rules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057465"/>
            <a:ext cx="4160520" cy="13124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3057465"/>
            <a:ext cx="41605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30617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87233"/>
            <a:ext cx="3977640" cy="88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large data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simple sentences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057465"/>
            <a:ext cx="4160520" cy="131240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3057465"/>
            <a:ext cx="416052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130617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487233"/>
            <a:ext cx="3977640" cy="88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flexible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for complex sentences</a:t>
            </a:r>
            <a:endParaRPr lang="en-US" sz="12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Machine Translation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1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based on probability and large amounts of data.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using grammar rules, the system learns from previously translated sentences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b="1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= Data + Probability</a:t>
            </a:r>
            <a:endParaRPr lang="en-US" sz="1400" b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623235" y="1896728"/>
            <a:ext cx="7642460" cy="2928245"/>
            <a:chOff x="1518385" y="2094939"/>
            <a:chExt cx="4297680" cy="2928245"/>
          </a:xfrm>
        </p:grpSpPr>
        <p:sp>
          <p:nvSpPr>
            <p:cNvPr id="7" name="Shape 14"/>
            <p:cNvSpPr/>
            <p:nvPr/>
          </p:nvSpPr>
          <p:spPr>
            <a:xfrm>
              <a:off x="1518385" y="2417144"/>
              <a:ext cx="4297680" cy="2606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15"/>
            <p:cNvSpPr/>
            <p:nvPr/>
          </p:nvSpPr>
          <p:spPr>
            <a:xfrm>
              <a:off x="1518385" y="2094939"/>
              <a:ext cx="4297680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9" name="Text 16"/>
            <p:cNvSpPr/>
            <p:nvPr/>
          </p:nvSpPr>
          <p:spPr>
            <a:xfrm>
              <a:off x="1609825" y="2126221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“How are you</a:t>
              </a:r>
              <a:r>
                <a:rPr lang="en-US" sz="12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?”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18385" y="2550695"/>
              <a:ext cx="4297679" cy="2080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 smtClean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Now 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checks data: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80 times → “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तिमीलाई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कस्तो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छ?”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times → “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तिमी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कस्तो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छौ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?”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times → something else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So it picks: </a:t>
              </a:r>
              <a:r>
                <a:rPr lang="en-US" sz="14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</a:t>
              </a:r>
              <a:r>
                <a:rPr lang="en-US" sz="1400" b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तिमीलाई</a:t>
              </a:r>
              <a:r>
                <a:rPr lang="en-US" sz="14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कस्तो</a:t>
              </a:r>
              <a:r>
                <a:rPr lang="en-US" sz="14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छ?” (highest probability)</a:t>
              </a:r>
              <a:endParaRPr lang="en-US" sz="14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2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3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Machine Translation (NMT)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177411"/>
            <a:ext cx="8595360" cy="863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translation using AI (like how humans understand meaning).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NMT is like a human translator who understands the full meaning before translating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469230" y="2603032"/>
            <a:ext cx="4658628" cy="1875184"/>
            <a:chOff x="4211052" y="2215255"/>
            <a:chExt cx="4658628" cy="1875184"/>
          </a:xfrm>
        </p:grpSpPr>
        <p:sp>
          <p:nvSpPr>
            <p:cNvPr id="7" name="Shape 14"/>
            <p:cNvSpPr/>
            <p:nvPr/>
          </p:nvSpPr>
          <p:spPr>
            <a:xfrm>
              <a:off x="4211052" y="2537460"/>
              <a:ext cx="4658628" cy="15529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15"/>
            <p:cNvSpPr/>
            <p:nvPr/>
          </p:nvSpPr>
          <p:spPr>
            <a:xfrm>
              <a:off x="4211052" y="2215255"/>
              <a:ext cx="4658628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9" name="Text 16"/>
            <p:cNvSpPr/>
            <p:nvPr/>
          </p:nvSpPr>
          <p:spPr>
            <a:xfrm>
              <a:off x="4310172" y="2246537"/>
              <a:ext cx="45595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 am feeling very cold today” Old method (word-by-word</a:t>
              </a:r>
              <a:r>
                <a:rPr lang="en-US" sz="12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):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11052" y="2671011"/>
              <a:ext cx="4658627" cy="1419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 → म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am →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छु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feeling →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महसुस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गर्दै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cold →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चिसो</a:t>
              </a:r>
              <a:endParaRPr lang="en-US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71958" y="2603032"/>
            <a:ext cx="3045937" cy="1875184"/>
            <a:chOff x="4211052" y="2215255"/>
            <a:chExt cx="4658628" cy="1875184"/>
          </a:xfrm>
        </p:grpSpPr>
        <p:sp>
          <p:nvSpPr>
            <p:cNvPr id="13" name="Shape 14"/>
            <p:cNvSpPr/>
            <p:nvPr/>
          </p:nvSpPr>
          <p:spPr>
            <a:xfrm>
              <a:off x="4211052" y="2537460"/>
              <a:ext cx="4658628" cy="15529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5"/>
            <p:cNvSpPr/>
            <p:nvPr/>
          </p:nvSpPr>
          <p:spPr>
            <a:xfrm>
              <a:off x="4211052" y="2215255"/>
              <a:ext cx="4658628" cy="329184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5" name="Text 16"/>
            <p:cNvSpPr/>
            <p:nvPr/>
          </p:nvSpPr>
          <p:spPr>
            <a:xfrm>
              <a:off x="4310172" y="2246537"/>
              <a:ext cx="45595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  <a:spcAft>
                  <a:spcPts val="600"/>
                </a:spcAft>
                <a:buSzPct val="100000"/>
              </a:pPr>
              <a:r>
                <a:rPr lang="en-US" sz="1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NMT method: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211052" y="2671011"/>
              <a:ext cx="4658626" cy="985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Understands meaning → gives natural sentence: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आज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मलाई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धेरै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चिसो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लागिरहेको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छ”</a:t>
              </a:r>
              <a:endParaRPr lang="en-US" sz="1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8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9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Machine Translation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78305"/>
            <a:ext cx="8595360" cy="404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different approaches.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blend of RBMT and SMT.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goal is to get better and more accurate translation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597807" y="2092586"/>
            <a:ext cx="7702094" cy="1519574"/>
            <a:chOff x="4211052" y="2925237"/>
            <a:chExt cx="4658628" cy="1519574"/>
          </a:xfrm>
        </p:grpSpPr>
        <p:sp>
          <p:nvSpPr>
            <p:cNvPr id="8" name="Shape 14"/>
            <p:cNvSpPr/>
            <p:nvPr/>
          </p:nvSpPr>
          <p:spPr>
            <a:xfrm>
              <a:off x="4211052" y="3247443"/>
              <a:ext cx="4658628" cy="1197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15"/>
            <p:cNvSpPr/>
            <p:nvPr/>
          </p:nvSpPr>
          <p:spPr>
            <a:xfrm>
              <a:off x="4211052" y="2925237"/>
              <a:ext cx="4658628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0" name="Text 16"/>
            <p:cNvSpPr/>
            <p:nvPr/>
          </p:nvSpPr>
          <p:spPr>
            <a:xfrm>
              <a:off x="4310172" y="2956519"/>
              <a:ext cx="45595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</a:t>
              </a: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 eat rice” How HMT works: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11052" y="3380993"/>
              <a:ext cx="4658627" cy="1063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Uses rules → correct grammar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Uses data → common usage</a:t>
              </a:r>
              <a:endParaRPr lang="en-US" sz="1400" dirty="0"/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Uses AI → natural meaning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97807" y="3784148"/>
            <a:ext cx="7702092" cy="977270"/>
            <a:chOff x="628506" y="3293942"/>
            <a:chExt cx="3045937" cy="977270"/>
          </a:xfrm>
        </p:grpSpPr>
        <p:sp>
          <p:nvSpPr>
            <p:cNvPr id="14" name="Shape 14"/>
            <p:cNvSpPr/>
            <p:nvPr/>
          </p:nvSpPr>
          <p:spPr>
            <a:xfrm>
              <a:off x="628506" y="3616148"/>
              <a:ext cx="3045937" cy="6550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5"/>
            <p:cNvSpPr/>
            <p:nvPr/>
          </p:nvSpPr>
          <p:spPr>
            <a:xfrm>
              <a:off x="628506" y="3293942"/>
              <a:ext cx="3045937" cy="329184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6" name="Text 16"/>
            <p:cNvSpPr/>
            <p:nvPr/>
          </p:nvSpPr>
          <p:spPr>
            <a:xfrm>
              <a:off x="693313" y="3325224"/>
              <a:ext cx="298113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  <a:spcAft>
                  <a:spcPts val="600"/>
                </a:spcAft>
                <a:buSzPct val="100000"/>
              </a:pPr>
              <a:r>
                <a:rPr lang="en-US" sz="1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Final output: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8506" y="3749698"/>
              <a:ext cx="3045936" cy="348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“म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भात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खान्छु</a:t>
              </a:r>
              <a:r>
                <a:rPr lang="en-US" sz="14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” (correct + natural)</a:t>
              </a:r>
              <a:endParaRPr lang="en-US" sz="14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65760"/>
            <a:ext cx="3840480" cy="3840480"/>
          </a:xfrm>
          <a:prstGeom prst="ellipse">
            <a:avLst/>
          </a:prstGeom>
          <a:solidFill>
            <a:srgbClr val="1B4F72">
              <a:alpha val="22000"/>
            </a:srgbClr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914400"/>
            <a:ext cx="2743200" cy="2743200"/>
          </a:xfrm>
          <a:prstGeom prst="ellipse">
            <a:avLst/>
          </a:prstGeom>
          <a:solidFill>
            <a:srgbClr val="1A9CB0">
              <a:alpha val="15000"/>
            </a:srgbClr>
          </a:solidFill>
          <a:ln w="6350">
            <a:solidFill>
              <a:srgbClr val="1A9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5669280" cy="171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388268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technology that enables machines to ‘see’, analyze, and understand visual information like images or videos.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widely used in industries for quality control, defect detection, and guiding robots.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 and more accurate than humans but can be expensive and needs controlled environments.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4942828"/>
            <a:ext cx="9144000" cy="200672"/>
            <a:chOff x="0" y="4942828"/>
            <a:chExt cx="9144000" cy="200672"/>
          </a:xfrm>
        </p:grpSpPr>
        <p:sp>
          <p:nvSpPr>
            <p:cNvPr id="15" name="Shape 1"/>
            <p:cNvSpPr/>
            <p:nvPr/>
          </p:nvSpPr>
          <p:spPr>
            <a:xfrm>
              <a:off x="0" y="4954249"/>
              <a:ext cx="9144000" cy="189251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6" name="Text 6"/>
            <p:cNvSpPr/>
            <p:nvPr/>
          </p:nvSpPr>
          <p:spPr>
            <a:xfrm>
              <a:off x="250978" y="4942828"/>
              <a:ext cx="8617979" cy="1717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Vision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828800"/>
            <a:ext cx="1572768" cy="1949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828801"/>
            <a:ext cx="1572768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828801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" y="2423161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604597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84832" y="1828800"/>
            <a:ext cx="1572768" cy="1949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828801"/>
            <a:ext cx="1572768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828801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7984" y="2423161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604597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22192" y="1828800"/>
            <a:ext cx="1572768" cy="1949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22192" y="1828801"/>
            <a:ext cx="1572768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828801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95344" y="2423161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604597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59552" y="1828800"/>
            <a:ext cx="1572768" cy="1949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59552" y="1828801"/>
            <a:ext cx="1572768" cy="5486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828801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32704" y="2423161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604597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96912" y="1828800"/>
            <a:ext cx="1572768" cy="1949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96912" y="1828801"/>
            <a:ext cx="1572768" cy="548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1828801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70064" y="2423161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Action</a:t>
            </a:r>
            <a:endParaRPr lang="en-US" sz="11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95" y="2939174"/>
            <a:ext cx="634921" cy="63492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052" y="2991412"/>
            <a:ext cx="634921" cy="63492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115" y="2970357"/>
            <a:ext cx="634921" cy="63492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004" y="2880113"/>
            <a:ext cx="897864" cy="89786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835" y="2997188"/>
            <a:ext cx="634921" cy="634921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4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Vision Works — Details</a:t>
            </a:r>
            <a:endParaRPr lang="en-US" sz="22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228600" y="841248"/>
            <a:ext cx="8686800" cy="3955604"/>
            <a:chOff x="228600" y="841248"/>
            <a:chExt cx="8686800" cy="4133088"/>
          </a:xfrm>
        </p:grpSpPr>
        <p:sp>
          <p:nvSpPr>
            <p:cNvPr id="5" name="Shape 3"/>
            <p:cNvSpPr/>
            <p:nvPr/>
          </p:nvSpPr>
          <p:spPr>
            <a:xfrm>
              <a:off x="228600" y="841248"/>
              <a:ext cx="868680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228600" y="841248"/>
              <a:ext cx="64008" cy="768096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11480" y="841248"/>
              <a:ext cx="219456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Acquisition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51760" y="841248"/>
              <a:ext cx="612648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Capture images using camera or sensor. Example: Take photo of a product on a production line.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28600" y="1682496"/>
              <a:ext cx="8686800" cy="768096"/>
            </a:xfrm>
            <a:prstGeom prst="rect">
              <a:avLst/>
            </a:prstGeom>
            <a:solidFill>
              <a:srgbClr val="F0F7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228600" y="1682496"/>
              <a:ext cx="64008" cy="768096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11480" y="1682496"/>
              <a:ext cx="219456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Preprocessing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651760" y="1682496"/>
              <a:ext cx="612648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 image quality: remove noise, adjust brightness/contrast. Ensures accurate analysis.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28600" y="2523744"/>
              <a:ext cx="868680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228600" y="2523744"/>
              <a:ext cx="64008" cy="768096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11480" y="2523744"/>
              <a:ext cx="219456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Processing / Analysis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651760" y="2523744"/>
              <a:ext cx="612648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 features, patterns, defects, shapes, or objects. Example: Identify if label is missing.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28600" y="3364992"/>
              <a:ext cx="8686800" cy="768096"/>
            </a:xfrm>
            <a:prstGeom prst="rect">
              <a:avLst/>
            </a:prstGeom>
            <a:solidFill>
              <a:srgbClr val="F0F7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228600" y="3364992"/>
              <a:ext cx="64008" cy="768096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11480" y="3364992"/>
              <a:ext cx="219456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Decision Making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651760" y="3364992"/>
              <a:ext cx="612648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decides action based on analysis. Example: Correct → pass; Defective → remove.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28600" y="4206240"/>
              <a:ext cx="868680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228600" y="4206240"/>
              <a:ext cx="64008" cy="768096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11480" y="4206240"/>
              <a:ext cx="219456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 / Action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651760" y="4206240"/>
              <a:ext cx="612648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Actuators, robots, or devices perform the task. Example: Robot removes defective bottle from line.</a:t>
              </a:r>
              <a:endParaRPr lang="en-US" sz="11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Machine Vision System</a:t>
            </a:r>
            <a:endParaRPr lang="en-US" sz="22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28600" y="841248"/>
            <a:ext cx="8686800" cy="3918129"/>
            <a:chOff x="228600" y="841248"/>
            <a:chExt cx="8686800" cy="4078224"/>
          </a:xfrm>
        </p:grpSpPr>
        <p:sp>
          <p:nvSpPr>
            <p:cNvPr id="5" name="Shape 3"/>
            <p:cNvSpPr/>
            <p:nvPr/>
          </p:nvSpPr>
          <p:spPr>
            <a:xfrm>
              <a:off x="228600" y="841248"/>
              <a:ext cx="868680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228600" y="841248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11480" y="841248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Acquisition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423160" y="1249370"/>
              <a:ext cx="6309360" cy="835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Capturing the image from the real-world object. Key devices like Camera, image sensor are used. Example: Industrial camera capturing a product on the assembly line.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28600" y="2231136"/>
              <a:ext cx="8686800" cy="1298448"/>
            </a:xfrm>
            <a:prstGeom prst="rect">
              <a:avLst/>
            </a:prstGeom>
            <a:solidFill>
              <a:srgbClr val="F0F7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28600" y="2231136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11480" y="2231136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Optics / Lens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423160" y="2700607"/>
              <a:ext cx="6309360" cy="561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Focuses the image on the sensor. Choice of lens affects magnification, resolution, and field of view. Example: Telecentric lens for precise measurement in manufacturing.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28600" y="3621024"/>
              <a:ext cx="868680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228600" y="3621024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11480" y="3621024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Lighting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423160" y="4120587"/>
              <a:ext cx="6309360" cy="744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Proper illumination to enhance image quality. Types: Backlight, diffuse, structured light. Example: Using LED lights to detect scratches on metal.</a:t>
              </a:r>
              <a:endParaRPr lang="en-US" sz="11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8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9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(continued)</a:t>
            </a:r>
            <a:endParaRPr lang="en-US" sz="2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228600" y="841248"/>
            <a:ext cx="8686800" cy="3963100"/>
            <a:chOff x="228600" y="841248"/>
            <a:chExt cx="8686800" cy="4078224"/>
          </a:xfrm>
        </p:grpSpPr>
        <p:sp>
          <p:nvSpPr>
            <p:cNvPr id="5" name="Shape 3"/>
            <p:cNvSpPr/>
            <p:nvPr/>
          </p:nvSpPr>
          <p:spPr>
            <a:xfrm>
              <a:off x="228600" y="841248"/>
              <a:ext cx="868680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228600" y="841248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11480" y="841248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Processing Unit / Vision Processor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423160" y="1236638"/>
              <a:ext cx="6309360" cy="848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Processes the captured image using algorithms to extract useful information. It performs tasks like filtering, segmentation, and pattern recognition. Example: Identifying defects in a product automatically.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28600" y="2231136"/>
              <a:ext cx="8686800" cy="1298448"/>
            </a:xfrm>
            <a:prstGeom prst="rect">
              <a:avLst/>
            </a:prstGeom>
            <a:solidFill>
              <a:srgbClr val="F0F7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28600" y="2231136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11480" y="2231136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Communication Interface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423160" y="2626526"/>
              <a:ext cx="6309360" cy="848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Sends processed data to other systems (e.g., robot controller, computer). Example: Ethernet, USB, or industrial fieldbus connections.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28600" y="3621024"/>
              <a:ext cx="868680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228600" y="3621024"/>
              <a:ext cx="64008" cy="1298448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11480" y="3621024"/>
              <a:ext cx="19202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4F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Decision Making / Output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423160" y="4016414"/>
              <a:ext cx="6309360" cy="848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Based on processed information, takes appropriate action. Example: Rejecting defective items from a production line.</a:t>
              </a:r>
              <a:endParaRPr lang="en-US" sz="11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2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1263315" y="1053846"/>
            <a:ext cx="6838045" cy="548640"/>
            <a:chOff x="201168" y="868680"/>
            <a:chExt cx="2788920" cy="548640"/>
          </a:xfrm>
        </p:grpSpPr>
        <p:sp>
          <p:nvSpPr>
            <p:cNvPr id="6" name="Shape 4"/>
            <p:cNvSpPr/>
            <p:nvPr/>
          </p:nvSpPr>
          <p:spPr>
            <a:xfrm>
              <a:off x="201168" y="868680"/>
              <a:ext cx="2788920" cy="54864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01168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5528" y="86868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Industrial Automation</a:t>
              </a:r>
              <a:endParaRPr lang="en-US" sz="12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263314" y="1730502"/>
            <a:ext cx="6838045" cy="548640"/>
            <a:chOff x="3145536" y="868680"/>
            <a:chExt cx="2788920" cy="548640"/>
          </a:xfrm>
        </p:grpSpPr>
        <p:sp>
          <p:nvSpPr>
            <p:cNvPr id="10" name="Shape 8"/>
            <p:cNvSpPr/>
            <p:nvPr/>
          </p:nvSpPr>
          <p:spPr>
            <a:xfrm>
              <a:off x="3145536" y="868680"/>
              <a:ext cx="2788920" cy="548640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145536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739896" y="86868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Robotics</a:t>
              </a:r>
              <a:endParaRPr lang="en-US" sz="12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285143" y="2388268"/>
            <a:ext cx="6838045" cy="548640"/>
            <a:chOff x="6089904" y="868680"/>
            <a:chExt cx="2788920" cy="548640"/>
          </a:xfrm>
        </p:grpSpPr>
        <p:sp>
          <p:nvSpPr>
            <p:cNvPr id="14" name="Shape 12"/>
            <p:cNvSpPr/>
            <p:nvPr/>
          </p:nvSpPr>
          <p:spPr>
            <a:xfrm>
              <a:off x="6089904" y="868680"/>
              <a:ext cx="2788920" cy="5486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089904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684264" y="86868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and Healthcare</a:t>
              </a:r>
              <a:endParaRPr lang="en-US" sz="12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263315" y="3065526"/>
            <a:ext cx="6838045" cy="548640"/>
            <a:chOff x="201168" y="2880360"/>
            <a:chExt cx="2788920" cy="548640"/>
          </a:xfrm>
        </p:grpSpPr>
        <p:sp>
          <p:nvSpPr>
            <p:cNvPr id="18" name="Shape 16"/>
            <p:cNvSpPr/>
            <p:nvPr/>
          </p:nvSpPr>
          <p:spPr>
            <a:xfrm>
              <a:off x="201168" y="2880360"/>
              <a:ext cx="2788920" cy="548640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201168" y="2880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95528" y="28803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Traffic and Transportation</a:t>
              </a:r>
              <a:endParaRPr lang="en-US" sz="12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263313" y="3742182"/>
            <a:ext cx="6838045" cy="548640"/>
            <a:chOff x="3145536" y="2880360"/>
            <a:chExt cx="2788920" cy="548640"/>
          </a:xfrm>
        </p:grpSpPr>
        <p:sp>
          <p:nvSpPr>
            <p:cNvPr id="22" name="Shape 20"/>
            <p:cNvSpPr/>
            <p:nvPr/>
          </p:nvSpPr>
          <p:spPr>
            <a:xfrm>
              <a:off x="3145536" y="2880360"/>
              <a:ext cx="2788920" cy="54864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145536" y="2880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739896" y="28803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and Surveillance</a:t>
              </a:r>
              <a:endParaRPr lang="en-US" sz="12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31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32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Regisha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Maharjan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and recognition</a:t>
            </a:r>
            <a:endParaRPr lang="en-US" sz="2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469230" y="1184157"/>
            <a:ext cx="8133351" cy="1244816"/>
            <a:chOff x="469230" y="1184157"/>
            <a:chExt cx="8133351" cy="1244816"/>
          </a:xfrm>
        </p:grpSpPr>
        <p:sp>
          <p:nvSpPr>
            <p:cNvPr id="7" name="Shape 14"/>
            <p:cNvSpPr/>
            <p:nvPr/>
          </p:nvSpPr>
          <p:spPr>
            <a:xfrm>
              <a:off x="469230" y="1506362"/>
              <a:ext cx="8133351" cy="92261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15"/>
            <p:cNvSpPr/>
            <p:nvPr/>
          </p:nvSpPr>
          <p:spPr>
            <a:xfrm>
              <a:off x="469230" y="1184157"/>
              <a:ext cx="8133351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9" name="Text 16"/>
            <p:cNvSpPr/>
            <p:nvPr/>
          </p:nvSpPr>
          <p:spPr>
            <a:xfrm>
              <a:off x="568351" y="1215439"/>
              <a:ext cx="79603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One of the most investigated tasks in computer vision.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9231" y="1639913"/>
              <a:ext cx="81333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 </a:t>
              </a:r>
              <a:r>
                <a:rPr lang="en-US" sz="1400" dirty="0"/>
                <a:t>It is one of the most widely studied and researched problems in the field of computer vision.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69224" y="2719896"/>
            <a:ext cx="8133349" cy="1342668"/>
            <a:chOff x="469230" y="3036828"/>
            <a:chExt cx="8133349" cy="1342668"/>
          </a:xfrm>
        </p:grpSpPr>
        <p:sp>
          <p:nvSpPr>
            <p:cNvPr id="12" name="Shape 14"/>
            <p:cNvSpPr/>
            <p:nvPr/>
          </p:nvSpPr>
          <p:spPr>
            <a:xfrm>
              <a:off x="469230" y="3359034"/>
              <a:ext cx="8133349" cy="102046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Shape 15"/>
            <p:cNvSpPr/>
            <p:nvPr/>
          </p:nvSpPr>
          <p:spPr>
            <a:xfrm>
              <a:off x="469230" y="3036828"/>
              <a:ext cx="8133349" cy="329184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4" name="Text 16"/>
            <p:cNvSpPr/>
            <p:nvPr/>
          </p:nvSpPr>
          <p:spPr>
            <a:xfrm>
              <a:off x="642280" y="3068110"/>
              <a:ext cx="796029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More challenging than image classification alone.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9230" y="3492584"/>
              <a:ext cx="81333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only tells what is in the image (e.g., cat, dog)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More </a:t>
              </a:r>
              <a:r>
                <a:rPr lang="en-US" sz="1400" dirty="0"/>
                <a:t>challenging task: also needs to find where the object is + what it is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Aayush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Chaudhary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Terminologies Compared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2286000" cy="62082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868680"/>
            <a:ext cx="612648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an entire image into a predefined class.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624263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24263"/>
            <a:ext cx="2286000" cy="620829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24263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Localization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624263"/>
            <a:ext cx="612648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where an object is in an image.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413534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413534"/>
            <a:ext cx="2286000" cy="620829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13534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413534"/>
            <a:ext cx="612648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what and where (classification + localization with bounding boxes).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3A8CE4F1-3B5B-C2EA-6C59-6B8B06398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202805"/>
            <a:ext cx="4437243" cy="1633890"/>
          </a:xfrm>
          <a:prstGeom prst="rect">
            <a:avLst/>
          </a:prstGeom>
          <a:ln>
            <a:solidFill>
              <a:srgbClr val="1B4F7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Group 17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19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0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Aayush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Chaudhary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13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an image into distinct clusters of pixels (segments).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shown in different colors.</a:t>
            </a:r>
            <a:endParaRPr lang="en-US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break down complex visual information.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9E0A3CD-F631-79CA-5E74-F255F0A67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01" y="2249905"/>
            <a:ext cx="4981074" cy="2484838"/>
          </a:xfrm>
          <a:prstGeom prst="rect">
            <a:avLst/>
          </a:prstGeom>
          <a:ln>
            <a:solidFill>
              <a:srgbClr val="1B4F72"/>
            </a:solidFill>
          </a:ln>
        </p:spPr>
      </p:pic>
      <p:grpSp>
        <p:nvGrpSpPr>
          <p:cNvPr id="7" name="Group 6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8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Aayush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Chaudhary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machine vision in cameras</a:t>
            </a:r>
            <a:endParaRPr lang="en-US" sz="22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514952" y="1097279"/>
            <a:ext cx="3833261" cy="1467853"/>
            <a:chOff x="274320" y="868680"/>
            <a:chExt cx="4206240" cy="548640"/>
          </a:xfrm>
        </p:grpSpPr>
        <p:sp>
          <p:nvSpPr>
            <p:cNvPr id="6" name="Shape 4"/>
            <p:cNvSpPr/>
            <p:nvPr/>
          </p:nvSpPr>
          <p:spPr>
            <a:xfrm>
              <a:off x="274320" y="868680"/>
              <a:ext cx="4206240" cy="54864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74320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8686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Vision in Social Media</a:t>
              </a:r>
              <a:endParaRPr lang="en-US" sz="13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949792" y="1097279"/>
            <a:ext cx="3833261" cy="1467853"/>
            <a:chOff x="4709160" y="868680"/>
            <a:chExt cx="4206240" cy="548640"/>
          </a:xfrm>
        </p:grpSpPr>
        <p:sp>
          <p:nvSpPr>
            <p:cNvPr id="10" name="Shape 8"/>
            <p:cNvSpPr/>
            <p:nvPr/>
          </p:nvSpPr>
          <p:spPr>
            <a:xfrm>
              <a:off x="4709160" y="868680"/>
              <a:ext cx="4206240" cy="548640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709160" y="868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49240" y="86868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Vision in Manufacturing</a:t>
              </a:r>
              <a:endParaRPr lang="en-US" sz="13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4952" y="3200399"/>
            <a:ext cx="3833261" cy="1467853"/>
            <a:chOff x="274320" y="2971800"/>
            <a:chExt cx="4206240" cy="548640"/>
          </a:xfrm>
        </p:grpSpPr>
        <p:sp>
          <p:nvSpPr>
            <p:cNvPr id="14" name="Shape 12"/>
            <p:cNvSpPr/>
            <p:nvPr/>
          </p:nvSpPr>
          <p:spPr>
            <a:xfrm>
              <a:off x="274320" y="2971800"/>
              <a:ext cx="4206240" cy="5486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74320" y="29718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14400" y="297180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Vision in Healthcare</a:t>
              </a:r>
              <a:endParaRPr lang="en-US" sz="13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949792" y="3200399"/>
            <a:ext cx="3833261" cy="1467853"/>
            <a:chOff x="4709160" y="2971800"/>
            <a:chExt cx="4206240" cy="548640"/>
          </a:xfrm>
        </p:grpSpPr>
        <p:sp>
          <p:nvSpPr>
            <p:cNvPr id="18" name="Shape 16"/>
            <p:cNvSpPr/>
            <p:nvPr/>
          </p:nvSpPr>
          <p:spPr>
            <a:xfrm>
              <a:off x="4709160" y="2971800"/>
              <a:ext cx="4206240" cy="548640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709160" y="29718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49240" y="2971800"/>
              <a:ext cx="34747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Vision in Robotics</a:t>
              </a:r>
              <a:endParaRPr lang="en-US" sz="13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Aayush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Chaudhary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computer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 systems show how and why they made a decision when analyzing images.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techniques: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83080"/>
            <a:ext cx="64008" cy="9144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83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(Saliency maps):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important pixels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78892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788920"/>
            <a:ext cx="64008" cy="9144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88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important regions in deep learning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79476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94760"/>
            <a:ext cx="64008" cy="9144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94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attention maps: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the model focused</a:t>
            </a:r>
            <a:endParaRPr lang="en-US" sz="12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0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1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Aayush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Chaudhary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>
                <a:solidFill>
                  <a:schemeClr val="bg1"/>
                </a:solidFill>
              </a:rPr>
              <a:t>AI in health care and bioinformatics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1348247"/>
          </a:xfrm>
          <a:prstGeom prst="rect">
            <a:avLst/>
          </a:prstGeom>
          <a:solidFill>
            <a:srgbClr val="F0F7FF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Artificial Intelligence (AI) is transforming healthcare and bioinformatics by improving diagnosis, treatment, drug discovery, and patient management. </a:t>
            </a:r>
            <a:endParaRPr lang="en-US" sz="2000" dirty="0" smtClean="0"/>
          </a:p>
          <a:p>
            <a:pPr marL="34290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 smtClean="0"/>
              <a:t>AI-powered </a:t>
            </a:r>
            <a:r>
              <a:rPr lang="en-US" sz="2000" dirty="0"/>
              <a:t>solutions enhance medical research, automate tasks, and provide personalized healthcare for better patient outcomes. </a:t>
            </a:r>
          </a:p>
          <a:p>
            <a:pPr marL="342900" lvl="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0F172A"/>
              </a:solidFill>
              <a:highlight>
                <a:srgbClr val="FFFFFF"/>
              </a:highligh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7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Preshna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Thapa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6854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Application of AI in Medicine</a:t>
            </a:r>
            <a:endParaRPr lang="en-US" sz="2200" b="1" dirty="0">
              <a:solidFill>
                <a:schemeClr val="bg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66409" y="1461240"/>
            <a:ext cx="3796578" cy="3009629"/>
            <a:chOff x="597805" y="1614998"/>
            <a:chExt cx="7702094" cy="1645762"/>
          </a:xfrm>
        </p:grpSpPr>
        <p:sp>
          <p:nvSpPr>
            <p:cNvPr id="8" name="Shape 14"/>
            <p:cNvSpPr/>
            <p:nvPr/>
          </p:nvSpPr>
          <p:spPr>
            <a:xfrm>
              <a:off x="597805" y="1937204"/>
              <a:ext cx="7702094" cy="13235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15"/>
            <p:cNvSpPr/>
            <p:nvPr/>
          </p:nvSpPr>
          <p:spPr>
            <a:xfrm>
              <a:off x="597805" y="1614998"/>
              <a:ext cx="7702094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10" name="Text 16"/>
            <p:cNvSpPr/>
            <p:nvPr/>
          </p:nvSpPr>
          <p:spPr>
            <a:xfrm>
              <a:off x="761680" y="1646280"/>
              <a:ext cx="753821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</a:t>
              </a:r>
              <a:r>
                <a:rPr lang="en-US" sz="12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Imaging and Diagnostics: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7807" y="1945613"/>
              <a:ext cx="7702092" cy="1132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analyzes X-rays, MRIs, CT scans, and ultrasounds to detect diseases. Uses deep learning models to identify abnormalities like tumors, fractures, and infections. Reduces human errors and improves early disease detection. </a:t>
              </a:r>
              <a:endPara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AI-based systems like Google’s </a:t>
              </a:r>
              <a:r>
                <a:rPr lang="en-US" sz="12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DeepMind</a:t>
              </a: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and IBM Watson Health assist radiologists in detecting cancer</a:t>
              </a:r>
              <a:endParaRPr lang="en-US" sz="1200" dirty="0"/>
            </a:p>
          </p:txBody>
        </p:sp>
      </p:grpSp>
      <p:sp>
        <p:nvSpPr>
          <p:cNvPr id="17" name="Text 3"/>
          <p:cNvSpPr/>
          <p:nvPr/>
        </p:nvSpPr>
        <p:spPr>
          <a:xfrm>
            <a:off x="548640" y="758292"/>
            <a:ext cx="8595360" cy="627444"/>
          </a:xfrm>
          <a:prstGeom prst="rect">
            <a:avLst/>
          </a:prstGeom>
          <a:solidFill>
            <a:srgbClr val="F0F7FF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AI is widely used in medical diagnostics, patient monitoring, robotic surgery, and drug discovery. Some key applications include:</a:t>
            </a:r>
            <a:endParaRPr lang="en-US" sz="2000" dirty="0">
              <a:effectLst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720320" y="1461239"/>
            <a:ext cx="3796664" cy="3072121"/>
            <a:chOff x="597803" y="3387092"/>
            <a:chExt cx="7702094" cy="1645762"/>
          </a:xfrm>
        </p:grpSpPr>
        <p:sp>
          <p:nvSpPr>
            <p:cNvPr id="18" name="Shape 14"/>
            <p:cNvSpPr/>
            <p:nvPr/>
          </p:nvSpPr>
          <p:spPr>
            <a:xfrm>
              <a:off x="597803" y="3709298"/>
              <a:ext cx="7702094" cy="13235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8E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9" name="Shape 15"/>
            <p:cNvSpPr/>
            <p:nvPr/>
          </p:nvSpPr>
          <p:spPr>
            <a:xfrm>
              <a:off x="597803" y="3387092"/>
              <a:ext cx="7702094" cy="329184"/>
            </a:xfrm>
            <a:prstGeom prst="rect">
              <a:avLst/>
            </a:prstGeom>
            <a:solidFill>
              <a:srgbClr val="1A9CB0"/>
            </a:solidFill>
            <a:ln w="12700">
              <a:solidFill>
                <a:srgbClr val="1A9CB0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761678" y="3418374"/>
              <a:ext cx="753821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Personalized Medicine and Treatment Plans: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97805" y="3765352"/>
              <a:ext cx="7702092" cy="1109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analyzes X-rays, MRIs, CT scans, and ultrasounds to detect diseases. Uses deep learning models to identify abnormalities like tumors, fractures, and infections. Reduces human errors and improves early disease detection. </a:t>
              </a:r>
              <a:endPara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AI-based systems like Google’s </a:t>
              </a:r>
              <a:r>
                <a:rPr lang="en-US" sz="12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DeepMind</a:t>
              </a:r>
              <a:r>
                <a:rPr lang="en-US" sz="12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and IBM Watson Health assist radiologists in detecting cancer</a:t>
              </a:r>
              <a:endParaRPr lang="en-US" sz="12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24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25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Preshna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Thapa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818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Predictive modelling in Healthcare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7" name="Shape 3"/>
          <p:cNvSpPr/>
          <p:nvPr/>
        </p:nvSpPr>
        <p:spPr>
          <a:xfrm>
            <a:off x="228600" y="868680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4"/>
          <p:cNvSpPr/>
          <p:nvPr/>
        </p:nvSpPr>
        <p:spPr>
          <a:xfrm>
            <a:off x="228600" y="868680"/>
            <a:ext cx="2286000" cy="62082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320040" y="868680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and Early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2651760" y="868680"/>
            <a:ext cx="62179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patient records, lab tests, and genetic data to predict diseases like cancer, diabetes, and heart disease. Improves early intervention and preventive care.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Google’s AI model predicts breast cancer with higher accuracy than human radiologists.</a:t>
            </a:r>
            <a:endParaRPr lang="en-US" sz="1200" dirty="0"/>
          </a:p>
        </p:txBody>
      </p:sp>
      <p:sp>
        <p:nvSpPr>
          <p:cNvPr id="21" name="Shape 7"/>
          <p:cNvSpPr/>
          <p:nvPr/>
        </p:nvSpPr>
        <p:spPr>
          <a:xfrm>
            <a:off x="228600" y="1624263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8"/>
          <p:cNvSpPr/>
          <p:nvPr/>
        </p:nvSpPr>
        <p:spPr>
          <a:xfrm>
            <a:off x="228600" y="1624263"/>
            <a:ext cx="2286000" cy="620829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9"/>
          <p:cNvSpPr/>
          <p:nvPr/>
        </p:nvSpPr>
        <p:spPr>
          <a:xfrm>
            <a:off x="320040" y="1624263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Patient Outcomes and Treatment Effectiveness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2651760" y="1624263"/>
            <a:ext cx="612648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treatment success rates and patient recovery time based on medical history. Helps doctors personalize treatments for better results.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models in ICUs predict which patients need ventilators based on their health status.</a:t>
            </a:r>
            <a:endParaRPr lang="en-US" sz="1200" dirty="0"/>
          </a:p>
        </p:txBody>
      </p:sp>
      <p:sp>
        <p:nvSpPr>
          <p:cNvPr id="33" name="Shape 3"/>
          <p:cNvSpPr/>
          <p:nvPr/>
        </p:nvSpPr>
        <p:spPr>
          <a:xfrm>
            <a:off x="243840" y="2397492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4"/>
          <p:cNvSpPr/>
          <p:nvPr/>
        </p:nvSpPr>
        <p:spPr>
          <a:xfrm>
            <a:off x="243840" y="2397492"/>
            <a:ext cx="2286000" cy="62082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5"/>
          <p:cNvSpPr/>
          <p:nvPr/>
        </p:nvSpPr>
        <p:spPr>
          <a:xfrm>
            <a:off x="335280" y="2397492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Resource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2667000" y="2397492"/>
            <a:ext cx="624840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hospital admission rates, ICU occupancy, and emergency room demand.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staffing, bed management, and reducing patient wait times.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AI-powered COVID-19 prediction models helped hospitals prepare for patient surges.</a:t>
            </a:r>
            <a:endParaRPr lang="en-US" sz="1200" dirty="0"/>
          </a:p>
        </p:txBody>
      </p:sp>
      <p:sp>
        <p:nvSpPr>
          <p:cNvPr id="37" name="Shape 7"/>
          <p:cNvSpPr/>
          <p:nvPr/>
        </p:nvSpPr>
        <p:spPr>
          <a:xfrm>
            <a:off x="243840" y="3153075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Shape 8"/>
          <p:cNvSpPr/>
          <p:nvPr/>
        </p:nvSpPr>
        <p:spPr>
          <a:xfrm>
            <a:off x="243840" y="3153075"/>
            <a:ext cx="2286000" cy="620829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9"/>
          <p:cNvSpPr/>
          <p:nvPr/>
        </p:nvSpPr>
        <p:spPr>
          <a:xfrm>
            <a:off x="335280" y="3153075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Analysis and Precision Medicine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2667000" y="3153075"/>
            <a:ext cx="624840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DNA sequences to identify genetic mutations linked to diseases.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designing personalized gene therapies.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AI-based Deep Genomics predicts how genetic mutations affect human health.</a:t>
            </a:r>
            <a:endParaRPr lang="en-US" sz="1200" dirty="0"/>
          </a:p>
        </p:txBody>
      </p:sp>
      <p:sp>
        <p:nvSpPr>
          <p:cNvPr id="41" name="Shape 3"/>
          <p:cNvSpPr/>
          <p:nvPr/>
        </p:nvSpPr>
        <p:spPr>
          <a:xfrm>
            <a:off x="243840" y="3908658"/>
            <a:ext cx="8686800" cy="62082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"/>
          <p:cNvSpPr/>
          <p:nvPr/>
        </p:nvSpPr>
        <p:spPr>
          <a:xfrm>
            <a:off x="243840" y="3908658"/>
            <a:ext cx="2286000" cy="62082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5"/>
          <p:cNvSpPr/>
          <p:nvPr/>
        </p:nvSpPr>
        <p:spPr>
          <a:xfrm>
            <a:off x="335280" y="3908658"/>
            <a:ext cx="210312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Mental Health and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</a:t>
            </a:r>
            <a:endParaRPr lang="en-US" sz="1200" dirty="0"/>
          </a:p>
        </p:txBody>
      </p:sp>
      <p:sp>
        <p:nvSpPr>
          <p:cNvPr id="44" name="Text 6"/>
          <p:cNvSpPr/>
          <p:nvPr/>
        </p:nvSpPr>
        <p:spPr>
          <a:xfrm>
            <a:off x="2667000" y="3908658"/>
            <a:ext cx="6126480" cy="62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 mental health support and therapy sessions.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patterns and behavior to detect depression and anxiety. </a:t>
            </a:r>
            <a:endParaRPr lang="en-US" sz="12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Woebot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AI-powered </a:t>
            </a:r>
            <a:r>
              <a:rPr lang="en-US" sz="1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helps users manage mental health.</a:t>
            </a:r>
            <a:endParaRPr lang="en-US" sz="12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-24064" y="4939259"/>
            <a:ext cx="9168063" cy="206740"/>
            <a:chOff x="0" y="4866055"/>
            <a:chExt cx="9144000" cy="297180"/>
          </a:xfrm>
        </p:grpSpPr>
        <p:sp>
          <p:nvSpPr>
            <p:cNvPr id="46" name="Shape 5"/>
            <p:cNvSpPr/>
            <p:nvPr/>
          </p:nvSpPr>
          <p:spPr>
            <a:xfrm>
              <a:off x="0" y="4866055"/>
              <a:ext cx="9144000" cy="29718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47" name="Text 6"/>
            <p:cNvSpPr/>
            <p:nvPr/>
          </p:nvSpPr>
          <p:spPr>
            <a:xfrm>
              <a:off x="274320" y="4871186"/>
              <a:ext cx="85953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Presented By: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Preshna</a:t>
              </a:r>
              <a:r>
                <a:rPr lang="en-US" sz="900" dirty="0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 smtClean="0">
                  <a:solidFill>
                    <a:srgbClr val="7A8B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Thapa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311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1371600"/>
            <a:ext cx="3657600" cy="3657600"/>
          </a:xfrm>
          <a:prstGeom prst="ellipse">
            <a:avLst/>
          </a:prstGeom>
          <a:solidFill>
            <a:srgbClr val="1B4F72">
              <a:alpha val="18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65760"/>
            <a:ext cx="4114800" cy="4114800"/>
          </a:xfrm>
          <a:prstGeom prst="ellipse">
            <a:avLst/>
          </a:prstGeom>
          <a:solidFill>
            <a:srgbClr val="0E7490">
              <a:alpha val="15000"/>
            </a:srgbClr>
          </a:solidFill>
          <a:ln w="6350">
            <a:solidFill>
              <a:srgbClr val="1A9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80844"/>
            <a:ext cx="7315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1A9CB0"/>
          </a:solidFill>
          <a:ln w="12700">
            <a:solidFill>
              <a:srgbClr val="1A9CB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2751</Words>
  <Application>Microsoft Office PowerPoint</Application>
  <PresentationFormat>On-screen Show (16:9)</PresentationFormat>
  <Paragraphs>469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AI</dc:title>
  <dc:subject>PptxGenJS Presentation</dc:subject>
  <dc:creator>PptxGenJS</dc:creator>
  <cp:lastModifiedBy>Microsoft account</cp:lastModifiedBy>
  <cp:revision>33</cp:revision>
  <dcterms:created xsi:type="dcterms:W3CDTF">2026-04-07T23:29:42Z</dcterms:created>
  <dcterms:modified xsi:type="dcterms:W3CDTF">2026-04-08T03:35:47Z</dcterms:modified>
</cp:coreProperties>
</file>