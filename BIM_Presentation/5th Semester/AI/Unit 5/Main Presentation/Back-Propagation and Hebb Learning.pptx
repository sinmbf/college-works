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61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5" r:id="rId9"/>
    <p:sldId id="266" r:id="rId10"/>
    <p:sldId id="267" r:id="rId11"/>
    <p:sldId id="270" r:id="rId12"/>
    <p:sldId id="268" r:id="rId13"/>
    <p:sldId id="271" r:id="rId14"/>
    <p:sldId id="272" r:id="rId15"/>
    <p:sldId id="273" r:id="rId16"/>
    <p:sldId id="274" r:id="rId17"/>
    <p:sldId id="275" r:id="rId18"/>
    <p:sldId id="276" r:id="rId19"/>
    <p:sldId id="277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28F7364-903F-4501-A60B-77FAC2E36CB4}">
  <a:tblStyle styleId="{528F7364-903F-4501-A60B-77FAC2E36C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535c3d7b6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3d535c3d7b6_2_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g3d535c3d7b6_2_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535c3d7b6_2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g3d535c3d7b6_2_30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g3d535c3d7b6_2_30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535c3d7b6_2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3d535c3d7b6_2_5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g3d535c3d7b6_2_5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535c3d7b6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3d535c3d7b6_2_6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d535c3d7b6_2_6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535c3d7b6_2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3d535c3d7b6_2_10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3d535c3d7b6_2_10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535c3d7b6_2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3d535c3d7b6_2_131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8" name="Google Shape;188;g3d535c3d7b6_2_131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535c3d7b6_2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g3d535c3d7b6_2_23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g3d535c3d7b6_2_23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d535c3d7b6_2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3d535c3d7b6_2_24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3d535c3d7b6_2_24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d535c3d7b6_2_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1" name="Google Shape;361;g3d535c3d7b6_2_29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g3d535c3d7b6_2_29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4B58C629-5AB1-5D0E-3618-C9E4CB0E4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d535c3d7b6_2_299:notes">
            <a:extLst>
              <a:ext uri="{FF2B5EF4-FFF2-40B4-BE49-F238E27FC236}">
                <a16:creationId xmlns:a16="http://schemas.microsoft.com/office/drawing/2014/main" id="{CCE690A9-CBF5-F6FC-1138-9262B61228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1" name="Google Shape;361;g3d535c3d7b6_2_299:notes">
            <a:extLst>
              <a:ext uri="{FF2B5EF4-FFF2-40B4-BE49-F238E27FC236}">
                <a16:creationId xmlns:a16="http://schemas.microsoft.com/office/drawing/2014/main" id="{695786DB-DCB8-5A7B-0075-5BE1BE2385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g3d535c3d7b6_2_299:notes">
            <a:extLst>
              <a:ext uri="{FF2B5EF4-FFF2-40B4-BE49-F238E27FC236}">
                <a16:creationId xmlns:a16="http://schemas.microsoft.com/office/drawing/2014/main" id="{6D0F680E-670C-9787-3D24-6A7564BAB8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6024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d535c3d7b6_2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g3d535c3d7b6_2_32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g3d535c3d7b6_2_32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>
          <a:extLst>
            <a:ext uri="{FF2B5EF4-FFF2-40B4-BE49-F238E27FC236}">
              <a16:creationId xmlns:a16="http://schemas.microsoft.com/office/drawing/2014/main" id="{0E6E1984-08F1-3DE7-A898-B8D2B0F69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d535c3d7b6_2_329:notes">
            <a:extLst>
              <a:ext uri="{FF2B5EF4-FFF2-40B4-BE49-F238E27FC236}">
                <a16:creationId xmlns:a16="http://schemas.microsoft.com/office/drawing/2014/main" id="{CD2AA5CE-CD77-BF03-3BD3-1B37B0EDE9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g3d535c3d7b6_2_329:notes">
            <a:extLst>
              <a:ext uri="{FF2B5EF4-FFF2-40B4-BE49-F238E27FC236}">
                <a16:creationId xmlns:a16="http://schemas.microsoft.com/office/drawing/2014/main" id="{DE78B051-9381-49F3-C3D2-F46EF71B15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g3d535c3d7b6_2_329:notes">
            <a:extLst>
              <a:ext uri="{FF2B5EF4-FFF2-40B4-BE49-F238E27FC236}">
                <a16:creationId xmlns:a16="http://schemas.microsoft.com/office/drawing/2014/main" id="{C7FC9617-F0B6-4AB2-817F-0BC4E63309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16448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28DB8F08-40CB-701B-4003-7D3259E3E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d535c3d7b6_2_299:notes">
            <a:extLst>
              <a:ext uri="{FF2B5EF4-FFF2-40B4-BE49-F238E27FC236}">
                <a16:creationId xmlns:a16="http://schemas.microsoft.com/office/drawing/2014/main" id="{63BA5633-B6DB-18E3-4451-421175B42E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1" name="Google Shape;361;g3d535c3d7b6_2_299:notes">
            <a:extLst>
              <a:ext uri="{FF2B5EF4-FFF2-40B4-BE49-F238E27FC236}">
                <a16:creationId xmlns:a16="http://schemas.microsoft.com/office/drawing/2014/main" id="{9BC9CF94-4938-0E24-07EF-F572D3106A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g3d535c3d7b6_2_299:notes">
            <a:extLst>
              <a:ext uri="{FF2B5EF4-FFF2-40B4-BE49-F238E27FC236}">
                <a16:creationId xmlns:a16="http://schemas.microsoft.com/office/drawing/2014/main" id="{48CB7B11-7012-73D0-C6BE-9962FA65F1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48108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>
          <a:extLst>
            <a:ext uri="{FF2B5EF4-FFF2-40B4-BE49-F238E27FC236}">
              <a16:creationId xmlns:a16="http://schemas.microsoft.com/office/drawing/2014/main" id="{19F31BE2-C304-1A09-583E-1A79FA273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d535c3d7b6_2_329:notes">
            <a:extLst>
              <a:ext uri="{FF2B5EF4-FFF2-40B4-BE49-F238E27FC236}">
                <a16:creationId xmlns:a16="http://schemas.microsoft.com/office/drawing/2014/main" id="{AD7F1568-C8C5-3A5E-FE65-EABC2B70D1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g3d535c3d7b6_2_329:notes">
            <a:extLst>
              <a:ext uri="{FF2B5EF4-FFF2-40B4-BE49-F238E27FC236}">
                <a16:creationId xmlns:a16="http://schemas.microsoft.com/office/drawing/2014/main" id="{3B05BB99-27ED-B8C6-5311-D1337F7CDE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g3d535c3d7b6_2_329:notes">
            <a:extLst>
              <a:ext uri="{FF2B5EF4-FFF2-40B4-BE49-F238E27FC236}">
                <a16:creationId xmlns:a16="http://schemas.microsoft.com/office/drawing/2014/main" id="{128C8170-3F3D-4B2A-0DE8-64FBE858FA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86239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>
          <a:extLst>
            <a:ext uri="{FF2B5EF4-FFF2-40B4-BE49-F238E27FC236}">
              <a16:creationId xmlns:a16="http://schemas.microsoft.com/office/drawing/2014/main" id="{FD835143-4F4C-9DC8-285B-22449893C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d535c3d7b6_2_329:notes">
            <a:extLst>
              <a:ext uri="{FF2B5EF4-FFF2-40B4-BE49-F238E27FC236}">
                <a16:creationId xmlns:a16="http://schemas.microsoft.com/office/drawing/2014/main" id="{DA0442D2-3186-D6E2-2C84-C82A0AD7BD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g3d535c3d7b6_2_329:notes">
            <a:extLst>
              <a:ext uri="{FF2B5EF4-FFF2-40B4-BE49-F238E27FC236}">
                <a16:creationId xmlns:a16="http://schemas.microsoft.com/office/drawing/2014/main" id="{F32264A8-7A65-4CD6-D769-9B2FE47D69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g3d535c3d7b6_2_329:notes">
            <a:extLst>
              <a:ext uri="{FF2B5EF4-FFF2-40B4-BE49-F238E27FC236}">
                <a16:creationId xmlns:a16="http://schemas.microsoft.com/office/drawing/2014/main" id="{CF2CC087-1168-6F44-857A-8FA482FBD1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31558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>
          <a:extLst>
            <a:ext uri="{FF2B5EF4-FFF2-40B4-BE49-F238E27FC236}">
              <a16:creationId xmlns:a16="http://schemas.microsoft.com/office/drawing/2014/main" id="{E75A0F5B-2546-AD9A-00A0-616719328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d535c3d7b6_2_329:notes">
            <a:extLst>
              <a:ext uri="{FF2B5EF4-FFF2-40B4-BE49-F238E27FC236}">
                <a16:creationId xmlns:a16="http://schemas.microsoft.com/office/drawing/2014/main" id="{6C587349-BB88-C03B-9504-510A62FC43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g3d535c3d7b6_2_329:notes">
            <a:extLst>
              <a:ext uri="{FF2B5EF4-FFF2-40B4-BE49-F238E27FC236}">
                <a16:creationId xmlns:a16="http://schemas.microsoft.com/office/drawing/2014/main" id="{2F7130FD-CEAB-01F2-864E-6E937831B5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g3d535c3d7b6_2_329:notes">
            <a:extLst>
              <a:ext uri="{FF2B5EF4-FFF2-40B4-BE49-F238E27FC236}">
                <a16:creationId xmlns:a16="http://schemas.microsoft.com/office/drawing/2014/main" id="{5835D445-B07E-D689-E7B2-3DC6921987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51320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>
          <a:extLst>
            <a:ext uri="{FF2B5EF4-FFF2-40B4-BE49-F238E27FC236}">
              <a16:creationId xmlns:a16="http://schemas.microsoft.com/office/drawing/2014/main" id="{810F8CCE-2328-C507-4D94-BAF1074A2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d535c3d7b6_2_329:notes">
            <a:extLst>
              <a:ext uri="{FF2B5EF4-FFF2-40B4-BE49-F238E27FC236}">
                <a16:creationId xmlns:a16="http://schemas.microsoft.com/office/drawing/2014/main" id="{88604592-B441-01D9-8269-5228495FBB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g3d535c3d7b6_2_329:notes">
            <a:extLst>
              <a:ext uri="{FF2B5EF4-FFF2-40B4-BE49-F238E27FC236}">
                <a16:creationId xmlns:a16="http://schemas.microsoft.com/office/drawing/2014/main" id="{A59C579A-652E-5AC6-1F4C-FF8E530192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g3d535c3d7b6_2_329:notes">
            <a:extLst>
              <a:ext uri="{FF2B5EF4-FFF2-40B4-BE49-F238E27FC236}">
                <a16:creationId xmlns:a16="http://schemas.microsoft.com/office/drawing/2014/main" id="{D3C285D6-F7D2-C04B-5FEA-7795552107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53999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>
          <a:extLst>
            <a:ext uri="{FF2B5EF4-FFF2-40B4-BE49-F238E27FC236}">
              <a16:creationId xmlns:a16="http://schemas.microsoft.com/office/drawing/2014/main" id="{FC4C7D24-2197-FCDC-232D-BDC148609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d535c3d7b6_2_329:notes">
            <a:extLst>
              <a:ext uri="{FF2B5EF4-FFF2-40B4-BE49-F238E27FC236}">
                <a16:creationId xmlns:a16="http://schemas.microsoft.com/office/drawing/2014/main" id="{39B87E47-85F9-6B83-AD90-27FBD7F716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g3d535c3d7b6_2_329:notes">
            <a:extLst>
              <a:ext uri="{FF2B5EF4-FFF2-40B4-BE49-F238E27FC236}">
                <a16:creationId xmlns:a16="http://schemas.microsoft.com/office/drawing/2014/main" id="{170038F6-5533-9A5F-5BB6-7D041E45E8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g3d535c3d7b6_2_329:notes">
            <a:extLst>
              <a:ext uri="{FF2B5EF4-FFF2-40B4-BE49-F238E27FC236}">
                <a16:creationId xmlns:a16="http://schemas.microsoft.com/office/drawing/2014/main" id="{350184FB-CEA0-3ED0-C6D2-1F37F1EC13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5963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9" name="Google Shape;59;p15"/>
          <p:cNvCxnSpPr/>
          <p:nvPr/>
        </p:nvCxnSpPr>
        <p:spPr>
          <a:xfrm>
            <a:off x="6748272" y="1078992"/>
            <a:ext cx="932688" cy="640080"/>
          </a:xfrm>
          <a:prstGeom prst="straightConnector1">
            <a:avLst/>
          </a:prstGeom>
          <a:noFill/>
          <a:ln w="19050" cap="flat" cmpd="sng">
            <a:solidFill>
              <a:srgbClr val="00C9A7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" name="Google Shape;60;p15"/>
          <p:cNvCxnSpPr/>
          <p:nvPr/>
        </p:nvCxnSpPr>
        <p:spPr>
          <a:xfrm>
            <a:off x="6748272" y="1078992"/>
            <a:ext cx="932688" cy="1920240"/>
          </a:xfrm>
          <a:prstGeom prst="straightConnector1">
            <a:avLst/>
          </a:prstGeom>
          <a:noFill/>
          <a:ln w="19050" cap="flat" cmpd="sng">
            <a:solidFill>
              <a:srgbClr val="00C9A7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" name="Google Shape;61;p15"/>
          <p:cNvCxnSpPr/>
          <p:nvPr/>
        </p:nvCxnSpPr>
        <p:spPr>
          <a:xfrm rot="10800000" flipH="1">
            <a:off x="6748272" y="1719072"/>
            <a:ext cx="932688" cy="640080"/>
          </a:xfrm>
          <a:prstGeom prst="straightConnector1">
            <a:avLst/>
          </a:prstGeom>
          <a:noFill/>
          <a:ln w="19050" cap="flat" cmpd="sng">
            <a:solidFill>
              <a:srgbClr val="00C9A7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5"/>
          <p:cNvCxnSpPr/>
          <p:nvPr/>
        </p:nvCxnSpPr>
        <p:spPr>
          <a:xfrm>
            <a:off x="6748272" y="2359152"/>
            <a:ext cx="932688" cy="640080"/>
          </a:xfrm>
          <a:prstGeom prst="straightConnector1">
            <a:avLst/>
          </a:prstGeom>
          <a:noFill/>
          <a:ln w="19050" cap="flat" cmpd="sng">
            <a:solidFill>
              <a:srgbClr val="00C9A7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" name="Google Shape;63;p15"/>
          <p:cNvCxnSpPr/>
          <p:nvPr/>
        </p:nvCxnSpPr>
        <p:spPr>
          <a:xfrm rot="10800000" flipH="1">
            <a:off x="6748272" y="1719072"/>
            <a:ext cx="932688" cy="1920240"/>
          </a:xfrm>
          <a:prstGeom prst="straightConnector1">
            <a:avLst/>
          </a:prstGeom>
          <a:noFill/>
          <a:ln w="19050" cap="flat" cmpd="sng">
            <a:solidFill>
              <a:srgbClr val="00C9A7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" name="Google Shape;64;p15"/>
          <p:cNvCxnSpPr/>
          <p:nvPr/>
        </p:nvCxnSpPr>
        <p:spPr>
          <a:xfrm rot="10800000" flipH="1">
            <a:off x="6748272" y="2999232"/>
            <a:ext cx="932688" cy="640080"/>
          </a:xfrm>
          <a:prstGeom prst="straightConnector1">
            <a:avLst/>
          </a:prstGeom>
          <a:noFill/>
          <a:ln w="19050" cap="flat" cmpd="sng">
            <a:solidFill>
              <a:srgbClr val="00C9A7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" name="Google Shape;65;p15"/>
          <p:cNvCxnSpPr/>
          <p:nvPr/>
        </p:nvCxnSpPr>
        <p:spPr>
          <a:xfrm>
            <a:off x="7845552" y="1719072"/>
            <a:ext cx="749808" cy="640080"/>
          </a:xfrm>
          <a:prstGeom prst="straightConnector1">
            <a:avLst/>
          </a:prstGeom>
          <a:noFill/>
          <a:ln w="19050" cap="flat" cmpd="sng">
            <a:solidFill>
              <a:srgbClr val="00C9A7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" name="Google Shape;66;p15"/>
          <p:cNvCxnSpPr/>
          <p:nvPr/>
        </p:nvCxnSpPr>
        <p:spPr>
          <a:xfrm rot="10800000" flipH="1">
            <a:off x="7845552" y="2359152"/>
            <a:ext cx="749808" cy="640080"/>
          </a:xfrm>
          <a:prstGeom prst="straightConnector1">
            <a:avLst/>
          </a:prstGeom>
          <a:noFill/>
          <a:ln w="19050" cap="flat" cmpd="sng">
            <a:solidFill>
              <a:srgbClr val="00C9A7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" name="Google Shape;67;p15"/>
          <p:cNvSpPr/>
          <p:nvPr/>
        </p:nvSpPr>
        <p:spPr>
          <a:xfrm>
            <a:off x="6583680" y="914400"/>
            <a:ext cx="329184" cy="329184"/>
          </a:xfrm>
          <a:prstGeom prst="ellipse">
            <a:avLst/>
          </a:prstGeom>
          <a:solidFill>
            <a:srgbClr val="4FC3F7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6583680" y="2194560"/>
            <a:ext cx="329184" cy="329184"/>
          </a:xfrm>
          <a:prstGeom prst="ellipse">
            <a:avLst/>
          </a:prstGeom>
          <a:solidFill>
            <a:srgbClr val="4FC3F7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6583680" y="3474720"/>
            <a:ext cx="329184" cy="329184"/>
          </a:xfrm>
          <a:prstGeom prst="ellipse">
            <a:avLst/>
          </a:prstGeom>
          <a:solidFill>
            <a:srgbClr val="4FC3F7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7680960" y="1554480"/>
            <a:ext cx="329184" cy="329184"/>
          </a:xfrm>
          <a:prstGeom prst="ellipse">
            <a:avLst/>
          </a:prstGeom>
          <a:solidFill>
            <a:srgbClr val="00C9A7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7680960" y="2834640"/>
            <a:ext cx="329184" cy="329184"/>
          </a:xfrm>
          <a:prstGeom prst="ellipse">
            <a:avLst/>
          </a:prstGeom>
          <a:solidFill>
            <a:srgbClr val="00C9A7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8595360" y="2194560"/>
            <a:ext cx="329184" cy="329184"/>
          </a:xfrm>
          <a:prstGeom prst="ellipse">
            <a:avLst/>
          </a:prstGeom>
          <a:solidFill>
            <a:srgbClr val="FFB347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274320" y="228600"/>
            <a:ext cx="2011680" cy="502920"/>
          </a:xfrm>
          <a:prstGeom prst="rect">
            <a:avLst/>
          </a:prstGeom>
          <a:solidFill>
            <a:srgbClr val="00C9A7">
              <a:alpha val="14901"/>
            </a:srgbClr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274320" y="2286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800"/>
              <a:buFont typeface="Calibri"/>
              <a:buNone/>
            </a:pPr>
            <a:r>
              <a:rPr lang="en-GB" sz="800" b="1" i="0" u="none" strike="noStrike" cap="non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MACHINE LEARNING — UNIT 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274320" y="1005840"/>
            <a:ext cx="5943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GB" sz="4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Neural Network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274320" y="1737360"/>
            <a:ext cx="5943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4400"/>
              <a:buFont typeface="Calibri"/>
              <a:buNone/>
            </a:pPr>
            <a:r>
              <a:rPr lang="en-GB" sz="4400" b="1" i="0" u="none" strike="noStrike" cap="non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Learning Rules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74320" y="265176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600"/>
              <a:buFont typeface="Calibri"/>
              <a:buNone/>
            </a:pPr>
            <a:r>
              <a:rPr lang="en-GB" sz="1600" dirty="0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Presented By: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600"/>
              <a:buFont typeface="Calibri"/>
              <a:buNone/>
            </a:pPr>
            <a:r>
              <a:rPr lang="en-GB" sz="1600" b="0" i="0" u="none" strike="noStrike" cap="none" dirty="0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Siddhartha Shakya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2A4A"/>
          </a:solidFill>
          <a:ln w="12700" cap="flat" cmpd="sng">
            <a:solidFill>
              <a:srgbClr val="16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274320" y="4681728"/>
            <a:ext cx="85953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0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rgbClr val="7A9CC0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AI  |  Academic Lecture Series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GB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Topics at a Glance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365760" y="1005840"/>
            <a:ext cx="2651760" cy="3566160"/>
          </a:xfrm>
          <a:prstGeom prst="rect">
            <a:avLst/>
          </a:prstGeom>
          <a:solidFill>
            <a:srgbClr val="162A4A"/>
          </a:solidFill>
          <a:ln w="254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365760" y="1005840"/>
            <a:ext cx="2651760" cy="594360"/>
          </a:xfrm>
          <a:prstGeom prst="rect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365760" y="1005840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502920" y="169164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GB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Hebbian Learning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502920" y="2240280"/>
            <a:ext cx="237744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150"/>
              <a:buFont typeface="Calibri"/>
              <a:buNone/>
            </a:pPr>
            <a:r>
              <a:rPr lang="en-GB" sz="1150" b="0" i="0" u="none" strike="noStrike" cap="none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Unsupervised weight update rule inspired by neuroplasticity — neurons that fire together, wire together.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6035040" y="1005840"/>
            <a:ext cx="2651760" cy="3566160"/>
          </a:xfrm>
          <a:prstGeom prst="rect">
            <a:avLst/>
          </a:prstGeom>
          <a:solidFill>
            <a:srgbClr val="162A4A"/>
          </a:solidFill>
          <a:ln w="25400" cap="flat" cmpd="sng">
            <a:solidFill>
              <a:srgbClr val="FF7B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6035040" y="1005840"/>
            <a:ext cx="2651760" cy="594360"/>
          </a:xfrm>
          <a:prstGeom prst="rect">
            <a:avLst/>
          </a:prstGeom>
          <a:solidFill>
            <a:srgbClr val="FF7B54"/>
          </a:solidFill>
          <a:ln w="12700" cap="flat" cmpd="sng">
            <a:solidFill>
              <a:srgbClr val="FF7B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16"/>
          <p:cNvSpPr/>
          <p:nvPr/>
        </p:nvSpPr>
        <p:spPr>
          <a:xfrm>
            <a:off x="6035040" y="1005840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200"/>
              <a:buFont typeface="Calibri"/>
              <a:buNone/>
            </a:pPr>
            <a:r>
              <a:rPr lang="en-GB" sz="2200" b="1" i="0" u="none" strike="noStrike" cap="none" dirty="0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6172200" y="169164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GB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Backpropagation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6172200" y="2240280"/>
            <a:ext cx="237744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150"/>
              <a:buFont typeface="Calibri"/>
              <a:buNone/>
            </a:pPr>
            <a:r>
              <a:rPr lang="en-GB" sz="1150" b="0" i="0" u="none" strike="noStrike" cap="none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Supervised multi-layer training algorithm using gradient descent to minimize prediction error.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2A4A"/>
          </a:solidFill>
          <a:ln w="12700" cap="flat" cmpd="sng">
            <a:solidFill>
              <a:srgbClr val="16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365760" y="4818888"/>
            <a:ext cx="84124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0"/>
              </a:buClr>
              <a:buSzPts val="1050"/>
              <a:buFont typeface="Calibri"/>
              <a:buNone/>
            </a:pPr>
            <a:r>
              <a:rPr lang="en-GB" sz="1050" b="0" i="1" u="none" strike="noStrike" cap="none">
                <a:solidFill>
                  <a:srgbClr val="7A9CC0"/>
                </a:solidFill>
                <a:latin typeface="Calibri"/>
                <a:ea typeface="Calibri"/>
                <a:cs typeface="Calibri"/>
                <a:sym typeface="Calibri"/>
              </a:rPr>
              <a:t>All three are foundational learning paradigms for training Artificial Neural Networks (ANNs)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1020"/>
          </a:solidFill>
          <a:ln w="12700" cap="flat" cmpd="sng">
            <a:solidFill>
              <a:srgbClr val="041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0" y="2194560"/>
            <a:ext cx="9144000" cy="1097280"/>
          </a:xfrm>
          <a:prstGeom prst="rect">
            <a:avLst/>
          </a:prstGeom>
          <a:solidFill>
            <a:srgbClr val="00C9A7">
              <a:alpha val="10196"/>
            </a:srgbClr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457200" y="45720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0"/>
              <a:buFont typeface="Calibri"/>
              <a:buNone/>
            </a:pPr>
            <a:r>
              <a:rPr lang="en-GB" sz="10000" b="1" i="0" u="none" strike="noStrike" cap="non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0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457200" y="210312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GB" sz="3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Hebbian Learning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500"/>
              <a:buFont typeface="Calibri"/>
              <a:buNone/>
            </a:pPr>
            <a:r>
              <a:rPr lang="en-GB" sz="1500" b="0" i="1" u="none" strike="noStrike" cap="non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"Neurons that fire together, wire together"  — Donald Hebb, 1949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17"/>
          <p:cNvCxnSpPr/>
          <p:nvPr/>
        </p:nvCxnSpPr>
        <p:spPr>
          <a:xfrm>
            <a:off x="3200400" y="3931920"/>
            <a:ext cx="2743200" cy="0"/>
          </a:xfrm>
          <a:prstGeom prst="straightConnector1">
            <a:avLst/>
          </a:prstGeom>
          <a:noFill/>
          <a:ln w="254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p17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0"/>
              </a:buClr>
              <a:buSzPts val="1300"/>
              <a:buFont typeface="Calibri"/>
              <a:buNone/>
            </a:pPr>
            <a:r>
              <a:rPr lang="en-GB" sz="1300" b="0" i="0" u="none" strike="noStrike" cap="none">
                <a:solidFill>
                  <a:srgbClr val="7A9CC0"/>
                </a:solidFill>
                <a:latin typeface="Calibri"/>
                <a:ea typeface="Calibri"/>
                <a:cs typeface="Calibri"/>
                <a:sym typeface="Calibri"/>
              </a:rPr>
              <a:t>Unsupervised Learning Algorithm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GB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Hebbian Learning — Core Concept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274320" y="868680"/>
            <a:ext cx="4663440" cy="3931920"/>
          </a:xfrm>
          <a:prstGeom prst="rect">
            <a:avLst/>
          </a:prstGeom>
          <a:solidFill>
            <a:srgbClr val="162A4A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457200" y="96012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400"/>
              <a:buFont typeface="Calibri"/>
              <a:buNone/>
            </a:pPr>
            <a:r>
              <a:rPr lang="en-GB" sz="1400" b="1" i="0" u="none" strike="noStrike" cap="non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What is Hebbian Learning?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457200" y="1417320"/>
            <a:ext cx="429768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200"/>
              <a:buFont typeface="Calibri"/>
              <a:buChar char="•"/>
            </a:pPr>
            <a:r>
              <a:rPr lang="en-GB" sz="1200" b="0" i="0" u="none" strike="noStrike" cap="none" dirty="0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Developed by Donald Hebb in 1949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200"/>
              <a:buFont typeface="Calibri"/>
              <a:buChar char="•"/>
            </a:pPr>
            <a:r>
              <a:rPr lang="en-GB" sz="1200" b="0" i="0" u="none" strike="noStrike" cap="none" dirty="0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An unsupervised weight-update algorithm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200"/>
              <a:buFont typeface="Calibri"/>
              <a:buChar char="•"/>
            </a:pPr>
            <a:r>
              <a:rPr lang="en-GB" sz="1200" b="0" i="0" u="none" strike="noStrike" cap="none" dirty="0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Inspired by biological synapse strengthening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200"/>
            </a:pPr>
            <a:endParaRPr lang="en-GB" sz="1200" b="0" i="0" u="none" strike="noStrike" cap="none" dirty="0">
              <a:solidFill>
                <a:srgbClr val="B8D4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200"/>
              <a:buFont typeface="Calibri"/>
              <a:buChar char="•"/>
            </a:pPr>
            <a:r>
              <a:rPr lang="en-GB" sz="1200" b="1" dirty="0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“States that the synaptic efficacy between two neurons should increase if the neurons are simultaneously active and decrease if not.”</a:t>
            </a:r>
            <a:endParaRPr sz="1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457200" y="3429000"/>
            <a:ext cx="4297680" cy="1234440"/>
          </a:xfrm>
          <a:prstGeom prst="rect">
            <a:avLst/>
          </a:prstGeom>
          <a:solidFill>
            <a:srgbClr val="00C9A7">
              <a:alpha val="14901"/>
            </a:srgbClr>
          </a:solidFill>
          <a:ln w="254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457200" y="347472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Hebbian Update Rule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457200" y="379476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wᵢ(new) = wᵢ(old) + xᵢ · 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457200" y="4206240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urier New"/>
              <a:buNone/>
            </a:pPr>
            <a:r>
              <a:rPr lang="en-GB" sz="16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b(new) = b(old) + 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5120640" y="868680"/>
            <a:ext cx="3749040" cy="3931920"/>
          </a:xfrm>
          <a:prstGeom prst="rect">
            <a:avLst/>
          </a:prstGeom>
          <a:solidFill>
            <a:srgbClr val="162A4A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5212080" y="96012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Hebbian Neuron Model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5257800" y="1554480"/>
            <a:ext cx="457200" cy="347472"/>
          </a:xfrm>
          <a:prstGeom prst="ellipse">
            <a:avLst/>
          </a:prstGeom>
          <a:solidFill>
            <a:srgbClr val="4FC3F7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5257800" y="1554480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lang="en-GB" sz="900" b="1" i="0" u="none" strike="noStrike" cap="non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x₁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18"/>
          <p:cNvCxnSpPr/>
          <p:nvPr/>
        </p:nvCxnSpPr>
        <p:spPr>
          <a:xfrm>
            <a:off x="5715000" y="1728216"/>
            <a:ext cx="731520" cy="0"/>
          </a:xfrm>
          <a:prstGeom prst="straightConnector1">
            <a:avLst/>
          </a:prstGeom>
          <a:noFill/>
          <a:ln w="1905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5" name="Google Shape;135;p18"/>
          <p:cNvSpPr/>
          <p:nvPr/>
        </p:nvSpPr>
        <p:spPr>
          <a:xfrm>
            <a:off x="5806440" y="150876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00"/>
              <a:buFont typeface="Calibri"/>
              <a:buNone/>
            </a:pPr>
            <a:r>
              <a:rPr lang="en-GB" sz="900" b="0" i="0" u="none" strike="noStrike" cap="non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w1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5257800" y="2103120"/>
            <a:ext cx="457200" cy="347472"/>
          </a:xfrm>
          <a:prstGeom prst="ellipse">
            <a:avLst/>
          </a:prstGeom>
          <a:solidFill>
            <a:srgbClr val="4FC3F7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5257800" y="2103120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lang="en-GB" sz="900" b="1" i="0" u="none" strike="noStrike" cap="non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x₂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18"/>
          <p:cNvCxnSpPr/>
          <p:nvPr/>
        </p:nvCxnSpPr>
        <p:spPr>
          <a:xfrm>
            <a:off x="5715000" y="2276856"/>
            <a:ext cx="731520" cy="0"/>
          </a:xfrm>
          <a:prstGeom prst="straightConnector1">
            <a:avLst/>
          </a:prstGeom>
          <a:noFill/>
          <a:ln w="1905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9" name="Google Shape;139;p18"/>
          <p:cNvSpPr/>
          <p:nvPr/>
        </p:nvSpPr>
        <p:spPr>
          <a:xfrm>
            <a:off x="5806440" y="205740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00"/>
              <a:buFont typeface="Calibri"/>
              <a:buNone/>
            </a:pPr>
            <a:r>
              <a:rPr lang="en-GB" sz="900" b="0" i="0" u="none" strike="noStrike" cap="non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w2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5257800" y="2651760"/>
            <a:ext cx="457200" cy="347472"/>
          </a:xfrm>
          <a:prstGeom prst="ellipse">
            <a:avLst/>
          </a:prstGeom>
          <a:solidFill>
            <a:srgbClr val="4FC3F7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5257800" y="2651760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lang="en-GB" sz="900" b="1" i="0" u="none" strike="noStrike" cap="non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x₃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18"/>
          <p:cNvCxnSpPr/>
          <p:nvPr/>
        </p:nvCxnSpPr>
        <p:spPr>
          <a:xfrm>
            <a:off x="5715000" y="2825496"/>
            <a:ext cx="731520" cy="0"/>
          </a:xfrm>
          <a:prstGeom prst="straightConnector1">
            <a:avLst/>
          </a:prstGeom>
          <a:noFill/>
          <a:ln w="1905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" name="Google Shape;143;p18"/>
          <p:cNvSpPr/>
          <p:nvPr/>
        </p:nvSpPr>
        <p:spPr>
          <a:xfrm>
            <a:off x="5806440" y="260604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00"/>
              <a:buFont typeface="Calibri"/>
              <a:buNone/>
            </a:pPr>
            <a:r>
              <a:rPr lang="en-GB" sz="900" b="0" i="0" u="none" strike="noStrike" cap="non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w3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5257800" y="3291840"/>
            <a:ext cx="457200" cy="347472"/>
          </a:xfrm>
          <a:prstGeom prst="ellipse">
            <a:avLst/>
          </a:prstGeom>
          <a:solidFill>
            <a:srgbClr val="FFB347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5257800" y="3291840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lang="en-GB" sz="900" b="1" i="0" u="none" strike="noStrike" cap="non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bias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18"/>
          <p:cNvCxnSpPr/>
          <p:nvPr/>
        </p:nvCxnSpPr>
        <p:spPr>
          <a:xfrm>
            <a:off x="5715000" y="3465576"/>
            <a:ext cx="731520" cy="0"/>
          </a:xfrm>
          <a:prstGeom prst="straightConnector1">
            <a:avLst/>
          </a:prstGeom>
          <a:noFill/>
          <a:ln w="1905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7" name="Google Shape;147;p18"/>
          <p:cNvSpPr/>
          <p:nvPr/>
        </p:nvSpPr>
        <p:spPr>
          <a:xfrm>
            <a:off x="6537960" y="2286000"/>
            <a:ext cx="548640" cy="548640"/>
          </a:xfrm>
          <a:prstGeom prst="ellipse">
            <a:avLst/>
          </a:prstGeom>
          <a:solidFill>
            <a:srgbClr val="0F2140"/>
          </a:solidFill>
          <a:ln w="254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6537960" y="22860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800"/>
              <a:buFont typeface="Calibri"/>
              <a:buNone/>
            </a:pPr>
            <a:r>
              <a:rPr lang="en-GB" sz="1800" b="1" i="0" u="none" strike="noStrike" cap="non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Σ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18"/>
          <p:cNvCxnSpPr/>
          <p:nvPr/>
        </p:nvCxnSpPr>
        <p:spPr>
          <a:xfrm>
            <a:off x="6446520" y="1728216"/>
            <a:ext cx="91440" cy="1005840"/>
          </a:xfrm>
          <a:prstGeom prst="straightConnector1">
            <a:avLst/>
          </a:prstGeom>
          <a:noFill/>
          <a:ln w="12700" cap="flat" cmpd="sng">
            <a:solidFill>
              <a:srgbClr val="00C9A7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0" name="Google Shape;150;p18"/>
          <p:cNvCxnSpPr/>
          <p:nvPr/>
        </p:nvCxnSpPr>
        <p:spPr>
          <a:xfrm>
            <a:off x="6446520" y="2276856"/>
            <a:ext cx="91440" cy="457200"/>
          </a:xfrm>
          <a:prstGeom prst="straightConnector1">
            <a:avLst/>
          </a:prstGeom>
          <a:noFill/>
          <a:ln w="12700" cap="flat" cmpd="sng">
            <a:solidFill>
              <a:srgbClr val="00C9A7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1" name="Google Shape;151;p18"/>
          <p:cNvCxnSpPr/>
          <p:nvPr/>
        </p:nvCxnSpPr>
        <p:spPr>
          <a:xfrm rot="10800000" flipH="1">
            <a:off x="6446520" y="2734056"/>
            <a:ext cx="91440" cy="91440"/>
          </a:xfrm>
          <a:prstGeom prst="straightConnector1">
            <a:avLst/>
          </a:prstGeom>
          <a:noFill/>
          <a:ln w="12700" cap="flat" cmpd="sng">
            <a:solidFill>
              <a:srgbClr val="00C9A7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2" name="Google Shape;152;p18"/>
          <p:cNvCxnSpPr/>
          <p:nvPr/>
        </p:nvCxnSpPr>
        <p:spPr>
          <a:xfrm rot="10800000" flipH="1">
            <a:off x="6446520" y="2734056"/>
            <a:ext cx="91440" cy="731520"/>
          </a:xfrm>
          <a:prstGeom prst="straightConnector1">
            <a:avLst/>
          </a:prstGeom>
          <a:noFill/>
          <a:ln w="12700" cap="flat" cmpd="sng">
            <a:solidFill>
              <a:srgbClr val="00C9A7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3" name="Google Shape;153;p18"/>
          <p:cNvCxnSpPr/>
          <p:nvPr/>
        </p:nvCxnSpPr>
        <p:spPr>
          <a:xfrm>
            <a:off x="7086600" y="2560320"/>
            <a:ext cx="594360" cy="0"/>
          </a:xfrm>
          <a:prstGeom prst="straightConnector1">
            <a:avLst/>
          </a:prstGeom>
          <a:noFill/>
          <a:ln w="254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4" name="Google Shape;154;p18"/>
          <p:cNvSpPr/>
          <p:nvPr/>
        </p:nvSpPr>
        <p:spPr>
          <a:xfrm>
            <a:off x="7680960" y="2331720"/>
            <a:ext cx="594360" cy="502920"/>
          </a:xfrm>
          <a:prstGeom prst="ellipse">
            <a:avLst/>
          </a:prstGeom>
          <a:solidFill>
            <a:srgbClr val="00C9A7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7680960" y="2331720"/>
            <a:ext cx="594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00"/>
              <a:buFont typeface="Calibri"/>
              <a:buNone/>
            </a:pPr>
            <a:r>
              <a:rPr lang="en-GB" sz="1400" b="1" i="0" u="none" strike="noStrike" cap="non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5212080" y="425196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0"/>
              </a:buClr>
              <a:buSzPts val="950"/>
              <a:buFont typeface="Calibri"/>
              <a:buNone/>
            </a:pPr>
            <a:r>
              <a:rPr lang="en-GB" sz="950" b="0" i="1" u="none" strike="noStrike" cap="none">
                <a:solidFill>
                  <a:srgbClr val="7A9CC0"/>
                </a:solidFill>
                <a:latin typeface="Calibri"/>
                <a:ea typeface="Calibri"/>
                <a:cs typeface="Calibri"/>
                <a:sym typeface="Calibri"/>
              </a:rPr>
              <a:t>xᵢ = input  |  wᵢ = weight  |  y = output (= target)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GB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Hebbian Learning — Algorithm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274320" y="914400"/>
            <a:ext cx="4114800" cy="1645920"/>
          </a:xfrm>
          <a:prstGeom prst="rect">
            <a:avLst/>
          </a:prstGeom>
          <a:solidFill>
            <a:srgbClr val="162A4A"/>
          </a:solidFill>
          <a:ln w="1905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274320" y="914400"/>
            <a:ext cx="960120" cy="1645920"/>
          </a:xfrm>
          <a:prstGeom prst="rect">
            <a:avLst/>
          </a:prstGeom>
          <a:solidFill>
            <a:srgbClr val="00C9A7">
              <a:alpha val="85098"/>
            </a:srgbClr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274320" y="914400"/>
            <a:ext cx="9601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1280160" y="1005840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Initialize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1280160" y="137160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150"/>
              <a:buFont typeface="Calibri"/>
              <a:buNone/>
            </a:pPr>
            <a:r>
              <a:rPr lang="en-GB" sz="1150" b="0" i="0" u="none" strike="noStrike" cap="none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Set all weights wᵢ = 0 for i = 1 to 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150"/>
              <a:buFont typeface="Calibri"/>
              <a:buNone/>
            </a:pPr>
            <a:r>
              <a:rPr lang="en-GB" sz="1150" b="0" i="0" u="none" strike="noStrike" cap="none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Set bias b = 0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4709160" y="914400"/>
            <a:ext cx="4114800" cy="1645920"/>
          </a:xfrm>
          <a:prstGeom prst="rect">
            <a:avLst/>
          </a:prstGeom>
          <a:solidFill>
            <a:srgbClr val="162A4A"/>
          </a:solidFill>
          <a:ln w="1905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4709160" y="914400"/>
            <a:ext cx="960120" cy="1645920"/>
          </a:xfrm>
          <a:prstGeom prst="rect">
            <a:avLst/>
          </a:prstGeom>
          <a:solidFill>
            <a:srgbClr val="00C9A7">
              <a:alpha val="85098"/>
            </a:srgbClr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4709160" y="914400"/>
            <a:ext cx="9601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5715000" y="1005840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Set Inputs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5715000" y="137160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150"/>
              <a:buFont typeface="Calibri"/>
              <a:buNone/>
            </a:pPr>
            <a:r>
              <a:rPr lang="en-GB" sz="1150" b="0" i="0" u="none" strike="noStrike" cap="none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For each training pair (S, t):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150"/>
              <a:buFont typeface="Calibri"/>
              <a:buNone/>
            </a:pPr>
            <a:r>
              <a:rPr lang="en-GB" sz="1150" b="0" i="0" u="none" strike="noStrike" cap="none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Activate input units: Xᵢ = Sᵢ for i = 1 to 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274320" y="2743200"/>
            <a:ext cx="4114800" cy="1645920"/>
          </a:xfrm>
          <a:prstGeom prst="rect">
            <a:avLst/>
          </a:prstGeom>
          <a:solidFill>
            <a:srgbClr val="162A4A"/>
          </a:solidFill>
          <a:ln w="1905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274320" y="2743200"/>
            <a:ext cx="960120" cy="1645920"/>
          </a:xfrm>
          <a:prstGeom prst="rect">
            <a:avLst/>
          </a:prstGeom>
          <a:solidFill>
            <a:srgbClr val="00C9A7">
              <a:alpha val="85098"/>
            </a:srgbClr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274320" y="2743200"/>
            <a:ext cx="9601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1280160" y="2834640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Set Output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1280160" y="320040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150"/>
              <a:buFont typeface="Calibri"/>
              <a:buNone/>
            </a:pPr>
            <a:r>
              <a:rPr lang="en-GB" sz="1150" b="0" i="0" u="none" strike="noStrike" cap="none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Set the output neuron's activation to the target value: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150"/>
              <a:buFont typeface="Calibri"/>
              <a:buNone/>
            </a:pPr>
            <a:r>
              <a:rPr lang="en-GB" sz="1150" b="0" i="0" u="none" strike="noStrike" cap="none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y = 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4709160" y="2743200"/>
            <a:ext cx="4114800" cy="1645920"/>
          </a:xfrm>
          <a:prstGeom prst="rect">
            <a:avLst/>
          </a:prstGeom>
          <a:solidFill>
            <a:srgbClr val="162A4A"/>
          </a:solidFill>
          <a:ln w="1905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4709160" y="2743200"/>
            <a:ext cx="960120" cy="1645920"/>
          </a:xfrm>
          <a:prstGeom prst="rect">
            <a:avLst/>
          </a:prstGeom>
          <a:solidFill>
            <a:srgbClr val="00C9A7">
              <a:alpha val="85098"/>
            </a:srgbClr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4709160" y="2743200"/>
            <a:ext cx="9601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5715000" y="2834640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Update Weights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5715000" y="320040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150"/>
              <a:buFont typeface="Calibri"/>
              <a:buNone/>
            </a:pPr>
            <a:r>
              <a:rPr lang="en-GB" sz="1150" b="0" i="0" u="none" strike="noStrike" cap="none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Apply Hebb rule for all i = 1 to n: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150"/>
              <a:buFont typeface="Calibri"/>
              <a:buNone/>
            </a:pPr>
            <a:r>
              <a:rPr lang="en-GB" sz="1150" b="0" i="0" u="none" strike="noStrike" cap="none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wᵢ(new) = wᵢ(old) + xᵢ · 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150"/>
              <a:buFont typeface="Calibri"/>
              <a:buNone/>
            </a:pPr>
            <a:r>
              <a:rPr lang="en-GB" sz="1150" b="0" i="0" u="none" strike="noStrike" cap="none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b(new) = b(old) + 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19"/>
          <p:cNvCxnSpPr/>
          <p:nvPr/>
        </p:nvCxnSpPr>
        <p:spPr>
          <a:xfrm>
            <a:off x="4480560" y="2103120"/>
            <a:ext cx="182880" cy="0"/>
          </a:xfrm>
          <a:prstGeom prst="straightConnector1">
            <a:avLst/>
          </a:prstGeom>
          <a:noFill/>
          <a:ln w="254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Hebbian Learning — Example: AND Function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261310" y="713232"/>
            <a:ext cx="8516930" cy="3977640"/>
          </a:xfrm>
          <a:prstGeom prst="rect">
            <a:avLst/>
          </a:prstGeom>
          <a:solidFill>
            <a:srgbClr val="162A4A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6" name="Google Shape;196;p20"/>
          <p:cNvSpPr/>
          <p:nvPr/>
        </p:nvSpPr>
        <p:spPr>
          <a:xfrm>
            <a:off x="365760" y="787734"/>
            <a:ext cx="7975352" cy="474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300"/>
              <a:buFont typeface="Calibri"/>
              <a:buNone/>
            </a:pPr>
            <a:r>
              <a:rPr lang="en-US" sz="1600" dirty="0" err="1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Constructa</a:t>
            </a:r>
            <a:r>
              <a:rPr lang="en-US" sz="1600" dirty="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Hebb Net which performs like an AND function. Use bipolar inputs and targets</a:t>
            </a:r>
            <a:endParaRPr sz="1600" b="0" i="0" u="none" strike="noStrike" cap="none" dirty="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C576CAF-C830-8903-DD44-552EA8B2AED4}"/>
              </a:ext>
            </a:extLst>
          </p:cNvPr>
          <p:cNvGrpSpPr/>
          <p:nvPr/>
        </p:nvGrpSpPr>
        <p:grpSpPr>
          <a:xfrm>
            <a:off x="1655718" y="3648669"/>
            <a:ext cx="5040063" cy="1027559"/>
            <a:chOff x="1276576" y="2835785"/>
            <a:chExt cx="5040063" cy="785482"/>
          </a:xfrm>
        </p:grpSpPr>
        <p:sp>
          <p:nvSpPr>
            <p:cNvPr id="209" name="Google Shape;209;p20"/>
            <p:cNvSpPr/>
            <p:nvPr/>
          </p:nvSpPr>
          <p:spPr>
            <a:xfrm>
              <a:off x="1333159" y="2916126"/>
              <a:ext cx="4983480" cy="654989"/>
            </a:xfrm>
            <a:prstGeom prst="rect">
              <a:avLst/>
            </a:prstGeom>
            <a:solidFill>
              <a:srgbClr val="00C9A7">
                <a:alpha val="20000"/>
              </a:srgbClr>
            </a:solidFill>
            <a:ln w="25400" cap="flat" cmpd="sng">
              <a:solidFill>
                <a:srgbClr val="00C9A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0" name="Google Shape;210;p20"/>
            <p:cNvSpPr/>
            <p:nvPr/>
          </p:nvSpPr>
          <p:spPr>
            <a:xfrm>
              <a:off x="1276576" y="2835785"/>
              <a:ext cx="4892040" cy="78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C9A7"/>
                </a:buClr>
                <a:buSzPts val="1100"/>
                <a:buFont typeface="Calibri"/>
                <a:buNone/>
              </a:pPr>
              <a:r>
                <a:rPr lang="en-GB" sz="1100" b="1" i="0" u="none" strike="noStrike" cap="none" dirty="0">
                  <a:solidFill>
                    <a:srgbClr val="00C9A7"/>
                  </a:solidFill>
                  <a:latin typeface="Calibri"/>
                  <a:ea typeface="Calibri"/>
                  <a:cs typeface="Calibri"/>
                  <a:sym typeface="Calibri"/>
                </a:rPr>
                <a:t>Final Weights:  w₁ = 2,  w₂ = 2,  b = -2    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C9A7"/>
                </a:buClr>
                <a:buSzPts val="1100"/>
                <a:buFont typeface="Calibri"/>
                <a:buNone/>
              </a:pPr>
              <a:r>
                <a:rPr lang="en-GB" sz="1100" b="1" dirty="0">
                  <a:solidFill>
                    <a:srgbClr val="00C9A7"/>
                  </a:solidFill>
                  <a:latin typeface="Calibri"/>
                  <a:ea typeface="Calibri"/>
                  <a:cs typeface="Calibri"/>
                  <a:sym typeface="Calibri"/>
                </a:rPr>
                <a:t>Y= b + x1 * w1 + x2 * w2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C9A7"/>
                </a:buClr>
                <a:buSzPts val="1100"/>
                <a:buFont typeface="Calibri"/>
                <a:buNone/>
              </a:pPr>
              <a:r>
                <a:rPr lang="en-GB" sz="1100" b="1" dirty="0">
                  <a:solidFill>
                    <a:srgbClr val="00C9A7"/>
                  </a:solidFill>
                  <a:latin typeface="Calibri"/>
                  <a:ea typeface="Calibri"/>
                  <a:cs typeface="Calibri"/>
                  <a:sym typeface="Calibri"/>
                </a:rPr>
                <a:t>For </a:t>
              </a:r>
              <a:r>
                <a:rPr lang="en-GB" sz="1100" b="1" dirty="0" err="1">
                  <a:solidFill>
                    <a:srgbClr val="00C9A7"/>
                  </a:solidFill>
                  <a:latin typeface="Calibri"/>
                  <a:ea typeface="Calibri"/>
                  <a:cs typeface="Calibri"/>
                  <a:sym typeface="Calibri"/>
                </a:rPr>
                <a:t>tp</a:t>
              </a:r>
              <a:r>
                <a:rPr lang="en-GB" sz="1100" b="1" dirty="0">
                  <a:solidFill>
                    <a:srgbClr val="00C9A7"/>
                  </a:solidFill>
                  <a:latin typeface="Calibri"/>
                  <a:ea typeface="Calibri"/>
                  <a:cs typeface="Calibri"/>
                  <a:sym typeface="Calibri"/>
                </a:rPr>
                <a:t> (1,1) : </a:t>
              </a:r>
              <a:r>
                <a:rPr lang="en-GB" sz="1100" b="1" i="0" u="none" strike="noStrike" cap="none" dirty="0">
                  <a:solidFill>
                    <a:srgbClr val="00C9A7"/>
                  </a:solidFill>
                  <a:latin typeface="Calibri"/>
                  <a:ea typeface="Calibri"/>
                  <a:cs typeface="Calibri"/>
                  <a:sym typeface="Calibri"/>
                </a:rPr>
                <a:t>Y= -2+(1*2)+(1*2) = 2 &gt; 0 (So AND gate verified)</a:t>
              </a:r>
              <a:endParaRPr sz="11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A6A4F4C-FE9C-CB00-BF89-057F60456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92" y="1323041"/>
            <a:ext cx="8403765" cy="2369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A0C"/>
          </a:solidFill>
          <a:ln w="12700" cap="flat" cmpd="sng">
            <a:solidFill>
              <a:srgbClr val="080A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4"/>
          <p:cNvSpPr/>
          <p:nvPr/>
        </p:nvSpPr>
        <p:spPr>
          <a:xfrm>
            <a:off x="0" y="2148840"/>
            <a:ext cx="9144000" cy="1097280"/>
          </a:xfrm>
          <a:prstGeom prst="rect">
            <a:avLst/>
          </a:prstGeom>
          <a:solidFill>
            <a:srgbClr val="FF7B54">
              <a:alpha val="10196"/>
            </a:srgbClr>
          </a:solidFill>
          <a:ln w="12700" cap="flat" cmpd="sng">
            <a:solidFill>
              <a:srgbClr val="FF7B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4"/>
          <p:cNvSpPr/>
          <p:nvPr/>
        </p:nvSpPr>
        <p:spPr>
          <a:xfrm>
            <a:off x="457200" y="365760"/>
            <a:ext cx="822960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7B54"/>
              </a:buClr>
              <a:buSzPts val="10000"/>
              <a:buFont typeface="Calibri"/>
              <a:buNone/>
            </a:pPr>
            <a:r>
              <a:rPr lang="en-GB" sz="10000" b="1" i="0" u="none" strike="noStrike" cap="none" dirty="0">
                <a:solidFill>
                  <a:srgbClr val="FF7B5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4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GB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Backpropagation Learning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4"/>
          <p:cNvSpPr/>
          <p:nvPr/>
        </p:nvSpPr>
        <p:spPr>
          <a:xfrm>
            <a:off x="457200" y="31546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7B54"/>
              </a:buClr>
              <a:buSzPts val="1400"/>
              <a:buFont typeface="Calibri"/>
              <a:buNone/>
            </a:pPr>
            <a:r>
              <a:rPr lang="en-GB" sz="1400" b="0" i="1" u="none" strike="noStrike" cap="none">
                <a:solidFill>
                  <a:srgbClr val="FF7B54"/>
                </a:solidFill>
                <a:latin typeface="Calibri"/>
                <a:ea typeface="Calibri"/>
                <a:cs typeface="Calibri"/>
                <a:sym typeface="Calibri"/>
              </a:rPr>
              <a:t>"Train multi-layer networks by propagating error backward through layers"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24"/>
          <p:cNvCxnSpPr/>
          <p:nvPr/>
        </p:nvCxnSpPr>
        <p:spPr>
          <a:xfrm>
            <a:off x="3200400" y="3840480"/>
            <a:ext cx="2743200" cy="0"/>
          </a:xfrm>
          <a:prstGeom prst="straightConnector1">
            <a:avLst/>
          </a:prstGeom>
          <a:noFill/>
          <a:ln w="25400" cap="flat" cmpd="sng">
            <a:solidFill>
              <a:srgbClr val="FF7B5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6" name="Google Shape;306;p24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0"/>
              </a:buClr>
              <a:buSzPts val="1300"/>
              <a:buFont typeface="Calibri"/>
              <a:buNone/>
            </a:pPr>
            <a:r>
              <a:rPr lang="en-GB" sz="1300" b="0" i="0" u="none" strike="noStrike" cap="none">
                <a:solidFill>
                  <a:srgbClr val="7A9CC0"/>
                </a:solidFill>
                <a:latin typeface="Calibri"/>
                <a:ea typeface="Calibri"/>
                <a:cs typeface="Calibri"/>
                <a:sym typeface="Calibri"/>
              </a:rPr>
              <a:t>Supervised Learning with Gradient Descent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B54"/>
          </a:solidFill>
          <a:ln w="12700" cap="flat" cmpd="sng">
            <a:solidFill>
              <a:srgbClr val="FF7B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25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GB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Backpropagation — Architecture &amp; Concept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/>
          <p:nvPr/>
        </p:nvSpPr>
        <p:spPr>
          <a:xfrm>
            <a:off x="274320" y="841248"/>
            <a:ext cx="4114800" cy="3977640"/>
          </a:xfrm>
          <a:prstGeom prst="rect">
            <a:avLst/>
          </a:prstGeom>
          <a:solidFill>
            <a:srgbClr val="162A4A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5"/>
          <p:cNvSpPr/>
          <p:nvPr/>
        </p:nvSpPr>
        <p:spPr>
          <a:xfrm>
            <a:off x="457200" y="932688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B54"/>
              </a:buClr>
              <a:buSzPts val="1400"/>
              <a:buFont typeface="Calibri"/>
              <a:buNone/>
            </a:pPr>
            <a:r>
              <a:rPr lang="en-GB" sz="1400" b="1" i="0" u="none" strike="noStrike" cap="none">
                <a:solidFill>
                  <a:srgbClr val="FF7B54"/>
                </a:solidFill>
                <a:latin typeface="Calibri"/>
                <a:ea typeface="Calibri"/>
                <a:cs typeface="Calibri"/>
                <a:sym typeface="Calibri"/>
              </a:rPr>
              <a:t>Key Concepts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457200" y="1389888"/>
            <a:ext cx="374904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200"/>
              <a:buFont typeface="Calibri"/>
              <a:buChar char="•"/>
            </a:pPr>
            <a:r>
              <a:rPr lang="en-GB" sz="1200" b="0" i="0" u="none" strike="noStrike" cap="none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Trains a multilayer feed-forward neural network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200"/>
              <a:buFont typeface="Calibri"/>
              <a:buChar char="•"/>
            </a:pPr>
            <a:r>
              <a:rPr lang="en-GB" sz="1200" b="0" i="0" u="none" strike="noStrike" cap="none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Architecture: Input → Hidden → Output layers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200"/>
              <a:buFont typeface="Calibri"/>
              <a:buChar char="•"/>
            </a:pPr>
            <a:r>
              <a:rPr lang="en-GB" sz="1200" b="0" i="0" u="none" strike="noStrike" cap="none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Forward pass: computes predictions layer by layer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200"/>
              <a:buFont typeface="Calibri"/>
              <a:buChar char="•"/>
            </a:pPr>
            <a:r>
              <a:rPr lang="en-GB" sz="1200" b="0" i="0" u="none" strike="noStrike" cap="none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Backward pass: propagates error to update all weights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200"/>
              <a:buFont typeface="Calibri"/>
              <a:buChar char="•"/>
            </a:pPr>
            <a:r>
              <a:rPr lang="en-GB" sz="1200" b="0" i="0" u="none" strike="noStrike" cap="none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Uses gradient descent with a learning rate (l)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200"/>
              <a:buFont typeface="Calibri"/>
              <a:buChar char="•"/>
            </a:pPr>
            <a:r>
              <a:rPr lang="en-GB" sz="1200" b="0" i="0" u="none" strike="noStrike" cap="none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Sigmoid activation: O = 1 / (1 + e⁻ᴵ)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457200" y="3730752"/>
            <a:ext cx="1737360" cy="960120"/>
          </a:xfrm>
          <a:prstGeom prst="rect">
            <a:avLst/>
          </a:prstGeom>
          <a:solidFill>
            <a:srgbClr val="1A3050"/>
          </a:solidFill>
          <a:ln w="25400" cap="flat" cmpd="sng">
            <a:solidFill>
              <a:srgbClr val="4FC3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5"/>
          <p:cNvSpPr/>
          <p:nvPr/>
        </p:nvSpPr>
        <p:spPr>
          <a:xfrm>
            <a:off x="457200" y="374904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→ FORWARD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/>
          <p:nvPr/>
        </p:nvSpPr>
        <p:spPr>
          <a:xfrm>
            <a:off x="457200" y="4133088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000"/>
              <a:buFont typeface="Calibri"/>
              <a:buNone/>
            </a:pPr>
            <a:r>
              <a:rPr lang="en-GB" sz="1000" b="0" i="0" u="none" strike="noStrike" cap="none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Compute outputs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2331720" y="3730752"/>
            <a:ext cx="1920240" cy="960120"/>
          </a:xfrm>
          <a:prstGeom prst="rect">
            <a:avLst/>
          </a:prstGeom>
          <a:solidFill>
            <a:srgbClr val="1A2030"/>
          </a:solidFill>
          <a:ln w="25400" cap="flat" cmpd="sng">
            <a:solidFill>
              <a:srgbClr val="FF7B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25"/>
          <p:cNvSpPr/>
          <p:nvPr/>
        </p:nvSpPr>
        <p:spPr>
          <a:xfrm>
            <a:off x="2331720" y="374904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7B54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FF7B54"/>
                </a:solidFill>
                <a:latin typeface="Calibri"/>
                <a:ea typeface="Calibri"/>
                <a:cs typeface="Calibri"/>
                <a:sym typeface="Calibri"/>
              </a:rPr>
              <a:t>← BACKWARD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5"/>
          <p:cNvSpPr/>
          <p:nvPr/>
        </p:nvSpPr>
        <p:spPr>
          <a:xfrm>
            <a:off x="2331720" y="413308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000"/>
              <a:buFont typeface="Calibri"/>
              <a:buNone/>
            </a:pPr>
            <a:r>
              <a:rPr lang="en-GB" sz="1000" b="0" i="0" u="none" strike="noStrike" cap="none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Propagate &amp; update weights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4572000" y="841248"/>
            <a:ext cx="4251960" cy="3977640"/>
          </a:xfrm>
          <a:prstGeom prst="rect">
            <a:avLst/>
          </a:prstGeom>
          <a:solidFill>
            <a:srgbClr val="162A4A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5"/>
          <p:cNvSpPr/>
          <p:nvPr/>
        </p:nvSpPr>
        <p:spPr>
          <a:xfrm>
            <a:off x="4572000" y="93268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7B54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FF7B54"/>
                </a:solidFill>
                <a:latin typeface="Calibri"/>
                <a:ea typeface="Calibri"/>
                <a:cs typeface="Calibri"/>
                <a:sym typeface="Calibri"/>
              </a:rPr>
              <a:t>Network Architecture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4892040" y="1600200"/>
            <a:ext cx="457200" cy="384048"/>
          </a:xfrm>
          <a:prstGeom prst="ellipse">
            <a:avLst/>
          </a:prstGeom>
          <a:solidFill>
            <a:srgbClr val="4FC3F7"/>
          </a:solidFill>
          <a:ln w="152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5"/>
          <p:cNvSpPr/>
          <p:nvPr/>
        </p:nvSpPr>
        <p:spPr>
          <a:xfrm>
            <a:off x="4892040" y="2148840"/>
            <a:ext cx="457200" cy="384048"/>
          </a:xfrm>
          <a:prstGeom prst="ellipse">
            <a:avLst/>
          </a:prstGeom>
          <a:solidFill>
            <a:srgbClr val="4FC3F7"/>
          </a:solidFill>
          <a:ln w="152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5"/>
          <p:cNvSpPr/>
          <p:nvPr/>
        </p:nvSpPr>
        <p:spPr>
          <a:xfrm>
            <a:off x="4892040" y="2697480"/>
            <a:ext cx="457200" cy="384048"/>
          </a:xfrm>
          <a:prstGeom prst="ellipse">
            <a:avLst/>
          </a:prstGeom>
          <a:solidFill>
            <a:srgbClr val="4FC3F7"/>
          </a:solidFill>
          <a:ln w="152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5"/>
          <p:cNvSpPr/>
          <p:nvPr/>
        </p:nvSpPr>
        <p:spPr>
          <a:xfrm>
            <a:off x="4892040" y="3246120"/>
            <a:ext cx="457200" cy="384048"/>
          </a:xfrm>
          <a:prstGeom prst="ellipse">
            <a:avLst/>
          </a:prstGeom>
          <a:solidFill>
            <a:srgbClr val="4FC3F7"/>
          </a:solidFill>
          <a:ln w="152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5"/>
          <p:cNvSpPr/>
          <p:nvPr/>
        </p:nvSpPr>
        <p:spPr>
          <a:xfrm>
            <a:off x="4709160" y="425196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0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7A9CC0"/>
                </a:solidFill>
                <a:latin typeface="Calibri"/>
                <a:ea typeface="Calibri"/>
                <a:cs typeface="Calibri"/>
                <a:sym typeface="Calibri"/>
              </a:rPr>
              <a:t>Input Layer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0" name="Google Shape;330;p25"/>
          <p:cNvCxnSpPr/>
          <p:nvPr/>
        </p:nvCxnSpPr>
        <p:spPr>
          <a:xfrm>
            <a:off x="5349240" y="1792224"/>
            <a:ext cx="731520" cy="182880"/>
          </a:xfrm>
          <a:prstGeom prst="straightConnector1">
            <a:avLst/>
          </a:prstGeom>
          <a:noFill/>
          <a:ln w="12700" cap="flat" cmpd="sng">
            <a:solidFill>
              <a:srgbClr val="4FC3F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1" name="Google Shape;331;p25"/>
          <p:cNvCxnSpPr/>
          <p:nvPr/>
        </p:nvCxnSpPr>
        <p:spPr>
          <a:xfrm>
            <a:off x="5349240" y="1792224"/>
            <a:ext cx="731520" cy="868680"/>
          </a:xfrm>
          <a:prstGeom prst="straightConnector1">
            <a:avLst/>
          </a:prstGeom>
          <a:noFill/>
          <a:ln w="12700" cap="flat" cmpd="sng">
            <a:solidFill>
              <a:srgbClr val="4FC3F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2" name="Google Shape;332;p25"/>
          <p:cNvCxnSpPr/>
          <p:nvPr/>
        </p:nvCxnSpPr>
        <p:spPr>
          <a:xfrm>
            <a:off x="5349240" y="1792224"/>
            <a:ext cx="731520" cy="1554480"/>
          </a:xfrm>
          <a:prstGeom prst="straightConnector1">
            <a:avLst/>
          </a:prstGeom>
          <a:noFill/>
          <a:ln w="12700" cap="flat" cmpd="sng">
            <a:solidFill>
              <a:srgbClr val="4FC3F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3" name="Google Shape;333;p25"/>
          <p:cNvCxnSpPr/>
          <p:nvPr/>
        </p:nvCxnSpPr>
        <p:spPr>
          <a:xfrm rot="10800000" flipH="1">
            <a:off x="5349240" y="1975104"/>
            <a:ext cx="731520" cy="365760"/>
          </a:xfrm>
          <a:prstGeom prst="straightConnector1">
            <a:avLst/>
          </a:prstGeom>
          <a:noFill/>
          <a:ln w="12700" cap="flat" cmpd="sng">
            <a:solidFill>
              <a:srgbClr val="4FC3F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4" name="Google Shape;334;p25"/>
          <p:cNvCxnSpPr/>
          <p:nvPr/>
        </p:nvCxnSpPr>
        <p:spPr>
          <a:xfrm>
            <a:off x="5349240" y="2340864"/>
            <a:ext cx="731520" cy="320040"/>
          </a:xfrm>
          <a:prstGeom prst="straightConnector1">
            <a:avLst/>
          </a:prstGeom>
          <a:noFill/>
          <a:ln w="12700" cap="flat" cmpd="sng">
            <a:solidFill>
              <a:srgbClr val="4FC3F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5" name="Google Shape;335;p25"/>
          <p:cNvCxnSpPr/>
          <p:nvPr/>
        </p:nvCxnSpPr>
        <p:spPr>
          <a:xfrm>
            <a:off x="5349240" y="2340864"/>
            <a:ext cx="731520" cy="1005840"/>
          </a:xfrm>
          <a:prstGeom prst="straightConnector1">
            <a:avLst/>
          </a:prstGeom>
          <a:noFill/>
          <a:ln w="12700" cap="flat" cmpd="sng">
            <a:solidFill>
              <a:srgbClr val="4FC3F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6" name="Google Shape;336;p25"/>
          <p:cNvCxnSpPr/>
          <p:nvPr/>
        </p:nvCxnSpPr>
        <p:spPr>
          <a:xfrm rot="10800000" flipH="1">
            <a:off x="5349240" y="1975104"/>
            <a:ext cx="731520" cy="914400"/>
          </a:xfrm>
          <a:prstGeom prst="straightConnector1">
            <a:avLst/>
          </a:prstGeom>
          <a:noFill/>
          <a:ln w="12700" cap="flat" cmpd="sng">
            <a:solidFill>
              <a:srgbClr val="4FC3F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7" name="Google Shape;337;p25"/>
          <p:cNvCxnSpPr/>
          <p:nvPr/>
        </p:nvCxnSpPr>
        <p:spPr>
          <a:xfrm rot="10800000" flipH="1">
            <a:off x="5349240" y="2660904"/>
            <a:ext cx="731520" cy="228600"/>
          </a:xfrm>
          <a:prstGeom prst="straightConnector1">
            <a:avLst/>
          </a:prstGeom>
          <a:noFill/>
          <a:ln w="12700" cap="flat" cmpd="sng">
            <a:solidFill>
              <a:srgbClr val="4FC3F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8" name="Google Shape;338;p25"/>
          <p:cNvCxnSpPr/>
          <p:nvPr/>
        </p:nvCxnSpPr>
        <p:spPr>
          <a:xfrm>
            <a:off x="5349240" y="2889504"/>
            <a:ext cx="731520" cy="457200"/>
          </a:xfrm>
          <a:prstGeom prst="straightConnector1">
            <a:avLst/>
          </a:prstGeom>
          <a:noFill/>
          <a:ln w="12700" cap="flat" cmpd="sng">
            <a:solidFill>
              <a:srgbClr val="4FC3F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9" name="Google Shape;339;p25"/>
          <p:cNvCxnSpPr/>
          <p:nvPr/>
        </p:nvCxnSpPr>
        <p:spPr>
          <a:xfrm rot="10800000" flipH="1">
            <a:off x="5349240" y="1975104"/>
            <a:ext cx="731520" cy="1463040"/>
          </a:xfrm>
          <a:prstGeom prst="straightConnector1">
            <a:avLst/>
          </a:prstGeom>
          <a:noFill/>
          <a:ln w="12700" cap="flat" cmpd="sng">
            <a:solidFill>
              <a:srgbClr val="4FC3F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0" name="Google Shape;340;p25"/>
          <p:cNvCxnSpPr/>
          <p:nvPr/>
        </p:nvCxnSpPr>
        <p:spPr>
          <a:xfrm rot="10800000" flipH="1">
            <a:off x="5349240" y="2660904"/>
            <a:ext cx="731520" cy="777240"/>
          </a:xfrm>
          <a:prstGeom prst="straightConnector1">
            <a:avLst/>
          </a:prstGeom>
          <a:noFill/>
          <a:ln w="12700" cap="flat" cmpd="sng">
            <a:solidFill>
              <a:srgbClr val="4FC3F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1" name="Google Shape;341;p25"/>
          <p:cNvCxnSpPr/>
          <p:nvPr/>
        </p:nvCxnSpPr>
        <p:spPr>
          <a:xfrm rot="10800000" flipH="1">
            <a:off x="5349240" y="3346704"/>
            <a:ext cx="731520" cy="91440"/>
          </a:xfrm>
          <a:prstGeom prst="straightConnector1">
            <a:avLst/>
          </a:prstGeom>
          <a:noFill/>
          <a:ln w="12700" cap="flat" cmpd="sng">
            <a:solidFill>
              <a:srgbClr val="4FC3F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2" name="Google Shape;342;p25"/>
          <p:cNvSpPr/>
          <p:nvPr/>
        </p:nvSpPr>
        <p:spPr>
          <a:xfrm>
            <a:off x="6080760" y="1783080"/>
            <a:ext cx="457200" cy="384048"/>
          </a:xfrm>
          <a:prstGeom prst="ellipse">
            <a:avLst/>
          </a:prstGeom>
          <a:solidFill>
            <a:srgbClr val="FF7B54"/>
          </a:solidFill>
          <a:ln w="152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5"/>
          <p:cNvSpPr/>
          <p:nvPr/>
        </p:nvSpPr>
        <p:spPr>
          <a:xfrm>
            <a:off x="6080760" y="2468880"/>
            <a:ext cx="457200" cy="384048"/>
          </a:xfrm>
          <a:prstGeom prst="ellipse">
            <a:avLst/>
          </a:prstGeom>
          <a:solidFill>
            <a:srgbClr val="FF7B54"/>
          </a:solidFill>
          <a:ln w="152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25"/>
          <p:cNvSpPr/>
          <p:nvPr/>
        </p:nvSpPr>
        <p:spPr>
          <a:xfrm>
            <a:off x="6080760" y="3154680"/>
            <a:ext cx="457200" cy="384048"/>
          </a:xfrm>
          <a:prstGeom prst="ellipse">
            <a:avLst/>
          </a:prstGeom>
          <a:solidFill>
            <a:srgbClr val="FF7B54"/>
          </a:solidFill>
          <a:ln w="152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5"/>
          <p:cNvSpPr/>
          <p:nvPr/>
        </p:nvSpPr>
        <p:spPr>
          <a:xfrm>
            <a:off x="5897880" y="425196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0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7A9CC0"/>
                </a:solidFill>
                <a:latin typeface="Calibri"/>
                <a:ea typeface="Calibri"/>
                <a:cs typeface="Calibri"/>
                <a:sym typeface="Calibri"/>
              </a:rPr>
              <a:t>Hidden Layer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6" name="Google Shape;346;p25"/>
          <p:cNvCxnSpPr/>
          <p:nvPr/>
        </p:nvCxnSpPr>
        <p:spPr>
          <a:xfrm>
            <a:off x="6537960" y="1975104"/>
            <a:ext cx="731520" cy="502920"/>
          </a:xfrm>
          <a:prstGeom prst="straightConnector1">
            <a:avLst/>
          </a:prstGeom>
          <a:noFill/>
          <a:ln w="12700" cap="flat" cmpd="sng">
            <a:solidFill>
              <a:srgbClr val="FF7B54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7" name="Google Shape;347;p25"/>
          <p:cNvCxnSpPr/>
          <p:nvPr/>
        </p:nvCxnSpPr>
        <p:spPr>
          <a:xfrm>
            <a:off x="6537960" y="1975104"/>
            <a:ext cx="731520" cy="1143000"/>
          </a:xfrm>
          <a:prstGeom prst="straightConnector1">
            <a:avLst/>
          </a:prstGeom>
          <a:noFill/>
          <a:ln w="12700" cap="flat" cmpd="sng">
            <a:solidFill>
              <a:srgbClr val="FF7B54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8" name="Google Shape;348;p25"/>
          <p:cNvCxnSpPr/>
          <p:nvPr/>
        </p:nvCxnSpPr>
        <p:spPr>
          <a:xfrm rot="10800000" flipH="1">
            <a:off x="6537960" y="2478024"/>
            <a:ext cx="731520" cy="182880"/>
          </a:xfrm>
          <a:prstGeom prst="straightConnector1">
            <a:avLst/>
          </a:prstGeom>
          <a:noFill/>
          <a:ln w="12700" cap="flat" cmpd="sng">
            <a:solidFill>
              <a:srgbClr val="FF7B54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9" name="Google Shape;349;p25"/>
          <p:cNvCxnSpPr/>
          <p:nvPr/>
        </p:nvCxnSpPr>
        <p:spPr>
          <a:xfrm>
            <a:off x="6537960" y="2660904"/>
            <a:ext cx="731520" cy="457200"/>
          </a:xfrm>
          <a:prstGeom prst="straightConnector1">
            <a:avLst/>
          </a:prstGeom>
          <a:noFill/>
          <a:ln w="12700" cap="flat" cmpd="sng">
            <a:solidFill>
              <a:srgbClr val="FF7B54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0" name="Google Shape;350;p25"/>
          <p:cNvCxnSpPr/>
          <p:nvPr/>
        </p:nvCxnSpPr>
        <p:spPr>
          <a:xfrm rot="10800000" flipH="1">
            <a:off x="6537960" y="2478024"/>
            <a:ext cx="731520" cy="868680"/>
          </a:xfrm>
          <a:prstGeom prst="straightConnector1">
            <a:avLst/>
          </a:prstGeom>
          <a:noFill/>
          <a:ln w="12700" cap="flat" cmpd="sng">
            <a:solidFill>
              <a:srgbClr val="FF7B54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1" name="Google Shape;351;p25"/>
          <p:cNvCxnSpPr/>
          <p:nvPr/>
        </p:nvCxnSpPr>
        <p:spPr>
          <a:xfrm rot="10800000" flipH="1">
            <a:off x="6537960" y="3118104"/>
            <a:ext cx="731520" cy="228600"/>
          </a:xfrm>
          <a:prstGeom prst="straightConnector1">
            <a:avLst/>
          </a:prstGeom>
          <a:noFill/>
          <a:ln w="12700" cap="flat" cmpd="sng">
            <a:solidFill>
              <a:srgbClr val="FF7B54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2" name="Google Shape;352;p25"/>
          <p:cNvSpPr/>
          <p:nvPr/>
        </p:nvSpPr>
        <p:spPr>
          <a:xfrm>
            <a:off x="7269480" y="2286000"/>
            <a:ext cx="457200" cy="384048"/>
          </a:xfrm>
          <a:prstGeom prst="ellipse">
            <a:avLst/>
          </a:prstGeom>
          <a:solidFill>
            <a:srgbClr val="00C9A7"/>
          </a:solidFill>
          <a:ln w="152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5"/>
          <p:cNvSpPr/>
          <p:nvPr/>
        </p:nvSpPr>
        <p:spPr>
          <a:xfrm>
            <a:off x="7269480" y="2926080"/>
            <a:ext cx="457200" cy="384048"/>
          </a:xfrm>
          <a:prstGeom prst="ellipse">
            <a:avLst/>
          </a:prstGeom>
          <a:solidFill>
            <a:srgbClr val="00C9A7"/>
          </a:solidFill>
          <a:ln w="152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5"/>
          <p:cNvSpPr/>
          <p:nvPr/>
        </p:nvSpPr>
        <p:spPr>
          <a:xfrm>
            <a:off x="7086600" y="425196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0"/>
              </a:buClr>
              <a:buSzPts val="800"/>
              <a:buFont typeface="Calibri"/>
              <a:buNone/>
            </a:pPr>
            <a:r>
              <a:rPr lang="en-GB" sz="800" b="0" i="0" u="none" strike="noStrike" cap="none">
                <a:solidFill>
                  <a:srgbClr val="7A9CC0"/>
                </a:solidFill>
                <a:latin typeface="Calibri"/>
                <a:ea typeface="Calibri"/>
                <a:cs typeface="Calibri"/>
                <a:sym typeface="Calibri"/>
              </a:rPr>
              <a:t>Output Layer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" name="Google Shape;355;p25"/>
          <p:cNvCxnSpPr/>
          <p:nvPr/>
        </p:nvCxnSpPr>
        <p:spPr>
          <a:xfrm>
            <a:off x="4937760" y="4069080"/>
            <a:ext cx="2743200" cy="0"/>
          </a:xfrm>
          <a:prstGeom prst="straightConnector1">
            <a:avLst/>
          </a:prstGeom>
          <a:noFill/>
          <a:ln w="25400" cap="flat" cmpd="sng">
            <a:solidFill>
              <a:srgbClr val="4FC3F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6" name="Google Shape;356;p25"/>
          <p:cNvSpPr/>
          <p:nvPr/>
        </p:nvSpPr>
        <p:spPr>
          <a:xfrm>
            <a:off x="4937760" y="400507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00"/>
              <a:buFont typeface="Calibri"/>
              <a:buNone/>
            </a:pPr>
            <a:r>
              <a:rPr lang="en-GB" sz="900" b="0" i="0" u="none" strike="noStrike" cap="non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→ Forward Pass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7" name="Google Shape;357;p25"/>
          <p:cNvCxnSpPr/>
          <p:nvPr/>
        </p:nvCxnSpPr>
        <p:spPr>
          <a:xfrm>
            <a:off x="4937760" y="4462272"/>
            <a:ext cx="2743200" cy="0"/>
          </a:xfrm>
          <a:prstGeom prst="straightConnector1">
            <a:avLst/>
          </a:prstGeom>
          <a:noFill/>
          <a:ln w="25400" cap="flat" cmpd="sng">
            <a:solidFill>
              <a:srgbClr val="FF7B54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58" name="Google Shape;358;p25"/>
          <p:cNvSpPr/>
          <p:nvPr/>
        </p:nvSpPr>
        <p:spPr>
          <a:xfrm>
            <a:off x="4937760" y="446227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7B54"/>
              </a:buClr>
              <a:buSzPts val="900"/>
              <a:buFont typeface="Calibri"/>
              <a:buNone/>
            </a:pPr>
            <a:r>
              <a:rPr lang="en-GB" sz="900" b="0" i="0" u="none" strike="noStrike" cap="none">
                <a:solidFill>
                  <a:srgbClr val="FF7B54"/>
                </a:solidFill>
                <a:latin typeface="Calibri"/>
                <a:ea typeface="Calibri"/>
                <a:cs typeface="Calibri"/>
                <a:sym typeface="Calibri"/>
              </a:rPr>
              <a:t>← Backward Pass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B54"/>
          </a:solidFill>
          <a:ln w="12700" cap="flat" cmpd="sng">
            <a:solidFill>
              <a:srgbClr val="FF7B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26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GB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Backpropagation — Key Formulas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6"/>
          <p:cNvSpPr/>
          <p:nvPr/>
        </p:nvSpPr>
        <p:spPr>
          <a:xfrm>
            <a:off x="274320" y="841248"/>
            <a:ext cx="4160520" cy="3977640"/>
          </a:xfrm>
          <a:prstGeom prst="rect">
            <a:avLst/>
          </a:prstGeom>
          <a:solidFill>
            <a:srgbClr val="162A4A"/>
          </a:solidFill>
          <a:ln w="25400" cap="flat" cmpd="sng">
            <a:solidFill>
              <a:srgbClr val="4FC3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6"/>
          <p:cNvSpPr/>
          <p:nvPr/>
        </p:nvSpPr>
        <p:spPr>
          <a:xfrm>
            <a:off x="274320" y="841248"/>
            <a:ext cx="4160520" cy="475488"/>
          </a:xfrm>
          <a:prstGeom prst="rect">
            <a:avLst/>
          </a:prstGeom>
          <a:solidFill>
            <a:srgbClr val="4FC3F7"/>
          </a:solidFill>
          <a:ln w="12700" cap="flat" cmpd="sng">
            <a:solidFill>
              <a:srgbClr val="4FC3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6"/>
          <p:cNvSpPr/>
          <p:nvPr/>
        </p:nvSpPr>
        <p:spPr>
          <a:xfrm>
            <a:off x="274320" y="841248"/>
            <a:ext cx="41605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FORWARD PASS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6"/>
          <p:cNvSpPr/>
          <p:nvPr/>
        </p:nvSpPr>
        <p:spPr>
          <a:xfrm>
            <a:off x="411480" y="1444752"/>
            <a:ext cx="3886200" cy="685800"/>
          </a:xfrm>
          <a:prstGeom prst="rect">
            <a:avLst/>
          </a:prstGeom>
          <a:solidFill>
            <a:srgbClr val="1A3050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6"/>
          <p:cNvSpPr/>
          <p:nvPr/>
        </p:nvSpPr>
        <p:spPr>
          <a:xfrm>
            <a:off x="502920" y="148132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050"/>
              <a:buFont typeface="Calibri"/>
              <a:buNone/>
            </a:pPr>
            <a:r>
              <a:rPr lang="en-GB" sz="1050" b="1" i="0" u="none" strike="noStrike" cap="non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Net input (layer j):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6"/>
          <p:cNvSpPr/>
          <p:nvPr/>
        </p:nvSpPr>
        <p:spPr>
          <a:xfrm>
            <a:off x="502920" y="1755648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lang="en-GB" sz="13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Iⱼ = Σᵢ wᵢⱼ · Oᵢ + θⱼ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6"/>
          <p:cNvSpPr/>
          <p:nvPr/>
        </p:nvSpPr>
        <p:spPr>
          <a:xfrm>
            <a:off x="411480" y="2249424"/>
            <a:ext cx="3886200" cy="685800"/>
          </a:xfrm>
          <a:prstGeom prst="rect">
            <a:avLst/>
          </a:prstGeom>
          <a:solidFill>
            <a:srgbClr val="1A3050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26"/>
          <p:cNvSpPr/>
          <p:nvPr/>
        </p:nvSpPr>
        <p:spPr>
          <a:xfrm>
            <a:off x="502920" y="2286000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050"/>
              <a:buFont typeface="Calibri"/>
              <a:buNone/>
            </a:pPr>
            <a:r>
              <a:rPr lang="en-GB" sz="1050" b="1" i="0" u="none" strike="noStrike" cap="non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Output (sigmoid):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6"/>
          <p:cNvSpPr/>
          <p:nvPr/>
        </p:nvSpPr>
        <p:spPr>
          <a:xfrm>
            <a:off x="502920" y="2560320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lang="en-GB" sz="13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Oⱼ = 1 / (1 + e^(-Iⱼ))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6"/>
          <p:cNvSpPr/>
          <p:nvPr/>
        </p:nvSpPr>
        <p:spPr>
          <a:xfrm>
            <a:off x="4754880" y="841248"/>
            <a:ext cx="4160520" cy="3977640"/>
          </a:xfrm>
          <a:prstGeom prst="rect">
            <a:avLst/>
          </a:prstGeom>
          <a:solidFill>
            <a:srgbClr val="162A4A"/>
          </a:solidFill>
          <a:ln w="25400" cap="flat" cmpd="sng">
            <a:solidFill>
              <a:srgbClr val="FF7B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6"/>
          <p:cNvSpPr/>
          <p:nvPr/>
        </p:nvSpPr>
        <p:spPr>
          <a:xfrm>
            <a:off x="4754880" y="841248"/>
            <a:ext cx="4160520" cy="475488"/>
          </a:xfrm>
          <a:prstGeom prst="rect">
            <a:avLst/>
          </a:prstGeom>
          <a:solidFill>
            <a:srgbClr val="FF7B54"/>
          </a:solidFill>
          <a:ln w="12700" cap="flat" cmpd="sng">
            <a:solidFill>
              <a:srgbClr val="FF7B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6"/>
          <p:cNvSpPr/>
          <p:nvPr/>
        </p:nvSpPr>
        <p:spPr>
          <a:xfrm>
            <a:off x="4754880" y="841248"/>
            <a:ext cx="41605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BACKWARD PASS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6"/>
          <p:cNvSpPr/>
          <p:nvPr/>
        </p:nvSpPr>
        <p:spPr>
          <a:xfrm>
            <a:off x="4892040" y="1444752"/>
            <a:ext cx="3886200" cy="685800"/>
          </a:xfrm>
          <a:prstGeom prst="rect">
            <a:avLst/>
          </a:prstGeom>
          <a:solidFill>
            <a:srgbClr val="1A3050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6"/>
          <p:cNvSpPr/>
          <p:nvPr/>
        </p:nvSpPr>
        <p:spPr>
          <a:xfrm>
            <a:off x="4983480" y="148132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B54"/>
              </a:buClr>
              <a:buSzPts val="1050"/>
              <a:buFont typeface="Calibri"/>
              <a:buNone/>
            </a:pPr>
            <a:r>
              <a:rPr lang="en-GB" sz="1050" b="1" i="0" u="none" strike="noStrike" cap="none">
                <a:solidFill>
                  <a:srgbClr val="FF7B54"/>
                </a:solidFill>
                <a:latin typeface="Calibri"/>
                <a:ea typeface="Calibri"/>
                <a:cs typeface="Calibri"/>
                <a:sym typeface="Calibri"/>
              </a:rPr>
              <a:t>Error — Output layer: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6"/>
          <p:cNvSpPr/>
          <p:nvPr/>
        </p:nvSpPr>
        <p:spPr>
          <a:xfrm>
            <a:off x="4983480" y="1755648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lang="en-GB" sz="13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Errⱼ = Oⱼ(1 − Oⱼ)(Tⱼ − Oⱼ)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6"/>
          <p:cNvSpPr/>
          <p:nvPr/>
        </p:nvSpPr>
        <p:spPr>
          <a:xfrm>
            <a:off x="4892040" y="2249424"/>
            <a:ext cx="3886200" cy="685800"/>
          </a:xfrm>
          <a:prstGeom prst="rect">
            <a:avLst/>
          </a:prstGeom>
          <a:solidFill>
            <a:srgbClr val="1A3050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6"/>
          <p:cNvSpPr/>
          <p:nvPr/>
        </p:nvSpPr>
        <p:spPr>
          <a:xfrm>
            <a:off x="4983480" y="2286000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B54"/>
              </a:buClr>
              <a:buSzPts val="1050"/>
              <a:buFont typeface="Calibri"/>
              <a:buNone/>
            </a:pPr>
            <a:r>
              <a:rPr lang="en-GB" sz="1050" b="1" i="0" u="none" strike="noStrike" cap="none">
                <a:solidFill>
                  <a:srgbClr val="FF7B54"/>
                </a:solidFill>
                <a:latin typeface="Calibri"/>
                <a:ea typeface="Calibri"/>
                <a:cs typeface="Calibri"/>
                <a:sym typeface="Calibri"/>
              </a:rPr>
              <a:t>Error — Hidden layer: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6"/>
          <p:cNvSpPr/>
          <p:nvPr/>
        </p:nvSpPr>
        <p:spPr>
          <a:xfrm>
            <a:off x="4983480" y="2560320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lang="en-GB" sz="13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Errⱼ = Oⱼ(1 − Oⱼ) Σₖ Errₖ wⱼₖ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6"/>
          <p:cNvSpPr/>
          <p:nvPr/>
        </p:nvSpPr>
        <p:spPr>
          <a:xfrm>
            <a:off x="4892040" y="3054096"/>
            <a:ext cx="3886200" cy="685800"/>
          </a:xfrm>
          <a:prstGeom prst="rect">
            <a:avLst/>
          </a:prstGeom>
          <a:solidFill>
            <a:srgbClr val="1A3050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6"/>
          <p:cNvSpPr/>
          <p:nvPr/>
        </p:nvSpPr>
        <p:spPr>
          <a:xfrm>
            <a:off x="4983480" y="3090672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B54"/>
              </a:buClr>
              <a:buSzPts val="1050"/>
              <a:buFont typeface="Calibri"/>
              <a:buNone/>
            </a:pPr>
            <a:r>
              <a:rPr lang="en-GB" sz="1050" b="1" i="0" u="none" strike="noStrike" cap="none">
                <a:solidFill>
                  <a:srgbClr val="FF7B54"/>
                </a:solidFill>
                <a:latin typeface="Calibri"/>
                <a:ea typeface="Calibri"/>
                <a:cs typeface="Calibri"/>
                <a:sym typeface="Calibri"/>
              </a:rPr>
              <a:t>Weight update: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6"/>
          <p:cNvSpPr/>
          <p:nvPr/>
        </p:nvSpPr>
        <p:spPr>
          <a:xfrm>
            <a:off x="4983480" y="3364992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lang="en-GB" sz="13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Δwᵢⱼ = l · Errⱼ · Oᵢ  →  wᵢⱼ += Δwᵢⱼ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6"/>
          <p:cNvSpPr/>
          <p:nvPr/>
        </p:nvSpPr>
        <p:spPr>
          <a:xfrm>
            <a:off x="4892040" y="3858768"/>
            <a:ext cx="3886200" cy="685800"/>
          </a:xfrm>
          <a:prstGeom prst="rect">
            <a:avLst/>
          </a:prstGeom>
          <a:solidFill>
            <a:srgbClr val="1A3050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6"/>
          <p:cNvSpPr/>
          <p:nvPr/>
        </p:nvSpPr>
        <p:spPr>
          <a:xfrm>
            <a:off x="4983480" y="3895344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B54"/>
              </a:buClr>
              <a:buSzPts val="1050"/>
              <a:buFont typeface="Calibri"/>
              <a:buNone/>
            </a:pPr>
            <a:r>
              <a:rPr lang="en-GB" sz="1050" b="1" i="0" u="none" strike="noStrike" cap="none">
                <a:solidFill>
                  <a:srgbClr val="FF7B54"/>
                </a:solidFill>
                <a:latin typeface="Calibri"/>
                <a:ea typeface="Calibri"/>
                <a:cs typeface="Calibri"/>
                <a:sym typeface="Calibri"/>
              </a:rPr>
              <a:t>Bias update: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6"/>
          <p:cNvSpPr/>
          <p:nvPr/>
        </p:nvSpPr>
        <p:spPr>
          <a:xfrm>
            <a:off x="4983480" y="4169664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lang="en-GB" sz="13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Δθⱼ = l · Errⱼ  →  θⱼ += Δθⱼ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363">
          <a:extLst>
            <a:ext uri="{FF2B5EF4-FFF2-40B4-BE49-F238E27FC236}">
              <a16:creationId xmlns:a16="http://schemas.microsoft.com/office/drawing/2014/main" id="{1DC72EFD-0344-253E-3A44-D9380607A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6">
            <a:extLst>
              <a:ext uri="{FF2B5EF4-FFF2-40B4-BE49-F238E27FC236}">
                <a16:creationId xmlns:a16="http://schemas.microsoft.com/office/drawing/2014/main" id="{FB21B3E2-E703-806C-A961-0003A909BA09}"/>
              </a:ext>
            </a:extLst>
          </p:cNvPr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GB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Backpropagation — Example 1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3BE5B6-531A-9C73-DFCC-631F61FFB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24744"/>
            <a:ext cx="8355745" cy="409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00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B54"/>
          </a:solidFill>
          <a:ln w="12700" cap="flat" cmpd="sng">
            <a:solidFill>
              <a:srgbClr val="FF7B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27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GB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Backpropagation — Worked Example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6D0DF9-8BBD-27D2-A68D-1173B33AD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99" y="804672"/>
            <a:ext cx="7914114" cy="42771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394">
          <a:extLst>
            <a:ext uri="{FF2B5EF4-FFF2-40B4-BE49-F238E27FC236}">
              <a16:creationId xmlns:a16="http://schemas.microsoft.com/office/drawing/2014/main" id="{94EC0C75-F413-16D2-F415-D5C04E57B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7">
            <a:extLst>
              <a:ext uri="{FF2B5EF4-FFF2-40B4-BE49-F238E27FC236}">
                <a16:creationId xmlns:a16="http://schemas.microsoft.com/office/drawing/2014/main" id="{B904381C-1070-3F71-1E6F-98ED5B80C60E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B54"/>
          </a:solidFill>
          <a:ln w="12700" cap="flat" cmpd="sng">
            <a:solidFill>
              <a:srgbClr val="FF7B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27">
            <a:extLst>
              <a:ext uri="{FF2B5EF4-FFF2-40B4-BE49-F238E27FC236}">
                <a16:creationId xmlns:a16="http://schemas.microsoft.com/office/drawing/2014/main" id="{E1B07292-60ED-BA58-583B-1335391BAEBC}"/>
              </a:ext>
            </a:extLst>
          </p:cNvPr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GB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Backpropagation — Worked Example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A020E3-9C1C-0F1B-F678-04385F9E2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51" y="839442"/>
            <a:ext cx="3916364" cy="33064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328116-ECE8-0348-033F-23C9918CBD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0015" y="804672"/>
            <a:ext cx="4968671" cy="337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159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363">
          <a:extLst>
            <a:ext uri="{FF2B5EF4-FFF2-40B4-BE49-F238E27FC236}">
              <a16:creationId xmlns:a16="http://schemas.microsoft.com/office/drawing/2014/main" id="{33738BBA-4FCE-DECB-E44C-BF24B3EFB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6">
            <a:extLst>
              <a:ext uri="{FF2B5EF4-FFF2-40B4-BE49-F238E27FC236}">
                <a16:creationId xmlns:a16="http://schemas.microsoft.com/office/drawing/2014/main" id="{8DD40B57-BD96-C443-C2EC-4C031708D26F}"/>
              </a:ext>
            </a:extLst>
          </p:cNvPr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GB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Backpropagation — Example 2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6AC641-9474-841F-9B31-39D474FDA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87" y="884307"/>
            <a:ext cx="7712108" cy="39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342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394">
          <a:extLst>
            <a:ext uri="{FF2B5EF4-FFF2-40B4-BE49-F238E27FC236}">
              <a16:creationId xmlns:a16="http://schemas.microsoft.com/office/drawing/2014/main" id="{A8A2019D-59BB-1EDE-298D-AF7D88B54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7">
            <a:extLst>
              <a:ext uri="{FF2B5EF4-FFF2-40B4-BE49-F238E27FC236}">
                <a16:creationId xmlns:a16="http://schemas.microsoft.com/office/drawing/2014/main" id="{6727D07D-C761-C342-FBA8-7112021D4A93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B54"/>
          </a:solidFill>
          <a:ln w="12700" cap="flat" cmpd="sng">
            <a:solidFill>
              <a:srgbClr val="FF7B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27">
            <a:extLst>
              <a:ext uri="{FF2B5EF4-FFF2-40B4-BE49-F238E27FC236}">
                <a16:creationId xmlns:a16="http://schemas.microsoft.com/office/drawing/2014/main" id="{68FD90FC-229D-01E6-0F0A-7F97468776C0}"/>
              </a:ext>
            </a:extLst>
          </p:cNvPr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GB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Backpropagation — Worked Example (Step 1)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A8E35A-9846-5CDB-7C25-898827764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58" y="885238"/>
            <a:ext cx="7094835" cy="38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887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394">
          <a:extLst>
            <a:ext uri="{FF2B5EF4-FFF2-40B4-BE49-F238E27FC236}">
              <a16:creationId xmlns:a16="http://schemas.microsoft.com/office/drawing/2014/main" id="{6003D511-5DA9-F030-F465-5F24D676E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7">
            <a:extLst>
              <a:ext uri="{FF2B5EF4-FFF2-40B4-BE49-F238E27FC236}">
                <a16:creationId xmlns:a16="http://schemas.microsoft.com/office/drawing/2014/main" id="{087CE4AF-F7C8-48B7-8BE8-D8A092710934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B54"/>
          </a:solidFill>
          <a:ln w="12700" cap="flat" cmpd="sng">
            <a:solidFill>
              <a:srgbClr val="FF7B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27">
            <a:extLst>
              <a:ext uri="{FF2B5EF4-FFF2-40B4-BE49-F238E27FC236}">
                <a16:creationId xmlns:a16="http://schemas.microsoft.com/office/drawing/2014/main" id="{B1F797A9-53A7-3587-3568-17AB624DA07B}"/>
              </a:ext>
            </a:extLst>
          </p:cNvPr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GB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Backpropagation — Worked Example (Step 2)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303905-4A61-C45B-264E-C319487A4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21610"/>
            <a:ext cx="7712108" cy="301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110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394">
          <a:extLst>
            <a:ext uri="{FF2B5EF4-FFF2-40B4-BE49-F238E27FC236}">
              <a16:creationId xmlns:a16="http://schemas.microsoft.com/office/drawing/2014/main" id="{3EB5545B-A1C2-3A49-EA61-C7477FFC6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7">
            <a:extLst>
              <a:ext uri="{FF2B5EF4-FFF2-40B4-BE49-F238E27FC236}">
                <a16:creationId xmlns:a16="http://schemas.microsoft.com/office/drawing/2014/main" id="{2A21F7FA-EB35-87D9-8BC8-3B93566073F0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B54"/>
          </a:solidFill>
          <a:ln w="12700" cap="flat" cmpd="sng">
            <a:solidFill>
              <a:srgbClr val="FF7B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27">
            <a:extLst>
              <a:ext uri="{FF2B5EF4-FFF2-40B4-BE49-F238E27FC236}">
                <a16:creationId xmlns:a16="http://schemas.microsoft.com/office/drawing/2014/main" id="{E86C3478-1F83-B997-5E1A-26E0DEC59AD2}"/>
              </a:ext>
            </a:extLst>
          </p:cNvPr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GB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Backpropagation — Worked Example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9F84-872B-3881-5BD0-6D7806958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89" y="984601"/>
            <a:ext cx="7098648" cy="3142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600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394">
          <a:extLst>
            <a:ext uri="{FF2B5EF4-FFF2-40B4-BE49-F238E27FC236}">
              <a16:creationId xmlns:a16="http://schemas.microsoft.com/office/drawing/2014/main" id="{9AF58C0C-1930-8C92-F034-1F4FB35FF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7">
            <a:extLst>
              <a:ext uri="{FF2B5EF4-FFF2-40B4-BE49-F238E27FC236}">
                <a16:creationId xmlns:a16="http://schemas.microsoft.com/office/drawing/2014/main" id="{4AF4E3C2-D998-ABD7-D860-928AFBE2CFF7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B54"/>
          </a:solidFill>
          <a:ln w="12700" cap="flat" cmpd="sng">
            <a:solidFill>
              <a:srgbClr val="FF7B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27">
            <a:extLst>
              <a:ext uri="{FF2B5EF4-FFF2-40B4-BE49-F238E27FC236}">
                <a16:creationId xmlns:a16="http://schemas.microsoft.com/office/drawing/2014/main" id="{751238FC-7F3C-9C8D-48A8-924B52A31C80}"/>
              </a:ext>
            </a:extLst>
          </p:cNvPr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GB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Backpropagation — Worked Example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9DCD8C-3D78-C3E8-EABD-190399E6A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64" y="866188"/>
            <a:ext cx="7605419" cy="39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492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394">
          <a:extLst>
            <a:ext uri="{FF2B5EF4-FFF2-40B4-BE49-F238E27FC236}">
              <a16:creationId xmlns:a16="http://schemas.microsoft.com/office/drawing/2014/main" id="{A8AFDB2E-FA35-5672-1161-70A3003C8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7">
            <a:extLst>
              <a:ext uri="{FF2B5EF4-FFF2-40B4-BE49-F238E27FC236}">
                <a16:creationId xmlns:a16="http://schemas.microsoft.com/office/drawing/2014/main" id="{70CF2C62-1FB7-B141-48B7-2BF5BF957A2D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B54"/>
          </a:solidFill>
          <a:ln w="12700" cap="flat" cmpd="sng">
            <a:solidFill>
              <a:srgbClr val="FF7B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27">
            <a:extLst>
              <a:ext uri="{FF2B5EF4-FFF2-40B4-BE49-F238E27FC236}">
                <a16:creationId xmlns:a16="http://schemas.microsoft.com/office/drawing/2014/main" id="{E5BB7AE4-912F-A354-EDA4-170AEDB09437}"/>
              </a:ext>
            </a:extLst>
          </p:cNvPr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GB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Backpropagation — Worked Example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70AC8F-FF6F-F1CC-C717-22C41899B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23" y="914150"/>
            <a:ext cx="7734970" cy="362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84971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645</Words>
  <Application>Microsoft Office PowerPoint</Application>
  <PresentationFormat>On-screen Show (16:9)</PresentationFormat>
  <Paragraphs>126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Courier New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LOQ</dc:creator>
  <cp:lastModifiedBy>Sinmbf Lost</cp:lastModifiedBy>
  <cp:revision>15</cp:revision>
  <dcterms:modified xsi:type="dcterms:W3CDTF">2026-04-10T04:00:59Z</dcterms:modified>
</cp:coreProperties>
</file>