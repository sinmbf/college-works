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US" sz="1800" b="0" i="0" u="none" strike="noStrike">
                <a:solidFill>
                  <a:srgbClr val="000000"/>
                </a:solidFill>
                <a:latin typeface="Arial"/>
              </a:rPr>
              <a:t>Model Accuracy (%)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Train Accuracy</c:v>
                </c:pt>
              </c:strCache>
            </c:strRef>
          </c:tx>
          <c:spPr>
            <a:ln w="31750" cap="flat">
              <a:solidFill>
                <a:srgbClr val="1565C0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1565C0"/>
              </a:solidFill>
              <a:ln w="9525" cap="flat">
                <a:solidFill>
                  <a:srgbClr val="1565C0"/>
                </a:solidFill>
                <a:prstDash val="solid"/>
                <a:round/>
              </a:ln>
              <a:effectLst/>
            </c:spPr>
          </c:marker>
          <c:cat>
            <c:strRef>
              <c:f>Sheet1!$A$2:$A$11</c:f>
              <c:strCache>
                <c:ptCount val="1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72</c:v>
                </c:pt>
                <c:pt idx="1">
                  <c:v>81</c:v>
                </c:pt>
                <c:pt idx="2">
                  <c:v>85</c:v>
                </c:pt>
                <c:pt idx="3">
                  <c:v>87</c:v>
                </c:pt>
                <c:pt idx="4">
                  <c:v>89</c:v>
                </c:pt>
                <c:pt idx="5">
                  <c:v>90</c:v>
                </c:pt>
                <c:pt idx="6">
                  <c:v>91</c:v>
                </c:pt>
                <c:pt idx="7">
                  <c:v>92.4</c:v>
                </c:pt>
                <c:pt idx="8">
                  <c:v>92.8</c:v>
                </c:pt>
                <c:pt idx="9">
                  <c:v>93.2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0956-427C-B385-6040FDE9858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Val Accuracy</c:v>
                </c:pt>
              </c:strCache>
            </c:strRef>
          </c:tx>
          <c:spPr>
            <a:ln w="31750" cap="flat">
              <a:solidFill>
                <a:srgbClr val="0D7A8A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D7A8A"/>
              </a:solidFill>
              <a:ln w="9525" cap="flat">
                <a:solidFill>
                  <a:srgbClr val="0D7A8A"/>
                </a:solidFill>
                <a:prstDash val="solid"/>
                <a:round/>
              </a:ln>
              <a:effectLst/>
            </c:spPr>
          </c:marker>
          <c:cat>
            <c:strRef>
              <c:f>Sheet1!$A$2:$A$11</c:f>
              <c:strCache>
                <c:ptCount val="1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</c:strCache>
            </c: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70</c:v>
                </c:pt>
                <c:pt idx="1">
                  <c:v>79</c:v>
                </c:pt>
                <c:pt idx="2">
                  <c:v>83</c:v>
                </c:pt>
                <c:pt idx="3">
                  <c:v>85</c:v>
                </c:pt>
                <c:pt idx="4">
                  <c:v>87</c:v>
                </c:pt>
                <c:pt idx="5">
                  <c:v>89</c:v>
                </c:pt>
                <c:pt idx="6">
                  <c:v>90</c:v>
                </c:pt>
                <c:pt idx="7">
                  <c:v>91</c:v>
                </c:pt>
                <c:pt idx="8">
                  <c:v>92.1</c:v>
                </c:pt>
                <c:pt idx="9">
                  <c:v>92.85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0956-427C-B385-6040FDE9858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US" sz="1800" b="0" i="0" u="none" strike="noStrike">
                <a:solidFill>
                  <a:srgbClr val="000000"/>
                </a:solidFill>
                <a:latin typeface="Arial"/>
              </a:rPr>
              <a:t>Model Loss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Train Loss</c:v>
                </c:pt>
              </c:strCache>
            </c:strRef>
          </c:tx>
          <c:spPr>
            <a:ln w="31750" cap="flat">
              <a:solidFill>
                <a:srgbClr val="C67700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C67700"/>
              </a:solidFill>
              <a:ln w="9525" cap="flat">
                <a:solidFill>
                  <a:srgbClr val="C67700"/>
                </a:solidFill>
                <a:prstDash val="solid"/>
                <a:round/>
              </a:ln>
              <a:effectLst/>
            </c:spPr>
          </c:marker>
          <c:cat>
            <c:strRef>
              <c:f>Sheet1!$A$2:$A$11</c:f>
              <c:strCache>
                <c:ptCount val="1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0.68</c:v>
                </c:pt>
                <c:pt idx="1">
                  <c:v>0.52</c:v>
                </c:pt>
                <c:pt idx="2">
                  <c:v>0.42</c:v>
                </c:pt>
                <c:pt idx="3">
                  <c:v>0.36</c:v>
                </c:pt>
                <c:pt idx="4">
                  <c:v>0.31</c:v>
                </c:pt>
                <c:pt idx="5">
                  <c:v>0.27</c:v>
                </c:pt>
                <c:pt idx="6">
                  <c:v>0.24</c:v>
                </c:pt>
                <c:pt idx="7">
                  <c:v>0.22</c:v>
                </c:pt>
                <c:pt idx="8">
                  <c:v>0.21</c:v>
                </c:pt>
                <c:pt idx="9">
                  <c:v>0.2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63AB-48BB-B808-ECE443675B02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Val Loss</c:v>
                </c:pt>
              </c:strCache>
            </c:strRef>
          </c:tx>
          <c:spPr>
            <a:ln w="31750" cap="flat">
              <a:solidFill>
                <a:srgbClr val="C0392B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C0392B"/>
              </a:solidFill>
              <a:ln w="9525" cap="flat">
                <a:solidFill>
                  <a:srgbClr val="C0392B"/>
                </a:solidFill>
                <a:prstDash val="solid"/>
                <a:round/>
              </a:ln>
              <a:effectLst/>
            </c:spPr>
          </c:marker>
          <c:cat>
            <c:strRef>
              <c:f>Sheet1!$A$2:$A$11</c:f>
              <c:strCache>
                <c:ptCount val="1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</c:strCache>
            </c: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0.7</c:v>
                </c:pt>
                <c:pt idx="1">
                  <c:v>0.55000000000000004</c:v>
                </c:pt>
                <c:pt idx="2">
                  <c:v>0.45</c:v>
                </c:pt>
                <c:pt idx="3">
                  <c:v>0.39</c:v>
                </c:pt>
                <c:pt idx="4">
                  <c:v>0.34</c:v>
                </c:pt>
                <c:pt idx="5">
                  <c:v>0.3</c:v>
                </c:pt>
                <c:pt idx="6">
                  <c:v>0.27</c:v>
                </c:pt>
                <c:pt idx="7">
                  <c:v>0.24</c:v>
                </c:pt>
                <c:pt idx="8">
                  <c:v>0.22</c:v>
                </c:pt>
                <c:pt idx="9">
                  <c:v>0.2097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63AB-48BB-B808-ECE443675B0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8938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A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583680" y="0"/>
            <a:ext cx="2560320" cy="5143500"/>
          </a:xfrm>
          <a:prstGeom prst="rect">
            <a:avLst/>
          </a:prstGeom>
          <a:solidFill>
            <a:srgbClr val="162F5A"/>
          </a:solidFill>
          <a:ln w="12700">
            <a:solidFill>
              <a:srgbClr val="162F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0" y="457200"/>
            <a:ext cx="1371600" cy="13716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36576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7FB3C8"/>
                </a:solidFill>
              </a:rPr>
              <a:t>BACHELOR'S PROJECT  ·  PRESENTATION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548640" y="777240"/>
            <a:ext cx="5943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Mask Detection</a:t>
            </a:r>
            <a:endParaRPr lang="en-US" sz="3200" dirty="0"/>
          </a:p>
        </p:txBody>
      </p:sp>
      <p:sp>
        <p:nvSpPr>
          <p:cNvPr id="7" name="Text 4"/>
          <p:cNvSpPr/>
          <p:nvPr/>
        </p:nvSpPr>
        <p:spPr>
          <a:xfrm>
            <a:off x="548640" y="1554480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A3C4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Deep Learning (CNN) &amp; Streamlit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548640" y="2194560"/>
            <a:ext cx="5029200" cy="36576"/>
          </a:xfrm>
          <a:prstGeom prst="rect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548640" y="242316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7FB3C8"/>
                </a:solidFill>
              </a:rPr>
              <a:t>PRESENTED BY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548640" y="2788920"/>
            <a:ext cx="5029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Siddhartha Shakya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6583680" y="44805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7315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772400" y="109728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FB3C8"/>
                </a:solidFill>
              </a:rPr>
              <a:t>Slide 02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20040" y="822960"/>
            <a:ext cx="502920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914400"/>
            <a:ext cx="4114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05840" y="88696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Face Mask Detection?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02920" y="1298448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automated computer vision system that classifies whether a person is wearing a face mask or not using a Convolutional Neural Network (CNN).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20040" y="2176272"/>
            <a:ext cx="50292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2267712"/>
            <a:ext cx="411480" cy="4114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005840" y="224028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 of the Project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502920" y="2651760"/>
            <a:ext cx="4663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promote public health safety by detecting face mask, using deep learning and a browser-based interface built with Streamlit.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5532120" y="822960"/>
            <a:ext cx="3291840" cy="3703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0"/>
          <p:cNvSpPr/>
          <p:nvPr/>
        </p:nvSpPr>
        <p:spPr>
          <a:xfrm>
            <a:off x="5623560" y="89611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6B"/>
                </a:solidFill>
              </a:rPr>
              <a:t>Technologies Used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5669280" y="1371600"/>
            <a:ext cx="3017520" cy="621792"/>
          </a:xfrm>
          <a:prstGeom prst="rect">
            <a:avLst/>
          </a:prstGeom>
          <a:solidFill>
            <a:srgbClr val="E8F6F8"/>
          </a:solidFill>
          <a:ln w="12700">
            <a:solidFill>
              <a:srgbClr val="D1EC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06440" y="1463040"/>
            <a:ext cx="365760" cy="3657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291072" y="14173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3A6B"/>
                </a:solidFill>
              </a:rPr>
              <a:t>Python</a:t>
            </a:r>
            <a:endParaRPr lang="en-US" sz="1100" dirty="0"/>
          </a:p>
        </p:txBody>
      </p:sp>
      <p:sp>
        <p:nvSpPr>
          <p:cNvPr id="18" name="Text 13"/>
          <p:cNvSpPr/>
          <p:nvPr/>
        </p:nvSpPr>
        <p:spPr>
          <a:xfrm>
            <a:off x="6291072" y="167335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Core programming language</a:t>
            </a:r>
            <a:endParaRPr lang="en-US" sz="950" dirty="0"/>
          </a:p>
        </p:txBody>
      </p:sp>
      <p:sp>
        <p:nvSpPr>
          <p:cNvPr id="19" name="Shape 14"/>
          <p:cNvSpPr/>
          <p:nvPr/>
        </p:nvSpPr>
        <p:spPr>
          <a:xfrm>
            <a:off x="5669280" y="2121408"/>
            <a:ext cx="3017520" cy="621792"/>
          </a:xfrm>
          <a:prstGeom prst="rect">
            <a:avLst/>
          </a:prstGeom>
          <a:solidFill>
            <a:srgbClr val="E8F6F8"/>
          </a:solidFill>
          <a:ln w="12700">
            <a:solidFill>
              <a:srgbClr val="D1EC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06440" y="2212848"/>
            <a:ext cx="365760" cy="36576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6291072" y="216712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3A6B"/>
                </a:solidFill>
              </a:rPr>
              <a:t>TensorFlow / Keras</a:t>
            </a:r>
            <a:endParaRPr lang="en-US" sz="1100" dirty="0"/>
          </a:p>
        </p:txBody>
      </p:sp>
      <p:sp>
        <p:nvSpPr>
          <p:cNvPr id="22" name="Text 16"/>
          <p:cNvSpPr/>
          <p:nvPr/>
        </p:nvSpPr>
        <p:spPr>
          <a:xfrm>
            <a:off x="6291072" y="242316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CNN model training</a:t>
            </a:r>
            <a:endParaRPr lang="en-US" sz="950" dirty="0"/>
          </a:p>
        </p:txBody>
      </p:sp>
      <p:sp>
        <p:nvSpPr>
          <p:cNvPr id="23" name="Shape 17"/>
          <p:cNvSpPr/>
          <p:nvPr/>
        </p:nvSpPr>
        <p:spPr>
          <a:xfrm>
            <a:off x="5669280" y="2871216"/>
            <a:ext cx="3017520" cy="621792"/>
          </a:xfrm>
          <a:prstGeom prst="rect">
            <a:avLst/>
          </a:prstGeom>
          <a:solidFill>
            <a:srgbClr val="E8F6F8"/>
          </a:solidFill>
          <a:ln w="12700">
            <a:solidFill>
              <a:srgbClr val="D1EC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06440" y="2962656"/>
            <a:ext cx="365760" cy="365760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6291072" y="291693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3A6B"/>
                </a:solidFill>
              </a:rPr>
              <a:t>OpenCV</a:t>
            </a:r>
            <a:endParaRPr lang="en-US" sz="1100" dirty="0"/>
          </a:p>
        </p:txBody>
      </p:sp>
      <p:sp>
        <p:nvSpPr>
          <p:cNvPr id="26" name="Text 19"/>
          <p:cNvSpPr/>
          <p:nvPr/>
        </p:nvSpPr>
        <p:spPr>
          <a:xfrm>
            <a:off x="6291072" y="317296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Image processing</a:t>
            </a:r>
            <a:endParaRPr lang="en-US" sz="950" dirty="0"/>
          </a:p>
        </p:txBody>
      </p:sp>
      <p:sp>
        <p:nvSpPr>
          <p:cNvPr id="27" name="Shape 20"/>
          <p:cNvSpPr/>
          <p:nvPr/>
        </p:nvSpPr>
        <p:spPr>
          <a:xfrm>
            <a:off x="5669280" y="3621024"/>
            <a:ext cx="3017520" cy="621792"/>
          </a:xfrm>
          <a:prstGeom prst="rect">
            <a:avLst/>
          </a:prstGeom>
          <a:solidFill>
            <a:srgbClr val="E8F6F8"/>
          </a:solidFill>
          <a:ln w="12700">
            <a:solidFill>
              <a:srgbClr val="D1EC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8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806440" y="3712464"/>
            <a:ext cx="365760" cy="365760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6291072" y="366674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3A6B"/>
                </a:solidFill>
              </a:rPr>
              <a:t>Streamlit</a:t>
            </a:r>
            <a:endParaRPr lang="en-US" sz="1100" dirty="0"/>
          </a:p>
        </p:txBody>
      </p:sp>
      <p:sp>
        <p:nvSpPr>
          <p:cNvPr id="30" name="Text 22"/>
          <p:cNvSpPr/>
          <p:nvPr/>
        </p:nvSpPr>
        <p:spPr>
          <a:xfrm>
            <a:off x="6291072" y="3922776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Web application framework</a:t>
            </a:r>
            <a:endParaRPr lang="en-US" sz="950" dirty="0"/>
          </a:p>
        </p:txBody>
      </p:sp>
      <p:sp>
        <p:nvSpPr>
          <p:cNvPr id="31" name="Shape 23"/>
          <p:cNvSpPr/>
          <p:nvPr/>
        </p:nvSpPr>
        <p:spPr>
          <a:xfrm>
            <a:off x="0" y="4846320"/>
            <a:ext cx="9144000" cy="292608"/>
          </a:xfrm>
          <a:prstGeom prst="rect">
            <a:avLst/>
          </a:prstGeom>
          <a:solidFill>
            <a:srgbClr val="E8F6F8"/>
          </a:solidFill>
          <a:ln w="12700">
            <a:solidFill>
              <a:srgbClr val="E8F6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24"/>
          <p:cNvSpPr/>
          <p:nvPr/>
        </p:nvSpPr>
        <p:spPr>
          <a:xfrm>
            <a:off x="274320" y="4873752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D7A8A"/>
                </a:solidFill>
              </a:rPr>
              <a:t>Face Mask Detection Using CNN &amp; Streamlit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7315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772400" y="109728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FB3C8"/>
                </a:solidFill>
              </a:rPr>
              <a:t>Slide 03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74320" y="777240"/>
            <a:ext cx="429768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38912" y="960120"/>
            <a:ext cx="457200" cy="457200"/>
          </a:xfrm>
          <a:prstGeom prst="ellipse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38912" y="960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" y="960120"/>
            <a:ext cx="457200" cy="4572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57200" y="1490472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CNN-Based Detection System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57200" y="1856232"/>
            <a:ext cx="3886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Develop a deep learning model using Convolutional Neural Networks trained on face image datasets to detect mask compliance.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4709160" y="777240"/>
            <a:ext cx="429768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4873752" y="960120"/>
            <a:ext cx="457200" cy="45720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4873752" y="960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0" y="960120"/>
            <a:ext cx="457200" cy="45720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892040" y="1490472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Classification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4892040" y="1856232"/>
            <a:ext cx="3886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Accurately classify input images into two categories: Mask and No Mask with high confidence.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274320" y="2788920"/>
            <a:ext cx="429768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4"/>
          <p:cNvSpPr/>
          <p:nvPr/>
        </p:nvSpPr>
        <p:spPr>
          <a:xfrm>
            <a:off x="438912" y="2971800"/>
            <a:ext cx="457200" cy="457200"/>
          </a:xfrm>
          <a:prstGeom prst="ellipse">
            <a:avLst/>
          </a:prstGeom>
          <a:solidFill>
            <a:srgbClr val="0F7A5A"/>
          </a:solidFill>
          <a:ln w="12700">
            <a:solidFill>
              <a:srgbClr val="0F7A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5"/>
          <p:cNvSpPr/>
          <p:nvPr/>
        </p:nvSpPr>
        <p:spPr>
          <a:xfrm>
            <a:off x="438912" y="2971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1560" y="2971800"/>
            <a:ext cx="457200" cy="45720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457200" y="3502152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User-Friendly Web Application</a:t>
            </a:r>
            <a:endParaRPr lang="en-US" sz="1200" dirty="0"/>
          </a:p>
        </p:txBody>
      </p:sp>
      <p:sp>
        <p:nvSpPr>
          <p:cNvPr id="22" name="Text 17"/>
          <p:cNvSpPr/>
          <p:nvPr/>
        </p:nvSpPr>
        <p:spPr>
          <a:xfrm>
            <a:off x="457200" y="3867912"/>
            <a:ext cx="3886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Build an intuitive, browser-based app using Streamlit for easy image upload and real-time prediction output.</a:t>
            </a:r>
            <a:endParaRPr lang="en-US" sz="1050" dirty="0"/>
          </a:p>
        </p:txBody>
      </p:sp>
      <p:sp>
        <p:nvSpPr>
          <p:cNvPr id="23" name="Shape 18"/>
          <p:cNvSpPr/>
          <p:nvPr/>
        </p:nvSpPr>
        <p:spPr>
          <a:xfrm>
            <a:off x="4709160" y="2788920"/>
            <a:ext cx="429768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19"/>
          <p:cNvSpPr/>
          <p:nvPr/>
        </p:nvSpPr>
        <p:spPr>
          <a:xfrm>
            <a:off x="4873752" y="2971800"/>
            <a:ext cx="457200" cy="457200"/>
          </a:xfrm>
          <a:prstGeom prst="ellipse">
            <a:avLst/>
          </a:prstGeom>
          <a:solidFill>
            <a:srgbClr val="7B2D8B"/>
          </a:solidFill>
          <a:ln w="12700">
            <a:solidFill>
              <a:srgbClr val="7B2D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0"/>
          <p:cNvSpPr/>
          <p:nvPr/>
        </p:nvSpPr>
        <p:spPr>
          <a:xfrm>
            <a:off x="4873752" y="2971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6400" y="2971800"/>
            <a:ext cx="457200" cy="457200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4892040" y="3502152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AI Demonstration</a:t>
            </a:r>
            <a:endParaRPr lang="en-US" sz="1200" dirty="0"/>
          </a:p>
        </p:txBody>
      </p:sp>
      <p:sp>
        <p:nvSpPr>
          <p:cNvPr id="28" name="Text 22"/>
          <p:cNvSpPr/>
          <p:nvPr/>
        </p:nvSpPr>
        <p:spPr>
          <a:xfrm>
            <a:off x="4892040" y="3867912"/>
            <a:ext cx="3886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Demonstrate a complete end-to-end application of Deep Learning and Computer Vision in a real-world public health context.</a:t>
            </a:r>
            <a:endParaRPr lang="en-US" sz="1050" dirty="0"/>
          </a:p>
        </p:txBody>
      </p:sp>
      <p:sp>
        <p:nvSpPr>
          <p:cNvPr id="29" name="Shape 23"/>
          <p:cNvSpPr/>
          <p:nvPr/>
        </p:nvSpPr>
        <p:spPr>
          <a:xfrm>
            <a:off x="0" y="4846320"/>
            <a:ext cx="9144000" cy="292608"/>
          </a:xfrm>
          <a:prstGeom prst="rect">
            <a:avLst/>
          </a:prstGeom>
          <a:solidFill>
            <a:srgbClr val="E8F6F8"/>
          </a:solidFill>
          <a:ln w="12700">
            <a:solidFill>
              <a:srgbClr val="E8F6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4"/>
          <p:cNvSpPr/>
          <p:nvPr/>
        </p:nvSpPr>
        <p:spPr>
          <a:xfrm>
            <a:off x="274320" y="4873752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D7A8A"/>
                </a:solidFill>
              </a:rPr>
              <a:t>Face Mask Detection Using CNN &amp; Streamlit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7315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Workflow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772400" y="109728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FB3C8"/>
                </a:solidFill>
              </a:rPr>
              <a:t>Slide 04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20040" y="822960"/>
            <a:ext cx="1389888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635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20040" y="822960"/>
            <a:ext cx="1389888" cy="43891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20040" y="822960"/>
            <a:ext cx="13898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  <a:endParaRPr lang="en-US" sz="15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524" y="1353312"/>
            <a:ext cx="502920" cy="5029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365760" y="1920240"/>
            <a:ext cx="12984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393192" y="2450592"/>
            <a:ext cx="12435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</a:rPr>
              <a:t>User uploads a face image via the Streamlit web interface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1737360" y="1892808"/>
            <a:ext cx="155448" cy="0"/>
          </a:xfrm>
          <a:prstGeom prst="line">
            <a:avLst/>
          </a:prstGeom>
          <a:noFill/>
          <a:ln w="25400">
            <a:solidFill>
              <a:srgbClr val="0D7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1792224" y="1728216"/>
            <a:ext cx="1645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D7A8A"/>
                </a:solidFill>
              </a:rPr>
              <a:t>▶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1911096" y="822960"/>
            <a:ext cx="1389888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635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1911096" y="822960"/>
            <a:ext cx="1389888" cy="438912"/>
          </a:xfrm>
          <a:prstGeom prst="rect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1911096" y="822960"/>
            <a:ext cx="13898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2</a:t>
            </a:r>
            <a:endParaRPr lang="en-US" sz="1500" dirty="0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54580" y="1353312"/>
            <a:ext cx="502920" cy="50292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1956816" y="1920240"/>
            <a:ext cx="12984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</a:t>
            </a:r>
            <a:endParaRPr lang="en-US" sz="1100" dirty="0"/>
          </a:p>
        </p:txBody>
      </p:sp>
      <p:sp>
        <p:nvSpPr>
          <p:cNvPr id="18" name="Text 14"/>
          <p:cNvSpPr/>
          <p:nvPr/>
        </p:nvSpPr>
        <p:spPr>
          <a:xfrm>
            <a:off x="1984248" y="2450592"/>
            <a:ext cx="12435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</a:rPr>
              <a:t>Image resized to 224×224, normalized, and converted to model input</a:t>
            </a:r>
            <a:endParaRPr lang="en-US" sz="850" dirty="0"/>
          </a:p>
        </p:txBody>
      </p:sp>
      <p:sp>
        <p:nvSpPr>
          <p:cNvPr id="19" name="Shape 15"/>
          <p:cNvSpPr/>
          <p:nvPr/>
        </p:nvSpPr>
        <p:spPr>
          <a:xfrm>
            <a:off x="3328416" y="1892808"/>
            <a:ext cx="155448" cy="0"/>
          </a:xfrm>
          <a:prstGeom prst="line">
            <a:avLst/>
          </a:prstGeom>
          <a:noFill/>
          <a:ln w="25400">
            <a:solidFill>
              <a:srgbClr val="0D7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6"/>
          <p:cNvSpPr/>
          <p:nvPr/>
        </p:nvSpPr>
        <p:spPr>
          <a:xfrm>
            <a:off x="3383280" y="1728216"/>
            <a:ext cx="1645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D7A8A"/>
                </a:solidFill>
              </a:rPr>
              <a:t>▶</a:t>
            </a:r>
            <a:endParaRPr lang="en-US" sz="1000" dirty="0"/>
          </a:p>
        </p:txBody>
      </p:sp>
      <p:sp>
        <p:nvSpPr>
          <p:cNvPr id="21" name="Shape 17"/>
          <p:cNvSpPr/>
          <p:nvPr/>
        </p:nvSpPr>
        <p:spPr>
          <a:xfrm>
            <a:off x="3502152" y="822960"/>
            <a:ext cx="1389888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635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18"/>
          <p:cNvSpPr/>
          <p:nvPr/>
        </p:nvSpPr>
        <p:spPr>
          <a:xfrm>
            <a:off x="3502152" y="822960"/>
            <a:ext cx="1389888" cy="438912"/>
          </a:xfrm>
          <a:prstGeom prst="rect">
            <a:avLst/>
          </a:prstGeom>
          <a:solidFill>
            <a:srgbClr val="7B2D8B"/>
          </a:solidFill>
          <a:ln w="12700">
            <a:solidFill>
              <a:srgbClr val="7B2D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19"/>
          <p:cNvSpPr/>
          <p:nvPr/>
        </p:nvSpPr>
        <p:spPr>
          <a:xfrm>
            <a:off x="3502152" y="822960"/>
            <a:ext cx="13898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3</a:t>
            </a:r>
            <a:endParaRPr lang="en-US" sz="1500" dirty="0"/>
          </a:p>
        </p:txBody>
      </p:sp>
      <p:pic>
        <p:nvPicPr>
          <p:cNvPr id="2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45636" y="1353312"/>
            <a:ext cx="502920" cy="502920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3547872" y="1920240"/>
            <a:ext cx="12984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100" dirty="0"/>
          </a:p>
        </p:txBody>
      </p:sp>
      <p:sp>
        <p:nvSpPr>
          <p:cNvPr id="26" name="Text 21"/>
          <p:cNvSpPr/>
          <p:nvPr/>
        </p:nvSpPr>
        <p:spPr>
          <a:xfrm>
            <a:off x="3575304" y="2450592"/>
            <a:ext cx="12435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</a:rPr>
              <a:t>Pre-trained CNN model analyzes features from convolutional layers</a:t>
            </a:r>
            <a:endParaRPr lang="en-US" sz="850" dirty="0"/>
          </a:p>
        </p:txBody>
      </p:sp>
      <p:sp>
        <p:nvSpPr>
          <p:cNvPr id="27" name="Shape 22"/>
          <p:cNvSpPr/>
          <p:nvPr/>
        </p:nvSpPr>
        <p:spPr>
          <a:xfrm>
            <a:off x="4919472" y="1892808"/>
            <a:ext cx="155448" cy="0"/>
          </a:xfrm>
          <a:prstGeom prst="line">
            <a:avLst/>
          </a:prstGeom>
          <a:noFill/>
          <a:ln w="25400">
            <a:solidFill>
              <a:srgbClr val="0D7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3"/>
          <p:cNvSpPr/>
          <p:nvPr/>
        </p:nvSpPr>
        <p:spPr>
          <a:xfrm>
            <a:off x="4974336" y="1728216"/>
            <a:ext cx="1645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D7A8A"/>
                </a:solidFill>
              </a:rPr>
              <a:t>▶</a:t>
            </a:r>
            <a:endParaRPr lang="en-US" sz="1000" dirty="0"/>
          </a:p>
        </p:txBody>
      </p:sp>
      <p:sp>
        <p:nvSpPr>
          <p:cNvPr id="29" name="Shape 24"/>
          <p:cNvSpPr/>
          <p:nvPr/>
        </p:nvSpPr>
        <p:spPr>
          <a:xfrm>
            <a:off x="5093208" y="822960"/>
            <a:ext cx="1389888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635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5"/>
          <p:cNvSpPr/>
          <p:nvPr/>
        </p:nvSpPr>
        <p:spPr>
          <a:xfrm>
            <a:off x="5093208" y="822960"/>
            <a:ext cx="1389888" cy="438912"/>
          </a:xfrm>
          <a:prstGeom prst="rect">
            <a:avLst/>
          </a:prstGeom>
          <a:solidFill>
            <a:srgbClr val="0F7A5A"/>
          </a:solidFill>
          <a:ln w="12700">
            <a:solidFill>
              <a:srgbClr val="0F7A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6"/>
          <p:cNvSpPr/>
          <p:nvPr/>
        </p:nvSpPr>
        <p:spPr>
          <a:xfrm>
            <a:off x="5093208" y="822960"/>
            <a:ext cx="13898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4</a:t>
            </a:r>
            <a:endParaRPr lang="en-US" sz="1500" dirty="0"/>
          </a:p>
        </p:txBody>
      </p:sp>
      <p:pic>
        <p:nvPicPr>
          <p:cNvPr id="3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36692" y="1353312"/>
            <a:ext cx="502920" cy="502920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5138928" y="1920240"/>
            <a:ext cx="12984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</a:t>
            </a:r>
            <a:endParaRPr lang="en-US" sz="1100" dirty="0"/>
          </a:p>
        </p:txBody>
      </p:sp>
      <p:sp>
        <p:nvSpPr>
          <p:cNvPr id="34" name="Text 28"/>
          <p:cNvSpPr/>
          <p:nvPr/>
        </p:nvSpPr>
        <p:spPr>
          <a:xfrm>
            <a:off x="5166360" y="2450592"/>
            <a:ext cx="12435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</a:rPr>
              <a:t>Softmax output determines: Mask or No Mask with confidence score</a:t>
            </a:r>
            <a:endParaRPr lang="en-US" sz="850" dirty="0"/>
          </a:p>
        </p:txBody>
      </p:sp>
      <p:sp>
        <p:nvSpPr>
          <p:cNvPr id="35" name="Shape 29"/>
          <p:cNvSpPr/>
          <p:nvPr/>
        </p:nvSpPr>
        <p:spPr>
          <a:xfrm>
            <a:off x="6510528" y="1892808"/>
            <a:ext cx="155448" cy="0"/>
          </a:xfrm>
          <a:prstGeom prst="line">
            <a:avLst/>
          </a:prstGeom>
          <a:noFill/>
          <a:ln w="25400">
            <a:solidFill>
              <a:srgbClr val="0D7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0"/>
          <p:cNvSpPr/>
          <p:nvPr/>
        </p:nvSpPr>
        <p:spPr>
          <a:xfrm>
            <a:off x="6565392" y="1728216"/>
            <a:ext cx="1645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D7A8A"/>
                </a:solidFill>
              </a:rPr>
              <a:t>▶</a:t>
            </a:r>
            <a:endParaRPr lang="en-US" sz="1000" dirty="0"/>
          </a:p>
        </p:txBody>
      </p:sp>
      <p:sp>
        <p:nvSpPr>
          <p:cNvPr id="37" name="Shape 31"/>
          <p:cNvSpPr/>
          <p:nvPr/>
        </p:nvSpPr>
        <p:spPr>
          <a:xfrm>
            <a:off x="6684264" y="822960"/>
            <a:ext cx="1389888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635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8" name="Shape 32"/>
          <p:cNvSpPr/>
          <p:nvPr/>
        </p:nvSpPr>
        <p:spPr>
          <a:xfrm>
            <a:off x="6684264" y="822960"/>
            <a:ext cx="1389888" cy="438912"/>
          </a:xfrm>
          <a:prstGeom prst="rect">
            <a:avLst/>
          </a:prstGeom>
          <a:solidFill>
            <a:srgbClr val="C67700"/>
          </a:solidFill>
          <a:ln w="12700">
            <a:solidFill>
              <a:srgbClr val="C677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3"/>
          <p:cNvSpPr/>
          <p:nvPr/>
        </p:nvSpPr>
        <p:spPr>
          <a:xfrm>
            <a:off x="6684264" y="822960"/>
            <a:ext cx="13898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5</a:t>
            </a:r>
            <a:endParaRPr lang="en-US" sz="1500" dirty="0"/>
          </a:p>
        </p:txBody>
      </p:sp>
      <p:pic>
        <p:nvPicPr>
          <p:cNvPr id="4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27748" y="1353312"/>
            <a:ext cx="502920" cy="502920"/>
          </a:xfrm>
          <a:prstGeom prst="rect">
            <a:avLst/>
          </a:prstGeom>
        </p:spPr>
      </p:pic>
      <p:sp>
        <p:nvSpPr>
          <p:cNvPr id="41" name="Text 34"/>
          <p:cNvSpPr/>
          <p:nvPr/>
        </p:nvSpPr>
        <p:spPr>
          <a:xfrm>
            <a:off x="6729984" y="1920240"/>
            <a:ext cx="12984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</a:t>
            </a:r>
            <a:endParaRPr lang="en-US" sz="1100" dirty="0"/>
          </a:p>
        </p:txBody>
      </p:sp>
      <p:sp>
        <p:nvSpPr>
          <p:cNvPr id="42" name="Text 35"/>
          <p:cNvSpPr/>
          <p:nvPr/>
        </p:nvSpPr>
        <p:spPr>
          <a:xfrm>
            <a:off x="6757416" y="2450592"/>
            <a:ext cx="12435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</a:rPr>
              <a:t>Prediction label and confidence displayed on the Streamlit UI</a:t>
            </a:r>
            <a:endParaRPr lang="en-US" sz="850" dirty="0"/>
          </a:p>
        </p:txBody>
      </p:sp>
      <p:sp>
        <p:nvSpPr>
          <p:cNvPr id="43" name="Text 36"/>
          <p:cNvSpPr/>
          <p:nvPr/>
        </p:nvSpPr>
        <p:spPr>
          <a:xfrm>
            <a:off x="320040" y="3383280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7A8A"/>
                </a:solidFill>
              </a:rPr>
              <a:t>End-to-End Pipeline: User Input → AI Inference → Result</a:t>
            </a:r>
            <a:endParaRPr lang="en-US" sz="1100" dirty="0"/>
          </a:p>
        </p:txBody>
      </p:sp>
      <p:sp>
        <p:nvSpPr>
          <p:cNvPr id="44" name="Shape 37"/>
          <p:cNvSpPr/>
          <p:nvPr/>
        </p:nvSpPr>
        <p:spPr>
          <a:xfrm>
            <a:off x="0" y="4846320"/>
            <a:ext cx="9144000" cy="292608"/>
          </a:xfrm>
          <a:prstGeom prst="rect">
            <a:avLst/>
          </a:prstGeom>
          <a:solidFill>
            <a:srgbClr val="E8F6F8"/>
          </a:solidFill>
          <a:ln w="12700">
            <a:solidFill>
              <a:srgbClr val="E8F6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38"/>
          <p:cNvSpPr/>
          <p:nvPr/>
        </p:nvSpPr>
        <p:spPr>
          <a:xfrm>
            <a:off x="274320" y="4873752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D7A8A"/>
                </a:solidFill>
              </a:rPr>
              <a:t>Face Mask Detection Using CNN &amp; Streamlit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7315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&amp; Results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772400" y="109728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FB3C8"/>
                </a:solidFill>
              </a:rPr>
              <a:t>Slide 05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74320" y="777240"/>
            <a:ext cx="192024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74320" y="777240"/>
            <a:ext cx="1920240" cy="9144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74320" y="86868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274320" y="135331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B3A6B"/>
                </a:solidFill>
              </a:rPr>
              <a:t>Model Type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274320" y="1609344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</a:rPr>
              <a:t>Binary Classifier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450592" y="777240"/>
            <a:ext cx="192024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450592" y="777240"/>
            <a:ext cx="1920240" cy="91440"/>
          </a:xfrm>
          <a:prstGeom prst="rect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450592" y="86868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D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2450592" y="135331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B3A6B"/>
                </a:solidFill>
              </a:rPr>
              <a:t>Classes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2450592" y="1609344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</a:rPr>
              <a:t>Mask  /  No Mask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626864" y="777240"/>
            <a:ext cx="192024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626864" y="777240"/>
            <a:ext cx="1920240" cy="91440"/>
          </a:xfrm>
          <a:prstGeom prst="rect">
            <a:avLst/>
          </a:prstGeom>
          <a:solidFill>
            <a:srgbClr val="0F7A5A"/>
          </a:solidFill>
          <a:ln w="12700">
            <a:solidFill>
              <a:srgbClr val="0F7A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626864" y="86868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F7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92.85%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626864" y="135331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B3A6B"/>
                </a:solidFill>
              </a:rPr>
              <a:t>Test Accuracy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626864" y="1609344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</a:rPr>
              <a:t>High classification score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6803136" y="777240"/>
            <a:ext cx="192024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6803136" y="777240"/>
            <a:ext cx="1920240" cy="91440"/>
          </a:xfrm>
          <a:prstGeom prst="rect">
            <a:avLst/>
          </a:prstGeom>
          <a:solidFill>
            <a:srgbClr val="C67700"/>
          </a:solidFill>
          <a:ln w="12700">
            <a:solidFill>
              <a:srgbClr val="C677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803136" y="86868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67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0.2097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6803136" y="135331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B3A6B"/>
                </a:solidFill>
              </a:rPr>
              <a:t>Test Loss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6803136" y="1609344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</a:rPr>
              <a:t>Low error on test set</a:t>
            </a:r>
            <a:endParaRPr lang="en-US" sz="850" dirty="0"/>
          </a:p>
        </p:txBody>
      </p:sp>
      <p:graphicFrame>
        <p:nvGraphicFramePr>
          <p:cNvPr id="25" name="Chart 0"/>
          <p:cNvGraphicFramePr/>
          <p:nvPr/>
        </p:nvGraphicFramePr>
        <p:xfrm>
          <a:off x="274320" y="1965960"/>
          <a:ext cx="420624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26" name="Chart 1"/>
          <p:cNvGraphicFramePr/>
          <p:nvPr/>
        </p:nvGraphicFramePr>
        <p:xfrm>
          <a:off x="4663440" y="1965960"/>
          <a:ext cx="420624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7" name="Shape 23"/>
          <p:cNvSpPr/>
          <p:nvPr/>
        </p:nvSpPr>
        <p:spPr>
          <a:xfrm>
            <a:off x="0" y="4846320"/>
            <a:ext cx="9144000" cy="292608"/>
          </a:xfrm>
          <a:prstGeom prst="rect">
            <a:avLst/>
          </a:prstGeom>
          <a:solidFill>
            <a:srgbClr val="E8F6F8"/>
          </a:solidFill>
          <a:ln w="12700">
            <a:solidFill>
              <a:srgbClr val="E8F6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4"/>
          <p:cNvSpPr/>
          <p:nvPr/>
        </p:nvSpPr>
        <p:spPr>
          <a:xfrm>
            <a:off x="274320" y="4873752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D7A8A"/>
                </a:solidFill>
              </a:rPr>
              <a:t>Face Mask Detection Using CNN &amp; Streamlit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7315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 &amp; Limitations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772400" y="109728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FB3C8"/>
                </a:solidFill>
              </a:rPr>
              <a:t>Slide 06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74320" y="777240"/>
            <a:ext cx="402336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74320" y="777240"/>
            <a:ext cx="4023360" cy="457200"/>
          </a:xfrm>
          <a:prstGeom prst="rect">
            <a:avLst/>
          </a:prstGeom>
          <a:solidFill>
            <a:srgbClr val="0F7A5A"/>
          </a:solidFill>
          <a:ln w="12700">
            <a:solidFill>
              <a:srgbClr val="0F7A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859536"/>
            <a:ext cx="274320" cy="274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804672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Advantages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7200" y="1463040"/>
            <a:ext cx="292608" cy="292608"/>
          </a:xfrm>
          <a:prstGeom prst="ellipse">
            <a:avLst/>
          </a:prstGeom>
          <a:solidFill>
            <a:srgbClr val="D1FAE5"/>
          </a:solidFill>
          <a:ln w="12700">
            <a:solidFill>
              <a:srgbClr val="6EE7B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457200" y="14630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7A5A"/>
                </a:solidFill>
              </a:rPr>
              <a:t>1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868680" y="141732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3A6B"/>
                </a:solidFill>
              </a:rPr>
              <a:t>Lightweight &amp; CPU-Friendly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868680" y="1764792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Runs efficiently without requiring a GPU, suitable for standard hardware.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457200" y="2514600"/>
            <a:ext cx="292608" cy="292608"/>
          </a:xfrm>
          <a:prstGeom prst="ellipse">
            <a:avLst/>
          </a:prstGeom>
          <a:solidFill>
            <a:srgbClr val="D1FAE5"/>
          </a:solidFill>
          <a:ln w="12700">
            <a:solidFill>
              <a:srgbClr val="6EE7B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457200" y="25146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7A5A"/>
                </a:solidFill>
              </a:rPr>
              <a:t>2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868680" y="246888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3A6B"/>
                </a:solidFill>
              </a:rPr>
              <a:t>Browser-Based Application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868680" y="2816352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Accessible from any device via a web browser using Streamlit—no installation needed.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457200" y="3566160"/>
            <a:ext cx="292608" cy="292608"/>
          </a:xfrm>
          <a:prstGeom prst="ellipse">
            <a:avLst/>
          </a:prstGeom>
          <a:solidFill>
            <a:srgbClr val="D1FAE5"/>
          </a:solidFill>
          <a:ln w="12700">
            <a:solidFill>
              <a:srgbClr val="6EE7B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457200" y="35661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7A5A"/>
                </a:solidFill>
              </a:rPr>
              <a:t>3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868680" y="352044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3A6B"/>
                </a:solidFill>
              </a:rPr>
              <a:t>Easy to Use</a:t>
            </a: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868680" y="3867912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Simple drag-and-drop image upload interface for non-technical users.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4846320" y="777240"/>
            <a:ext cx="402336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19"/>
          <p:cNvSpPr/>
          <p:nvPr/>
        </p:nvSpPr>
        <p:spPr>
          <a:xfrm>
            <a:off x="4846320" y="777240"/>
            <a:ext cx="4023360" cy="4572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859536"/>
            <a:ext cx="274320" cy="274320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5394960" y="804672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Limitations</a:t>
            </a:r>
            <a:endParaRPr lang="en-US" sz="1400" dirty="0"/>
          </a:p>
        </p:txBody>
      </p:sp>
      <p:sp>
        <p:nvSpPr>
          <p:cNvPr id="25" name="Shape 21"/>
          <p:cNvSpPr/>
          <p:nvPr/>
        </p:nvSpPr>
        <p:spPr>
          <a:xfrm>
            <a:off x="5029200" y="1463040"/>
            <a:ext cx="292608" cy="292608"/>
          </a:xfrm>
          <a:prstGeom prst="ellipse">
            <a:avLst/>
          </a:prstGeom>
          <a:solidFill>
            <a:srgbClr val="FEE2E2"/>
          </a:solidFill>
          <a:ln w="12700">
            <a:solidFill>
              <a:srgbClr val="FECAC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2"/>
          <p:cNvSpPr/>
          <p:nvPr/>
        </p:nvSpPr>
        <p:spPr>
          <a:xfrm>
            <a:off x="5029200" y="14630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0392B"/>
                </a:solidFill>
              </a:rPr>
              <a:t>1</a:t>
            </a:r>
            <a:endParaRPr lang="en-US" sz="1000" dirty="0"/>
          </a:p>
        </p:txBody>
      </p:sp>
      <p:sp>
        <p:nvSpPr>
          <p:cNvPr id="27" name="Text 23"/>
          <p:cNvSpPr/>
          <p:nvPr/>
        </p:nvSpPr>
        <p:spPr>
          <a:xfrm>
            <a:off x="5440680" y="141732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3A6B"/>
                </a:solidFill>
              </a:rPr>
              <a:t>Static Image Detection Only</a:t>
            </a:r>
            <a:endParaRPr lang="en-US" sz="1150" dirty="0"/>
          </a:p>
        </p:txBody>
      </p:sp>
      <p:sp>
        <p:nvSpPr>
          <p:cNvPr id="28" name="Text 24"/>
          <p:cNvSpPr/>
          <p:nvPr/>
        </p:nvSpPr>
        <p:spPr>
          <a:xfrm>
            <a:off x="5440680" y="1764792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Does not support real-time video stream or webcam feed processing.</a:t>
            </a:r>
            <a:endParaRPr lang="en-US" sz="1000" dirty="0"/>
          </a:p>
        </p:txBody>
      </p:sp>
      <p:sp>
        <p:nvSpPr>
          <p:cNvPr id="29" name="Shape 25"/>
          <p:cNvSpPr/>
          <p:nvPr/>
        </p:nvSpPr>
        <p:spPr>
          <a:xfrm>
            <a:off x="5029200" y="2514600"/>
            <a:ext cx="292608" cy="292608"/>
          </a:xfrm>
          <a:prstGeom prst="ellipse">
            <a:avLst/>
          </a:prstGeom>
          <a:solidFill>
            <a:srgbClr val="FEE2E2"/>
          </a:solidFill>
          <a:ln w="12700">
            <a:solidFill>
              <a:srgbClr val="FECAC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6"/>
          <p:cNvSpPr/>
          <p:nvPr/>
        </p:nvSpPr>
        <p:spPr>
          <a:xfrm>
            <a:off x="5029200" y="25146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0392B"/>
                </a:solidFill>
              </a:rPr>
              <a:t>2</a:t>
            </a:r>
            <a:endParaRPr lang="en-US" sz="1000" dirty="0"/>
          </a:p>
        </p:txBody>
      </p:sp>
      <p:sp>
        <p:nvSpPr>
          <p:cNvPr id="31" name="Text 27"/>
          <p:cNvSpPr/>
          <p:nvPr/>
        </p:nvSpPr>
        <p:spPr>
          <a:xfrm>
            <a:off x="5440680" y="246888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3A6B"/>
                </a:solidFill>
              </a:rPr>
              <a:t>Single Face Per Image</a:t>
            </a:r>
            <a:endParaRPr lang="en-US" sz="1150" dirty="0"/>
          </a:p>
        </p:txBody>
      </p:sp>
      <p:sp>
        <p:nvSpPr>
          <p:cNvPr id="32" name="Text 28"/>
          <p:cNvSpPr/>
          <p:nvPr/>
        </p:nvSpPr>
        <p:spPr>
          <a:xfrm>
            <a:off x="5440680" y="2816352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The current model analyzes one face per image; multi-face detection is not supported.</a:t>
            </a:r>
            <a:endParaRPr lang="en-US" sz="1000" dirty="0"/>
          </a:p>
        </p:txBody>
      </p:sp>
      <p:sp>
        <p:nvSpPr>
          <p:cNvPr id="33" name="Shape 29"/>
          <p:cNvSpPr/>
          <p:nvPr/>
        </p:nvSpPr>
        <p:spPr>
          <a:xfrm>
            <a:off x="5029200" y="3566160"/>
            <a:ext cx="292608" cy="292608"/>
          </a:xfrm>
          <a:prstGeom prst="ellipse">
            <a:avLst/>
          </a:prstGeom>
          <a:solidFill>
            <a:srgbClr val="FEE2E2"/>
          </a:solidFill>
          <a:ln w="12700">
            <a:solidFill>
              <a:srgbClr val="FECAC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0"/>
          <p:cNvSpPr/>
          <p:nvPr/>
        </p:nvSpPr>
        <p:spPr>
          <a:xfrm>
            <a:off x="5029200" y="35661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0392B"/>
                </a:solidFill>
              </a:rPr>
              <a:t>3</a:t>
            </a:r>
            <a:endParaRPr lang="en-US" sz="1000" dirty="0"/>
          </a:p>
        </p:txBody>
      </p:sp>
      <p:sp>
        <p:nvSpPr>
          <p:cNvPr id="35" name="Text 31"/>
          <p:cNvSpPr/>
          <p:nvPr/>
        </p:nvSpPr>
        <p:spPr>
          <a:xfrm>
            <a:off x="5440680" y="352044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3A6B"/>
                </a:solidFill>
              </a:rPr>
              <a:t>Reduced Accuracy on Blur</a:t>
            </a:r>
            <a:endParaRPr lang="en-US" sz="1150" dirty="0"/>
          </a:p>
        </p:txBody>
      </p:sp>
      <p:sp>
        <p:nvSpPr>
          <p:cNvPr id="36" name="Text 32"/>
          <p:cNvSpPr/>
          <p:nvPr/>
        </p:nvSpPr>
        <p:spPr>
          <a:xfrm>
            <a:off x="5440680" y="3867912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Performance degrades on low-quality, blurry, or poorly lit images.</a:t>
            </a:r>
            <a:endParaRPr lang="en-US" sz="1000" dirty="0"/>
          </a:p>
        </p:txBody>
      </p:sp>
      <p:sp>
        <p:nvSpPr>
          <p:cNvPr id="37" name="Shape 33"/>
          <p:cNvSpPr/>
          <p:nvPr/>
        </p:nvSpPr>
        <p:spPr>
          <a:xfrm>
            <a:off x="0" y="4846320"/>
            <a:ext cx="9144000" cy="292608"/>
          </a:xfrm>
          <a:prstGeom prst="rect">
            <a:avLst/>
          </a:prstGeom>
          <a:solidFill>
            <a:srgbClr val="E8F6F8"/>
          </a:solidFill>
          <a:ln w="12700">
            <a:solidFill>
              <a:srgbClr val="E8F6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4"/>
          <p:cNvSpPr/>
          <p:nvPr/>
        </p:nvSpPr>
        <p:spPr>
          <a:xfrm>
            <a:off x="274320" y="4873752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D7A8A"/>
                </a:solidFill>
              </a:rPr>
              <a:t>Face Mask Detection Using CNN &amp; Streamlit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B3A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23960" y="0"/>
            <a:ext cx="320040" cy="5143500"/>
          </a:xfrm>
          <a:prstGeom prst="rect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256032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Future Scope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804672"/>
            <a:ext cx="8229600" cy="36576"/>
          </a:xfrm>
          <a:prstGeom prst="rect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3840480" cy="2148840"/>
          </a:xfrm>
          <a:prstGeom prst="rect">
            <a:avLst/>
          </a:prstGeom>
          <a:solidFill>
            <a:srgbClr val="162F5A"/>
          </a:solidFill>
          <a:ln w="12700">
            <a:solidFill>
              <a:srgbClr val="2A4A7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1024128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7A8A"/>
                </a:solidFill>
              </a:rPr>
              <a:t>Conclusion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1444752"/>
            <a:ext cx="3566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4ADE80"/>
                </a:solidFill>
              </a:rPr>
              <a:t>✓  </a:t>
            </a:r>
            <a:r>
              <a:rPr lang="en-US" sz="1050" dirty="0">
                <a:solidFill>
                  <a:srgbClr val="CBD5E1"/>
                </a:solidFill>
              </a:rPr>
              <a:t>Successfully developed a CNN-based face mask detection system.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02920" y="1947672"/>
            <a:ext cx="3566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4ADE80"/>
                </a:solidFill>
              </a:rPr>
              <a:t>✓  </a:t>
            </a:r>
            <a:r>
              <a:rPr lang="en-US" sz="1050" dirty="0">
                <a:solidFill>
                  <a:srgbClr val="CBD5E1"/>
                </a:solidFill>
              </a:rPr>
              <a:t>Achieved 92.85% test accuracy with a test loss of 0.2097.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02920" y="2450592"/>
            <a:ext cx="3566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4ADE80"/>
                </a:solidFill>
              </a:rPr>
              <a:t>✓  </a:t>
            </a:r>
            <a:r>
              <a:rPr lang="en-US" sz="1050" dirty="0">
                <a:solidFill>
                  <a:srgbClr val="CBD5E1"/>
                </a:solidFill>
              </a:rPr>
              <a:t>Streamlit web interface enables easy, device-independent usage.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663440" y="960120"/>
            <a:ext cx="3840480" cy="2148840"/>
          </a:xfrm>
          <a:prstGeom prst="rect">
            <a:avLst/>
          </a:prstGeom>
          <a:solidFill>
            <a:srgbClr val="162F5A"/>
          </a:solidFill>
          <a:ln w="12700">
            <a:solidFill>
              <a:srgbClr val="2A4A7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846320" y="1024128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</a:rPr>
              <a:t>Future Scope</a:t>
            </a:r>
            <a:endParaRPr lang="en-US" sz="1300" dirty="0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8032" y="1463040"/>
            <a:ext cx="256032" cy="256032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5212080" y="1453896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</a:rPr>
              <a:t>Real-time webcam detection</a:t>
            </a:r>
            <a:endParaRPr lang="en-US" sz="1050" dirty="0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8032" y="1865376"/>
            <a:ext cx="256032" cy="25603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212080" y="1856232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</a:rPr>
              <a:t>Multi-face detection support</a:t>
            </a:r>
            <a:endParaRPr lang="en-US" sz="1050" dirty="0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28032" y="2267712"/>
            <a:ext cx="256032" cy="25603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212080" y="2258568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</a:rPr>
              <a:t>Mobile application deployment</a:t>
            </a:r>
            <a:endParaRPr lang="en-US" sz="1050" dirty="0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28032" y="2670048"/>
            <a:ext cx="256032" cy="256032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5212080" y="2660904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</a:rPr>
              <a:t>Cloud deployment (AWS / GCP)</a:t>
            </a:r>
            <a:endParaRPr lang="en-US" sz="1050" dirty="0"/>
          </a:p>
        </p:txBody>
      </p:sp>
      <p:sp>
        <p:nvSpPr>
          <p:cNvPr id="20" name="Shape 14"/>
          <p:cNvSpPr/>
          <p:nvPr/>
        </p:nvSpPr>
        <p:spPr>
          <a:xfrm>
            <a:off x="365760" y="3291840"/>
            <a:ext cx="8138160" cy="1508760"/>
          </a:xfrm>
          <a:prstGeom prst="rect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5"/>
          <p:cNvSpPr/>
          <p:nvPr/>
        </p:nvSpPr>
        <p:spPr>
          <a:xfrm>
            <a:off x="365760" y="3337560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2600" dirty="0"/>
          </a:p>
        </p:txBody>
      </p:sp>
      <p:sp>
        <p:nvSpPr>
          <p:cNvPr id="22" name="Text 16"/>
          <p:cNvSpPr/>
          <p:nvPr/>
        </p:nvSpPr>
        <p:spPr>
          <a:xfrm>
            <a:off x="365760" y="3886200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D1FAE5"/>
                </a:solidFill>
              </a:rPr>
              <a:t>Live Demonstration &amp; Questions</a:t>
            </a:r>
            <a:endParaRPr lang="en-US" sz="1400" dirty="0"/>
          </a:p>
        </p:txBody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43400" y="4590288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515</Words>
  <Application>Microsoft Office PowerPoint</Application>
  <PresentationFormat>On-screen Show (16:9)</PresentationFormat>
  <Paragraphs>122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Face Mask Detection Using Deep Learning</dc:title>
  <dc:subject>PptxGenJS Presentation</dc:subject>
  <dc:creator>PptxGenJS</dc:creator>
  <cp:lastModifiedBy>Sinmbf Lost</cp:lastModifiedBy>
  <cp:revision>4</cp:revision>
  <dcterms:created xsi:type="dcterms:W3CDTF">2026-05-31T15:12:16Z</dcterms:created>
  <dcterms:modified xsi:type="dcterms:W3CDTF">2026-05-31T15:15:16Z</dcterms:modified>
</cp:coreProperties>
</file>