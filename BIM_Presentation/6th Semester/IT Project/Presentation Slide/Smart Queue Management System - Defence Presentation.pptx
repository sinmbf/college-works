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5560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57561-3189-8ED4-4B14-D2AA62198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B5AF65-1B8D-5D97-256E-03F6D3C52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C89E62-E5A8-02A3-DFE1-B4AC6D62DF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249F9-C454-E692-3B16-6C244AED7E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14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0D9EA-3974-FAE1-13C8-A0D6B9072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15D8D1-740F-46E1-93CE-B25D308E83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4B77AF-0087-3861-FA73-15F3E951C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58B46-4113-9BD9-E3D8-2E91BA8C98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669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0"/>
            <a:ext cx="3870655" cy="6858000"/>
          </a:xfrm>
          <a:prstGeom prst="rect">
            <a:avLst/>
          </a:prstGeom>
          <a:solidFill>
            <a:srgbClr val="EEF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281160" y="2331720"/>
            <a:ext cx="219456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5875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98864" y="2866644"/>
            <a:ext cx="164592" cy="164592"/>
          </a:xfrm>
          <a:prstGeom prst="ellipse">
            <a:avLst/>
          </a:prstGeom>
          <a:solidFill>
            <a:srgbClr val="EEF2F6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93424" y="2866644"/>
            <a:ext cx="164592" cy="164592"/>
          </a:xfrm>
          <a:prstGeom prst="ellipse">
            <a:avLst/>
          </a:prstGeom>
          <a:solidFill>
            <a:srgbClr val="EEF2F6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418320" y="245973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418320" y="27157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482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- 042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418320" y="3310128"/>
            <a:ext cx="1920240" cy="0"/>
          </a:xfrm>
          <a:prstGeom prst="line">
            <a:avLst/>
          </a:prstGeom>
          <a:noFill/>
          <a:ln w="19050">
            <a:solidFill>
              <a:srgbClr val="EEF2F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18320" y="334670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SERVING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0012680" y="1051560"/>
            <a:ext cx="822960" cy="82296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icons/landm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190" y="1249070"/>
            <a:ext cx="427939" cy="42793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14173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4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6TH SEMESTER — IT PROJECT PROPOSAL DEFENCE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187452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Queue Management System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640080" y="2834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6B8C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Government Offices in Nepal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40080" y="41605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514600" y="41605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Siddhartha Shakya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0080" y="448970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514600" y="448970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16055/23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40080" y="48188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2514600" y="481888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— 6th Semester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40080" y="51480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514600" y="514807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40080" y="54772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514600" y="547725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Teksan Gharti Magar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783080"/>
            <a:ext cx="91440" cy="91440"/>
          </a:xfrm>
          <a:prstGeom prst="ellipse">
            <a:avLst/>
          </a:prstGeom>
          <a:solidFill>
            <a:srgbClr val="D482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offices provide essential services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2404872"/>
            <a:ext cx="91440" cy="91440"/>
          </a:xfrm>
          <a:prstGeom prst="ellipse">
            <a:avLst/>
          </a:prstGeom>
          <a:solidFill>
            <a:srgbClr val="D482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22199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attract many daily visitors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3026664"/>
            <a:ext cx="91440" cy="91440"/>
          </a:xfrm>
          <a:prstGeom prst="ellipse">
            <a:avLst/>
          </a:prstGeom>
          <a:solidFill>
            <a:srgbClr val="D482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84378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management affects service efficiency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" y="3648456"/>
            <a:ext cx="91440" cy="91440"/>
          </a:xfrm>
          <a:prstGeom prst="ellipse">
            <a:avLst/>
          </a:prstGeom>
          <a:solidFill>
            <a:srgbClr val="D482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346557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often experience physical queues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8368" y="4270248"/>
            <a:ext cx="91440" cy="91440"/>
          </a:xfrm>
          <a:prstGeom prst="ellipse">
            <a:avLst/>
          </a:prstGeom>
          <a:solidFill>
            <a:srgbClr val="D482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408736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information is often limited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8368" y="4892040"/>
            <a:ext cx="91440" cy="91440"/>
          </a:xfrm>
          <a:prstGeom prst="ellipse">
            <a:avLst/>
          </a:prstGeom>
          <a:solidFill>
            <a:srgbClr val="D482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47091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solutions can improve queue management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60920" y="1280160"/>
            <a:ext cx="4297680" cy="4892040"/>
          </a:xfrm>
          <a:prstGeom prst="rect">
            <a:avLst/>
          </a:prstGeom>
          <a:solidFill>
            <a:srgbClr val="EEF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80960" y="1508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DELIVERY FLOW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0" y="1965960"/>
            <a:ext cx="658368" cy="658368"/>
          </a:xfrm>
          <a:prstGeom prst="ellipse">
            <a:avLst/>
          </a:prstGeom>
          <a:solidFill>
            <a:srgbClr val="6B8CA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0" descr="icons/us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130552"/>
            <a:ext cx="329184" cy="32918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052560" y="209397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8558784" y="2624328"/>
            <a:ext cx="0" cy="512064"/>
          </a:xfrm>
          <a:prstGeom prst="line">
            <a:avLst/>
          </a:prstGeom>
          <a:noFill/>
          <a:ln w="19050">
            <a:solidFill>
              <a:srgbClr val="6B8CA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8229600" y="3136392"/>
            <a:ext cx="658368" cy="658368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1" descr="icons/landmar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3300984"/>
            <a:ext cx="329184" cy="32918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9052560" y="326440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Office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8558784" y="3794760"/>
            <a:ext cx="0" cy="512064"/>
          </a:xfrm>
          <a:prstGeom prst="line">
            <a:avLst/>
          </a:prstGeom>
          <a:noFill/>
          <a:ln w="19050">
            <a:solidFill>
              <a:srgbClr val="6B8CA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8229600" y="4306824"/>
            <a:ext cx="658368" cy="658368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2" descr="icons/clipboar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92" y="4471416"/>
            <a:ext cx="329184" cy="32918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052560" y="4434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350" dirty="0"/>
          </a:p>
        </p:txBody>
      </p:sp>
      <p:sp>
        <p:nvSpPr>
          <p:cNvPr id="28" name="Shape 23"/>
          <p:cNvSpPr/>
          <p:nvPr/>
        </p:nvSpPr>
        <p:spPr>
          <a:xfrm>
            <a:off x="8558784" y="4965192"/>
            <a:ext cx="0" cy="512064"/>
          </a:xfrm>
          <a:prstGeom prst="line">
            <a:avLst/>
          </a:prstGeom>
          <a:noFill/>
          <a:ln w="19050">
            <a:solidFill>
              <a:srgbClr val="6B8CA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8229600" y="5477256"/>
            <a:ext cx="658368" cy="658368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3" descr="icons/desktop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5641848"/>
            <a:ext cx="329184" cy="32918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052560" y="56052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Counter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4F2F0D-398D-588A-73C0-B4E361465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B593682-B043-C061-6F9A-929E038471BB}"/>
              </a:ext>
            </a:extLst>
          </p:cNvPr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4D169089-95E2-3CFE-F9B9-A2063A83AAB6}"/>
              </a:ext>
            </a:extLst>
          </p:cNvPr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50AC5EB-73C4-931A-E357-EB409F4C8968}"/>
              </a:ext>
            </a:extLst>
          </p:cNvPr>
          <p:cNvGrpSpPr/>
          <p:nvPr/>
        </p:nvGrpSpPr>
        <p:grpSpPr>
          <a:xfrm>
            <a:off x="710263" y="2173373"/>
            <a:ext cx="11024232" cy="2997460"/>
            <a:chOff x="607626" y="1622867"/>
            <a:chExt cx="11024232" cy="2997460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EC272BA-F1EB-468A-91AC-85AE65F0D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7626" y="1622867"/>
              <a:ext cx="3488514" cy="2997460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BE574424-7743-AF59-05F7-B860E5CFB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97681" y="1642725"/>
              <a:ext cx="3260116" cy="2977602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D7EA93E2-CB8D-5C49-FF00-F4B18D5212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90958" y="1642725"/>
              <a:ext cx="3840900" cy="29776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88398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7315200" cy="1371600"/>
          </a:xfrm>
          <a:prstGeom prst="rect">
            <a:avLst/>
          </a:prstGeom>
          <a:solidFill>
            <a:srgbClr val="EEF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6766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“Citizens face uncertain waiting periods.”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3406140"/>
            <a:ext cx="91440" cy="91440"/>
          </a:xfrm>
          <a:prstGeom prst="ellipse">
            <a:avLst/>
          </a:prstGeom>
          <a:solidFill>
            <a:srgbClr val="D482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expected waiting time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3973068"/>
            <a:ext cx="91440" cy="91440"/>
          </a:xfrm>
          <a:prstGeom prst="ellipse">
            <a:avLst/>
          </a:prstGeom>
          <a:solidFill>
            <a:srgbClr val="D482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381304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Dependence on physical queues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" y="4539996"/>
            <a:ext cx="91440" cy="91440"/>
          </a:xfrm>
          <a:prstGeom prst="ellipse">
            <a:avLst/>
          </a:prstGeom>
          <a:solidFill>
            <a:srgbClr val="D482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4379976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queue progress visibility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8368" y="5106924"/>
            <a:ext cx="91440" cy="91440"/>
          </a:xfrm>
          <a:prstGeom prst="ellipse">
            <a:avLst/>
          </a:prstGeom>
          <a:solidFill>
            <a:srgbClr val="D482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4956235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Overcrowded waiting locations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21040" y="0"/>
            <a:ext cx="3870655" cy="6858000"/>
          </a:xfrm>
          <a:prstGeom prst="rect">
            <a:avLst/>
          </a:prstGeom>
          <a:solidFill>
            <a:srgbClr val="EEF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464040" y="2194560"/>
            <a:ext cx="1188720" cy="118872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0" descr="icons/hourglass_D482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1220" y="2491740"/>
            <a:ext cx="594360" cy="5943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9235440" y="3840480"/>
            <a:ext cx="201168" cy="201168"/>
          </a:xfrm>
          <a:prstGeom prst="ellipse">
            <a:avLst/>
          </a:prstGeom>
          <a:solidFill>
            <a:srgbClr val="6B8C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9601200" y="3840480"/>
            <a:ext cx="201168" cy="201168"/>
          </a:xfrm>
          <a:prstGeom prst="ellipse">
            <a:avLst/>
          </a:prstGeom>
          <a:solidFill>
            <a:srgbClr val="6B8C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9966960" y="3840480"/>
            <a:ext cx="201168" cy="201168"/>
          </a:xfrm>
          <a:prstGeom prst="ellipse">
            <a:avLst/>
          </a:prstGeom>
          <a:solidFill>
            <a:srgbClr val="C9D3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0332720" y="3840480"/>
            <a:ext cx="201168" cy="201168"/>
          </a:xfrm>
          <a:prstGeom prst="ellipse">
            <a:avLst/>
          </a:prstGeom>
          <a:solidFill>
            <a:srgbClr val="C9D3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0698480" y="3840480"/>
            <a:ext cx="201168" cy="201168"/>
          </a:xfrm>
          <a:prstGeom prst="ellipse">
            <a:avLst/>
          </a:prstGeom>
          <a:solidFill>
            <a:srgbClr val="C9D3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686800" y="4206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progress not visible to citizen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4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1600200"/>
          </a:xfrm>
          <a:prstGeom prst="rect">
            <a:avLst/>
          </a:prstGeom>
          <a:solidFill>
            <a:srgbClr val="EEF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45720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develop a digital system for efficient government queue management.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objective: To improve transparency in queue operations.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06640" y="1554480"/>
            <a:ext cx="777240" cy="77724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icons/mobi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3178" y="1741018"/>
            <a:ext cx="404165" cy="4041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58200" y="15544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Queue Management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795260" y="2331720"/>
            <a:ext cx="0" cy="685800"/>
          </a:xfrm>
          <a:prstGeom prst="line">
            <a:avLst/>
          </a:prstGeom>
          <a:noFill/>
          <a:ln w="19050">
            <a:solidFill>
              <a:srgbClr val="6B8CA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406640" y="3017520"/>
            <a:ext cx="777240" cy="77724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s/ey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3178" y="320405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458200" y="301752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Queue Visibility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7795260" y="3794760"/>
            <a:ext cx="0" cy="685800"/>
          </a:xfrm>
          <a:prstGeom prst="line">
            <a:avLst/>
          </a:prstGeom>
          <a:noFill/>
          <a:ln w="19050">
            <a:solidFill>
              <a:srgbClr val="6B8CA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406640" y="4480560"/>
            <a:ext cx="777240" cy="777240"/>
          </a:xfrm>
          <a:prstGeom prst="ellipse">
            <a:avLst/>
          </a:prstGeom>
          <a:solidFill>
            <a:srgbClr val="D4820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s/clo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3178" y="466709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44805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Efficient Waiting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Queue Management System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91440" cy="91440"/>
          </a:xfrm>
          <a:prstGeom prst="ellipse">
            <a:avLst/>
          </a:prstGeom>
          <a:solidFill>
            <a:srgbClr val="D482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digital queue tokens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270248" y="1783080"/>
            <a:ext cx="91440" cy="91440"/>
          </a:xfrm>
          <a:prstGeom prst="ellipse">
            <a:avLst/>
          </a:prstGeom>
          <a:solidFill>
            <a:srgbClr val="D482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26280" y="1600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queue status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58368" y="2350008"/>
            <a:ext cx="91440" cy="91440"/>
          </a:xfrm>
          <a:prstGeom prst="ellipse">
            <a:avLst/>
          </a:prstGeom>
          <a:solidFill>
            <a:srgbClr val="D482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1671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waiting time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270248" y="2350008"/>
            <a:ext cx="91440" cy="91440"/>
          </a:xfrm>
          <a:prstGeom prst="ellipse">
            <a:avLst/>
          </a:prstGeom>
          <a:solidFill>
            <a:srgbClr val="D482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26280" y="21671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service counters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58368" y="2916936"/>
            <a:ext cx="91440" cy="91440"/>
          </a:xfrm>
          <a:prstGeom prst="ellipse">
            <a:avLst/>
          </a:prstGeom>
          <a:solidFill>
            <a:srgbClr val="D482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27340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and manual check-in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270248" y="2916936"/>
            <a:ext cx="91440" cy="91440"/>
          </a:xfrm>
          <a:prstGeom prst="ellipse">
            <a:avLst/>
          </a:prstGeom>
          <a:solidFill>
            <a:srgbClr val="D482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26280" y="27340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queue administration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79476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Application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206475" y="4617720"/>
            <a:ext cx="685800" cy="6858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0" descr="icons/clipboar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067" y="4782312"/>
            <a:ext cx="356616" cy="35661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0080" y="5376672"/>
            <a:ext cx="181858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846555" y="4960620"/>
            <a:ext cx="1041349" cy="0"/>
          </a:xfrm>
          <a:prstGeom prst="line">
            <a:avLst/>
          </a:prstGeom>
          <a:noFill/>
          <a:ln w="19050">
            <a:solidFill>
              <a:srgbClr val="6B8CA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025064" y="4617720"/>
            <a:ext cx="685800" cy="6858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1" descr="icons/ticke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9656" y="4782312"/>
            <a:ext cx="356616" cy="35661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2458669" y="5376672"/>
            <a:ext cx="181858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3665144" y="4960620"/>
            <a:ext cx="1041349" cy="0"/>
          </a:xfrm>
          <a:prstGeom prst="line">
            <a:avLst/>
          </a:prstGeom>
          <a:noFill/>
          <a:ln w="19050">
            <a:solidFill>
              <a:srgbClr val="6B8CA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4843653" y="4617720"/>
            <a:ext cx="685800" cy="6858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2" descr="icons/qrcod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8245" y="4782312"/>
            <a:ext cx="356616" cy="35661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277258" y="5376672"/>
            <a:ext cx="181858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5483733" y="4960620"/>
            <a:ext cx="1041349" cy="0"/>
          </a:xfrm>
          <a:prstGeom prst="line">
            <a:avLst/>
          </a:prstGeom>
          <a:noFill/>
          <a:ln w="19050">
            <a:solidFill>
              <a:srgbClr val="6B8CA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6662242" y="4617720"/>
            <a:ext cx="685800" cy="6858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3" descr="icons/user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6834" y="4782312"/>
            <a:ext cx="356616" cy="35661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095848" y="5376672"/>
            <a:ext cx="181858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7302322" y="4960620"/>
            <a:ext cx="1041349" cy="0"/>
          </a:xfrm>
          <a:prstGeom prst="line">
            <a:avLst/>
          </a:prstGeom>
          <a:noFill/>
          <a:ln w="19050">
            <a:solidFill>
              <a:srgbClr val="6B8CA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8480831" y="4617720"/>
            <a:ext cx="685800" cy="6858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4" descr="icons/bell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5423" y="4782312"/>
            <a:ext cx="356616" cy="35661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914437" y="5376672"/>
            <a:ext cx="181858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9120911" y="4960620"/>
            <a:ext cx="1041349" cy="0"/>
          </a:xfrm>
          <a:prstGeom prst="line">
            <a:avLst/>
          </a:prstGeom>
          <a:noFill/>
          <a:ln w="19050">
            <a:solidFill>
              <a:srgbClr val="6B8CA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10299421" y="4617720"/>
            <a:ext cx="685800" cy="685800"/>
          </a:xfrm>
          <a:prstGeom prst="ellipse">
            <a:avLst/>
          </a:prstGeom>
          <a:solidFill>
            <a:srgbClr val="D4820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5" descr="icons/checkcircle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4013" y="4782312"/>
            <a:ext cx="356616" cy="35661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9733026" y="5376672"/>
            <a:ext cx="181858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Features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0080" y="1319163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0355" y="2236735"/>
            <a:ext cx="73152" cy="73152"/>
          </a:xfrm>
          <a:prstGeom prst="ellipse">
            <a:avLst/>
          </a:prstGeom>
          <a:solidFill>
            <a:srgbClr val="D4820A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5" name="Shape 23"/>
          <p:cNvSpPr/>
          <p:nvPr/>
        </p:nvSpPr>
        <p:spPr>
          <a:xfrm>
            <a:off x="700729" y="3488250"/>
            <a:ext cx="73152" cy="73152"/>
          </a:xfrm>
          <a:prstGeom prst="ellipse">
            <a:avLst/>
          </a:prstGeom>
          <a:solidFill>
            <a:srgbClr val="D4820A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43" name="Text 3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4" name="Shape 17">
            <a:extLst>
              <a:ext uri="{FF2B5EF4-FFF2-40B4-BE49-F238E27FC236}">
                <a16:creationId xmlns:a16="http://schemas.microsoft.com/office/drawing/2014/main" id="{41C6BC67-4761-AE94-1747-296F4A77F672}"/>
              </a:ext>
            </a:extLst>
          </p:cNvPr>
          <p:cNvSpPr/>
          <p:nvPr/>
        </p:nvSpPr>
        <p:spPr>
          <a:xfrm>
            <a:off x="711179" y="1602627"/>
            <a:ext cx="73152" cy="73152"/>
          </a:xfrm>
          <a:prstGeom prst="ellipse">
            <a:avLst/>
          </a:prstGeom>
          <a:solidFill>
            <a:srgbClr val="D4820A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45" name="Text 18">
            <a:extLst>
              <a:ext uri="{FF2B5EF4-FFF2-40B4-BE49-F238E27FC236}">
                <a16:creationId xmlns:a16="http://schemas.microsoft.com/office/drawing/2014/main" id="{6F34AD69-77C3-EF17-EE66-9A679265F58A}"/>
              </a:ext>
            </a:extLst>
          </p:cNvPr>
          <p:cNvSpPr/>
          <p:nvPr/>
        </p:nvSpPr>
        <p:spPr>
          <a:xfrm>
            <a:off x="903203" y="1433463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token generation</a:t>
            </a:r>
            <a:endParaRPr lang="en-US" sz="1600" dirty="0"/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97AF21CC-9943-8796-C3B9-95B89EB907C9}"/>
              </a:ext>
            </a:extLst>
          </p:cNvPr>
          <p:cNvSpPr/>
          <p:nvPr/>
        </p:nvSpPr>
        <p:spPr>
          <a:xfrm>
            <a:off x="903203" y="2055255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tracking</a:t>
            </a:r>
            <a:endParaRPr lang="en-US" sz="1600" dirty="0"/>
          </a:p>
        </p:txBody>
      </p:sp>
      <p:sp>
        <p:nvSpPr>
          <p:cNvPr id="47" name="Shape 21">
            <a:extLst>
              <a:ext uri="{FF2B5EF4-FFF2-40B4-BE49-F238E27FC236}">
                <a16:creationId xmlns:a16="http://schemas.microsoft.com/office/drawing/2014/main" id="{C3E47D1C-E0A4-E177-0948-618834A997F3}"/>
              </a:ext>
            </a:extLst>
          </p:cNvPr>
          <p:cNvSpPr/>
          <p:nvPr/>
        </p:nvSpPr>
        <p:spPr>
          <a:xfrm>
            <a:off x="711179" y="2846211"/>
            <a:ext cx="73152" cy="73152"/>
          </a:xfrm>
          <a:prstGeom prst="ellipse">
            <a:avLst/>
          </a:prstGeom>
          <a:solidFill>
            <a:srgbClr val="D4820A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A198FD23-575E-0509-6040-9CD496FCC2BE}"/>
              </a:ext>
            </a:extLst>
          </p:cNvPr>
          <p:cNvSpPr/>
          <p:nvPr/>
        </p:nvSpPr>
        <p:spPr>
          <a:xfrm>
            <a:off x="903203" y="2677047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Waiting-time estimation</a:t>
            </a:r>
            <a:endParaRPr lang="en-US" sz="1600" dirty="0"/>
          </a:p>
        </p:txBody>
      </p:sp>
      <p:sp>
        <p:nvSpPr>
          <p:cNvPr id="49" name="Text 24">
            <a:extLst>
              <a:ext uri="{FF2B5EF4-FFF2-40B4-BE49-F238E27FC236}">
                <a16:creationId xmlns:a16="http://schemas.microsoft.com/office/drawing/2014/main" id="{E3F282F9-E9C2-82F2-1C33-C3B3F0E31974}"/>
              </a:ext>
            </a:extLst>
          </p:cNvPr>
          <p:cNvSpPr/>
          <p:nvPr/>
        </p:nvSpPr>
        <p:spPr>
          <a:xfrm>
            <a:off x="903203" y="3298839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 management</a:t>
            </a:r>
            <a:endParaRPr lang="en-US" sz="1600" dirty="0"/>
          </a:p>
        </p:txBody>
      </p:sp>
      <p:sp>
        <p:nvSpPr>
          <p:cNvPr id="50" name="Shape 25">
            <a:extLst>
              <a:ext uri="{FF2B5EF4-FFF2-40B4-BE49-F238E27FC236}">
                <a16:creationId xmlns:a16="http://schemas.microsoft.com/office/drawing/2014/main" id="{5F431CBE-51AE-F90B-1529-4AF127114778}"/>
              </a:ext>
            </a:extLst>
          </p:cNvPr>
          <p:cNvSpPr/>
          <p:nvPr/>
        </p:nvSpPr>
        <p:spPr>
          <a:xfrm>
            <a:off x="711179" y="4089795"/>
            <a:ext cx="73152" cy="73152"/>
          </a:xfrm>
          <a:prstGeom prst="ellipse">
            <a:avLst/>
          </a:prstGeom>
          <a:solidFill>
            <a:srgbClr val="D4820A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51" name="Text 26">
            <a:extLst>
              <a:ext uri="{FF2B5EF4-FFF2-40B4-BE49-F238E27FC236}">
                <a16:creationId xmlns:a16="http://schemas.microsoft.com/office/drawing/2014/main" id="{814677E8-5C2E-2585-C6D6-B735916D6930}"/>
              </a:ext>
            </a:extLst>
          </p:cNvPr>
          <p:cNvSpPr/>
          <p:nvPr/>
        </p:nvSpPr>
        <p:spPr>
          <a:xfrm>
            <a:off x="903203" y="3920631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audit logging</a:t>
            </a:r>
            <a:endParaRPr lang="en-US" sz="1600" dirty="0"/>
          </a:p>
        </p:txBody>
      </p:sp>
      <p:sp>
        <p:nvSpPr>
          <p:cNvPr id="52" name="Shape 27">
            <a:extLst>
              <a:ext uri="{FF2B5EF4-FFF2-40B4-BE49-F238E27FC236}">
                <a16:creationId xmlns:a16="http://schemas.microsoft.com/office/drawing/2014/main" id="{6E31DF69-7E8F-1616-3FB6-6793D85A51CB}"/>
              </a:ext>
            </a:extLst>
          </p:cNvPr>
          <p:cNvSpPr/>
          <p:nvPr/>
        </p:nvSpPr>
        <p:spPr>
          <a:xfrm>
            <a:off x="711179" y="4711587"/>
            <a:ext cx="73152" cy="73152"/>
          </a:xfrm>
          <a:prstGeom prst="ellipse">
            <a:avLst/>
          </a:prstGeom>
          <a:solidFill>
            <a:srgbClr val="D4820A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9B2E4A5C-59CE-D9B2-FC6F-D5C1D88EBDEF}"/>
              </a:ext>
            </a:extLst>
          </p:cNvPr>
          <p:cNvSpPr/>
          <p:nvPr/>
        </p:nvSpPr>
        <p:spPr>
          <a:xfrm>
            <a:off x="903203" y="4542423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history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E5FDAF-B9F8-1D9A-833F-A41810112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3B8F2D4-E77D-871B-2D58-BA707BCC7E0B}"/>
              </a:ext>
            </a:extLst>
          </p:cNvPr>
          <p:cNvSpPr/>
          <p:nvPr/>
        </p:nvSpPr>
        <p:spPr>
          <a:xfrm>
            <a:off x="640080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2800" dirty="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B5C36B57-36B8-63C6-74A0-0ADCA569E3ED}"/>
              </a:ext>
            </a:extLst>
          </p:cNvPr>
          <p:cNvSpPr/>
          <p:nvPr/>
        </p:nvSpPr>
        <p:spPr>
          <a:xfrm>
            <a:off x="11560946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1" name="Shape 30">
            <a:extLst>
              <a:ext uri="{FF2B5EF4-FFF2-40B4-BE49-F238E27FC236}">
                <a16:creationId xmlns:a16="http://schemas.microsoft.com/office/drawing/2014/main" id="{C5E44116-72E2-31EF-A3E7-D430F23A185C}"/>
              </a:ext>
            </a:extLst>
          </p:cNvPr>
          <p:cNvSpPr/>
          <p:nvPr/>
        </p:nvSpPr>
        <p:spPr>
          <a:xfrm>
            <a:off x="731520" y="1332989"/>
            <a:ext cx="594360" cy="59436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0" descr="icons/clock_FFFFFF.png">
            <a:extLst>
              <a:ext uri="{FF2B5EF4-FFF2-40B4-BE49-F238E27FC236}">
                <a16:creationId xmlns:a16="http://schemas.microsoft.com/office/drawing/2014/main" id="{C98E98AD-A136-18CF-37A5-7ECD07195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1475635"/>
            <a:ext cx="309067" cy="309067"/>
          </a:xfrm>
          <a:prstGeom prst="rect">
            <a:avLst/>
          </a:prstGeom>
        </p:spPr>
      </p:pic>
      <p:sp>
        <p:nvSpPr>
          <p:cNvPr id="33" name="Text 31">
            <a:extLst>
              <a:ext uri="{FF2B5EF4-FFF2-40B4-BE49-F238E27FC236}">
                <a16:creationId xmlns:a16="http://schemas.microsoft.com/office/drawing/2014/main" id="{CC581D8F-1414-07FC-579C-4DA6FEF8618A}"/>
              </a:ext>
            </a:extLst>
          </p:cNvPr>
          <p:cNvSpPr/>
          <p:nvPr/>
        </p:nvSpPr>
        <p:spPr>
          <a:xfrm>
            <a:off x="1463040" y="1378709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physical waiting</a:t>
            </a:r>
            <a:endParaRPr lang="en-US" sz="14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07CF1ADD-3A7E-2691-3862-6EC08AF7E8E2}"/>
              </a:ext>
            </a:extLst>
          </p:cNvPr>
          <p:cNvSpPr/>
          <p:nvPr/>
        </p:nvSpPr>
        <p:spPr>
          <a:xfrm>
            <a:off x="1024128" y="1927349"/>
            <a:ext cx="0" cy="822960"/>
          </a:xfrm>
          <a:prstGeom prst="line">
            <a:avLst/>
          </a:prstGeom>
          <a:noFill/>
          <a:ln w="19050">
            <a:solidFill>
              <a:srgbClr val="6B8CA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26C1ABC3-9F47-3F79-71C0-6ECD9463FA4D}"/>
              </a:ext>
            </a:extLst>
          </p:cNvPr>
          <p:cNvSpPr/>
          <p:nvPr/>
        </p:nvSpPr>
        <p:spPr>
          <a:xfrm>
            <a:off x="731520" y="2750309"/>
            <a:ext cx="594360" cy="59436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1" descr="icons/eye_FFFFFF.png">
            <a:extLst>
              <a:ext uri="{FF2B5EF4-FFF2-40B4-BE49-F238E27FC236}">
                <a16:creationId xmlns:a16="http://schemas.microsoft.com/office/drawing/2014/main" id="{A145C90F-77D4-DB67-76F6-96F3BEAF24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66" y="2892955"/>
            <a:ext cx="309067" cy="309067"/>
          </a:xfrm>
          <a:prstGeom prst="rect">
            <a:avLst/>
          </a:prstGeom>
        </p:spPr>
      </p:pic>
      <p:sp>
        <p:nvSpPr>
          <p:cNvPr id="37" name="Text 34">
            <a:extLst>
              <a:ext uri="{FF2B5EF4-FFF2-40B4-BE49-F238E27FC236}">
                <a16:creationId xmlns:a16="http://schemas.microsoft.com/office/drawing/2014/main" id="{01B6634D-0308-ED8D-E4AC-ACED6FE0679B}"/>
              </a:ext>
            </a:extLst>
          </p:cNvPr>
          <p:cNvSpPr/>
          <p:nvPr/>
        </p:nvSpPr>
        <p:spPr>
          <a:xfrm>
            <a:off x="1463040" y="2796029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queue visibility</a:t>
            </a:r>
            <a:endParaRPr lang="en-US" sz="1400" dirty="0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777D645A-5271-5A8A-1E54-3D9FEA8201E6}"/>
              </a:ext>
            </a:extLst>
          </p:cNvPr>
          <p:cNvSpPr/>
          <p:nvPr/>
        </p:nvSpPr>
        <p:spPr>
          <a:xfrm>
            <a:off x="1024128" y="3344669"/>
            <a:ext cx="0" cy="822960"/>
          </a:xfrm>
          <a:prstGeom prst="line">
            <a:avLst/>
          </a:prstGeom>
          <a:noFill/>
          <a:ln w="19050">
            <a:solidFill>
              <a:srgbClr val="6B8CA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0E815D9B-4657-FA6A-FCFA-F6D6C14F705C}"/>
              </a:ext>
            </a:extLst>
          </p:cNvPr>
          <p:cNvSpPr/>
          <p:nvPr/>
        </p:nvSpPr>
        <p:spPr>
          <a:xfrm>
            <a:off x="731520" y="4167629"/>
            <a:ext cx="594360" cy="594360"/>
          </a:xfrm>
          <a:prstGeom prst="ellipse">
            <a:avLst/>
          </a:prstGeom>
          <a:solidFill>
            <a:srgbClr val="D4820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2" descr="icons/checkdouble_FFFFFF.png">
            <a:extLst>
              <a:ext uri="{FF2B5EF4-FFF2-40B4-BE49-F238E27FC236}">
                <a16:creationId xmlns:a16="http://schemas.microsoft.com/office/drawing/2014/main" id="{1F17AC69-8D3D-3EBF-055B-7916EA2108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66" y="4310275"/>
            <a:ext cx="309067" cy="309067"/>
          </a:xfrm>
          <a:prstGeom prst="rect">
            <a:avLst/>
          </a:prstGeom>
        </p:spPr>
      </p:pic>
      <p:sp>
        <p:nvSpPr>
          <p:cNvPr id="41" name="Text 37">
            <a:extLst>
              <a:ext uri="{FF2B5EF4-FFF2-40B4-BE49-F238E27FC236}">
                <a16:creationId xmlns:a16="http://schemas.microsoft.com/office/drawing/2014/main" id="{B7E76624-9241-78A8-2756-89167D6661D7}"/>
              </a:ext>
            </a:extLst>
          </p:cNvPr>
          <p:cNvSpPr/>
          <p:nvPr/>
        </p:nvSpPr>
        <p:spPr>
          <a:xfrm>
            <a:off x="1463040" y="4213349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organized service delivery</a:t>
            </a:r>
            <a:endParaRPr lang="en-US" sz="1400" dirty="0"/>
          </a:p>
        </p:txBody>
      </p:sp>
      <p:sp>
        <p:nvSpPr>
          <p:cNvPr id="42" name="Shape 36">
            <a:extLst>
              <a:ext uri="{FF2B5EF4-FFF2-40B4-BE49-F238E27FC236}">
                <a16:creationId xmlns:a16="http://schemas.microsoft.com/office/drawing/2014/main" id="{C84BB542-8014-9611-A378-2C2652927C20}"/>
              </a:ext>
            </a:extLst>
          </p:cNvPr>
          <p:cNvSpPr/>
          <p:nvPr/>
        </p:nvSpPr>
        <p:spPr>
          <a:xfrm>
            <a:off x="731520" y="5127749"/>
            <a:ext cx="594360" cy="594360"/>
          </a:xfrm>
          <a:prstGeom prst="ellipse">
            <a:avLst/>
          </a:prstGeom>
          <a:solidFill>
            <a:srgbClr val="D4820A"/>
          </a:solidFill>
          <a:ln/>
        </p:spPr>
        <p:txBody>
          <a:bodyPr/>
          <a:lstStyle/>
          <a:p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54" name="Image 2" descr="icons/checkdouble_FFFFFF.png">
            <a:extLst>
              <a:ext uri="{FF2B5EF4-FFF2-40B4-BE49-F238E27FC236}">
                <a16:creationId xmlns:a16="http://schemas.microsoft.com/office/drawing/2014/main" id="{A51DC893-9326-F36F-7082-CE0AE7B161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66" y="5270395"/>
            <a:ext cx="309067" cy="309067"/>
          </a:xfrm>
          <a:prstGeom prst="rect">
            <a:avLst/>
          </a:prstGeom>
        </p:spPr>
      </p:pic>
      <p:sp>
        <p:nvSpPr>
          <p:cNvPr id="55" name="Text 37">
            <a:extLst>
              <a:ext uri="{FF2B5EF4-FFF2-40B4-BE49-F238E27FC236}">
                <a16:creationId xmlns:a16="http://schemas.microsoft.com/office/drawing/2014/main" id="{D750B9E5-8DC1-7A8E-E94F-2F7042447A33}"/>
              </a:ext>
            </a:extLst>
          </p:cNvPr>
          <p:cNvSpPr/>
          <p:nvPr/>
        </p:nvSpPr>
        <p:spPr>
          <a:xfrm>
            <a:off x="1463040" y="5173469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Overcrowded Waiting Place</a:t>
            </a:r>
            <a:endParaRPr lang="en-US" sz="1400" dirty="0"/>
          </a:p>
        </p:txBody>
      </p:sp>
      <p:sp>
        <p:nvSpPr>
          <p:cNvPr id="56" name="Shape 35">
            <a:extLst>
              <a:ext uri="{FF2B5EF4-FFF2-40B4-BE49-F238E27FC236}">
                <a16:creationId xmlns:a16="http://schemas.microsoft.com/office/drawing/2014/main" id="{A01F37C9-E45D-B78C-B7E8-040FAB1E407C}"/>
              </a:ext>
            </a:extLst>
          </p:cNvPr>
          <p:cNvSpPr/>
          <p:nvPr/>
        </p:nvSpPr>
        <p:spPr>
          <a:xfrm>
            <a:off x="1024128" y="4716269"/>
            <a:ext cx="0" cy="411480"/>
          </a:xfrm>
          <a:prstGeom prst="line">
            <a:avLst/>
          </a:prstGeom>
          <a:noFill/>
          <a:ln w="19050">
            <a:solidFill>
              <a:srgbClr val="6B8CA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297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233</Words>
  <Application>Microsoft Office PowerPoint</Application>
  <PresentationFormat>Widescreen</PresentationFormat>
  <Paragraphs>89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Sinmbf Lost</cp:lastModifiedBy>
  <cp:revision>11</cp:revision>
  <dcterms:created xsi:type="dcterms:W3CDTF">2026-08-08T17:26:54Z</dcterms:created>
  <dcterms:modified xsi:type="dcterms:W3CDTF">2026-08-08T17:44:31Z</dcterms:modified>
</cp:coreProperties>
</file>